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ags/tag56.xml" ContentType="application/vnd.openxmlformats-officedocument.presentationml.tags+xml"/>
  <Override PartName="/ppt/notesSlides/notesSlide1.xml" ContentType="application/vnd.openxmlformats-officedocument.presentationml.notesSlide+xml"/>
  <Override PartName="/ppt/tags/tag57.xml" ContentType="application/vnd.openxmlformats-officedocument.presentationml.tags+xml"/>
  <Override PartName="/ppt/notesSlides/notesSlide2.xml" ContentType="application/vnd.openxmlformats-officedocument.presentationml.notesSlide+xml"/>
  <Override PartName="/ppt/tags/tag58.xml" ContentType="application/vnd.openxmlformats-officedocument.presentationml.tags+xml"/>
  <Override PartName="/ppt/notesSlides/notesSlide3.xml" ContentType="application/vnd.openxmlformats-officedocument.presentationml.notesSlide+xml"/>
  <Override PartName="/ppt/tags/tag59.xml" ContentType="application/vnd.openxmlformats-officedocument.presentationml.tags+xml"/>
  <Override PartName="/ppt/notesSlides/notesSlide4.xml" ContentType="application/vnd.openxmlformats-officedocument.presentationml.notesSlide+xml"/>
  <Override PartName="/ppt/tags/tag60.xml" ContentType="application/vnd.openxmlformats-officedocument.presentationml.tags+xml"/>
  <Override PartName="/ppt/notesSlides/notesSlide5.xml" ContentType="application/vnd.openxmlformats-officedocument.presentationml.notesSlide+xml"/>
  <Override PartName="/ppt/tags/tag61.xml" ContentType="application/vnd.openxmlformats-officedocument.presentationml.tags+xml"/>
  <Override PartName="/ppt/notesSlides/notesSlide6.xml" ContentType="application/vnd.openxmlformats-officedocument.presentationml.notesSlide+xml"/>
  <Override PartName="/ppt/tags/tag62.xml" ContentType="application/vnd.openxmlformats-officedocument.presentationml.tags+xml"/>
  <Override PartName="/ppt/notesSlides/notesSlide7.xml" ContentType="application/vnd.openxmlformats-officedocument.presentationml.notesSlide+xml"/>
  <Override PartName="/ppt/tags/tag63.xml" ContentType="application/vnd.openxmlformats-officedocument.presentationml.tags+xml"/>
  <Override PartName="/ppt/notesSlides/notesSlide8.xml" ContentType="application/vnd.openxmlformats-officedocument.presentationml.notesSlide+xml"/>
  <Override PartName="/ppt/tags/tag64.xml" ContentType="application/vnd.openxmlformats-officedocument.presentationml.tags+xml"/>
  <Override PartName="/ppt/notesSlides/notesSlide9.xml" ContentType="application/vnd.openxmlformats-officedocument.presentationml.notesSlide+xml"/>
  <Override PartName="/ppt/tags/tag6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66.xml" ContentType="application/vnd.openxmlformats-officedocument.presentationml.tags+xml"/>
  <Override PartName="/ppt/notesSlides/notesSlide12.xml" ContentType="application/vnd.openxmlformats-officedocument.presentationml.notesSlide+xml"/>
  <Override PartName="/ppt/tags/tag67.xml" ContentType="application/vnd.openxmlformats-officedocument.presentationml.tags+xml"/>
  <Override PartName="/ppt/notesSlides/notesSlide13.xml" ContentType="application/vnd.openxmlformats-officedocument.presentationml.notesSlide+xml"/>
  <Override PartName="/ppt/tags/tag68.xml" ContentType="application/vnd.openxmlformats-officedocument.presentationml.tags+xml"/>
  <Override PartName="/ppt/notesSlides/notesSlide14.xml" ContentType="application/vnd.openxmlformats-officedocument.presentationml.notesSlide+xml"/>
  <Override PartName="/ppt/tags/tag69.xml" ContentType="application/vnd.openxmlformats-officedocument.presentationml.tags+xml"/>
  <Override PartName="/ppt/notesSlides/notesSlide15.xml" ContentType="application/vnd.openxmlformats-officedocument.presentationml.notesSlide+xml"/>
  <Override PartName="/ppt/tags/tag70.xml" ContentType="application/vnd.openxmlformats-officedocument.presentationml.tags+xml"/>
  <Override PartName="/ppt/notesSlides/notesSlide16.xml" ContentType="application/vnd.openxmlformats-officedocument.presentationml.notesSlide+xml"/>
  <Override PartName="/ppt/tags/tag71.xml" ContentType="application/vnd.openxmlformats-officedocument.presentationml.tags+xml"/>
  <Override PartName="/ppt/notesSlides/notesSlide17.xml" ContentType="application/vnd.openxmlformats-officedocument.presentationml.notesSlide+xml"/>
  <Override PartName="/ppt/tags/tag72.xml" ContentType="application/vnd.openxmlformats-officedocument.presentationml.tags+xml"/>
  <Override PartName="/ppt/notesSlides/notesSlide18.xml" ContentType="application/vnd.openxmlformats-officedocument.presentationml.notesSlide+xml"/>
  <Override PartName="/ppt/tags/tag73.xml" ContentType="application/vnd.openxmlformats-officedocument.presentationml.tags+xml"/>
  <Override PartName="/ppt/notesSlides/notesSlide19.xml" ContentType="application/vnd.openxmlformats-officedocument.presentationml.notesSlide+xml"/>
  <Override PartName="/ppt/tags/tag74.xml" ContentType="application/vnd.openxmlformats-officedocument.presentationml.tags+xml"/>
  <Override PartName="/ppt/notesSlides/notesSlide20.xml" ContentType="application/vnd.openxmlformats-officedocument.presentationml.notesSlide+xml"/>
  <Override PartName="/ppt/tags/tag75.xml" ContentType="application/vnd.openxmlformats-officedocument.presentationml.tags+xml"/>
  <Override PartName="/ppt/notesSlides/notesSlide21.xml" ContentType="application/vnd.openxmlformats-officedocument.presentationml.notesSlide+xml"/>
  <Override PartName="/ppt/tags/tag76.xml" ContentType="application/vnd.openxmlformats-officedocument.presentationml.tags+xml"/>
  <Override PartName="/ppt/notesSlides/notesSlide22.xml" ContentType="application/vnd.openxmlformats-officedocument.presentationml.notesSlide+xml"/>
  <Override PartName="/ppt/tags/tag77.xml" ContentType="application/vnd.openxmlformats-officedocument.presentationml.tags+xml"/>
  <Override PartName="/ppt/notesSlides/notesSlide23.xml" ContentType="application/vnd.openxmlformats-officedocument.presentationml.notesSlide+xml"/>
  <Override PartName="/ppt/tags/tag78.xml" ContentType="application/vnd.openxmlformats-officedocument.presentationml.tags+xml"/>
  <Override PartName="/ppt/notesSlides/notesSlide24.xml" ContentType="application/vnd.openxmlformats-officedocument.presentationml.notesSlide+xml"/>
  <Override PartName="/ppt/tags/tag79.xml" ContentType="application/vnd.openxmlformats-officedocument.presentationml.tags+xml"/>
  <Override PartName="/ppt/notesSlides/notesSlide25.xml" ContentType="application/vnd.openxmlformats-officedocument.presentationml.notesSlide+xml"/>
  <Override PartName="/ppt/tags/tag80.xml" ContentType="application/vnd.openxmlformats-officedocument.presentationml.tags+xml"/>
  <Override PartName="/ppt/notesSlides/notesSlide26.xml" ContentType="application/vnd.openxmlformats-officedocument.presentationml.notesSlide+xml"/>
  <Override PartName="/ppt/tags/tag81.xml" ContentType="application/vnd.openxmlformats-officedocument.presentationml.tags+xml"/>
  <Override PartName="/ppt/notesSlides/notesSlide27.xml" ContentType="application/vnd.openxmlformats-officedocument.presentationml.notesSlide+xml"/>
  <Override PartName="/ppt/tags/tag82.xml" ContentType="application/vnd.openxmlformats-officedocument.presentationml.tags+xml"/>
  <Override PartName="/ppt/notesSlides/notesSlide28.xml" ContentType="application/vnd.openxmlformats-officedocument.presentationml.notesSlide+xml"/>
  <Override PartName="/ppt/tags/tag83.xml" ContentType="application/vnd.openxmlformats-officedocument.presentationml.tags+xml"/>
  <Override PartName="/ppt/notesSlides/notesSlide29.xml" ContentType="application/vnd.openxmlformats-officedocument.presentationml.notesSlide+xml"/>
  <Override PartName="/ppt/tags/tag84.xml" ContentType="application/vnd.openxmlformats-officedocument.presentationml.tags+xml"/>
  <Override PartName="/ppt/notesSlides/notesSlide30.xml" ContentType="application/vnd.openxmlformats-officedocument.presentationml.notesSlide+xml"/>
  <Override PartName="/ppt/tags/tag85.xml" ContentType="application/vnd.openxmlformats-officedocument.presentationml.tags+xml"/>
  <Override PartName="/ppt/notesSlides/notesSlide31.xml" ContentType="application/vnd.openxmlformats-officedocument.presentationml.notesSlide+xml"/>
  <Override PartName="/ppt/tags/tag86.xml" ContentType="application/vnd.openxmlformats-officedocument.presentationml.tags+xml"/>
  <Override PartName="/ppt/notesSlides/notesSlide32.xml" ContentType="application/vnd.openxmlformats-officedocument.presentationml.notesSlide+xml"/>
  <Override PartName="/ppt/tags/tag87.xml" ContentType="application/vnd.openxmlformats-officedocument.presentationml.tags+xml"/>
  <Override PartName="/ppt/notesSlides/notesSlide33.xml" ContentType="application/vnd.openxmlformats-officedocument.presentationml.notesSlide+xml"/>
  <Override PartName="/ppt/tags/tag88.xml" ContentType="application/vnd.openxmlformats-officedocument.presentationml.tags+xml"/>
  <Override PartName="/ppt/notesSlides/notesSlide34.xml" ContentType="application/vnd.openxmlformats-officedocument.presentationml.notesSlide+xml"/>
  <Override PartName="/ppt/tags/tag89.xml" ContentType="application/vnd.openxmlformats-officedocument.presentationml.tags+xml"/>
  <Override PartName="/ppt/notesSlides/notesSlide35.xml" ContentType="application/vnd.openxmlformats-officedocument.presentationml.notesSlide+xml"/>
  <Override PartName="/ppt/tags/tag90.xml" ContentType="application/vnd.openxmlformats-officedocument.presentationml.tags+xml"/>
  <Override PartName="/ppt/notesSlides/notesSlide36.xml" ContentType="application/vnd.openxmlformats-officedocument.presentationml.notesSlide+xml"/>
  <Override PartName="/ppt/tags/tag91.xml" ContentType="application/vnd.openxmlformats-officedocument.presentationml.tags+xml"/>
  <Override PartName="/ppt/notesSlides/notesSlide37.xml" ContentType="application/vnd.openxmlformats-officedocument.presentationml.notesSlide+xml"/>
  <Override PartName="/ppt/tags/tag92.xml" ContentType="application/vnd.openxmlformats-officedocument.presentationml.tags+xml"/>
  <Override PartName="/ppt/notesSlides/notesSlide38.xml" ContentType="application/vnd.openxmlformats-officedocument.presentationml.notesSlide+xml"/>
  <Override PartName="/ppt/tags/tag93.xml" ContentType="application/vnd.openxmlformats-officedocument.presentationml.tags+xml"/>
  <Override PartName="/ppt/notesSlides/notesSlide39.xml" ContentType="application/vnd.openxmlformats-officedocument.presentationml.notesSlide+xml"/>
  <Override PartName="/ppt/tags/tag94.xml" ContentType="application/vnd.openxmlformats-officedocument.presentationml.tags+xml"/>
  <Override PartName="/ppt/notesSlides/notesSlide40.xml" ContentType="application/vnd.openxmlformats-officedocument.presentationml.notesSlide+xml"/>
  <Override PartName="/ppt/tags/tag95.xml" ContentType="application/vnd.openxmlformats-officedocument.presentationml.tags+xml"/>
  <Override PartName="/ppt/notesSlides/notesSlide41.xml" ContentType="application/vnd.openxmlformats-officedocument.presentationml.notesSlide+xml"/>
  <Override PartName="/ppt/tags/tag96.xml" ContentType="application/vnd.openxmlformats-officedocument.presentationml.tags+xml"/>
  <Override PartName="/ppt/notesSlides/notesSlide42.xml" ContentType="application/vnd.openxmlformats-officedocument.presentationml.notesSlide+xml"/>
  <Override PartName="/ppt/tags/tag97.xml" ContentType="application/vnd.openxmlformats-officedocument.presentationml.tags+xml"/>
  <Override PartName="/ppt/notesSlides/notesSlide43.xml" ContentType="application/vnd.openxmlformats-officedocument.presentationml.notesSlide+xml"/>
  <Override PartName="/ppt/tags/tag98.xml" ContentType="application/vnd.openxmlformats-officedocument.presentationml.tags+xml"/>
  <Override PartName="/ppt/notesSlides/notesSlide44.xml" ContentType="application/vnd.openxmlformats-officedocument.presentationml.notesSlide+xml"/>
  <Override PartName="/ppt/tags/tag99.xml" ContentType="application/vnd.openxmlformats-officedocument.presentationml.tags+xml"/>
  <Override PartName="/ppt/notesSlides/notesSlide45.xml" ContentType="application/vnd.openxmlformats-officedocument.presentationml.notesSlide+xml"/>
  <Override PartName="/ppt/tags/tag100.xml" ContentType="application/vnd.openxmlformats-officedocument.presentationml.tags+xml"/>
  <Override PartName="/ppt/notesSlides/notesSlide46.xml" ContentType="application/vnd.openxmlformats-officedocument.presentationml.notesSlide+xml"/>
  <Override PartName="/ppt/tags/tag101.xml" ContentType="application/vnd.openxmlformats-officedocument.presentationml.tags+xml"/>
  <Override PartName="/ppt/notesSlides/notesSlide47.xml" ContentType="application/vnd.openxmlformats-officedocument.presentationml.notesSlide+xml"/>
  <Override PartName="/ppt/tags/tag102.xml" ContentType="application/vnd.openxmlformats-officedocument.presentationml.tags+xml"/>
  <Override PartName="/ppt/notesSlides/notesSlide48.xml" ContentType="application/vnd.openxmlformats-officedocument.presentationml.notesSlide+xml"/>
  <Override PartName="/ppt/tags/tag103.xml" ContentType="application/vnd.openxmlformats-officedocument.presentationml.tags+xml"/>
  <Override PartName="/ppt/notesSlides/notesSlide49.xml" ContentType="application/vnd.openxmlformats-officedocument.presentationml.notesSlide+xml"/>
  <Override PartName="/ppt/tags/tag104.xml" ContentType="application/vnd.openxmlformats-officedocument.presentationml.tags+xml"/>
  <Override PartName="/ppt/notesSlides/notesSlide50.xml" ContentType="application/vnd.openxmlformats-officedocument.presentationml.notesSlide+xml"/>
  <Override PartName="/ppt/tags/tag105.xml" ContentType="application/vnd.openxmlformats-officedocument.presentationml.tags+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Lst>
  <p:notesMasterIdLst>
    <p:notesMasterId r:id="rId53"/>
  </p:notesMasterIdLst>
  <p:sldIdLst>
    <p:sldId id="1879" r:id="rId2"/>
    <p:sldId id="1748" r:id="rId3"/>
    <p:sldId id="325" r:id="rId4"/>
    <p:sldId id="1877" r:id="rId5"/>
    <p:sldId id="1871" r:id="rId6"/>
    <p:sldId id="1878" r:id="rId7"/>
    <p:sldId id="1887" r:id="rId8"/>
    <p:sldId id="1768" r:id="rId9"/>
    <p:sldId id="1888" r:id="rId10"/>
    <p:sldId id="1771" r:id="rId11"/>
    <p:sldId id="2142533320" r:id="rId12"/>
    <p:sldId id="1766" r:id="rId13"/>
    <p:sldId id="1754" r:id="rId14"/>
    <p:sldId id="1750" r:id="rId15"/>
    <p:sldId id="1767" r:id="rId16"/>
    <p:sldId id="1889" r:id="rId17"/>
    <p:sldId id="1752" r:id="rId18"/>
    <p:sldId id="1780" r:id="rId19"/>
    <p:sldId id="1890" r:id="rId20"/>
    <p:sldId id="1757" r:id="rId21"/>
    <p:sldId id="1775" r:id="rId22"/>
    <p:sldId id="1891" r:id="rId23"/>
    <p:sldId id="1769" r:id="rId24"/>
    <p:sldId id="1892" r:id="rId25"/>
    <p:sldId id="1872" r:id="rId26"/>
    <p:sldId id="1876" r:id="rId27"/>
    <p:sldId id="1893" r:id="rId28"/>
    <p:sldId id="1884" r:id="rId29"/>
    <p:sldId id="1755" r:id="rId30"/>
    <p:sldId id="1885" r:id="rId31"/>
    <p:sldId id="1786" r:id="rId32"/>
    <p:sldId id="1782" r:id="rId33"/>
    <p:sldId id="1794" r:id="rId34"/>
    <p:sldId id="1797" r:id="rId35"/>
    <p:sldId id="1773" r:id="rId36"/>
    <p:sldId id="1796" r:id="rId37"/>
    <p:sldId id="1886" r:id="rId38"/>
    <p:sldId id="1842" r:id="rId39"/>
    <p:sldId id="1859" r:id="rId40"/>
    <p:sldId id="2142533325" r:id="rId41"/>
    <p:sldId id="1855" r:id="rId42"/>
    <p:sldId id="1865" r:id="rId43"/>
    <p:sldId id="1846" r:id="rId44"/>
    <p:sldId id="1758" r:id="rId45"/>
    <p:sldId id="1759" r:id="rId46"/>
    <p:sldId id="1881" r:id="rId47"/>
    <p:sldId id="1760" r:id="rId48"/>
    <p:sldId id="1761" r:id="rId49"/>
    <p:sldId id="1762" r:id="rId50"/>
    <p:sldId id="1763" r:id="rId51"/>
    <p:sldId id="1678" r:id="rId52"/>
  </p:sldIdLst>
  <p:sldSz cx="12192000" cy="6858000"/>
  <p:notesSz cx="6858000" cy="9144000"/>
  <p:custDataLst>
    <p:tags r:id="rId5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3BB862-A825-42C5-9C5D-66D9C0026203}">
          <p14:sldIdLst>
            <p14:sldId id="1879"/>
            <p14:sldId id="1748"/>
            <p14:sldId id="325"/>
            <p14:sldId id="1877"/>
            <p14:sldId id="1871"/>
            <p14:sldId id="1878"/>
          </p14:sldIdLst>
        </p14:section>
        <p14:section name="Overview of caching" id="{EB2D7657-BAEA-47EA-902D-9D7E3CAF7511}">
          <p14:sldIdLst>
            <p14:sldId id="1887"/>
            <p14:sldId id="1768"/>
            <p14:sldId id="1888"/>
            <p14:sldId id="1771"/>
            <p14:sldId id="2142533320"/>
            <p14:sldId id="1766"/>
            <p14:sldId id="1754"/>
          </p14:sldIdLst>
        </p14:section>
        <p14:section name="Caching using Amazon CloudFront" id="{02562164-7660-426F-A5F3-2C638078E69D}">
          <p14:sldIdLst>
            <p14:sldId id="1750"/>
            <p14:sldId id="1767"/>
            <p14:sldId id="1889"/>
            <p14:sldId id="1752"/>
            <p14:sldId id="1780"/>
            <p14:sldId id="1890"/>
            <p14:sldId id="1757"/>
            <p14:sldId id="1775"/>
            <p14:sldId id="1891"/>
            <p14:sldId id="1769"/>
            <p14:sldId id="1892"/>
            <p14:sldId id="1872"/>
            <p14:sldId id="1876"/>
            <p14:sldId id="1893"/>
          </p14:sldIdLst>
        </p14:section>
        <p14:section name="Caching using Amazon ElastiCache" id="{8C4A26A9-F760-424E-A8AD-AA8C2BEE7B2B}">
          <p14:sldIdLst>
            <p14:sldId id="1884"/>
            <p14:sldId id="1755"/>
            <p14:sldId id="1885"/>
            <p14:sldId id="1786"/>
            <p14:sldId id="1782"/>
            <p14:sldId id="1794"/>
            <p14:sldId id="1797"/>
            <p14:sldId id="1773"/>
            <p14:sldId id="1796"/>
            <p14:sldId id="1886"/>
          </p14:sldIdLst>
        </p14:section>
        <p14:section name="Applying AWS Well-Architected Framework to Caching Content" id="{5F76D6AF-B929-4DF8-AE90-F555A19C774E}">
          <p14:sldIdLst>
            <p14:sldId id="1842"/>
            <p14:sldId id="1859"/>
            <p14:sldId id="2142533325"/>
            <p14:sldId id="1855"/>
            <p14:sldId id="1865"/>
            <p14:sldId id="1846"/>
          </p14:sldIdLst>
        </p14:section>
        <p14:section name="Module wrap-up" id="{FF92FF6D-5C4A-427B-8471-87D9F1C15538}">
          <p14:sldIdLst>
            <p14:sldId id="1758"/>
            <p14:sldId id="1759"/>
            <p14:sldId id="1881"/>
            <p14:sldId id="1760"/>
            <p14:sldId id="1761"/>
            <p14:sldId id="1762"/>
            <p14:sldId id="1763"/>
            <p14:sldId id="167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59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39984" autoAdjust="0"/>
  </p:normalViewPr>
  <p:slideViewPr>
    <p:cSldViewPr snapToGrid="0">
      <p:cViewPr varScale="1">
        <p:scale>
          <a:sx n="50" d="100"/>
          <a:sy n="50" d="100"/>
        </p:scale>
        <p:origin x="4301" y="43"/>
      </p:cViewPr>
      <p:guideLst/>
    </p:cSldViewPr>
  </p:slideViewPr>
  <p:notesTextViewPr>
    <p:cViewPr>
      <p:scale>
        <a:sx n="125" d="100"/>
        <a:sy n="125" d="100"/>
      </p:scale>
      <p:origin x="0" y="0"/>
    </p:cViewPr>
  </p:notesTextViewPr>
  <p:sorterViewPr>
    <p:cViewPr varScale="1">
      <p:scale>
        <a:sx n="100" d="100"/>
        <a:sy n="100" d="100"/>
      </p:scale>
      <p:origin x="0" y="0"/>
    </p:cViewPr>
  </p:sorterViewPr>
  <p:notesViewPr>
    <p:cSldViewPr snapToGrid="0">
      <p:cViewPr varScale="1">
        <p:scale>
          <a:sx n="95" d="100"/>
          <a:sy n="95" d="100"/>
        </p:scale>
        <p:origin x="6154" y="8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35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7500" y="3810000"/>
            <a:ext cx="7112000" cy="5588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4043597"/>
      </p:ext>
    </p:extLst>
  </p:cSld>
  <p:clrMap bg1="lt1" tx1="dk1" bg2="lt2" tx2="dk2" accent1="accent1" accent2="accent2" accent3="accent3" accent4="accent4" accent5="accent5" accent6="accent6" hlink="hlink" folHlink="folHlink"/>
  <p:notesStyle>
    <a:lvl1pPr marL="0" algn="l" defTabSz="914400" rtl="0" eaLnBrk="1" latinLnBrk="0" hangingPunct="1">
      <a:spcBef>
        <a:spcPts val="0"/>
      </a:spcBef>
      <a:spcAft>
        <a:spcPts val="0"/>
      </a:spcAft>
      <a:defRPr sz="1200" kern="1200">
        <a:solidFill>
          <a:schemeClr val="tx1"/>
        </a:solidFill>
        <a:latin typeface="+mn-lt"/>
        <a:ea typeface="+mn-ea"/>
        <a:cs typeface="+mn-cs"/>
      </a:defRPr>
    </a:lvl1pPr>
    <a:lvl2pPr marL="457200" algn="l" defTabSz="914400" rtl="0" eaLnBrk="1" latinLnBrk="0" hangingPunct="1">
      <a:spcBef>
        <a:spcPts val="0"/>
      </a:spcBef>
      <a:spcAft>
        <a:spcPts val="0"/>
      </a:spcAft>
      <a:defRPr sz="1200" kern="1200">
        <a:solidFill>
          <a:schemeClr val="tx1"/>
        </a:solidFill>
        <a:latin typeface="+mn-lt"/>
        <a:ea typeface="+mn-ea"/>
        <a:cs typeface="+mn-cs"/>
      </a:defRPr>
    </a:lvl2pPr>
    <a:lvl3pPr marL="914400" algn="l" defTabSz="914400" rtl="0" eaLnBrk="1" latinLnBrk="0" hangingPunct="1">
      <a:spcBef>
        <a:spcPts val="0"/>
      </a:spcBef>
      <a:spcAft>
        <a:spcPts val="0"/>
      </a:spcAft>
      <a:defRPr sz="1200" kern="1200">
        <a:solidFill>
          <a:schemeClr val="tx1"/>
        </a:solidFill>
        <a:latin typeface="+mn-lt"/>
        <a:ea typeface="+mn-ea"/>
        <a:cs typeface="+mn-cs"/>
      </a:defRPr>
    </a:lvl3pPr>
    <a:lvl4pPr marL="1371600" algn="l" defTabSz="914400" rtl="0" eaLnBrk="1" latinLnBrk="0" hangingPunct="1">
      <a:spcBef>
        <a:spcPts val="0"/>
      </a:spcBef>
      <a:spcAft>
        <a:spcPts val="0"/>
      </a:spcAft>
      <a:defRPr sz="1200" kern="1200">
        <a:solidFill>
          <a:schemeClr val="tx1"/>
        </a:solidFill>
        <a:latin typeface="+mn-lt"/>
        <a:ea typeface="+mn-ea"/>
        <a:cs typeface="+mn-cs"/>
      </a:defRPr>
    </a:lvl4pPr>
    <a:lvl5pPr marL="1828800" algn="l" defTabSz="914400" rtl="0" eaLnBrk="1" latinLnBrk="0" hangingPunct="1">
      <a:spcBef>
        <a:spcPts val="0"/>
      </a:spcBef>
      <a:spcAft>
        <a:spcPts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learn.microsoft.com/en-us/iis/media/iis-media-services/edge-caching-for-media-delivery#:~:text=Edge%20caching%20refers%20to%20the%20use%20of,from%20the%20caching%20server%20until%20it%20expires."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Instructor notes</a:t>
            </a:r>
          </a:p>
          <a:p>
            <a:pPr marL="0" indent="0">
              <a:buNone/>
            </a:pPr>
            <a:r>
              <a:rPr lang="en-US" dirty="0">
                <a:latin typeface="Calibri" panose="020F0502020204030204" pitchFamily="34" charset="0"/>
              </a:rPr>
              <a:t>|</a:t>
            </a:r>
          </a:p>
          <a:p>
            <a:pPr marL="0" indent="0">
              <a:buNone/>
            </a:pPr>
            <a:r>
              <a:rPr lang="en-US" b="1" dirty="0">
                <a:latin typeface="Calibri" panose="020F0502020204030204" pitchFamily="34" charset="0"/>
              </a:rPr>
              <a:t>|Student notes</a:t>
            </a:r>
          </a:p>
          <a:p>
            <a:pPr marL="0" indent="0">
              <a:buNone/>
            </a:pPr>
            <a:r>
              <a:rPr lang="en-US" dirty="0">
                <a:latin typeface="Calibri" panose="020F0502020204030204" pitchFamily="34" charset="0"/>
              </a:rPr>
              <a:t>Welcome to the Caching Content module. This module introduces two AWS services for caching data: Amazon CloudFront and Amazon ElastiCache.</a:t>
            </a:r>
            <a:endParaRPr lang="en-US" dirty="0">
              <a:highlight>
                <a:srgbClr val="FFFF00"/>
              </a:highlight>
              <a:latin typeface="Calibri" panose="020F0502020204030204" pitchFamily="34" charset="0"/>
            </a:endParaRPr>
          </a:p>
        </p:txBody>
      </p:sp>
    </p:spTree>
    <p:extLst>
      <p:ext uri="{BB962C8B-B14F-4D97-AF65-F5344CB8AC3E}">
        <p14:creationId xmlns:p14="http://schemas.microsoft.com/office/powerpoint/2010/main" val="1171446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introduction section describes the content of this module.</a:t>
            </a:r>
          </a:p>
        </p:txBody>
      </p:sp>
    </p:spTree>
    <p:extLst>
      <p:ext uri="{BB962C8B-B14F-4D97-AF65-F5344CB8AC3E}">
        <p14:creationId xmlns:p14="http://schemas.microsoft.com/office/powerpoint/2010/main" val="1739719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921444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|Each module has an introduction, content sections, and a wrap-up. The wrap-up for this module contains a sample exam question for you to review with the students.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The objectives of this module are presented across multiple sections.</a:t>
            </a:r>
          </a:p>
          <a:p>
            <a:endParaRPr lang="en-US" dirty="0">
              <a:latin typeface="Calibri" panose="020F0502020204030204" pitchFamily="34" charset="0"/>
            </a:endParaRPr>
          </a:p>
          <a:p>
            <a:r>
              <a:rPr lang="en-US" dirty="0">
                <a:latin typeface="Calibri" panose="020F0502020204030204" pitchFamily="34" charset="0"/>
              </a:rPr>
              <a:t>The module wraps up with a 10-question knowledge check delivered in the online course and a sample exam question to discuss in class. </a:t>
            </a:r>
          </a:p>
          <a:p>
            <a:endParaRPr lang="en-US" dirty="0">
              <a:latin typeface="Calibri" panose="020F0502020204030204" pitchFamily="34" charset="0"/>
            </a:endParaRPr>
          </a:p>
          <a:p>
            <a:r>
              <a:rPr lang="en-US" dirty="0">
                <a:latin typeface="Calibri" panose="020F0502020204030204" pitchFamily="34" charset="0"/>
              </a:rPr>
              <a:t>The next slide describes the lab in this module.</a:t>
            </a:r>
          </a:p>
        </p:txBody>
      </p:sp>
    </p:spTree>
    <p:extLst>
      <p:ext uri="{BB962C8B-B14F-4D97-AF65-F5344CB8AC3E}">
        <p14:creationId xmlns:p14="http://schemas.microsoft.com/office/powerpoint/2010/main" val="341107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|This module includes a guided lab. This lab provides step-by-step instructions and is a stand-alone lab. It does not depend on the café scenario or related architecture. The introduction to the lab is included in the lab section within the module. </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This module includes the lab listed. The lab section of the student guide includes additional information about the lab, and the lab environment provides detailed instructions.</a:t>
            </a:r>
          </a:p>
          <a:p>
            <a:endParaRPr lang="en-US" dirty="0">
              <a:latin typeface="Calibri" panose="020F0502020204030204" pitchFamily="34" charset="0"/>
            </a:endParaRPr>
          </a:p>
          <a:p>
            <a:endParaRPr lang="en-US" dirty="0">
              <a:latin typeface="Calibri" panose="020F0502020204030204" pitchFamily="34" charset="0"/>
            </a:endParaRPr>
          </a:p>
        </p:txBody>
      </p:sp>
    </p:spTree>
    <p:extLst>
      <p:ext uri="{BB962C8B-B14F-4D97-AF65-F5344CB8AC3E}">
        <p14:creationId xmlns:p14="http://schemas.microsoft.com/office/powerpoint/2010/main" val="3755960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b="1" dirty="0">
                <a:latin typeface="Calibri" panose="020F0502020204030204" pitchFamily="34" charset="0"/>
              </a:rPr>
              <a:t>|</a:t>
            </a:r>
            <a:r>
              <a:rPr lang="en-US" b="0" dirty="0">
                <a:latin typeface="Calibri" panose="020F0502020204030204" pitchFamily="34" charset="0"/>
              </a:rPr>
              <a:t>This slide presents key overarching design considerations that should guide decision-making for this layer of a cloud architecture. Emphasize how a cloud architect must always start with the business case and work backward to choose the best components for that use case. Also remind students that the decisions are likely to evolve over time as needs change or are better understood to optimize cost and performance. At the end of the module, there is an optional discussion included in the wrap-up section to prompt the students to consider these factors in the context of the café scenario. </a:t>
            </a:r>
            <a:endParaRPr lang="en-US" b="1"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a:p>
            <a:r>
              <a:rPr lang="en-US" b="0" dirty="0">
                <a:latin typeface="Calibri" panose="020F0502020204030204" pitchFamily="34" charset="0"/>
              </a:rPr>
              <a:t>This slide asks you to take the perspective of a cloud architect as you think about how to approach caching content. Keep these considerations in mind as you progress through this module, remembering that the cloud architect should work backward from the business need to design the best architecture for a specific use case. </a:t>
            </a:r>
            <a:r>
              <a:rPr lang="en-US" dirty="0">
                <a:latin typeface="Calibri" panose="020F0502020204030204" pitchFamily="34" charset="0"/>
              </a:rPr>
              <a:t>As you progress through the module, consider the café scenario presented in the course as an example business need and think about how you would address these needs for the fictional café business. </a:t>
            </a:r>
          </a:p>
        </p:txBody>
      </p:sp>
    </p:spTree>
    <p:extLst>
      <p:ext uri="{BB962C8B-B14F-4D97-AF65-F5344CB8AC3E}">
        <p14:creationId xmlns:p14="http://schemas.microsoft.com/office/powerpoint/2010/main" val="3723504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provides an overview of caching and explains how caching helps businesses. </a:t>
            </a:r>
          </a:p>
        </p:txBody>
      </p:sp>
    </p:spTree>
    <p:extLst>
      <p:ext uri="{BB962C8B-B14F-4D97-AF65-F5344CB8AC3E}">
        <p14:creationId xmlns:p14="http://schemas.microsoft.com/office/powerpoint/2010/main" val="1739719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r>
              <a:rPr lang="en-US" b="0" i="0" kern="1200" dirty="0">
                <a:solidFill>
                  <a:schemeClr val="tx1"/>
                </a:solidFill>
                <a:effectLst/>
                <a:latin typeface="Calibri" panose="020F0502020204030204" pitchFamily="34" charset="0"/>
                <a:ea typeface="+mn-ea"/>
                <a:cs typeface="+mn-cs"/>
              </a:rPr>
              <a:t>One way to improve system </a:t>
            </a:r>
            <a:r>
              <a:rPr lang="en-US" b="0" i="0" u="none" strike="noStrike" kern="1200" dirty="0">
                <a:solidFill>
                  <a:schemeClr val="tx1"/>
                </a:solidFill>
                <a:effectLst/>
                <a:latin typeface="Calibri" panose="020F0502020204030204" pitchFamily="34" charset="0"/>
                <a:ea typeface="+mn-ea"/>
                <a:cs typeface="+mn-cs"/>
              </a:rPr>
              <a:t>performance</a:t>
            </a:r>
            <a:r>
              <a:rPr lang="en-US" b="0" i="0" kern="1200" dirty="0">
                <a:solidFill>
                  <a:schemeClr val="tx1"/>
                </a:solidFill>
                <a:effectLst/>
                <a:latin typeface="Calibri" panose="020F0502020204030204" pitchFamily="34" charset="0"/>
                <a:ea typeface="+mn-ea"/>
                <a:cs typeface="+mn-cs"/>
              </a:rPr>
              <a:t> is to make data available more quickly. Many systems have pieces of data that are more frequently accessed than others. In such situations, temporarily storing that data on a storage technology that is faster than its natural location will permit faster access. Caching gives you the ability to efficiently reuse previously retrieved or computed data. A cache is a high-speed data storage layer that stores a subset of data so that future requests for that data are served up faster than is possible by accessing the data’s primary storage location. </a:t>
            </a:r>
          </a:p>
          <a:p>
            <a:r>
              <a:rPr lang="en-US" b="0" i="0" kern="1200" dirty="0">
                <a:solidFill>
                  <a:schemeClr val="tx1"/>
                </a:solidFill>
                <a:effectLst/>
                <a:latin typeface="Calibri" panose="020F0502020204030204" pitchFamily="34" charset="0"/>
                <a:ea typeface="+mn-ea"/>
                <a:cs typeface="+mn-cs"/>
              </a:rPr>
              <a:t>|</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b="0" i="0" kern="1200" dirty="0">
                <a:solidFill>
                  <a:schemeClr val="tx1"/>
                </a:solidFill>
                <a:effectLst/>
                <a:latin typeface="Calibri" panose="020F0502020204030204" pitchFamily="34" charset="0"/>
                <a:ea typeface="+mn-ea"/>
                <a:cs typeface="+mn-cs"/>
              </a:rPr>
              <a:t>The “Let’s Architect! Leveraging in-memory databases” blog provides caching use cases in which performance has increased. This resource could be shared at the beginning of the module to help students understand how caching is used or at the end of the module to see the services they have learned applied in the industry. </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The speed at which you deliver content affects the success of your application. Caching provides a way to increase the speed of data retrieval and reduces the frequency in which the main database or storage layer is accessed. In computing, a </a:t>
            </a:r>
            <a:r>
              <a:rPr lang="en-US" i="0" kern="1200" dirty="0">
                <a:solidFill>
                  <a:schemeClr val="tx1"/>
                </a:solidFill>
                <a:effectLst/>
                <a:latin typeface="Calibri" panose="020F0502020204030204" pitchFamily="34" charset="0"/>
                <a:ea typeface="+mn-ea"/>
                <a:cs typeface="+mn-cs"/>
              </a:rPr>
              <a:t>cache</a:t>
            </a:r>
            <a:r>
              <a:rPr lang="en-US" kern="1200" dirty="0">
                <a:solidFill>
                  <a:schemeClr val="tx1"/>
                </a:solidFill>
                <a:effectLst/>
                <a:latin typeface="Calibri" panose="020F0502020204030204" pitchFamily="34" charset="0"/>
                <a:ea typeface="+mn-ea"/>
                <a:cs typeface="+mn-cs"/>
              </a:rPr>
              <a:t> is a high-speed data storage layer. Unlike a database, which usually stores data in a complete and durable form, a cache transiently stores a subset of data. </a:t>
            </a:r>
          </a:p>
          <a:p>
            <a:pPr marL="0" marR="0" lvl="0" indent="0" defTabSz="914400" rtl="0" eaLnBrk="1" fontAlgn="auto" latinLnBrk="0" hangingPunct="1">
              <a:buClrTx/>
              <a:buSzTx/>
              <a:buFontTx/>
              <a:buNone/>
              <a:tabLst/>
              <a:defRPr/>
            </a:pPr>
            <a:endParaRPr lang="en-US"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Caching </a:t>
            </a:r>
            <a:r>
              <a:rPr lang="en-US" b="0" i="0" kern="1200" dirty="0">
                <a:solidFill>
                  <a:schemeClr val="tx1"/>
                </a:solidFill>
                <a:effectLst/>
                <a:latin typeface="Calibri" panose="020F0502020204030204" pitchFamily="34" charset="0"/>
                <a:ea typeface="+mn-ea"/>
                <a:cs typeface="+mn-cs"/>
              </a:rPr>
              <a:t>facilitates faster access to data because t</a:t>
            </a:r>
            <a:r>
              <a:rPr lang="en-US" kern="1200" dirty="0">
                <a:solidFill>
                  <a:schemeClr val="tx1"/>
                </a:solidFill>
                <a:effectLst/>
                <a:latin typeface="Calibri" panose="020F0502020204030204" pitchFamily="34" charset="0"/>
                <a:ea typeface="+mn-ea"/>
                <a:cs typeface="+mn-cs"/>
              </a:rPr>
              <a:t>he primary purpose of a cache is to increase the performance of data retrieval by reducing the need to access the underlying, slower storage layer. Future requests for cached data are served faster than requests that access the data’s primary storage location. </a:t>
            </a:r>
            <a:r>
              <a:rPr lang="en-US" b="0" i="0" kern="1200" dirty="0">
                <a:solidFill>
                  <a:schemeClr val="tx1"/>
                </a:solidFill>
                <a:effectLst/>
                <a:latin typeface="Calibri" panose="020F0502020204030204" pitchFamily="34" charset="0"/>
                <a:ea typeface="+mn-ea"/>
                <a:cs typeface="+mn-cs"/>
              </a:rPr>
              <a:t>Caching gives you the ability to efficiently reuse previously retrieved or computed data. </a:t>
            </a:r>
            <a:r>
              <a:rPr lang="en-US" dirty="0">
                <a:latin typeface="Calibri" panose="020F0502020204030204" pitchFamily="34" charset="0"/>
              </a:rPr>
              <a:t>Caching is an optimization strategy that will help with cost reduction and performance enhancement. </a:t>
            </a:r>
            <a:r>
              <a:rPr lang="en-US" b="0" i="0" kern="1200" dirty="0">
                <a:solidFill>
                  <a:schemeClr val="tx1"/>
                </a:solidFill>
                <a:effectLst/>
                <a:latin typeface="Calibri" panose="020F0502020204030204" pitchFamily="34" charset="0"/>
                <a:ea typeface="+mn-ea"/>
                <a:cs typeface="+mn-cs"/>
              </a:rPr>
              <a:t>For the end user, caching provides faster performance.</a:t>
            </a:r>
            <a:endParaRPr lang="en-US" dirty="0">
              <a:latin typeface="Calibri" panose="020F0502020204030204" pitchFamily="34" charset="0"/>
            </a:endParaRPr>
          </a:p>
        </p:txBody>
      </p:sp>
    </p:spTree>
    <p:extLst>
      <p:ext uri="{BB962C8B-B14F-4D97-AF65-F5344CB8AC3E}">
        <p14:creationId xmlns:p14="http://schemas.microsoft.com/office/powerpoint/2010/main" val="27537233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3395" rtl="0" eaLnBrk="1" fontAlgn="auto" latinLnBrk="0" hangingPunct="1">
              <a:buClrTx/>
              <a:buSzTx/>
              <a:buFontTx/>
              <a:buNone/>
              <a:tabLst/>
              <a:defRPr/>
            </a:pPr>
            <a:r>
              <a:rPr lang="en-US" dirty="0">
                <a:latin typeface="Calibri" panose="020F0502020204030204" pitchFamily="34" charset="0"/>
              </a:rPr>
              <a:t>To illustrate how a cache improves performance, consider the example of making a trip to a hardware store. </a:t>
            </a:r>
          </a:p>
          <a:p>
            <a:pPr marL="0" marR="0" lvl="0" indent="0" defTabSz="913395" rtl="0" eaLnBrk="1" fontAlgn="auto" latinLnBrk="0" hangingPunct="1">
              <a:buClrTx/>
              <a:buSzTx/>
              <a:buFontTx/>
              <a:buNone/>
              <a:tabLst/>
              <a:defRPr/>
            </a:pPr>
            <a:endParaRPr lang="en-US" dirty="0">
              <a:latin typeface="Calibri" panose="020F0502020204030204" pitchFamily="34" charset="0"/>
            </a:endParaRPr>
          </a:p>
          <a:p>
            <a:pPr marL="0" marR="0" lvl="0" indent="0" defTabSz="913395" rtl="0" eaLnBrk="1" fontAlgn="auto" latinLnBrk="0" hangingPunct="1">
              <a:buClrTx/>
              <a:buSzTx/>
              <a:buFontTx/>
              <a:buNone/>
              <a:tabLst/>
              <a:defRPr/>
            </a:pPr>
            <a:r>
              <a:rPr lang="en-US" dirty="0">
                <a:latin typeface="Calibri" panose="020F0502020204030204" pitchFamily="34" charset="0"/>
              </a:rPr>
              <a:t>If the store is miles away, it takes you considerable effort to go there every time you need</a:t>
            </a:r>
            <a:r>
              <a:rPr lang="en-US" baseline="0" dirty="0">
                <a:latin typeface="Calibri" panose="020F0502020204030204" pitchFamily="34" charset="0"/>
              </a:rPr>
              <a:t> something. </a:t>
            </a:r>
            <a:r>
              <a:rPr lang="en-US" kern="1200" dirty="0">
                <a:solidFill>
                  <a:schemeClr val="tx1"/>
                </a:solidFill>
                <a:effectLst/>
                <a:latin typeface="Calibri" panose="020F0502020204030204" pitchFamily="34" charset="0"/>
                <a:ea typeface="+mn-ea"/>
                <a:cs typeface="+mn-cs"/>
              </a:rPr>
              <a:t>Instead, you can store the supplies that you use regularly in a tool shed close to your house. Therefore, it takes you less time to access these supplies than it would to go all the way to the hardware store. However, you could still go to the store to refresh your supplies.</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In this example, the tool shed is analogous to a cache. You keep the tools you need often in a nearby location. In caching, this nearby location can have different forms, such as edge locations and in-memory databases. You will learn more about using edge locations and an in-memory database in this module.</a:t>
            </a:r>
            <a:endParaRPr lang="en-US" dirty="0">
              <a:latin typeface="Calibri" panose="020F0502020204030204" pitchFamily="34" charset="0"/>
            </a:endParaRPr>
          </a:p>
        </p:txBody>
      </p:sp>
    </p:spTree>
    <p:extLst>
      <p:ext uri="{BB962C8B-B14F-4D97-AF65-F5344CB8AC3E}">
        <p14:creationId xmlns:p14="http://schemas.microsoft.com/office/powerpoint/2010/main" val="32949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10</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pPr marL="0" indent="0">
              <a:buFont typeface="Arial" panose="020B0604020202020204" pitchFamily="34" charset="0"/>
              <a:buNone/>
            </a:pPr>
            <a:r>
              <a:rPr lang="en-US" dirty="0">
                <a:latin typeface="Calibri" panose="020F0502020204030204" pitchFamily="34" charset="0"/>
              </a:rPr>
              <a:t>The following are examples of typically cached content: </a:t>
            </a: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ea typeface="+mn-ea"/>
                <a:cs typeface="+mn-cs"/>
              </a:rPr>
              <a:t>Static and frequently accessed data</a:t>
            </a:r>
            <a:r>
              <a:rPr lang="en-US" dirty="0">
                <a:latin typeface="Calibri" panose="020F0502020204030204" pitchFamily="34" charset="0"/>
                <a:ea typeface="+mn-ea"/>
                <a:cs typeface="+mn-cs"/>
              </a:rPr>
              <a:t>: </a:t>
            </a:r>
            <a:r>
              <a:rPr lang="en-US" dirty="0">
                <a:latin typeface="Calibri" panose="020F0502020204030204" pitchFamily="34" charset="0"/>
              </a:rPr>
              <a:t>For caching to provide meaningful benefits, the data should be static and frequently accessed, such as a personal profile on a social media site. </a:t>
            </a:r>
            <a:r>
              <a:rPr lang="en-US" b="0" i="0" kern="1200" dirty="0">
                <a:solidFill>
                  <a:schemeClr val="tx1"/>
                </a:solidFill>
                <a:effectLst/>
                <a:latin typeface="Calibri" panose="020F0502020204030204" pitchFamily="34" charset="0"/>
                <a:ea typeface="+mn-ea"/>
                <a:cs typeface="+mn-cs"/>
              </a:rPr>
              <a:t>Static content is content that rarely changes, such as </a:t>
            </a:r>
            <a:r>
              <a:rPr lang="en-US" kern="1200" dirty="0">
                <a:solidFill>
                  <a:schemeClr val="tx1"/>
                </a:solidFill>
                <a:effectLst/>
                <a:latin typeface="Calibri" panose="020F0502020204030204" pitchFamily="34" charset="0"/>
                <a:ea typeface="+mn-ea"/>
                <a:cs typeface="+mn-cs"/>
              </a:rPr>
              <a:t>HTML, CSS, JavaScript, images, and video files. </a:t>
            </a:r>
            <a:r>
              <a:rPr lang="en-US" dirty="0">
                <a:latin typeface="Calibri" panose="020F0502020204030204" pitchFamily="34" charset="0"/>
              </a:rPr>
              <a:t>Conversely, you don't want to cache data if caching it provides no speed or cost advantage. </a:t>
            </a: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rPr>
              <a:t>Results of computationally intensive calculations</a:t>
            </a:r>
            <a:r>
              <a:rPr lang="en-US" dirty="0">
                <a:latin typeface="Calibri" panose="020F0502020204030204" pitchFamily="34" charset="0"/>
              </a:rPr>
              <a:t>: </a:t>
            </a:r>
            <a:r>
              <a:rPr lang="en-US" b="0" i="0" dirty="0">
                <a:solidFill>
                  <a:srgbClr val="333333"/>
                </a:solidFill>
                <a:effectLst/>
                <a:latin typeface="Calibri" panose="020F0502020204030204" pitchFamily="34" charset="0"/>
              </a:rPr>
              <a:t>Compute-intensive workloads that manipulate data sets, such as recommendation engines and high-performance computing simulations, also benefit from caching in the form of an in-memory data layer acting as a cache.</a:t>
            </a:r>
            <a:endParaRPr lang="en-US" dirty="0">
              <a:latin typeface="Calibri" panose="020F0502020204030204" pitchFamily="34" charset="0"/>
            </a:endParaRP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ea typeface="+mn-ea"/>
                <a:cs typeface="+mn-cs"/>
              </a:rPr>
              <a:t>Results of time-consuming, frequently used, or complex database queries</a:t>
            </a:r>
            <a:r>
              <a:rPr lang="en-US" dirty="0">
                <a:latin typeface="Calibri" panose="020F0502020204030204" pitchFamily="34" charset="0"/>
                <a:ea typeface="+mn-ea"/>
                <a:cs typeface="+mn-cs"/>
              </a:rPr>
              <a:t>: </a:t>
            </a:r>
            <a:r>
              <a:rPr lang="en-US" dirty="0">
                <a:latin typeface="Calibri" panose="020F0502020204030204" pitchFamily="34" charset="0"/>
              </a:rPr>
              <a:t>Time-consuming, frequently used, or complex database queries often create bottlenecks in applications. Generally, if the data requires a slow and expensive query to acquire, it's a candidate for caching. For example, queries that perform joins on multiple tables are slower and more expensive than queries on single tables. However, even data that requires a relatively quick query might still be a candidate for caching.</a:t>
            </a:r>
          </a:p>
        </p:txBody>
      </p:sp>
    </p:spTree>
    <p:extLst>
      <p:ext uri="{BB962C8B-B14F-4D97-AF65-F5344CB8AC3E}">
        <p14:creationId xmlns:p14="http://schemas.microsoft.com/office/powerpoint/2010/main" val="898431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11</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|The article “</a:t>
            </a:r>
            <a:r>
              <a:rPr lang="en-US" b="0" i="0" kern="1200" dirty="0">
                <a:solidFill>
                  <a:schemeClr val="tx1"/>
                </a:solidFill>
                <a:effectLst/>
                <a:latin typeface="Calibri" panose="020F0502020204030204" pitchFamily="34" charset="0"/>
                <a:ea typeface="+mn-ea"/>
                <a:cs typeface="+mn-cs"/>
              </a:rPr>
              <a:t>Caching challenges and strategies” can be used to provide specific benefits and challenges of caching for students who have experience with caching. Best practices and considerations are provided at the end of the article. A link is provided on the content resources page of your online course.</a:t>
            </a:r>
          </a:p>
          <a:p>
            <a:pPr marL="171450" marR="0" lvl="0" indent="-171450" defTabSz="914400" rtl="0" eaLnBrk="1" fontAlgn="auto" latinLnBrk="0" hangingPunct="1">
              <a:buClrTx/>
              <a:buSzTx/>
              <a:buFont typeface="Arial" panose="020B0604020202020204" pitchFamily="34" charset="0"/>
              <a:buChar char="•"/>
              <a:tabLst/>
              <a:defRPr/>
            </a:pPr>
            <a:r>
              <a:rPr lang="en-US" b="0" i="0" kern="1200" dirty="0">
                <a:solidFill>
                  <a:schemeClr val="tx1"/>
                </a:solidFill>
                <a:effectLst/>
                <a:latin typeface="Calibri" panose="020F0502020204030204" pitchFamily="34" charset="0"/>
                <a:ea typeface="+mn-ea"/>
                <a:cs typeface="+mn-cs"/>
              </a:rPr>
              <a:t>|Make sure there is a legitimate need for a cache that is justified in terms of cost, latency, or availability improvements.</a:t>
            </a:r>
          </a:p>
          <a:p>
            <a:pPr marL="171450" marR="0" lvl="0" indent="-171450" defTabSz="914400" rtl="0" eaLnBrk="1" fontAlgn="auto" latinLnBrk="0" hangingPunct="1">
              <a:buClrTx/>
              <a:buSzTx/>
              <a:buFont typeface="Arial" panose="020B0604020202020204" pitchFamily="34" charset="0"/>
              <a:buChar char="•"/>
              <a:tabLst/>
              <a:defRPr/>
            </a:pPr>
            <a:r>
              <a:rPr lang="en-US" b="0" i="0" kern="1200" dirty="0">
                <a:solidFill>
                  <a:schemeClr val="tx1"/>
                </a:solidFill>
                <a:effectLst/>
                <a:latin typeface="Calibri" panose="020F0502020204030204" pitchFamily="34" charset="0"/>
                <a:ea typeface="+mn-ea"/>
                <a:cs typeface="+mn-cs"/>
              </a:rPr>
              <a:t>|Plan to operate the cache with the same rigor and processes used for the rest of the service fleet and infrastructure. Don’t underestimate this effort. </a:t>
            </a:r>
          </a:p>
          <a:p>
            <a:pPr marL="171450" marR="0" lvl="0" indent="-171450" defTabSz="914400" rtl="0" eaLnBrk="1" fontAlgn="auto" latinLnBrk="0" hangingPunct="1">
              <a:buClrTx/>
              <a:buSzTx/>
              <a:buFont typeface="Arial" panose="020B0604020202020204" pitchFamily="34" charset="0"/>
              <a:buChar char="•"/>
              <a:tabLst/>
              <a:defRPr/>
            </a:pPr>
            <a:r>
              <a:rPr lang="en-US" b="0" i="0" kern="1200" dirty="0">
                <a:solidFill>
                  <a:schemeClr val="tx1"/>
                </a:solidFill>
                <a:effectLst/>
                <a:latin typeface="Calibri" panose="020F0502020204030204" pitchFamily="34" charset="0"/>
                <a:ea typeface="+mn-ea"/>
                <a:cs typeface="+mn-cs"/>
              </a:rPr>
              <a:t>|Be deliberate and empirical in the choice of cache size, expiration policy, and eviction policy.</a:t>
            </a:r>
            <a:endParaRPr lang="en-US" b="0"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The benefits </a:t>
            </a:r>
            <a:r>
              <a:rPr lang="en-US" b="0" kern="1200" dirty="0">
                <a:solidFill>
                  <a:schemeClr val="tx1"/>
                </a:solidFill>
                <a:effectLst/>
                <a:latin typeface="Calibri" panose="020F0502020204030204" pitchFamily="34" charset="0"/>
                <a:ea typeface="+mn-ea"/>
                <a:cs typeface="+mn-cs"/>
              </a:rPr>
              <a:t>of caching are its ability to reduce the response latency that users experience with your application, reduce cost, </a:t>
            </a:r>
            <a:r>
              <a:rPr lang="en-US" b="0" i="0" kern="1200" dirty="0">
                <a:solidFill>
                  <a:schemeClr val="tx1"/>
                </a:solidFill>
                <a:effectLst/>
                <a:latin typeface="Calibri" panose="020F0502020204030204" pitchFamily="34" charset="0"/>
                <a:ea typeface="+mn-ea"/>
                <a:cs typeface="+mn-cs"/>
              </a:rPr>
              <a:t>a</a:t>
            </a:r>
            <a:r>
              <a:rPr lang="en-US" b="0" dirty="0">
                <a:latin typeface="Calibri" panose="020F0502020204030204" pitchFamily="34" charset="0"/>
              </a:rPr>
              <a:t>lleviate the load on source data, and provide predictable application performance. </a:t>
            </a:r>
            <a:r>
              <a:rPr lang="en-US" b="0" i="0" kern="1200" dirty="0">
                <a:solidFill>
                  <a:schemeClr val="tx1"/>
                </a:solidFill>
                <a:effectLst/>
                <a:latin typeface="Calibri" panose="020F0502020204030204" pitchFamily="34" charset="0"/>
                <a:ea typeface="+mn-ea"/>
                <a:cs typeface="+mn-cs"/>
              </a:rPr>
              <a:t>When implementing caching, an extra component is added to the infrastructure. Although caching enhances performance, it also increases complexity. You should consider the additional engineering required to maintain the cache. Additional coding may be required in some database scenarios. Another challenge of caching content is determining how to cache data and deal with stale data. This is done based on the business use case. T</a:t>
            </a:r>
            <a:r>
              <a:rPr lang="en-US" dirty="0">
                <a:latin typeface="Calibri" panose="020F0502020204030204" pitchFamily="34" charset="0"/>
              </a:rPr>
              <a:t>his module discusses ways to deal</a:t>
            </a:r>
            <a:r>
              <a:rPr lang="en-US" kern="1200" dirty="0">
                <a:solidFill>
                  <a:schemeClr val="tx1"/>
                </a:solidFill>
                <a:effectLst/>
                <a:latin typeface="Calibri" panose="020F0502020204030204" pitchFamily="34" charset="0"/>
                <a:ea typeface="+mn-ea"/>
                <a:cs typeface="+mn-cs"/>
              </a:rPr>
              <a:t> with stale content so that you can decide when having up-to-date data is worth the cost and effort. </a:t>
            </a:r>
            <a:endParaRPr lang="en-US" b="0" i="0" kern="1200" dirty="0">
              <a:solidFill>
                <a:schemeClr val="tx1"/>
              </a:solidFill>
              <a:effectLst/>
              <a:latin typeface="Calibri" panose="020F0502020204030204" pitchFamily="34" charset="0"/>
              <a:ea typeface="+mn-ea"/>
              <a:cs typeface="+mn-cs"/>
            </a:endParaRPr>
          </a:p>
          <a:p>
            <a:endParaRPr lang="en-US" b="0" dirty="0">
              <a:latin typeface="Calibri" panose="020F0502020204030204" pitchFamily="34" charset="0"/>
            </a:endParaRPr>
          </a:p>
          <a:p>
            <a:r>
              <a:rPr lang="en-US" b="0" dirty="0">
                <a:latin typeface="Calibri" panose="020F0502020204030204" pitchFamily="34" charset="0"/>
              </a:rPr>
              <a:t>When </a:t>
            </a:r>
            <a:r>
              <a:rPr lang="en-US" dirty="0">
                <a:latin typeface="Calibri" panose="020F0502020204030204" pitchFamily="34" charset="0"/>
              </a:rPr>
              <a:t>implementing caching data, consider the trade-offs. It can help dramatically improve performance but requires a clear strategy for how and when to update or invalidate cached data to prevent incorrect system behavior.</a:t>
            </a:r>
          </a:p>
        </p:txBody>
      </p:sp>
    </p:spTree>
    <p:extLst>
      <p:ext uri="{BB962C8B-B14F-4D97-AF65-F5344CB8AC3E}">
        <p14:creationId xmlns:p14="http://schemas.microsoft.com/office/powerpoint/2010/main" val="518383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12</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|The </a:t>
            </a:r>
            <a:r>
              <a:rPr lang="en-US" b="0" i="0" u="none" strike="noStrike" kern="1200" dirty="0">
                <a:solidFill>
                  <a:schemeClr val="tx1"/>
                </a:solidFill>
                <a:effectLst/>
                <a:latin typeface="Calibri" panose="020F0502020204030204" pitchFamily="34" charset="0"/>
                <a:ea typeface="+mn-ea"/>
                <a:cs typeface="+mn-cs"/>
              </a:rPr>
              <a:t>AWS Caching Solutions page explains other AWS caching solutions. The link is provided in the resource page.</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The two types of caching that you will learn about in this module are static caching and database caching:</a:t>
            </a:r>
          </a:p>
          <a:p>
            <a:pPr marL="171450" marR="0" lvl="0" indent="-171450" defTabSz="914400" rtl="0" eaLnBrk="1" fontAlgn="auto" latinLnBrk="0" hangingPunct="1">
              <a:buClrTx/>
              <a:buSzTx/>
              <a:buFont typeface="Arial" panose="020B0604020202020204" pitchFamily="34" charset="0"/>
              <a:buChar char="•"/>
              <a:tabLst/>
              <a:defRPr/>
            </a:pPr>
            <a:r>
              <a:rPr lang="en-US" b="0" i="0" kern="1200" dirty="0">
                <a:solidFill>
                  <a:schemeClr val="tx1"/>
                </a:solidFill>
                <a:effectLst/>
                <a:latin typeface="Calibri" panose="020F0502020204030204" pitchFamily="34" charset="0"/>
                <a:ea typeface="+mn-ea"/>
                <a:cs typeface="+mn-cs"/>
              </a:rPr>
              <a:t>Static caching, or edge caching, is using caching servers to store content closer to users. A content delivery network (CDN) provides the ability to use its global network of edge locations to deliver a cached copy of web content such as videos, webpages, and images to your customers. </a:t>
            </a:r>
            <a:r>
              <a:rPr lang="en-US" dirty="0">
                <a:latin typeface="Calibri" panose="020F0502020204030204" pitchFamily="34" charset="0"/>
              </a:rPr>
              <a:t>To reduce response time, a CDN uses the edge location nearest to the customer or to the originating request location to deliver a cached copy of static content. </a:t>
            </a:r>
            <a:r>
              <a:rPr lang="en-US" b="0" i="0" kern="1200" dirty="0">
                <a:solidFill>
                  <a:schemeClr val="tx1"/>
                </a:solidFill>
                <a:effectLst/>
                <a:latin typeface="Calibri" panose="020F0502020204030204" pitchFamily="34" charset="0"/>
                <a:ea typeface="+mn-ea"/>
                <a:cs typeface="+mn-cs"/>
              </a:rPr>
              <a:t>CloudFront is a global CDN service that accelerates the delivery of your content. </a:t>
            </a:r>
          </a:p>
          <a:p>
            <a:pPr marL="171450" marR="0" lvl="0" indent="-171450" defTabSz="914400" rtl="0" eaLnBrk="1" fontAlgn="auto" latinLnBrk="0" hangingPunct="1">
              <a:buClrTx/>
              <a:buSzTx/>
              <a:buFont typeface="Arial" panose="020B0604020202020204" pitchFamily="34" charset="0"/>
              <a:buChar char="•"/>
              <a:tabLst/>
              <a:defRPr/>
            </a:pPr>
            <a:r>
              <a:rPr lang="en-US" b="0" i="0" kern="1200" dirty="0">
                <a:solidFill>
                  <a:schemeClr val="tx1"/>
                </a:solidFill>
                <a:effectLst/>
                <a:latin typeface="Calibri" panose="020F0502020204030204" pitchFamily="34" charset="0"/>
                <a:ea typeface="+mn-ea"/>
                <a:cs typeface="+mn-cs"/>
              </a:rPr>
              <a:t>In database caching, the cache acts as an adjacent data access layer to your database that your applications can use to improve performance. A database cache layer can be applied in front of any type of database, including relational and NoSQL databases. Common techniques used to load data into your cache include lazy loading and write-through methods. ElastiCache is a web service that you can use to deploy, operate, and scale an in-memory data store or cache in the cloud. The service improves the performance of web applications by giving you the ability to retrieve information from fast, managed, in-memory data stores instead of relying entirely on slower disk-based databases.  </a:t>
            </a:r>
            <a:endParaRPr lang="en-US" dirty="0">
              <a:latin typeface="Calibri" panose="020F0502020204030204" pitchFamily="34" charset="0"/>
            </a:endParaRPr>
          </a:p>
        </p:txBody>
      </p:sp>
    </p:spTree>
    <p:extLst>
      <p:ext uri="{BB962C8B-B14F-4D97-AF65-F5344CB8AC3E}">
        <p14:creationId xmlns:p14="http://schemas.microsoft.com/office/powerpoint/2010/main" val="3830666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859809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explains how CloudFront facilitates static caching securely as a CDN service.</a:t>
            </a:r>
          </a:p>
        </p:txBody>
      </p:sp>
    </p:spTree>
    <p:extLst>
      <p:ext uri="{BB962C8B-B14F-4D97-AF65-F5344CB8AC3E}">
        <p14:creationId xmlns:p14="http://schemas.microsoft.com/office/powerpoint/2010/main" val="3395222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|CDNs are introduced as the solution to the challenge of delivering content across the globe in a secure and cost-optimized way.</a:t>
            </a:r>
          </a:p>
          <a:p>
            <a:pPr marL="0" marR="0" lvl="0" indent="0" defTabSz="914400" rtl="0" eaLnBrk="1" fontAlgn="auto" latinLnBrk="0" hangingPunct="1">
              <a:buClrTx/>
              <a:buSzTx/>
              <a:buFontTx/>
              <a:buNone/>
              <a:tabLst/>
              <a:defRPr/>
            </a:pPr>
            <a:r>
              <a:rPr lang="en-US" dirty="0">
                <a:latin typeface="Calibri" panose="020F0502020204030204" pitchFamily="34" charset="0"/>
              </a:rPr>
              <a:t>|This slide is meant to explain the concept of CDNs in preparation for introducing what CloudFront can do. Once students understand CloudFront as a service, the slide explaining CloudFront edge locations and edge caches will complete what they need to know about CDNs. </a:t>
            </a: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b="1" dirty="0">
                <a:solidFill>
                  <a:schemeClr val="tx1"/>
                </a:solidFill>
                <a:latin typeface="Calibri" panose="020F0502020204030204" pitchFamily="34" charset="0"/>
              </a:rPr>
              <a:t>Challenge</a:t>
            </a:r>
            <a:r>
              <a:rPr lang="en-US" dirty="0">
                <a:solidFill>
                  <a:schemeClr val="tx1"/>
                </a:solidFill>
                <a:latin typeface="Calibri" panose="020F0502020204030204" pitchFamily="34" charset="0"/>
              </a:rPr>
              <a:t>: Because of the global and complex nature of the internet, communication traffic between applications and their users (clients) has to move over large physical distances. The communication is also two-way, with requests going from the client to the server and responses coming back. For example, when a user visits a website, data from that website's server has to travel across the internet to reach the user's computer. If the user is located far from that server, it will take a long time to load a large file, such as a video or website image. </a:t>
            </a:r>
          </a:p>
          <a:p>
            <a:pPr marL="0" marR="0" lvl="0" indent="0" defTabSz="914400" rtl="0" eaLnBrk="1" fontAlgn="auto" latinLnBrk="0" hangingPunct="1">
              <a:buClrTx/>
              <a:buSzTx/>
              <a:buFontTx/>
              <a:buNone/>
              <a:tabLst/>
              <a:defRPr/>
            </a:pPr>
            <a:endParaRPr lang="en-US" dirty="0">
              <a:solidFill>
                <a:schemeClr val="tx1"/>
              </a:solidFill>
              <a:latin typeface="Calibri" panose="020F0502020204030204" pitchFamily="34" charset="0"/>
            </a:endParaRPr>
          </a:p>
          <a:p>
            <a:pPr marL="0" marR="0" lvl="0" indent="0" defTabSz="914400" rtl="0" eaLnBrk="1" fontAlgn="auto" latinLnBrk="0" hangingPunct="1">
              <a:buClrTx/>
              <a:buSzTx/>
              <a:buFontTx/>
              <a:buNone/>
              <a:tabLst/>
              <a:defRPr/>
            </a:pPr>
            <a:r>
              <a:rPr lang="en-US" b="1" dirty="0">
                <a:solidFill>
                  <a:schemeClr val="tx1"/>
                </a:solidFill>
                <a:latin typeface="Calibri" panose="020F0502020204030204" pitchFamily="34" charset="0"/>
              </a:rPr>
              <a:t>Solution</a:t>
            </a:r>
            <a:r>
              <a:rPr lang="en-US" dirty="0">
                <a:solidFill>
                  <a:schemeClr val="tx1"/>
                </a:solidFill>
                <a:latin typeface="Calibri" panose="020F0502020204030204" pitchFamily="34" charset="0"/>
              </a:rPr>
              <a:t>: A CDN is a network of interconnected servers that speeds up application loading for data-heavy applications. Static content is stored on CDN servers geographically closer to the users and reaches their computers much faster. A CDN improves efficiency by introducing intermediary servers between the client and the website server. These CDN servers manage some of the client-server communications. They decrease web traffic to the web server, reduce bandwidth consumption, and improve the user experience of your applications. </a:t>
            </a:r>
            <a:r>
              <a:rPr lang="en-US" kern="1200" dirty="0">
                <a:solidFill>
                  <a:schemeClr val="tx1"/>
                </a:solidFill>
                <a:effectLst/>
                <a:latin typeface="Calibri" panose="020F0502020204030204" pitchFamily="34" charset="0"/>
                <a:ea typeface="+mn-ea"/>
                <a:cs typeface="+mn-cs"/>
              </a:rPr>
              <a:t>A CDN caches copies of commonly requested files that are hosted on the application origin server. These files can include static content, such as HTML, CSS, JavaScript, image, and video files. The CDN delivers a local copy of the requested content from a cache edge or point of presence (PoP) that provides the fastest delivery to the requester. </a:t>
            </a:r>
          </a:p>
        </p:txBody>
      </p:sp>
    </p:spTree>
    <p:extLst>
      <p:ext uri="{BB962C8B-B14F-4D97-AF65-F5344CB8AC3E}">
        <p14:creationId xmlns:p14="http://schemas.microsoft.com/office/powerpoint/2010/main" val="793739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kern="1200" dirty="0">
                <a:solidFill>
                  <a:schemeClr val="tx1"/>
                </a:solidFill>
                <a:effectLst/>
                <a:latin typeface="Calibri" panose="020F0502020204030204" pitchFamily="34" charset="0"/>
                <a:ea typeface="+mn-ea"/>
                <a:cs typeface="+mn-cs"/>
              </a:rPr>
              <a:t>This example of an Amazon.com webpage shows how static and dynamic content can compose a dynamic web application. This web application is delivered through the HTTPS protocol for the encryption of user page requests and the pages that are returned from a web server. </a:t>
            </a:r>
          </a:p>
          <a:p>
            <a:pPr marL="17145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You can use a CDN or edge cache to cache static content. Such content might include web objects (for example, HTML documents, CSS style sheets, or JavaScript files), image files, and video files. </a:t>
            </a:r>
          </a:p>
          <a:p>
            <a:pPr marL="17145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You cannot cache dynamically generated content or user-generated data. However, you can configure CloudFront to deliver this information from an application that runs on a custom origin. For example, it might be an Amazon Elastic Compute Cloud (Amazon EC2) instance or a web server. </a:t>
            </a:r>
          </a:p>
          <a:p>
            <a:r>
              <a:rPr lang="en-US" kern="1200" dirty="0">
                <a:solidFill>
                  <a:schemeClr val="tx1"/>
                </a:solidFill>
                <a:effectLst/>
                <a:latin typeface="Calibri" panose="020F0502020204030204" pitchFamily="34" charset="0"/>
                <a:ea typeface="+mn-ea"/>
                <a:cs typeface="+mn-cs"/>
              </a:rPr>
              <a:t> </a:t>
            </a:r>
          </a:p>
          <a:p>
            <a:r>
              <a:rPr lang="en-US" kern="1200" dirty="0">
                <a:solidFill>
                  <a:schemeClr val="tx1"/>
                </a:solidFill>
                <a:effectLst/>
                <a:latin typeface="Calibri" panose="020F0502020204030204" pitchFamily="34" charset="0"/>
                <a:ea typeface="+mn-ea"/>
                <a:cs typeface="+mn-cs"/>
              </a:rPr>
              <a:t>Additionally, you can configure CloudFront to require that viewers use HTTPS to request your objects so that connections are encrypted when CloudFront communicates with viewers. You also can configure CloudFront to use HTTPS to get objects from your origin so that connections are encrypted when CloudFront communicates with your origin. </a:t>
            </a:r>
          </a:p>
        </p:txBody>
      </p:sp>
    </p:spTree>
    <p:extLst>
      <p:ext uri="{BB962C8B-B14F-4D97-AF65-F5344CB8AC3E}">
        <p14:creationId xmlns:p14="http://schemas.microsoft.com/office/powerpoint/2010/main" val="20362221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r>
              <a:rPr lang="en-US" b="0" i="0" kern="1200" dirty="0">
                <a:solidFill>
                  <a:schemeClr val="tx1"/>
                </a:solidFill>
                <a:effectLst/>
                <a:latin typeface="Calibri" panose="020F0502020204030204" pitchFamily="34" charset="0"/>
                <a:ea typeface="+mn-ea"/>
                <a:cs typeface="+mn-cs"/>
              </a:rPr>
              <a:t>For more information, see the CloudFront documentation link on the content resources page of your online course.</a:t>
            </a:r>
            <a:br>
              <a:rPr lang="en-US" b="0" i="0" kern="1200" dirty="0">
                <a:solidFill>
                  <a:schemeClr val="tx1"/>
                </a:solidFill>
                <a:effectLst/>
                <a:latin typeface="Calibri" panose="020F0502020204030204" pitchFamily="34" charset="0"/>
                <a:ea typeface="+mn-ea"/>
                <a:cs typeface="+mn-cs"/>
              </a:rPr>
            </a:br>
            <a:r>
              <a:rPr lang="en-US" dirty="0">
                <a:latin typeface="Calibri" panose="020F0502020204030204" pitchFamily="34" charset="0"/>
              </a:rPr>
              <a:t>|</a:t>
            </a:r>
          </a:p>
          <a:p>
            <a:r>
              <a:rPr lang="en-US" b="1" dirty="0">
                <a:latin typeface="Calibri" panose="020F0502020204030204" pitchFamily="34" charset="0"/>
              </a:rPr>
              <a:t>|Student notes</a:t>
            </a:r>
            <a:endParaRPr lang="en-US" dirty="0">
              <a:solidFill>
                <a:schemeClr val="tx1"/>
              </a:solidFill>
              <a:latin typeface="Calibri" panose="020F0502020204030204" pitchFamily="34" charset="0"/>
            </a:endParaRPr>
          </a:p>
          <a:p>
            <a:pPr marL="171450" marR="0" lvl="0" indent="-171450" defTabSz="914400" rtl="0" eaLnBrk="1" fontAlgn="auto" latinLnBrk="0" hangingPunct="1">
              <a:buClrTx/>
              <a:buSzTx/>
              <a:buFont typeface="Arial" panose="020B0604020202020204" pitchFamily="34" charset="0"/>
              <a:buChar char="•"/>
              <a:tabLst/>
              <a:defRPr/>
            </a:pPr>
            <a:r>
              <a:rPr lang="en-US" b="0" i="0" kern="1200" dirty="0">
                <a:solidFill>
                  <a:schemeClr val="tx1"/>
                </a:solidFill>
                <a:effectLst/>
                <a:latin typeface="Calibri" panose="020F0502020204030204" pitchFamily="34" charset="0"/>
                <a:ea typeface="+mn-ea"/>
                <a:cs typeface="+mn-cs"/>
              </a:rPr>
              <a:t>CloudFront is a CDN service built for high performance, security, and developer convenience. With CloudFront, you can deliver data through globally dispersed PoPs with automated network mapping and intelligent routing. </a:t>
            </a:r>
          </a:p>
          <a:p>
            <a:pPr marL="171450" marR="0" lvl="0" indent="-171450" defTabSz="914400" rtl="0" eaLnBrk="1" fontAlgn="auto" latinLnBrk="0" hangingPunct="1">
              <a:buClrTx/>
              <a:buSzTx/>
              <a:buFont typeface="Arial" panose="020B0604020202020204" pitchFamily="34" charset="0"/>
              <a:buChar char="•"/>
              <a:tabLst/>
              <a:defRPr/>
            </a:pPr>
            <a:r>
              <a:rPr lang="en-US" b="0" i="0" kern="1200" dirty="0">
                <a:solidFill>
                  <a:schemeClr val="tx1"/>
                </a:solidFill>
                <a:effectLst/>
                <a:latin typeface="Calibri" panose="020F0502020204030204" pitchFamily="34" charset="0"/>
                <a:ea typeface="+mn-ea"/>
                <a:cs typeface="+mn-cs"/>
              </a:rPr>
              <a:t>CloudFront speeds up the distribution of your content by routing each user request through the AWS backbone network to the edge location that can best serve your content. Typically, this is a CloudFront edge server that provides the fastest delivery to the viewer. Using the AWS network dramatically reduces the number of networks that your users' requests must pass through, which improves performance. You also get increased reliability and availability because copies of your content are now cached in multiple edge locations around the world. </a:t>
            </a:r>
          </a:p>
          <a:p>
            <a:pPr marL="171450" marR="0" lvl="0" indent="-171450" defTabSz="914400" rtl="0" eaLnBrk="1" fontAlgn="auto" latinLnBrk="0" hangingPunct="1">
              <a:buClrTx/>
              <a:buSzTx/>
              <a:buFont typeface="Arial" panose="020B0604020202020204" pitchFamily="34" charset="0"/>
              <a:buChar char="•"/>
              <a:tabLst/>
              <a:defRPr/>
            </a:pPr>
            <a:r>
              <a:rPr lang="en-US" b="0" i="0" kern="1200" dirty="0">
                <a:solidFill>
                  <a:schemeClr val="tx1"/>
                </a:solidFill>
                <a:effectLst/>
                <a:latin typeface="Calibri" panose="020F0502020204030204" pitchFamily="34" charset="0"/>
                <a:ea typeface="+mn-ea"/>
                <a:cs typeface="+mn-cs"/>
              </a:rPr>
              <a:t>With the web application firewall, </a:t>
            </a:r>
            <a:r>
              <a:rPr lang="en-US" dirty="0">
                <a:latin typeface="Calibri" panose="020F0502020204030204" pitchFamily="34" charset="0"/>
              </a:rPr>
              <a:t>AWS WAF, and the </a:t>
            </a:r>
            <a:r>
              <a:rPr lang="en-US" b="0" i="0" kern="1200" dirty="0">
                <a:solidFill>
                  <a:schemeClr val="tx1"/>
                </a:solidFill>
                <a:effectLst/>
                <a:latin typeface="Calibri" panose="020F0502020204030204" pitchFamily="34" charset="0"/>
                <a:ea typeface="+mn-ea"/>
                <a:cs typeface="+mn-cs"/>
              </a:rPr>
              <a:t>managed distributed denial of service (DDoS) protection service, </a:t>
            </a:r>
            <a:r>
              <a:rPr lang="en-US" dirty="0">
                <a:latin typeface="Calibri" panose="020F0502020204030204" pitchFamily="34" charset="0"/>
              </a:rPr>
              <a:t>AWS Shield, you can use CloudFront to improve the resiliency of your applications that run on AWS from DDoS attacks. </a:t>
            </a:r>
            <a:r>
              <a:rPr lang="en-US" kern="1200" dirty="0">
                <a:solidFill>
                  <a:schemeClr val="tx1"/>
                </a:solidFill>
                <a:effectLst/>
                <a:latin typeface="Calibri" panose="020F0502020204030204" pitchFamily="34" charset="0"/>
              </a:rPr>
              <a:t>CloudFront protects against network and application layer attacks, s</a:t>
            </a:r>
            <a:r>
              <a:rPr lang="en-US" b="0" i="0" kern="1200" dirty="0">
                <a:solidFill>
                  <a:schemeClr val="tx1"/>
                </a:solidFill>
                <a:effectLst/>
                <a:latin typeface="Calibri" panose="020F0502020204030204" pitchFamily="34" charset="0"/>
                <a:ea typeface="+mn-ea"/>
                <a:cs typeface="+mn-cs"/>
              </a:rPr>
              <a:t>upports multiple methods of access control, and helps ensure secure delivery for sensitive data. </a:t>
            </a:r>
            <a:r>
              <a:rPr lang="en-US" b="0" dirty="0">
                <a:latin typeface="Calibri" panose="020F0502020204030204" pitchFamily="34" charset="0"/>
              </a:rPr>
              <a:t>CloudFront</a:t>
            </a:r>
            <a:r>
              <a:rPr lang="en-US" b="0" i="0" kern="1200" dirty="0">
                <a:solidFill>
                  <a:schemeClr val="tx1"/>
                </a:solidFill>
                <a:effectLst/>
                <a:latin typeface="Calibri" panose="020F0502020204030204" pitchFamily="34" charset="0"/>
                <a:ea typeface="+mn-ea"/>
                <a:cs typeface="+mn-cs"/>
              </a:rPr>
              <a:t> delivers content over HTTPS by using the latest TLS version to encrypt and secure communication between viewer clients and CloudFront. </a:t>
            </a:r>
          </a:p>
        </p:txBody>
      </p:sp>
    </p:spTree>
    <p:extLst>
      <p:ext uri="{BB962C8B-B14F-4D97-AF65-F5344CB8AC3E}">
        <p14:creationId xmlns:p14="http://schemas.microsoft.com/office/powerpoint/2010/main" val="20826122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18</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|The image shows the CloudFront global edge network components that exist between the user and the origin location. CloudFront edge locations are closer to users while CloudFront Regional edge caches are farther away. The larger Regional edge caches are located between your origin location and the global edge locations that serve content directly to viewers. Access a map of the global </a:t>
            </a:r>
            <a:r>
              <a:rPr lang="en-US" b="0" i="0" kern="1200" dirty="0">
                <a:solidFill>
                  <a:schemeClr val="tx1"/>
                </a:solidFill>
                <a:effectLst/>
                <a:latin typeface="Calibri" panose="020F0502020204030204" pitchFamily="34" charset="0"/>
                <a:ea typeface="+mn-ea"/>
                <a:cs typeface="+mn-cs"/>
              </a:rPr>
              <a:t>edge network to show students how these PoPs are distributed by using the </a:t>
            </a:r>
            <a:r>
              <a:rPr lang="en-US" b="0" i="1" kern="1200" dirty="0">
                <a:solidFill>
                  <a:schemeClr val="tx1"/>
                </a:solidFill>
                <a:effectLst/>
                <a:latin typeface="Calibri" panose="020F0502020204030204" pitchFamily="34" charset="0"/>
                <a:ea typeface="+mn-ea"/>
                <a:cs typeface="+mn-cs"/>
              </a:rPr>
              <a:t>Amazon CloudFront Key Features </a:t>
            </a:r>
            <a:r>
              <a:rPr lang="en-US" b="0" i="0" kern="1200" dirty="0">
                <a:solidFill>
                  <a:schemeClr val="tx1"/>
                </a:solidFill>
                <a:effectLst/>
                <a:latin typeface="Calibri" panose="020F0502020204030204" pitchFamily="34" charset="0"/>
                <a:ea typeface="+mn-ea"/>
                <a:cs typeface="+mn-cs"/>
              </a:rPr>
              <a:t>link on the resource page.</a:t>
            </a:r>
            <a:endParaRPr lang="en-US" b="1" i="0" kern="1200" dirty="0">
              <a:solidFill>
                <a:schemeClr val="tx1"/>
              </a:solidFill>
              <a:effectLst/>
              <a:latin typeface="Calibri" panose="020F0502020204030204" pitchFamily="34" charset="0"/>
              <a:ea typeface="+mn-ea"/>
              <a:cs typeface="+mn-cs"/>
            </a:endParaRPr>
          </a:p>
          <a:p>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 typeface="Arial" panose="020B0604020202020204" pitchFamily="34" charset="0"/>
              <a:buNone/>
              <a:tabLst/>
              <a:defRPr/>
            </a:pPr>
            <a:r>
              <a:rPr lang="en-US" dirty="0">
                <a:latin typeface="Calibri" panose="020F0502020204030204" pitchFamily="34" charset="0"/>
              </a:rPr>
              <a:t>To deliver content with lower latency to end users, CloudFront uses a global network of more than 550 edge locations and 13 Regional edge caches in more than 100 cities across 50 countries. The information is current as of October 2023.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CloudFront edge locations are more numerous and closer to users than Regional edge caches. There are fewer CloudFront Regional edge caches, which are farther away from users than edge locations. A Regional edge cache has a larger cache than an individual edge location, so objects remain in the Regional edge cache longer. This arrangement helps to keep more of your content closer to your viewers. </a:t>
            </a:r>
          </a:p>
          <a:p>
            <a:pPr marL="171450" marR="0" lvl="0" indent="-171450" defTabSz="914400" rtl="0" eaLnBrk="1" fontAlgn="auto" latinLnBrk="0" hangingPunct="1">
              <a:buClrTx/>
              <a:buSzTx/>
              <a:buFont typeface="Arial" panose="020B0604020202020204" pitchFamily="34" charset="0"/>
              <a:buChar char="•"/>
              <a:tabLst/>
              <a:defRPr/>
            </a:pPr>
            <a:r>
              <a:rPr lang="en-US" dirty="0">
                <a:solidFill>
                  <a:schemeClr val="tx1"/>
                </a:solidFill>
                <a:latin typeface="Calibri" panose="020F0502020204030204" pitchFamily="34" charset="0"/>
              </a:rPr>
              <a:t>CloudFront </a:t>
            </a:r>
            <a:r>
              <a:rPr lang="en-US" b="0" dirty="0">
                <a:solidFill>
                  <a:schemeClr val="tx1"/>
                </a:solidFill>
                <a:latin typeface="Calibri" panose="020F0502020204030204" pitchFamily="34" charset="0"/>
              </a:rPr>
              <a:t>edge locations </a:t>
            </a:r>
            <a:r>
              <a:rPr lang="en-US" dirty="0">
                <a:solidFill>
                  <a:schemeClr val="tx1"/>
                </a:solidFill>
                <a:latin typeface="Calibri" panose="020F0502020204030204" pitchFamily="34" charset="0"/>
              </a:rPr>
              <a:t>make sure that popular content can be served quickly to viewers. </a:t>
            </a:r>
            <a:r>
              <a:rPr lang="en-US" dirty="0">
                <a:latin typeface="Calibri" panose="020F0502020204030204" pitchFamily="34" charset="0"/>
              </a:rPr>
              <a:t>As objects become less popular, individual edge locations might remove those objects to make room for more popular content. For less popular content, CloudFront </a:t>
            </a:r>
            <a:r>
              <a:rPr lang="en-US" i="0" dirty="0">
                <a:latin typeface="Calibri" panose="020F0502020204030204" pitchFamily="34" charset="0"/>
              </a:rPr>
              <a:t>has Regional edge caches</a:t>
            </a:r>
            <a:r>
              <a:rPr lang="en-US" i="1" dirty="0">
                <a:latin typeface="Calibri" panose="020F0502020204030204" pitchFamily="34" charset="0"/>
              </a:rPr>
              <a:t>. </a:t>
            </a:r>
            <a:r>
              <a:rPr lang="en-US" dirty="0">
                <a:solidFill>
                  <a:schemeClr val="tx1"/>
                </a:solidFill>
                <a:latin typeface="Calibri" panose="020F0502020204030204" pitchFamily="34" charset="0"/>
              </a:rPr>
              <a:t>Regional edge caches help with all types of content, particularly content that tends to become less popular over time. Examples include user-generated content; ecommerce assets, such as product photos and videos; and news and event-related content that might suddenly become popular.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As the slide shows, Regional edge caches are CloudFront locations that are deployed globally and close to your viewers. They are located between your origin location and the global edge locations that serve content directly to viewers. Regional edge caches reduce the need for CloudFront to go back to your origin server, and they improve overall performance for viewers. </a:t>
            </a:r>
          </a:p>
          <a:p>
            <a:pPr marL="171450" marR="0" lvl="0" indent="-171450" defTabSz="914400" rtl="0" eaLnBrk="1" fontAlgn="auto" latinLnBrk="0" hangingPunct="1">
              <a:buClrTx/>
              <a:buSzTx/>
              <a:buFont typeface="Arial" panose="020B0604020202020204" pitchFamily="34" charset="0"/>
              <a:buChar char="•"/>
              <a:tabLst/>
              <a:defRPr/>
            </a:pPr>
            <a:r>
              <a:rPr lang="en-US" dirty="0">
                <a:solidFill>
                  <a:schemeClr val="tx1"/>
                </a:solidFill>
                <a:latin typeface="Calibri" panose="020F0502020204030204" pitchFamily="34" charset="0"/>
              </a:rPr>
              <a:t>CloudFront edge locations are connected to AWS Regions through the AWS network backbone—fully redundant, multiple 100 gigabit Ethernet (GbE) parallel fibers that circle the globe and link with tens of thousands of networks for improved origin fetches and dynamic content acceleration. </a:t>
            </a:r>
          </a:p>
          <a:p>
            <a:pPr marL="0" marR="0" lvl="0" indent="0" defTabSz="914400" rtl="0" eaLnBrk="1" fontAlgn="auto" latinLnBrk="0" hangingPunct="1">
              <a:buClrTx/>
              <a:buSzTx/>
              <a:buFont typeface="Arial" panose="020B0604020202020204" pitchFamily="34" charset="0"/>
              <a:buNone/>
              <a:tabLst/>
              <a:defRPr/>
            </a:pPr>
            <a:endParaRPr lang="en-US" dirty="0">
              <a:solidFill>
                <a:schemeClr val="tx1"/>
              </a:solidFill>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dirty="0">
                <a:solidFill>
                  <a:schemeClr val="tx1"/>
                </a:solidFill>
                <a:latin typeface="Calibri" panose="020F0502020204030204" pitchFamily="34" charset="0"/>
              </a:rPr>
              <a:t>For more information about where the edge locations and Regional edge caches are, see the </a:t>
            </a:r>
            <a:r>
              <a:rPr lang="en-US" b="0" i="1" kern="1200" dirty="0">
                <a:solidFill>
                  <a:schemeClr val="tx1"/>
                </a:solidFill>
                <a:effectLst/>
                <a:latin typeface="Calibri" panose="020F0502020204030204" pitchFamily="34" charset="0"/>
                <a:ea typeface="+mn-ea"/>
                <a:cs typeface="+mn-cs"/>
              </a:rPr>
              <a:t>Amazon CloudFront Key Features </a:t>
            </a:r>
            <a:r>
              <a:rPr lang="en-US" b="0" i="0" kern="1200" dirty="0">
                <a:solidFill>
                  <a:schemeClr val="tx1"/>
                </a:solidFill>
                <a:effectLst/>
                <a:latin typeface="Calibri" panose="020F0502020204030204" pitchFamily="34" charset="0"/>
                <a:ea typeface="+mn-ea"/>
                <a:cs typeface="+mn-cs"/>
              </a:rPr>
              <a:t>p</a:t>
            </a:r>
            <a:r>
              <a:rPr lang="en-US" b="0" dirty="0">
                <a:solidFill>
                  <a:schemeClr val="tx1"/>
                </a:solidFill>
                <a:latin typeface="Calibri" panose="020F0502020204030204" pitchFamily="34" charset="0"/>
              </a:rPr>
              <a:t>age</a:t>
            </a:r>
            <a:r>
              <a:rPr lang="en-US" dirty="0">
                <a:solidFill>
                  <a:schemeClr val="tx1"/>
                </a:solidFill>
                <a:latin typeface="Calibri" panose="020F0502020204030204" pitchFamily="34" charset="0"/>
              </a:rPr>
              <a:t> in the course resource document.</a:t>
            </a:r>
          </a:p>
        </p:txBody>
      </p:sp>
    </p:spTree>
    <p:extLst>
      <p:ext uri="{BB962C8B-B14F-4D97-AF65-F5344CB8AC3E}">
        <p14:creationId xmlns:p14="http://schemas.microsoft.com/office/powerpoint/2010/main" val="30119805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19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|The next section covers approaches to handling stale content. This diagram is meant to provide a high-level understanding of caching with CloudFront.</a:t>
            </a:r>
          </a:p>
          <a:p>
            <a:r>
              <a:rPr lang="en-US" dirty="0">
                <a:latin typeface="Calibri" panose="020F0502020204030204" pitchFamily="34" charset="0"/>
              </a:rPr>
              <a:t>|</a:t>
            </a:r>
          </a:p>
          <a:p>
            <a:r>
              <a:rPr lang="en-US" b="1" dirty="0">
                <a:latin typeface="Calibri" panose="020F0502020204030204" pitchFamily="34" charset="0"/>
              </a:rPr>
              <a:t>|Student notes</a:t>
            </a:r>
          </a:p>
          <a:p>
            <a:pPr marL="228600" indent="-228600">
              <a:buAutoNum type="arabicPeriod"/>
            </a:pPr>
            <a:r>
              <a:rPr lang="en-US" dirty="0">
                <a:latin typeface="Calibri" panose="020F0502020204030204" pitchFamily="34" charset="0"/>
              </a:rPr>
              <a:t>A user makes a request to access the cat.jpg image file.</a:t>
            </a:r>
          </a:p>
          <a:p>
            <a:pPr marL="228600" indent="-228600">
              <a:buAutoNum type="arabicPeriod"/>
            </a:pPr>
            <a:r>
              <a:rPr lang="en-US" b="0" i="0" kern="1200" dirty="0">
                <a:solidFill>
                  <a:schemeClr val="tx1"/>
                </a:solidFill>
                <a:effectLst/>
                <a:latin typeface="Calibri" panose="020F0502020204030204" pitchFamily="34" charset="0"/>
                <a:ea typeface="+mn-ea"/>
                <a:cs typeface="+mn-cs"/>
              </a:rPr>
              <a:t>The DNS routes the request to the edge location that can best serve the request. </a:t>
            </a:r>
            <a:r>
              <a:rPr lang="en-US" dirty="0">
                <a:latin typeface="Calibri" panose="020F0502020204030204" pitchFamily="34" charset="0"/>
              </a:rPr>
              <a:t>Typically, it is the nearest edge location that has the shortest latency. CloudFront checks the cache for the requested content. If the content is in the cache, CloudFront delivers it immediately to the user (step 5), </a:t>
            </a:r>
            <a:r>
              <a:rPr lang="en-US" b="0" i="0" kern="1200" dirty="0">
                <a:solidFill>
                  <a:schemeClr val="tx1"/>
                </a:solidFill>
                <a:effectLst/>
                <a:latin typeface="Calibri" panose="020F0502020204030204" pitchFamily="34" charset="0"/>
                <a:ea typeface="+mn-ea"/>
                <a:cs typeface="+mn-cs"/>
              </a:rPr>
              <a:t>and the data journey ends here.</a:t>
            </a:r>
          </a:p>
          <a:p>
            <a:pPr marL="228600" indent="-228600">
              <a:buAutoNum type="arabicPeriod"/>
            </a:pPr>
            <a:r>
              <a:rPr lang="en-US" dirty="0">
                <a:latin typeface="Calibri" panose="020F0502020204030204" pitchFamily="34" charset="0"/>
              </a:rPr>
              <a:t>The content might not be currently in the cache. If that is the case, CloudFront forwards the request to the origin location that you identified as the source for the definitive version of your content: in this case, </a:t>
            </a:r>
            <a:r>
              <a:rPr lang="en-US" b="0" i="0" kern="1200" dirty="0">
                <a:solidFill>
                  <a:schemeClr val="tx1"/>
                </a:solidFill>
                <a:effectLst/>
                <a:latin typeface="Calibri" panose="020F0502020204030204" pitchFamily="34" charset="0"/>
                <a:ea typeface="+mn-ea"/>
                <a:cs typeface="+mn-cs"/>
              </a:rPr>
              <a:t>the Amazon Simple Storage Service (Amazon S3) bucket that contains the image file. </a:t>
            </a:r>
          </a:p>
          <a:p>
            <a:pPr marL="228600" indent="-228600">
              <a:buAutoNum type="arabicPeriod"/>
            </a:pPr>
            <a:r>
              <a:rPr lang="en-US" b="0" i="0" kern="1200" dirty="0">
                <a:solidFill>
                  <a:schemeClr val="tx1"/>
                </a:solidFill>
                <a:effectLst/>
                <a:latin typeface="Calibri" panose="020F0502020204030204" pitchFamily="34" charset="0"/>
                <a:ea typeface="+mn-ea"/>
                <a:cs typeface="+mn-cs"/>
              </a:rPr>
              <a:t>The origin location sends the object back to the edge location.</a:t>
            </a:r>
          </a:p>
          <a:p>
            <a:pPr marL="228600" indent="-228600">
              <a:buAutoNum type="arabicPeriod"/>
            </a:pPr>
            <a:r>
              <a:rPr lang="en-US" dirty="0">
                <a:latin typeface="Calibri" panose="020F0502020204030204" pitchFamily="34" charset="0"/>
              </a:rPr>
              <a:t>CloudFront then forwards the file to the user, </a:t>
            </a:r>
            <a:r>
              <a:rPr lang="en-US" b="0" i="0" kern="1200" dirty="0">
                <a:solidFill>
                  <a:schemeClr val="tx1"/>
                </a:solidFill>
                <a:effectLst/>
                <a:latin typeface="Calibri" panose="020F0502020204030204" pitchFamily="34" charset="0"/>
                <a:ea typeface="+mn-ea"/>
                <a:cs typeface="+mn-cs"/>
              </a:rPr>
              <a:t>and it also adds it to the cache for the next time someone requests it.</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The time to live (TTL) is the setting in CloudFront that determines how long the edge locations should cache the content before requesting it again from the origin server. </a:t>
            </a:r>
            <a:r>
              <a:rPr lang="en-US" dirty="0">
                <a:latin typeface="Calibri" panose="020F0502020204030204" pitchFamily="34" charset="0"/>
              </a:rPr>
              <a:t>B</a:t>
            </a:r>
            <a:r>
              <a:rPr lang="en-US" dirty="0">
                <a:solidFill>
                  <a:srgbClr val="232F3E"/>
                </a:solidFill>
                <a:latin typeface="Calibri" panose="020F0502020204030204" pitchFamily="34" charset="0"/>
              </a:rPr>
              <a:t>ased on the TTL specified, the cached image will become stale if the origin is updated. </a:t>
            </a:r>
          </a:p>
        </p:txBody>
      </p:sp>
    </p:spTree>
    <p:extLst>
      <p:ext uri="{BB962C8B-B14F-4D97-AF65-F5344CB8AC3E}">
        <p14:creationId xmlns:p14="http://schemas.microsoft.com/office/powerpoint/2010/main" val="3529367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Instructor notes</a:t>
            </a:r>
          </a:p>
          <a:p>
            <a:r>
              <a:rPr lang="en-US" dirty="0">
                <a:latin typeface="Calibri" panose="020F0502020204030204" pitchFamily="34" charset="0"/>
              </a:rPr>
              <a:t>|The resource page includes a CloudFront tutorial. It is a step-by-step guide that has screenshots </a:t>
            </a:r>
            <a:r>
              <a:rPr lang="en-US" b="0" i="0" kern="1200" dirty="0">
                <a:solidFill>
                  <a:schemeClr val="tx1"/>
                </a:solidFill>
                <a:effectLst/>
                <a:latin typeface="Calibri" panose="020F0502020204030204" pitchFamily="34" charset="0"/>
                <a:ea typeface="+mn-ea"/>
                <a:cs typeface="+mn-cs"/>
              </a:rPr>
              <a:t>to create a CloudFront web distribution and deliver a piece of static content hosted in the cloud through Amazon S3.</a:t>
            </a:r>
          </a:p>
          <a:p>
            <a:r>
              <a:rPr lang="en-US" b="0" i="0" kern="1200" dirty="0">
                <a:solidFill>
                  <a:schemeClr val="tx1"/>
                </a:solidFill>
                <a:effectLst/>
                <a:latin typeface="Calibri" panose="020F0502020204030204" pitchFamily="34" charset="0"/>
                <a:ea typeface="+mn-ea"/>
                <a:cs typeface="+mn-cs"/>
              </a:rPr>
              <a:t>|</a:t>
            </a:r>
          </a:p>
          <a:p>
            <a:r>
              <a:rPr lang="en-US" dirty="0">
                <a:latin typeface="Calibri" panose="020F0502020204030204" pitchFamily="34" charset="0"/>
              </a:rPr>
              <a:t>|If students have questions about how to configure a CloudFront distribution, this page is a helpful resource for you to respond with screenshots.</a:t>
            </a:r>
          </a:p>
          <a:p>
            <a:r>
              <a:rPr lang="en-US" dirty="0">
                <a:latin typeface="Calibri" panose="020F0502020204030204" pitchFamily="34" charset="0"/>
              </a:rPr>
              <a:t>|</a:t>
            </a:r>
          </a:p>
          <a:p>
            <a:r>
              <a:rPr lang="en-US" b="1" dirty="0">
                <a:latin typeface="Calibri" panose="020F0502020204030204" pitchFamily="34" charset="0"/>
              </a:rPr>
              <a:t>|Student notes</a:t>
            </a:r>
          </a:p>
          <a:p>
            <a:r>
              <a:rPr lang="en-US" kern="1200" dirty="0">
                <a:solidFill>
                  <a:schemeClr val="tx1"/>
                </a:solidFill>
                <a:effectLst/>
                <a:latin typeface="Calibri" panose="020F0502020204030204" pitchFamily="34" charset="0"/>
                <a:ea typeface="+mn-ea"/>
                <a:cs typeface="+mn-cs"/>
              </a:rPr>
              <a:t>When you want to use CloudFront to distribute your content, follow these steps: </a:t>
            </a:r>
          </a:p>
          <a:p>
            <a:pPr marL="228600" marR="0" lvl="0" indent="-228600" defTabSz="914400" rtl="0" eaLnBrk="1" fontAlgn="auto" latinLnBrk="0" hangingPunct="1">
              <a:buClrTx/>
              <a:buSzTx/>
              <a:buFont typeface="+mj-lt"/>
              <a:buAutoNum type="arabicPeriod"/>
              <a:tabLst/>
              <a:defRPr/>
            </a:pPr>
            <a:r>
              <a:rPr lang="en-US" kern="1200" dirty="0">
                <a:solidFill>
                  <a:schemeClr val="tx1"/>
                </a:solidFill>
                <a:effectLst/>
                <a:latin typeface="Calibri" panose="020F0502020204030204" pitchFamily="34" charset="0"/>
                <a:ea typeface="+mn-ea"/>
                <a:cs typeface="+mn-cs"/>
              </a:rPr>
              <a:t>You specify the </a:t>
            </a:r>
            <a:r>
              <a:rPr lang="en-US" b="0" i="1" kern="1200" dirty="0">
                <a:solidFill>
                  <a:schemeClr val="tx1"/>
                </a:solidFill>
                <a:effectLst/>
                <a:latin typeface="Calibri" panose="020F0502020204030204" pitchFamily="34" charset="0"/>
                <a:ea typeface="+mn-ea"/>
                <a:cs typeface="+mn-cs"/>
              </a:rPr>
              <a:t>origin location </a:t>
            </a:r>
            <a:r>
              <a:rPr lang="en-US" dirty="0">
                <a:latin typeface="Calibri" panose="020F0502020204030204" pitchFamily="34" charset="0"/>
              </a:rPr>
              <a:t>from which CloudFront gets your files. These files will be distributed from CloudFront edge locations all over the world. An origin server stores the original, definitive version of your objects. If you're serving content over HTTP, your origin server is either an S3 bucket or an HTTP server, such as a web server. Your HTTP server can run on an EC2 instance or on an on-premises server that you manage. These servers are also known as </a:t>
            </a:r>
            <a:r>
              <a:rPr lang="en-US" b="0" i="1" dirty="0">
                <a:latin typeface="Calibri" panose="020F0502020204030204" pitchFamily="34" charset="0"/>
              </a:rPr>
              <a:t>custom origins</a:t>
            </a:r>
            <a:r>
              <a:rPr lang="en-US" i="1" dirty="0">
                <a:latin typeface="Calibri" panose="020F0502020204030204" pitchFamily="34" charset="0"/>
              </a:rPr>
              <a:t>. </a:t>
            </a:r>
            <a:endParaRPr lang="en-US" kern="1200" dirty="0">
              <a:solidFill>
                <a:schemeClr val="tx1"/>
              </a:solidFill>
              <a:effectLst/>
              <a:latin typeface="Calibri" panose="020F0502020204030204" pitchFamily="34" charset="0"/>
              <a:ea typeface="+mn-ea"/>
              <a:cs typeface="+mn-cs"/>
            </a:endParaRPr>
          </a:p>
          <a:p>
            <a:pPr marL="228600" marR="0" lvl="0" indent="-228600" defTabSz="914400" rtl="0" eaLnBrk="1" fontAlgn="auto" latinLnBrk="0" hangingPunct="1">
              <a:buClrTx/>
              <a:buSzTx/>
              <a:buFont typeface="+mj-lt"/>
              <a:buAutoNum type="arabicPeriod"/>
              <a:tabLst/>
              <a:defRPr/>
            </a:pPr>
            <a:r>
              <a:rPr lang="en-US" dirty="0">
                <a:latin typeface="Calibri" panose="020F0502020204030204" pitchFamily="34" charset="0"/>
              </a:rPr>
              <a:t>You create a CloudFront </a:t>
            </a:r>
            <a:r>
              <a:rPr lang="en-US" b="0" i="1" dirty="0">
                <a:latin typeface="Calibri" panose="020F0502020204030204" pitchFamily="34" charset="0"/>
              </a:rPr>
              <a:t>distribution</a:t>
            </a:r>
            <a:r>
              <a:rPr lang="en-US" dirty="0">
                <a:latin typeface="Calibri" panose="020F0502020204030204" pitchFamily="34" charset="0"/>
              </a:rPr>
              <a:t>, which tells CloudFront which custom origins to get your files from when users request the files through your website or application. At the same time, you specify details such as whether you want CloudFront to log all requests and whether you want the distribution to be enabled as soon as it's created. </a:t>
            </a:r>
          </a:p>
          <a:p>
            <a:pPr marL="228600" lvl="0" indent="-228600">
              <a:buFont typeface="+mj-lt"/>
              <a:buAutoNum type="arabicPeriod"/>
            </a:pPr>
            <a:r>
              <a:rPr lang="en-US" kern="1200" dirty="0">
                <a:solidFill>
                  <a:schemeClr val="tx1"/>
                </a:solidFill>
                <a:effectLst/>
                <a:latin typeface="Calibri" panose="020F0502020204030204" pitchFamily="34" charset="0"/>
                <a:ea typeface="+mn-ea"/>
                <a:cs typeface="+mn-cs"/>
              </a:rPr>
              <a:t>CloudFront becomes available and assigns a domain name to your new distribution.</a:t>
            </a:r>
          </a:p>
          <a:p>
            <a:pPr marL="228600" marR="0" lvl="0" indent="-228600" defTabSz="914400" rtl="0" eaLnBrk="1" fontAlgn="auto" latinLnBrk="0" hangingPunct="1">
              <a:buClrTx/>
              <a:buSzTx/>
              <a:buFont typeface="+mj-lt"/>
              <a:buAutoNum type="arabicPeriod"/>
              <a:tabLst/>
              <a:defRPr/>
            </a:pPr>
            <a:r>
              <a:rPr lang="en-US" kern="1200" dirty="0">
                <a:solidFill>
                  <a:schemeClr val="tx1"/>
                </a:solidFill>
                <a:effectLst/>
                <a:latin typeface="Calibri" panose="020F0502020204030204" pitchFamily="34" charset="0"/>
                <a:ea typeface="+mn-ea"/>
                <a:cs typeface="+mn-cs"/>
              </a:rPr>
              <a:t>CloudFront sends your distribution's configuration—but not the content—to all edge locations. </a:t>
            </a:r>
            <a:r>
              <a:rPr lang="en-US" dirty="0">
                <a:latin typeface="Calibri" panose="020F0502020204030204" pitchFamily="34" charset="0"/>
              </a:rPr>
              <a:t>Edge locations are collections of servers in geographically dispersed data centers where CloudFront caches copies of your objects. </a:t>
            </a:r>
          </a:p>
        </p:txBody>
      </p:sp>
    </p:spTree>
    <p:extLst>
      <p:ext uri="{BB962C8B-B14F-4D97-AF65-F5344CB8AC3E}">
        <p14:creationId xmlns:p14="http://schemas.microsoft.com/office/powerpoint/2010/main" val="5130834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|In the resource document, the link to the section titled “</a:t>
            </a:r>
            <a:r>
              <a:rPr lang="en-US" b="0" i="0" kern="1200" dirty="0">
                <a:solidFill>
                  <a:schemeClr val="tx1"/>
                </a:solidFill>
                <a:effectLst/>
                <a:latin typeface="Calibri" panose="020F0502020204030204" pitchFamily="34" charset="0"/>
                <a:ea typeface="+mn-ea"/>
                <a:cs typeface="+mn-cs"/>
              </a:rPr>
              <a:t>Managing How Long Content Stays in the Cache (Expiration)” of the </a:t>
            </a:r>
            <a:r>
              <a:rPr lang="en-US" b="0" i="1" kern="1200" dirty="0">
                <a:solidFill>
                  <a:schemeClr val="tx1"/>
                </a:solidFill>
                <a:effectLst/>
                <a:latin typeface="Calibri" panose="020F0502020204030204" pitchFamily="34" charset="0"/>
                <a:ea typeface="+mn-ea"/>
                <a:cs typeface="+mn-cs"/>
              </a:rPr>
              <a:t>Amazon CloudFront Developer Guide </a:t>
            </a:r>
            <a:r>
              <a:rPr lang="en-US" b="0" i="0" kern="1200" dirty="0">
                <a:solidFill>
                  <a:schemeClr val="tx1"/>
                </a:solidFill>
                <a:effectLst/>
                <a:latin typeface="Calibri" panose="020F0502020204030204" pitchFamily="34" charset="0"/>
                <a:ea typeface="+mn-ea"/>
                <a:cs typeface="+mn-cs"/>
              </a:rPr>
              <a:t>is included. You will find examples of different origin headers and TTL settings and how they affect caching as concrete examples to share with your students.</a:t>
            </a:r>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If you’re ever confused by a situation in which you’ve updated content, but you are still seeing stale content, one likely reason is that CloudFront is still serving up cached content. You can control CloudFront caching behavior with a combination of CloudFront minimum TTL specifications, maximum TTL specifications, content versioning, cache-control HTTP headers, and CloudFront invalidation requests. </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CloudFront will typically serve cached content from an edge location until the content expires. After it expires, the next time that content is requested by an end user, CloudFront goes back to the origin location to fetch the content and then cache it. CloudFront edge locations automatically expire content after maximum TTL seconds elapse (by default, this is 24 hours). For managing how long content is cached, the best practice is to understand and use the four approaches together:</a:t>
            </a:r>
          </a:p>
          <a:p>
            <a:pPr marL="171450" indent="-171450">
              <a:buFont typeface="Arial" panose="020B0604020202020204" pitchFamily="34" charset="0"/>
              <a:buChar char="•"/>
            </a:pPr>
            <a:r>
              <a:rPr lang="en-US" b="1" i="0" kern="1200" dirty="0">
                <a:solidFill>
                  <a:schemeClr val="tx1"/>
                </a:solidFill>
                <a:effectLst/>
                <a:latin typeface="Calibri" panose="020F0502020204030204" pitchFamily="34" charset="0"/>
                <a:ea typeface="+mn-ea"/>
                <a:cs typeface="+mn-cs"/>
              </a:rPr>
              <a:t>Set a maximum TTL value</a:t>
            </a:r>
            <a:r>
              <a:rPr lang="en-US" b="0" i="0" kern="1200" dirty="0">
                <a:solidFill>
                  <a:schemeClr val="tx1"/>
                </a:solidFill>
                <a:effectLst/>
                <a:latin typeface="Calibri" panose="020F0502020204030204" pitchFamily="34" charset="0"/>
                <a:ea typeface="+mn-ea"/>
                <a:cs typeface="+mn-cs"/>
              </a:rPr>
              <a:t>: CloudFront may expire content anytime between the minimum TTL and maximum TTL. By default, each file automatically expires after 24 hours. You can change the default behavior and set the maximum TTL to be a relatively low value. The trade-off is that cached content expires faster because of the low maximum TTL value. This results in more frequent requests to your origin because the CloudFront caches need to be repopulated more often. </a:t>
            </a: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rPr>
              <a:t>Implement content versioning: </a:t>
            </a:r>
            <a:r>
              <a:rPr lang="en-US" b="0" i="0" kern="1200" dirty="0">
                <a:solidFill>
                  <a:schemeClr val="tx1"/>
                </a:solidFill>
                <a:effectLst/>
                <a:latin typeface="Calibri" panose="020F0502020204030204" pitchFamily="34" charset="0"/>
                <a:ea typeface="+mn-ea"/>
                <a:cs typeface="+mn-cs"/>
              </a:rPr>
              <a:t>Every time you update content, embed a version identifier in the file names. It can be a timestamp, a sequential number, or any other information that you can use to distinguish between two versions of the same file. Content versioning has a clear benefit: it sidesteps CloudFront expiration behaviors altogether. Because new file names are involved, CloudFront immediately fetches the new files from the origin (and afterwards, cache them).</a:t>
            </a:r>
            <a:endParaRPr lang="en-US" b="1" dirty="0">
              <a:latin typeface="Calibri" panose="020F0502020204030204" pitchFamily="34" charset="0"/>
            </a:endParaRP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rPr>
              <a:t>Specify cache-control headers: </a:t>
            </a:r>
            <a:r>
              <a:rPr lang="en-US" b="0" i="0" kern="1200" dirty="0">
                <a:solidFill>
                  <a:schemeClr val="tx1"/>
                </a:solidFill>
                <a:effectLst/>
                <a:latin typeface="Calibri" panose="020F0502020204030204" pitchFamily="34" charset="0"/>
                <a:ea typeface="+mn-ea"/>
                <a:cs typeface="+mn-cs"/>
              </a:rPr>
              <a:t>You can manage CloudFront expiration behavior by specifying Cache-Control headers for your website content. If you keep the minimum TTL at the default 0 seconds, then CloudFront honors any Cache-Control: max-age HTTP header that is individually set for your content. This gives you more precise control over content expiration for individual files.</a:t>
            </a:r>
            <a:endParaRPr lang="en-US" b="1" dirty="0">
              <a:latin typeface="Calibri" panose="020F0502020204030204" pitchFamily="34" charset="0"/>
            </a:endParaRP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rPr>
              <a:t>Use CloudFront invalidation requests: </a:t>
            </a:r>
            <a:r>
              <a:rPr lang="en-US" b="0" i="0" kern="1200" dirty="0">
                <a:solidFill>
                  <a:schemeClr val="tx1"/>
                </a:solidFill>
                <a:effectLst/>
                <a:latin typeface="Calibri" panose="020F0502020204030204" pitchFamily="34" charset="0"/>
                <a:ea typeface="+mn-ea"/>
                <a:cs typeface="+mn-cs"/>
              </a:rPr>
              <a:t>CloudFront invalidation requests are a way to force CloudFront to expire content. Invalidation requests aren’t immediate. It takes several minutes from the time that you submit one to the time that CloudFront actually expires the content. CloudFront gives you the ability to specify which content should be invalidated. </a:t>
            </a:r>
            <a:r>
              <a:rPr lang="en-US" dirty="0">
                <a:latin typeface="Calibri" panose="020F0502020204030204" pitchFamily="34" charset="0"/>
              </a:rPr>
              <a:t>You should use this method sparingly and only for individual objects. </a:t>
            </a:r>
            <a:r>
              <a:rPr lang="en-US" b="0" i="0" kern="1200" dirty="0">
                <a:solidFill>
                  <a:schemeClr val="tx1"/>
                </a:solidFill>
                <a:effectLst/>
                <a:latin typeface="Calibri" panose="020F0502020204030204" pitchFamily="34" charset="0"/>
                <a:ea typeface="+mn-ea"/>
                <a:cs typeface="+mn-cs"/>
              </a:rPr>
              <a:t>The next time a viewer requests the file, CloudFront returns to the origin to fetch the latest version of the file.</a:t>
            </a:r>
          </a:p>
        </p:txBody>
      </p:sp>
    </p:spTree>
    <p:extLst>
      <p:ext uri="{BB962C8B-B14F-4D97-AF65-F5344CB8AC3E}">
        <p14:creationId xmlns:p14="http://schemas.microsoft.com/office/powerpoint/2010/main" val="40336455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r>
              <a:rPr lang="en-US" b="1">
                <a:latin typeface="Calibri" panose="020F0502020204030204" pitchFamily="34" charset="0"/>
              </a:rPr>
              <a:t>|</a:t>
            </a:r>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b="0" i="0" kern="1200" dirty="0">
                <a:solidFill>
                  <a:schemeClr val="tx1"/>
                </a:solidFill>
                <a:effectLst/>
                <a:latin typeface="Calibri" panose="020F0502020204030204" pitchFamily="34" charset="0"/>
                <a:ea typeface="+mn-ea"/>
                <a:cs typeface="+mn-cs"/>
              </a:rPr>
              <a:t>For more information, see the </a:t>
            </a:r>
            <a:r>
              <a:rPr lang="en-US" altLang="en-US" dirty="0">
                <a:latin typeface="Calibri" panose="020F0502020204030204" pitchFamily="34" charset="0"/>
                <a:ea typeface="Amazon Ember Light" panose="020B0403020204020204" pitchFamily="34" charset="0"/>
                <a:cs typeface="Amazon Ember Light" panose="020B0403020204020204" pitchFamily="34" charset="0"/>
              </a:rPr>
              <a:t>Amazon Elastic Transcoder</a:t>
            </a:r>
            <a:r>
              <a:rPr lang="en-US" b="0" i="0" kern="1200" dirty="0">
                <a:solidFill>
                  <a:schemeClr val="tx1"/>
                </a:solidFill>
                <a:effectLst/>
                <a:latin typeface="Calibri" panose="020F0502020204030204" pitchFamily="34" charset="0"/>
                <a:ea typeface="+mn-ea"/>
                <a:cs typeface="+mn-cs"/>
              </a:rPr>
              <a:t> documentation link on the content resources page of your online course.</a:t>
            </a:r>
          </a:p>
          <a:p>
            <a:pPr marL="0" marR="0" lvl="0" indent="0" defTabSz="914400" rtl="0" eaLnBrk="1" fontAlgn="auto" latinLnBrk="0" hangingPunct="1">
              <a:buClrTx/>
              <a:buSzTx/>
              <a:buFontTx/>
              <a:buNone/>
              <a:tabLst/>
              <a:defRPr/>
            </a:pPr>
            <a:r>
              <a:rPr lang="en-US" dirty="0">
                <a:latin typeface="Calibri" panose="020F0502020204030204" pitchFamily="34" charset="0"/>
              </a:rPr>
              <a:t>|This architecture prepares students for the CloudFront lab. </a:t>
            </a:r>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You can use CloudFront to deliver streaming videos. You must use an encoder to format and package video content before CloudFront can distribute it. After converting the video into the output formats, you host the converted content in an S3 bucket, which is your origin server. You then use CloudFront to deliver the segment files to users around the world.</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r>
              <a:rPr lang="en-US" kern="1200" dirty="0">
                <a:solidFill>
                  <a:schemeClr val="tx1"/>
                </a:solidFill>
                <a:effectLst/>
                <a:latin typeface="Calibri" panose="020F0502020204030204" pitchFamily="34" charset="0"/>
                <a:ea typeface="+mn-ea"/>
                <a:cs typeface="+mn-cs"/>
              </a:rPr>
              <a:t>Examples of encoders include AWS Elemental MediaConvert and Amazon Elastic Transcoder. </a:t>
            </a:r>
            <a:r>
              <a:rPr lang="en-US" b="0" i="0" kern="1200" dirty="0">
                <a:solidFill>
                  <a:schemeClr val="tx1"/>
                </a:solidFill>
                <a:effectLst/>
                <a:latin typeface="Calibri" panose="020F0502020204030204" pitchFamily="34" charset="0"/>
                <a:ea typeface="+mn-ea"/>
                <a:cs typeface="+mn-cs"/>
              </a:rPr>
              <a:t>Elastic Transcoder provides a way for developers to convert (or transcode) media files from their source format into versions that will play back on devices such as smartphones, tablets, and PCs. </a:t>
            </a:r>
            <a:r>
              <a:rPr lang="en-US" kern="1200" dirty="0">
                <a:solidFill>
                  <a:schemeClr val="tx1"/>
                </a:solidFill>
                <a:effectLst/>
                <a:latin typeface="Calibri" panose="020F0502020204030204" pitchFamily="34" charset="0"/>
                <a:ea typeface="+mn-ea"/>
                <a:cs typeface="+mn-cs"/>
              </a:rPr>
              <a:t>The packaging process creates </a:t>
            </a:r>
            <a:r>
              <a:rPr lang="en-US" i="1" kern="1200" dirty="0">
                <a:solidFill>
                  <a:schemeClr val="tx1"/>
                </a:solidFill>
                <a:effectLst/>
                <a:latin typeface="Calibri" panose="020F0502020204030204" pitchFamily="34" charset="0"/>
                <a:ea typeface="+mn-ea"/>
                <a:cs typeface="+mn-cs"/>
              </a:rPr>
              <a:t>segments</a:t>
            </a:r>
            <a:r>
              <a:rPr lang="en-US" kern="1200" dirty="0">
                <a:solidFill>
                  <a:schemeClr val="tx1"/>
                </a:solidFill>
                <a:effectLst/>
                <a:latin typeface="Calibri" panose="020F0502020204030204" pitchFamily="34" charset="0"/>
                <a:ea typeface="+mn-ea"/>
                <a:cs typeface="+mn-cs"/>
              </a:rPr>
              <a:t>, which are static files that contain your audio, video, and captions content. It also generates manifest files, which describe which segments to play and the specific order to play them in. Package formats include Dynamic Adaptive Streaming over HTTP (DASH, or MPEG-DASH), Apple HTTP Live Streaming (HLS), Microsoft Smooth Streaming, and Common Media Application Format (CMAF). </a:t>
            </a:r>
          </a:p>
        </p:txBody>
      </p:sp>
    </p:spTree>
    <p:extLst>
      <p:ext uri="{BB962C8B-B14F-4D97-AF65-F5344CB8AC3E}">
        <p14:creationId xmlns:p14="http://schemas.microsoft.com/office/powerpoint/2010/main" val="953629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23</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b="0" i="0" kern="1200" dirty="0">
                <a:solidFill>
                  <a:schemeClr val="tx1"/>
                </a:solidFill>
                <a:effectLst/>
                <a:latin typeface="Calibri" panose="020F0502020204030204" pitchFamily="34" charset="0"/>
                <a:ea typeface="+mn-ea"/>
                <a:cs typeface="+mn-cs"/>
              </a:rPr>
              <a:t>DDoS events occur when a threat actor sends traffic floods from multiple sources to disrupt the availability of a targeted application. The blog “How to Help Protect Dynamic Web Applications Against DDoS Attacks by Using Amazon CloudFront and Amazon Route 53” visually explains how Shield, CloudFront, and Route 53 work together to help protect against DDoS attacks. A link is provided on the content resources page of your online course.</a:t>
            </a:r>
            <a:endParaRPr lang="en-US"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a:p>
            <a:r>
              <a:rPr lang="en-US" b="1" dirty="0">
                <a:solidFill>
                  <a:schemeClr val="tx1"/>
                </a:solidFill>
                <a:latin typeface="Calibri" panose="020F0502020204030204" pitchFamily="34" charset="0"/>
              </a:rPr>
              <a:t>Challenge</a:t>
            </a:r>
            <a:r>
              <a:rPr lang="en-US" dirty="0">
                <a:solidFill>
                  <a:schemeClr val="tx1"/>
                </a:solidFill>
                <a:latin typeface="Calibri" panose="020F0502020204030204" pitchFamily="34" charset="0"/>
              </a:rPr>
              <a:t>: </a:t>
            </a:r>
            <a:r>
              <a:rPr lang="en-US" dirty="0">
                <a:latin typeface="Calibri" panose="020F0502020204030204" pitchFamily="34" charset="0"/>
              </a:rPr>
              <a:t>Publicly accessible web applications and APIs are exposed to threats such as commonly occurring vulnerabilities described in the OWASP Top 10; SQL injection; automated requests; and HTTP floods (denial of service [DoS]) that affect availability, compromise security, or consume excessive resources. A DDoS attack is a deliberate attempt to make your website or application unavailable to users, for example, by flooding it with network traffic. To achieve this end, attackers use multiple sources to orchestrate an attack against a target. These sources might include distributed groups of malware-infected computers, routers, Internet of Things (IoT) devices, and other endpoints.</a:t>
            </a:r>
          </a:p>
          <a:p>
            <a:r>
              <a:rPr lang="en-US" dirty="0">
                <a:latin typeface="Calibri" panose="020F0502020204030204" pitchFamily="34" charset="0"/>
              </a:rPr>
              <a:t> </a:t>
            </a:r>
          </a:p>
          <a:p>
            <a:pPr marL="0" marR="0" lvl="0" indent="0" defTabSz="914400" rtl="0" eaLnBrk="1" fontAlgn="auto" latinLnBrk="0" hangingPunct="1">
              <a:buClrTx/>
              <a:buSzTx/>
              <a:buFontTx/>
              <a:buNone/>
              <a:tabLst/>
              <a:defRPr/>
            </a:pPr>
            <a:r>
              <a:rPr lang="en-US" b="1" dirty="0">
                <a:solidFill>
                  <a:schemeClr val="tx1"/>
                </a:solidFill>
                <a:latin typeface="Calibri" panose="020F0502020204030204" pitchFamily="34" charset="0"/>
              </a:rPr>
              <a:t>Solution</a:t>
            </a:r>
            <a:r>
              <a:rPr lang="en-US" dirty="0">
                <a:solidFill>
                  <a:schemeClr val="tx1"/>
                </a:solidFill>
                <a:latin typeface="Calibri" panose="020F0502020204030204" pitchFamily="34" charset="0"/>
              </a:rPr>
              <a:t>: </a:t>
            </a:r>
            <a:r>
              <a:rPr lang="en-US" dirty="0">
                <a:latin typeface="Calibri" panose="020F0502020204030204" pitchFamily="34" charset="0"/>
              </a:rPr>
              <a:t>You can use CloudFront to improve the resiliency of your applications that run on AWS from DDoS attacks. </a:t>
            </a:r>
            <a:r>
              <a:rPr lang="en-US" b="0" kern="1200" dirty="0">
                <a:solidFill>
                  <a:schemeClr val="tx1"/>
                </a:solidFill>
                <a:effectLst/>
                <a:latin typeface="Calibri" panose="020F0502020204030204" pitchFamily="34" charset="0"/>
                <a:ea typeface="+mn-ea"/>
                <a:cs typeface="+mn-cs"/>
              </a:rPr>
              <a:t>To protect your system from DDoS attacks, use CloudFront for distributing both static and dynamic content. </a:t>
            </a:r>
            <a:r>
              <a:rPr lang="en-US" b="0" i="0" kern="1200" dirty="0">
                <a:solidFill>
                  <a:schemeClr val="tx1"/>
                </a:solidFill>
                <a:effectLst/>
                <a:latin typeface="Calibri" panose="020F0502020204030204" pitchFamily="34" charset="0"/>
                <a:ea typeface="+mn-ea"/>
                <a:cs typeface="+mn-cs"/>
              </a:rPr>
              <a:t>The following combined features help ensure that your application origin receives only well-formed web requests and that it's protected against common web threats:</a:t>
            </a:r>
            <a:endParaRPr lang="en-US" b="0" dirty="0">
              <a:solidFill>
                <a:schemeClr val="tx1"/>
              </a:solidFill>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A DNS service, such as Amazon Route 53, can effectively connect users’ requests to a CloudFront distribution. The CloudFront distribution then proxies requests for dynamic content to the infrastructure that hosts your application’s endpoints. Both Route 53 DNS requests and subsequent application traffic that are routed through CloudFront are inspected inline. Always-on monitoring, anomaly detection, and mitigation against common infrastructure DDoS attacks are built into both Route 53 and CloudFront.</a:t>
            </a:r>
          </a:p>
          <a:p>
            <a:pPr marL="171450" indent="-171450">
              <a:buFont typeface="Arial" panose="020B0604020202020204" pitchFamily="34" charset="0"/>
              <a:buChar char="•"/>
            </a:pPr>
            <a:r>
              <a:rPr lang="en-US" dirty="0">
                <a:latin typeface="Calibri" panose="020F0502020204030204" pitchFamily="34" charset="0"/>
              </a:rPr>
              <a:t>AWS WAF analyzes incoming requests and helps you block these types of threats before they reach your servers. You can secure your CloudFront distributions with AWS WAF by configuring your web access control list (web ACL) containing the security rules that you’d like to enable. </a:t>
            </a:r>
            <a:r>
              <a:rPr lang="en-US" b="0" i="0" kern="1200" dirty="0">
                <a:solidFill>
                  <a:schemeClr val="tx1"/>
                </a:solidFill>
                <a:effectLst/>
                <a:latin typeface="Calibri" panose="020F0502020204030204" pitchFamily="34" charset="0"/>
                <a:ea typeface="+mn-ea"/>
                <a:cs typeface="+mn-cs"/>
              </a:rPr>
              <a:t>CloudFront creates an AWS WAF web ACL, configures rules to protect your servers from common web threats, and attaches the web ACL to the CloudFront distribution for you. </a:t>
            </a:r>
          </a:p>
          <a:p>
            <a:pPr marL="171450" indent="-171450">
              <a:buFont typeface="Arial" panose="020B0604020202020204" pitchFamily="34" charset="0"/>
              <a:buChar char="•"/>
            </a:pPr>
            <a:r>
              <a:rPr lang="en-US" b="0" i="0" kern="1200" dirty="0">
                <a:solidFill>
                  <a:schemeClr val="tx1"/>
                </a:solidFill>
                <a:effectLst/>
                <a:latin typeface="Calibri" panose="020F0502020204030204" pitchFamily="34" charset="0"/>
                <a:ea typeface="+mn-ea"/>
                <a:cs typeface="+mn-cs"/>
              </a:rPr>
              <a:t>Shield DDoS mitigation continually inspects traffic for CloudFront. Shield DDoS mitigations allow only traffic that's valid for web applications to pass through to the service. This provides automatic protection against many common DDoS vectors, such as UDP reflection attacks.</a:t>
            </a:r>
            <a:endParaRPr lang="en-US" dirty="0">
              <a:latin typeface="Calibri" panose="020F0502020204030204" pitchFamily="34" charset="0"/>
            </a:endParaRPr>
          </a:p>
        </p:txBody>
      </p:sp>
    </p:spTree>
    <p:extLst>
      <p:ext uri="{BB962C8B-B14F-4D97-AF65-F5344CB8AC3E}">
        <p14:creationId xmlns:p14="http://schemas.microsoft.com/office/powerpoint/2010/main" val="22586580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br>
              <a:rPr lang="en-US" b="0" i="0" u="none" strike="noStrike" kern="1200" dirty="0">
                <a:solidFill>
                  <a:schemeClr val="tx1"/>
                </a:solidFill>
                <a:effectLst/>
                <a:latin typeface="Calibri" panose="020F0502020204030204" pitchFamily="34" charset="0"/>
                <a:ea typeface="+mn-ea"/>
                <a:cs typeface="+mn-cs"/>
                <a:hlinkClick r:id="rId3"/>
              </a:rPr>
            </a:br>
            <a:endParaRPr lang="en-US" b="1" dirty="0">
              <a:latin typeface="Calibri" panose="020F0502020204030204" pitchFamily="34" charset="0"/>
            </a:endParaRPr>
          </a:p>
        </p:txBody>
      </p:sp>
    </p:spTree>
    <p:extLst>
      <p:ext uri="{BB962C8B-B14F-4D97-AF65-F5344CB8AC3E}">
        <p14:creationId xmlns:p14="http://schemas.microsoft.com/office/powerpoint/2010/main" val="8598094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You will now complete a lab. The next slides summarize what you will do in the lab, and you will find the detailed instructions in the lab environment.</a:t>
            </a:r>
          </a:p>
        </p:txBody>
      </p:sp>
    </p:spTree>
    <p:extLst>
      <p:ext uri="{BB962C8B-B14F-4D97-AF65-F5344CB8AC3E}">
        <p14:creationId xmlns:p14="http://schemas.microsoft.com/office/powerpoint/2010/main" val="1400133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Access the lab environment through your online course to get additional details and complete the lab.</a:t>
            </a:r>
          </a:p>
        </p:txBody>
      </p:sp>
    </p:spTree>
    <p:extLst>
      <p:ext uri="{BB962C8B-B14F-4D97-AF65-F5344CB8AC3E}">
        <p14:creationId xmlns:p14="http://schemas.microsoft.com/office/powerpoint/2010/main" val="8166466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|Relevant before and after architectural diagrams are included in the lab instructions for each lab. You might find it helpful to pull the lab diagrams up as part of debriefing this lab.</a:t>
            </a:r>
            <a:br>
              <a:rPr lang="en-US" dirty="0">
                <a:latin typeface="Calibri" panose="020F0502020204030204" pitchFamily="34" charset="0"/>
              </a:rPr>
            </a:br>
            <a:r>
              <a:rPr lang="en-US" dirty="0">
                <a:latin typeface="Calibri" panose="020F0502020204030204" pitchFamily="34" charset="0"/>
              </a:rPr>
              <a:t>|</a:t>
            </a:r>
            <a:endParaRPr lang="en-US" b="1" dirty="0">
              <a:latin typeface="Calibri" panose="020F0502020204030204" pitchFamily="34" charset="0"/>
            </a:endParaRPr>
          </a:p>
          <a:p>
            <a:pPr>
              <a:buFont typeface="Arial" panose="020B0604020202020204" pitchFamily="34" charset="0"/>
              <a:buNone/>
            </a:pPr>
            <a:r>
              <a:rPr lang="en-US" b="1" dirty="0">
                <a:latin typeface="Calibri" panose="020F0502020204030204" pitchFamily="34" charset="0"/>
              </a:rPr>
              <a:t>|Suggested responses for question 1</a:t>
            </a:r>
            <a:r>
              <a:rPr lang="en-US" dirty="0">
                <a:latin typeface="Calibri" panose="020F0502020204030204" pitchFamily="34" charset="0"/>
              </a:rPr>
              <a:t>: What did you specify as the origin that will be used to deliver the multiple bit-rate files generated by Amazon Elastic Transcoder to end-user devices?</a:t>
            </a:r>
            <a:br>
              <a:rPr lang="en-US" dirty="0">
                <a:latin typeface="Calibri" panose="020F0502020204030204" pitchFamily="34" charset="0"/>
              </a:rPr>
            </a:br>
            <a:r>
              <a:rPr lang="en-US" dirty="0">
                <a:latin typeface="Calibri" panose="020F0502020204030204" pitchFamily="34" charset="0"/>
              </a:rPr>
              <a:t>|</a:t>
            </a:r>
            <a:br>
              <a:rPr lang="en-US" dirty="0">
                <a:latin typeface="Calibri" panose="020F0502020204030204" pitchFamily="34" charset="0"/>
              </a:rPr>
            </a:br>
            <a:r>
              <a:rPr lang="en-US" dirty="0">
                <a:latin typeface="Calibri" panose="020F0502020204030204" pitchFamily="34" charset="0"/>
              </a:rPr>
              <a:t>|You chose the S3 bucket that was created for you: </a:t>
            </a:r>
            <a:r>
              <a:rPr lang="en-US" dirty="0" err="1">
                <a:latin typeface="Calibri" panose="020F0502020204030204" pitchFamily="34" charset="0"/>
              </a:rPr>
              <a:t>awstrainingreinvent</a:t>
            </a:r>
            <a:r>
              <a:rPr lang="en-US" dirty="0">
                <a:latin typeface="Calibri" panose="020F0502020204030204" pitchFamily="34" charset="0"/>
              </a:rPr>
              <a:t>.</a:t>
            </a:r>
            <a:br>
              <a:rPr lang="en-US" dirty="0">
                <a:latin typeface="Calibri" panose="020F0502020204030204" pitchFamily="34" charset="0"/>
              </a:rPr>
            </a:br>
            <a:r>
              <a:rPr lang="en-US" dirty="0">
                <a:latin typeface="Calibri" panose="020F0502020204030204" pitchFamily="34" charset="0"/>
              </a:rPr>
              <a:t>|</a:t>
            </a:r>
            <a:br>
              <a:rPr lang="en-US" dirty="0">
                <a:latin typeface="Calibri" panose="020F0502020204030204" pitchFamily="34" charset="0"/>
              </a:rPr>
            </a:br>
            <a:r>
              <a:rPr lang="en-US" dirty="0">
                <a:latin typeface="Calibri" panose="020F0502020204030204" pitchFamily="34" charset="0"/>
              </a:rPr>
              <a:t>|When you create a CloudFront distribution, you specify the origin where CloudFront sends requests for the files. You can use several different kinds of origins with CloudFront. For example, you can use an S3 bucket, a </a:t>
            </a:r>
            <a:r>
              <a:rPr lang="en-US" dirty="0" err="1">
                <a:latin typeface="Calibri" panose="020F0502020204030204" pitchFamily="34" charset="0"/>
              </a:rPr>
              <a:t>MediaStore</a:t>
            </a:r>
            <a:r>
              <a:rPr lang="en-US" dirty="0">
                <a:latin typeface="Calibri" panose="020F0502020204030204" pitchFamily="34" charset="0"/>
              </a:rPr>
              <a:t> container, a </a:t>
            </a:r>
            <a:r>
              <a:rPr lang="en-US" dirty="0" err="1">
                <a:latin typeface="Calibri" panose="020F0502020204030204" pitchFamily="34" charset="0"/>
              </a:rPr>
              <a:t>MediaPackage</a:t>
            </a:r>
            <a:r>
              <a:rPr lang="en-US" dirty="0">
                <a:latin typeface="Calibri" panose="020F0502020204030204" pitchFamily="34" charset="0"/>
              </a:rPr>
              <a:t> channel, an Application Load Balancer, or a Lambda function URL.</a:t>
            </a:r>
            <a:br>
              <a:rPr lang="en-US" dirty="0">
                <a:latin typeface="Calibri" panose="020F0502020204030204" pitchFamily="34" charset="0"/>
              </a:rPr>
            </a:br>
            <a:r>
              <a:rPr lang="en-US" dirty="0">
                <a:latin typeface="Calibri" panose="020F0502020204030204" pitchFamily="34" charset="0"/>
              </a:rPr>
              <a:t>|</a:t>
            </a:r>
            <a:br>
              <a:rPr lang="en-US" dirty="0">
                <a:latin typeface="Calibri" panose="020F0502020204030204" pitchFamily="34" charset="0"/>
              </a:rPr>
            </a:br>
            <a:r>
              <a:rPr lang="en-US" dirty="0">
                <a:latin typeface="Calibri" panose="020F0502020204030204" pitchFamily="34" charset="0"/>
              </a:rPr>
              <a:t>|</a:t>
            </a:r>
            <a:r>
              <a:rPr lang="en-US" b="1" dirty="0">
                <a:latin typeface="Calibri" panose="020F0502020204030204" pitchFamily="34" charset="0"/>
              </a:rPr>
              <a:t>Suggested responses for question 2</a:t>
            </a:r>
            <a:r>
              <a:rPr lang="en-US" dirty="0">
                <a:latin typeface="Calibri" panose="020F0502020204030204" pitchFamily="34" charset="0"/>
              </a:rPr>
              <a:t>: Which two components does the playback URL that plays through Amazon CloudFront consist of?</a:t>
            </a:r>
          </a:p>
          <a:p>
            <a:pPr marL="171450" indent="-171450">
              <a:buFont typeface="Arial" panose="020B0604020202020204" pitchFamily="34" charset="0"/>
              <a:buChar char="•"/>
            </a:pPr>
            <a:r>
              <a:rPr lang="en-US" dirty="0">
                <a:latin typeface="Calibri" panose="020F0502020204030204" pitchFamily="34" charset="0"/>
              </a:rPr>
              <a:t>|CloudFront domain name</a:t>
            </a:r>
          </a:p>
          <a:p>
            <a:pPr marL="171450" indent="-171450">
              <a:buFont typeface="Arial" panose="020B0604020202020204" pitchFamily="34" charset="0"/>
              <a:buChar char="•"/>
            </a:pPr>
            <a:r>
              <a:rPr lang="en-US" dirty="0">
                <a:latin typeface="Calibri" panose="020F0502020204030204" pitchFamily="34" charset="0"/>
              </a:rPr>
              <a:t>|Path of the playlist file in the S3 bucket (output generated by Elastic Transcoder): The following is an example: http:// domain name&gt;/&lt;playlist file path in Amazon S3 bucket&gt;</a:t>
            </a:r>
            <a:endParaRPr lang="en-US" b="1"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br>
              <a:rPr lang="en-US" dirty="0">
                <a:latin typeface="Calibri" panose="020F0502020204030204" pitchFamily="34" charset="0"/>
              </a:rPr>
            </a:br>
            <a:r>
              <a:rPr lang="en-US" dirty="0">
                <a:latin typeface="Calibri" panose="020F0502020204030204" pitchFamily="34" charset="0"/>
              </a:rPr>
              <a:t>Your instructor might review these questions with you, or you might review them on your own. Use this opportunity to extend your thinking about the tasks that you performed during the lab.</a:t>
            </a:r>
          </a:p>
        </p:txBody>
      </p:sp>
    </p:spTree>
    <p:extLst>
      <p:ext uri="{BB962C8B-B14F-4D97-AF65-F5344CB8AC3E}">
        <p14:creationId xmlns:p14="http://schemas.microsoft.com/office/powerpoint/2010/main" val="15506588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explains how to use ElastiCache </a:t>
            </a:r>
            <a:r>
              <a:rPr lang="en-US" b="0" dirty="0">
                <a:latin typeface="Calibri" panose="020F0502020204030204" pitchFamily="34" charset="0"/>
              </a:rPr>
              <a:t>for database caching. </a:t>
            </a:r>
          </a:p>
        </p:txBody>
      </p:sp>
    </p:spTree>
    <p:extLst>
      <p:ext uri="{BB962C8B-B14F-4D97-AF65-F5344CB8AC3E}">
        <p14:creationId xmlns:p14="http://schemas.microsoft.com/office/powerpoint/2010/main" val="33952227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29</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|The overview section at the beginning of the course and the final section of the course discuss the trade-offs of implementing a caching component. This slide draws students’ attention to general scenarios in which database caching might be a suitable choice to consider. You can read more about the specific use case of an online medical library that uses ElastiCache as mentioned in the student notes by using the link in the resource guide in the “</a:t>
            </a:r>
            <a:r>
              <a:rPr lang="en-US" b="0" i="0" kern="1200" dirty="0">
                <a:solidFill>
                  <a:schemeClr val="tx1"/>
                </a:solidFill>
                <a:effectLst/>
                <a:latin typeface="Calibri" panose="020F0502020204030204" pitchFamily="34" charset="0"/>
                <a:ea typeface="+mn-ea"/>
                <a:cs typeface="+mn-cs"/>
              </a:rPr>
              <a:t>Latency reduction of hybrid architectures with Amazon ElastiCache” blog. </a:t>
            </a:r>
            <a:endParaRPr lang="en-US"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a:p>
            <a:r>
              <a:rPr lang="en-US" kern="1200" dirty="0">
                <a:solidFill>
                  <a:schemeClr val="tx1"/>
                </a:solidFill>
                <a:effectLst/>
                <a:latin typeface="Calibri" panose="020F0502020204030204" pitchFamily="34" charset="0"/>
                <a:ea typeface="+mn-ea"/>
                <a:cs typeface="+mn-cs"/>
              </a:rPr>
              <a:t>As you learned earlier in this module, time-consuming database queries and complex queries can create bottlenecks in applications. </a:t>
            </a:r>
          </a:p>
          <a:p>
            <a:r>
              <a:rPr lang="en-US" kern="1200" dirty="0">
                <a:solidFill>
                  <a:schemeClr val="tx1"/>
                </a:solidFill>
                <a:effectLst/>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A database cache supplements your primary database by removing unnecessary pressure on it, typically in the form of frequently accessed read data. The cache itself can be in a number of areas, including your database or application, or as a standalone layer. You should consider caching your database in the following situations:</a:t>
            </a:r>
          </a:p>
          <a:p>
            <a:pPr marL="171450" lvl="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You are concerned about response times for your customer. You might have latency-sensitive workloads that you want to speed up. Caching can help you increase throughput and reduce data retrieval latency, thus improving the performance of your application.</a:t>
            </a:r>
          </a:p>
          <a:p>
            <a:pPr marL="171450" lvl="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You have a high volume of requests that overburden your database. You might have a large amount of traffic and therefore are not getting the throughput that you need for that workload. Putting a caching layer next to your database can increase your throughput and help you achieve higher performance.</a:t>
            </a:r>
          </a:p>
          <a:p>
            <a:pPr marL="171450" lvl="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You would like to reduce your database costs. Whether data is distributed in a disk-based NoSQL database or vertically scaled up in a relational database, scaling for high reads can be costly. A number of database read replicas might be necessary to match what a single in-memory cache node can deliver in terms of requests per second.</a:t>
            </a:r>
          </a:p>
          <a:p>
            <a:pPr lvl="0"/>
            <a:r>
              <a:rPr lang="en-US" kern="1200" dirty="0">
                <a:solidFill>
                  <a:schemeClr val="tx1"/>
                </a:solidFill>
                <a:effectLst/>
                <a:latin typeface="Calibri" panose="020F0502020204030204" pitchFamily="34" charset="0"/>
                <a:ea typeface="+mn-ea"/>
                <a:cs typeface="+mn-cs"/>
              </a:rPr>
              <a:t> </a:t>
            </a:r>
            <a:endParaRPr lang="en-US" dirty="0">
              <a:latin typeface="Calibri" panose="020F0502020204030204" pitchFamily="34" charset="0"/>
            </a:endParaRPr>
          </a:p>
          <a:p>
            <a:r>
              <a:rPr lang="en-US" dirty="0">
                <a:latin typeface="Calibri" panose="020F0502020204030204" pitchFamily="34" charset="0"/>
              </a:rPr>
              <a:t>A use case is an online medical library with search capabilities that are driven by a database. The database was overloaded due to a high number of queries from a search engine. The results from the queries were so large that they saturated the customer’s low-speed network link, affecting the response time. In this case, the solution was an in-memory cache based on ElastiCache. </a:t>
            </a:r>
            <a:r>
              <a:rPr lang="en-US" kern="1200" dirty="0">
                <a:solidFill>
                  <a:schemeClr val="tx1"/>
                </a:solidFill>
                <a:latin typeface="Calibri" panose="020F0502020204030204" pitchFamily="34" charset="0"/>
                <a:ea typeface="+mn-ea"/>
                <a:cs typeface="+mn-cs"/>
              </a:rPr>
              <a:t>Because the issue involves latency to the backend database, using ElastiCache will reduce network latency and offload the database pressure.  </a:t>
            </a:r>
          </a:p>
          <a:p>
            <a:endParaRPr lang="en-US" kern="1200" dirty="0">
              <a:solidFill>
                <a:schemeClr val="tx1"/>
              </a:solidFill>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dirty="0">
                <a:latin typeface="Calibri" panose="020F0502020204030204" pitchFamily="34" charset="0"/>
              </a:rPr>
              <a:t>When </a:t>
            </a:r>
            <a:r>
              <a:rPr lang="en-US" dirty="0">
                <a:latin typeface="Calibri" panose="020F0502020204030204" pitchFamily="34" charset="0"/>
              </a:rPr>
              <a:t>implementing caching data, also consider the trade-offs. Caching can help dramatically improve performance but requires a clear strategy for how and when to update or invalidate cached data to prevent incorrect system behavior.</a:t>
            </a:r>
            <a:endParaRPr lang="en-US" kern="1200" dirty="0">
              <a:solidFill>
                <a:schemeClr val="tx1"/>
              </a:solidFill>
              <a:latin typeface="Calibri" panose="020F0502020204030204" pitchFamily="34" charset="0"/>
              <a:ea typeface="+mn-ea"/>
              <a:cs typeface="+mn-cs"/>
            </a:endParaRPr>
          </a:p>
        </p:txBody>
      </p:sp>
    </p:spTree>
    <p:extLst>
      <p:ext uri="{BB962C8B-B14F-4D97-AF65-F5344CB8AC3E}">
        <p14:creationId xmlns:p14="http://schemas.microsoft.com/office/powerpoint/2010/main" val="3721616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30</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r>
              <a:rPr lang="en-US" b="0" i="0" kern="1200" dirty="0">
                <a:solidFill>
                  <a:schemeClr val="tx1"/>
                </a:solidFill>
                <a:effectLst/>
                <a:latin typeface="Calibri" panose="020F0502020204030204" pitchFamily="34" charset="0"/>
                <a:ea typeface="+mn-ea"/>
                <a:cs typeface="+mn-cs"/>
              </a:rPr>
              <a:t>For more information, see the ElastiCache documentation link on the content resources page of your online course.</a:t>
            </a:r>
            <a:endParaRPr lang="en-US" b="0"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a:p>
            <a:pPr marL="0" marR="0"/>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ElastiCache is an </a:t>
            </a:r>
            <a:r>
              <a:rPr lang="en-US" i="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in-memory, key-value store that sits </a:t>
            </a: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between your application and the data store (database) that it accesses. You can use ElastiCache </a:t>
            </a:r>
            <a:r>
              <a:rPr lang="en-US" b="0" i="0" kern="1200" dirty="0">
                <a:solidFill>
                  <a:schemeClr val="tx1"/>
                </a:solidFill>
                <a:effectLst/>
                <a:latin typeface="Calibri" panose="020F0502020204030204" pitchFamily="34" charset="0"/>
                <a:ea typeface="+mn-ea"/>
                <a:cs typeface="+mn-cs"/>
              </a:rPr>
              <a:t>to deploy, operate, and scale an in-memory cache in the cloud. </a:t>
            </a:r>
          </a:p>
          <a:p>
            <a:pPr marL="0" marR="0"/>
            <a:endParaRPr lang="en-US" dirty="0">
              <a:latin typeface="Calibri" panose="020F0502020204030204" pitchFamily="34" charset="0"/>
            </a:endParaRPr>
          </a:p>
          <a:p>
            <a:pPr marL="0" marR="0"/>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The benefits of ElastiCache include the following: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a:buFont typeface="Arial" panose="020B0604020202020204" pitchFamily="34" charset="0"/>
              <a:buChar char="•"/>
            </a:pPr>
            <a:r>
              <a:rPr lang="en-US"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Fully managed:</a:t>
            </a:r>
            <a:r>
              <a:rPr lang="en-US" b="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ElastiCache </a:t>
            </a: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manages the work involved in setting up a distributed in-memory environment, from provisioning the server resources that you request to installing the software. After your environment is up and running, the service automates common administrative tasks, such as failure detection, recovery, and software patching. ElastiCache provides detailed monitoring metrics that are associated with your nodes to help you diagnose and react to issues quickly. </a:t>
            </a:r>
          </a:p>
          <a:p>
            <a:pPr marL="171450" marR="0" lvl="0" indent="-171450">
              <a:buFont typeface="Arial" panose="020B0604020202020204" pitchFamily="34" charset="0"/>
              <a:buChar char="•"/>
            </a:pPr>
            <a:r>
              <a:rPr lang="en-US"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Scalable:</a:t>
            </a: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ElastiCache can scale out, scale in, and scale up to meet fluctuating application demands. </a:t>
            </a:r>
          </a:p>
          <a:p>
            <a:pPr marL="171450" marR="0" lvl="0" indent="-171450" defTabSz="914400" rtl="0" eaLnBrk="1" fontAlgn="auto" latinLnBrk="0" hangingPunct="1">
              <a:buClrTx/>
              <a:buSzTx/>
              <a:buFont typeface="Arial" panose="020B0604020202020204" pitchFamily="34" charset="0"/>
              <a:buChar char="•"/>
              <a:tabLst/>
              <a:defRPr/>
            </a:pPr>
            <a:r>
              <a:rPr lang="en-US"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Extreme performance:</a:t>
            </a: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ElastiCache works as an in-memory data store and cache to support the most demanding applications that require sub-millisecond response times. </a:t>
            </a:r>
          </a:p>
          <a:p>
            <a:pPr marL="171450" marR="0" lvl="0" indent="-171450">
              <a:buFont typeface="Arial" panose="020B0604020202020204" pitchFamily="34" charset="0"/>
              <a:buChar char="•"/>
            </a:pPr>
            <a:r>
              <a:rPr lang="en-US" b="1" dirty="0">
                <a:latin typeface="Calibri" panose="020F0502020204030204" pitchFamily="34" charset="0"/>
              </a:rPr>
              <a:t>Cost-effective</a:t>
            </a:r>
            <a:r>
              <a:rPr lang="en-US" dirty="0">
                <a:latin typeface="Calibri" panose="020F0502020204030204" pitchFamily="34" charset="0"/>
              </a:rPr>
              <a:t>: </a:t>
            </a: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Most data stores have areas of data that are frequently accessed but seldom updated. Additionally, querying a database is always slower and more expensive than locating a key in a key-value pair cache. Some database queries are especially expensive to perform, such as queries that involve joins across multiple tables or queries with intensive calculations. By caching these kinds of query results, you pay the price of the query one time. Then, you can quickly retrieve the data multiple times without having to rerun the query.</a:t>
            </a:r>
          </a:p>
          <a:p>
            <a:pPr marL="171450" marR="0" lvl="0" indent="-171450">
              <a:buFont typeface="Arial" panose="020B0604020202020204" pitchFamily="34" charset="0"/>
              <a:buChar char="•"/>
            </a:pPr>
            <a:r>
              <a:rPr lang="en-US" b="1" kern="1200" dirty="0">
                <a:solidFill>
                  <a:schemeClr val="tx1"/>
                </a:solidFill>
                <a:effectLst/>
                <a:latin typeface="Calibri" panose="020F0502020204030204" pitchFamily="34" charset="0"/>
                <a:ea typeface="Amazon Ember Cd RC Light" panose="020B0406020204020204" pitchFamily="34" charset="0"/>
                <a:cs typeface="Amazon Ember Cd RC Light" panose="020B0406020204020204" pitchFamily="34" charset="0"/>
              </a:rPr>
              <a:t>Memcached or Redis compatible</a:t>
            </a:r>
            <a:r>
              <a:rPr lang="en-US" b="0" kern="1200" dirty="0">
                <a:solidFill>
                  <a:schemeClr val="tx1"/>
                </a:solidFill>
                <a:effectLst/>
                <a:latin typeface="Calibri" panose="020F0502020204030204" pitchFamily="34" charset="0"/>
                <a:ea typeface="Amazon Ember Cd RC Light" panose="020B0406020204020204" pitchFamily="34" charset="0"/>
                <a:cs typeface="Amazon Ember Cd RC Light" panose="020B0406020204020204" pitchFamily="34" charset="0"/>
              </a:rPr>
              <a:t>: </a:t>
            </a:r>
            <a:r>
              <a:rPr lang="en-US" b="0" i="0" kern="1200" dirty="0">
                <a:solidFill>
                  <a:schemeClr val="tx1"/>
                </a:solidFill>
                <a:effectLst/>
                <a:latin typeface="Calibri" panose="020F0502020204030204" pitchFamily="34" charset="0"/>
                <a:ea typeface="+mn-ea"/>
                <a:cs typeface="+mn-cs"/>
              </a:rPr>
              <a:t>Developers can continue to use the same Redis and Memcached application code, drivers, and tools to run, manage, and scale their workloads on ElastiCache. </a:t>
            </a:r>
            <a:r>
              <a:rPr lang="en-US" b="0" kern="1200" dirty="0">
                <a:solidFill>
                  <a:schemeClr val="tx1"/>
                </a:solidFill>
                <a:effectLst/>
                <a:latin typeface="Calibri" panose="020F0502020204030204" pitchFamily="34" charset="0"/>
                <a:ea typeface="Amazon Ember Cd RC Light" panose="020B0406020204020204" pitchFamily="34" charset="0"/>
                <a:cs typeface="Amazon Ember Cd RC Light" panose="020B0406020204020204" pitchFamily="34" charset="0"/>
              </a:rPr>
              <a:t>You can use </a:t>
            </a:r>
            <a:r>
              <a:rPr lang="en-US" b="0" kern="1200" dirty="0" err="1">
                <a:solidFill>
                  <a:schemeClr val="tx1"/>
                </a:solidFill>
                <a:effectLst/>
                <a:latin typeface="Calibri" panose="020F0502020204030204" pitchFamily="34" charset="0"/>
                <a:ea typeface="Amazon Ember Cd RC Light" panose="020B0406020204020204" pitchFamily="34" charset="0"/>
                <a:cs typeface="Amazon Ember Cd RC Light" panose="020B0406020204020204" pitchFamily="34" charset="0"/>
              </a:rPr>
              <a:t>Elasticache</a:t>
            </a:r>
            <a:r>
              <a:rPr lang="en-US" b="0" kern="1200" dirty="0">
                <a:solidFill>
                  <a:schemeClr val="tx1"/>
                </a:solidFill>
                <a:effectLst/>
                <a:latin typeface="Calibri" panose="020F0502020204030204" pitchFamily="34" charset="0"/>
                <a:ea typeface="Amazon Ember Cd RC Light" panose="020B0406020204020204" pitchFamily="34" charset="0"/>
                <a:cs typeface="Amazon Ember Cd RC Light" panose="020B0406020204020204" pitchFamily="34" charset="0"/>
              </a:rPr>
              <a:t> to seamlessly deploy, run, and scale popular open-source-compatible in-memory data stores. Manage and analyze fast-moving data with ElastiCache for Redis, or build a scalable caching tier for data-intensive applications with ElastiCache for Memcached.</a:t>
            </a:r>
          </a:p>
        </p:txBody>
      </p:sp>
    </p:spTree>
    <p:extLst>
      <p:ext uri="{BB962C8B-B14F-4D97-AF65-F5344CB8AC3E}">
        <p14:creationId xmlns:p14="http://schemas.microsoft.com/office/powerpoint/2010/main" val="20826122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31</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One goal of ElastiCache is to reduce the additional complexity of administering your in-memory caching systems for Redis and Memcached engines. </a:t>
            </a:r>
            <a:r>
              <a:rPr lang="en-US" dirty="0">
                <a:latin typeface="Calibri" panose="020F0502020204030204" pitchFamily="34" charset="0"/>
              </a:rPr>
              <a:t>The Memcached and Redis engines are caches that can be used to offload a database burden. Both engines offer sub-millisecond response times. By storing data in memory, they can read data more quickly than disk-based databases. Each engine provides certain advantages. </a:t>
            </a:r>
          </a:p>
          <a:p>
            <a:endParaRPr lang="en-US" dirty="0">
              <a:latin typeface="Calibri" panose="020F0502020204030204" pitchFamily="34" charset="0"/>
            </a:endParaRPr>
          </a:p>
          <a:p>
            <a:pPr marL="0" marR="0"/>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ElastiCache for Memcached offers the following: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defTabSz="914400" rtl="0" eaLnBrk="1" fontAlgn="auto" latinLnBrk="0" hangingPunct="1">
              <a:buClrTx/>
              <a:buSzTx/>
              <a:buFont typeface="Arial" panose="020B0604020202020204" pitchFamily="34" charset="0"/>
              <a:buChar char="•"/>
              <a:tabLst>
                <a:tab pos="457200" algn="l"/>
              </a:tabLst>
              <a:defRPr/>
            </a:pPr>
            <a:r>
              <a:rPr lang="en-US"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Low maintenance: </a:t>
            </a: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Memcached requires less maintenance than Redis. Choose Memcached if y</a:t>
            </a:r>
            <a:r>
              <a:rPr lang="en-US" b="0" i="0" kern="1200" dirty="0">
                <a:solidFill>
                  <a:schemeClr val="tx1"/>
                </a:solidFill>
                <a:effectLst/>
                <a:latin typeface="Calibri" panose="020F0502020204030204" pitchFamily="34" charset="0"/>
                <a:ea typeface="+mn-ea"/>
                <a:cs typeface="+mn-cs"/>
              </a:rPr>
              <a:t>ou need the most basic model. </a:t>
            </a:r>
            <a:endPar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defTabSz="914400" rtl="0" eaLnBrk="1" fontAlgn="auto" latinLnBrk="0" hangingPunct="1">
              <a:buClrTx/>
              <a:buSzTx/>
              <a:buFont typeface="Arial" panose="020B0604020202020204" pitchFamily="34" charset="0"/>
              <a:buChar char="•"/>
              <a:tabLst>
                <a:tab pos="457200" algn="l"/>
              </a:tabLst>
              <a:defRPr/>
            </a:pPr>
            <a:r>
              <a:rPr lang="en-US"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Multithreading: </a:t>
            </a:r>
            <a:r>
              <a:rPr lang="en-US" dirty="0">
                <a:latin typeface="Calibri" panose="020F0502020204030204" pitchFamily="34" charset="0"/>
              </a:rPr>
              <a:t>Because Memcached is multithreaded, it can use multiple processing cores, which means that you can handle more operations by scaling up compute capacity. </a:t>
            </a: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Choose this engine if y</a:t>
            </a:r>
            <a:r>
              <a:rPr lang="en-US" b="0" i="0" kern="1200" dirty="0">
                <a:solidFill>
                  <a:schemeClr val="tx1"/>
                </a:solidFill>
                <a:effectLst/>
                <a:latin typeface="Calibri" panose="020F0502020204030204" pitchFamily="34" charset="0"/>
                <a:ea typeface="+mn-ea"/>
                <a:cs typeface="+mn-cs"/>
              </a:rPr>
              <a:t>ou need to run large nodes with multiple cores or threads.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71450" marR="0" lvl="0" indent="-171450" defTabSz="914400" rtl="0" eaLnBrk="1" fontAlgn="auto" latinLnBrk="0" hangingPunct="1">
              <a:buClrTx/>
              <a:buSzTx/>
              <a:buFont typeface="Arial" panose="020B0604020202020204" pitchFamily="34" charset="0"/>
              <a:buChar char="•"/>
              <a:tabLst>
                <a:tab pos="457200" algn="l"/>
              </a:tabLst>
              <a:defRPr/>
            </a:pPr>
            <a:r>
              <a:rPr lang="en-US"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Horizontal scalability with Auto Discovery: </a:t>
            </a: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When Memcached clusters are used in ElastiCache, the clusters can add and remove nodes by using the Auto Discovery feature. This feature automatically discovers changes to the node membership in a cluster, such as new nodes that are added or nodes that were subtracted. The ElastiCache client reconfigures automatically in response. </a:t>
            </a:r>
          </a:p>
          <a:p>
            <a:pPr marL="171450" marR="0" lvl="0" indent="-171450" defTabSz="914400" rtl="0" eaLnBrk="1" fontAlgn="auto" latinLnBrk="0" hangingPunct="1">
              <a:buClrTx/>
              <a:buSzTx/>
              <a:buFont typeface="Arial" panose="020B0604020202020204" pitchFamily="34" charset="0"/>
              <a:buChar char="•"/>
              <a:tabLst>
                <a:tab pos="457200" algn="l"/>
              </a:tabLst>
              <a:defRPr/>
            </a:pPr>
            <a:endParaRPr lang="en-US" b="0" i="0" kern="1200" dirty="0">
              <a:solidFill>
                <a:srgbClr val="000000"/>
              </a:solidFill>
              <a:effectLst/>
              <a:latin typeface="Calibri" panose="020F0502020204030204" pitchFamily="34" charset="0"/>
              <a:ea typeface="+mn-ea"/>
              <a:cs typeface="Times New Roman" panose="02020603050405020304" pitchFamily="18" charset="0"/>
            </a:endParaRPr>
          </a:p>
          <a:p>
            <a:pPr marL="0" marR="0" lvl="0" indent="0" defTabSz="914400" rtl="0" eaLnBrk="1" fontAlgn="auto" latinLnBrk="0" hangingPunct="1">
              <a:buClrTx/>
              <a:buSzTx/>
              <a:buFont typeface="Arial" panose="020B0604020202020204" pitchFamily="34" charset="0"/>
              <a:buNone/>
              <a:tabLst>
                <a:tab pos="457200" algn="l"/>
              </a:tabLst>
              <a:defRPr/>
            </a:pPr>
            <a:r>
              <a:rPr lang="en-US"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ElastiCache for Redis offers the following: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171450" lvl="0" indent="-171450">
              <a:buFont typeface="Arial" panose="020B0604020202020204" pitchFamily="34" charset="0"/>
              <a:buChar char="•"/>
            </a:pPr>
            <a:r>
              <a:rPr lang="en-US" b="1" dirty="0">
                <a:latin typeface="Calibri" panose="020F0502020204030204" pitchFamily="34" charset="0"/>
              </a:rPr>
              <a:t>Advanced data structures: </a:t>
            </a:r>
            <a:r>
              <a:rPr lang="en-US" dirty="0">
                <a:latin typeface="Calibri" panose="020F0502020204030204" pitchFamily="34" charset="0"/>
              </a:rPr>
              <a:t>Redis supports complex data types, such as strings, hashes, lists, sets, sorted sets, and bitmaps. If you </a:t>
            </a:r>
            <a:r>
              <a:rPr lang="en-US" b="0" i="0" kern="1200" dirty="0">
                <a:solidFill>
                  <a:schemeClr val="tx1"/>
                </a:solidFill>
                <a:effectLst/>
                <a:latin typeface="Calibri" panose="020F0502020204030204" pitchFamily="34" charset="0"/>
                <a:ea typeface="+mn-ea"/>
                <a:cs typeface="+mn-cs"/>
              </a:rPr>
              <a:t>need complex data types, choose Redis.</a:t>
            </a:r>
          </a:p>
          <a:p>
            <a:pPr marL="171450" lvl="0" indent="-171450">
              <a:buFont typeface="Arial" panose="020B0604020202020204" pitchFamily="34" charset="0"/>
              <a:buChar char="•"/>
            </a:pPr>
            <a:r>
              <a:rPr lang="en-US" b="1" dirty="0">
                <a:latin typeface="Calibri" panose="020F0502020204030204" pitchFamily="34" charset="0"/>
              </a:rPr>
              <a:t>Persistence:</a:t>
            </a:r>
            <a:r>
              <a:rPr lang="en-US" dirty="0">
                <a:latin typeface="Calibri" panose="020F0502020204030204" pitchFamily="34" charset="0"/>
              </a:rPr>
              <a:t> Redis provides </a:t>
            </a:r>
            <a:r>
              <a:rPr lang="en-US" b="0" i="0" kern="1200" dirty="0">
                <a:solidFill>
                  <a:schemeClr val="tx1"/>
                </a:solidFill>
                <a:effectLst/>
                <a:latin typeface="Calibri" panose="020F0502020204030204" pitchFamily="34" charset="0"/>
                <a:ea typeface="+mn-ea"/>
                <a:cs typeface="+mn-cs"/>
              </a:rPr>
              <a:t>persistence of your key store. </a:t>
            </a:r>
            <a:r>
              <a:rPr lang="en-US" dirty="0">
                <a:latin typeface="Calibri" panose="020F0502020204030204" pitchFamily="34" charset="0"/>
              </a:rPr>
              <a:t>By contrast, the Memcached engine does not support persistence. For example, perhaps a node fails and is replaced with a new, empty node, or you might delete a node or scale one down. In this case, you lose the data that’s stored in cache memory. </a:t>
            </a:r>
          </a:p>
          <a:p>
            <a:pPr marL="171450" lvl="0" indent="-171450">
              <a:buFont typeface="Arial" panose="020B0604020202020204" pitchFamily="34" charset="0"/>
              <a:buChar char="•"/>
            </a:pPr>
            <a:r>
              <a:rPr lang="en-US" b="1" dirty="0">
                <a:latin typeface="Calibri" panose="020F0502020204030204" pitchFamily="34" charset="0"/>
              </a:rPr>
              <a:t>Sorting or ranking of datasets: </a:t>
            </a:r>
            <a:r>
              <a:rPr lang="en-US" dirty="0">
                <a:latin typeface="Calibri" panose="020F0502020204030204" pitchFamily="34" charset="0"/>
              </a:rPr>
              <a:t>You can use Redis to sort or rank in-memory datasets. For example, you can use Redis-sorted sets to implement a game leaderboard that keeps a list of players that is sorted by their rank.</a:t>
            </a:r>
          </a:p>
          <a:p>
            <a:pPr marL="171450" marR="0" lvl="0" indent="-171450" defTabSz="914400" rtl="0" eaLnBrk="1" fontAlgn="auto" latinLnBrk="0" hangingPunct="1">
              <a:buClrTx/>
              <a:buSzTx/>
              <a:buFont typeface="Arial" panose="020B0604020202020204" pitchFamily="34" charset="0"/>
              <a:buChar char="•"/>
              <a:tabLst/>
              <a:defRPr/>
            </a:pPr>
            <a:r>
              <a:rPr lang="en-US" b="1" dirty="0">
                <a:latin typeface="Calibri" panose="020F0502020204030204" pitchFamily="34" charset="0"/>
              </a:rPr>
              <a:t>Multi-AZ deployments with automatic failover:</a:t>
            </a:r>
            <a:r>
              <a:rPr lang="en-US" dirty="0">
                <a:latin typeface="Calibri" panose="020F0502020204030204" pitchFamily="34" charset="0"/>
              </a:rPr>
              <a:t> ElastiCache for Redis provides high availability through Multi-AZ deployments with automatic failover in case your primary node fails.</a:t>
            </a:r>
          </a:p>
          <a:p>
            <a:pPr marL="171450" lvl="0" indent="-171450">
              <a:buFont typeface="Arial" panose="020B0604020202020204" pitchFamily="34" charset="0"/>
              <a:buChar char="•"/>
            </a:pPr>
            <a:r>
              <a:rPr lang="en-US" b="1" dirty="0">
                <a:latin typeface="Calibri" panose="020F0502020204030204" pitchFamily="34" charset="0"/>
              </a:rPr>
              <a:t>Publish/subscribe messaging:</a:t>
            </a:r>
            <a:r>
              <a:rPr lang="en-US" dirty="0">
                <a:latin typeface="Calibri" panose="020F0502020204030204" pitchFamily="34" charset="0"/>
              </a:rPr>
              <a:t> Redis supports publish/subscribe messaging with pattern matching, which you can use for high-performance chat rooms, real-time comment streams, social media feeds, and server intercommunication.</a:t>
            </a:r>
          </a:p>
        </p:txBody>
      </p:sp>
    </p:spTree>
    <p:extLst>
      <p:ext uri="{BB962C8B-B14F-4D97-AF65-F5344CB8AC3E}">
        <p14:creationId xmlns:p14="http://schemas.microsoft.com/office/powerpoint/2010/main" val="1418149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32</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kern="1200" dirty="0">
                <a:solidFill>
                  <a:schemeClr val="tx1"/>
                </a:solidFill>
                <a:effectLst/>
                <a:latin typeface="Calibri" panose="020F0502020204030204" pitchFamily="34" charset="0"/>
                <a:ea typeface="+mn-ea"/>
                <a:cs typeface="+mn-cs"/>
              </a:rPr>
              <a:t>A </a:t>
            </a:r>
            <a:r>
              <a:rPr lang="en-US" i="0" kern="1200" dirty="0">
                <a:solidFill>
                  <a:schemeClr val="tx1"/>
                </a:solidFill>
                <a:effectLst/>
                <a:latin typeface="Calibri" panose="020F0502020204030204" pitchFamily="34" charset="0"/>
                <a:ea typeface="+mn-ea"/>
                <a:cs typeface="+mn-cs"/>
              </a:rPr>
              <a:t>cache</a:t>
            </a:r>
            <a:r>
              <a:rPr lang="en-US" i="1" kern="1200" dirty="0">
                <a:solidFill>
                  <a:schemeClr val="tx1"/>
                </a:solidFill>
                <a:effectLst/>
                <a:latin typeface="Calibri" panose="020F0502020204030204" pitchFamily="34" charset="0"/>
                <a:ea typeface="+mn-ea"/>
                <a:cs typeface="+mn-cs"/>
              </a:rPr>
              <a:t> node</a:t>
            </a:r>
            <a:r>
              <a:rPr lang="en-US" kern="1200" dirty="0">
                <a:solidFill>
                  <a:schemeClr val="tx1"/>
                </a:solidFill>
                <a:effectLst/>
                <a:latin typeface="Calibri" panose="020F0502020204030204" pitchFamily="34" charset="0"/>
                <a:ea typeface="+mn-ea"/>
                <a:cs typeface="+mn-cs"/>
              </a:rPr>
              <a:t> is the smallest building block of an ElastiCache deployment. </a:t>
            </a:r>
            <a:r>
              <a:rPr lang="en-US" dirty="0">
                <a:latin typeface="Calibri" panose="020F0502020204030204" pitchFamily="34" charset="0"/>
              </a:rPr>
              <a:t>It is a fixed-size chunk of secure, network-attached RAM. Each node runs the engine that was chosen when the cluster or replication group was created or last modified. Each node has its own DNS name and port. </a:t>
            </a:r>
            <a:r>
              <a:rPr lang="en-US" kern="1200" dirty="0">
                <a:solidFill>
                  <a:schemeClr val="tx1"/>
                </a:solidFill>
                <a:effectLst/>
                <a:latin typeface="Calibri" panose="020F0502020204030204" pitchFamily="34" charset="0"/>
                <a:ea typeface="+mn-ea"/>
                <a:cs typeface="+mn-cs"/>
              </a:rPr>
              <a:t>It can exist in isolation from other nodes or in a grouping with other nodes,</a:t>
            </a:r>
            <a:r>
              <a:rPr lang="en-US" kern="1200" baseline="0" dirty="0">
                <a:solidFill>
                  <a:schemeClr val="tx1"/>
                </a:solidFill>
                <a:effectLst/>
                <a:latin typeface="Calibri" panose="020F0502020204030204" pitchFamily="34" charset="0"/>
                <a:ea typeface="+mn-ea"/>
                <a:cs typeface="+mn-cs"/>
              </a:rPr>
              <a:t> which is also known as a </a:t>
            </a:r>
            <a:r>
              <a:rPr lang="en-US" i="1" kern="1200" baseline="0" dirty="0">
                <a:solidFill>
                  <a:schemeClr val="tx1"/>
                </a:solidFill>
                <a:effectLst/>
                <a:latin typeface="Calibri" panose="020F0502020204030204" pitchFamily="34" charset="0"/>
                <a:ea typeface="+mn-ea"/>
                <a:cs typeface="+mn-cs"/>
              </a:rPr>
              <a:t>cluster</a:t>
            </a:r>
            <a:r>
              <a:rPr lang="en-US" kern="1200" baseline="0" dirty="0">
                <a:solidFill>
                  <a:schemeClr val="tx1"/>
                </a:solidFill>
                <a:effectLst/>
                <a:latin typeface="Calibri" panose="020F0502020204030204" pitchFamily="34" charset="0"/>
                <a:ea typeface="+mn-ea"/>
                <a:cs typeface="+mn-cs"/>
              </a:rPr>
              <a:t>. </a:t>
            </a:r>
            <a:r>
              <a:rPr lang="en-US" dirty="0">
                <a:latin typeface="Calibri" panose="020F0502020204030204" pitchFamily="34" charset="0"/>
              </a:rPr>
              <a:t>If necessary, you can scale the nodes in a cluster up or down to a different instance type. Your application connects to an ElastiCache node or cluster by using a unique address that is called an </a:t>
            </a:r>
            <a:r>
              <a:rPr lang="en-US" i="0" dirty="0">
                <a:latin typeface="Calibri" panose="020F0502020204030204" pitchFamily="34" charset="0"/>
              </a:rPr>
              <a:t>endpoint.</a:t>
            </a:r>
            <a:br>
              <a:rPr lang="en-US" i="0" dirty="0">
                <a:latin typeface="Calibri" panose="020F0502020204030204" pitchFamily="34" charset="0"/>
              </a:rPr>
            </a:br>
            <a:br>
              <a:rPr lang="en-US" i="0" dirty="0">
                <a:latin typeface="Calibri" panose="020F0502020204030204" pitchFamily="34" charset="0"/>
              </a:rPr>
            </a:br>
            <a:r>
              <a:rPr lang="en-US" i="0" dirty="0">
                <a:latin typeface="Calibri" panose="020F0502020204030204" pitchFamily="34" charset="0"/>
              </a:rPr>
              <a:t>While the </a:t>
            </a:r>
            <a:r>
              <a:rPr lang="en-US" i="0" dirty="0" err="1">
                <a:latin typeface="Calibri" panose="020F0502020204030204" pitchFamily="34" charset="0"/>
              </a:rPr>
              <a:t>ElastiCache</a:t>
            </a:r>
            <a:r>
              <a:rPr lang="en-US" i="0" dirty="0">
                <a:latin typeface="Calibri" panose="020F0502020204030204" pitchFamily="34" charset="0"/>
              </a:rPr>
              <a:t> components are the same, depending on which engine you use, there will be some differences.</a:t>
            </a:r>
            <a:endParaRPr lang="en-US" dirty="0">
              <a:latin typeface="Calibri" panose="020F0502020204030204" pitchFamily="34" charset="0"/>
            </a:endParaRPr>
          </a:p>
          <a:p>
            <a:pPr marL="17145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With the Memcached engine, data is partitioned across nodes in a cluster. Memcached data is partitioned across up to 20 nodes. For Memcached workloads, data is partitioned across all nodes in the cluster. Thus, you can scale out to better handle more data when demand grows. </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rPr>
              <a:t>With the Redis engine, y</a:t>
            </a:r>
            <a:r>
              <a:rPr lang="en-US" b="0" i="0" kern="1200" dirty="0">
                <a:solidFill>
                  <a:schemeClr val="tx1"/>
                </a:solidFill>
                <a:effectLst/>
                <a:latin typeface="Calibri" panose="020F0502020204030204" pitchFamily="34" charset="0"/>
                <a:ea typeface="+mn-ea"/>
                <a:cs typeface="+mn-cs"/>
              </a:rPr>
              <a:t>ou can scale your Redis cluster up to 250 nodes. </a:t>
            </a:r>
            <a:r>
              <a:rPr lang="en-US" i="0" dirty="0">
                <a:effectLst/>
                <a:latin typeface="Calibri" panose="020F0502020204030204" pitchFamily="34" charset="0"/>
                <a:ea typeface="Calibri" panose="020F0502020204030204" pitchFamily="34" charset="0"/>
                <a:cs typeface="Times New Roman" panose="02020603050405020304" pitchFamily="18" charset="0"/>
              </a:rPr>
              <a:t>A </a:t>
            </a:r>
            <a:r>
              <a:rPr lang="en-US" b="0" i="0" dirty="0">
                <a:effectLst/>
                <a:latin typeface="Calibri" panose="020F0502020204030204" pitchFamily="34" charset="0"/>
                <a:ea typeface="Calibri" panose="020F0502020204030204" pitchFamily="34" charset="0"/>
                <a:cs typeface="Times New Roman" panose="02020603050405020304" pitchFamily="18" charset="0"/>
              </a:rPr>
              <a:t>Redis cluster </a:t>
            </a:r>
            <a:r>
              <a:rPr lang="en-US" i="0" dirty="0">
                <a:effectLst/>
                <a:latin typeface="Calibri" panose="020F0502020204030204" pitchFamily="34" charset="0"/>
                <a:ea typeface="Calibri" panose="020F0502020204030204" pitchFamily="34" charset="0"/>
                <a:cs typeface="Times New Roman" panose="02020603050405020304" pitchFamily="18" charset="0"/>
              </a:rPr>
              <a:t>is a logical grouping of one or more shards. A </a:t>
            </a:r>
            <a:r>
              <a:rPr lang="en-US" b="0" i="0" dirty="0">
                <a:effectLst/>
                <a:latin typeface="Calibri" panose="020F0502020204030204" pitchFamily="34" charset="0"/>
                <a:ea typeface="Calibri" panose="020F0502020204030204" pitchFamily="34" charset="0"/>
                <a:cs typeface="Times New Roman" panose="02020603050405020304" pitchFamily="18" charset="0"/>
              </a:rPr>
              <a:t>Redis shard </a:t>
            </a:r>
            <a:r>
              <a:rPr lang="en-US" i="0" dirty="0">
                <a:effectLst/>
                <a:latin typeface="Calibri" panose="020F0502020204030204" pitchFamily="34" charset="0"/>
                <a:ea typeface="Calibri" panose="020F0502020204030204" pitchFamily="34" charset="0"/>
                <a:cs typeface="Times New Roman" panose="02020603050405020304" pitchFamily="18" charset="0"/>
              </a:rPr>
              <a:t>is a grouping of 1-6 related nodes. </a:t>
            </a:r>
            <a:r>
              <a:rPr lang="en-US" kern="1200" dirty="0">
                <a:solidFill>
                  <a:schemeClr val="tx1"/>
                </a:solidFill>
                <a:effectLst/>
                <a:latin typeface="Calibri" panose="020F0502020204030204" pitchFamily="34" charset="0"/>
                <a:ea typeface="+mn-ea"/>
                <a:cs typeface="+mn-cs"/>
              </a:rPr>
              <a:t>ElastiCache for Redis provides high availability through Multi-AZ deployments with automatic failover.</a:t>
            </a:r>
            <a:endParaRPr lang="en-US" dirty="0">
              <a:latin typeface="Calibri" panose="020F0502020204030204" pitchFamily="34" charset="0"/>
            </a:endParaRPr>
          </a:p>
        </p:txBody>
      </p:sp>
    </p:spTree>
    <p:extLst>
      <p:ext uri="{BB962C8B-B14F-4D97-AF65-F5344CB8AC3E}">
        <p14:creationId xmlns:p14="http://schemas.microsoft.com/office/powerpoint/2010/main" val="24721232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r>
              <a:rPr lang="en-US" b="0" i="0" kern="1200" dirty="0">
                <a:solidFill>
                  <a:schemeClr val="tx1"/>
                </a:solidFill>
                <a:effectLst/>
                <a:latin typeface="Calibri" panose="020F0502020204030204" pitchFamily="34" charset="0"/>
                <a:ea typeface="+mn-ea"/>
                <a:cs typeface="+mn-cs"/>
              </a:rPr>
              <a:t>For the minimum TTL, both engines allow a TTL of 0, which means that the key-value pair is evicted or expired as soon as it is set or retrieved. For the maximum TTL, there isn’t an explicit maximum TTL f</a:t>
            </a:r>
            <a:r>
              <a:rPr lang="en-US" dirty="0">
                <a:latin typeface="Calibri" panose="020F0502020204030204" pitchFamily="34" charset="0"/>
              </a:rPr>
              <a:t>or </a:t>
            </a:r>
            <a:r>
              <a:rPr lang="en-US" b="0" i="0" kern="1200" dirty="0">
                <a:solidFill>
                  <a:schemeClr val="tx1"/>
                </a:solidFill>
                <a:effectLst/>
                <a:latin typeface="Calibri" panose="020F0502020204030204" pitchFamily="34" charset="0"/>
                <a:ea typeface="+mn-ea"/>
                <a:cs typeface="+mn-cs"/>
              </a:rPr>
              <a:t>Memcached. If you don’t set a specific TTL, keys will persist until the cache is full, at which point Memcached will start evicting keys in the order of those least recently used. Redis does have a configurable maximum TTL. You can define the eviction policy yourself in the Redis config file, which is out of scope for this course. Without explicitly setting a TTL, the default behavior for both service engines is to let keys persist indefinitely until space is needed or the data is manually removed.</a:t>
            </a:r>
          </a:p>
          <a:p>
            <a:r>
              <a:rPr lang="en-US" dirty="0">
                <a:latin typeface="Calibri" panose="020F0502020204030204" pitchFamily="34" charset="0"/>
              </a:rPr>
              <a:t>|</a:t>
            </a:r>
          </a:p>
          <a:p>
            <a:r>
              <a:rPr lang="en-US" b="1" dirty="0">
                <a:latin typeface="Calibri" panose="020F0502020204030204" pitchFamily="34" charset="0"/>
              </a:rPr>
              <a:t>|Student notes</a:t>
            </a:r>
          </a:p>
          <a:p>
            <a:r>
              <a:rPr lang="en-US" kern="1200" dirty="0">
                <a:solidFill>
                  <a:schemeClr val="tx1"/>
                </a:solidFill>
                <a:effectLst/>
                <a:latin typeface="Calibri" panose="020F0502020204030204" pitchFamily="34" charset="0"/>
                <a:ea typeface="+mn-ea"/>
                <a:cs typeface="+mn-cs"/>
              </a:rPr>
              <a:t>The time to live (TTL) is an integer value or key that specifies the number of seconds or milliseconds, depending on the in-memory engine, until the key expires. When an application attempts to read an expired key, the application is treated as though the data isn’t found in the cache. As a result, the database is queried and the cache is updated. This way, the data doesn’t get too stale, and values in the cache are occasionally refreshed from the database. </a:t>
            </a:r>
            <a:endParaRPr lang="en-US" b="0" i="0" kern="1200" dirty="0">
              <a:solidFill>
                <a:schemeClr val="tx1"/>
              </a:solidFill>
              <a:effectLst/>
              <a:latin typeface="Calibri" panose="020F0502020204030204" pitchFamily="34" charset="0"/>
              <a:ea typeface="+mn-ea"/>
              <a:cs typeface="+mn-cs"/>
            </a:endParaRPr>
          </a:p>
          <a:p>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Data gets stale by nature. The next slide explains two strategies to handle stale data.</a:t>
            </a:r>
            <a:endParaRPr lang="en-US" dirty="0">
              <a:latin typeface="Calibri" panose="020F0502020204030204" pitchFamily="34" charset="0"/>
            </a:endParaRPr>
          </a:p>
        </p:txBody>
      </p:sp>
    </p:spTree>
    <p:extLst>
      <p:ext uri="{BB962C8B-B14F-4D97-AF65-F5344CB8AC3E}">
        <p14:creationId xmlns:p14="http://schemas.microsoft.com/office/powerpoint/2010/main" val="561587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|This slide serves as an introduction of two </a:t>
            </a:r>
            <a:r>
              <a:rPr lang="en-US" dirty="0">
                <a:latin typeface="Calibri" panose="020F0502020204030204" pitchFamily="34" charset="0"/>
                <a:ea typeface="Amazon Ember Cd RC Light" panose="020B0406020204020204" pitchFamily="34" charset="0"/>
                <a:cs typeface="Amazon Ember Cd RC Light" panose="020B0406020204020204" pitchFamily="34" charset="0"/>
              </a:rPr>
              <a:t>caching strategies: lazy loading and write-through. The </a:t>
            </a:r>
            <a:r>
              <a:rPr lang="en-US" dirty="0">
                <a:latin typeface="Calibri" panose="020F0502020204030204" pitchFamily="34" charset="0"/>
              </a:rPr>
              <a:t>caching patterns of the </a:t>
            </a:r>
            <a:r>
              <a:rPr lang="en-US" dirty="0">
                <a:latin typeface="Calibri" panose="020F0502020204030204" pitchFamily="34" charset="0"/>
                <a:ea typeface="Amazon Ember Cd RC Light" panose="020B0406020204020204" pitchFamily="34" charset="0"/>
                <a:cs typeface="Amazon Ember Cd RC Light" panose="020B0406020204020204" pitchFamily="34" charset="0"/>
              </a:rPr>
              <a:t>two strategies are explained, and the advantages and disadvantages are compared. The following two slides illustrate the process of these strategies. </a:t>
            </a:r>
          </a:p>
          <a:p>
            <a:r>
              <a:rPr lang="en-US" dirty="0">
                <a:latin typeface="Calibri" panose="020F0502020204030204" pitchFamily="34" charset="0"/>
                <a:ea typeface="Amazon Ember Cd RC Light" panose="020B0406020204020204" pitchFamily="34" charset="0"/>
                <a:cs typeface="Amazon Ember Cd RC Light" panose="020B0406020204020204" pitchFamily="34" charset="0"/>
              </a:rPr>
              <a:t>|</a:t>
            </a:r>
            <a:br>
              <a:rPr lang="en-US" dirty="0">
                <a:latin typeface="Calibri" panose="020F0502020204030204" pitchFamily="34" charset="0"/>
                <a:ea typeface="Amazon Ember Cd RC Light" panose="020B0406020204020204" pitchFamily="34" charset="0"/>
                <a:cs typeface="Amazon Ember Cd RC Light" panose="020B0406020204020204" pitchFamily="34" charset="0"/>
              </a:rPr>
            </a:br>
            <a:r>
              <a:rPr lang="en-US" dirty="0">
                <a:latin typeface="Calibri" panose="020F0502020204030204" pitchFamily="34" charset="0"/>
              </a:rPr>
              <a:t>|</a:t>
            </a:r>
            <a:r>
              <a:rPr lang="en-US" dirty="0">
                <a:latin typeface="Calibri" panose="020F0502020204030204" pitchFamily="34" charset="0"/>
                <a:ea typeface="Amazon Ember Cd RC Light" panose="020B0406020204020204" pitchFamily="34" charset="0"/>
                <a:cs typeface="Amazon Ember Cd RC Light" panose="020B0406020204020204" pitchFamily="34" charset="0"/>
              </a:rPr>
              <a:t>For a more detailed explanation, see the </a:t>
            </a:r>
            <a:r>
              <a:rPr lang="en-US" i="1" dirty="0">
                <a:latin typeface="Calibri" panose="020F0502020204030204" pitchFamily="34" charset="0"/>
                <a:ea typeface="Amazon Ember Cd RC Light" panose="020B0406020204020204" pitchFamily="34" charset="0"/>
                <a:cs typeface="Amazon Ember Cd RC Light" panose="020B0406020204020204" pitchFamily="34" charset="0"/>
              </a:rPr>
              <a:t>Caching Strategies </a:t>
            </a:r>
            <a:r>
              <a:rPr lang="en-US" dirty="0">
                <a:latin typeface="Calibri" panose="020F0502020204030204" pitchFamily="34" charset="0"/>
                <a:ea typeface="Amazon Ember Cd RC Light" panose="020B0406020204020204" pitchFamily="34" charset="0"/>
                <a:cs typeface="Amazon Ember Cd RC Light" panose="020B0406020204020204" pitchFamily="34" charset="0"/>
              </a:rPr>
              <a:t>section of the ElastiCache documentation. A link is provided in the resource page. </a:t>
            </a:r>
            <a:endParaRPr lang="en-US" dirty="0">
              <a:latin typeface="Calibri" panose="020F0502020204030204" pitchFamily="34" charset="0"/>
            </a:endParaRP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ea typeface="Amazon Ember Cd RC Light" panose="020B0406020204020204" pitchFamily="34" charset="0"/>
                <a:cs typeface="Amazon Ember Cd RC Light" panose="020B0406020204020204" pitchFamily="34" charset="0"/>
              </a:rPr>
              <a:t>There are multiple strategies for keeping information in the cache in sync with the database. This slide examines two of the common caching strategies. At a high level, the following is a comparison of these strategies:</a:t>
            </a:r>
          </a:p>
          <a:p>
            <a:pPr marL="171450" indent="-171450">
              <a:buFont typeface="Arial" panose="020B0604020202020204" pitchFamily="34" charset="0"/>
              <a:buChar char="•"/>
            </a:pPr>
            <a:r>
              <a:rPr lang="en-US" dirty="0">
                <a:latin typeface="Calibri" panose="020F0502020204030204" pitchFamily="34" charset="0"/>
                <a:ea typeface="Amazon Ember Cd RC Light" panose="020B0406020204020204" pitchFamily="34" charset="0"/>
                <a:cs typeface="Amazon Ember Cd RC Light" panose="020B0406020204020204" pitchFamily="34" charset="0"/>
              </a:rPr>
              <a:t>In lazy loading, data is loaded into the cache only when it is necessary. Lazy loading helps ensure that the data loaded into the cache is data that the application needs. The disadvantage of this strategy is that it permits stale data, so the data is not always up to date.</a:t>
            </a:r>
          </a:p>
          <a:p>
            <a:pPr marL="171450" marR="0" lvl="0" indent="-171450" defTabSz="914400" rtl="0" eaLnBrk="1" fontAlgn="auto" latinLnBrk="0" hangingPunct="1">
              <a:buClrTx/>
              <a:buSzTx/>
              <a:buFont typeface="Arial" panose="020B0604020202020204" pitchFamily="34" charset="0"/>
              <a:buChar char="•"/>
              <a:tabLst/>
              <a:defRPr/>
            </a:pPr>
            <a:r>
              <a:rPr lang="en-US" dirty="0">
                <a:latin typeface="Calibri" panose="020F0502020204030204" pitchFamily="34" charset="0"/>
                <a:ea typeface="Amazon Ember Cd RC Light" panose="020B0406020204020204" pitchFamily="34" charset="0"/>
                <a:cs typeface="Amazon Ember Cd RC Light" panose="020B0406020204020204" pitchFamily="34" charset="0"/>
              </a:rPr>
              <a:t>An alternative strategy is to </a:t>
            </a:r>
            <a:r>
              <a:rPr lang="en-US" kern="1200" dirty="0">
                <a:solidFill>
                  <a:schemeClr val="tx1"/>
                </a:solidFill>
                <a:latin typeface="Calibri" panose="020F0502020204030204" pitchFamily="34" charset="0"/>
                <a:ea typeface="Amazon Ember Cd RC Light" panose="020B0406020204020204" pitchFamily="34" charset="0"/>
                <a:cs typeface="Amazon Ember Cd RC Light" panose="020B0406020204020204" pitchFamily="34" charset="0"/>
              </a:rPr>
              <a:t>write-through to the cache every time the database is accessed. This approach results in fewer cache misses, which can improve performance but requires additional storage for data, which the application might or might not need. In this strategy, the </a:t>
            </a:r>
            <a:r>
              <a:rPr lang="en-US" dirty="0">
                <a:latin typeface="Calibri" panose="020F0502020204030204" pitchFamily="34" charset="0"/>
              </a:rPr>
              <a:t>infrequently requested data that is also written to the cache results in a larger and more expensive cache. </a:t>
            </a:r>
            <a:endParaRPr lang="en-US" kern="1200" dirty="0">
              <a:solidFill>
                <a:schemeClr val="tx1"/>
              </a:solidFill>
              <a:latin typeface="Calibri" panose="020F0502020204030204" pitchFamily="34" charset="0"/>
              <a:ea typeface="Amazon Ember Cd RC Light" panose="020B0406020204020204" pitchFamily="34" charset="0"/>
              <a:cs typeface="Amazon Ember Cd RC Light" panose="020B0406020204020204" pitchFamily="34" charset="0"/>
            </a:endParaRPr>
          </a:p>
          <a:p>
            <a:endParaRPr lang="en-US" dirty="0">
              <a:latin typeface="Calibri" panose="020F0502020204030204" pitchFamily="34" charset="0"/>
              <a:ea typeface="Amazon Ember Cd RC Light" panose="020B0406020204020204" pitchFamily="34" charset="0"/>
              <a:cs typeface="Amazon Ember Cd RC Light" panose="020B0406020204020204" pitchFamily="34" charset="0"/>
            </a:endParaRPr>
          </a:p>
          <a:p>
            <a:r>
              <a:rPr lang="en-US" b="0" i="0" kern="1200" dirty="0">
                <a:solidFill>
                  <a:schemeClr val="tx1"/>
                </a:solidFill>
                <a:effectLst/>
                <a:latin typeface="Calibri" panose="020F0502020204030204" pitchFamily="34" charset="0"/>
                <a:ea typeface="+mn-ea"/>
                <a:cs typeface="+mn-cs"/>
              </a:rPr>
              <a:t>The issue with caching data is it becomes stale by its nature. Therefore, it’s important to employ a programmatic strategy to handle keeping the cache as up to date as is appropriate. These caching strategies need to focus on the business considerations such as cost, speed, start up, and a tolerance for sometimes having stale data for a short period of time. </a:t>
            </a:r>
            <a:r>
              <a:rPr lang="en-US" dirty="0">
                <a:latin typeface="Calibri" panose="020F0502020204030204" pitchFamily="34" charset="0"/>
                <a:ea typeface="Amazon Ember Cd RC Light" panose="020B0406020204020204" pitchFamily="34" charset="0"/>
                <a:cs typeface="Amazon Ember Cd RC Light" panose="020B0406020204020204" pitchFamily="34" charset="0"/>
              </a:rPr>
              <a:t>The best strategy depends on your use case. It is critical to understand the impact of stale data on your use case. If the impact is high, then consider maintaining freshness with write-throughs. If the impact is low, then lazy loading might be sufficient. It also helps to understand the frequency of change of the underlying data because this frequency affects the performance and cost trade-offs of the caching strategies. Once you decide on a strategy for maintaining your cache, you will need to implement this approach within your application.</a:t>
            </a:r>
            <a:endParaRPr lang="en-US" dirty="0">
              <a:latin typeface="Calibri" panose="020F0502020204030204" pitchFamily="34" charset="0"/>
            </a:endParaRPr>
          </a:p>
        </p:txBody>
      </p:sp>
    </p:spTree>
    <p:extLst>
      <p:ext uri="{BB962C8B-B14F-4D97-AF65-F5344CB8AC3E}">
        <p14:creationId xmlns:p14="http://schemas.microsoft.com/office/powerpoint/2010/main" val="16185802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|This decision diagram shows the flow between the application and the database. The caching node is in between and will be accessed first. The terms </a:t>
            </a:r>
            <a:r>
              <a:rPr lang="en-US" i="1" dirty="0">
                <a:latin typeface="Calibri" panose="020F0502020204030204" pitchFamily="34" charset="0"/>
              </a:rPr>
              <a:t>cache hit </a:t>
            </a:r>
            <a:r>
              <a:rPr lang="en-US" dirty="0">
                <a:latin typeface="Calibri" panose="020F0502020204030204" pitchFamily="34" charset="0"/>
              </a:rPr>
              <a:t>and </a:t>
            </a:r>
            <a:r>
              <a:rPr lang="en-US" i="1" dirty="0">
                <a:latin typeface="Calibri" panose="020F0502020204030204" pitchFamily="34" charset="0"/>
              </a:rPr>
              <a:t>cache miss </a:t>
            </a:r>
            <a:r>
              <a:rPr lang="en-US" dirty="0">
                <a:latin typeface="Calibri" panose="020F0502020204030204" pitchFamily="34" charset="0"/>
              </a:rPr>
              <a:t>are explained. </a:t>
            </a:r>
          </a:p>
          <a:p>
            <a:r>
              <a:rPr lang="en-US" dirty="0">
                <a:latin typeface="Calibri" panose="020F0502020204030204" pitchFamily="34" charset="0"/>
              </a:rPr>
              <a:t>|</a:t>
            </a:r>
          </a:p>
          <a:p>
            <a:r>
              <a:rPr lang="en-US" dirty="0">
                <a:latin typeface="Calibri" panose="020F0502020204030204" pitchFamily="34" charset="0"/>
              </a:rPr>
              <a:t>|The route labeled 2a is meant to be shown as a shorter path, providing a lower latency response to the requester. The route labeled 2b is followed by two paths: data getting copied to the cache and data going from the database to the application.</a:t>
            </a:r>
          </a:p>
          <a:p>
            <a:r>
              <a:rPr lang="en-US" dirty="0">
                <a:latin typeface="Calibri" panose="020F0502020204030204" pitchFamily="34" charset="0"/>
              </a:rPr>
              <a:t>|</a:t>
            </a:r>
            <a:endParaRPr lang="en-US" b="1" dirty="0">
              <a:latin typeface="Calibri" panose="020F0502020204030204" pitchFamily="34" charset="0"/>
            </a:endParaRPr>
          </a:p>
          <a:p>
            <a:r>
              <a:rPr lang="en-US" b="1" dirty="0">
                <a:latin typeface="Calibri" panose="020F0502020204030204" pitchFamily="34" charset="0"/>
              </a:rPr>
              <a:t>|Student notes</a:t>
            </a:r>
          </a:p>
          <a:p>
            <a:r>
              <a:rPr lang="en-US" dirty="0">
                <a:latin typeface="Calibri" panose="020F0502020204030204" pitchFamily="34" charset="0"/>
              </a:rPr>
              <a:t>This diagram shows how a user can access content by using lazy loading caching. (The green lines show a data request, and the purple lines show a data response.)</a:t>
            </a:r>
          </a:p>
          <a:p>
            <a:pPr marL="0" marR="0" lvl="0" indent="0" defTabSz="914400" rtl="0" eaLnBrk="1" fontAlgn="auto" latinLnBrk="0" hangingPunct="1">
              <a:buClrTx/>
              <a:buSzTx/>
              <a:buFontTx/>
              <a:buNone/>
              <a:tabLst/>
              <a:defRPr/>
            </a:pPr>
            <a:r>
              <a:rPr lang="en-US" b="0" dirty="0">
                <a:latin typeface="Calibri" panose="020F0502020204030204" pitchFamily="34" charset="0"/>
              </a:rPr>
              <a:t>1. A user makes a request to access content. Whether or not t</a:t>
            </a:r>
            <a:r>
              <a:rPr lang="en-US" b="0" i="0" kern="1200" dirty="0">
                <a:solidFill>
                  <a:schemeClr val="tx1"/>
                </a:solidFill>
                <a:effectLst/>
                <a:latin typeface="Calibri" panose="020F0502020204030204" pitchFamily="34" charset="0"/>
                <a:ea typeface="+mn-ea"/>
                <a:cs typeface="+mn-cs"/>
              </a:rPr>
              <a:t>he requested data is in the cache determines the next step.</a:t>
            </a:r>
          </a:p>
          <a:p>
            <a:pPr marL="0" marR="0" lvl="0" indent="0" defTabSz="914400" rtl="0" eaLnBrk="1" fontAlgn="auto" latinLnBrk="0" hangingPunct="1">
              <a:buClrTx/>
              <a:buSzTx/>
              <a:buFont typeface="+mj-lt"/>
              <a:buNone/>
              <a:tabLst/>
              <a:defRPr/>
            </a:pPr>
            <a:r>
              <a:rPr lang="en-US" b="0" i="0" kern="1200" dirty="0">
                <a:solidFill>
                  <a:schemeClr val="tx1"/>
                </a:solidFill>
                <a:effectLst/>
                <a:latin typeface="Calibri" panose="020F0502020204030204" pitchFamily="34" charset="0"/>
                <a:ea typeface="+mn-ea"/>
                <a:cs typeface="+mn-cs"/>
              </a:rPr>
              <a:t>2a. The application code first tries and reads the data from the cache. If the cache contains the data, </a:t>
            </a:r>
            <a:r>
              <a:rPr lang="en-US" b="0" dirty="0">
                <a:latin typeface="Calibri" panose="020F0502020204030204" pitchFamily="34" charset="0"/>
              </a:rPr>
              <a:t>ElastiCache </a:t>
            </a:r>
            <a:r>
              <a:rPr lang="en-US" b="0" i="0" kern="1200" dirty="0">
                <a:solidFill>
                  <a:schemeClr val="tx1"/>
                </a:solidFill>
                <a:effectLst/>
                <a:latin typeface="Calibri" panose="020F0502020204030204" pitchFamily="34" charset="0"/>
                <a:ea typeface="+mn-ea"/>
                <a:cs typeface="+mn-cs"/>
              </a:rPr>
              <a:t>returns the file to the user, and the data journey ends here. This is known as a </a:t>
            </a:r>
            <a:r>
              <a:rPr lang="en-US" b="0" i="1" kern="1200" dirty="0">
                <a:solidFill>
                  <a:schemeClr val="tx1"/>
                </a:solidFill>
                <a:effectLst/>
                <a:latin typeface="Calibri" panose="020F0502020204030204" pitchFamily="34" charset="0"/>
                <a:ea typeface="+mn-ea"/>
                <a:cs typeface="+mn-cs"/>
              </a:rPr>
              <a:t>cache hit</a:t>
            </a:r>
            <a:r>
              <a:rPr lang="en-US" b="0" i="0" kern="1200" dirty="0">
                <a:solidFill>
                  <a:schemeClr val="tx1"/>
                </a:solidFill>
                <a:effectLst/>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2b. If the data was not found in the cache, it is known as a </a:t>
            </a:r>
            <a:r>
              <a:rPr lang="en-US" b="0" i="1" kern="1200" dirty="0">
                <a:solidFill>
                  <a:schemeClr val="tx1"/>
                </a:solidFill>
                <a:effectLst/>
                <a:latin typeface="Calibri" panose="020F0502020204030204" pitchFamily="34" charset="0"/>
                <a:ea typeface="+mn-ea"/>
                <a:cs typeface="+mn-cs"/>
              </a:rPr>
              <a:t>cache miss</a:t>
            </a:r>
            <a:r>
              <a:rPr lang="en-US" b="0" i="0" kern="1200" dirty="0">
                <a:solidFill>
                  <a:schemeClr val="tx1"/>
                </a:solidFill>
                <a:effectLst/>
                <a:latin typeface="Calibri" panose="020F0502020204030204" pitchFamily="34" charset="0"/>
                <a:ea typeface="+mn-ea"/>
                <a:cs typeface="+mn-cs"/>
              </a:rPr>
              <a:t>. The cache forwards the request to the primary database that hosts the </a:t>
            </a:r>
            <a:r>
              <a:rPr lang="en-US" b="0" kern="1200" dirty="0">
                <a:solidFill>
                  <a:schemeClr val="tx1"/>
                </a:solidFill>
                <a:latin typeface="Calibri" panose="020F0502020204030204" pitchFamily="34" charset="0"/>
                <a:ea typeface="+mn-ea"/>
                <a:cs typeface="+mn-cs"/>
              </a:rPr>
              <a:t>content. The origin server sends the requested data to the user and </a:t>
            </a:r>
            <a:r>
              <a:rPr lang="en-US" b="0" i="0" kern="1200" dirty="0">
                <a:solidFill>
                  <a:schemeClr val="tx1"/>
                </a:solidFill>
                <a:effectLst/>
                <a:latin typeface="Calibri" panose="020F0502020204030204" pitchFamily="34" charset="0"/>
                <a:ea typeface="+mn-ea"/>
                <a:cs typeface="+mn-cs"/>
              </a:rPr>
              <a:t>adds it to the cache for the next time someone requests it.</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indent="0">
              <a:buFont typeface="+mj-lt"/>
              <a:buNone/>
            </a:pPr>
            <a:r>
              <a:rPr lang="en-US" b="0" i="0" kern="1200" dirty="0">
                <a:solidFill>
                  <a:schemeClr val="tx1"/>
                </a:solidFill>
                <a:effectLst/>
                <a:latin typeface="Calibri" panose="020F0502020204030204" pitchFamily="34" charset="0"/>
                <a:ea typeface="+mn-ea"/>
                <a:cs typeface="+mn-cs"/>
              </a:rPr>
              <a:t>This diagram does not show how to handle a stale cache and shows only the high-level process for caching responses from an underlying data source.</a:t>
            </a:r>
          </a:p>
          <a:p>
            <a:endParaRPr lang="en-US" dirty="0">
              <a:latin typeface="Calibri" panose="020F0502020204030204" pitchFamily="34" charset="0"/>
            </a:endParaRPr>
          </a:p>
          <a:p>
            <a:r>
              <a:rPr lang="en-US" dirty="0">
                <a:latin typeface="Calibri" panose="020F0502020204030204" pitchFamily="34" charset="0"/>
              </a:rPr>
              <a:t>Use lazy loading when you have data that will be read often but written infrequently. For example, in a typical web or mobile application, a user’s profile rarely changes, but it is accessed throughout the application. A person might update his or her profile only a few times per year. However, the profile might be accessed dozens or hundreds of times a day, depending on the user.</a:t>
            </a:r>
          </a:p>
          <a:p>
            <a:r>
              <a:rPr lang="en-US" dirty="0">
                <a:latin typeface="Calibri" panose="020F0502020204030204" pitchFamily="34" charset="0"/>
              </a:rPr>
              <a:t> </a:t>
            </a:r>
          </a:p>
          <a:p>
            <a:r>
              <a:rPr lang="en-US" dirty="0">
                <a:latin typeface="Calibri" panose="020F0502020204030204" pitchFamily="34" charset="0"/>
              </a:rPr>
              <a:t>The advantage of lazy loading is that only requested data is cached. Because most data is never requested, lazy loading avoids filling up the cache with unnecessary data. However, a cache miss incurs a penalty. Each cache miss results in three trips, which can cause a noticeable delay in data getting to the application. Also, if data is written to the cache only when a cache miss occurs, data in the cache can become stale. Lazy loading does not provide updates to the cache when data is changed in the database.</a:t>
            </a:r>
          </a:p>
        </p:txBody>
      </p:sp>
    </p:spTree>
    <p:extLst>
      <p:ext uri="{BB962C8B-B14F-4D97-AF65-F5344CB8AC3E}">
        <p14:creationId xmlns:p14="http://schemas.microsoft.com/office/powerpoint/2010/main" val="16947226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36</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|Unlike lazy loading, this strategy does not depend on what is in the cache node. The data is </a:t>
            </a:r>
            <a:r>
              <a:rPr lang="en-US" kern="1200" dirty="0">
                <a:solidFill>
                  <a:schemeClr val="tx1"/>
                </a:solidFill>
                <a:effectLst/>
                <a:latin typeface="Calibri" panose="020F0502020204030204" pitchFamily="34" charset="0"/>
                <a:ea typeface="+mn-ea"/>
                <a:cs typeface="+mn-cs"/>
              </a:rPr>
              <a:t>written to the database, and the cache gets updated. </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diagram show how content gets cached by using the write-through strategy. </a:t>
            </a:r>
          </a:p>
          <a:p>
            <a:pPr marL="228600" indent="-228600">
              <a:buFont typeface="+mj-lt"/>
              <a:buAutoNum type="arabicPeriod"/>
            </a:pPr>
            <a:r>
              <a:rPr lang="en-US" kern="1200" dirty="0">
                <a:solidFill>
                  <a:schemeClr val="tx1"/>
                </a:solidFill>
                <a:effectLst/>
                <a:latin typeface="Calibri" panose="020F0502020204030204" pitchFamily="34" charset="0"/>
                <a:ea typeface="+mn-ea"/>
                <a:cs typeface="+mn-cs"/>
              </a:rPr>
              <a:t>With any change or update to the application, the data is written to the database. </a:t>
            </a:r>
          </a:p>
          <a:p>
            <a:pPr marL="228600" indent="-228600">
              <a:buFont typeface="+mj-lt"/>
              <a:buAutoNum type="arabicPeriod"/>
            </a:pPr>
            <a:r>
              <a:rPr lang="en-US" b="0" i="0" kern="1200" dirty="0">
                <a:solidFill>
                  <a:schemeClr val="tx1"/>
                </a:solidFill>
                <a:effectLst/>
                <a:latin typeface="Calibri" panose="020F0502020204030204" pitchFamily="34" charset="0"/>
                <a:ea typeface="+mn-ea"/>
                <a:cs typeface="+mn-cs"/>
              </a:rPr>
              <a:t>Immediately after, the local cache gets updated. </a:t>
            </a:r>
            <a:endParaRPr lang="en-US" kern="1200" dirty="0">
              <a:solidFill>
                <a:schemeClr val="tx1"/>
              </a:solidFill>
              <a:effectLst/>
              <a:latin typeface="Calibri" panose="020F0502020204030204" pitchFamily="34" charset="0"/>
              <a:ea typeface="+mn-ea"/>
              <a:cs typeface="+mn-cs"/>
            </a:endParaRPr>
          </a:p>
          <a:p>
            <a:endParaRPr lang="en-US"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This approach is proactive: you can avoid unnecessary cache misses when you have data that you know is going to be accessed. The advantage of this approach is that it increases the likelihood that your application will find that value in the cache when it looks for it. </a:t>
            </a:r>
            <a:r>
              <a:rPr lang="en-US" b="0" i="0" kern="1200" dirty="0">
                <a:solidFill>
                  <a:schemeClr val="tx1"/>
                </a:solidFill>
                <a:effectLst/>
                <a:latin typeface="Calibri" panose="020F0502020204030204" pitchFamily="34" charset="0"/>
                <a:ea typeface="+mn-ea"/>
                <a:cs typeface="+mn-cs"/>
              </a:rPr>
              <a:t>Data in the cache is always up to date and never stale. </a:t>
            </a:r>
            <a:r>
              <a:rPr lang="en-US" kern="1200" dirty="0">
                <a:solidFill>
                  <a:schemeClr val="tx1"/>
                </a:solidFill>
                <a:effectLst/>
                <a:latin typeface="Calibri" panose="020F0502020204030204" pitchFamily="34" charset="0"/>
                <a:ea typeface="+mn-ea"/>
                <a:cs typeface="+mn-cs"/>
              </a:rPr>
              <a:t>The disadvantage is that you are potentially caching data that you don’t need, so this approach can cause added costs.</a:t>
            </a:r>
          </a:p>
          <a:p>
            <a:r>
              <a:rPr lang="en-US" kern="1200" dirty="0">
                <a:solidFill>
                  <a:schemeClr val="tx1"/>
                </a:solidFill>
                <a:effectLst/>
                <a:latin typeface="Calibri" panose="020F0502020204030204" pitchFamily="34" charset="0"/>
                <a:ea typeface="+mn-ea"/>
                <a:cs typeface="+mn-cs"/>
              </a:rPr>
              <a:t> </a:t>
            </a: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Use a write-through caching strategy when you have data that must be updated in real time. </a:t>
            </a:r>
            <a:endParaRPr lang="en-US" dirty="0">
              <a:latin typeface="Calibri" panose="020F0502020204030204" pitchFamily="34" charset="0"/>
            </a:endParaRPr>
          </a:p>
        </p:txBody>
      </p:sp>
    </p:spTree>
    <p:extLst>
      <p:ext uri="{BB962C8B-B14F-4D97-AF65-F5344CB8AC3E}">
        <p14:creationId xmlns:p14="http://schemas.microsoft.com/office/powerpoint/2010/main" val="33563997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8598094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38</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b="0" dirty="0">
                <a:latin typeface="Calibri" panose="020F0502020204030204" pitchFamily="34" charset="0"/>
              </a:rPr>
              <a:t>This section looks at how to apply the AWS Well-Architected Framework principles to caching your content.</a:t>
            </a:r>
          </a:p>
        </p:txBody>
      </p:sp>
    </p:spTree>
    <p:extLst>
      <p:ext uri="{BB962C8B-B14F-4D97-AF65-F5344CB8AC3E}">
        <p14:creationId xmlns:p14="http://schemas.microsoft.com/office/powerpoint/2010/main" val="2381985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39</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|The remaining slides in this section present examples that highlight how the material in this module aligns to the AWS Well-Architected Framework best practices. Optionally, you might ask students to visit the Well-Architected Framework website and find the best practices that they think connect to the material that is presented in this module, using this section as a starting point.</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dirty="0">
                <a:latin typeface="Calibri" panose="020F0502020204030204" pitchFamily="34" charset="0"/>
              </a:rPr>
              <a:t>The AWS Well-Architected Framework has six pillars, and each pillar includes best practices and a set of questions that you should consider when you architect cloud solutions. This section highlights a few best practices from the pillars that are most relevant to this module. Find the complete set of best practices by pillar on the Well-Architected Framework website. The content resources section of your online course provides a link.</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r>
              <a:rPr lang="en-US" dirty="0">
                <a:latin typeface="Calibri" panose="020F0502020204030204" pitchFamily="34" charset="0"/>
              </a:rPr>
              <a:t>As you make connections between the AWS Well-Architected Framework pillars and caching, consider your role as a cloud architect caching content and the need to know the following information:</a:t>
            </a:r>
          </a:p>
          <a:p>
            <a:pPr marL="17145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When to cache content to improve performance and optimize cost</a:t>
            </a:r>
          </a:p>
          <a:p>
            <a:pPr marL="17145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How to deal with stale content so that you can balance managing cost with having up-to-date data. </a:t>
            </a:r>
          </a:p>
          <a:p>
            <a:pPr marL="171450" indent="-171450">
              <a:buFont typeface="Arial" panose="020B0604020202020204" pitchFamily="34" charset="0"/>
              <a:buChar char="•"/>
            </a:pPr>
            <a:r>
              <a:rPr lang="en-US" kern="1200" dirty="0">
                <a:solidFill>
                  <a:schemeClr val="tx1"/>
                </a:solidFill>
                <a:effectLst/>
                <a:latin typeface="Calibri" panose="020F0502020204030204" pitchFamily="34" charset="0"/>
                <a:ea typeface="+mn-ea"/>
                <a:cs typeface="+mn-cs"/>
              </a:rPr>
              <a:t>Why to incorporate</a:t>
            </a:r>
            <a:r>
              <a:rPr lang="en-US" dirty="0">
                <a:latin typeface="Calibri" panose="020F0502020204030204" pitchFamily="34" charset="0"/>
              </a:rPr>
              <a:t> a </a:t>
            </a:r>
            <a:r>
              <a:rPr lang="en-US" kern="1200" dirty="0">
                <a:solidFill>
                  <a:schemeClr val="tx1"/>
                </a:solidFill>
                <a:effectLst/>
                <a:latin typeface="Calibri" panose="020F0502020204030204" pitchFamily="34" charset="0"/>
                <a:ea typeface="+mn-ea"/>
                <a:cs typeface="+mn-cs"/>
              </a:rPr>
              <a:t>CDN service as </a:t>
            </a:r>
            <a:r>
              <a:rPr lang="en-US" dirty="0">
                <a:latin typeface="Calibri" panose="020F0502020204030204" pitchFamily="34" charset="0"/>
              </a:rPr>
              <a:t>an in-memory caching strategy</a:t>
            </a:r>
            <a:r>
              <a:rPr lang="en-US" kern="1200" dirty="0">
                <a:solidFill>
                  <a:schemeClr val="tx1"/>
                </a:solidFill>
                <a:effectLst/>
                <a:latin typeface="Calibri" panose="020F0502020204030204" pitchFamily="34" charset="0"/>
                <a:ea typeface="+mn-ea"/>
                <a:cs typeface="+mn-cs"/>
              </a:rPr>
              <a:t> into your architecture designs</a:t>
            </a:r>
            <a:endParaRPr lang="en-US" dirty="0">
              <a:highlight>
                <a:srgbClr val="FFFF00"/>
              </a:highlight>
              <a:latin typeface="Calibri" panose="020F0502020204030204" pitchFamily="34" charset="0"/>
            </a:endParaRPr>
          </a:p>
        </p:txBody>
      </p:sp>
    </p:spTree>
    <p:extLst>
      <p:ext uri="{BB962C8B-B14F-4D97-AF65-F5344CB8AC3E}">
        <p14:creationId xmlns:p14="http://schemas.microsoft.com/office/powerpoint/2010/main" val="37723147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40</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|The link to these best practices are provided in the resource document. These best practices are from the performance efficiency pillar, focus area “Data Management.”</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Storing data in a cache can improve read latency, read throughput, user experience, and overall efficiency, as well as reduce costs. Data caching can be one of the most effective strategies to improve your overall application performance and reduce burden on your underlying primary data sources.</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b="1" kern="1200" dirty="0">
                <a:solidFill>
                  <a:schemeClr val="tx1"/>
                </a:solidFill>
                <a:latin typeface="Calibri" panose="020F0502020204030204" pitchFamily="34" charset="0"/>
                <a:ea typeface="+mn-ea"/>
                <a:cs typeface="+mn-cs"/>
              </a:rPr>
              <a:t>Implement data access patterns that utilize caching</a:t>
            </a:r>
            <a:r>
              <a:rPr lang="en-US" kern="1200" dirty="0">
                <a:solidFill>
                  <a:schemeClr val="tx1"/>
                </a:solidFill>
                <a:latin typeface="Calibri" panose="020F0502020204030204" pitchFamily="34" charset="0"/>
                <a:ea typeface="+mn-ea"/>
                <a:cs typeface="+mn-cs"/>
              </a:rPr>
              <a:t>: First i</a:t>
            </a:r>
            <a:r>
              <a:rPr lang="en-US" dirty="0">
                <a:latin typeface="Calibri" panose="020F0502020204030204" pitchFamily="34" charset="0"/>
              </a:rPr>
              <a:t>dentify databases, APIs and network services that could benefit from caching. Services that have heavy read workloads, have a high read-to-write ratio, or are expensive to scale are candidates for caching. Next, identify the appropriate type of caching strategy that best fits your access pattern. Then configure a cache invalidation strategy, such as a time-to-live (TTL), for all data that balances freshness of data and reducing pressure on backend datastore. Finally, monitor cache hit rate with a goal of 80% or higher. Lower values may indicate insufficient cache size or an access pattern that does not benefit from caching.</a:t>
            </a:r>
          </a:p>
          <a:p>
            <a:pPr marL="0" marR="0" lvl="0" indent="0" defTabSz="914400" rtl="0" eaLnBrk="1" fontAlgn="auto" latinLnBrk="0" hangingPunct="1">
              <a:buClrTx/>
              <a:buSzTx/>
              <a:buFontTx/>
              <a:buNone/>
              <a:tabLst/>
              <a:defRPr/>
            </a:pPr>
            <a:endParaRPr lang="en-US" kern="1200" dirty="0">
              <a:solidFill>
                <a:schemeClr val="tx1"/>
              </a:solidFill>
              <a:latin typeface="Calibri" panose="020F0502020204030204" pitchFamily="34" charset="0"/>
              <a:ea typeface="+mn-ea"/>
              <a:cs typeface="+mn-cs"/>
            </a:endParaRPr>
          </a:p>
          <a:p>
            <a:pPr marL="0" indent="0">
              <a:buFont typeface="+mj-lt"/>
              <a:buNone/>
            </a:pPr>
            <a:r>
              <a:rPr lang="en-US" dirty="0">
                <a:latin typeface="Calibri" panose="020F0502020204030204" pitchFamily="34" charset="0"/>
              </a:rPr>
              <a:t>In this module, </a:t>
            </a:r>
            <a:r>
              <a:rPr lang="en-US" kern="1200" dirty="0">
                <a:solidFill>
                  <a:schemeClr val="tx1"/>
                </a:solidFill>
                <a:latin typeface="Calibri" panose="020F0502020204030204" pitchFamily="34" charset="0"/>
                <a:ea typeface="+mn-ea"/>
                <a:cs typeface="+mn-cs"/>
              </a:rPr>
              <a:t>you've learned how </a:t>
            </a:r>
            <a:r>
              <a:rPr lang="en-US" dirty="0">
                <a:latin typeface="Calibri" panose="020F0502020204030204" pitchFamily="34" charset="0"/>
              </a:rPr>
              <a:t>Amazon CloudFront will typically serve cached content from an edge location until the content expires. To solve the issue of have two copies of the data, you can control CloudFront caching behavior with a combination of CloudFront minimum TTL specifications, maximum TTL specifications, content versioning, cache-control HTTP headers, and CloudFront invalidation requests. </a:t>
            </a:r>
            <a:endParaRPr kumimoji="0" lang="en-US" b="0" i="0" u="none" strike="noStrike" kern="1200" cap="none" spc="0" normalizeH="0" baseline="0" noProof="0" dirty="0">
              <a:ln>
                <a:noFill/>
              </a:ln>
              <a:solidFill>
                <a:schemeClr val="tx1"/>
              </a:solidFill>
              <a:effectLst/>
              <a:uLnTx/>
              <a:uFillTx/>
              <a:latin typeface="Calibri" panose="020F0502020204030204" pitchFamily="34" charset="0"/>
            </a:endParaRPr>
          </a:p>
          <a:p>
            <a:pPr marL="0" marR="0" lvl="0" indent="0" defTabSz="914400" rtl="0" eaLnBrk="1" fontAlgn="auto" latinLnBrk="0" hangingPunct="1">
              <a:buClrTx/>
              <a:buSzTx/>
              <a:buFont typeface="+mj-lt"/>
              <a:buNone/>
              <a:tabLst/>
              <a:defRPr/>
            </a:pPr>
            <a:br>
              <a:rPr lang="en-US" kern="1200" dirty="0">
                <a:solidFill>
                  <a:schemeClr val="tx1"/>
                </a:solidFill>
                <a:latin typeface="Calibri" panose="020F0502020204030204" pitchFamily="34" charset="0"/>
                <a:ea typeface="+mn-ea"/>
                <a:cs typeface="+mn-cs"/>
              </a:rPr>
            </a:br>
            <a:r>
              <a:rPr lang="en-US" kern="1200" dirty="0">
                <a:solidFill>
                  <a:schemeClr val="tx1"/>
                </a:solidFill>
                <a:latin typeface="Calibri" panose="020F0502020204030204" pitchFamily="34" charset="0"/>
                <a:ea typeface="+mn-ea"/>
                <a:cs typeface="+mn-cs"/>
              </a:rPr>
              <a:t>In this module, you’ve also learned how in-memory databases are used for applications that require real-time access to data, the lowest latency, and the highest throughput. By storing data directly in memory, these databases deliver microsecond latency to applications where millisecond latency is not enough. You may use in-memory databases for application caching, session management, gaming leaderboards, and geospatial applications. </a:t>
            </a:r>
            <a:r>
              <a:rPr lang="en-US" kern="1200" dirty="0" err="1">
                <a:solidFill>
                  <a:schemeClr val="tx1"/>
                </a:solidFill>
                <a:latin typeface="Calibri" panose="020F0502020204030204" pitchFamily="34" charset="0"/>
                <a:ea typeface="+mn-ea"/>
                <a:cs typeface="+mn-cs"/>
              </a:rPr>
              <a:t>ElastiCache</a:t>
            </a:r>
            <a:r>
              <a:rPr lang="en-US" kern="1200" dirty="0">
                <a:solidFill>
                  <a:schemeClr val="tx1"/>
                </a:solidFill>
                <a:latin typeface="Calibri" panose="020F0502020204030204" pitchFamily="34" charset="0"/>
                <a:ea typeface="+mn-ea"/>
                <a:cs typeface="+mn-cs"/>
              </a:rPr>
              <a:t> is a fully managed in-memory data store that is compatible with Redis and Memcached.  </a:t>
            </a:r>
          </a:p>
          <a:p>
            <a:pPr marL="0" marR="0" lvl="0" indent="0" defTabSz="914400" rtl="0" eaLnBrk="1" fontAlgn="auto" latinLnBrk="0" hangingPunct="1">
              <a:buClrTx/>
              <a:buSzTx/>
              <a:buFontTx/>
              <a:buNone/>
              <a:tabLst/>
              <a:defRPr/>
            </a:pPr>
            <a:endParaRPr lang="en-US" kern="1200" dirty="0">
              <a:solidFill>
                <a:schemeClr val="tx1"/>
              </a:solidFill>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1" kern="1200" dirty="0">
                <a:solidFill>
                  <a:schemeClr val="tx1"/>
                </a:solidFill>
                <a:latin typeface="Calibri" panose="020F0502020204030204" pitchFamily="34" charset="0"/>
                <a:ea typeface="+mn-ea"/>
                <a:cs typeface="+mn-cs"/>
              </a:rPr>
              <a:t>Implement strategies to improve query performance in data store: </a:t>
            </a:r>
            <a:r>
              <a:rPr lang="en-US" dirty="0">
                <a:latin typeface="Calibri" panose="020F0502020204030204" pitchFamily="34" charset="0"/>
              </a:rPr>
              <a:t>Optimizing data and query performance results in more efficiency, lower cost, and improved user experience. Data optimization and query tuning are critical aspects of performance efficiency in a data store, as they impact the performance and responsiveness of the entire cloud workload. Unoptimized queries can result in greater resource usage and bottlenecks, which reduce the overall efficiency of a data store. One strategy to improve query performance is a distributed caching solution which will improve latency and reduce the number of database I/O operation.</a:t>
            </a:r>
          </a:p>
        </p:txBody>
      </p:sp>
    </p:spTree>
    <p:extLst>
      <p:ext uri="{BB962C8B-B14F-4D97-AF65-F5344CB8AC3E}">
        <p14:creationId xmlns:p14="http://schemas.microsoft.com/office/powerpoint/2010/main" val="28532339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41</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|The link to this best practice is provided in the resource document. These best practice is from the reliability pillar, best practice area “Foundations,” and topic “Plan your network topology.”</a:t>
            </a:r>
          </a:p>
          <a:p>
            <a:r>
              <a:rPr lang="en-US" dirty="0">
                <a:latin typeface="Calibri" panose="020F0502020204030204" pitchFamily="34" charset="0"/>
              </a:rPr>
              <a:t>|</a:t>
            </a:r>
            <a:endParaRPr lang="en-US" b="1" dirty="0">
              <a:latin typeface="Calibri" panose="020F0502020204030204" pitchFamily="34" charset="0"/>
            </a:endParaRPr>
          </a:p>
          <a:p>
            <a:r>
              <a:rPr lang="en-US" b="1" dirty="0">
                <a:latin typeface="Calibri" panose="020F0502020204030204" pitchFamily="34" charset="0"/>
              </a:rPr>
              <a:t>|Student notes</a:t>
            </a: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It is critical to plan, build, and operationalize highly available network connectivity for your public endpoints. If your workload becomes unreachable due to a loss in connectivity, even if your workload is running and available, your customers will see your system as down. By combining the highly available and resilient network connectivity for your workload’s public endpoints, along with a resilient architecture for your workload itself, you can provide the best possible availability and service level for your customers. To achieve this, one of the best practices is to use CDNs. </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1" kern="1200" dirty="0">
                <a:solidFill>
                  <a:schemeClr val="tx1"/>
                </a:solidFill>
                <a:latin typeface="Calibri" panose="020F0502020204030204" pitchFamily="34" charset="0"/>
                <a:ea typeface="+mn-ea"/>
                <a:cs typeface="+mn-cs"/>
              </a:rPr>
              <a:t>Use highly available network connectivity for your workload public endpoints: </a:t>
            </a:r>
            <a:r>
              <a:rPr lang="en-US" b="0" i="0" kern="1200" dirty="0">
                <a:solidFill>
                  <a:schemeClr val="tx1"/>
                </a:solidFill>
                <a:effectLst/>
                <a:latin typeface="Calibri" panose="020F0502020204030204" pitchFamily="34" charset="0"/>
                <a:ea typeface="+mn-ea"/>
                <a:cs typeface="+mn-cs"/>
              </a:rPr>
              <a:t>CloudFront provides an API for distributing content with low latency and high data transfer rates by serving requests through the use a network of edge locations around the world. CDNs serve customers by serving content located or cached at a location near the user. This also improves the availability of your application because the load for content is shifted away from your servers to CloudFront </a:t>
            </a:r>
            <a:r>
              <a:rPr lang="en-US" b="0" i="0" u="none" strike="noStrike" kern="1200" dirty="0">
                <a:solidFill>
                  <a:schemeClr val="tx1"/>
                </a:solidFill>
                <a:effectLst/>
                <a:latin typeface="Calibri" panose="020F0502020204030204" pitchFamily="34" charset="0"/>
                <a:ea typeface="+mn-ea"/>
                <a:cs typeface="+mn-cs"/>
              </a:rPr>
              <a:t>edge locations</a:t>
            </a:r>
            <a:r>
              <a:rPr lang="en-US" b="0" i="0" kern="1200" dirty="0">
                <a:solidFill>
                  <a:schemeClr val="tx1"/>
                </a:solidFill>
                <a:effectLst/>
                <a:latin typeface="Calibri" panose="020F0502020204030204" pitchFamily="34" charset="0"/>
                <a:ea typeface="+mn-ea"/>
                <a:cs typeface="+mn-cs"/>
              </a:rPr>
              <a:t>. The edge locations and Regional edge caches hold cached copies of your content close to your viewers, which results in quick retrieval and increases the reachability and availability of your workload.</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latin typeface="Calibri" panose="020F0502020204030204" pitchFamily="34" charset="0"/>
                <a:ea typeface="+mn-ea"/>
                <a:cs typeface="+mn-cs"/>
              </a:rPr>
              <a:t>In this module, you've learned how CloudFront securely delivers content across the globe and improves application resiliency from DDoS attacks. Caching content by using CloudFront increase the reliability of your customers’ access to your application.</a:t>
            </a:r>
            <a:endParaRPr lang="en-US" b="0" i="0"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0635801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42</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|The links to these best practices are provided in the resource document. These best practices are from the cost optimization pillar, the focus area “Cost-effective resources,” and the topic “Plan for data transfer.”</a:t>
            </a:r>
          </a:p>
          <a:p>
            <a:r>
              <a:rPr lang="en-US" dirty="0">
                <a:latin typeface="Calibri" panose="020F0502020204030204" pitchFamily="34" charset="0"/>
              </a:rPr>
              <a:t>|</a:t>
            </a:r>
            <a:endParaRPr lang="en-US" b="1" dirty="0">
              <a:latin typeface="Calibri" panose="020F0502020204030204" pitchFamily="34" charset="0"/>
            </a:endParaRPr>
          </a:p>
          <a:p>
            <a:r>
              <a:rPr lang="en-US" b="1" dirty="0">
                <a:latin typeface="Calibri" panose="020F0502020204030204" pitchFamily="34" charset="0"/>
              </a:rPr>
              <a:t>|Student notes</a:t>
            </a:r>
          </a:p>
          <a:p>
            <a:r>
              <a:rPr lang="en-US" b="0" i="0" kern="1200" dirty="0">
                <a:solidFill>
                  <a:schemeClr val="tx1"/>
                </a:solidFill>
                <a:effectLst/>
                <a:latin typeface="Calibri" panose="020F0502020204030204" pitchFamily="34" charset="0"/>
                <a:ea typeface="+mn-ea"/>
                <a:cs typeface="+mn-cs"/>
              </a:rPr>
              <a:t>Using the appropriate services, resources, and configurations for your workloads is key to cost savings. These best practices will help you optimize cost when caching content.</a:t>
            </a:r>
            <a:br>
              <a:rPr lang="en-US" b="0" i="0" kern="1200" dirty="0">
                <a:solidFill>
                  <a:schemeClr val="tx1"/>
                </a:solidFill>
                <a:effectLst/>
                <a:latin typeface="Calibri" panose="020F0502020204030204" pitchFamily="34" charset="0"/>
                <a:ea typeface="+mn-ea"/>
                <a:cs typeface="+mn-cs"/>
              </a:rPr>
            </a:br>
            <a:endParaRPr lang="en-US" dirty="0">
              <a:latin typeface="Calibri" panose="020F0502020204030204" pitchFamily="34" charset="0"/>
            </a:endParaRPr>
          </a:p>
          <a:p>
            <a:r>
              <a:rPr lang="en-US" b="1" kern="1200" dirty="0">
                <a:solidFill>
                  <a:schemeClr val="tx1"/>
                </a:solidFill>
                <a:latin typeface="Calibri" panose="020F0502020204030204" pitchFamily="34" charset="0"/>
                <a:ea typeface="+mn-ea"/>
                <a:cs typeface="+mn-cs"/>
              </a:rPr>
              <a:t>Perform data transfer modeling: </a:t>
            </a:r>
            <a:r>
              <a:rPr lang="en-US" b="0" i="0" kern="1200" dirty="0">
                <a:solidFill>
                  <a:schemeClr val="tx1"/>
                </a:solidFill>
                <a:effectLst/>
                <a:latin typeface="Calibri" panose="020F0502020204030204" pitchFamily="34" charset="0"/>
                <a:ea typeface="+mn-ea"/>
                <a:cs typeface="+mn-cs"/>
              </a:rPr>
              <a:t>Gather requirements and perform data transfer modeling of the workload and each of its components. This identifies the lowest cost point for its current data transfer requirements. Understand where the data transfer occurs in your workload, the cost of the transfer, and its associated benefit. You can use this information to make an informed decision to modify or accept the architectural decision. </a:t>
            </a:r>
            <a:endParaRPr lang="en-US" b="1" kern="1200" dirty="0">
              <a:solidFill>
                <a:schemeClr val="tx1"/>
              </a:solidFill>
              <a:latin typeface="Calibri" panose="020F0502020204030204" pitchFamily="34" charset="0"/>
              <a:ea typeface="+mn-ea"/>
              <a:cs typeface="+mn-cs"/>
            </a:endParaRPr>
          </a:p>
          <a:p>
            <a:endParaRPr lang="en-US" b="1" kern="1200" dirty="0">
              <a:solidFill>
                <a:schemeClr val="tx1"/>
              </a:solidFill>
              <a:latin typeface="Calibri" panose="020F0502020204030204" pitchFamily="34" charset="0"/>
              <a:ea typeface="+mn-ea"/>
              <a:cs typeface="+mn-cs"/>
            </a:endParaRPr>
          </a:p>
          <a:p>
            <a:r>
              <a:rPr lang="en-US" b="1" kern="1200" dirty="0">
                <a:solidFill>
                  <a:schemeClr val="tx1"/>
                </a:solidFill>
                <a:latin typeface="Calibri" panose="020F0502020204030204" pitchFamily="34" charset="0"/>
                <a:ea typeface="+mn-ea"/>
                <a:cs typeface="+mn-cs"/>
              </a:rPr>
              <a:t>Select components to optimize data transfer cost: </a:t>
            </a:r>
            <a:r>
              <a:rPr lang="en-US" b="0" i="0" kern="1200" dirty="0">
                <a:solidFill>
                  <a:schemeClr val="tx1"/>
                </a:solidFill>
                <a:effectLst/>
                <a:latin typeface="Calibri" panose="020F0502020204030204" pitchFamily="34" charset="0"/>
                <a:ea typeface="+mn-ea"/>
                <a:cs typeface="+mn-cs"/>
              </a:rPr>
              <a:t>Architecting for data transfer helps you minimize data transfer costs. By using the data transfer modeling, focus on where the largest data transfer costs are or where they would be if the workload usage changes. Look for alternative architectures or additional components that remove or reduce the need for data transfer or lower its cost. This may involve using CDNs to locate data closer to users. </a:t>
            </a:r>
          </a:p>
          <a:p>
            <a:pPr marL="0" marR="0" lvl="0" indent="0" defTabSz="914400" rtl="0" eaLnBrk="1" fontAlgn="auto" latinLnBrk="0" hangingPunct="1">
              <a:buClrTx/>
              <a:buSzTx/>
              <a:buFont typeface="+mj-lt"/>
              <a:buNone/>
              <a:tabLst/>
              <a:defRPr/>
            </a:pPr>
            <a:endParaRPr lang="en-US" b="1" kern="1200" dirty="0">
              <a:solidFill>
                <a:schemeClr val="tx1"/>
              </a:solidFill>
              <a:latin typeface="Calibri" panose="020F0502020204030204" pitchFamily="34" charset="0"/>
              <a:ea typeface="+mn-ea"/>
              <a:cs typeface="+mn-cs"/>
            </a:endParaRPr>
          </a:p>
          <a:p>
            <a:pPr marL="0" marR="0" lvl="0" indent="0" defTabSz="914400" rtl="0" eaLnBrk="1" fontAlgn="auto" latinLnBrk="0" hangingPunct="1">
              <a:buClrTx/>
              <a:buSzTx/>
              <a:buFont typeface="+mj-lt"/>
              <a:buNone/>
              <a:tabLst/>
              <a:defRPr/>
            </a:pPr>
            <a:r>
              <a:rPr lang="en-US" b="1" kern="1200" dirty="0">
                <a:solidFill>
                  <a:schemeClr val="tx1"/>
                </a:solidFill>
                <a:latin typeface="Calibri" panose="020F0502020204030204" pitchFamily="34" charset="0"/>
                <a:ea typeface="+mn-ea"/>
                <a:cs typeface="+mn-cs"/>
              </a:rPr>
              <a:t>Implement services to reduce data transfer costs: </a:t>
            </a:r>
            <a:r>
              <a:rPr lang="en-US" b="0" kern="1200" dirty="0">
                <a:solidFill>
                  <a:schemeClr val="tx1"/>
                </a:solidFill>
                <a:latin typeface="Calibri" panose="020F0502020204030204" pitchFamily="34" charset="0"/>
                <a:ea typeface="+mn-ea"/>
                <a:cs typeface="+mn-cs"/>
              </a:rPr>
              <a:t>You can </a:t>
            </a:r>
            <a:r>
              <a:rPr lang="en-US" b="0" i="0" kern="1200" dirty="0">
                <a:solidFill>
                  <a:schemeClr val="tx1"/>
                </a:solidFill>
                <a:effectLst/>
                <a:latin typeface="Calibri" panose="020F0502020204030204" pitchFamily="34" charset="0"/>
                <a:ea typeface="+mn-ea"/>
                <a:cs typeface="+mn-cs"/>
              </a:rPr>
              <a:t>use edge locations or CDNs to deliver content to end users or build caching layers in front of your application servers or databases. Depending on your workload components, type, and cloud architecture, a variety of services can assist you in compressing, caching, and sharing and distributing your traffic on the cloud. </a:t>
            </a:r>
            <a:r>
              <a:rPr lang="en-US" b="0" i="0" u="none" strike="noStrike" kern="1200" dirty="0">
                <a:solidFill>
                  <a:schemeClr val="tx1"/>
                </a:solidFill>
                <a:effectLst/>
                <a:latin typeface="Calibri" panose="020F0502020204030204" pitchFamily="34" charset="0"/>
                <a:ea typeface="+mn-ea"/>
                <a:cs typeface="+mn-cs"/>
              </a:rPr>
              <a:t>CloudFront </a:t>
            </a:r>
            <a:r>
              <a:rPr lang="en-US" b="0" i="0" kern="1200" dirty="0">
                <a:solidFill>
                  <a:schemeClr val="tx1"/>
                </a:solidFill>
                <a:effectLst/>
                <a:latin typeface="Calibri" panose="020F0502020204030204" pitchFamily="34" charset="0"/>
                <a:ea typeface="+mn-ea"/>
                <a:cs typeface="+mn-cs"/>
              </a:rPr>
              <a:t>caches data at edge locations across the world, which reduces the load on your resources. By using CloudFront, you can reduce the administrative effort to deliver content to large numbers of users globally with minimum latency. The security savings bundle can help you save up to 30 percent on your CloudFront usage if you plan to grow your usage over time.</a:t>
            </a:r>
          </a:p>
          <a:p>
            <a:pPr marL="0" indent="0">
              <a:buFont typeface="+mj-lt"/>
              <a:buNone/>
            </a:pPr>
            <a:r>
              <a:rPr lang="en-US" b="1" kern="1200" dirty="0">
                <a:solidFill>
                  <a:schemeClr val="tx1"/>
                </a:solidFill>
                <a:latin typeface="Calibri" panose="020F0502020204030204" pitchFamily="34" charset="0"/>
                <a:ea typeface="+mn-ea"/>
                <a:cs typeface="+mn-cs"/>
              </a:rPr>
              <a:t> </a:t>
            </a:r>
            <a:endParaRPr lang="en-US" dirty="0">
              <a:latin typeface="Calibri" panose="020F0502020204030204" pitchFamily="34" charset="0"/>
            </a:endParaRPr>
          </a:p>
          <a:p>
            <a:pPr marL="0" indent="0">
              <a:buFont typeface="+mj-lt"/>
              <a:buNone/>
            </a:pPr>
            <a:r>
              <a:rPr lang="en-US" dirty="0">
                <a:latin typeface="Calibri" panose="020F0502020204030204" pitchFamily="34" charset="0"/>
              </a:rPr>
              <a:t>In this module, one way you’ve learned how to optimize costs with caching is by controlling how long content is cached. </a:t>
            </a:r>
            <a:r>
              <a:rPr lang="en-US" b="0" i="0" kern="1200" dirty="0">
                <a:solidFill>
                  <a:schemeClr val="tx1"/>
                </a:solidFill>
                <a:effectLst/>
                <a:latin typeface="Calibri" panose="020F0502020204030204" pitchFamily="34" charset="0"/>
                <a:ea typeface="+mn-ea"/>
                <a:cs typeface="+mn-cs"/>
              </a:rPr>
              <a:t>You can control CloudFront caching behavior with a combination of CloudFront minimum TTL specifications, maximum TTL specifications, content versioning, cache-control HTTP headers, and CloudFront invalidation requests. W</a:t>
            </a:r>
            <a:r>
              <a:rPr lang="en-US" dirty="0">
                <a:latin typeface="Calibri" panose="020F0502020204030204" pitchFamily="34" charset="0"/>
              </a:rPr>
              <a:t>hen implementing caching, consider an appropriate strategy for ensuring that you provide accurate results.</a:t>
            </a:r>
            <a:endParaRPr lang="en-US" b="0" i="0" kern="1200" dirty="0">
              <a:solidFill>
                <a:schemeClr val="tx1"/>
              </a:solidFill>
              <a:effectLst/>
              <a:latin typeface="Calibri" panose="020F0502020204030204" pitchFamily="34" charset="0"/>
              <a:ea typeface="+mn-ea"/>
              <a:cs typeface="+mn-cs"/>
            </a:endParaRPr>
          </a:p>
        </p:txBody>
      </p:sp>
    </p:spTree>
    <p:extLst>
      <p:ext uri="{BB962C8B-B14F-4D97-AF65-F5344CB8AC3E}">
        <p14:creationId xmlns:p14="http://schemas.microsoft.com/office/powerpoint/2010/main" val="20606484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43</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|This is not an exhaustive list of best practices as covered in the AWS Well-Architected best practices. These are key takeaways to explain best practices covered in the module. A link is on the content resources page of your online course.</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8449454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marR="0" lvl="0" indent="0" defTabSz="914400" rtl="0" eaLnBrk="1" fontAlgn="auto" latinLnBrk="0" hangingPunct="1">
              <a:buClrTx/>
              <a:buSzTx/>
              <a:buFontTx/>
              <a:buNone/>
              <a:tabLst/>
              <a:defRPr/>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marR="0" lvl="0" indent="0" defTabSz="914400" rtl="0" eaLnBrk="1" fontAlgn="auto" latinLnBrk="0" hangingPunct="1">
                <a:buClrTx/>
                <a:buSzTx/>
                <a:buFontTx/>
                <a:buNone/>
                <a:tabLst/>
                <a:defRPr/>
              </a:pPr>
              <a:t>44</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This section summarizes what you have learned and brings the module to a close.</a:t>
            </a:r>
          </a:p>
        </p:txBody>
      </p:sp>
    </p:spTree>
    <p:extLst>
      <p:ext uri="{BB962C8B-B14F-4D97-AF65-F5344CB8AC3E}">
        <p14:creationId xmlns:p14="http://schemas.microsoft.com/office/powerpoint/2010/main" val="3090606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45</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p:txBody>
      </p:sp>
    </p:spTree>
    <p:extLst>
      <p:ext uri="{BB962C8B-B14F-4D97-AF65-F5344CB8AC3E}">
        <p14:creationId xmlns:p14="http://schemas.microsoft.com/office/powerpoint/2010/main" val="41876016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endParaRPr lang="en-US" dirty="0">
              <a:latin typeface="Calibri" panose="020F0502020204030204" pitchFamily="34" charset="0"/>
            </a:endParaRPr>
          </a:p>
        </p:txBody>
      </p:sp>
    </p:spTree>
    <p:extLst>
      <p:ext uri="{BB962C8B-B14F-4D97-AF65-F5344CB8AC3E}">
        <p14:creationId xmlns:p14="http://schemas.microsoft.com/office/powerpoint/2010/main" val="30321205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47</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Use your online course to access the knowledge check for this module.</a:t>
            </a:r>
          </a:p>
        </p:txBody>
      </p:sp>
    </p:spTree>
    <p:extLst>
      <p:ext uri="{BB962C8B-B14F-4D97-AF65-F5344CB8AC3E}">
        <p14:creationId xmlns:p14="http://schemas.microsoft.com/office/powerpoint/2010/main" val="35205616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48</a:t>
            </a:fld>
            <a:r>
              <a:rPr lang="en-US" b="1" dirty="0">
                <a:latin typeface="Calibri" panose="020F0502020204030204" pitchFamily="34" charset="0"/>
              </a:rPr>
              <a:t> </a:t>
            </a:r>
          </a:p>
          <a:p>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|The key words section is animated to be revealed on click. Point out the requirements as stated in the question. Example: The question implies the need for some type of caching solution based on the desired outcome of dealing with performance issues in a cost-effective way. </a:t>
            </a:r>
          </a:p>
          <a:p>
            <a:pPr marL="0" marR="0" lvl="0" indent="0" defTabSz="914400" rtl="0" eaLnBrk="1" fontAlgn="auto" latinLnBrk="0" hangingPunct="1">
              <a:buClrTx/>
              <a:buSzTx/>
              <a:buFontTx/>
              <a:buNone/>
              <a:tabLst/>
              <a:defRPr/>
            </a:pPr>
            <a:r>
              <a:rPr lang="en-US" dirty="0">
                <a:latin typeface="Calibri" panose="020F0502020204030204" pitchFamily="34" charset="0"/>
              </a:rPr>
              <a:t>|</a:t>
            </a:r>
            <a:br>
              <a:rPr lang="en-US" dirty="0">
                <a:latin typeface="Calibri" panose="020F0502020204030204" pitchFamily="34" charset="0"/>
              </a:rPr>
            </a:br>
            <a:r>
              <a:rPr lang="en-US" b="1" dirty="0">
                <a:latin typeface="Calibri" panose="020F0502020204030204" pitchFamily="34" charset="0"/>
              </a:rPr>
              <a:t>|Student notes</a:t>
            </a:r>
          </a:p>
        </p:txBody>
      </p:sp>
    </p:spTree>
    <p:extLst>
      <p:ext uri="{BB962C8B-B14F-4D97-AF65-F5344CB8AC3E}">
        <p14:creationId xmlns:p14="http://schemas.microsoft.com/office/powerpoint/2010/main" val="33602162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49</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Use the key words that you identified on the previous slide, and review each of the possible responses to determine which one best addresses the question.</a:t>
            </a:r>
          </a:p>
        </p:txBody>
      </p:sp>
    </p:spTree>
    <p:extLst>
      <p:ext uri="{BB962C8B-B14F-4D97-AF65-F5344CB8AC3E}">
        <p14:creationId xmlns:p14="http://schemas.microsoft.com/office/powerpoint/2010/main" val="20592899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50</a:t>
            </a:fld>
            <a:r>
              <a:rPr lang="en-US" b="1" dirty="0">
                <a:latin typeface="Calibri" panose="020F0502020204030204" pitchFamily="34" charset="0"/>
              </a:rPr>
              <a:t> </a:t>
            </a:r>
          </a:p>
          <a:p>
            <a:r>
              <a:rPr lang="en-US" b="1" dirty="0">
                <a:latin typeface="Calibri" panose="020F0502020204030204" pitchFamily="34" charset="0"/>
              </a:rPr>
              <a:t>|Instructor notes</a:t>
            </a:r>
          </a:p>
          <a:p>
            <a:r>
              <a:rPr lang="en-US" dirty="0">
                <a:latin typeface="Calibri" panose="020F0502020204030204" pitchFamily="34" charset="0"/>
              </a:rPr>
              <a:t>|</a:t>
            </a:r>
          </a:p>
          <a:p>
            <a:r>
              <a:rPr lang="en-US" b="1" dirty="0">
                <a:latin typeface="Calibri" panose="020F0502020204030204" pitchFamily="34" charset="0"/>
              </a:rPr>
              <a:t>|Student notes</a:t>
            </a:r>
          </a:p>
          <a:p>
            <a:r>
              <a:rPr lang="en-US" dirty="0">
                <a:latin typeface="Calibri" panose="020F0502020204030204" pitchFamily="34" charset="0"/>
              </a:rPr>
              <a:t>Choice A (Enable the Multi-AZ feature </a:t>
            </a:r>
            <a:r>
              <a:rPr lang="en-US" dirty="0">
                <a:solidFill>
                  <a:srgbClr val="232F3E"/>
                </a:solidFill>
                <a:latin typeface="Calibri" panose="020F0502020204030204" pitchFamily="34" charset="0"/>
              </a:rPr>
              <a:t>for the Amazon RDS database</a:t>
            </a:r>
            <a:r>
              <a:rPr lang="en-US" dirty="0">
                <a:latin typeface="Calibri" panose="020F0502020204030204" pitchFamily="34" charset="0"/>
              </a:rPr>
              <a:t>) would provide high availability but would not improve database performance. </a:t>
            </a:r>
          </a:p>
          <a:p>
            <a:endParaRPr lang="en-US" dirty="0">
              <a:latin typeface="Calibri" panose="020F0502020204030204" pitchFamily="34" charset="0"/>
            </a:endParaRPr>
          </a:p>
          <a:p>
            <a:r>
              <a:rPr lang="en-US" dirty="0">
                <a:latin typeface="Calibri" panose="020F0502020204030204" pitchFamily="34" charset="0"/>
              </a:rPr>
              <a:t>Choice C (Place a load balancer in front of the database) would not impact database performance.</a:t>
            </a:r>
          </a:p>
          <a:p>
            <a:endParaRPr lang="en-US" dirty="0">
              <a:latin typeface="Calibri" panose="020F0502020204030204" pitchFamily="34" charset="0"/>
            </a:endParaRPr>
          </a:p>
          <a:p>
            <a:r>
              <a:rPr lang="en-US" dirty="0">
                <a:latin typeface="Calibri" panose="020F0502020204030204" pitchFamily="34" charset="0"/>
              </a:rPr>
              <a:t>Choice D (Configure Amazon CloudFront </a:t>
            </a:r>
            <a:r>
              <a:rPr lang="en-US" dirty="0">
                <a:solidFill>
                  <a:srgbClr val="232F3E"/>
                </a:solidFill>
                <a:latin typeface="Calibri" panose="020F0502020204030204" pitchFamily="34" charset="0"/>
              </a:rPr>
              <a:t>to cache content from the database</a:t>
            </a:r>
            <a:r>
              <a:rPr lang="en-US" dirty="0">
                <a:latin typeface="Calibri" panose="020F0502020204030204" pitchFamily="34" charset="0"/>
              </a:rPr>
              <a:t>) would not improve performance because CloudFront is not used for database caching. </a:t>
            </a:r>
          </a:p>
          <a:p>
            <a:endParaRPr lang="en-US" dirty="0">
              <a:latin typeface="Calibri" panose="020F0502020204030204" pitchFamily="34" charset="0"/>
            </a:endParaRPr>
          </a:p>
          <a:p>
            <a:pPr marL="0" marR="0" lvl="0" indent="0" defTabSz="914400" rtl="0" eaLnBrk="1" fontAlgn="auto" latinLnBrk="0" hangingPunct="1">
              <a:buClrTx/>
              <a:buSzTx/>
              <a:buFontTx/>
              <a:buNone/>
              <a:tabLst/>
              <a:defRPr/>
            </a:pPr>
            <a:r>
              <a:rPr lang="en-US" dirty="0">
                <a:latin typeface="Calibri" panose="020F0502020204030204" pitchFamily="34" charset="0"/>
              </a:rPr>
              <a:t>Choice B (Configure Amazon ElastiCache to cache frequently used content from the database) is the best choice. This option will reduce the amount of traffic being sent to the database.</a:t>
            </a:r>
          </a:p>
        </p:txBody>
      </p:sp>
    </p:spTree>
    <p:extLst>
      <p:ext uri="{BB962C8B-B14F-4D97-AF65-F5344CB8AC3E}">
        <p14:creationId xmlns:p14="http://schemas.microsoft.com/office/powerpoint/2010/main" val="9637890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60438" y="741363"/>
            <a:ext cx="4940300" cy="2779712"/>
          </a:xfrm>
        </p:spPr>
      </p:sp>
      <p:sp>
        <p:nvSpPr>
          <p:cNvPr id="3" name="Notes Placeholder 2"/>
          <p:cNvSpPr>
            <a:spLocks noGrp="1"/>
          </p:cNvSpPr>
          <p:nvPr>
            <p:ph type="body" idx="1"/>
          </p:nvPr>
        </p:nvSpPr>
        <p:spPr>
          <a:xfrm>
            <a:off x="365760" y="3630168"/>
            <a:ext cx="6126480" cy="4773168"/>
          </a:xfrm>
        </p:spPr>
        <p:txBody>
          <a:bodyPr/>
          <a:lstStyle/>
          <a:p>
            <a:pPr marL="0" indent="0">
              <a:buNone/>
            </a:pPr>
            <a:r>
              <a:rPr lang="en-US" b="1">
                <a:latin typeface="Calibri" panose="020F0502020204030204" pitchFamily="34" charset="0"/>
              </a:rPr>
              <a:t>|</a:t>
            </a:r>
            <a:r>
              <a:rPr lang="en-US" b="1" dirty="0">
                <a:latin typeface="Calibri" panose="020F0502020204030204" pitchFamily="34" charset="0"/>
              </a:rPr>
              <a:t>Slide number </a:t>
            </a:r>
            <a:fld id="{8664C272-6569-4216-A95E-54311E5C5ED8}" type="slidenum">
              <a:rPr lang="en-US" b="1" smtClean="0">
                <a:latin typeface="Calibri" panose="020F0502020204030204" pitchFamily="34" charset="0"/>
              </a:rPr>
              <a:pPr marL="0" indent="0">
                <a:buNone/>
              </a:pPr>
              <a:t>51</a:t>
            </a:fld>
            <a:r>
              <a:rPr lang="en-US" b="1" dirty="0">
                <a:latin typeface="Calibri" panose="020F0502020204030204" pitchFamily="34" charset="0"/>
              </a:rPr>
              <a:t> </a:t>
            </a:r>
          </a:p>
          <a:p>
            <a:pPr marL="0" marR="0" lvl="0" indent="0" defTabSz="914400" rtl="0" eaLnBrk="1" fontAlgn="auto" latinLnBrk="0" hangingPunct="1">
              <a:buClrTx/>
              <a:buSzTx/>
              <a:buFontTx/>
              <a:buNone/>
              <a:tabLst/>
              <a:defRPr/>
            </a:pPr>
            <a:r>
              <a:rPr lang="en-US" b="1" dirty="0">
                <a:latin typeface="Calibri" panose="020F0502020204030204" pitchFamily="34" charset="0"/>
              </a:rPr>
              <a:t>|Instructor notes</a:t>
            </a:r>
          </a:p>
          <a:p>
            <a:pPr marL="0" marR="0" lvl="0" indent="0" defTabSz="914400" rtl="0" eaLnBrk="1" fontAlgn="auto" latinLnBrk="0" hangingPunct="1">
              <a:buClrTx/>
              <a:buSzTx/>
              <a:buFontTx/>
              <a:buNone/>
              <a:tabLst/>
              <a:defRPr/>
            </a:pPr>
            <a:r>
              <a:rPr lang="en-US" dirty="0">
                <a:latin typeface="Calibri" panose="020F0502020204030204" pitchFamily="34" charset="0"/>
              </a:rPr>
              <a:t>|</a:t>
            </a:r>
          </a:p>
          <a:p>
            <a:pPr marL="0" marR="0" lvl="0" indent="0" defTabSz="914400" rtl="0" eaLnBrk="1" fontAlgn="auto" latinLnBrk="0" hangingPunct="1">
              <a:buClrTx/>
              <a:buSzTx/>
              <a:buFontTx/>
              <a:buNone/>
              <a:tabLst/>
              <a:defRPr/>
            </a:pPr>
            <a:r>
              <a:rPr lang="en-US" b="1" dirty="0">
                <a:latin typeface="Calibri" panose="020F0502020204030204" pitchFamily="34" charset="0"/>
              </a:rPr>
              <a:t>|Student notes</a:t>
            </a:r>
          </a:p>
          <a:p>
            <a:pPr marL="0" marR="0" lvl="0" indent="0" defTabSz="914400" rtl="0" eaLnBrk="1" fontAlgn="auto" latinLnBrk="0" hangingPunct="1">
              <a:buClrTx/>
              <a:buSzTx/>
              <a:buFontTx/>
              <a:buNone/>
              <a:tabLst/>
              <a:defRPr/>
            </a:pPr>
            <a:r>
              <a:rPr lang="en-US" dirty="0">
                <a:latin typeface="Calibri" panose="020F0502020204030204" pitchFamily="34" charset="0"/>
              </a:rPr>
              <a:t>That concludes this module. The Content Resources page of your course includes links to additional resources that are related to this module.</a:t>
            </a:r>
          </a:p>
        </p:txBody>
      </p:sp>
    </p:spTree>
    <p:extLst>
      <p:ext uri="{BB962C8B-B14F-4D97-AF65-F5344CB8AC3E}">
        <p14:creationId xmlns:p14="http://schemas.microsoft.com/office/powerpoint/2010/main" val="35068125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12.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12.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12.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12.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12.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4.png"/></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1051560"/>
            <a:ext cx="11375136"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2772920"/>
            <a:ext cx="5500255" cy="175564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A2C3C3E5-7849-41DF-885A-361FFB68A8BE}"/>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extLst>
      <p:ext uri="{BB962C8B-B14F-4D97-AF65-F5344CB8AC3E}">
        <p14:creationId xmlns:p14="http://schemas.microsoft.com/office/powerpoint/2010/main" val="2763996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aria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chemeClr val="bg1"/>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03472"/>
            <a:ext cx="8946292" cy="1673352"/>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Module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4224832"/>
            <a:ext cx="8946292"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Course Title</a:t>
            </a:r>
          </a:p>
        </p:txBody>
      </p:sp>
      <p:pic>
        <p:nvPicPr>
          <p:cNvPr id="4" name="Copyright2">
            <a:extLst>
              <a:ext uri="{FF2B5EF4-FFF2-40B4-BE49-F238E27FC236}">
                <a16:creationId xmlns:a16="http://schemas.microsoft.com/office/drawing/2014/main" id="{D92B13EB-841E-4A00-B345-D5601EDE0664}"/>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2451233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6456405"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body" idx="2" hasCustomPrompt="1"/>
          </p:nvPr>
        </p:nvSpPr>
        <p:spPr>
          <a:xfrm>
            <a:off x="457200" y="5040376"/>
            <a:ext cx="6456405"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2">
            <a:extLst>
              <a:ext uri="{FF2B5EF4-FFF2-40B4-BE49-F238E27FC236}">
                <a16:creationId xmlns:a16="http://schemas.microsoft.com/office/drawing/2014/main" id="{0D082EC7-0F32-4BFC-8B4A-CF754ECE0188}"/>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1151752" y="6446520"/>
            <a:ext cx="4610100" cy="311150"/>
          </a:xfrm>
          <a:prstGeom prst="rect">
            <a:avLst/>
          </a:prstGeom>
        </p:spPr>
      </p:pic>
    </p:spTree>
    <p:extLst>
      <p:ext uri="{BB962C8B-B14F-4D97-AF65-F5344CB8AC3E}">
        <p14:creationId xmlns:p14="http://schemas.microsoft.com/office/powerpoint/2010/main" val="3149451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Slide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D95C62C-EA11-4B27-9639-F8BCE11725B6}"/>
              </a:ext>
            </a:extLst>
          </p:cNvPr>
          <p:cNvSpPr>
            <a:spLocks noGrp="1"/>
          </p:cNvSpPr>
          <p:nvPr>
            <p:ph type="title" idx="1" hasCustomPrompt="1"/>
          </p:nvPr>
        </p:nvSpPr>
        <p:spPr>
          <a:xfrm>
            <a:off x="457200" y="2545492"/>
            <a:ext cx="11375136" cy="2446876"/>
          </a:xfrm>
        </p:spPr>
        <p:txBody>
          <a:bodyPr anchor="b">
            <a:normAutofit/>
          </a:bodyPr>
          <a:lstStyle>
            <a:lvl1pPr algn="l">
              <a:spcBef>
                <a:spcPts val="0"/>
              </a:spcBef>
              <a:spcAft>
                <a:spcPts val="0"/>
              </a:spcAft>
              <a:defRPr sz="4800">
                <a:solidFill>
                  <a:schemeClr val="bg1"/>
                </a:solidFill>
                <a:latin typeface="Amazon Ember Display Heavy"/>
              </a:defRPr>
            </a:lvl1pPr>
          </a:lstStyle>
          <a:p>
            <a:r>
              <a:rPr lang="en-US" dirty="0"/>
              <a:t>Enter section title</a:t>
            </a:r>
          </a:p>
        </p:txBody>
      </p:sp>
      <p:sp>
        <p:nvSpPr>
          <p:cNvPr id="2" name="Subtitle">
            <a:extLst>
              <a:ext uri="{FF2B5EF4-FFF2-40B4-BE49-F238E27FC236}">
                <a16:creationId xmlns:a16="http://schemas.microsoft.com/office/drawing/2014/main" id="{5306A075-06B6-4644-A82F-DAE4D29918FB}"/>
              </a:ext>
            </a:extLst>
          </p:cNvPr>
          <p:cNvSpPr>
            <a:spLocks noGrp="1"/>
          </p:cNvSpPr>
          <p:nvPr>
            <p:ph type="subTitle" idx="2" hasCustomPrompt="1"/>
          </p:nvPr>
        </p:nvSpPr>
        <p:spPr>
          <a:xfrm>
            <a:off x="457200" y="5040376"/>
            <a:ext cx="11375136" cy="995898"/>
          </a:xfrm>
        </p:spPr>
        <p:txBody>
          <a:bodyPr>
            <a:normAutofit/>
          </a:bodyPr>
          <a:lstStyle>
            <a:lvl1pPr marL="0" indent="0" algn="l">
              <a:spcBef>
                <a:spcPts val="0"/>
              </a:spcBef>
              <a:spcAft>
                <a:spcPts val="0"/>
              </a:spcAft>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Module Title</a:t>
            </a:r>
          </a:p>
        </p:txBody>
      </p:sp>
      <p:pic>
        <p:nvPicPr>
          <p:cNvPr id="6" name="Copyright1">
            <a:extLst>
              <a:ext uri="{FF2B5EF4-FFF2-40B4-BE49-F238E27FC236}">
                <a16:creationId xmlns:a16="http://schemas.microsoft.com/office/drawing/2014/main" id="{778EE4E8-00C6-48DD-8835-1470B6038F0A}"/>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custDataLst>
      <p:tags r:id="rId1"/>
    </p:custDataLst>
    <p:extLst>
      <p:ext uri="{BB962C8B-B14F-4D97-AF65-F5344CB8AC3E}">
        <p14:creationId xmlns:p14="http://schemas.microsoft.com/office/powerpoint/2010/main" val="116093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Module Out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ABD6F48-2C14-445B-9FF5-34BB44186A53}"/>
              </a:ext>
            </a:extLst>
          </p:cNvPr>
          <p:cNvSpPr>
            <a:spLocks noGrp="1"/>
          </p:cNvSpPr>
          <p:nvPr>
            <p:ph type="sldNum" idx="97"/>
          </p:nvPr>
        </p:nvSpPr>
        <p:spPr>
          <a:xfrm>
            <a:off x="11347704" y="6446520"/>
            <a:ext cx="484632" cy="228600"/>
          </a:xfrm>
        </p:spPr>
        <p:txBody>
          <a:bodyPr/>
          <a:lstStyle>
            <a:lvl1pPr>
              <a:defRPr>
                <a:solidFill>
                  <a:srgbClr val="232F3E"/>
                </a:solidFill>
                <a:latin typeface="+mn-lt"/>
              </a:defRPr>
            </a:lvl1pPr>
          </a:lstStyle>
          <a:p>
            <a:fld id="{4037B1B0-0345-4E15-985A-6BECCDBE474F}" type="slidenum">
              <a:rPr lang="en-US" smtClean="0"/>
              <a:pPr/>
              <a:t>‹#›</a:t>
            </a:fld>
            <a:endParaRPr lang="en-US" dirty="0"/>
          </a:p>
        </p:txBody>
      </p:sp>
      <p:sp>
        <p:nvSpPr>
          <p:cNvPr id="2" name="Module  Title">
            <a:extLst>
              <a:ext uri="{FF2B5EF4-FFF2-40B4-BE49-F238E27FC236}">
                <a16:creationId xmlns:a16="http://schemas.microsoft.com/office/drawing/2014/main" id="{3994D76F-ED98-46E1-ABB9-199672C46C02}"/>
              </a:ext>
            </a:extLst>
          </p:cNvPr>
          <p:cNvSpPr>
            <a:spLocks noGrp="1"/>
          </p:cNvSpPr>
          <p:nvPr>
            <p:ph type="body" idx="2" hasCustomPrompt="1"/>
          </p:nvPr>
        </p:nvSpPr>
        <p:spPr>
          <a:xfrm>
            <a:off x="365760" y="1123950"/>
            <a:ext cx="11634787" cy="388938"/>
          </a:xfrm>
        </p:spPr>
        <p:txBody>
          <a:bodyPr anchor="ctr" anchorCtr="0">
            <a:noAutofit/>
          </a:bodyPr>
          <a:lstStyle>
            <a:lvl1pPr marL="0" indent="0">
              <a:spcBef>
                <a:spcPts val="0"/>
              </a:spcBef>
              <a:spcAft>
                <a:spcPts val="0"/>
              </a:spcAft>
              <a:buNone/>
              <a:defRPr sz="2000">
                <a:solidFill>
                  <a:schemeClr val="bg1"/>
                </a:solidFill>
                <a:latin typeface="+mn-lt"/>
              </a:defRPr>
            </a:lvl1pPr>
          </a:lstStyle>
          <a:p>
            <a:pPr lvl="0"/>
            <a:r>
              <a:rPr lang="en-US" dirty="0"/>
              <a:t>Enter Module Title</a:t>
            </a:r>
          </a:p>
        </p:txBody>
      </p:sp>
      <p:sp>
        <p:nvSpPr>
          <p:cNvPr id="4" name="Section Title">
            <a:extLst>
              <a:ext uri="{FF2B5EF4-FFF2-40B4-BE49-F238E27FC236}">
                <a16:creationId xmlns:a16="http://schemas.microsoft.com/office/drawing/2014/main" id="{44A0A5D8-940C-44D0-9D06-4C68FEF7413D}"/>
              </a:ext>
            </a:extLst>
          </p:cNvPr>
          <p:cNvSpPr>
            <a:spLocks noGrp="1"/>
          </p:cNvSpPr>
          <p:nvPr>
            <p:ph type="title" idx="1" hasCustomPrompt="1"/>
          </p:nvPr>
        </p:nvSpPr>
        <p:spPr>
          <a:xfrm>
            <a:off x="365760" y="1541983"/>
            <a:ext cx="8547012" cy="1188720"/>
          </a:xfrm>
        </p:spPr>
        <p:txBody>
          <a:bodyPr/>
          <a:lstStyle>
            <a:lvl1pPr>
              <a:spcBef>
                <a:spcPts val="0"/>
              </a:spcBef>
              <a:spcAft>
                <a:spcPts val="0"/>
              </a:spcAft>
              <a:defRPr>
                <a:solidFill>
                  <a:schemeClr val="bg1"/>
                </a:solidFill>
                <a:latin typeface="Amazon Ember Display Heavy"/>
              </a:defRPr>
            </a:lvl1pPr>
          </a:lstStyle>
          <a:p>
            <a:r>
              <a:rPr lang="en-US" dirty="0"/>
              <a:t>Enter section title</a:t>
            </a:r>
          </a:p>
        </p:txBody>
      </p:sp>
      <p:sp>
        <p:nvSpPr>
          <p:cNvPr id="3" name="Module Outline">
            <a:extLst>
              <a:ext uri="{FF2B5EF4-FFF2-40B4-BE49-F238E27FC236}">
                <a16:creationId xmlns:a16="http://schemas.microsoft.com/office/drawing/2014/main" id="{91A6C2FB-ED41-4361-926E-A4180B7A0A60}"/>
              </a:ext>
            </a:extLst>
          </p:cNvPr>
          <p:cNvSpPr>
            <a:spLocks noGrp="1"/>
          </p:cNvSpPr>
          <p:nvPr>
            <p:ph type="body" idx="3" hasCustomPrompt="1"/>
          </p:nvPr>
        </p:nvSpPr>
        <p:spPr>
          <a:xfrm>
            <a:off x="914400" y="2743200"/>
            <a:ext cx="7998372" cy="3657600"/>
          </a:xfrm>
        </p:spPr>
        <p:txBody>
          <a:bodyPr/>
          <a:lstStyle>
            <a:lvl1pPr marL="0" indent="0">
              <a:spcBef>
                <a:spcPts val="0"/>
              </a:spcBef>
              <a:spcAft>
                <a:spcPts val="600"/>
              </a:spcAft>
              <a:buNone/>
              <a:defRPr>
                <a:solidFill>
                  <a:schemeClr val="bg1"/>
                </a:solidFill>
                <a:latin typeface="+mn-lt"/>
              </a:defRPr>
            </a:lvl1pPr>
          </a:lstStyle>
          <a:p>
            <a:pPr lvl="0"/>
            <a:r>
              <a:rPr lang="en-US" dirty="0"/>
              <a:t>Enter topic list</a:t>
            </a:r>
          </a:p>
        </p:txBody>
      </p:sp>
      <p:pic>
        <p:nvPicPr>
          <p:cNvPr id="7" name="Copyright1">
            <a:extLst>
              <a:ext uri="{FF2B5EF4-FFF2-40B4-BE49-F238E27FC236}">
                <a16:creationId xmlns:a16="http://schemas.microsoft.com/office/drawing/2014/main" id="{90A2DFBB-3003-4080-87A9-825455A89862}"/>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19"/>
            <a:ext cx="4610100" cy="311150"/>
          </a:xfrm>
          <a:prstGeom prst="rect">
            <a:avLst/>
          </a:prstGeom>
        </p:spPr>
      </p:pic>
    </p:spTree>
    <p:extLst>
      <p:ext uri="{BB962C8B-B14F-4D97-AF65-F5344CB8AC3E}">
        <p14:creationId xmlns:p14="http://schemas.microsoft.com/office/powerpoint/2010/main" val="1231458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FEA5D771-1E37-4674-A454-5B6A887E81B8}"/>
              </a:ext>
            </a:extLst>
          </p:cNvPr>
          <p:cNvSpPr>
            <a:spLocks noGrp="1"/>
          </p:cNvSpPr>
          <p:nvPr>
            <p:ph type="title" idx="1" hasCustomPrompt="1"/>
          </p:nvPr>
        </p:nvSpPr>
        <p:spPr>
          <a:xfrm>
            <a:off x="365760" y="1709738"/>
            <a:ext cx="11472013" cy="3609846"/>
          </a:xfrm>
        </p:spPr>
        <p:txBody>
          <a:bodyPr anchor="ctr">
            <a:normAutofit/>
          </a:bodyPr>
          <a:lstStyle>
            <a:lvl1pPr>
              <a:spcBef>
                <a:spcPts val="0"/>
              </a:spcBef>
              <a:spcAft>
                <a:spcPts val="0"/>
              </a:spcAft>
              <a:defRPr sz="4000">
                <a:solidFill>
                  <a:schemeClr val="bg1"/>
                </a:solidFill>
                <a:latin typeface="Amazon Ember Display Heavy"/>
              </a:defRPr>
            </a:lvl1pPr>
          </a:lstStyle>
          <a:p>
            <a:r>
              <a:rPr lang="en-US" dirty="0"/>
              <a:t>“Enter quote”</a:t>
            </a:r>
          </a:p>
        </p:txBody>
      </p:sp>
      <p:sp>
        <p:nvSpPr>
          <p:cNvPr id="2" name="Attribution">
            <a:extLst>
              <a:ext uri="{FF2B5EF4-FFF2-40B4-BE49-F238E27FC236}">
                <a16:creationId xmlns:a16="http://schemas.microsoft.com/office/drawing/2014/main" id="{0DEABB21-C29F-4E2E-AADE-6FBA5EF95AF4}"/>
              </a:ext>
            </a:extLst>
          </p:cNvPr>
          <p:cNvSpPr>
            <a:spLocks noGrp="1"/>
          </p:cNvSpPr>
          <p:nvPr>
            <p:ph type="body" idx="2" hasCustomPrompt="1"/>
          </p:nvPr>
        </p:nvSpPr>
        <p:spPr>
          <a:xfrm>
            <a:off x="365760" y="5319584"/>
            <a:ext cx="11472013" cy="770066"/>
          </a:xfrm>
        </p:spPr>
        <p:txBody>
          <a:bodyPr/>
          <a:lstStyle>
            <a:lvl1pPr marL="0" indent="0">
              <a:spcBef>
                <a:spcPts val="0"/>
              </a:spcBef>
              <a:spcAft>
                <a:spcPts val="0"/>
              </a:spcAft>
              <a:buNone/>
              <a:defRPr sz="2800">
                <a:solidFill>
                  <a:schemeClr val="bg1"/>
                </a:solidFill>
              </a:defRPr>
            </a:lvl1pPr>
          </a:lstStyle>
          <a:p>
            <a:r>
              <a:rPr lang="en-US" dirty="0"/>
              <a:t>Attribution</a:t>
            </a:r>
          </a:p>
        </p:txBody>
      </p:sp>
      <p:pic>
        <p:nvPicPr>
          <p:cNvPr id="6" name="Copyright2">
            <a:extLst>
              <a:ext uri="{FF2B5EF4-FFF2-40B4-BE49-F238E27FC236}">
                <a16:creationId xmlns:a16="http://schemas.microsoft.com/office/drawing/2014/main" id="{7D4186D3-C2B3-4D1D-8DF1-801C1A413D21}"/>
              </a:ext>
              <a:ext uri="{C183D7F6-B498-43B3-948B-1728B52AA6E4}">
                <adec:decorative xmlns:adec="http://schemas.microsoft.com/office/drawing/2017/decorative" val="1"/>
              </a:ext>
            </a:extLst>
          </p:cNvPr>
          <p:cNvPicPr>
            <a:picLocks/>
          </p:cNvPicPr>
          <p:nvPr userDrawn="1"/>
        </p:nvPicPr>
        <p:blipFill>
          <a:blip r:embed="rId3">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extLst>
      <p:ext uri="{BB962C8B-B14F-4D97-AF65-F5344CB8AC3E}">
        <p14:creationId xmlns:p14="http://schemas.microsoft.com/office/powerpoint/2010/main" val="3251177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opic Introduc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Autofit/>
          </a:bodyPr>
          <a:lstStyle>
            <a:lvl1pPr algn="ctr">
              <a:defRPr sz="3600">
                <a:solidFill>
                  <a:srgbClr val="F1F3F3"/>
                </a:solidFill>
                <a:latin typeface="Amazon Ember Display Heavy"/>
              </a:defRPr>
            </a:lvl1pPr>
          </a:lstStyle>
          <a:p>
            <a:r>
              <a:rPr lang="en-US" dirty="0"/>
              <a:t>Type title here</a:t>
            </a:r>
          </a:p>
        </p:txBody>
      </p:sp>
      <p:sp>
        <p:nvSpPr>
          <p:cNvPr id="2" name="LeftPlaceholder">
            <a:extLst>
              <a:ext uri="{FF2B5EF4-FFF2-40B4-BE49-F238E27FC236}">
                <a16:creationId xmlns:a16="http://schemas.microsoft.com/office/drawing/2014/main" id="{84AC47C1-092B-4DE6-902E-A0B393854995}"/>
              </a:ext>
              <a:ext uri="{C183D7F6-B498-43B3-948B-1728B52AA6E4}">
                <adec:decorative xmlns:adec="http://schemas.microsoft.com/office/drawing/2017/decorative" val="1"/>
              </a:ext>
            </a:extLst>
          </p:cNvPr>
          <p:cNvSpPr>
            <a:spLocks noGrp="1"/>
          </p:cNvSpPr>
          <p:nvPr>
            <p:ph idx="2" hasCustomPrompt="1"/>
          </p:nvPr>
        </p:nvSpPr>
        <p:spPr>
          <a:xfrm>
            <a:off x="246888" y="2434960"/>
            <a:ext cx="4060392" cy="3657600"/>
          </a:xfrm>
        </p:spPr>
        <p:txBody>
          <a:bodyPr anchor="t">
            <a:noAutofit/>
          </a:bodyPr>
          <a:lstStyle>
            <a:lvl1pPr marL="0" indent="0" algn="ctr">
              <a:buNone/>
              <a:defRPr>
                <a:solidFill>
                  <a:srgbClr val="F1F3F3"/>
                </a:solidFill>
                <a:latin typeface="+mn-lt"/>
              </a:defRPr>
            </a:lvl1pPr>
          </a:lstStyle>
          <a:p>
            <a:r>
              <a:rPr lang="en-US" dirty="0"/>
              <a:t>Click to add content</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6" name="Copyright1">
            <a:extLst>
              <a:ext uri="{FF2B5EF4-FFF2-40B4-BE49-F238E27FC236}">
                <a16:creationId xmlns:a16="http://schemas.microsoft.com/office/drawing/2014/main" id="{0BBBF875-E0E3-4837-9CCC-88E0DAFE277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68531"/>
            <a:ext cx="4610100" cy="267127"/>
          </a:xfrm>
          <a:prstGeom prst="rect">
            <a:avLst/>
          </a:prstGeom>
        </p:spPr>
      </p:pic>
    </p:spTree>
    <p:custDataLst>
      <p:tags r:id="rId1"/>
    </p:custDataLst>
    <p:extLst>
      <p:ext uri="{BB962C8B-B14F-4D97-AF65-F5344CB8AC3E}">
        <p14:creationId xmlns:p14="http://schemas.microsoft.com/office/powerpoint/2010/main" val="112164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E52B1449-9D22-45E9-8E29-DD9653749C2D}"/>
              </a:ext>
            </a:extLst>
          </p:cNvPr>
          <p:cNvSpPr>
            <a:spLocks noGrp="1"/>
          </p:cNvSpPr>
          <p:nvPr>
            <p:ph type="title" idx="1" hasCustomPrompt="1"/>
          </p:nvPr>
        </p:nvSpPr>
        <p:spPr>
          <a:xfrm>
            <a:off x="457200" y="1256247"/>
            <a:ext cx="7998031" cy="4049824"/>
          </a:xfrm>
        </p:spPr>
        <p:txBody>
          <a:bodyPr anchor="ctr">
            <a:noAutofit/>
          </a:bodyPr>
          <a:lstStyle>
            <a:lvl1pPr>
              <a:lnSpc>
                <a:spcPct val="100000"/>
              </a:lnSpc>
              <a:spcBef>
                <a:spcPts val="0"/>
              </a:spcBef>
              <a:defRPr sz="4400">
                <a:solidFill>
                  <a:schemeClr val="bg1"/>
                </a:solidFill>
                <a:latin typeface="Amazon Ember Display Heavy"/>
              </a:defRPr>
            </a:lvl1pPr>
          </a:lstStyle>
          <a:p>
            <a:r>
              <a:rPr lang="en-US" dirty="0"/>
              <a:t>Thank you text</a:t>
            </a:r>
          </a:p>
        </p:txBody>
      </p:sp>
      <p:sp>
        <p:nvSpPr>
          <p:cNvPr id="2" name="Corrections text">
            <a:extLst>
              <a:ext uri="{FF2B5EF4-FFF2-40B4-BE49-F238E27FC236}">
                <a16:creationId xmlns:a16="http://schemas.microsoft.com/office/drawing/2014/main" id="{6A373FD5-C6D5-4BB3-B1C2-AF88C1A95E05}"/>
              </a:ext>
            </a:extLst>
          </p:cNvPr>
          <p:cNvSpPr>
            <a:spLocks noGrp="1"/>
          </p:cNvSpPr>
          <p:nvPr>
            <p:ph type="body" idx="2" hasCustomPrompt="1"/>
          </p:nvPr>
        </p:nvSpPr>
        <p:spPr>
          <a:xfrm>
            <a:off x="457200" y="5305425"/>
            <a:ext cx="7997825" cy="1141413"/>
          </a:xfrm>
        </p:spPr>
        <p:txBody>
          <a:bodyPr>
            <a:noAutofit/>
          </a:bodyPr>
          <a:lstStyle>
            <a:lvl1pPr marL="0" indent="0">
              <a:lnSpc>
                <a:spcPct val="100000"/>
              </a:lnSpc>
              <a:spcBef>
                <a:spcPts val="0"/>
              </a:spcBef>
              <a:spcAft>
                <a:spcPts val="0"/>
              </a:spcAft>
              <a:buClrTx/>
              <a:buSzTx/>
              <a:buFontTx/>
              <a:buNone/>
              <a:tabLst/>
              <a:defRPr lang="en-US" b="0" cap="none" spc="0" baseline="0">
                <a:ln>
                  <a:noFill/>
                </a:ln>
                <a:solidFill>
                  <a:schemeClr val="bg1"/>
                </a:solidFill>
                <a:effectLst/>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pPr marL="0" indent="0">
              <a:lnSpc>
                <a:spcPct val="100000"/>
              </a:lnSpc>
              <a:spcBef>
                <a:spcPts val="0"/>
              </a:spcBef>
              <a:spcAft>
                <a:spcPts val="0"/>
              </a:spcAft>
              <a:buClrTx/>
              <a:buSzTx/>
              <a:buFontTx/>
              <a:buNone/>
              <a:tabLst/>
              <a:defRPr/>
            </a:pPr>
            <a:r>
              <a:rPr lang="en-US" sz="1800" dirty="0">
                <a:solidFill>
                  <a:srgbClr val="F1F3F3"/>
                </a:solidFill>
              </a:rPr>
              <a:t>Type: Corrections, feedback, or other questions? </a:t>
            </a:r>
            <a:br>
              <a:rPr lang="en-US" sz="1800" dirty="0">
                <a:solidFill>
                  <a:srgbClr val="F1F3F3"/>
                </a:solidFill>
              </a:rPr>
            </a:br>
            <a:r>
              <a:rPr lang="en-US" sz="1800" dirty="0">
                <a:solidFill>
                  <a:srgbClr val="F1F3F3"/>
                </a:solidFill>
              </a:rPr>
              <a:t>Contact us at https://support.aws.amazon.com/#/contacts/aws-academy.</a:t>
            </a:r>
          </a:p>
        </p:txBody>
      </p:sp>
      <p:pic>
        <p:nvPicPr>
          <p:cNvPr id="6" name="Copyright1">
            <a:extLst>
              <a:ext uri="{FF2B5EF4-FFF2-40B4-BE49-F238E27FC236}">
                <a16:creationId xmlns:a16="http://schemas.microsoft.com/office/drawing/2014/main" id="{872813F7-982A-459F-982C-723833FAAEAB}"/>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68531"/>
            <a:ext cx="4610100" cy="267127"/>
          </a:xfrm>
          <a:prstGeom prst="rect">
            <a:avLst/>
          </a:prstGeom>
        </p:spPr>
      </p:pic>
    </p:spTree>
    <p:custDataLst>
      <p:tags r:id="rId1"/>
    </p:custDataLst>
    <p:extLst>
      <p:ext uri="{BB962C8B-B14F-4D97-AF65-F5344CB8AC3E}">
        <p14:creationId xmlns:p14="http://schemas.microsoft.com/office/powerpoint/2010/main" val="1625688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lnSpc>
                <a:spcPct val="90000"/>
              </a:lnSpc>
              <a:spcAft>
                <a:spcPts val="0"/>
              </a:spcAft>
              <a:defRPr>
                <a:solidFill>
                  <a:srgbClr val="232F3E"/>
                </a:solidFill>
                <a:latin typeface="Amazon Ember Display Heavy"/>
              </a:defRPr>
            </a:lvl1pPr>
          </a:lstStyle>
          <a:p>
            <a:r>
              <a:rPr lang="en-US" dirty="0"/>
              <a:t>Title and text column</a:t>
            </a:r>
          </a:p>
        </p:txBody>
      </p:sp>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rm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6564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d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7818F9-B3C0-42E7-B6E1-534723096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and code</a:t>
            </a:r>
          </a:p>
        </p:txBody>
      </p:sp>
      <p:pic>
        <p:nvPicPr>
          <p:cNvPr id="99" name="Divider">
            <a:extLst>
              <a:ext uri="{FF2B5EF4-FFF2-40B4-BE49-F238E27FC236}">
                <a16:creationId xmlns:a16="http://schemas.microsoft.com/office/drawing/2014/main" id="{1AA7B286-8B48-4C92-B2A9-AADCF2EEA2A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11466576" cy="5330952"/>
          </a:xfrm>
        </p:spPr>
        <p:txBody>
          <a:bodyPr>
            <a:noAutofit/>
          </a:bodyPr>
          <a:lstStyle>
            <a:lvl1pPr marL="0" indent="0" defTabSz="228600">
              <a:lnSpc>
                <a:spcPct val="100000"/>
              </a:lnSpc>
              <a:spcBef>
                <a:spcPts val="0"/>
              </a:spcBef>
              <a:spcAft>
                <a:spcPts val="0"/>
              </a:spcAft>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746569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2/3 Column, and picture</a:t>
            </a:r>
          </a:p>
        </p:txBody>
      </p:sp>
      <p:pic>
        <p:nvPicPr>
          <p:cNvPr id="99" name="Divider">
            <a:extLst>
              <a:ext uri="{FF2B5EF4-FFF2-40B4-BE49-F238E27FC236}">
                <a16:creationId xmlns:a16="http://schemas.microsoft.com/office/drawing/2014/main" id="{ECDF26F2-E972-40FE-806F-12B056EA9DC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097280"/>
            <a:ext cx="7644384" cy="5330952"/>
          </a:xfrm>
        </p:spPr>
        <p:txBody>
          <a:bodyPr>
            <a:noAutofit/>
          </a:bodyPr>
          <a:lstStyle>
            <a:lvl1pPr>
              <a:lnSpc>
                <a:spcPct val="100000"/>
              </a:lnSpc>
              <a:spcBef>
                <a:spcPts val="0"/>
              </a:spcBef>
              <a:spcAft>
                <a:spcPts val="1200"/>
              </a:spcAft>
              <a:defRPr>
                <a:solidFill>
                  <a:srgbClr val="232F3E"/>
                </a:solidFill>
              </a:defRPr>
            </a:lvl1pPr>
            <a:lvl2pPr marL="457200" indent="-228600">
              <a:lnSpc>
                <a:spcPct val="100000"/>
              </a:lnSpc>
              <a:spcBef>
                <a:spcPts val="0"/>
              </a:spcBef>
              <a:spcAft>
                <a:spcPts val="1200"/>
              </a:spcAft>
              <a:defRPr>
                <a:solidFill>
                  <a:srgbClr val="232F3E"/>
                </a:solidFill>
              </a:defRPr>
            </a:lvl2pPr>
            <a:lvl3pPr marL="682625" indent="-228600">
              <a:lnSpc>
                <a:spcPct val="100000"/>
              </a:lnSpc>
              <a:spcBef>
                <a:spcPts val="0"/>
              </a:spcBef>
              <a:spcAft>
                <a:spcPts val="1200"/>
              </a:spcAft>
              <a:defRPr>
                <a:solidFill>
                  <a:srgbClr val="232F3E"/>
                </a:solidFill>
              </a:defRPr>
            </a:lvl3pPr>
            <a:lvl4pPr marL="914400" indent="-228600">
              <a:lnSpc>
                <a:spcPct val="100000"/>
              </a:lnSpc>
              <a:spcBef>
                <a:spcPts val="0"/>
              </a:spcBef>
              <a:spcAft>
                <a:spcPts val="1200"/>
              </a:spcAft>
              <a:defRPr>
                <a:solidFill>
                  <a:srgbClr val="232F3E"/>
                </a:solidFill>
              </a:defRPr>
            </a:lvl4pPr>
            <a:lvl5pPr marL="1146175" indent="-228600">
              <a:lnSpc>
                <a:spcPct val="100000"/>
              </a:lnSpc>
              <a:spcBef>
                <a:spcPts val="0"/>
              </a:spcBef>
              <a:spcAft>
                <a:spcPts val="12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4095526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D310634-6D6F-45BA-96BC-E6E4225BB2B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2712" y="301752"/>
            <a:ext cx="11466576" cy="731318"/>
          </a:xfrm>
        </p:spPr>
        <p:txBody>
          <a:bodyPr/>
          <a:lstStyle>
            <a:lvl1pPr>
              <a:defRPr>
                <a:solidFill>
                  <a:srgbClr val="232F3E"/>
                </a:solidFill>
                <a:latin typeface="Amazon Ember Display Heavy"/>
              </a:defRPr>
            </a:lvl1pPr>
          </a:lstStyle>
          <a:p>
            <a:r>
              <a:rPr lang="en-US" dirty="0"/>
              <a:t>Title, header, text, and picture</a:t>
            </a:r>
          </a:p>
        </p:txBody>
      </p:sp>
      <p:sp>
        <p:nvSpPr>
          <p:cNvPr id="12" name="Content 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7644384" cy="487375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8498586" y="2276856"/>
            <a:ext cx="2971800" cy="29718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710622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Service Introduction Option 1">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6567437-E18D-4274-8EB3-54B9DE902BBD}"/>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 name="Divider H">
              <a:extLst>
                <a:ext uri="{FF2B5EF4-FFF2-40B4-BE49-F238E27FC236}">
                  <a16:creationId xmlns:a16="http://schemas.microsoft.com/office/drawing/2014/main" id="{50B9701F-77A8-41C6-92EB-864571F194D7}"/>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11" name="Divider V">
              <a:extLst>
                <a:ext uri="{FF2B5EF4-FFF2-40B4-BE49-F238E27FC236}">
                  <a16:creationId xmlns:a16="http://schemas.microsoft.com/office/drawing/2014/main" id="{39B7DF57-C231-4CAA-9959-A12A3D224023}"/>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845B9C66-42EC-414D-A8B0-97B2C6F572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Service introduction slide – Option 1</a:t>
            </a:r>
          </a:p>
        </p:txBody>
      </p:sp>
      <p:sp>
        <p:nvSpPr>
          <p:cNvPr id="3" name="Service Image">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5EE453FC-29B3-4823-BA8D-E5D7343F2858}"/>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Content">
            <a:extLst>
              <a:ext uri="{FF2B5EF4-FFF2-40B4-BE49-F238E27FC236}">
                <a16:creationId xmlns:a16="http://schemas.microsoft.com/office/drawing/2014/main" id="{951E617C-D9F7-4098-883E-6A048DBCF862}"/>
              </a:ext>
            </a:extLst>
          </p:cNvPr>
          <p:cNvSpPr>
            <a:spLocks noGrp="1"/>
          </p:cNvSpPr>
          <p:nvPr>
            <p:ph idx="2" hasCustomPrompt="1"/>
          </p:nvPr>
        </p:nvSpPr>
        <p:spPr>
          <a:xfrm>
            <a:off x="3118104" y="1097280"/>
            <a:ext cx="8714232" cy="5330952"/>
          </a:xfrm>
        </p:spPr>
        <p:txBody>
          <a:bodyPr anchor="ctr">
            <a:normAutofit/>
          </a:bodyPr>
          <a:lstStyle>
            <a:lvl1pPr>
              <a:lnSpc>
                <a:spcPct val="100000"/>
              </a:lnSpc>
              <a:spcAft>
                <a:spcPts val="1200"/>
              </a:spcAft>
              <a:defRPr sz="3200">
                <a:solidFill>
                  <a:srgbClr val="232F3E"/>
                </a:solidFill>
              </a:defRPr>
            </a:lvl1pPr>
            <a:lvl2pPr marL="457200" indent="-228600">
              <a:lnSpc>
                <a:spcPct val="100000"/>
              </a:lnSpc>
              <a:spcAft>
                <a:spcPts val="1200"/>
              </a:spcAft>
              <a:defRPr sz="2800">
                <a:solidFill>
                  <a:srgbClr val="232F3E"/>
                </a:solidFill>
              </a:defRPr>
            </a:lvl2pPr>
            <a:lvl3pPr marL="684213" indent="-228600">
              <a:lnSpc>
                <a:spcPct val="100000"/>
              </a:lnSpc>
              <a:spcAft>
                <a:spcPts val="1200"/>
              </a:spcAft>
              <a:defRPr sz="2400">
                <a:solidFill>
                  <a:srgbClr val="232F3E"/>
                </a:solidFill>
              </a:defRPr>
            </a:lvl3pPr>
            <a:lvl4pPr marL="914400" indent="-228600">
              <a:lnSpc>
                <a:spcPct val="100000"/>
              </a:lnSpc>
              <a:spcAft>
                <a:spcPts val="1200"/>
              </a:spcAft>
              <a:defRPr sz="2000">
                <a:solidFill>
                  <a:srgbClr val="232F3E"/>
                </a:solidFill>
              </a:defRPr>
            </a:lvl4pPr>
            <a:lvl5pPr marL="1144588" indent="-228600">
              <a:lnSpc>
                <a:spcPct val="100000"/>
              </a:lnSpc>
              <a:spcAft>
                <a:spcPts val="1200"/>
              </a:spcAft>
              <a:defRPr sz="20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994587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rvice Introduction Option 2">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47407828-5EAD-4B51-9E63-A3BCA2C02C10}"/>
              </a:ext>
              <a:ext uri="{C183D7F6-B498-43B3-948B-1728B52AA6E4}">
                <adec:decorative xmlns:adec="http://schemas.microsoft.com/office/drawing/2017/decorative" val="1"/>
              </a:ext>
            </a:extLst>
          </p:cNvPr>
          <p:cNvGrpSpPr/>
          <p:nvPr/>
        </p:nvGrpSpPr>
        <p:grpSpPr>
          <a:xfrm>
            <a:off x="365759" y="1028377"/>
            <a:ext cx="11484864" cy="5509260"/>
            <a:chOff x="365759" y="1028377"/>
            <a:chExt cx="11484864" cy="5509260"/>
          </a:xfrm>
        </p:grpSpPr>
        <p:pic>
          <p:nvPicPr>
            <p:cNvPr id="96" name="Divider H">
              <a:extLst>
                <a:ext uri="{FF2B5EF4-FFF2-40B4-BE49-F238E27FC236}">
                  <a16:creationId xmlns:a16="http://schemas.microsoft.com/office/drawing/2014/main" id="{86EB8EF7-E12A-4724-8CD0-BCD419CC1D7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pic>
          <p:nvPicPr>
            <p:cNvPr id="95" name="Divider V">
              <a:extLst>
                <a:ext uri="{FF2B5EF4-FFF2-40B4-BE49-F238E27FC236}">
                  <a16:creationId xmlns:a16="http://schemas.microsoft.com/office/drawing/2014/main" id="{A98871DD-BA51-4D2E-B73C-B53E0040D847}"/>
                </a:ext>
                <a:ext uri="{C183D7F6-B498-43B3-948B-1728B52AA6E4}">
                  <adec:decorative xmlns:adec="http://schemas.microsoft.com/office/drawing/2017/decorative" val="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rot="5400000">
              <a:off x="224043" y="3771577"/>
              <a:ext cx="5486400" cy="45720"/>
            </a:xfrm>
            <a:prstGeom prst="rect">
              <a:avLst/>
            </a:prstGeom>
          </p:spPr>
        </p:pic>
      </p:grpSp>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11"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latin typeface="Amazon Ember Display Heavy" panose="04020705040A02060702" pitchFamily="82" charset="0"/>
              </a:rPr>
              <a:t>Service introduction slide – Option 2</a:t>
            </a:r>
          </a:p>
        </p:txBody>
      </p:sp>
      <p:sp>
        <p:nvSpPr>
          <p:cNvPr id="3" name="Service image">
            <a:extLst>
              <a:ext uri="{FF2B5EF4-FFF2-40B4-BE49-F238E27FC236}">
                <a16:creationId xmlns:a16="http://schemas.microsoft.com/office/drawing/2014/main" id="{A8750EE2-55D6-4668-9C14-21FA8D6643EA}"/>
              </a:ext>
              <a:ext uri="{C183D7F6-B498-43B3-948B-1728B52AA6E4}">
                <adec:decorative xmlns:adec="http://schemas.microsoft.com/office/drawing/2017/decorative" val="1"/>
              </a:ext>
            </a:extLst>
          </p:cNvPr>
          <p:cNvSpPr>
            <a:spLocks noGrp="1"/>
          </p:cNvSpPr>
          <p:nvPr>
            <p:ph type="pic" idx="3" hasCustomPrompt="1"/>
          </p:nvPr>
        </p:nvSpPr>
        <p:spPr>
          <a:xfrm>
            <a:off x="531884" y="2182807"/>
            <a:ext cx="2286000" cy="2286000"/>
          </a:xfrm>
        </p:spPr>
        <p:txBody>
          <a:bodyPr anchor="t">
            <a:noAutofit/>
          </a:bodyPr>
          <a:lstStyle>
            <a:lvl1pPr marL="0" indent="0" algn="ctr">
              <a:buNone/>
              <a:defRPr sz="2000">
                <a:solidFill>
                  <a:srgbClr val="232F3E"/>
                </a:solidFill>
              </a:defRPr>
            </a:lvl1pPr>
          </a:lstStyle>
          <a:p>
            <a:r>
              <a:rPr lang="en-US" dirty="0"/>
              <a:t>Click the icon to add a service icon</a:t>
            </a:r>
          </a:p>
        </p:txBody>
      </p:sp>
      <p:sp>
        <p:nvSpPr>
          <p:cNvPr id="4" name="Service name">
            <a:extLst>
              <a:ext uri="{FF2B5EF4-FFF2-40B4-BE49-F238E27FC236}">
                <a16:creationId xmlns:a16="http://schemas.microsoft.com/office/drawing/2014/main" id="{ED5D782A-3E94-4C16-BD1E-13F939926C06}"/>
              </a:ext>
            </a:extLst>
          </p:cNvPr>
          <p:cNvSpPr>
            <a:spLocks noGrp="1"/>
          </p:cNvSpPr>
          <p:nvPr>
            <p:ph type="body" idx="4" hasCustomPrompt="1"/>
          </p:nvPr>
        </p:nvSpPr>
        <p:spPr>
          <a:xfrm>
            <a:off x="531884" y="4508261"/>
            <a:ext cx="2286001" cy="914400"/>
          </a:xfrm>
        </p:spPr>
        <p:txBody>
          <a:bodyPr>
            <a:noAutofit/>
          </a:bodyPr>
          <a:lstStyle>
            <a:lvl1pPr marL="0" indent="0" algn="ctr">
              <a:spcAft>
                <a:spcPts val="0"/>
              </a:spcAft>
              <a:buNone/>
              <a:defRPr sz="2000">
                <a:solidFill>
                  <a:srgbClr val="232F3E"/>
                </a:solidFill>
                <a:latin typeface="Amazon Ember Display"/>
              </a:defRPr>
            </a:lvl1pPr>
          </a:lstStyle>
          <a:p>
            <a:pPr lvl="0"/>
            <a:r>
              <a:rPr lang="en-US" dirty="0"/>
              <a:t>Enter service name</a:t>
            </a:r>
          </a:p>
        </p:txBody>
      </p:sp>
      <p:sp>
        <p:nvSpPr>
          <p:cNvPr id="2" name="Service description">
            <a:extLst>
              <a:ext uri="{FF2B5EF4-FFF2-40B4-BE49-F238E27FC236}">
                <a16:creationId xmlns:a16="http://schemas.microsoft.com/office/drawing/2014/main" id="{125C2183-0325-4A52-BF1F-38F8AAFA8B4A}"/>
              </a:ext>
            </a:extLst>
          </p:cNvPr>
          <p:cNvSpPr>
            <a:spLocks noGrp="1"/>
          </p:cNvSpPr>
          <p:nvPr>
            <p:ph type="body" idx="2" hasCustomPrompt="1"/>
          </p:nvPr>
        </p:nvSpPr>
        <p:spPr>
          <a:xfrm>
            <a:off x="3118104" y="1097280"/>
            <a:ext cx="8714232" cy="1655064"/>
          </a:xfrm>
        </p:spPr>
        <p:txBody>
          <a:bodyPr tIns="45720" bIns="45720">
            <a:normAutofit/>
          </a:bodyPr>
          <a:lstStyle>
            <a:lvl1pPr marL="0" indent="0">
              <a:lnSpc>
                <a:spcPct val="100000"/>
              </a:lnSpc>
              <a:spcBef>
                <a:spcPts val="0"/>
              </a:spcBef>
              <a:spcAft>
                <a:spcPts val="300"/>
              </a:spcAft>
              <a:buNone/>
              <a:defRPr sz="2400">
                <a:solidFill>
                  <a:srgbClr val="232F3E"/>
                </a:solidFill>
                <a:latin typeface="Amazon Ember Display"/>
              </a:defRPr>
            </a:lvl1pPr>
            <a:lvl2pPr marL="457200" indent="0">
              <a:buNone/>
              <a:defRPr/>
            </a:lvl2pPr>
          </a:lstStyle>
          <a:p>
            <a:pPr lvl="0"/>
            <a:r>
              <a:rPr lang="en-US" dirty="0"/>
              <a:t>Enter service description from our website.</a:t>
            </a:r>
          </a:p>
        </p:txBody>
      </p:sp>
      <p:sp>
        <p:nvSpPr>
          <p:cNvPr id="8" name="Service Benefit 1">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8" hasCustomPrompt="1"/>
          </p:nvPr>
        </p:nvSpPr>
        <p:spPr>
          <a:xfrm>
            <a:off x="3483864"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5" name="Benefit 1 Description">
            <a:extLst>
              <a:ext uri="{FF2B5EF4-FFF2-40B4-BE49-F238E27FC236}">
                <a16:creationId xmlns:a16="http://schemas.microsoft.com/office/drawing/2014/main" id="{CEBB69C5-28A4-4F99-A9FE-572F9D53CF4E}"/>
              </a:ext>
            </a:extLst>
          </p:cNvPr>
          <p:cNvSpPr>
            <a:spLocks noGrp="1"/>
          </p:cNvSpPr>
          <p:nvPr>
            <p:ph type="body" idx="5" hasCustomPrompt="1"/>
          </p:nvPr>
        </p:nvSpPr>
        <p:spPr>
          <a:xfrm>
            <a:off x="3118104"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9" name="Service Benefit 2">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9" hasCustomPrompt="1"/>
          </p:nvPr>
        </p:nvSpPr>
        <p:spPr>
          <a:xfrm>
            <a:off x="6473952"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6" name="Benefit 2 Description">
            <a:extLst>
              <a:ext uri="{FF2B5EF4-FFF2-40B4-BE49-F238E27FC236}">
                <a16:creationId xmlns:a16="http://schemas.microsoft.com/office/drawing/2014/main" id="{04C41CFA-9BF9-474A-89A9-E22790A538E2}"/>
              </a:ext>
            </a:extLst>
          </p:cNvPr>
          <p:cNvSpPr>
            <a:spLocks noGrp="1"/>
          </p:cNvSpPr>
          <p:nvPr>
            <p:ph type="body" idx="6" hasCustomPrompt="1"/>
          </p:nvPr>
        </p:nvSpPr>
        <p:spPr>
          <a:xfrm>
            <a:off x="6108192"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
        <p:nvSpPr>
          <p:cNvPr id="10" name="Service Benefit 3">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10" hasCustomPrompt="1"/>
          </p:nvPr>
        </p:nvSpPr>
        <p:spPr>
          <a:xfrm>
            <a:off x="9454896" y="2798064"/>
            <a:ext cx="2011680" cy="2011680"/>
          </a:xfrm>
        </p:spPr>
        <p:txBody>
          <a:bodyPr anchor="t">
            <a:noAutofit/>
          </a:bodyPr>
          <a:lstStyle>
            <a:lvl1pPr marL="0" indent="0" algn="ctr">
              <a:buNone/>
              <a:defRPr sz="1800">
                <a:solidFill>
                  <a:srgbClr val="232F3E"/>
                </a:solidFill>
              </a:defRPr>
            </a:lvl1pPr>
          </a:lstStyle>
          <a:p>
            <a:r>
              <a:rPr lang="en-US" dirty="0"/>
              <a:t>Click icon to add a service benefit image</a:t>
            </a:r>
          </a:p>
        </p:txBody>
      </p:sp>
      <p:sp>
        <p:nvSpPr>
          <p:cNvPr id="7" name="Benefit 3 Description">
            <a:extLst>
              <a:ext uri="{FF2B5EF4-FFF2-40B4-BE49-F238E27FC236}">
                <a16:creationId xmlns:a16="http://schemas.microsoft.com/office/drawing/2014/main" id="{CF01F87A-DBEF-4657-8500-6A751FF3BC24}"/>
              </a:ext>
            </a:extLst>
          </p:cNvPr>
          <p:cNvSpPr>
            <a:spLocks noGrp="1"/>
          </p:cNvSpPr>
          <p:nvPr>
            <p:ph type="body" idx="7" hasCustomPrompt="1"/>
          </p:nvPr>
        </p:nvSpPr>
        <p:spPr>
          <a:xfrm>
            <a:off x="9089136" y="4846320"/>
            <a:ext cx="2743200" cy="1600200"/>
          </a:xfrm>
          <a:noFill/>
          <a:ln>
            <a:noFill/>
          </a:ln>
        </p:spPr>
        <p:txBody>
          <a:bodyPr lIns="91440" anchor="t">
            <a:noAutofit/>
          </a:bodyPr>
          <a:lstStyle>
            <a:lvl1pPr marL="60325" indent="0" algn="ctr">
              <a:spcBef>
                <a:spcPts val="0"/>
              </a:spcBef>
              <a:spcAft>
                <a:spcPts val="0"/>
              </a:spcAft>
              <a:buNone/>
              <a:defRPr sz="2000" b="0">
                <a:solidFill>
                  <a:srgbClr val="232F3E"/>
                </a:solidFill>
                <a:latin typeface="Amazon Ember Display"/>
              </a:defRPr>
            </a:lvl1pPr>
          </a:lstStyle>
          <a:p>
            <a:pPr lvl="0"/>
            <a:r>
              <a:rPr lang="en-US" dirty="0"/>
              <a:t>Enter benefit description</a:t>
            </a:r>
          </a:p>
        </p:txBody>
      </p:sp>
    </p:spTree>
    <p:custDataLst>
      <p:tags r:id="rId1"/>
    </p:custDataLst>
    <p:extLst>
      <p:ext uri="{BB962C8B-B14F-4D97-AF65-F5344CB8AC3E}">
        <p14:creationId xmlns:p14="http://schemas.microsoft.com/office/powerpoint/2010/main" val="1240586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content columns</a:t>
            </a:r>
          </a:p>
        </p:txBody>
      </p:sp>
      <p:pic>
        <p:nvPicPr>
          <p:cNvPr id="99" name="Divider">
            <a:extLst>
              <a:ext uri="{FF2B5EF4-FFF2-40B4-BE49-F238E27FC236}">
                <a16:creationId xmlns:a16="http://schemas.microsoft.com/office/drawing/2014/main" id="{DDE84D45-638C-4BCD-B539-05F38F37CF3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6163056" y="1097280"/>
            <a:ext cx="5669280" cy="53309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472942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Narrow, and Wi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271B92-68F7-439C-8199-7E16014A674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narrow left, and wide right columns</a:t>
            </a:r>
          </a:p>
        </p:txBody>
      </p:sp>
      <p:pic>
        <p:nvPicPr>
          <p:cNvPr id="99" name="Divider">
            <a:extLst>
              <a:ext uri="{FF2B5EF4-FFF2-40B4-BE49-F238E27FC236}">
                <a16:creationId xmlns:a16="http://schemas.microsoft.com/office/drawing/2014/main" id="{436CF646-2D71-47F1-8550-51446EDEB81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657600"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951E617C-D9F7-4098-883E-6A048DBCF862}"/>
              </a:ext>
            </a:extLst>
          </p:cNvPr>
          <p:cNvSpPr>
            <a:spLocks noGrp="1"/>
          </p:cNvSpPr>
          <p:nvPr>
            <p:ph idx="3" hasCustomPrompt="1"/>
          </p:nvPr>
        </p:nvSpPr>
        <p:spPr>
          <a:xfrm>
            <a:off x="4187952" y="1097280"/>
            <a:ext cx="7644384" cy="5330952"/>
          </a:xfrm>
        </p:spPr>
        <p:txBody>
          <a:bodyPr>
            <a:noAutofit/>
          </a:bodyPr>
          <a:lstStyle>
            <a:lvl1pPr>
              <a:lnSpc>
                <a:spcPct val="100000"/>
              </a:lnSpc>
              <a:spcAft>
                <a:spcPts val="1200"/>
              </a:spcAft>
              <a:defRPr sz="2400">
                <a:solidFill>
                  <a:srgbClr val="232F3E"/>
                </a:solidFill>
              </a:defRPr>
            </a:lvl1pPr>
            <a:lvl2pPr marL="457200" indent="-228600">
              <a:lnSpc>
                <a:spcPct val="100000"/>
              </a:lnSpc>
              <a:spcAft>
                <a:spcPts val="1200"/>
              </a:spcAft>
              <a:defRPr sz="2000">
                <a:solidFill>
                  <a:srgbClr val="232F3E"/>
                </a:solidFill>
              </a:defRPr>
            </a:lvl2pPr>
            <a:lvl3pPr marL="684213" indent="-228600">
              <a:lnSpc>
                <a:spcPct val="100000"/>
              </a:lnSpc>
              <a:spcAft>
                <a:spcPts val="1200"/>
              </a:spcAft>
              <a:defRPr sz="1800">
                <a:solidFill>
                  <a:srgbClr val="232F3E"/>
                </a:solidFill>
              </a:defRPr>
            </a:lvl3pPr>
            <a:lvl4pPr marL="914400" indent="-228600">
              <a:lnSpc>
                <a:spcPct val="100000"/>
              </a:lnSpc>
              <a:spcAft>
                <a:spcPts val="1200"/>
              </a:spcAft>
              <a:defRPr sz="1600">
                <a:solidFill>
                  <a:srgbClr val="232F3E"/>
                </a:solidFill>
              </a:defRPr>
            </a:lvl4pPr>
            <a:lvl5pPr marL="1144588" indent="-228600">
              <a:lnSpc>
                <a:spcPct val="100000"/>
              </a:lnSpc>
              <a:spcAft>
                <a:spcPts val="1200"/>
              </a:spcAft>
              <a:defRPr sz="1600">
                <a:solidFill>
                  <a:srgbClr val="232F3E"/>
                </a:solidFill>
              </a:defRPr>
            </a:lvl5pPr>
          </a:lstStyle>
          <a:p>
            <a:pPr lvl="0"/>
            <a:r>
              <a:rPr lang="en-US" dirty="0"/>
              <a:t>Add content text or Click to add image</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848337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1314593-B97F-4159-BF1C-7D08727B798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2 code columns</a:t>
            </a:r>
          </a:p>
        </p:txBody>
      </p:sp>
      <p:pic>
        <p:nvPicPr>
          <p:cNvPr id="99" name="Divider">
            <a:extLst>
              <a:ext uri="{FF2B5EF4-FFF2-40B4-BE49-F238E27FC236}">
                <a16:creationId xmlns:a16="http://schemas.microsoft.com/office/drawing/2014/main" id="{25E540B6-8F1E-4977-BD60-59FB7D23F4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de Left">
            <a:extLst>
              <a:ext uri="{FF2B5EF4-FFF2-40B4-BE49-F238E27FC236}">
                <a16:creationId xmlns:a16="http://schemas.microsoft.com/office/drawing/2014/main" id="{D77EFECE-400E-4BAA-A766-7DD8A1117BBC}"/>
              </a:ext>
            </a:extLst>
          </p:cNvPr>
          <p:cNvSpPr>
            <a:spLocks noGrp="1"/>
          </p:cNvSpPr>
          <p:nvPr>
            <p:ph type="body" idx="2" hasCustomPrompt="1"/>
          </p:nvPr>
        </p:nvSpPr>
        <p:spPr>
          <a:xfrm>
            <a:off x="365760"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3" name="Code Right">
            <a:extLst>
              <a:ext uri="{FF2B5EF4-FFF2-40B4-BE49-F238E27FC236}">
                <a16:creationId xmlns:a16="http://schemas.microsoft.com/office/drawing/2014/main" id="{E8572E41-DF36-40C1-9453-10D94D9775B7}"/>
              </a:ext>
            </a:extLst>
          </p:cNvPr>
          <p:cNvSpPr>
            <a:spLocks noGrp="1"/>
          </p:cNvSpPr>
          <p:nvPr>
            <p:ph type="body" idx="3" hasCustomPrompt="1"/>
          </p:nvPr>
        </p:nvSpPr>
        <p:spPr>
          <a:xfrm>
            <a:off x="6163056" y="1097280"/>
            <a:ext cx="5669280" cy="5330952"/>
          </a:xfrm>
        </p:spPr>
        <p:txBody>
          <a:bodyPr>
            <a:noAutofit/>
          </a:bodyPr>
          <a:lstStyle>
            <a:lvl1pPr marL="0" indent="0">
              <a:spcBef>
                <a:spcPts val="0"/>
              </a:spcBef>
              <a:buNone/>
              <a:defRPr sz="1600">
                <a:solidFill>
                  <a:srgbClr val="232F3E"/>
                </a:solidFill>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Tree>
    <p:custDataLst>
      <p:tags r:id="rId1"/>
    </p:custDataLst>
    <p:extLst>
      <p:ext uri="{BB962C8B-B14F-4D97-AF65-F5344CB8AC3E}">
        <p14:creationId xmlns:p14="http://schemas.microsoft.com/office/powerpoint/2010/main" val="40819529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Header,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and 2 text columns</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114604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262125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Header, Content, Full Height Pi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3F8E55C-0C56-481E-96C0-45506B8577F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content, and full height picture</a:t>
            </a:r>
          </a:p>
        </p:txBody>
      </p:sp>
      <p:sp>
        <p:nvSpPr>
          <p:cNvPr id="12" name="Header">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1" y="1051560"/>
            <a:ext cx="5669279"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a:extLst>
              <a:ext uri="{FF2B5EF4-FFF2-40B4-BE49-F238E27FC236}">
                <a16:creationId xmlns:a16="http://schemas.microsoft.com/office/drawing/2014/main" id="{EEA0232A-1E36-4B66-8855-7774205AD335}"/>
              </a:ext>
            </a:extLst>
          </p:cNvPr>
          <p:cNvSpPr>
            <a:spLocks noGrp="1"/>
          </p:cNvSpPr>
          <p:nvPr>
            <p:ph idx="2" hasCustomPrompt="1"/>
          </p:nvPr>
        </p:nvSpPr>
        <p:spPr>
          <a:xfrm>
            <a:off x="365760" y="1554480"/>
            <a:ext cx="5669280" cy="4881742"/>
          </a:xfrm>
        </p:spPr>
        <p:txBody>
          <a:bodyPr>
            <a:normAutofit/>
          </a:bodyPr>
          <a:lstStyle>
            <a:lvl1pPr>
              <a:lnSpc>
                <a:spcPct val="100000"/>
              </a:lnSpc>
              <a:spcAft>
                <a:spcPts val="1200"/>
              </a:spcAft>
              <a:defRPr sz="2800">
                <a:solidFill>
                  <a:srgbClr val="232F3E"/>
                </a:solidFill>
              </a:defRPr>
            </a:lvl1pPr>
            <a:lvl2pPr marL="457200" indent="-228600">
              <a:lnSpc>
                <a:spcPct val="100000"/>
              </a:lnSpc>
              <a:spcAft>
                <a:spcPts val="1200"/>
              </a:spcAft>
              <a:defRPr sz="2400">
                <a:solidFill>
                  <a:srgbClr val="232F3E"/>
                </a:solidFill>
              </a:defRPr>
            </a:lvl2pPr>
            <a:lvl3pPr marL="684213" indent="-228600">
              <a:lnSpc>
                <a:spcPct val="100000"/>
              </a:lnSpc>
              <a:spcAft>
                <a:spcPts val="1200"/>
              </a:spcAft>
              <a:defRPr sz="2000">
                <a:solidFill>
                  <a:srgbClr val="232F3E"/>
                </a:solidFill>
              </a:defRPr>
            </a:lvl3pPr>
            <a:lvl4pPr marL="914400" indent="-228600">
              <a:lnSpc>
                <a:spcPct val="100000"/>
              </a:lnSpc>
              <a:spcAft>
                <a:spcPts val="1200"/>
              </a:spcAft>
              <a:defRPr sz="1800">
                <a:solidFill>
                  <a:srgbClr val="232F3E"/>
                </a:solidFill>
              </a:defRPr>
            </a:lvl4pPr>
            <a:lvl5pPr marL="1144588" indent="-228600">
              <a:lnSpc>
                <a:spcPct val="100000"/>
              </a:lnSpc>
              <a:spcAft>
                <a:spcPts val="12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2"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type="pic" idx="22" hasCustomPrompt="1"/>
          </p:nvPr>
        </p:nvSpPr>
        <p:spPr>
          <a:xfrm>
            <a:off x="6163056" y="1046819"/>
            <a:ext cx="5669280" cy="5398103"/>
          </a:xfrm>
        </p:spPr>
        <p:txBody>
          <a:bodyPr anchor="t">
            <a:noAutofit/>
          </a:bodyPr>
          <a:lstStyle>
            <a:lvl1pPr marL="0" indent="0" algn="ctr">
              <a:buNone/>
              <a:defRPr sz="28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2140481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2BB9B5CB-6BB1-45BC-9AA7-38BB668B8A3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pictures, 2 headers, and 2 text columns</a:t>
            </a:r>
          </a:p>
        </p:txBody>
      </p:sp>
      <p:sp>
        <p:nvSpPr>
          <p:cNvPr id="22" name="Picture Left">
            <a:extLst>
              <a:ext uri="{FF2B5EF4-FFF2-40B4-BE49-F238E27FC236}">
                <a16:creationId xmlns:a16="http://schemas.microsoft.com/office/drawing/2014/main" id="{D20A7D1A-2EBE-48DA-AE10-ADAE1FC9C413}"/>
              </a:ext>
              <a:ext uri="{C183D7F6-B498-43B3-948B-1728B52AA6E4}">
                <adec:decorative xmlns:adec="http://schemas.microsoft.com/office/drawing/2017/decorative" val="1"/>
              </a:ext>
            </a:extLst>
          </p:cNvPr>
          <p:cNvSpPr>
            <a:spLocks noGrp="1"/>
          </p:cNvSpPr>
          <p:nvPr>
            <p:ph type="pic" idx="22" hasCustomPrompt="1"/>
          </p:nvPr>
        </p:nvSpPr>
        <p:spPr>
          <a:xfrm>
            <a:off x="205740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38144"/>
            <a:ext cx="56692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Left">
            <a:extLst>
              <a:ext uri="{FF2B5EF4-FFF2-40B4-BE49-F238E27FC236}">
                <a16:creationId xmlns:a16="http://schemas.microsoft.com/office/drawing/2014/main" id="{5ACBD598-6775-4223-B2AB-B169A112E3FF}"/>
              </a:ext>
            </a:extLst>
          </p:cNvPr>
          <p:cNvSpPr>
            <a:spLocks noGrp="1"/>
          </p:cNvSpPr>
          <p:nvPr>
            <p:ph idx="3" hasCustomPrompt="1"/>
          </p:nvPr>
        </p:nvSpPr>
        <p:spPr>
          <a:xfrm>
            <a:off x="365760"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Right">
            <a:extLst>
              <a:ext uri="{FF2B5EF4-FFF2-40B4-BE49-F238E27FC236}">
                <a16:creationId xmlns:a16="http://schemas.microsoft.com/office/drawing/2014/main" id="{0FC9A3C9-76CB-45ED-925D-DF04C6D528DC}"/>
              </a:ext>
              <a:ext uri="{C183D7F6-B498-43B3-948B-1728B52AA6E4}">
                <adec:decorative xmlns:adec="http://schemas.microsoft.com/office/drawing/2017/decorative" val="1"/>
              </a:ext>
            </a:extLst>
          </p:cNvPr>
          <p:cNvSpPr>
            <a:spLocks noGrp="1"/>
          </p:cNvSpPr>
          <p:nvPr>
            <p:ph type="pic" idx="23" hasCustomPrompt="1"/>
          </p:nvPr>
        </p:nvSpPr>
        <p:spPr>
          <a:xfrm>
            <a:off x="7891272"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3438144"/>
            <a:ext cx="5669280" cy="440329"/>
          </a:xfrm>
          <a:solidFill>
            <a:schemeClr val="accent1"/>
          </a:solid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7F5B85B9-BABC-44F6-B2AE-99F02670D702}"/>
              </a:ext>
            </a:extLst>
          </p:cNvPr>
          <p:cNvSpPr>
            <a:spLocks noGrp="1"/>
          </p:cNvSpPr>
          <p:nvPr>
            <p:ph idx="4" hasCustomPrompt="1"/>
          </p:nvPr>
        </p:nvSpPr>
        <p:spPr>
          <a:xfrm>
            <a:off x="6163056" y="3895344"/>
            <a:ext cx="5669280" cy="2551176"/>
          </a:xfrm>
        </p:spPr>
        <p:txBody>
          <a:bodyPr>
            <a:noAutofit/>
          </a:bodyPr>
          <a:lstStyle>
            <a:lvl1pPr>
              <a:lnSpc>
                <a:spcPct val="100000"/>
              </a:lnSpc>
              <a:spcAft>
                <a:spcPts val="600"/>
              </a:spcAft>
              <a:defRPr sz="2800">
                <a:solidFill>
                  <a:srgbClr val="232F3E"/>
                </a:solidFill>
                <a:latin typeface="Amazon Ember Display"/>
              </a:defRPr>
            </a:lvl1pPr>
            <a:lvl2pPr marL="457200" indent="-228600">
              <a:lnSpc>
                <a:spcPct val="100000"/>
              </a:lnSpc>
              <a:spcAft>
                <a:spcPts val="600"/>
              </a:spcAft>
              <a:defRPr sz="2400">
                <a:solidFill>
                  <a:srgbClr val="232F3E"/>
                </a:solidFill>
                <a:latin typeface="Amazon Ember Display"/>
              </a:defRPr>
            </a:lvl2pPr>
            <a:lvl3pPr marL="684213" indent="-228600">
              <a:lnSpc>
                <a:spcPct val="100000"/>
              </a:lnSpc>
              <a:spcAft>
                <a:spcPts val="600"/>
              </a:spcAft>
              <a:defRPr sz="2000">
                <a:solidFill>
                  <a:srgbClr val="232F3E"/>
                </a:solidFill>
                <a:latin typeface="Amazon Ember Display"/>
              </a:defRPr>
            </a:lvl3pPr>
            <a:lvl4pPr marL="914400" indent="-228600">
              <a:lnSpc>
                <a:spcPct val="100000"/>
              </a:lnSpc>
              <a:spcAft>
                <a:spcPts val="600"/>
              </a:spcAft>
              <a:defRPr sz="1800">
                <a:solidFill>
                  <a:srgbClr val="232F3E"/>
                </a:solidFill>
                <a:latin typeface="Amazon Ember Display"/>
              </a:defRPr>
            </a:lvl4pPr>
            <a:lvl5pPr marL="1144588" indent="-228600">
              <a:lnSpc>
                <a:spcPct val="100000"/>
              </a:lnSpc>
              <a:spcAft>
                <a:spcPts val="6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7168281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reserve="1">
  <p:cSld name="Title and 3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62D2B2A-D218-4356-AEF2-F7FF405939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3 text columns</a:t>
            </a:r>
          </a:p>
        </p:txBody>
      </p:sp>
      <p:pic>
        <p:nvPicPr>
          <p:cNvPr id="99" name="Divider">
            <a:extLst>
              <a:ext uri="{FF2B5EF4-FFF2-40B4-BE49-F238E27FC236}">
                <a16:creationId xmlns:a16="http://schemas.microsoft.com/office/drawing/2014/main" id="{7EE2A4FF-27FC-4124-82F8-941EBFCC0E4F}"/>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idx="2" hasCustomPrompt="1"/>
          </p:nvPr>
        </p:nvSpPr>
        <p:spPr>
          <a:xfrm>
            <a:off x="365760"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Middle">
            <a:extLst>
              <a:ext uri="{FF2B5EF4-FFF2-40B4-BE49-F238E27FC236}">
                <a16:creationId xmlns:a16="http://schemas.microsoft.com/office/drawing/2014/main" id="{951E617C-D9F7-4098-883E-6A048DBCF862}"/>
              </a:ext>
            </a:extLst>
          </p:cNvPr>
          <p:cNvSpPr>
            <a:spLocks noGrp="1"/>
          </p:cNvSpPr>
          <p:nvPr>
            <p:ph idx="3" hasCustomPrompt="1"/>
          </p:nvPr>
        </p:nvSpPr>
        <p:spPr>
          <a:xfrm>
            <a:off x="4224528"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Right">
            <a:extLst>
              <a:ext uri="{FF2B5EF4-FFF2-40B4-BE49-F238E27FC236}">
                <a16:creationId xmlns:a16="http://schemas.microsoft.com/office/drawing/2014/main" id="{A8A7CEA5-195D-4DB0-B5A3-06CEEA93C108}"/>
              </a:ext>
            </a:extLst>
          </p:cNvPr>
          <p:cNvSpPr>
            <a:spLocks noGrp="1"/>
          </p:cNvSpPr>
          <p:nvPr>
            <p:ph idx="4" hasCustomPrompt="1"/>
          </p:nvPr>
        </p:nvSpPr>
        <p:spPr>
          <a:xfrm>
            <a:off x="8083296" y="1097280"/>
            <a:ext cx="3749040" cy="53309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039267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D472F160-9C3B-4BD6-99BB-267BDD7DD31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headers, and 3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1563624"/>
            <a:ext cx="3749040" cy="4873752"/>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8083296" y="1053311"/>
            <a:ext cx="374904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4" name="Content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8083296" y="1591056"/>
            <a:ext cx="3749040" cy="4843688"/>
          </a:xfrm>
        </p:spPr>
        <p:txBody>
          <a:bodyPr>
            <a:noAutofit/>
          </a:bodyPr>
          <a:lstStyle>
            <a:lvl1pPr>
              <a:lnSpc>
                <a:spcPct val="100000"/>
              </a:lnSpc>
              <a:spcAft>
                <a:spcPts val="600"/>
              </a:spcAft>
              <a:defRPr sz="2800">
                <a:solidFill>
                  <a:srgbClr val="232F3E"/>
                </a:solidFill>
              </a:defRPr>
            </a:lvl1pPr>
            <a:lvl2pPr marL="457200" indent="-228600">
              <a:lnSpc>
                <a:spcPct val="100000"/>
              </a:lnSpc>
              <a:spcAft>
                <a:spcPts val="600"/>
              </a:spcAft>
              <a:defRPr sz="2400">
                <a:solidFill>
                  <a:srgbClr val="232F3E"/>
                </a:solidFill>
              </a:defRPr>
            </a:lvl2pPr>
            <a:lvl3pPr marL="684213" indent="-228600">
              <a:lnSpc>
                <a:spcPct val="100000"/>
              </a:lnSpc>
              <a:spcAft>
                <a:spcPts val="600"/>
              </a:spcAft>
              <a:defRPr sz="2000">
                <a:solidFill>
                  <a:srgbClr val="232F3E"/>
                </a:solidFill>
              </a:defRPr>
            </a:lvl3pPr>
            <a:lvl4pPr marL="914400" indent="-228600">
              <a:lnSpc>
                <a:spcPct val="100000"/>
              </a:lnSpc>
              <a:spcAft>
                <a:spcPts val="600"/>
              </a:spcAft>
              <a:defRPr sz="1800">
                <a:solidFill>
                  <a:srgbClr val="232F3E"/>
                </a:solidFill>
              </a:defRPr>
            </a:lvl4pPr>
            <a:lvl5pPr marL="1144588" indent="-228600">
              <a:lnSpc>
                <a:spcPct val="100000"/>
              </a:lnSpc>
              <a:spcAft>
                <a:spcPts val="600"/>
              </a:spcAft>
              <a:defRPr sz="18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4388386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3 Lg Pics, and 3 Headers">
    <p:bg>
      <p:bgPr>
        <a:solidFill>
          <a:schemeClr val="bg1"/>
        </a:solidFill>
        <a:effectLst/>
      </p:bgPr>
    </p:bg>
    <p:spTree>
      <p:nvGrpSpPr>
        <p:cNvPr id="1" name=""/>
        <p:cNvGrpSpPr/>
        <p:nvPr/>
      </p:nvGrpSpPr>
      <p:grpSpPr>
        <a:xfrm>
          <a:off x="0" y="0"/>
          <a:ext cx="0" cy="0"/>
          <a:chOff x="0" y="0"/>
          <a:chExt cx="0" cy="0"/>
        </a:xfrm>
      </p:grpSpPr>
      <p:pic>
        <p:nvPicPr>
          <p:cNvPr id="96" name="Divider">
            <a:extLst>
              <a:ext uri="{FF2B5EF4-FFF2-40B4-BE49-F238E27FC236}">
                <a16:creationId xmlns:a16="http://schemas.microsoft.com/office/drawing/2014/main" id="{07A34186-F2DF-4A02-80D8-2DCF8944E2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large pictures, and 3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22" hasCustomPrompt="1"/>
          </p:nvPr>
        </p:nvSpPr>
        <p:spPr>
          <a:xfrm>
            <a:off x="1097280"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Amazon Ember Display"/>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4956048" y="2286000"/>
            <a:ext cx="2286000" cy="2286000"/>
          </a:xfrm>
        </p:spPr>
        <p:txBody>
          <a:bodyPr anchor="t">
            <a:noAutofit/>
          </a:bodyPr>
          <a:lstStyle>
            <a:lvl1pPr marL="0" indent="0" algn="ctr">
              <a:buNone/>
              <a:defRPr sz="2000">
                <a:solidFill>
                  <a:schemeClr val="tx2"/>
                </a:solidFill>
                <a:latin typeface="+mn-lt"/>
              </a:defRPr>
            </a:lvl1pPr>
          </a:lstStyle>
          <a:p>
            <a:r>
              <a:rPr lang="en-US"/>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24" hasCustomPrompt="1"/>
          </p:nvPr>
        </p:nvSpPr>
        <p:spPr>
          <a:xfrm>
            <a:off x="8814816" y="2286000"/>
            <a:ext cx="2286000" cy="2286000"/>
          </a:xfrm>
        </p:spPr>
        <p:txBody>
          <a:bodyPr anchor="t">
            <a:noAutofit/>
          </a:bodyPr>
          <a:lstStyle>
            <a:lvl1pPr marL="0" indent="0" algn="ctr">
              <a:buNone/>
              <a:defRPr sz="2000">
                <a:solidFill>
                  <a:schemeClr val="tx2"/>
                </a:solidFill>
                <a:latin typeface="+mn-lt"/>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083296" y="4663440"/>
            <a:ext cx="3749040" cy="440329"/>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2485440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Title, 3 Picture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 and 3 text columns</a:t>
            </a:r>
          </a:p>
        </p:txBody>
      </p:sp>
      <p:pic>
        <p:nvPicPr>
          <p:cNvPr id="99" name="Divider">
            <a:extLst>
              <a:ext uri="{FF2B5EF4-FFF2-40B4-BE49-F238E27FC236}">
                <a16:creationId xmlns:a16="http://schemas.microsoft.com/office/drawing/2014/main" id="{6FD66F17-7724-455C-B925-81DD7A5F769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39847370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Header, 3 Pictures, and 3 Text Label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3 picture, and 3 labels</a:t>
            </a:r>
          </a:p>
        </p:txBody>
      </p:sp>
      <p:pic>
        <p:nvPicPr>
          <p:cNvPr id="99" name="Divider">
            <a:extLst>
              <a:ext uri="{FF2B5EF4-FFF2-40B4-BE49-F238E27FC236}">
                <a16:creationId xmlns:a16="http://schemas.microsoft.com/office/drawing/2014/main" id="{ED3BCD03-2F61-469D-A4B4-1B61BB21D364}"/>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Description">
            <a:extLst>
              <a:ext uri="{FF2B5EF4-FFF2-40B4-BE49-F238E27FC236}">
                <a16:creationId xmlns:a16="http://schemas.microsoft.com/office/drawing/2014/main" id="{125C2183-0325-4A52-BF1F-38F8AAFA8B4A}"/>
              </a:ext>
            </a:extLst>
          </p:cNvPr>
          <p:cNvSpPr>
            <a:spLocks noGrp="1"/>
          </p:cNvSpPr>
          <p:nvPr>
            <p:ph type="body" idx="2"/>
          </p:nvPr>
        </p:nvSpPr>
        <p:spPr>
          <a:xfrm>
            <a:off x="365125" y="1084263"/>
            <a:ext cx="11466576" cy="1158011"/>
          </a:xfrm>
        </p:spPr>
        <p:txBody>
          <a:bodyPr/>
          <a:lstStyle>
            <a:lvl1pPr marL="0" indent="0">
              <a:spcAft>
                <a:spcPts val="0"/>
              </a:spcAft>
              <a:buNone/>
              <a:defRPr>
                <a:solidFill>
                  <a:srgbClr val="232F3E"/>
                </a:solidFill>
                <a:latin typeface="+mn-lt"/>
              </a:defRPr>
            </a:lvl1pPr>
            <a:lvl2pPr marL="457200" indent="0">
              <a:buNone/>
              <a:defRPr/>
            </a:lvl2pPr>
          </a:lstStyle>
          <a:p>
            <a:pPr lvl="0"/>
            <a:r>
              <a:rPr lang="en-US"/>
              <a:t>Edit Master text styles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CEBB69C5-28A4-4F99-A9FE-572F9D53CF4E}"/>
              </a:ext>
            </a:extLst>
          </p:cNvPr>
          <p:cNvSpPr>
            <a:spLocks noGrp="1"/>
          </p:cNvSpPr>
          <p:nvPr>
            <p:ph type="body" idx="3" hasCustomPrompt="1"/>
          </p:nvPr>
        </p:nvSpPr>
        <p:spPr>
          <a:xfrm>
            <a:off x="365760"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4" name="Content Middle">
            <a:extLst>
              <a:ext uri="{FF2B5EF4-FFF2-40B4-BE49-F238E27FC236}">
                <a16:creationId xmlns:a16="http://schemas.microsoft.com/office/drawing/2014/main" id="{04C41CFA-9BF9-474A-89A9-E22790A538E2}"/>
              </a:ext>
            </a:extLst>
          </p:cNvPr>
          <p:cNvSpPr>
            <a:spLocks noGrp="1"/>
          </p:cNvSpPr>
          <p:nvPr>
            <p:ph type="body" idx="4" hasCustomPrompt="1"/>
          </p:nvPr>
        </p:nvSpPr>
        <p:spPr>
          <a:xfrm>
            <a:off x="4224528"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2286000"/>
            <a:ext cx="2286000" cy="2286000"/>
          </a:xfrm>
        </p:spPr>
        <p:txBody>
          <a:bodyPr anchor="t">
            <a:normAutofit/>
          </a:bodyPr>
          <a:lstStyle>
            <a:lvl1pPr marL="0" indent="0" algn="ctr">
              <a:buNone/>
              <a:defRPr sz="2000">
                <a:solidFill>
                  <a:srgbClr val="232F3E"/>
                </a:solidFill>
                <a:latin typeface="+mn-lt"/>
              </a:defRPr>
            </a:lvl1pPr>
          </a:lstStyle>
          <a:p>
            <a:r>
              <a:rPr lang="en-US" dirty="0"/>
              <a:t>Click icon to add image</a:t>
            </a:r>
          </a:p>
        </p:txBody>
      </p:sp>
      <p:sp>
        <p:nvSpPr>
          <p:cNvPr id="5" name="Content Right">
            <a:extLst>
              <a:ext uri="{FF2B5EF4-FFF2-40B4-BE49-F238E27FC236}">
                <a16:creationId xmlns:a16="http://schemas.microsoft.com/office/drawing/2014/main" id="{CF01F87A-DBEF-4657-8500-6A751FF3BC24}"/>
              </a:ext>
            </a:extLst>
          </p:cNvPr>
          <p:cNvSpPr>
            <a:spLocks noGrp="1"/>
          </p:cNvSpPr>
          <p:nvPr>
            <p:ph type="body" idx="5" hasCustomPrompt="1"/>
          </p:nvPr>
        </p:nvSpPr>
        <p:spPr>
          <a:xfrm>
            <a:off x="8083296" y="4663440"/>
            <a:ext cx="3749040" cy="1783080"/>
          </a:xfrm>
          <a:noFill/>
          <a:ln>
            <a:noFill/>
          </a:ln>
        </p:spPr>
        <p:txBody>
          <a:bodyPr lIns="91440" anchor="t">
            <a:noAutofit/>
          </a:bodyPr>
          <a:lstStyle>
            <a:lvl1pPr marL="0" indent="0" algn="ctr">
              <a:lnSpc>
                <a:spcPct val="100000"/>
              </a:lnSpc>
              <a:spcBef>
                <a:spcPts val="0"/>
              </a:spcBef>
              <a:spcAft>
                <a:spcPts val="0"/>
              </a:spcAft>
              <a:buNone/>
              <a:defRPr sz="24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Add content text</a:t>
            </a:r>
          </a:p>
        </p:txBody>
      </p:sp>
    </p:spTree>
    <p:custDataLst>
      <p:tags r:id="rId1"/>
    </p:custDataLst>
    <p:extLst>
      <p:ext uri="{BB962C8B-B14F-4D97-AF65-F5344CB8AC3E}">
        <p14:creationId xmlns:p14="http://schemas.microsoft.com/office/powerpoint/2010/main" val="31850303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3 Pics, and 3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pictures, and 3 text columns</a:t>
            </a:r>
          </a:p>
        </p:txBody>
      </p:sp>
      <p:pic>
        <p:nvPicPr>
          <p:cNvPr id="99" name="Divider">
            <a:extLst>
              <a:ext uri="{FF2B5EF4-FFF2-40B4-BE49-F238E27FC236}">
                <a16:creationId xmlns:a16="http://schemas.microsoft.com/office/drawing/2014/main" id="{F8C81323-B9A7-416C-ADF9-5BE9CC234E8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3" hasCustomPrompt="1"/>
          </p:nvPr>
        </p:nvSpPr>
        <p:spPr>
          <a:xfrm>
            <a:off x="4956048"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429000"/>
            <a:ext cx="3749040" cy="299923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621175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3 Pics, 3 Headers, and 3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747EDC26-917A-4143-823B-A7407C3FC37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C486246-EB4C-49BA-AED3-F7550CA0BA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1" y="301752"/>
            <a:ext cx="11466576" cy="731318"/>
          </a:xfrm>
        </p:spPr>
        <p:txBody>
          <a:bodyPr/>
          <a:lstStyle>
            <a:lvl1pPr>
              <a:defRPr>
                <a:solidFill>
                  <a:srgbClr val="232F3E"/>
                </a:solidFill>
                <a:latin typeface="Amazon Ember Display Heavy"/>
              </a:defRPr>
            </a:lvl1pPr>
          </a:lstStyle>
          <a:p>
            <a:r>
              <a:rPr lang="en-US" dirty="0"/>
              <a:t>Title, 3 pictures , 3 headers, and 3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1097280"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3"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4956048"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3" name="Content Header Middle">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4224528"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Middle">
            <a:extLst>
              <a:ext uri="{FF2B5EF4-FFF2-40B4-BE49-F238E27FC236}">
                <a16:creationId xmlns:a16="http://schemas.microsoft.com/office/drawing/2014/main" id="{7F5B85B9-BABC-44F6-B2AE-99F02670D702}"/>
              </a:ext>
            </a:extLst>
          </p:cNvPr>
          <p:cNvSpPr>
            <a:spLocks noGrp="1"/>
          </p:cNvSpPr>
          <p:nvPr>
            <p:ph type="body" idx="3" hasCustomPrompt="1"/>
          </p:nvPr>
        </p:nvSpPr>
        <p:spPr>
          <a:xfrm>
            <a:off x="4224528"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24"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8814816" y="1097280"/>
            <a:ext cx="2286000" cy="2286000"/>
          </a:xfrm>
        </p:spPr>
        <p:txBody>
          <a:bodyPr anchor="t">
            <a:noAutofit/>
          </a:bodyPr>
          <a:lstStyle>
            <a:lvl1pPr marL="0" indent="0" algn="ctr">
              <a:buNone/>
              <a:defRPr sz="2400">
                <a:solidFill>
                  <a:srgbClr val="232F3E"/>
                </a:solidFill>
              </a:defRPr>
            </a:lvl1pPr>
          </a:lstStyle>
          <a:p>
            <a:r>
              <a:rPr lang="en-US" dirty="0"/>
              <a:t>Click icon to add image</a:t>
            </a:r>
          </a:p>
        </p:txBody>
      </p:sp>
      <p:sp>
        <p:nvSpPr>
          <p:cNvPr id="14" name="Content Head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8101583" y="3429000"/>
            <a:ext cx="374904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Right">
            <a:extLst>
              <a:ext uri="{FF2B5EF4-FFF2-40B4-BE49-F238E27FC236}">
                <a16:creationId xmlns:a16="http://schemas.microsoft.com/office/drawing/2014/main" id="{FD28CF85-103D-4AC7-BF7A-D32715F9433A}"/>
              </a:ext>
            </a:extLst>
          </p:cNvPr>
          <p:cNvSpPr>
            <a:spLocks noGrp="1"/>
          </p:cNvSpPr>
          <p:nvPr>
            <p:ph type="body" idx="4" hasCustomPrompt="1"/>
          </p:nvPr>
        </p:nvSpPr>
        <p:spPr>
          <a:xfrm>
            <a:off x="8083296" y="3895344"/>
            <a:ext cx="3749040" cy="2539399"/>
          </a:xfrm>
        </p:spPr>
        <p:txBody>
          <a:bodyPr>
            <a:noAutofit/>
          </a:bodyPr>
          <a:lstStyle>
            <a:lvl1pPr>
              <a:lnSpc>
                <a:spcPct val="100000"/>
              </a:lnSpc>
              <a:spcBef>
                <a:spcPts val="0"/>
              </a:spcBef>
              <a:spcAft>
                <a:spcPts val="600"/>
              </a:spcAft>
              <a:defRPr sz="2400">
                <a:solidFill>
                  <a:srgbClr val="232F3E"/>
                </a:solidFill>
              </a:defRPr>
            </a:lvl1pPr>
            <a:lvl2pPr marL="457200" indent="-228600">
              <a:lnSpc>
                <a:spcPct val="100000"/>
              </a:lnSpc>
              <a:spcBef>
                <a:spcPts val="0"/>
              </a:spcBef>
              <a:spcAft>
                <a:spcPts val="600"/>
              </a:spcAft>
              <a:defRPr sz="2000">
                <a:solidFill>
                  <a:srgbClr val="232F3E"/>
                </a:solidFill>
              </a:defRPr>
            </a:lvl2pPr>
            <a:lvl3pPr marL="684213" indent="-228600">
              <a:lnSpc>
                <a:spcPct val="100000"/>
              </a:lnSpc>
              <a:spcBef>
                <a:spcPts val="0"/>
              </a:spcBef>
              <a:spcAft>
                <a:spcPts val="600"/>
              </a:spcAft>
              <a:defRPr sz="1800">
                <a:solidFill>
                  <a:srgbClr val="232F3E"/>
                </a:solidFill>
              </a:defRPr>
            </a:lvl3pPr>
            <a:lvl4pPr marL="914400" indent="-228600">
              <a:lnSpc>
                <a:spcPct val="100000"/>
              </a:lnSpc>
              <a:spcBef>
                <a:spcPts val="0"/>
              </a:spcBef>
              <a:spcAft>
                <a:spcPts val="600"/>
              </a:spcAft>
              <a:defRPr sz="1600">
                <a:solidFill>
                  <a:srgbClr val="232F3E"/>
                </a:solidFill>
              </a:defRPr>
            </a:lvl4pPr>
            <a:lvl5pPr marL="1144588" indent="-228600">
              <a:lnSpc>
                <a:spcPct val="100000"/>
              </a:lnSpc>
              <a:spcBef>
                <a:spcPts val="0"/>
              </a:spcBef>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5905429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Title, 3 images, and 3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5"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3 images, and 3 text</a:t>
            </a:r>
          </a:p>
        </p:txBody>
      </p:sp>
      <p:pic>
        <p:nvPicPr>
          <p:cNvPr id="99" name="Divider">
            <a:extLst>
              <a:ext uri="{FF2B5EF4-FFF2-40B4-BE49-F238E27FC236}">
                <a16:creationId xmlns:a16="http://schemas.microsoft.com/office/drawing/2014/main" id="{4A7FD274-6B14-4547-8F81-35EB1030AF5A}"/>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2" name="Conten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3" y="1147406"/>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3" name="Conten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3" y="291750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anchor="t">
            <a:noAutofit/>
          </a:bodyPr>
          <a:lstStyle>
            <a:lvl1pPr marL="0" indent="0" algn="ctr">
              <a:buNone/>
              <a:defRPr sz="1800">
                <a:solidFill>
                  <a:srgbClr val="232F3E"/>
                </a:solidFill>
              </a:defRPr>
            </a:lvl1pPr>
          </a:lstStyle>
          <a:p>
            <a:r>
              <a:rPr lang="en-US" dirty="0"/>
              <a:t>Click icon to add image</a:t>
            </a:r>
          </a:p>
        </p:txBody>
      </p:sp>
      <p:sp>
        <p:nvSpPr>
          <p:cNvPr id="4" name="Conten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3" y="4684674"/>
            <a:ext cx="9781197"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2445143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Acronym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Acronym Slide</a:t>
            </a:r>
          </a:p>
        </p:txBody>
      </p:sp>
      <p:pic>
        <p:nvPicPr>
          <p:cNvPr id="99" name="Divider">
            <a:extLst>
              <a:ext uri="{FF2B5EF4-FFF2-40B4-BE49-F238E27FC236}">
                <a16:creationId xmlns:a16="http://schemas.microsoft.com/office/drawing/2014/main" id="{E75453ED-071C-4C2B-B7E5-A670D111A549}"/>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8" name="Acronym Left Top">
            <a:extLst>
              <a:ext uri="{FF2B5EF4-FFF2-40B4-BE49-F238E27FC236}">
                <a16:creationId xmlns:a16="http://schemas.microsoft.com/office/drawing/2014/main" id="{BFBAFEAE-54DC-4352-A240-FBA7A523B7F4}"/>
              </a:ext>
            </a:extLst>
          </p:cNvPr>
          <p:cNvSpPr>
            <a:spLocks noGrp="1"/>
          </p:cNvSpPr>
          <p:nvPr>
            <p:ph type="body" idx="8" hasCustomPrompt="1"/>
          </p:nvPr>
        </p:nvSpPr>
        <p:spPr>
          <a:xfrm>
            <a:off x="353060"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2" name="Content Left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194163" y="1096963"/>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233363" indent="0">
              <a:lnSpc>
                <a:spcPct val="100000"/>
              </a:lnSpc>
              <a:spcBef>
                <a:spcPts val="300"/>
              </a:spcBef>
              <a:spcAft>
                <a:spcPts val="600"/>
              </a:spcAft>
              <a:buNone/>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9" name="Acronym Left Middle">
            <a:extLst>
              <a:ext uri="{FF2B5EF4-FFF2-40B4-BE49-F238E27FC236}">
                <a16:creationId xmlns:a16="http://schemas.microsoft.com/office/drawing/2014/main" id="{DF521447-4E72-4F87-B8F3-0A9998B3AC50}"/>
              </a:ext>
            </a:extLst>
          </p:cNvPr>
          <p:cNvSpPr>
            <a:spLocks noGrp="1"/>
          </p:cNvSpPr>
          <p:nvPr>
            <p:ph type="body" idx="9" hasCustomPrompt="1"/>
          </p:nvPr>
        </p:nvSpPr>
        <p:spPr>
          <a:xfrm>
            <a:off x="353060"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3" name="Content Left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194163"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0" name="Acronym Left Bottom">
            <a:extLst>
              <a:ext uri="{FF2B5EF4-FFF2-40B4-BE49-F238E27FC236}">
                <a16:creationId xmlns:a16="http://schemas.microsoft.com/office/drawing/2014/main" id="{1A869D27-DAC1-4525-9F52-0E454C69A2CC}"/>
              </a:ext>
            </a:extLst>
          </p:cNvPr>
          <p:cNvSpPr>
            <a:spLocks noGrp="1"/>
          </p:cNvSpPr>
          <p:nvPr>
            <p:ph type="body" idx="10" hasCustomPrompt="1"/>
          </p:nvPr>
        </p:nvSpPr>
        <p:spPr>
          <a:xfrm>
            <a:off x="353060"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4" name="Content Left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194163"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1" name="Acronym Right Top">
            <a:extLst>
              <a:ext uri="{FF2B5EF4-FFF2-40B4-BE49-F238E27FC236}">
                <a16:creationId xmlns:a16="http://schemas.microsoft.com/office/drawing/2014/main" id="{9837C0E6-DDD2-4E65-9314-88432234A7B2}"/>
              </a:ext>
            </a:extLst>
          </p:cNvPr>
          <p:cNvSpPr>
            <a:spLocks noGrp="1"/>
          </p:cNvSpPr>
          <p:nvPr>
            <p:ph type="body" idx="11" hasCustomPrompt="1"/>
          </p:nvPr>
        </p:nvSpPr>
        <p:spPr>
          <a:xfrm>
            <a:off x="6162412" y="1188403"/>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5" name="Content Right Top">
            <a:extLst>
              <a:ext uri="{FF2B5EF4-FFF2-40B4-BE49-F238E27FC236}">
                <a16:creationId xmlns:a16="http://schemas.microsoft.com/office/drawing/2014/main" id="{90BB8441-20A6-4797-B4CD-C5446F55BFC4}"/>
              </a:ext>
            </a:extLst>
          </p:cNvPr>
          <p:cNvSpPr>
            <a:spLocks noGrp="1"/>
          </p:cNvSpPr>
          <p:nvPr>
            <p:ph type="body" idx="5" hasCustomPrompt="1"/>
          </p:nvPr>
        </p:nvSpPr>
        <p:spPr>
          <a:xfrm>
            <a:off x="7991878" y="1096963"/>
            <a:ext cx="3840480" cy="1737360"/>
          </a:xfrm>
        </p:spPr>
        <p:txBody>
          <a:bodyPr anchor="ctr">
            <a:noAutofit/>
          </a:bodyPr>
          <a:lstStyle>
            <a:lvl1pPr marL="0" indent="0" algn="l" defTabSz="914400" rtl="0" eaLnBrk="1" latinLnBrk="0" hangingPunct="1">
              <a:lnSpc>
                <a:spcPct val="100000"/>
              </a:lnSpc>
              <a:spcBef>
                <a:spcPts val="0"/>
              </a:spcBef>
              <a:spcAft>
                <a:spcPts val="300"/>
              </a:spcAft>
              <a:buFont typeface="Amazon Ember Display"/>
              <a:buNone/>
              <a:defRPr lang="en-US" sz="2000" kern="1200" dirty="0">
                <a:solidFill>
                  <a:srgbClr val="232F3E"/>
                </a:solidFill>
                <a:latin typeface="Amazon Ember Display"/>
                <a:ea typeface="+mn-ea"/>
                <a:cs typeface="+mn-cs"/>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4" name="Acronym Right Middle">
            <a:extLst>
              <a:ext uri="{FF2B5EF4-FFF2-40B4-BE49-F238E27FC236}">
                <a16:creationId xmlns:a16="http://schemas.microsoft.com/office/drawing/2014/main" id="{92570328-F506-4FC2-AE2B-53186B9CA0BF}"/>
              </a:ext>
            </a:extLst>
          </p:cNvPr>
          <p:cNvSpPr>
            <a:spLocks noGrp="1"/>
          </p:cNvSpPr>
          <p:nvPr>
            <p:ph type="body" idx="12" hasCustomPrompt="1"/>
          </p:nvPr>
        </p:nvSpPr>
        <p:spPr>
          <a:xfrm>
            <a:off x="6162412" y="2980786"/>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6" name="Content Right Middle">
            <a:extLst>
              <a:ext uri="{FF2B5EF4-FFF2-40B4-BE49-F238E27FC236}">
                <a16:creationId xmlns:a16="http://schemas.microsoft.com/office/drawing/2014/main" id="{0FAE0B8A-BC98-4464-9C65-3A47B0A5EACB}"/>
              </a:ext>
            </a:extLst>
          </p:cNvPr>
          <p:cNvSpPr>
            <a:spLocks noGrp="1"/>
          </p:cNvSpPr>
          <p:nvPr>
            <p:ph type="body" idx="6" hasCustomPrompt="1"/>
          </p:nvPr>
        </p:nvSpPr>
        <p:spPr>
          <a:xfrm>
            <a:off x="7991878" y="2889346"/>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
        <p:nvSpPr>
          <p:cNvPr id="13" name="Acronym Right Bottom">
            <a:extLst>
              <a:ext uri="{FF2B5EF4-FFF2-40B4-BE49-F238E27FC236}">
                <a16:creationId xmlns:a16="http://schemas.microsoft.com/office/drawing/2014/main" id="{724B4804-F3F3-4B62-A0EC-A77D95C244CD}"/>
              </a:ext>
            </a:extLst>
          </p:cNvPr>
          <p:cNvSpPr>
            <a:spLocks noGrp="1"/>
          </p:cNvSpPr>
          <p:nvPr>
            <p:ph type="body" idx="13" hasCustomPrompt="1"/>
          </p:nvPr>
        </p:nvSpPr>
        <p:spPr>
          <a:xfrm>
            <a:off x="6162412" y="4773168"/>
            <a:ext cx="1828800" cy="1554480"/>
          </a:xfrm>
        </p:spPr>
        <p:txBody>
          <a:bodyPr lIns="0" tIns="0" rIns="0" bIns="0" anchor="ctr">
            <a:noAutofit/>
          </a:bodyPr>
          <a:lstStyle>
            <a:lvl1pPr marL="0" indent="0" algn="ctr">
              <a:lnSpc>
                <a:spcPct val="100000"/>
              </a:lnSpc>
              <a:spcBef>
                <a:spcPts val="0"/>
              </a:spcBef>
              <a:buNone/>
              <a:defRPr lang="en-US" sz="5400" b="1" kern="1200" cap="none" spc="0" dirty="0">
                <a:ln w="9525">
                  <a:solidFill>
                    <a:schemeClr val="bg1"/>
                  </a:solidFill>
                  <a:prstDash val="solid"/>
                </a:ln>
                <a:solidFill>
                  <a:schemeClr val="accent2"/>
                </a:solidFill>
                <a:effectLst>
                  <a:outerShdw blurRad="12700" dist="38100" dir="2700000" algn="tl" rotWithShape="0">
                    <a:schemeClr val="bg1">
                      <a:lumMod val="50000"/>
                    </a:schemeClr>
                  </a:outerShdw>
                </a:effectLst>
                <a:latin typeface="+mn-lt"/>
                <a:ea typeface="+mn-ea"/>
                <a:cs typeface="+mn-cs"/>
              </a:defRPr>
            </a:lvl1pPr>
          </a:lstStyle>
          <a:p>
            <a:pPr lvl="0"/>
            <a:r>
              <a:rPr lang="en-US" dirty="0"/>
              <a:t>ABR</a:t>
            </a:r>
          </a:p>
        </p:txBody>
      </p:sp>
      <p:sp>
        <p:nvSpPr>
          <p:cNvPr id="7" name="Content Right Bottom">
            <a:extLst>
              <a:ext uri="{FF2B5EF4-FFF2-40B4-BE49-F238E27FC236}">
                <a16:creationId xmlns:a16="http://schemas.microsoft.com/office/drawing/2014/main" id="{30387F87-E08F-4DED-BCEC-437402769732}"/>
              </a:ext>
            </a:extLst>
          </p:cNvPr>
          <p:cNvSpPr>
            <a:spLocks noGrp="1"/>
          </p:cNvSpPr>
          <p:nvPr>
            <p:ph type="body" idx="7" hasCustomPrompt="1"/>
          </p:nvPr>
        </p:nvSpPr>
        <p:spPr>
          <a:xfrm>
            <a:off x="7991878" y="4681728"/>
            <a:ext cx="3840480" cy="1737360"/>
          </a:xfrm>
        </p:spPr>
        <p:txBody>
          <a:bodyPr anchor="ctr">
            <a:noAutofit/>
          </a:bodyPr>
          <a:lstStyle>
            <a:lvl1pPr marL="0" indent="0">
              <a:lnSpc>
                <a:spcPct val="100000"/>
              </a:lnSpc>
              <a:spcBef>
                <a:spcPts val="0"/>
              </a:spcBef>
              <a:spcAft>
                <a:spcPts val="300"/>
              </a:spcAft>
              <a:buNone/>
              <a:defRPr sz="2000">
                <a:solidFill>
                  <a:srgbClr val="232F3E"/>
                </a:solidFill>
                <a:latin typeface="Amazon Ember Display"/>
              </a:defRPr>
            </a:lvl1pPr>
            <a:lvl2pPr marL="461963" indent="-228600">
              <a:lnSpc>
                <a:spcPct val="100000"/>
              </a:lnSpc>
              <a:spcBef>
                <a:spcPts val="300"/>
              </a:spcBef>
              <a:spcAft>
                <a:spcPts val="600"/>
              </a:spcAft>
              <a:defRPr sz="2000">
                <a:solidFill>
                  <a:srgbClr val="232F3E"/>
                </a:solidFill>
                <a:latin typeface="Amazon Ember Display"/>
              </a:defRPr>
            </a:lvl2pPr>
            <a:lvl3pPr marL="455613" indent="0">
              <a:lnSpc>
                <a:spcPct val="100000"/>
              </a:lnSpc>
              <a:spcAft>
                <a:spcPts val="600"/>
              </a:spcAft>
              <a:buNone/>
              <a:defRPr sz="2000">
                <a:solidFill>
                  <a:schemeClr val="tx2"/>
                </a:solidFill>
                <a:latin typeface="Amazon Ember Display"/>
              </a:defRPr>
            </a:lvl3pPr>
            <a:lvl4pPr marL="914400" indent="-228600">
              <a:lnSpc>
                <a:spcPct val="100000"/>
              </a:lnSpc>
              <a:spcAft>
                <a:spcPts val="600"/>
              </a:spcAft>
              <a:defRPr sz="1800">
                <a:solidFill>
                  <a:schemeClr val="tx2"/>
                </a:solidFill>
                <a:latin typeface="Amazon Ember Display"/>
              </a:defRPr>
            </a:lvl4pPr>
            <a:lvl5pPr marL="1144588" indent="-228600">
              <a:lnSpc>
                <a:spcPct val="100000"/>
              </a:lnSpc>
              <a:spcAft>
                <a:spcPts val="600"/>
              </a:spcAft>
              <a:defRPr sz="1800">
                <a:solidFill>
                  <a:schemeClr val="tx2"/>
                </a:solidFill>
                <a:latin typeface="Amazon Ember Display"/>
              </a:defRPr>
            </a:lvl5pPr>
          </a:lstStyle>
          <a:p>
            <a:pPr lvl="0"/>
            <a:r>
              <a:rPr lang="en-US" dirty="0"/>
              <a:t>Acronym spelled out</a:t>
            </a:r>
          </a:p>
          <a:p>
            <a:pPr lvl="0"/>
            <a:r>
              <a:rPr lang="en-US" dirty="0"/>
              <a:t>Description</a:t>
            </a:r>
          </a:p>
          <a:p>
            <a:pPr lvl="0"/>
            <a:r>
              <a:rPr lang="en-US" dirty="0"/>
              <a:t>- Example</a:t>
            </a:r>
          </a:p>
        </p:txBody>
      </p:sp>
    </p:spTree>
    <p:custDataLst>
      <p:tags r:id="rId1"/>
    </p:custDataLst>
    <p:extLst>
      <p:ext uri="{BB962C8B-B14F-4D97-AF65-F5344CB8AC3E}">
        <p14:creationId xmlns:p14="http://schemas.microsoft.com/office/powerpoint/2010/main" val="31940784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6 images, and 6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8BD5B93-38A6-4C4A-A3EB-A591F4EDD6E5}"/>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6 images, and 6 text boxes</a:t>
            </a:r>
          </a:p>
        </p:txBody>
      </p:sp>
      <p:pic>
        <p:nvPicPr>
          <p:cNvPr id="99" name="Divider">
            <a:extLst>
              <a:ext uri="{FF2B5EF4-FFF2-40B4-BE49-F238E27FC236}">
                <a16:creationId xmlns:a16="http://schemas.microsoft.com/office/drawing/2014/main" id="{D8CEDAC6-2953-4473-BCFC-2357BFF2845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2" name="Picture L Top">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type="pic" idx="22" hasCustomPrompt="1"/>
          </p:nvPr>
        </p:nvSpPr>
        <p:spPr>
          <a:xfrm>
            <a:off x="365760"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2" name="Content L Top">
            <a:extLst>
              <a:ext uri="{FF2B5EF4-FFF2-40B4-BE49-F238E27FC236}">
                <a16:creationId xmlns:a16="http://schemas.microsoft.com/office/drawing/2014/main" id="{5ACBD598-6775-4223-B2AB-B169A112E3FF}"/>
              </a:ext>
            </a:extLst>
          </p:cNvPr>
          <p:cNvSpPr>
            <a:spLocks noGrp="1"/>
          </p:cNvSpPr>
          <p:nvPr>
            <p:ph type="body" idx="2" hasCustomPrompt="1"/>
          </p:nvPr>
        </p:nvSpPr>
        <p:spPr>
          <a:xfrm>
            <a:off x="2045044"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3" name="Picture L Middle">
            <a:extLst>
              <a:ext uri="{FF2B5EF4-FFF2-40B4-BE49-F238E27FC236}">
                <a16:creationId xmlns:a16="http://schemas.microsoft.com/office/drawing/2014/main" id="{B777B55C-601A-4296-A013-0704520C9933}"/>
              </a:ext>
              <a:ext uri="{C183D7F6-B498-43B3-948B-1728B52AA6E4}">
                <adec:decorative xmlns:adec="http://schemas.microsoft.com/office/drawing/2017/decorative" val="1"/>
              </a:ext>
            </a:extLst>
          </p:cNvPr>
          <p:cNvSpPr>
            <a:spLocks noGrp="1"/>
          </p:cNvSpPr>
          <p:nvPr>
            <p:ph type="pic" idx="23" hasCustomPrompt="1"/>
          </p:nvPr>
        </p:nvSpPr>
        <p:spPr>
          <a:xfrm>
            <a:off x="365760"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3" name="Content L Middle">
            <a:extLst>
              <a:ext uri="{FF2B5EF4-FFF2-40B4-BE49-F238E27FC236}">
                <a16:creationId xmlns:a16="http://schemas.microsoft.com/office/drawing/2014/main" id="{80E603A3-BB5F-4E92-A77C-5055D8FB5D06}"/>
              </a:ext>
            </a:extLst>
          </p:cNvPr>
          <p:cNvSpPr>
            <a:spLocks noGrp="1"/>
          </p:cNvSpPr>
          <p:nvPr>
            <p:ph type="body" idx="3" hasCustomPrompt="1"/>
          </p:nvPr>
        </p:nvSpPr>
        <p:spPr>
          <a:xfrm>
            <a:off x="2045044"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4" name="Picture L Bottom">
            <a:extLst>
              <a:ext uri="{FF2B5EF4-FFF2-40B4-BE49-F238E27FC236}">
                <a16:creationId xmlns:a16="http://schemas.microsoft.com/office/drawing/2014/main" id="{E03CC3B4-6BE1-41D3-B04E-E0C023B529E1}"/>
              </a:ext>
              <a:ext uri="{C183D7F6-B498-43B3-948B-1728B52AA6E4}">
                <adec:decorative xmlns:adec="http://schemas.microsoft.com/office/drawing/2017/decorative" val="1"/>
              </a:ext>
            </a:extLst>
          </p:cNvPr>
          <p:cNvSpPr>
            <a:spLocks noGrp="1"/>
          </p:cNvSpPr>
          <p:nvPr>
            <p:ph type="pic" idx="24" hasCustomPrompt="1"/>
          </p:nvPr>
        </p:nvSpPr>
        <p:spPr>
          <a:xfrm>
            <a:off x="365760"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4" name="Content L Bottom">
            <a:extLst>
              <a:ext uri="{FF2B5EF4-FFF2-40B4-BE49-F238E27FC236}">
                <a16:creationId xmlns:a16="http://schemas.microsoft.com/office/drawing/2014/main" id="{AD9F5B5C-5A2E-4FDE-BE90-933A1A3633E4}"/>
              </a:ext>
            </a:extLst>
          </p:cNvPr>
          <p:cNvSpPr>
            <a:spLocks noGrp="1"/>
          </p:cNvSpPr>
          <p:nvPr>
            <p:ph type="body" idx="4" hasCustomPrompt="1"/>
          </p:nvPr>
        </p:nvSpPr>
        <p:spPr>
          <a:xfrm>
            <a:off x="2045044"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5" name="Picture R Top">
            <a:extLst>
              <a:ext uri="{FF2B5EF4-FFF2-40B4-BE49-F238E27FC236}">
                <a16:creationId xmlns:a16="http://schemas.microsoft.com/office/drawing/2014/main" id="{2537EBA4-2DD0-426E-A66E-7F0CC3C9A863}"/>
              </a:ext>
              <a:ext uri="{C183D7F6-B498-43B3-948B-1728B52AA6E4}">
                <adec:decorative xmlns:adec="http://schemas.microsoft.com/office/drawing/2017/decorative" val="1"/>
              </a:ext>
            </a:extLst>
          </p:cNvPr>
          <p:cNvSpPr>
            <a:spLocks noGrp="1"/>
          </p:cNvSpPr>
          <p:nvPr>
            <p:ph type="pic" idx="25" hasCustomPrompt="1"/>
          </p:nvPr>
        </p:nvSpPr>
        <p:spPr>
          <a:xfrm>
            <a:off x="6205152" y="1238846"/>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5" name="Content R Top">
            <a:extLst>
              <a:ext uri="{FF2B5EF4-FFF2-40B4-BE49-F238E27FC236}">
                <a16:creationId xmlns:a16="http://schemas.microsoft.com/office/drawing/2014/main" id="{3124324C-4E3B-473E-85DD-0988B7B4CD52}"/>
              </a:ext>
            </a:extLst>
          </p:cNvPr>
          <p:cNvSpPr>
            <a:spLocks noGrp="1"/>
          </p:cNvSpPr>
          <p:nvPr>
            <p:ph type="body" idx="5" hasCustomPrompt="1"/>
          </p:nvPr>
        </p:nvSpPr>
        <p:spPr>
          <a:xfrm>
            <a:off x="7884436" y="1147406"/>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6" name="Picture R Middle">
            <a:extLst>
              <a:ext uri="{FF2B5EF4-FFF2-40B4-BE49-F238E27FC236}">
                <a16:creationId xmlns:a16="http://schemas.microsoft.com/office/drawing/2014/main" id="{C2DF48EF-CB9B-4DEC-A978-BD4C5E8A371A}"/>
              </a:ext>
              <a:ext uri="{C183D7F6-B498-43B3-948B-1728B52AA6E4}">
                <adec:decorative xmlns:adec="http://schemas.microsoft.com/office/drawing/2017/decorative" val="1"/>
              </a:ext>
            </a:extLst>
          </p:cNvPr>
          <p:cNvSpPr>
            <a:spLocks noGrp="1"/>
          </p:cNvSpPr>
          <p:nvPr>
            <p:ph type="pic" idx="26" hasCustomPrompt="1"/>
          </p:nvPr>
        </p:nvSpPr>
        <p:spPr>
          <a:xfrm>
            <a:off x="6205152" y="300894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6" name="Content R Middle">
            <a:extLst>
              <a:ext uri="{FF2B5EF4-FFF2-40B4-BE49-F238E27FC236}">
                <a16:creationId xmlns:a16="http://schemas.microsoft.com/office/drawing/2014/main" id="{823555B5-F2D8-4708-8578-06784CA9E686}"/>
              </a:ext>
            </a:extLst>
          </p:cNvPr>
          <p:cNvSpPr>
            <a:spLocks noGrp="1"/>
          </p:cNvSpPr>
          <p:nvPr>
            <p:ph type="body" idx="6" hasCustomPrompt="1"/>
          </p:nvPr>
        </p:nvSpPr>
        <p:spPr>
          <a:xfrm>
            <a:off x="7884436" y="291750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
        <p:nvSpPr>
          <p:cNvPr id="27" name="Picture R Bottom">
            <a:extLst>
              <a:ext uri="{FF2B5EF4-FFF2-40B4-BE49-F238E27FC236}">
                <a16:creationId xmlns:a16="http://schemas.microsoft.com/office/drawing/2014/main" id="{F1E0B4C9-22CB-4378-B9DD-C97CC3CC37D3}"/>
              </a:ext>
              <a:ext uri="{C183D7F6-B498-43B3-948B-1728B52AA6E4}">
                <adec:decorative xmlns:adec="http://schemas.microsoft.com/office/drawing/2017/decorative" val="1"/>
              </a:ext>
            </a:extLst>
          </p:cNvPr>
          <p:cNvSpPr>
            <a:spLocks noGrp="1"/>
          </p:cNvSpPr>
          <p:nvPr>
            <p:ph type="pic" idx="27" hasCustomPrompt="1"/>
          </p:nvPr>
        </p:nvSpPr>
        <p:spPr>
          <a:xfrm>
            <a:off x="6205152" y="4776114"/>
            <a:ext cx="1554480" cy="1554480"/>
          </a:xfrm>
        </p:spPr>
        <p:txBody>
          <a:bodyPr wrap="square" anchor="t">
            <a:noAutofit/>
          </a:bodyPr>
          <a:lstStyle>
            <a:lvl1pPr marL="0" indent="0" algn="ctr">
              <a:buNone/>
              <a:defRPr sz="1800">
                <a:solidFill>
                  <a:srgbClr val="232F3E"/>
                </a:solidFill>
              </a:defRPr>
            </a:lvl1pPr>
          </a:lstStyle>
          <a:p>
            <a:r>
              <a:rPr lang="en-US" dirty="0"/>
              <a:t>Click icon to add image</a:t>
            </a:r>
          </a:p>
        </p:txBody>
      </p:sp>
      <p:sp>
        <p:nvSpPr>
          <p:cNvPr id="7" name="Content R Bottom">
            <a:extLst>
              <a:ext uri="{FF2B5EF4-FFF2-40B4-BE49-F238E27FC236}">
                <a16:creationId xmlns:a16="http://schemas.microsoft.com/office/drawing/2014/main" id="{B8A01145-54CF-4ED7-86C7-2C5968A8E4E9}"/>
              </a:ext>
            </a:extLst>
          </p:cNvPr>
          <p:cNvSpPr>
            <a:spLocks noGrp="1"/>
          </p:cNvSpPr>
          <p:nvPr>
            <p:ph type="body" idx="7" hasCustomPrompt="1"/>
          </p:nvPr>
        </p:nvSpPr>
        <p:spPr>
          <a:xfrm>
            <a:off x="7884436" y="4684674"/>
            <a:ext cx="3941806" cy="1737360"/>
          </a:xfrm>
        </p:spPr>
        <p:txBody>
          <a:bodyPr anchor="ctr">
            <a:noAutofit/>
          </a:bodyPr>
          <a:lstStyle>
            <a:lvl1pPr marL="0" indent="0">
              <a:lnSpc>
                <a:spcPct val="100000"/>
              </a:lnSpc>
              <a:spcBef>
                <a:spcPts val="0"/>
              </a:spcBef>
              <a:spcAft>
                <a:spcPts val="300"/>
              </a:spcAft>
              <a:buNone/>
              <a:defRPr sz="2400">
                <a:solidFill>
                  <a:srgbClr val="232F3E"/>
                </a:solidFill>
              </a:defRPr>
            </a:lvl1pPr>
            <a:lvl2pPr marL="233363" indent="0">
              <a:lnSpc>
                <a:spcPct val="100000"/>
              </a:lnSpc>
              <a:spcBef>
                <a:spcPts val="300"/>
              </a:spcBef>
              <a:spcAft>
                <a:spcPts val="600"/>
              </a:spcAft>
              <a:buNone/>
              <a:defRPr sz="2000">
                <a:solidFill>
                  <a:srgbClr val="232F3E"/>
                </a:solidFill>
              </a:defRPr>
            </a:lvl2pPr>
            <a:lvl3pPr marL="455613" indent="0">
              <a:lnSpc>
                <a:spcPct val="100000"/>
              </a:lnSpc>
              <a:spcAft>
                <a:spcPts val="600"/>
              </a:spcAft>
              <a:buNone/>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p:txBody>
      </p:sp>
    </p:spTree>
    <p:custDataLst>
      <p:tags r:id="rId1"/>
    </p:custDataLst>
    <p:extLst>
      <p:ext uri="{BB962C8B-B14F-4D97-AF65-F5344CB8AC3E}">
        <p14:creationId xmlns:p14="http://schemas.microsoft.com/office/powerpoint/2010/main" val="36310113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5FE023F-03C4-484F-A300-E408B4FEB8E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4 content columns</a:t>
            </a:r>
          </a:p>
        </p:txBody>
      </p:sp>
      <p:pic>
        <p:nvPicPr>
          <p:cNvPr id="99" name="Divider">
            <a:extLst>
              <a:ext uri="{FF2B5EF4-FFF2-40B4-BE49-F238E27FC236}">
                <a16:creationId xmlns:a16="http://schemas.microsoft.com/office/drawing/2014/main" id="{DA5B3212-A91F-4308-A973-316F80A6A0B3}"/>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Left">
            <a:extLst>
              <a:ext uri="{FF2B5EF4-FFF2-40B4-BE49-F238E27FC236}">
                <a16:creationId xmlns:a16="http://schemas.microsoft.com/office/drawing/2014/main" id="{8A73B5A2-5001-4FA4-B113-0F6124F1F6A0}"/>
              </a:ext>
            </a:extLst>
          </p:cNvPr>
          <p:cNvSpPr>
            <a:spLocks noGrp="1"/>
          </p:cNvSpPr>
          <p:nvPr>
            <p:ph type="body" idx="2" hasCustomPrompt="1"/>
          </p:nvPr>
        </p:nvSpPr>
        <p:spPr>
          <a:xfrm>
            <a:off x="365760"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Content Center Left">
            <a:extLst>
              <a:ext uri="{FF2B5EF4-FFF2-40B4-BE49-F238E27FC236}">
                <a16:creationId xmlns:a16="http://schemas.microsoft.com/office/drawing/2014/main" id="{951E617C-D9F7-4098-883E-6A048DBCF862}"/>
              </a:ext>
            </a:extLst>
          </p:cNvPr>
          <p:cNvSpPr>
            <a:spLocks noGrp="1"/>
          </p:cNvSpPr>
          <p:nvPr>
            <p:ph type="body" idx="3" hasCustomPrompt="1"/>
          </p:nvPr>
        </p:nvSpPr>
        <p:spPr>
          <a:xfrm>
            <a:off x="3258312"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Center Right">
            <a:extLst>
              <a:ext uri="{FF2B5EF4-FFF2-40B4-BE49-F238E27FC236}">
                <a16:creationId xmlns:a16="http://schemas.microsoft.com/office/drawing/2014/main" id="{A8A7CEA5-195D-4DB0-B5A3-06CEEA93C108}"/>
              </a:ext>
            </a:extLst>
          </p:cNvPr>
          <p:cNvSpPr>
            <a:spLocks noGrp="1"/>
          </p:cNvSpPr>
          <p:nvPr>
            <p:ph type="body" idx="4" hasCustomPrompt="1"/>
          </p:nvPr>
        </p:nvSpPr>
        <p:spPr>
          <a:xfrm>
            <a:off x="6150864"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Right">
            <a:extLst>
              <a:ext uri="{FF2B5EF4-FFF2-40B4-BE49-F238E27FC236}">
                <a16:creationId xmlns:a16="http://schemas.microsoft.com/office/drawing/2014/main" id="{BC11431A-8924-465C-98E0-6E4655C69AA7}"/>
              </a:ext>
            </a:extLst>
          </p:cNvPr>
          <p:cNvSpPr>
            <a:spLocks noGrp="1"/>
          </p:cNvSpPr>
          <p:nvPr>
            <p:ph type="body" idx="5" hasCustomPrompt="1"/>
          </p:nvPr>
        </p:nvSpPr>
        <p:spPr>
          <a:xfrm>
            <a:off x="9043416" y="1097280"/>
            <a:ext cx="2788920" cy="5330952"/>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06863767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01112C1-CB8D-4535-B2A1-5048E573106F}"/>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headers, and 4 text columns</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4408"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Center Left">
            <a:extLst>
              <a:ext uri="{FF2B5EF4-FFF2-40B4-BE49-F238E27FC236}">
                <a16:creationId xmlns:a16="http://schemas.microsoft.com/office/drawing/2014/main" id="{7F5B85B9-BABC-44F6-B2AE-99F02670D702}"/>
              </a:ext>
            </a:extLst>
          </p:cNvPr>
          <p:cNvSpPr>
            <a:spLocks noGrp="1"/>
          </p:cNvSpPr>
          <p:nvPr>
            <p:ph type="body" idx="3" hasCustomPrompt="1"/>
          </p:nvPr>
        </p:nvSpPr>
        <p:spPr>
          <a:xfrm>
            <a:off x="3264408"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4" name="Content Header Center Right">
            <a:extLst>
              <a:ext uri="{FF2B5EF4-FFF2-40B4-BE49-F238E27FC236}">
                <a16:creationId xmlns:a16="http://schemas.microsoft.com/office/drawing/2014/main" id="{B3EBECE3-35F9-4AF4-A8A7-FD546C7C32D6}"/>
              </a:ext>
            </a:extLst>
          </p:cNvPr>
          <p:cNvSpPr>
            <a:spLocks noGrp="1"/>
          </p:cNvSpPr>
          <p:nvPr>
            <p:ph type="body" idx="14" hasCustomPrompt="1"/>
          </p:nvPr>
        </p:nvSpPr>
        <p:spPr>
          <a:xfrm>
            <a:off x="6163056"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92466994-EA21-45EA-9DC6-3C179254B3A8}"/>
              </a:ext>
            </a:extLst>
          </p:cNvPr>
          <p:cNvSpPr>
            <a:spLocks noGrp="1"/>
          </p:cNvSpPr>
          <p:nvPr>
            <p:ph type="body" idx="4" hasCustomPrompt="1"/>
          </p:nvPr>
        </p:nvSpPr>
        <p:spPr>
          <a:xfrm>
            <a:off x="6163056"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5" name="Content Header Right">
            <a:extLst>
              <a:ext uri="{FF2B5EF4-FFF2-40B4-BE49-F238E27FC236}">
                <a16:creationId xmlns:a16="http://schemas.microsoft.com/office/drawing/2014/main" id="{ED932AC6-C3A8-487A-A17E-48D0C368204C}"/>
              </a:ext>
            </a:extLst>
          </p:cNvPr>
          <p:cNvSpPr>
            <a:spLocks noGrp="1"/>
          </p:cNvSpPr>
          <p:nvPr>
            <p:ph type="body" idx="15" hasCustomPrompt="1"/>
          </p:nvPr>
        </p:nvSpPr>
        <p:spPr>
          <a:xfrm>
            <a:off x="9061704" y="1051560"/>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7CF59EA0-9039-4A19-8197-DA073A0DB52B}"/>
              </a:ext>
            </a:extLst>
          </p:cNvPr>
          <p:cNvSpPr>
            <a:spLocks noGrp="1"/>
          </p:cNvSpPr>
          <p:nvPr>
            <p:ph type="body" idx="5" hasCustomPrompt="1"/>
          </p:nvPr>
        </p:nvSpPr>
        <p:spPr>
          <a:xfrm>
            <a:off x="9061704" y="1563624"/>
            <a:ext cx="2788920" cy="4882896"/>
          </a:xfrm>
        </p:spPr>
        <p:txBody>
          <a:bodyPr>
            <a:noAutofit/>
          </a:bodyPr>
          <a:lstStyle>
            <a:lvl1pPr>
              <a:lnSpc>
                <a:spcPct val="100000"/>
              </a:lnSpc>
              <a:spcAft>
                <a:spcPts val="600"/>
              </a:spcAft>
              <a:defRPr sz="2400">
                <a:solidFill>
                  <a:srgbClr val="232F3E"/>
                </a:solidFill>
              </a:defRPr>
            </a:lvl1pPr>
            <a:lvl2pPr marL="457200" indent="-228600">
              <a:lnSpc>
                <a:spcPct val="100000"/>
              </a:lnSpc>
              <a:spcAft>
                <a:spcPts val="600"/>
              </a:spcAft>
              <a:defRPr sz="2000">
                <a:solidFill>
                  <a:srgbClr val="232F3E"/>
                </a:solidFill>
              </a:defRPr>
            </a:lvl2pPr>
            <a:lvl3pPr marL="684213" indent="-228600">
              <a:lnSpc>
                <a:spcPct val="100000"/>
              </a:lnSpc>
              <a:spcAft>
                <a:spcPts val="600"/>
              </a:spcAft>
              <a:defRPr sz="1800">
                <a:solidFill>
                  <a:srgbClr val="232F3E"/>
                </a:solidFill>
              </a:defRPr>
            </a:lvl3pPr>
            <a:lvl4pPr marL="914400" indent="-228600">
              <a:lnSpc>
                <a:spcPct val="100000"/>
              </a:lnSpc>
              <a:spcAft>
                <a:spcPts val="600"/>
              </a:spcAft>
              <a:defRPr sz="1600">
                <a:solidFill>
                  <a:srgbClr val="232F3E"/>
                </a:solidFill>
              </a:defRPr>
            </a:lvl4pPr>
            <a:lvl5pPr marL="1144588" indent="-228600">
              <a:lnSpc>
                <a:spcPct val="100000"/>
              </a:lnSpc>
              <a:spcAft>
                <a:spcPts val="60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974488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Header, 4 Lg Pics, and 4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7"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header, 4 large pictures, and 4 labels</a:t>
            </a:r>
          </a:p>
        </p:txBody>
      </p:sp>
      <p:pic>
        <p:nvPicPr>
          <p:cNvPr id="99" name="Divider">
            <a:extLst>
              <a:ext uri="{FF2B5EF4-FFF2-40B4-BE49-F238E27FC236}">
                <a16:creationId xmlns:a16="http://schemas.microsoft.com/office/drawing/2014/main" id="{59FB098F-E843-4BDC-8C23-7C327B2DE964}"/>
              </a:ext>
              <a:ext uri="{C183D7F6-B498-43B3-948B-1728B52AA6E4}">
                <adec:decorative xmlns:adec="http://schemas.microsoft.com/office/drawing/2017/decorative" val="1"/>
              </a:ext>
            </a:extLst>
          </p:cNvPr>
          <p:cNvPicPr preferRelativeResize="0">
            <a:picLocks/>
          </p:cNvPicPr>
          <p:nvPr/>
        </p:nvPicPr>
        <p:blipFill rotWithShape="1">
          <a:blip r:embed="rId3">
            <a:extLst>
              <a:ext uri="{28A0092B-C50C-407E-A947-70E740481C1C}">
                <a14:useLocalDpi xmlns:a14="http://schemas.microsoft.com/office/drawing/2010/main" val="0"/>
              </a:ext>
            </a:extLst>
          </a:blip>
          <a:srcRect/>
          <a:stretch/>
        </p:blipFill>
        <p:spPr>
          <a:xfrm>
            <a:off x="365760" y="1037751"/>
            <a:ext cx="11466576" cy="45719"/>
          </a:xfrm>
          <a:prstGeom prst="rect">
            <a:avLst/>
          </a:prstGeom>
        </p:spPr>
      </p:pic>
      <p:sp>
        <p:nvSpPr>
          <p:cNvPr id="2" name="Content Top">
            <a:extLst>
              <a:ext uri="{FF2B5EF4-FFF2-40B4-BE49-F238E27FC236}">
                <a16:creationId xmlns:a16="http://schemas.microsoft.com/office/drawing/2014/main" id="{CEBB69C5-28A4-4F99-A9FE-572F9D53CF4E}"/>
              </a:ext>
            </a:extLst>
          </p:cNvPr>
          <p:cNvSpPr>
            <a:spLocks noGrp="1"/>
          </p:cNvSpPr>
          <p:nvPr>
            <p:ph type="body" idx="2" hasCustomPrompt="1"/>
          </p:nvPr>
        </p:nvSpPr>
        <p:spPr>
          <a:xfrm>
            <a:off x="365760" y="1046879"/>
            <a:ext cx="11466576" cy="1099688"/>
          </a:xfrm>
          <a:noFill/>
          <a:ln>
            <a:noFill/>
          </a:ln>
        </p:spPr>
        <p:txBody>
          <a:bodyPr lIns="91440" anchor="ctr">
            <a:normAutofit/>
          </a:bodyPr>
          <a:lstStyle>
            <a:lvl1pPr marL="0" indent="0">
              <a:lnSpc>
                <a:spcPct val="100000"/>
              </a:lnSpc>
              <a:spcBef>
                <a:spcPts val="0"/>
              </a:spcBef>
              <a:spcAft>
                <a:spcPts val="0"/>
              </a:spcAft>
              <a:buNone/>
              <a:defRPr sz="2800" b="0">
                <a:solidFill>
                  <a:srgbClr val="232F3E"/>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38603"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3" name="Content Left">
            <a:extLst>
              <a:ext uri="{FF2B5EF4-FFF2-40B4-BE49-F238E27FC236}">
                <a16:creationId xmlns:a16="http://schemas.microsoft.com/office/drawing/2014/main" id="{5ACBD598-6775-4223-B2AB-B169A112E3FF}"/>
              </a:ext>
            </a:extLst>
          </p:cNvPr>
          <p:cNvSpPr>
            <a:spLocks noGrp="1"/>
          </p:cNvSpPr>
          <p:nvPr>
            <p:ph type="body" idx="3" hasCustomPrompt="1"/>
          </p:nvPr>
        </p:nvSpPr>
        <p:spPr>
          <a:xfrm>
            <a:off x="365760"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37251"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4" name="Content Center Left">
            <a:extLst>
              <a:ext uri="{FF2B5EF4-FFF2-40B4-BE49-F238E27FC236}">
                <a16:creationId xmlns:a16="http://schemas.microsoft.com/office/drawing/2014/main" id="{7F5B85B9-BABC-44F6-B2AE-99F02670D702}"/>
              </a:ext>
            </a:extLst>
          </p:cNvPr>
          <p:cNvSpPr>
            <a:spLocks noGrp="1"/>
          </p:cNvSpPr>
          <p:nvPr>
            <p:ph type="body" idx="4" hasCustomPrompt="1"/>
          </p:nvPr>
        </p:nvSpPr>
        <p:spPr>
          <a:xfrm>
            <a:off x="3264408"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35899"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5" name="Content Center Right">
            <a:extLst>
              <a:ext uri="{FF2B5EF4-FFF2-40B4-BE49-F238E27FC236}">
                <a16:creationId xmlns:a16="http://schemas.microsoft.com/office/drawing/2014/main" id="{FD28CF85-103D-4AC7-BF7A-D32715F9433A}"/>
              </a:ext>
            </a:extLst>
          </p:cNvPr>
          <p:cNvSpPr>
            <a:spLocks noGrp="1"/>
          </p:cNvSpPr>
          <p:nvPr>
            <p:ph type="body" idx="5" hasCustomPrompt="1"/>
          </p:nvPr>
        </p:nvSpPr>
        <p:spPr>
          <a:xfrm>
            <a:off x="616305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334547" y="2269331"/>
            <a:ext cx="2286000" cy="2286000"/>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6" name="Content Right">
            <a:extLst>
              <a:ext uri="{FF2B5EF4-FFF2-40B4-BE49-F238E27FC236}">
                <a16:creationId xmlns:a16="http://schemas.microsoft.com/office/drawing/2014/main" id="{528A167E-DBEB-4BD8-B32A-B1DBF78AA248}"/>
              </a:ext>
            </a:extLst>
          </p:cNvPr>
          <p:cNvSpPr>
            <a:spLocks noGrp="1"/>
          </p:cNvSpPr>
          <p:nvPr>
            <p:ph type="body" idx="6" hasCustomPrompt="1"/>
          </p:nvPr>
        </p:nvSpPr>
        <p:spPr>
          <a:xfrm>
            <a:off x="9043416" y="4638120"/>
            <a:ext cx="2788920" cy="1808400"/>
          </a:xfrm>
        </p:spPr>
        <p:txBody>
          <a:bodyPr lIns="91440">
            <a:noAutofit/>
          </a:bodyPr>
          <a:lstStyle>
            <a:lvl1pPr marL="0" indent="0" algn="ctr">
              <a:lnSpc>
                <a:spcPct val="100000"/>
              </a:lnSpc>
              <a:spcAft>
                <a:spcPts val="0"/>
              </a:spcAft>
              <a:buNone/>
              <a:defRPr sz="2000">
                <a:solidFill>
                  <a:srgbClr val="232F3E"/>
                </a:solidFill>
                <a:latin typeface="+mn-lt"/>
              </a:defRPr>
            </a:lvl1pPr>
          </a:lstStyle>
          <a:p>
            <a:pPr lvl="0"/>
            <a:r>
              <a:rPr lang="en-US" dirty="0"/>
              <a:t>Enter text</a:t>
            </a:r>
          </a:p>
        </p:txBody>
      </p:sp>
    </p:spTree>
    <p:custDataLst>
      <p:tags r:id="rId1"/>
    </p:custDataLst>
    <p:extLst>
      <p:ext uri="{BB962C8B-B14F-4D97-AF65-F5344CB8AC3E}">
        <p14:creationId xmlns:p14="http://schemas.microsoft.com/office/powerpoint/2010/main" val="1687865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4 Lg Pics, 4 Headers, and 4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B4D28540-5567-49EC-BB23-4B27A199DFB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15C95989-61CE-4D1A-B9CC-1BD6446598E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pictures, 4 headers, and 4 text columns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6172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 name="Content Left">
            <a:extLst>
              <a:ext uri="{FF2B5EF4-FFF2-40B4-BE49-F238E27FC236}">
                <a16:creationId xmlns:a16="http://schemas.microsoft.com/office/drawing/2014/main" id="{5ACBD598-6775-4223-B2AB-B169A112E3FF}"/>
              </a:ext>
            </a:extLst>
          </p:cNvPr>
          <p:cNvSpPr>
            <a:spLocks noGrp="1"/>
          </p:cNvSpPr>
          <p:nvPr>
            <p:ph type="body" idx="2" hasCustomPrompt="1"/>
          </p:nvPr>
        </p:nvSpPr>
        <p:spPr>
          <a:xfrm>
            <a:off x="3657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512820"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61360"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3" name="Content Left Center">
            <a:extLst>
              <a:ext uri="{FF2B5EF4-FFF2-40B4-BE49-F238E27FC236}">
                <a16:creationId xmlns:a16="http://schemas.microsoft.com/office/drawing/2014/main" id="{8F2CF915-F007-4E72-A31F-37CC3AA65001}"/>
              </a:ext>
            </a:extLst>
          </p:cNvPr>
          <p:cNvSpPr>
            <a:spLocks noGrp="1"/>
          </p:cNvSpPr>
          <p:nvPr>
            <p:ph type="body" idx="3" hasCustomPrompt="1"/>
          </p:nvPr>
        </p:nvSpPr>
        <p:spPr>
          <a:xfrm>
            <a:off x="3261360"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41451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63057"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4" name="Content Center Right">
            <a:extLst>
              <a:ext uri="{FF2B5EF4-FFF2-40B4-BE49-F238E27FC236}">
                <a16:creationId xmlns:a16="http://schemas.microsoft.com/office/drawing/2014/main" id="{6C78D37F-DE17-4FBA-A995-39FC21020DD5}"/>
              </a:ext>
            </a:extLst>
          </p:cNvPr>
          <p:cNvSpPr>
            <a:spLocks noGrp="1"/>
          </p:cNvSpPr>
          <p:nvPr>
            <p:ph type="body" idx="4" hasCustomPrompt="1"/>
          </p:nvPr>
        </p:nvSpPr>
        <p:spPr>
          <a:xfrm>
            <a:off x="6163057"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294876" y="1097280"/>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B17A76EF-1D7E-4BB9-BAFA-8EAA0807E356}"/>
              </a:ext>
            </a:extLst>
          </p:cNvPr>
          <p:cNvSpPr>
            <a:spLocks noGrp="1"/>
          </p:cNvSpPr>
          <p:nvPr>
            <p:ph type="subTitle" idx="15" hasCustomPrompt="1"/>
          </p:nvPr>
        </p:nvSpPr>
        <p:spPr>
          <a:xfrm>
            <a:off x="9043416" y="3465576"/>
            <a:ext cx="2788920" cy="440329"/>
          </a:xfrm>
          <a:solidFill>
            <a:schemeClr val="accent1"/>
          </a:solidFill>
          <a:ln>
            <a:noFill/>
          </a:ln>
        </p:spPr>
        <p:txBody>
          <a:bodyPr lIns="91440" anchor="ctr">
            <a:noAutofit/>
          </a:bodyPr>
          <a:lstStyle>
            <a:lvl1pPr marL="0"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5" name="Content Right">
            <a:extLst>
              <a:ext uri="{FF2B5EF4-FFF2-40B4-BE49-F238E27FC236}">
                <a16:creationId xmlns:a16="http://schemas.microsoft.com/office/drawing/2014/main" id="{27E7417F-ED15-4B52-BEED-6B9D37EE656E}"/>
              </a:ext>
            </a:extLst>
          </p:cNvPr>
          <p:cNvSpPr>
            <a:spLocks noGrp="1"/>
          </p:cNvSpPr>
          <p:nvPr>
            <p:ph type="body" idx="5" hasCustomPrompt="1"/>
          </p:nvPr>
        </p:nvSpPr>
        <p:spPr>
          <a:xfrm>
            <a:off x="9043416" y="3915505"/>
            <a:ext cx="2788920" cy="2519238"/>
          </a:xfrm>
        </p:spPr>
        <p:txBody>
          <a:bodyPr lIns="91440">
            <a:noAutofit/>
          </a:bodyPr>
          <a:lstStyle>
            <a:lvl1pPr marL="182880" indent="-182880">
              <a:lnSpc>
                <a:spcPct val="100000"/>
              </a:lnSpc>
              <a:spcAft>
                <a:spcPts val="600"/>
              </a:spcAft>
              <a:buFont typeface="Arial" panose="020B0604020202020204" pitchFamily="34" charset="0"/>
              <a:buChar char="•"/>
              <a:defRPr sz="2000">
                <a:solidFill>
                  <a:srgbClr val="232F3E"/>
                </a:solidFill>
              </a:defRPr>
            </a:lvl1pPr>
            <a:lvl2pPr marL="365760" indent="-182880">
              <a:lnSpc>
                <a:spcPct val="100000"/>
              </a:lnSpc>
              <a:spcAft>
                <a:spcPts val="600"/>
              </a:spcAft>
              <a:defRPr sz="1800">
                <a:solidFill>
                  <a:srgbClr val="232F3E"/>
                </a:solidFill>
              </a:defRPr>
            </a:lvl2pPr>
            <a:lvl3pPr marL="548640" indent="-182880">
              <a:lnSpc>
                <a:spcPct val="100000"/>
              </a:lnSpc>
              <a:spcAft>
                <a:spcPts val="600"/>
              </a:spcAft>
              <a:defRPr sz="1600">
                <a:solidFill>
                  <a:srgbClr val="232F3E"/>
                </a:solidFill>
              </a:defRPr>
            </a:lvl3pPr>
            <a:lvl4pPr>
              <a:defRPr/>
            </a:lvl4pPr>
            <a:lvl5pPr>
              <a:defRPr/>
            </a:lvl5pPr>
          </a:lstStyle>
          <a:p>
            <a:pPr lvl="0"/>
            <a:r>
              <a:rPr lang="en-US" dirty="0"/>
              <a:t>Add content text</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1672865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Title, 4 Sm Pics, 4 Headers, and 4 Text Columns">
    <p:bg>
      <p:bgPr>
        <a:solidFill>
          <a:schemeClr val="bg1"/>
        </a:solidFill>
        <a:effectLst/>
      </p:bgPr>
    </p:bg>
    <p:spTree>
      <p:nvGrpSpPr>
        <p:cNvPr id="1" name=""/>
        <p:cNvGrpSpPr/>
        <p:nvPr/>
      </p:nvGrpSpPr>
      <p:grpSpPr>
        <a:xfrm>
          <a:off x="0" y="0"/>
          <a:ext cx="0" cy="0"/>
          <a:chOff x="0" y="0"/>
          <a:chExt cx="0" cy="0"/>
        </a:xfrm>
      </p:grpSpPr>
      <p:pic>
        <p:nvPicPr>
          <p:cNvPr id="95" name="Divider">
            <a:extLst>
              <a:ext uri="{FF2B5EF4-FFF2-40B4-BE49-F238E27FC236}">
                <a16:creationId xmlns:a16="http://schemas.microsoft.com/office/drawing/2014/main" id="{B776EBEE-87DA-49C8-A876-AA9E9DCA162E}"/>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61D9C16A-E9FD-4A2D-A4D2-A79A6CA8EB58}"/>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6"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4 small pictures, 4 headers, and 4 text fields</a:t>
            </a:r>
          </a:p>
        </p:txBody>
      </p:sp>
      <p:sp>
        <p:nvSpPr>
          <p:cNvPr id="22" name="Picture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845820"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Content Header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65760"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65760"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3" name="Picture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738372"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Content Header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58312"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58312"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4" name="Picture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630924"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Content Header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50864"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50864"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
        <p:nvSpPr>
          <p:cNvPr id="25" name="Picture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23476" y="1051560"/>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Content Header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43416" y="2926080"/>
            <a:ext cx="2788920" cy="450294"/>
          </a:xfrm>
          <a:solidFill>
            <a:schemeClr val="accent1"/>
          </a:solidFill>
          <a:ln>
            <a:noFill/>
          </a:ln>
        </p:spPr>
        <p:txBody>
          <a:bodyPr vert="horz" lIns="91440" tIns="45720" rIns="91440" bIns="45720" rtlCol="0" anchor="ctr">
            <a:noAutofit/>
          </a:bodyPr>
          <a:lstStyle>
            <a:lvl1pPr marL="0" indent="0">
              <a:lnSpc>
                <a:spcPct val="100000"/>
              </a:lnSpc>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43416" y="3429000"/>
            <a:ext cx="2788920" cy="3005742"/>
          </a:xfrm>
        </p:spPr>
        <p:txBody>
          <a:bodyPr lIns="91440">
            <a:noAutofit/>
          </a:bodyPr>
          <a:lstStyle>
            <a:lvl1pPr marL="0" indent="0">
              <a:lnSpc>
                <a:spcPct val="100000"/>
              </a:lnSpc>
              <a:spcAft>
                <a:spcPts val="60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174599696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Title, 4 Lg Pics,and 4 Headers">
    <p:bg>
      <p:bgPr>
        <a:solidFill>
          <a:schemeClr val="bg1"/>
        </a:solidFill>
        <a:effectLst/>
      </p:bgPr>
    </p:bg>
    <p:spTree>
      <p:nvGrpSpPr>
        <p:cNvPr id="1" name=""/>
        <p:cNvGrpSpPr/>
        <p:nvPr/>
      </p:nvGrpSpPr>
      <p:grpSpPr>
        <a:xfrm>
          <a:off x="0" y="0"/>
          <a:ext cx="0" cy="0"/>
          <a:chOff x="0" y="0"/>
          <a:chExt cx="0" cy="0"/>
        </a:xfrm>
      </p:grpSpPr>
      <p:pic>
        <p:nvPicPr>
          <p:cNvPr id="96" name="Divider">
            <a:extLst>
              <a:ext uri="{FF2B5EF4-FFF2-40B4-BE49-F238E27FC236}">
                <a16:creationId xmlns:a16="http://schemas.microsoft.com/office/drawing/2014/main" id="{F6D00736-4E44-4617-83F3-B5A93F28ED8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E12A119-63D8-4FB5-9AE0-FE08C858C57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4 large pictures, and 4 headers</a:t>
            </a:r>
          </a:p>
        </p:txBody>
      </p:sp>
      <p:sp>
        <p:nvSpPr>
          <p:cNvPr id="22"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type="pic" idx="22" hasCustomPrompt="1"/>
          </p:nvPr>
        </p:nvSpPr>
        <p:spPr>
          <a:xfrm>
            <a:off x="365760"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3"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type="pic" idx="23" hasCustomPrompt="1"/>
          </p:nvPr>
        </p:nvSpPr>
        <p:spPr>
          <a:xfrm>
            <a:off x="3258312"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Center Left">
            <a:extLst>
              <a:ext uri="{FF2B5EF4-FFF2-40B4-BE49-F238E27FC236}">
                <a16:creationId xmlns:a16="http://schemas.microsoft.com/office/drawing/2014/main" id="{04C41CFA-9BF9-474A-89A9-E22790A538E2}"/>
              </a:ext>
            </a:extLst>
          </p:cNvPr>
          <p:cNvSpPr>
            <a:spLocks noGrp="1"/>
          </p:cNvSpPr>
          <p:nvPr>
            <p:ph type="body" idx="13" hasCustomPrompt="1"/>
          </p:nvPr>
        </p:nvSpPr>
        <p:spPr>
          <a:xfrm>
            <a:off x="3258312"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4"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type="pic" idx="24" hasCustomPrompt="1"/>
          </p:nvPr>
        </p:nvSpPr>
        <p:spPr>
          <a:xfrm>
            <a:off x="6150864"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Center Right">
            <a:extLst>
              <a:ext uri="{FF2B5EF4-FFF2-40B4-BE49-F238E27FC236}">
                <a16:creationId xmlns:a16="http://schemas.microsoft.com/office/drawing/2014/main" id="{CF01F87A-DBEF-4657-8500-6A751FF3BC24}"/>
              </a:ext>
            </a:extLst>
          </p:cNvPr>
          <p:cNvSpPr>
            <a:spLocks noGrp="1"/>
          </p:cNvSpPr>
          <p:nvPr>
            <p:ph type="body" idx="14" hasCustomPrompt="1"/>
          </p:nvPr>
        </p:nvSpPr>
        <p:spPr>
          <a:xfrm>
            <a:off x="6150864"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25" name="Picture Right">
            <a:extLst>
              <a:ext uri="{FF2B5EF4-FFF2-40B4-BE49-F238E27FC236}">
                <a16:creationId xmlns:a16="http://schemas.microsoft.com/office/drawing/2014/main" id="{3225055C-7E4D-4C57-84DA-4F32CFEE666E}"/>
              </a:ext>
              <a:ext uri="{C183D7F6-B498-43B3-948B-1728B52AA6E4}">
                <adec:decorative xmlns:adec="http://schemas.microsoft.com/office/drawing/2017/decorative" val="1"/>
              </a:ext>
            </a:extLst>
          </p:cNvPr>
          <p:cNvSpPr>
            <a:spLocks noGrp="1"/>
          </p:cNvSpPr>
          <p:nvPr>
            <p:ph type="pic" idx="25" hasCustomPrompt="1"/>
          </p:nvPr>
        </p:nvSpPr>
        <p:spPr>
          <a:xfrm>
            <a:off x="9043416" y="1835333"/>
            <a:ext cx="2788920" cy="283464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Right">
            <a:extLst>
              <a:ext uri="{FF2B5EF4-FFF2-40B4-BE49-F238E27FC236}">
                <a16:creationId xmlns:a16="http://schemas.microsoft.com/office/drawing/2014/main" id="{B17A76EF-1D7E-4BB9-BAFA-8EAA0807E356}"/>
              </a:ext>
            </a:extLst>
          </p:cNvPr>
          <p:cNvSpPr>
            <a:spLocks noGrp="1"/>
          </p:cNvSpPr>
          <p:nvPr>
            <p:ph type="body" idx="15" hasCustomPrompt="1"/>
          </p:nvPr>
        </p:nvSpPr>
        <p:spPr>
          <a:xfrm>
            <a:off x="9043416" y="4764024"/>
            <a:ext cx="2788920" cy="438171"/>
          </a:xfrm>
          <a:solidFill>
            <a:schemeClr val="accent1"/>
          </a:solidFill>
          <a:ln>
            <a:noFill/>
          </a:ln>
        </p:spPr>
        <p:txBody>
          <a:bodyPr lIns="91440" anchor="ctr">
            <a:noAutofit/>
          </a:bodyPr>
          <a:lstStyle>
            <a:lvl1pPr marL="0" indent="0" algn="ctr">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Tree>
    <p:custDataLst>
      <p:tags r:id="rId1"/>
    </p:custDataLst>
    <p:extLst>
      <p:ext uri="{BB962C8B-B14F-4D97-AF65-F5344CB8AC3E}">
        <p14:creationId xmlns:p14="http://schemas.microsoft.com/office/powerpoint/2010/main" val="306682056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Title, 6 Pics, and 6 Text Box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5E62986-2CB5-4C74-BFA0-36B722DD63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36A79036-863F-433F-8D16-845BBBCE412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8"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1 text box, 6 Images, and 6 text boxes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151638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83058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3" name="Picture Top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5181600"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3" name="Content Top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4495800"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4" name="Picture Top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8852916" y="1211176"/>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4" name="Content Top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8167116" y="3056649"/>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5" name="Picture Bottom Lef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151638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5" name="Content Bottom Lef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83058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6" name="Picture Bottom Center">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5181600"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6" name="Content Bottom Center">
            <a:extLst>
              <a:ext uri="{FF2B5EF4-FFF2-40B4-BE49-F238E27FC236}">
                <a16:creationId xmlns:a16="http://schemas.microsoft.com/office/drawing/2014/main" id="{4D93D3AB-1EE8-404D-9F8C-ED6967836914}"/>
              </a:ext>
            </a:extLst>
          </p:cNvPr>
          <p:cNvSpPr>
            <a:spLocks noGrp="1"/>
          </p:cNvSpPr>
          <p:nvPr>
            <p:ph type="body" idx="6" hasCustomPrompt="1"/>
          </p:nvPr>
        </p:nvSpPr>
        <p:spPr>
          <a:xfrm>
            <a:off x="4495800"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
        <p:nvSpPr>
          <p:cNvPr id="27" name="Picture Bottom Right">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8852916" y="3866132"/>
            <a:ext cx="1828800" cy="18288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7" name="Content Bottom Right">
            <a:extLst>
              <a:ext uri="{FF2B5EF4-FFF2-40B4-BE49-F238E27FC236}">
                <a16:creationId xmlns:a16="http://schemas.microsoft.com/office/drawing/2014/main" id="{E00DC7A1-D213-4110-B8F7-671693ED3BA2}"/>
              </a:ext>
            </a:extLst>
          </p:cNvPr>
          <p:cNvSpPr>
            <a:spLocks noGrp="1"/>
          </p:cNvSpPr>
          <p:nvPr>
            <p:ph type="body" idx="7" hasCustomPrompt="1"/>
          </p:nvPr>
        </p:nvSpPr>
        <p:spPr>
          <a:xfrm>
            <a:off x="8167116" y="5704771"/>
            <a:ext cx="3200400" cy="570859"/>
          </a:xfrm>
        </p:spPr>
        <p:txBody>
          <a:bodyPr lIns="91440" anchor="ctr">
            <a:noAutofit/>
          </a:bodyPr>
          <a:lstStyle>
            <a:lvl1pPr marL="0" indent="0" algn="ctr">
              <a:lnSpc>
                <a:spcPct val="100000"/>
              </a:lnSpc>
              <a:spcAft>
                <a:spcPts val="0"/>
              </a:spcAft>
              <a:buNone/>
              <a:defRPr sz="20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201308683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Title and 8 picture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E6549563-E04B-4657-8321-4C6934FCD32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BE705BC3-4D3C-4BF3-801C-BFF823D8CAA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8 pictures</a:t>
            </a:r>
          </a:p>
        </p:txBody>
      </p:sp>
      <p:sp>
        <p:nvSpPr>
          <p:cNvPr id="22" name="Picture 1">
            <a:extLst>
              <a:ext uri="{FF2B5EF4-FFF2-40B4-BE49-F238E27FC236}">
                <a16:creationId xmlns:a16="http://schemas.microsoft.com/office/drawing/2014/main" id="{01E0569B-0304-4CF2-95FE-74EEAC9AEC38}"/>
              </a:ext>
              <a:ext uri="{C183D7F6-B498-43B3-948B-1728B52AA6E4}">
                <adec:decorative xmlns:adec="http://schemas.microsoft.com/office/drawing/2017/decorative" val="1"/>
              </a:ext>
            </a:extLst>
          </p:cNvPr>
          <p:cNvSpPr>
            <a:spLocks noGrp="1"/>
          </p:cNvSpPr>
          <p:nvPr>
            <p:ph type="pic" idx="22" hasCustomPrompt="1"/>
          </p:nvPr>
        </p:nvSpPr>
        <p:spPr>
          <a:xfrm>
            <a:off x="640080"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3" name="Picture 2">
            <a:extLst>
              <a:ext uri="{FF2B5EF4-FFF2-40B4-BE49-F238E27FC236}">
                <a16:creationId xmlns:a16="http://schemas.microsoft.com/office/drawing/2014/main" id="{4E39BCC2-7E6B-49A6-88A7-4389D0876599}"/>
              </a:ext>
              <a:ext uri="{C183D7F6-B498-43B3-948B-1728B52AA6E4}">
                <adec:decorative xmlns:adec="http://schemas.microsoft.com/office/drawing/2017/decorative" val="1"/>
              </a:ext>
            </a:extLst>
          </p:cNvPr>
          <p:cNvSpPr>
            <a:spLocks noGrp="1"/>
          </p:cNvSpPr>
          <p:nvPr>
            <p:ph type="pic" idx="23" hasCustomPrompt="1"/>
          </p:nvPr>
        </p:nvSpPr>
        <p:spPr>
          <a:xfrm>
            <a:off x="3517392"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4" name="Picture 3">
            <a:extLst>
              <a:ext uri="{FF2B5EF4-FFF2-40B4-BE49-F238E27FC236}">
                <a16:creationId xmlns:a16="http://schemas.microsoft.com/office/drawing/2014/main" id="{292A7B23-5883-4A03-AA9E-D7887267A0B5}"/>
              </a:ext>
              <a:ext uri="{C183D7F6-B498-43B3-948B-1728B52AA6E4}">
                <adec:decorative xmlns:adec="http://schemas.microsoft.com/office/drawing/2017/decorative" val="1"/>
              </a:ext>
            </a:extLst>
          </p:cNvPr>
          <p:cNvSpPr>
            <a:spLocks noGrp="1"/>
          </p:cNvSpPr>
          <p:nvPr>
            <p:ph type="pic" idx="24" hasCustomPrompt="1"/>
          </p:nvPr>
        </p:nvSpPr>
        <p:spPr>
          <a:xfrm>
            <a:off x="6394704"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5" name="Picture 4">
            <a:extLst>
              <a:ext uri="{FF2B5EF4-FFF2-40B4-BE49-F238E27FC236}">
                <a16:creationId xmlns:a16="http://schemas.microsoft.com/office/drawing/2014/main" id="{871FBC72-3D16-49CE-BD02-AD416196D37A}"/>
              </a:ext>
              <a:ext uri="{C183D7F6-B498-43B3-948B-1728B52AA6E4}">
                <adec:decorative xmlns:adec="http://schemas.microsoft.com/office/drawing/2017/decorative" val="1"/>
              </a:ext>
            </a:extLst>
          </p:cNvPr>
          <p:cNvSpPr>
            <a:spLocks noGrp="1"/>
          </p:cNvSpPr>
          <p:nvPr>
            <p:ph type="pic" idx="25" hasCustomPrompt="1"/>
          </p:nvPr>
        </p:nvSpPr>
        <p:spPr>
          <a:xfrm>
            <a:off x="9272016" y="1162264"/>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6" name="Picture 5">
            <a:extLst>
              <a:ext uri="{FF2B5EF4-FFF2-40B4-BE49-F238E27FC236}">
                <a16:creationId xmlns:a16="http://schemas.microsoft.com/office/drawing/2014/main" id="{CCC335E7-FA18-44DB-ACBC-F2DABE9FB384}"/>
              </a:ext>
              <a:ext uri="{C183D7F6-B498-43B3-948B-1728B52AA6E4}">
                <adec:decorative xmlns:adec="http://schemas.microsoft.com/office/drawing/2017/decorative" val="1"/>
              </a:ext>
            </a:extLst>
          </p:cNvPr>
          <p:cNvSpPr>
            <a:spLocks noGrp="1"/>
          </p:cNvSpPr>
          <p:nvPr>
            <p:ph type="pic" idx="26" hasCustomPrompt="1"/>
          </p:nvPr>
        </p:nvSpPr>
        <p:spPr>
          <a:xfrm>
            <a:off x="640080"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7" name="Picture 6">
            <a:extLst>
              <a:ext uri="{FF2B5EF4-FFF2-40B4-BE49-F238E27FC236}">
                <a16:creationId xmlns:a16="http://schemas.microsoft.com/office/drawing/2014/main" id="{BB740650-61A2-4FDC-8700-54D96F01FF5A}"/>
              </a:ext>
              <a:ext uri="{C183D7F6-B498-43B3-948B-1728B52AA6E4}">
                <adec:decorative xmlns:adec="http://schemas.microsoft.com/office/drawing/2017/decorative" val="1"/>
              </a:ext>
            </a:extLst>
          </p:cNvPr>
          <p:cNvSpPr>
            <a:spLocks noGrp="1"/>
          </p:cNvSpPr>
          <p:nvPr>
            <p:ph type="pic" idx="27" hasCustomPrompt="1"/>
          </p:nvPr>
        </p:nvSpPr>
        <p:spPr>
          <a:xfrm>
            <a:off x="3517392"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8" name="Picture 7">
            <a:extLst>
              <a:ext uri="{FF2B5EF4-FFF2-40B4-BE49-F238E27FC236}">
                <a16:creationId xmlns:a16="http://schemas.microsoft.com/office/drawing/2014/main" id="{CA951A10-B648-4F4E-87FD-97FD8FEB4106}"/>
              </a:ext>
              <a:ext uri="{C183D7F6-B498-43B3-948B-1728B52AA6E4}">
                <adec:decorative xmlns:adec="http://schemas.microsoft.com/office/drawing/2017/decorative" val="1"/>
              </a:ext>
            </a:extLst>
          </p:cNvPr>
          <p:cNvSpPr>
            <a:spLocks noGrp="1"/>
          </p:cNvSpPr>
          <p:nvPr>
            <p:ph type="pic" idx="28" hasCustomPrompt="1"/>
          </p:nvPr>
        </p:nvSpPr>
        <p:spPr>
          <a:xfrm>
            <a:off x="6394704"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29" name="Picture 8">
            <a:extLst>
              <a:ext uri="{FF2B5EF4-FFF2-40B4-BE49-F238E27FC236}">
                <a16:creationId xmlns:a16="http://schemas.microsoft.com/office/drawing/2014/main" id="{1F4C4007-9EA0-4D1F-938D-A38B105119E9}"/>
              </a:ext>
              <a:ext uri="{C183D7F6-B498-43B3-948B-1728B52AA6E4}">
                <adec:decorative xmlns:adec="http://schemas.microsoft.com/office/drawing/2017/decorative" val="1"/>
              </a:ext>
            </a:extLst>
          </p:cNvPr>
          <p:cNvSpPr>
            <a:spLocks noGrp="1"/>
          </p:cNvSpPr>
          <p:nvPr>
            <p:ph type="pic" idx="29" hasCustomPrompt="1"/>
          </p:nvPr>
        </p:nvSpPr>
        <p:spPr>
          <a:xfrm>
            <a:off x="9272016" y="3873273"/>
            <a:ext cx="2286000" cy="2286000"/>
          </a:xfrm>
        </p:spPr>
        <p:txBody>
          <a:bodyPr anchor="t">
            <a:noAutofit/>
          </a:bodyPr>
          <a:lstStyle>
            <a:lvl1pPr marL="0" indent="0" algn="ctr">
              <a:buNone/>
              <a:defRPr sz="20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12027530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8 Sm Pics, and 8 Text Columns">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1D6BA6E7-5899-45FE-A720-127BD53EEDD5}"/>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272940"/>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976540"/>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Lst>
          </p:cNvPr>
          <p:cNvSpPr>
            <a:spLocks noGrp="1"/>
          </p:cNvSpPr>
          <p:nvPr>
            <p:ph type="body" idx="16" hasCustomPrompt="1"/>
          </p:nvPr>
        </p:nvSpPr>
        <p:spPr>
          <a:xfrm>
            <a:off x="388620"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29" hasCustomPrompt="1"/>
          </p:nvPr>
        </p:nvSpPr>
        <p:spPr>
          <a:xfrm>
            <a:off x="9592056" y="3814574"/>
            <a:ext cx="1645920" cy="1648911"/>
          </a:xfrm>
        </p:spPr>
        <p:txBody>
          <a:bodyPr anchor="t">
            <a:noAutofit/>
          </a:bodyPr>
          <a:lstStyle>
            <a:lvl1pPr marL="0" indent="0" algn="ctr">
              <a:buNone/>
              <a:defRPr sz="2000">
                <a:solidFill>
                  <a:srgbClr val="232F3E"/>
                </a:solidFill>
                <a:latin typeface="+mn-lt"/>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548640"/>
          </a:xfrm>
          <a:noFill/>
          <a:ln>
            <a:noFill/>
          </a:ln>
        </p:spPr>
        <p:txBody>
          <a:bodyPr vert="horz" lIns="91440" tIns="45720" rIns="91440" bIns="45720" rtlCol="0" anchor="ctr">
            <a:noAutofit/>
          </a:bodyPr>
          <a:lstStyle>
            <a:lvl1pPr marL="0" indent="0" algn="ctr">
              <a:lnSpc>
                <a:spcPct val="100000"/>
              </a:lnSpc>
              <a:buNone/>
              <a:defRPr lang="en-US" sz="1600" b="0" dirty="0">
                <a:solidFill>
                  <a:srgbClr val="232F3E"/>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Tree>
    <p:custDataLst>
      <p:tags r:id="rId1"/>
    </p:custDataLst>
    <p:extLst>
      <p:ext uri="{BB962C8B-B14F-4D97-AF65-F5344CB8AC3E}">
        <p14:creationId xmlns:p14="http://schemas.microsoft.com/office/powerpoint/2010/main" val="38620730"/>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Title, 8 Sm Pics, 8 Headers, and 8 Text Columns">
    <p:bg>
      <p:bgPr>
        <a:solidFill>
          <a:schemeClr val="bg1"/>
        </a:solidFill>
        <a:effectLst/>
      </p:bgPr>
    </p:bg>
    <p:spTree>
      <p:nvGrpSpPr>
        <p:cNvPr id="1" name=""/>
        <p:cNvGrpSpPr/>
        <p:nvPr/>
      </p:nvGrpSpPr>
      <p:grpSpPr>
        <a:xfrm>
          <a:off x="0" y="0"/>
          <a:ext cx="0" cy="0"/>
          <a:chOff x="0" y="0"/>
          <a:chExt cx="0" cy="0"/>
        </a:xfrm>
      </p:grpSpPr>
      <p:pic>
        <p:nvPicPr>
          <p:cNvPr id="94" name="Divider">
            <a:extLst>
              <a:ext uri="{FF2B5EF4-FFF2-40B4-BE49-F238E27FC236}">
                <a16:creationId xmlns:a16="http://schemas.microsoft.com/office/drawing/2014/main" id="{987C7E22-9002-48C2-9498-CFDECD00E891}"/>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43729ECE-1B47-40DF-A603-0B72A4802FB4}"/>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55E25BD5-0A7A-4C0F-8C7B-5FB1E17082BE}"/>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8 pictures, 8 headers, and 8 labels</a:t>
            </a:r>
          </a:p>
        </p:txBody>
      </p:sp>
      <p:sp>
        <p:nvSpPr>
          <p:cNvPr id="22" name="Picture Top Left">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type="pic" idx="22" hasCustomPrompt="1"/>
          </p:nvPr>
        </p:nvSpPr>
        <p:spPr>
          <a:xfrm>
            <a:off x="960120"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2" name="Header Top Left">
            <a:extLst>
              <a:ext uri="{FF2B5EF4-FFF2-40B4-BE49-F238E27FC236}">
                <a16:creationId xmlns:a16="http://schemas.microsoft.com/office/drawing/2014/main" id="{573CFC72-9096-4F5D-9BDB-96DE57732BB8}"/>
              </a:ext>
            </a:extLst>
          </p:cNvPr>
          <p:cNvSpPr>
            <a:spLocks noGrp="1"/>
          </p:cNvSpPr>
          <p:nvPr>
            <p:ph type="body" idx="12" hasCustomPrompt="1"/>
          </p:nvPr>
        </p:nvSpPr>
        <p:spPr>
          <a:xfrm>
            <a:off x="388620"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2" name="Content Top Left">
            <a:extLst>
              <a:ext uri="{FF2B5EF4-FFF2-40B4-BE49-F238E27FC236}">
                <a16:creationId xmlns:a16="http://schemas.microsoft.com/office/drawing/2014/main" id="{1EE45CD9-67F8-4A52-86F7-18140657CB4D}"/>
              </a:ext>
            </a:extLst>
          </p:cNvPr>
          <p:cNvSpPr>
            <a:spLocks noGrp="1"/>
          </p:cNvSpPr>
          <p:nvPr>
            <p:ph type="body" idx="2" hasCustomPrompt="1"/>
          </p:nvPr>
        </p:nvSpPr>
        <p:spPr>
          <a:xfrm>
            <a:off x="388620"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3" name="Picture Top Left Center">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type="pic" idx="23" hasCustomPrompt="1"/>
          </p:nvPr>
        </p:nvSpPr>
        <p:spPr>
          <a:xfrm>
            <a:off x="3837432"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3" name="Header Top Left Center">
            <a:extLst>
              <a:ext uri="{FF2B5EF4-FFF2-40B4-BE49-F238E27FC236}">
                <a16:creationId xmlns:a16="http://schemas.microsoft.com/office/drawing/2014/main" id="{3777F387-CD61-4FDE-AE0D-E17DE70D3B19}"/>
              </a:ext>
            </a:extLst>
          </p:cNvPr>
          <p:cNvSpPr>
            <a:spLocks noGrp="1"/>
          </p:cNvSpPr>
          <p:nvPr>
            <p:ph type="body" idx="13" hasCustomPrompt="1"/>
          </p:nvPr>
        </p:nvSpPr>
        <p:spPr>
          <a:xfrm>
            <a:off x="3265932"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 name="Content Top Left Center">
            <a:extLst>
              <a:ext uri="{FF2B5EF4-FFF2-40B4-BE49-F238E27FC236}">
                <a16:creationId xmlns:a16="http://schemas.microsoft.com/office/drawing/2014/main" id="{CD517463-352F-4D83-A9E1-0F789F96266D}"/>
              </a:ext>
            </a:extLst>
          </p:cNvPr>
          <p:cNvSpPr>
            <a:spLocks noGrp="1"/>
          </p:cNvSpPr>
          <p:nvPr>
            <p:ph type="body" idx="3" hasCustomPrompt="1"/>
          </p:nvPr>
        </p:nvSpPr>
        <p:spPr>
          <a:xfrm>
            <a:off x="3265932"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4" name="Picture Top Center Right">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type="pic" idx="24" hasCustomPrompt="1"/>
          </p:nvPr>
        </p:nvSpPr>
        <p:spPr>
          <a:xfrm>
            <a:off x="6714744"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4" name="Header Top Center Right">
            <a:extLst>
              <a:ext uri="{FF2B5EF4-FFF2-40B4-BE49-F238E27FC236}">
                <a16:creationId xmlns:a16="http://schemas.microsoft.com/office/drawing/2014/main" id="{CF3CD244-8B44-44A6-A623-84365E91EAE7}"/>
              </a:ext>
            </a:extLst>
          </p:cNvPr>
          <p:cNvSpPr>
            <a:spLocks noGrp="1"/>
          </p:cNvSpPr>
          <p:nvPr>
            <p:ph type="body" idx="14" hasCustomPrompt="1"/>
          </p:nvPr>
        </p:nvSpPr>
        <p:spPr>
          <a:xfrm>
            <a:off x="6143244"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 name="Content Top Center Right">
            <a:extLst>
              <a:ext uri="{FF2B5EF4-FFF2-40B4-BE49-F238E27FC236}">
                <a16:creationId xmlns:a16="http://schemas.microsoft.com/office/drawing/2014/main" id="{CB7E0003-F180-4528-9992-B9342F92AF42}"/>
              </a:ext>
            </a:extLst>
          </p:cNvPr>
          <p:cNvSpPr>
            <a:spLocks noGrp="1"/>
          </p:cNvSpPr>
          <p:nvPr>
            <p:ph type="body" idx="4" hasCustomPrompt="1"/>
          </p:nvPr>
        </p:nvSpPr>
        <p:spPr>
          <a:xfrm>
            <a:off x="6143244"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5" name="Picture Top Right">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type="pic" idx="25" hasCustomPrompt="1"/>
          </p:nvPr>
        </p:nvSpPr>
        <p:spPr>
          <a:xfrm>
            <a:off x="9592056" y="1112520"/>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5" name="Header Top Right">
            <a:extLst>
              <a:ext uri="{FF2B5EF4-FFF2-40B4-BE49-F238E27FC236}">
                <a16:creationId xmlns:a16="http://schemas.microsoft.com/office/drawing/2014/main" id="{08FBD2BF-3C8E-4153-80EE-99905AF06DB0}"/>
              </a:ext>
            </a:extLst>
          </p:cNvPr>
          <p:cNvSpPr>
            <a:spLocks noGrp="1"/>
          </p:cNvSpPr>
          <p:nvPr>
            <p:ph type="body" idx="15" hasCustomPrompt="1"/>
          </p:nvPr>
        </p:nvSpPr>
        <p:spPr>
          <a:xfrm>
            <a:off x="9020556" y="2816120"/>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5" name="Content Top Right">
            <a:extLst>
              <a:ext uri="{FF2B5EF4-FFF2-40B4-BE49-F238E27FC236}">
                <a16:creationId xmlns:a16="http://schemas.microsoft.com/office/drawing/2014/main" id="{9F6FFAA7-B9C7-461E-8BB9-81670232C41F}"/>
              </a:ext>
            </a:extLst>
          </p:cNvPr>
          <p:cNvSpPr>
            <a:spLocks noGrp="1"/>
          </p:cNvSpPr>
          <p:nvPr>
            <p:ph type="body" idx="5" hasCustomPrompt="1"/>
          </p:nvPr>
        </p:nvSpPr>
        <p:spPr>
          <a:xfrm>
            <a:off x="9020556" y="3181880"/>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6" name="Picture Bottom Left">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type="pic" idx="26" hasCustomPrompt="1"/>
          </p:nvPr>
        </p:nvSpPr>
        <p:spPr>
          <a:xfrm>
            <a:off x="960120"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6" name="Header Bottom Left">
            <a:extLst>
              <a:ext uri="{FF2B5EF4-FFF2-40B4-BE49-F238E27FC236}">
                <a16:creationId xmlns:a16="http://schemas.microsoft.com/office/drawing/2014/main" id="{E8024806-5459-4580-AA84-DFE98F18A5A3}"/>
              </a:ext>
              <a:ext uri="{C183D7F6-B498-43B3-948B-1728B52AA6E4}">
                <adec:decorative xmlns:adec="http://schemas.microsoft.com/office/drawing/2017/decorative" val="0"/>
              </a:ext>
            </a:extLst>
          </p:cNvPr>
          <p:cNvSpPr>
            <a:spLocks noGrp="1"/>
          </p:cNvSpPr>
          <p:nvPr>
            <p:ph type="body" idx="16" hasCustomPrompt="1"/>
          </p:nvPr>
        </p:nvSpPr>
        <p:spPr>
          <a:xfrm>
            <a:off x="388620"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6" name="Content Bottom Left">
            <a:extLst>
              <a:ext uri="{FF2B5EF4-FFF2-40B4-BE49-F238E27FC236}">
                <a16:creationId xmlns:a16="http://schemas.microsoft.com/office/drawing/2014/main" id="{4D93D3AB-1EE8-404D-9F8C-ED6967836914}"/>
              </a:ext>
            </a:extLst>
          </p:cNvPr>
          <p:cNvSpPr>
            <a:spLocks noGrp="1"/>
          </p:cNvSpPr>
          <p:nvPr>
            <p:ph type="body" idx="6" hasCustomPrompt="1"/>
          </p:nvPr>
        </p:nvSpPr>
        <p:spPr>
          <a:xfrm>
            <a:off x="388620"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7" name="Picture Bottom Left Center">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type="pic" idx="27" hasCustomPrompt="1"/>
          </p:nvPr>
        </p:nvSpPr>
        <p:spPr>
          <a:xfrm>
            <a:off x="3837432"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7" name="Header Bottom Left Center">
            <a:extLst>
              <a:ext uri="{FF2B5EF4-FFF2-40B4-BE49-F238E27FC236}">
                <a16:creationId xmlns:a16="http://schemas.microsoft.com/office/drawing/2014/main" id="{484800A7-DA7A-48C2-BD82-C01F6FD9DB3E}"/>
              </a:ext>
            </a:extLst>
          </p:cNvPr>
          <p:cNvSpPr>
            <a:spLocks noGrp="1"/>
          </p:cNvSpPr>
          <p:nvPr>
            <p:ph type="body" idx="17" hasCustomPrompt="1"/>
          </p:nvPr>
        </p:nvSpPr>
        <p:spPr>
          <a:xfrm>
            <a:off x="3265932"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Bottom Left Center">
            <a:extLst>
              <a:ext uri="{FF2B5EF4-FFF2-40B4-BE49-F238E27FC236}">
                <a16:creationId xmlns:a16="http://schemas.microsoft.com/office/drawing/2014/main" id="{E00DC7A1-D213-4110-B8F7-671693ED3BA2}"/>
              </a:ext>
            </a:extLst>
          </p:cNvPr>
          <p:cNvSpPr>
            <a:spLocks noGrp="1"/>
          </p:cNvSpPr>
          <p:nvPr>
            <p:ph type="body" idx="7" hasCustomPrompt="1"/>
          </p:nvPr>
        </p:nvSpPr>
        <p:spPr>
          <a:xfrm>
            <a:off x="3265932"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28" name="Picture Bottom Center Right">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type="pic" idx="28" hasCustomPrompt="1"/>
          </p:nvPr>
        </p:nvSpPr>
        <p:spPr>
          <a:xfrm>
            <a:off x="6714744"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8" name="Header Bottom Center Right">
            <a:extLst>
              <a:ext uri="{FF2B5EF4-FFF2-40B4-BE49-F238E27FC236}">
                <a16:creationId xmlns:a16="http://schemas.microsoft.com/office/drawing/2014/main" id="{706046A5-A656-4648-BD39-64FA5E94B613}"/>
              </a:ext>
            </a:extLst>
          </p:cNvPr>
          <p:cNvSpPr>
            <a:spLocks noGrp="1"/>
          </p:cNvSpPr>
          <p:nvPr>
            <p:ph type="body" idx="18" hasCustomPrompt="1"/>
          </p:nvPr>
        </p:nvSpPr>
        <p:spPr>
          <a:xfrm>
            <a:off x="6143244"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Bottom Center Right">
            <a:extLst>
              <a:ext uri="{FF2B5EF4-FFF2-40B4-BE49-F238E27FC236}">
                <a16:creationId xmlns:a16="http://schemas.microsoft.com/office/drawing/2014/main" id="{9B368858-C97D-421E-8EFA-7300741447EE}"/>
              </a:ext>
            </a:extLst>
          </p:cNvPr>
          <p:cNvSpPr>
            <a:spLocks noGrp="1"/>
          </p:cNvSpPr>
          <p:nvPr>
            <p:ph type="body" idx="8" hasCustomPrompt="1"/>
          </p:nvPr>
        </p:nvSpPr>
        <p:spPr>
          <a:xfrm>
            <a:off x="6143244"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
        <p:nvSpPr>
          <p:cNvPr id="9" name="Picture Bottom Right">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type="pic" idx="9" hasCustomPrompt="1"/>
          </p:nvPr>
        </p:nvSpPr>
        <p:spPr>
          <a:xfrm>
            <a:off x="9592056" y="3814574"/>
            <a:ext cx="1645920" cy="1648911"/>
          </a:xfrm>
        </p:spPr>
        <p:txBody>
          <a:bodyPr anchor="t">
            <a:noAutofit/>
          </a:bodyPr>
          <a:lstStyle>
            <a:lvl1pPr marL="0" indent="0" algn="ctr">
              <a:buNone/>
              <a:defRPr sz="2000">
                <a:solidFill>
                  <a:srgbClr val="232F3E"/>
                </a:solidFill>
              </a:defRPr>
            </a:lvl1pPr>
          </a:lstStyle>
          <a:p>
            <a:r>
              <a:rPr lang="en-US" dirty="0"/>
              <a:t>Click icon to add image</a:t>
            </a:r>
          </a:p>
        </p:txBody>
      </p:sp>
      <p:sp>
        <p:nvSpPr>
          <p:cNvPr id="19" name="Header Bottom Right">
            <a:extLst>
              <a:ext uri="{FF2B5EF4-FFF2-40B4-BE49-F238E27FC236}">
                <a16:creationId xmlns:a16="http://schemas.microsoft.com/office/drawing/2014/main" id="{DE6244C7-6311-4CE0-AB72-2F6B429380EE}"/>
              </a:ext>
            </a:extLst>
          </p:cNvPr>
          <p:cNvSpPr>
            <a:spLocks noGrp="1"/>
          </p:cNvSpPr>
          <p:nvPr>
            <p:ph type="body" idx="19" hasCustomPrompt="1"/>
          </p:nvPr>
        </p:nvSpPr>
        <p:spPr>
          <a:xfrm>
            <a:off x="9020556" y="5518174"/>
            <a:ext cx="2788920" cy="301752"/>
          </a:xfrm>
          <a:solidFill>
            <a:schemeClr val="accent1"/>
          </a:solidFill>
          <a:ln>
            <a:noFill/>
          </a:ln>
        </p:spPr>
        <p:txBody>
          <a:bodyPr vert="horz" lIns="91440" tIns="45720" rIns="91440" bIns="45720" rtlCol="0" anchor="ctr">
            <a:noAutofit/>
          </a:bodyPr>
          <a:lstStyle>
            <a:lvl1pPr marL="0" indent="0" algn="ctr">
              <a:lnSpc>
                <a:spcPct val="100000"/>
              </a:lnSpc>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1" name="Content Bottom Right">
            <a:extLst>
              <a:ext uri="{FF2B5EF4-FFF2-40B4-BE49-F238E27FC236}">
                <a16:creationId xmlns:a16="http://schemas.microsoft.com/office/drawing/2014/main" id="{FD06B556-F6DC-4CCE-8B02-F0089954096F}"/>
              </a:ext>
            </a:extLst>
          </p:cNvPr>
          <p:cNvSpPr>
            <a:spLocks noGrp="1"/>
          </p:cNvSpPr>
          <p:nvPr>
            <p:ph type="body" idx="9" hasCustomPrompt="1"/>
          </p:nvPr>
        </p:nvSpPr>
        <p:spPr>
          <a:xfrm>
            <a:off x="9020556" y="5864908"/>
            <a:ext cx="2788920" cy="570859"/>
          </a:xfrm>
        </p:spPr>
        <p:txBody>
          <a:bodyPr lIns="91440">
            <a:noAutofit/>
          </a:bodyPr>
          <a:lstStyle>
            <a:lvl1pPr marL="0" indent="0" algn="ctr">
              <a:lnSpc>
                <a:spcPct val="100000"/>
              </a:lnSpc>
              <a:spcAft>
                <a:spcPts val="0"/>
              </a:spcAft>
              <a:buNone/>
              <a:defRPr sz="1600">
                <a:solidFill>
                  <a:srgbClr val="232F3E"/>
                </a:solidFill>
              </a:defRPr>
            </a:lvl1pPr>
          </a:lstStyle>
          <a:p>
            <a:pPr lvl="0"/>
            <a:r>
              <a:rPr lang="en-US" dirty="0"/>
              <a:t>Enter text</a:t>
            </a:r>
          </a:p>
        </p:txBody>
      </p:sp>
    </p:spTree>
    <p:custDataLst>
      <p:tags r:id="rId1"/>
    </p:custDataLst>
    <p:extLst>
      <p:ext uri="{BB962C8B-B14F-4D97-AF65-F5344CB8AC3E}">
        <p14:creationId xmlns:p14="http://schemas.microsoft.com/office/powerpoint/2010/main" val="3843861970"/>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x" preserve="1">
  <p:cSld name="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layout</a:t>
            </a:r>
          </a:p>
        </p:txBody>
      </p:sp>
    </p:spTree>
    <p:custDataLst>
      <p:tags r:id="rId1"/>
    </p:custDataLst>
    <p:extLst>
      <p:ext uri="{BB962C8B-B14F-4D97-AF65-F5344CB8AC3E}">
        <p14:creationId xmlns:p14="http://schemas.microsoft.com/office/powerpoint/2010/main" val="11410418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reserve="1">
  <p:cSld name="Title Only Blank">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05A6DC6-12AE-4044-A010-638B96074FF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Title only blank layout</a:t>
            </a:r>
          </a:p>
        </p:txBody>
      </p:sp>
    </p:spTree>
    <p:custDataLst>
      <p:tags r:id="rId1"/>
    </p:custDataLst>
    <p:extLst>
      <p:ext uri="{BB962C8B-B14F-4D97-AF65-F5344CB8AC3E}">
        <p14:creationId xmlns:p14="http://schemas.microsoft.com/office/powerpoint/2010/main" val="322379325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26FB18C2-E834-48CB-9414-9609DFCFF50D}"/>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5D396EB3-B009-41EC-883D-783B45B40002}"/>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57831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299526"/>
            <a:ext cx="11466576" cy="289591"/>
          </a:xfrm>
        </p:spPr>
        <p:txBody>
          <a:bodyPr>
            <a:noAutofit/>
          </a:bodyPr>
          <a:lstStyle>
            <a:lvl1pPr>
              <a:defRPr sz="1600">
                <a:solidFill>
                  <a:srgbClr val="232F3E"/>
                </a:solidFill>
                <a:latin typeface="Amazon Ember Display Heavy"/>
              </a:defRPr>
            </a:lvl1pPr>
          </a:lstStyle>
          <a:p>
            <a:r>
              <a:rPr lang="en-US" dirty="0"/>
              <a:t>Architecture layout</a:t>
            </a:r>
          </a:p>
        </p:txBody>
      </p:sp>
    </p:spTree>
    <p:custDataLst>
      <p:tags r:id="rId1"/>
    </p:custDataLst>
    <p:extLst>
      <p:ext uri="{BB962C8B-B14F-4D97-AF65-F5344CB8AC3E}">
        <p14:creationId xmlns:p14="http://schemas.microsoft.com/office/powerpoint/2010/main" val="216744085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A4932735-622B-4285-A776-740EAD7E422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0" y="154244"/>
            <a:ext cx="12192000" cy="289591"/>
          </a:xfrm>
        </p:spPr>
        <p:txBody>
          <a:bodyPr>
            <a:normAutofit/>
          </a:bodyPr>
          <a:lstStyle>
            <a:lvl1pPr marL="228600">
              <a:defRPr sz="1600">
                <a:solidFill>
                  <a:srgbClr val="232F3E"/>
                </a:solidFill>
                <a:latin typeface="Amazon Ember Display Heavy"/>
              </a:defRPr>
            </a:lvl1pPr>
          </a:lstStyle>
          <a:p>
            <a:r>
              <a:rPr lang="en-US" dirty="0"/>
              <a:t>Full Image layout</a:t>
            </a:r>
          </a:p>
        </p:txBody>
      </p:sp>
      <p:sp>
        <p:nvSpPr>
          <p:cNvPr id="22" name="Picture">
            <a:extLst>
              <a:ext uri="{FF2B5EF4-FFF2-40B4-BE49-F238E27FC236}">
                <a16:creationId xmlns:a16="http://schemas.microsoft.com/office/drawing/2014/main" id="{3725AF1B-6140-4505-81CD-922F8227415C}"/>
              </a:ext>
              <a:ext uri="{C183D7F6-B498-43B3-948B-1728B52AA6E4}">
                <adec:decorative xmlns:adec="http://schemas.microsoft.com/office/drawing/2017/decorative" val="1"/>
              </a:ext>
            </a:extLst>
          </p:cNvPr>
          <p:cNvSpPr>
            <a:spLocks noGrp="1"/>
          </p:cNvSpPr>
          <p:nvPr>
            <p:ph type="pic" idx="22" hasCustomPrompt="1"/>
          </p:nvPr>
        </p:nvSpPr>
        <p:spPr>
          <a:xfrm>
            <a:off x="0" y="444499"/>
            <a:ext cx="12192000" cy="5979265"/>
          </a:xfrm>
        </p:spPr>
        <p:txBody>
          <a:bodyPr anchor="ctr">
            <a:noAutofit/>
          </a:bodyPr>
          <a:lstStyle>
            <a:lvl1pPr marL="0" indent="0" algn="ctr">
              <a:buNone/>
              <a:defRPr sz="3600">
                <a:solidFill>
                  <a:srgbClr val="232F3E"/>
                </a:solidFill>
              </a:defRPr>
            </a:lvl1pPr>
          </a:lstStyle>
          <a:p>
            <a:r>
              <a:rPr lang="en-US" dirty="0"/>
              <a:t>Click icon to add image</a:t>
            </a:r>
          </a:p>
        </p:txBody>
      </p:sp>
    </p:spTree>
    <p:custDataLst>
      <p:tags r:id="rId1"/>
    </p:custDataLst>
    <p:extLst>
      <p:ext uri="{BB962C8B-B14F-4D97-AF65-F5344CB8AC3E}">
        <p14:creationId xmlns:p14="http://schemas.microsoft.com/office/powerpoint/2010/main" val="22315331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KC-Vertic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39813"/>
            <a:ext cx="4162425" cy="5407025"/>
          </a:xfrm>
          <a:noFill/>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6D2D170-961D-4140-B087-C6CFDF7BBD75}"/>
              </a:ext>
            </a:extLst>
          </p:cNvPr>
          <p:cNvSpPr>
            <a:spLocks noGrp="1"/>
          </p:cNvSpPr>
          <p:nvPr>
            <p:ph type="body" idx="13" hasCustomPrompt="1"/>
          </p:nvPr>
        </p:nvSpPr>
        <p:spPr>
          <a:xfrm>
            <a:off x="4526280" y="4727448"/>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B428E384-92E9-495A-9CAE-E33E3164F939}"/>
              </a:ext>
            </a:extLst>
          </p:cNvPr>
          <p:cNvSpPr>
            <a:spLocks noGrp="1"/>
          </p:cNvSpPr>
          <p:nvPr>
            <p:ph type="body" idx="14" hasCustomPrompt="1"/>
          </p:nvPr>
        </p:nvSpPr>
        <p:spPr>
          <a:xfrm>
            <a:off x="5431536" y="4727448"/>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DC41B7B5-B438-4885-90AE-758ABF2CA9F9}"/>
              </a:ext>
            </a:extLst>
          </p:cNvPr>
          <p:cNvSpPr>
            <a:spLocks noGrp="1"/>
          </p:cNvSpPr>
          <p:nvPr>
            <p:ph type="body" idx="15" hasCustomPrompt="1"/>
          </p:nvPr>
        </p:nvSpPr>
        <p:spPr>
          <a:xfrm>
            <a:off x="4526280" y="5568696"/>
            <a:ext cx="914400" cy="804672"/>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09F72B28-4CF6-4FD1-BA4A-5A98215324E2}"/>
              </a:ext>
            </a:extLst>
          </p:cNvPr>
          <p:cNvSpPr>
            <a:spLocks noGrp="1"/>
          </p:cNvSpPr>
          <p:nvPr>
            <p:ph type="body" idx="16" hasCustomPrompt="1"/>
          </p:nvPr>
        </p:nvSpPr>
        <p:spPr>
          <a:xfrm>
            <a:off x="5431536" y="5568696"/>
            <a:ext cx="6720840" cy="804672"/>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49A00690-0DF5-4330-B89B-2C9BBCBD2182}"/>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97611777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KC-Vert-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F9DC1246-3E71-42C8-88C8-CEB64C15A2A3}"/>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6"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93617314-864D-45CC-8F94-CE423E6637F9}"/>
              </a:ext>
            </a:extLst>
          </p:cNvPr>
          <p:cNvSpPr>
            <a:spLocks noGrp="1"/>
          </p:cNvSpPr>
          <p:nvPr>
            <p:ph type="body" idx="2" hasCustomPrompt="1"/>
          </p:nvPr>
        </p:nvSpPr>
        <p:spPr>
          <a:xfrm>
            <a:off x="365760" y="1039813"/>
            <a:ext cx="4162425" cy="5407025"/>
          </a:xfrm>
        </p:spPr>
        <p:txBody>
          <a:bodyPr>
            <a:normAutofit/>
          </a:bodyPr>
          <a:lstStyle>
            <a:lvl1pPr marL="0" indent="0" algn="l">
              <a:lnSpc>
                <a:spcPct val="100000"/>
              </a:lnSpc>
              <a:buNone/>
              <a:defRPr sz="2400">
                <a:solidFill>
                  <a:srgbClr val="232F3E"/>
                </a:solidFill>
              </a:defRPr>
            </a:lvl1pPr>
            <a:lvl2pPr algn="l">
              <a:defRPr sz="2000"/>
            </a:lvl2pPr>
            <a:lvl3pPr algn="l">
              <a:defRPr sz="1800"/>
            </a:lvl3pPr>
            <a:lvl4pPr algn="l">
              <a:defRPr sz="1600"/>
            </a:lvl4pPr>
            <a:lvl5pPr algn="l">
              <a:defRPr sz="1600"/>
            </a:lvl5pPr>
          </a:lstStyle>
          <a:p>
            <a:pPr lvl="0"/>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p:txBody>
      </p:sp>
      <p:sp>
        <p:nvSpPr>
          <p:cNvPr id="11" name="Choice Header">
            <a:extLst>
              <a:ext uri="{FF2B5EF4-FFF2-40B4-BE49-F238E27FC236}">
                <a16:creationId xmlns:a16="http://schemas.microsoft.com/office/drawing/2014/main" id="{94A86AAC-E12E-4379-82C3-110918D47BB2}"/>
              </a:ext>
            </a:extLst>
          </p:cNvPr>
          <p:cNvSpPr>
            <a:spLocks noGrp="1"/>
          </p:cNvSpPr>
          <p:nvPr>
            <p:ph type="body" idx="11" hasCustomPrompt="1"/>
          </p:nvPr>
        </p:nvSpPr>
        <p:spPr>
          <a:xfrm>
            <a:off x="4519613" y="1033463"/>
            <a:ext cx="925512" cy="322262"/>
          </a:xfrm>
          <a:noFill/>
          <a:ln>
            <a:noFill/>
          </a:ln>
        </p:spPr>
        <p:txBody>
          <a:bodyPr lIns="0" rIns="0">
            <a:noAutofit/>
          </a:bodyPr>
          <a:lstStyle>
            <a:lvl1pPr marL="0" indent="0" algn="ctr">
              <a:lnSpc>
                <a:spcPct val="100000"/>
              </a:lnSpc>
              <a:spcAft>
                <a:spcPts val="0"/>
              </a:spcAft>
              <a:buNone/>
              <a:defRPr sz="1800" b="1">
                <a:solidFill>
                  <a:schemeClr val="bg1"/>
                </a:solidFill>
                <a:latin typeface="+mn-lt"/>
              </a:defRPr>
            </a:lvl1pPr>
          </a:lstStyle>
          <a:p>
            <a:pPr lvl="0"/>
            <a:r>
              <a:rPr lang="en-US" dirty="0"/>
              <a:t>Type: Choice</a:t>
            </a:r>
          </a:p>
        </p:txBody>
      </p:sp>
      <p:sp>
        <p:nvSpPr>
          <p:cNvPr id="12" name="Response Header">
            <a:extLst>
              <a:ext uri="{FF2B5EF4-FFF2-40B4-BE49-F238E27FC236}">
                <a16:creationId xmlns:a16="http://schemas.microsoft.com/office/drawing/2014/main" id="{49A546CD-B784-4C60-8DF1-04299A8BD8DC}"/>
              </a:ext>
            </a:extLst>
          </p:cNvPr>
          <p:cNvSpPr>
            <a:spLocks noGrp="1"/>
          </p:cNvSpPr>
          <p:nvPr>
            <p:ph type="body" idx="12" hasCustomPrompt="1"/>
          </p:nvPr>
        </p:nvSpPr>
        <p:spPr>
          <a:xfrm>
            <a:off x="5445125" y="1039813"/>
            <a:ext cx="3005138" cy="315912"/>
          </a:xfrm>
          <a:noFill/>
          <a:ln>
            <a:noFill/>
          </a:ln>
        </p:spPr>
        <p:txBody>
          <a:bodyPr lIns="91440" rIns="0">
            <a:noAutofit/>
          </a:bodyPr>
          <a:lstStyle>
            <a:lvl1pPr marL="0" indent="0" algn="l">
              <a:lnSpc>
                <a:spcPct val="100000"/>
              </a:lnSpc>
              <a:spcAft>
                <a:spcPts val="0"/>
              </a:spcAft>
              <a:buNone/>
              <a:defRPr sz="1800" b="1">
                <a:solidFill>
                  <a:schemeClr val="bg1"/>
                </a:solidFill>
                <a:latin typeface="+mn-lt"/>
              </a:defRPr>
            </a:lvl1pPr>
          </a:lstStyle>
          <a:p>
            <a:pPr lvl="0"/>
            <a:r>
              <a:rPr lang="en-US" dirty="0"/>
              <a:t>Type: Response</a:t>
            </a:r>
          </a:p>
        </p:txBody>
      </p:sp>
      <p:sp>
        <p:nvSpPr>
          <p:cNvPr id="3" name="First Resp #">
            <a:extLst>
              <a:ext uri="{FF2B5EF4-FFF2-40B4-BE49-F238E27FC236}">
                <a16:creationId xmlns:a16="http://schemas.microsoft.com/office/drawing/2014/main" id="{DF65B8F8-C411-4217-9956-036774AA94F8}"/>
              </a:ext>
            </a:extLst>
          </p:cNvPr>
          <p:cNvSpPr>
            <a:spLocks noGrp="1"/>
          </p:cNvSpPr>
          <p:nvPr>
            <p:ph type="body" idx="3" hasCustomPrompt="1"/>
          </p:nvPr>
        </p:nvSpPr>
        <p:spPr>
          <a:xfrm>
            <a:off x="4530343" y="1344168"/>
            <a:ext cx="914781"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FFCADE15-0CD9-4F7B-9FFC-6A2C71B4D226}"/>
              </a:ext>
            </a:extLst>
          </p:cNvPr>
          <p:cNvSpPr>
            <a:spLocks noGrp="1"/>
          </p:cNvSpPr>
          <p:nvPr>
            <p:ph type="body" idx="4" hasCustomPrompt="1"/>
          </p:nvPr>
        </p:nvSpPr>
        <p:spPr>
          <a:xfrm>
            <a:off x="5431536" y="134416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B27347F1-D178-4BA7-947D-9C3316CA7F55}"/>
              </a:ext>
            </a:extLst>
          </p:cNvPr>
          <p:cNvSpPr>
            <a:spLocks noGrp="1"/>
          </p:cNvSpPr>
          <p:nvPr>
            <p:ph type="body" idx="5" hasCustomPrompt="1"/>
          </p:nvPr>
        </p:nvSpPr>
        <p:spPr>
          <a:xfrm>
            <a:off x="4526280" y="2194560"/>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9762E385-4F68-4D4A-BE57-EDA108A285B5}"/>
              </a:ext>
            </a:extLst>
          </p:cNvPr>
          <p:cNvSpPr>
            <a:spLocks noGrp="1"/>
          </p:cNvSpPr>
          <p:nvPr>
            <p:ph type="body" idx="6" hasCustomPrompt="1"/>
          </p:nvPr>
        </p:nvSpPr>
        <p:spPr>
          <a:xfrm>
            <a:off x="5431536" y="2194560"/>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2ACAFB9D-8E9C-4408-85E1-A3501374C2E9}"/>
              </a:ext>
            </a:extLst>
          </p:cNvPr>
          <p:cNvSpPr>
            <a:spLocks noGrp="1"/>
          </p:cNvSpPr>
          <p:nvPr>
            <p:ph type="body" idx="7" hasCustomPrompt="1"/>
          </p:nvPr>
        </p:nvSpPr>
        <p:spPr>
          <a:xfrm>
            <a:off x="4526280" y="303580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22884D39-7004-49D5-8E88-C45BE1C9BFCB}"/>
              </a:ext>
            </a:extLst>
          </p:cNvPr>
          <p:cNvSpPr>
            <a:spLocks noGrp="1"/>
          </p:cNvSpPr>
          <p:nvPr>
            <p:ph type="body" idx="8" hasCustomPrompt="1"/>
          </p:nvPr>
        </p:nvSpPr>
        <p:spPr>
          <a:xfrm>
            <a:off x="5431536" y="303580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310C83DA-41AE-4CBA-AA96-EB5CB2226FCF}"/>
              </a:ext>
            </a:extLst>
          </p:cNvPr>
          <p:cNvSpPr>
            <a:spLocks noGrp="1"/>
          </p:cNvSpPr>
          <p:nvPr>
            <p:ph type="body" idx="9" hasCustomPrompt="1"/>
          </p:nvPr>
        </p:nvSpPr>
        <p:spPr>
          <a:xfrm>
            <a:off x="4526280" y="387705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AEE05FA0-DD58-4D0B-A7E0-EAC7B789E7A7}"/>
              </a:ext>
            </a:extLst>
          </p:cNvPr>
          <p:cNvSpPr>
            <a:spLocks noGrp="1"/>
          </p:cNvSpPr>
          <p:nvPr>
            <p:ph type="body" idx="10" hasCustomPrompt="1"/>
          </p:nvPr>
        </p:nvSpPr>
        <p:spPr>
          <a:xfrm>
            <a:off x="5431536" y="387705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7" name="Fifth Resp #">
            <a:extLst>
              <a:ext uri="{FF2B5EF4-FFF2-40B4-BE49-F238E27FC236}">
                <a16:creationId xmlns:a16="http://schemas.microsoft.com/office/drawing/2014/main" id="{B6D2D170-961D-4140-B087-C6CFDF7BBD75}"/>
              </a:ext>
            </a:extLst>
          </p:cNvPr>
          <p:cNvSpPr>
            <a:spLocks noGrp="1"/>
          </p:cNvSpPr>
          <p:nvPr>
            <p:ph type="body" idx="12" hasCustomPrompt="1"/>
          </p:nvPr>
        </p:nvSpPr>
        <p:spPr>
          <a:xfrm>
            <a:off x="4526280" y="4727448"/>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3" name="Fifth Resp Text">
            <a:extLst>
              <a:ext uri="{FF2B5EF4-FFF2-40B4-BE49-F238E27FC236}">
                <a16:creationId xmlns:a16="http://schemas.microsoft.com/office/drawing/2014/main" id="{B428E384-92E9-495A-9CAE-E33E3164F939}"/>
              </a:ext>
            </a:extLst>
          </p:cNvPr>
          <p:cNvSpPr>
            <a:spLocks noGrp="1"/>
          </p:cNvSpPr>
          <p:nvPr>
            <p:ph type="body" idx="13" hasCustomPrompt="1"/>
          </p:nvPr>
        </p:nvSpPr>
        <p:spPr>
          <a:xfrm>
            <a:off x="5431536" y="4727448"/>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4" name="Sixth Resp #">
            <a:extLst>
              <a:ext uri="{FF2B5EF4-FFF2-40B4-BE49-F238E27FC236}">
                <a16:creationId xmlns:a16="http://schemas.microsoft.com/office/drawing/2014/main" id="{DC41B7B5-B438-4885-90AE-758ABF2CA9F9}"/>
              </a:ext>
            </a:extLst>
          </p:cNvPr>
          <p:cNvSpPr>
            <a:spLocks noGrp="1"/>
          </p:cNvSpPr>
          <p:nvPr>
            <p:ph type="body" idx="14" hasCustomPrompt="1"/>
          </p:nvPr>
        </p:nvSpPr>
        <p:spPr>
          <a:xfrm>
            <a:off x="4526280" y="5568696"/>
            <a:ext cx="914400" cy="804672"/>
          </a:xfrm>
          <a:noFill/>
          <a:ln>
            <a:noFill/>
          </a:ln>
        </p:spPr>
        <p:txBody>
          <a:bodyPr lIns="0" tIns="0" rIns="0" bIns="0" anchor="ct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5" name="Sixth Resp Text">
            <a:extLst>
              <a:ext uri="{FF2B5EF4-FFF2-40B4-BE49-F238E27FC236}">
                <a16:creationId xmlns:a16="http://schemas.microsoft.com/office/drawing/2014/main" id="{09F72B28-4CF6-4FD1-BA4A-5A98215324E2}"/>
              </a:ext>
            </a:extLst>
          </p:cNvPr>
          <p:cNvSpPr>
            <a:spLocks noGrp="1"/>
          </p:cNvSpPr>
          <p:nvPr>
            <p:ph type="body" idx="15" hasCustomPrompt="1"/>
          </p:nvPr>
        </p:nvSpPr>
        <p:spPr>
          <a:xfrm>
            <a:off x="5431536" y="5568696"/>
            <a:ext cx="6720840" cy="804672"/>
          </a:xfrm>
          <a:noFill/>
          <a:ln>
            <a:noFill/>
          </a:ln>
        </p:spPr>
        <p:txBody>
          <a:bodyPr lIns="91440" tIns="0" rIns="91440" bIns="0" anchor="ctr">
            <a:noAutofit/>
          </a:bodyPr>
          <a:lstStyle>
            <a:lvl1pPr marL="0" indent="0" algn="l">
              <a:lnSpc>
                <a:spcPct val="90000"/>
              </a:lnSpc>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4698067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 preserve="1">
  <p:cSld name="KC-Vertic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11111"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0794" y="1420597"/>
            <a:ext cx="6723145" cy="4955378"/>
          </a:xfrm>
          <a:noFill/>
        </p:spPr>
        <p:txBody>
          <a:bodyPr lIns="91440" tIns="91440" rIns="182880" bIns="0" anchor="t"/>
          <a:lstStyle>
            <a:lvl1pPr marL="0" indent="0" algn="l">
              <a:lnSpc>
                <a:spcPct val="9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005D2766-8051-4525-B84F-5BD0A1EA30C0}"/>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14597117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 preserve="1">
  <p:cSld name="KC-Vert-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919E744-E8A9-4BBA-9A46-E3C8187BE86A}"/>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dirty="0"/>
              <a:t>Answer and explanation – Option 2</a:t>
            </a:r>
          </a:p>
        </p:txBody>
      </p:sp>
      <p:sp>
        <p:nvSpPr>
          <p:cNvPr id="2" name="Question">
            <a:extLst>
              <a:ext uri="{FF2B5EF4-FFF2-40B4-BE49-F238E27FC236}">
                <a16:creationId xmlns:a16="http://schemas.microsoft.com/office/drawing/2014/main" id="{44F57E91-15F3-4802-8B9A-31B722148228}"/>
              </a:ext>
            </a:extLst>
          </p:cNvPr>
          <p:cNvSpPr>
            <a:spLocks noGrp="1"/>
          </p:cNvSpPr>
          <p:nvPr>
            <p:ph type="body" idx="2" hasCustomPrompt="1"/>
          </p:nvPr>
        </p:nvSpPr>
        <p:spPr>
          <a:xfrm>
            <a:off x="365760" y="1042416"/>
            <a:ext cx="4160520" cy="5404104"/>
          </a:xfrm>
        </p:spPr>
        <p:txBody>
          <a:bodyPr>
            <a:normAutofit/>
          </a:bodyPr>
          <a:lstStyle>
            <a:lvl1pPr marL="0" marR="0" indent="0" algn="l" defTabSz="914400" rtl="0" eaLnBrk="1" fontAlgn="auto" latinLnBrk="0" hangingPunct="1">
              <a:lnSpc>
                <a:spcPct val="100000"/>
              </a:lnSpc>
              <a:spcBef>
                <a:spcPts val="0"/>
              </a:spcBef>
              <a:spcAft>
                <a:spcPts val="1200"/>
              </a:spcAft>
              <a:buClrTx/>
              <a:buSzTx/>
              <a:buFont typeface="Arial" panose="020B0604020202020204" pitchFamily="34" charset="0"/>
              <a:buNone/>
              <a:tabLst/>
              <a:defRPr sz="24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2" name="AnswerHeader">
            <a:extLst>
              <a:ext uri="{FF2B5EF4-FFF2-40B4-BE49-F238E27FC236}">
                <a16:creationId xmlns:a16="http://schemas.microsoft.com/office/drawing/2014/main" id="{7C8472BF-3681-4E98-B87B-5FA7A5C19359}"/>
              </a:ext>
            </a:extLst>
          </p:cNvPr>
          <p:cNvSpPr>
            <a:spLocks noGrp="1"/>
          </p:cNvSpPr>
          <p:nvPr>
            <p:ph type="body" idx="12" hasCustomPrompt="1"/>
          </p:nvPr>
        </p:nvSpPr>
        <p:spPr>
          <a:xfrm>
            <a:off x="4517136" y="1033272"/>
            <a:ext cx="7607808" cy="400050"/>
          </a:xfrm>
          <a:noFill/>
        </p:spPr>
        <p:txBody>
          <a:bodyPr lIns="91440">
            <a:noAutofit/>
          </a:bodyPr>
          <a:lstStyle>
            <a:lvl1pPr marL="0" indent="0">
              <a:lnSpc>
                <a:spcPct val="100000"/>
              </a:lnSpc>
              <a:spcAft>
                <a:spcPts val="0"/>
              </a:spcAft>
              <a:buNone/>
              <a:defRPr sz="2000" b="1">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31536" y="1417320"/>
            <a:ext cx="6720840" cy="4955378"/>
          </a:xfrm>
          <a:noFill/>
        </p:spPr>
        <p:txBody>
          <a:bodyPr lIns="91440" tIns="91440" rIns="182880" bIns="0" anchor="t"/>
          <a:lstStyle>
            <a:lvl1pPr marL="0" indent="0" algn="l">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8515181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A-Horizontal">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chemeClr val="bg1"/>
                </a:solidFill>
                <a:latin typeface="Amazon Ember Display Heavy"/>
              </a:defRPr>
            </a:lvl1pPr>
          </a:lstStyle>
          <a:p>
            <a:r>
              <a:rPr lang="en-US" dirty="0"/>
              <a:t>Knowledge check</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pic>
        <p:nvPicPr>
          <p:cNvPr id="13" name="Copyright1">
            <a:extLst>
              <a:ext uri="{FF2B5EF4-FFF2-40B4-BE49-F238E27FC236}">
                <a16:creationId xmlns:a16="http://schemas.microsoft.com/office/drawing/2014/main" id="{D612BC5C-D183-4F43-9348-CEF078622BC7}"/>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354018068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A-Horz-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3A540A4D-7B1F-4055-BDC7-7451D12F0E3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0" name="Title">
            <a:extLst>
              <a:ext uri="{FF2B5EF4-FFF2-40B4-BE49-F238E27FC236}">
                <a16:creationId xmlns:a16="http://schemas.microsoft.com/office/drawing/2014/main" id="{C2824936-64E1-4A65-A88E-FF9DDF72FA2F}"/>
              </a:ext>
            </a:extLst>
          </p:cNvPr>
          <p:cNvSpPr>
            <a:spLocks noGrp="1"/>
          </p:cNvSpPr>
          <p:nvPr>
            <p:ph type="title" idx="1" hasCustomPrompt="1"/>
          </p:nvPr>
        </p:nvSpPr>
        <p:spPr>
          <a:xfrm>
            <a:off x="182880" y="301752"/>
            <a:ext cx="11466576" cy="731520"/>
          </a:xfrm>
        </p:spPr>
        <p:txBody>
          <a:bodyPr/>
          <a:lstStyle>
            <a:lvl1pPr>
              <a:defRPr>
                <a:solidFill>
                  <a:srgbClr val="232F3E"/>
                </a:solidFill>
                <a:latin typeface="Amazon Ember Display Heavy"/>
              </a:defRPr>
            </a:lvl1pPr>
          </a:lstStyle>
          <a:p>
            <a:r>
              <a:rPr lang="en-US" dirty="0"/>
              <a:t>Knowledge check – Option 2</a:t>
            </a:r>
          </a:p>
        </p:txBody>
      </p:sp>
      <p:sp>
        <p:nvSpPr>
          <p:cNvPr id="2" name="Question 1">
            <a:extLst>
              <a:ext uri="{FF2B5EF4-FFF2-40B4-BE49-F238E27FC236}">
                <a16:creationId xmlns:a16="http://schemas.microsoft.com/office/drawing/2014/main" id="{44F57E91-15F3-4802-8B9A-31B722148228}"/>
              </a:ext>
            </a:extLst>
          </p:cNvPr>
          <p:cNvSpPr>
            <a:spLocks noGrp="1"/>
          </p:cNvSpPr>
          <p:nvPr>
            <p:ph type="body" idx="2" hasCustomPrompt="1"/>
          </p:nvPr>
        </p:nvSpPr>
        <p:spPr>
          <a:xfrm>
            <a:off x="179238" y="118549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3" name="Answer Text 1">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651500" y="118549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4" name="Question 2">
            <a:extLst>
              <a:ext uri="{FF2B5EF4-FFF2-40B4-BE49-F238E27FC236}">
                <a16:creationId xmlns:a16="http://schemas.microsoft.com/office/drawing/2014/main" id="{2733FE88-66AC-4110-B77F-059B3D638C2E}"/>
              </a:ext>
            </a:extLst>
          </p:cNvPr>
          <p:cNvSpPr>
            <a:spLocks noGrp="1"/>
          </p:cNvSpPr>
          <p:nvPr>
            <p:ph type="body" idx="4" hasCustomPrompt="1"/>
          </p:nvPr>
        </p:nvSpPr>
        <p:spPr>
          <a:xfrm>
            <a:off x="179237" y="2526456"/>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5" name="Answer Text 2">
            <a:extLst>
              <a:ext uri="{FF2B5EF4-FFF2-40B4-BE49-F238E27FC236}">
                <a16:creationId xmlns:a16="http://schemas.microsoft.com/office/drawing/2014/main" id="{E33DAA71-DCA3-491A-8A97-143BF1813197}"/>
              </a:ext>
            </a:extLst>
          </p:cNvPr>
          <p:cNvSpPr>
            <a:spLocks noGrp="1"/>
          </p:cNvSpPr>
          <p:nvPr>
            <p:ph type="body" idx="5" hasCustomPrompt="1"/>
          </p:nvPr>
        </p:nvSpPr>
        <p:spPr>
          <a:xfrm>
            <a:off x="5651499" y="2526456"/>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6" name="Question 3">
            <a:extLst>
              <a:ext uri="{FF2B5EF4-FFF2-40B4-BE49-F238E27FC236}">
                <a16:creationId xmlns:a16="http://schemas.microsoft.com/office/drawing/2014/main" id="{85011FB9-28FB-42F5-8639-AFB8DE09EDB0}"/>
              </a:ext>
            </a:extLst>
          </p:cNvPr>
          <p:cNvSpPr>
            <a:spLocks noGrp="1"/>
          </p:cNvSpPr>
          <p:nvPr>
            <p:ph type="body" idx="6" hasCustomPrompt="1"/>
          </p:nvPr>
        </p:nvSpPr>
        <p:spPr>
          <a:xfrm>
            <a:off x="179237" y="3883100"/>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7" name="Answer Text 3">
            <a:extLst>
              <a:ext uri="{FF2B5EF4-FFF2-40B4-BE49-F238E27FC236}">
                <a16:creationId xmlns:a16="http://schemas.microsoft.com/office/drawing/2014/main" id="{BBA625A9-591B-4F80-B2C0-C8B9B7ED58AF}"/>
              </a:ext>
            </a:extLst>
          </p:cNvPr>
          <p:cNvSpPr>
            <a:spLocks noGrp="1"/>
          </p:cNvSpPr>
          <p:nvPr>
            <p:ph type="body" idx="7" hasCustomPrompt="1"/>
          </p:nvPr>
        </p:nvSpPr>
        <p:spPr>
          <a:xfrm>
            <a:off x="5651499" y="3883100"/>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
        <p:nvSpPr>
          <p:cNvPr id="8" name="Question 4">
            <a:extLst>
              <a:ext uri="{FF2B5EF4-FFF2-40B4-BE49-F238E27FC236}">
                <a16:creationId xmlns:a16="http://schemas.microsoft.com/office/drawing/2014/main" id="{94FE6022-0B4D-44CE-B9CB-F3EF8689FC0E}"/>
              </a:ext>
            </a:extLst>
          </p:cNvPr>
          <p:cNvSpPr>
            <a:spLocks noGrp="1"/>
          </p:cNvSpPr>
          <p:nvPr>
            <p:ph type="body" idx="8" hasCustomPrompt="1"/>
          </p:nvPr>
        </p:nvSpPr>
        <p:spPr>
          <a:xfrm>
            <a:off x="179236" y="5239557"/>
            <a:ext cx="5472261" cy="1164004"/>
          </a:xfrm>
        </p:spPr>
        <p:txBody>
          <a:bodyPr tIns="45720" rIns="91440" bIns="45720">
            <a:no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a:t>
            </a:r>
          </a:p>
        </p:txBody>
      </p:sp>
      <p:sp>
        <p:nvSpPr>
          <p:cNvPr id="9" name="Answer Text 4">
            <a:extLst>
              <a:ext uri="{FF2B5EF4-FFF2-40B4-BE49-F238E27FC236}">
                <a16:creationId xmlns:a16="http://schemas.microsoft.com/office/drawing/2014/main" id="{A6B202E1-04E5-4362-96B3-ED5EF312171C}"/>
              </a:ext>
            </a:extLst>
          </p:cNvPr>
          <p:cNvSpPr>
            <a:spLocks noGrp="1"/>
          </p:cNvSpPr>
          <p:nvPr>
            <p:ph type="body" idx="9" hasCustomPrompt="1"/>
          </p:nvPr>
        </p:nvSpPr>
        <p:spPr>
          <a:xfrm>
            <a:off x="5651498" y="5239557"/>
            <a:ext cx="6400840" cy="1164004"/>
          </a:xfrm>
          <a:noFill/>
          <a:ln w="57150">
            <a:noFill/>
          </a:ln>
        </p:spPr>
        <p:txBody>
          <a:bodyPr lIns="91440" tIns="91440" rIns="182880" bIns="0" anchor="t">
            <a:noAutofit/>
          </a:bodyPr>
          <a:lstStyle>
            <a:lvl1pPr marL="0" indent="0" algn="l">
              <a:lnSpc>
                <a:spcPct val="100000"/>
              </a:lnSpc>
              <a:spcBef>
                <a:spcPts val="0"/>
              </a:spcBef>
              <a:spcAft>
                <a:spcPts val="60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the correct response.</a:t>
            </a:r>
          </a:p>
        </p:txBody>
      </p:sp>
    </p:spTree>
    <p:custDataLst>
      <p:tags r:id="rId1"/>
    </p:custDataLst>
    <p:extLst>
      <p:ext uri="{BB962C8B-B14F-4D97-AF65-F5344CB8AC3E}">
        <p14:creationId xmlns:p14="http://schemas.microsoft.com/office/powerpoint/2010/main" val="158883304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KC-Horizontal-Questio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55445" cy="498849"/>
          </a:xfrm>
        </p:spPr>
        <p:txBody>
          <a:bodyPr/>
          <a:lstStyle>
            <a:lvl1pPr>
              <a:defRPr>
                <a:solidFill>
                  <a:schemeClr val="bg1"/>
                </a:solidFill>
                <a:latin typeface="Amazon Ember Display Heavy"/>
              </a:defRPr>
            </a:lvl1pPr>
          </a:lstStyle>
          <a:p>
            <a:r>
              <a:rPr lang="en-US" dirty="0"/>
              <a:t>Question and Responses</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7" y="697780"/>
            <a:ext cx="11855445" cy="1328883"/>
          </a:xfrm>
          <a:noFill/>
        </p:spPr>
        <p:txBody>
          <a:bodyPr lIns="91440" tIns="0" rIns="91440" bIns="0">
            <a:normAutofit/>
          </a:bodyPr>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37865" cy="317500"/>
          </a:xfrm>
          <a:noFill/>
          <a:ln>
            <a:noFill/>
          </a:ln>
        </p:spPr>
        <p:txBody>
          <a:bodyPr lIns="91440" rIns="9144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Aft>
                <a:spcPts val="0"/>
              </a:spcAft>
              <a:buNone/>
              <a:defRPr sz="2000" b="1">
                <a:solidFill>
                  <a:schemeClr val="bg1"/>
                </a:solidFill>
                <a:latin typeface="+mn-lt"/>
              </a:defRPr>
            </a:lvl1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pic>
        <p:nvPicPr>
          <p:cNvPr id="20" name="Copyright1">
            <a:extLst>
              <a:ext uri="{FF2B5EF4-FFF2-40B4-BE49-F238E27FC236}">
                <a16:creationId xmlns:a16="http://schemas.microsoft.com/office/drawing/2014/main" id="{2B452CCE-D69C-498E-9B48-C533DB88BC99}"/>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4015823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KC-Horz-Option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4CAF8C10-F4D8-45A7-8490-441C53244D17}"/>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17"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8" y="179881"/>
            <a:ext cx="11825947" cy="498849"/>
          </a:xfrm>
        </p:spPr>
        <p:txBody>
          <a:bodyPr/>
          <a:lstStyle>
            <a:lvl1pPr>
              <a:defRPr>
                <a:solidFill>
                  <a:srgbClr val="232F3E"/>
                </a:solidFill>
                <a:latin typeface="Amazon Ember Display Heavy"/>
              </a:defRPr>
            </a:lvl1pPr>
          </a:lstStyle>
          <a:p>
            <a:r>
              <a:rPr lang="en-US" dirty="0"/>
              <a:t>Question and Responses – Option 2</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825948" cy="1328883"/>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1" name="Choice Header">
            <a:extLst>
              <a:ext uri="{FF2B5EF4-FFF2-40B4-BE49-F238E27FC236}">
                <a16:creationId xmlns:a16="http://schemas.microsoft.com/office/drawing/2014/main" id="{819C768D-12EC-41EC-9F85-ED13A7CA6D52}"/>
              </a:ext>
            </a:extLst>
          </p:cNvPr>
          <p:cNvSpPr>
            <a:spLocks noGrp="1"/>
          </p:cNvSpPr>
          <p:nvPr>
            <p:ph type="body" idx="11" hasCustomPrompt="1"/>
          </p:nvPr>
        </p:nvSpPr>
        <p:spPr>
          <a:xfrm>
            <a:off x="0" y="2026663"/>
            <a:ext cx="887413" cy="317500"/>
          </a:xfrm>
          <a:noFill/>
          <a:ln>
            <a:noFill/>
          </a:ln>
        </p:spPr>
        <p:txBody>
          <a:bodyPr lIns="0" rIns="0">
            <a:noAutofit/>
          </a:bodyPr>
          <a:lstStyle>
            <a:lvl1pPr marL="0" indent="0" algn="ctr">
              <a:lnSpc>
                <a:spcPct val="100000"/>
              </a:lnSpc>
              <a:spcAft>
                <a:spcPts val="0"/>
              </a:spcAft>
              <a:buNone/>
              <a:defRPr sz="1800">
                <a:solidFill>
                  <a:schemeClr val="bg1"/>
                </a:solidFill>
              </a:defRPr>
            </a:lvl1pPr>
          </a:lstStyle>
          <a:p>
            <a:pPr lvl="0"/>
            <a:r>
              <a:rPr lang="en-US" dirty="0"/>
              <a:t>Type: Choice</a:t>
            </a:r>
          </a:p>
        </p:txBody>
      </p:sp>
      <p:sp>
        <p:nvSpPr>
          <p:cNvPr id="12" name="Response Header">
            <a:extLst>
              <a:ext uri="{FF2B5EF4-FFF2-40B4-BE49-F238E27FC236}">
                <a16:creationId xmlns:a16="http://schemas.microsoft.com/office/drawing/2014/main" id="{AFAAB670-BBCA-4429-9F6C-C9ABD61E6B0C}"/>
              </a:ext>
            </a:extLst>
          </p:cNvPr>
          <p:cNvSpPr>
            <a:spLocks noGrp="1"/>
          </p:cNvSpPr>
          <p:nvPr>
            <p:ph type="body" idx="12" hasCustomPrompt="1"/>
          </p:nvPr>
        </p:nvSpPr>
        <p:spPr>
          <a:xfrm>
            <a:off x="907950" y="2026663"/>
            <a:ext cx="10757678" cy="317500"/>
          </a:xfrm>
          <a:noFill/>
          <a:ln>
            <a:noFill/>
          </a:ln>
        </p:spPr>
        <p:txBody>
          <a:bodyPr lIns="91440" rIns="0">
            <a:noAutofit/>
          </a:bodyPr>
          <a:lstStyle>
            <a:lvl1pPr marL="0" indent="0" algn="l">
              <a:lnSpc>
                <a:spcPct val="100000"/>
              </a:lnSpc>
              <a:spcAft>
                <a:spcPts val="0"/>
              </a:spcAft>
              <a:buNone/>
              <a:defRPr sz="1800">
                <a:solidFill>
                  <a:schemeClr val="bg1"/>
                </a:solidFill>
              </a:defRPr>
            </a:lvl1pPr>
          </a:lstStyle>
          <a:p>
            <a:pPr lvl="0"/>
            <a:r>
              <a:rPr lang="en-US" dirty="0"/>
              <a:t>Type: Response</a:t>
            </a:r>
          </a:p>
        </p:txBody>
      </p:sp>
      <p:sp>
        <p:nvSpPr>
          <p:cNvPr id="3" name="First Resp #">
            <a:extLst>
              <a:ext uri="{FF2B5EF4-FFF2-40B4-BE49-F238E27FC236}">
                <a16:creationId xmlns:a16="http://schemas.microsoft.com/office/drawing/2014/main" id="{B4EC449C-918E-4AF9-9E90-0E8D47CF3DD9}"/>
              </a:ext>
            </a:extLst>
          </p:cNvPr>
          <p:cNvSpPr>
            <a:spLocks noGrp="1"/>
          </p:cNvSpPr>
          <p:nvPr>
            <p:ph type="body" idx="3" hasCustomPrompt="1"/>
          </p:nvPr>
        </p:nvSpPr>
        <p:spPr>
          <a:xfrm>
            <a:off x="1" y="2344127"/>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 name="First Resp Text">
            <a:extLst>
              <a:ext uri="{FF2B5EF4-FFF2-40B4-BE49-F238E27FC236}">
                <a16:creationId xmlns:a16="http://schemas.microsoft.com/office/drawing/2014/main" id="{35CD1FAE-5D7E-4F04-B017-89D4732E2444}"/>
              </a:ext>
            </a:extLst>
          </p:cNvPr>
          <p:cNvSpPr>
            <a:spLocks noGrp="1"/>
          </p:cNvSpPr>
          <p:nvPr>
            <p:ph type="body" idx="4" hasCustomPrompt="1"/>
          </p:nvPr>
        </p:nvSpPr>
        <p:spPr>
          <a:xfrm>
            <a:off x="907950" y="2344127"/>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5" name="Second Resp #">
            <a:extLst>
              <a:ext uri="{FF2B5EF4-FFF2-40B4-BE49-F238E27FC236}">
                <a16:creationId xmlns:a16="http://schemas.microsoft.com/office/drawing/2014/main" id="{05FFB414-A546-4A6C-B7E8-B6D9C7AC88C9}"/>
              </a:ext>
            </a:extLst>
          </p:cNvPr>
          <p:cNvSpPr>
            <a:spLocks noGrp="1"/>
          </p:cNvSpPr>
          <p:nvPr>
            <p:ph type="body" idx="5" hasCustomPrompt="1"/>
          </p:nvPr>
        </p:nvSpPr>
        <p:spPr>
          <a:xfrm>
            <a:off x="1" y="301760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6" name="Second Resp Text">
            <a:extLst>
              <a:ext uri="{FF2B5EF4-FFF2-40B4-BE49-F238E27FC236}">
                <a16:creationId xmlns:a16="http://schemas.microsoft.com/office/drawing/2014/main" id="{840EA72F-053D-43C4-A0AA-4F71D345F1E1}"/>
              </a:ext>
            </a:extLst>
          </p:cNvPr>
          <p:cNvSpPr>
            <a:spLocks noGrp="1"/>
          </p:cNvSpPr>
          <p:nvPr>
            <p:ph type="body" idx="6" hasCustomPrompt="1"/>
          </p:nvPr>
        </p:nvSpPr>
        <p:spPr>
          <a:xfrm>
            <a:off x="907950" y="301760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7" name="Third Resp #">
            <a:extLst>
              <a:ext uri="{FF2B5EF4-FFF2-40B4-BE49-F238E27FC236}">
                <a16:creationId xmlns:a16="http://schemas.microsoft.com/office/drawing/2014/main" id="{F00955FE-A162-474C-BFF8-0AB0FBF10130}"/>
              </a:ext>
            </a:extLst>
          </p:cNvPr>
          <p:cNvSpPr>
            <a:spLocks noGrp="1"/>
          </p:cNvSpPr>
          <p:nvPr>
            <p:ph type="body" idx="7" hasCustomPrompt="1"/>
          </p:nvPr>
        </p:nvSpPr>
        <p:spPr>
          <a:xfrm>
            <a:off x="1" y="3691091"/>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Third Resp Text">
            <a:extLst>
              <a:ext uri="{FF2B5EF4-FFF2-40B4-BE49-F238E27FC236}">
                <a16:creationId xmlns:a16="http://schemas.microsoft.com/office/drawing/2014/main" id="{55974934-D7D0-4C4C-B76C-558C1028590E}"/>
              </a:ext>
            </a:extLst>
          </p:cNvPr>
          <p:cNvSpPr>
            <a:spLocks noGrp="1"/>
          </p:cNvSpPr>
          <p:nvPr>
            <p:ph type="body" idx="8" hasCustomPrompt="1"/>
          </p:nvPr>
        </p:nvSpPr>
        <p:spPr>
          <a:xfrm>
            <a:off x="907950" y="3691091"/>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9" name="Fourth Resp #">
            <a:extLst>
              <a:ext uri="{FF2B5EF4-FFF2-40B4-BE49-F238E27FC236}">
                <a16:creationId xmlns:a16="http://schemas.microsoft.com/office/drawing/2014/main" id="{9A682F4A-836A-42BD-B18F-482CDD9FE392}"/>
              </a:ext>
            </a:extLst>
          </p:cNvPr>
          <p:cNvSpPr>
            <a:spLocks noGrp="1"/>
          </p:cNvSpPr>
          <p:nvPr>
            <p:ph type="body" idx="9" hasCustomPrompt="1"/>
          </p:nvPr>
        </p:nvSpPr>
        <p:spPr>
          <a:xfrm>
            <a:off x="1" y="4364573"/>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Fourth Resp Text">
            <a:extLst>
              <a:ext uri="{FF2B5EF4-FFF2-40B4-BE49-F238E27FC236}">
                <a16:creationId xmlns:a16="http://schemas.microsoft.com/office/drawing/2014/main" id="{2A075B8F-DFA0-46B1-A70C-B12937892D4B}"/>
              </a:ext>
            </a:extLst>
          </p:cNvPr>
          <p:cNvSpPr>
            <a:spLocks noGrp="1"/>
          </p:cNvSpPr>
          <p:nvPr>
            <p:ph type="body" idx="10" hasCustomPrompt="1"/>
          </p:nvPr>
        </p:nvSpPr>
        <p:spPr>
          <a:xfrm>
            <a:off x="907950" y="4364573"/>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3" name="Fifth Resp #">
            <a:extLst>
              <a:ext uri="{FF2B5EF4-FFF2-40B4-BE49-F238E27FC236}">
                <a16:creationId xmlns:a16="http://schemas.microsoft.com/office/drawing/2014/main" id="{B3A4AC8A-DBAB-477E-8F79-6EFB6340CE48}"/>
              </a:ext>
            </a:extLst>
          </p:cNvPr>
          <p:cNvSpPr>
            <a:spLocks noGrp="1"/>
          </p:cNvSpPr>
          <p:nvPr>
            <p:ph type="body" idx="13" hasCustomPrompt="1"/>
          </p:nvPr>
        </p:nvSpPr>
        <p:spPr>
          <a:xfrm>
            <a:off x="1" y="5038055"/>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4" name="Fifth Resp Text">
            <a:extLst>
              <a:ext uri="{FF2B5EF4-FFF2-40B4-BE49-F238E27FC236}">
                <a16:creationId xmlns:a16="http://schemas.microsoft.com/office/drawing/2014/main" id="{0B4A450D-E822-44AA-8298-11D531D74483}"/>
              </a:ext>
            </a:extLst>
          </p:cNvPr>
          <p:cNvSpPr>
            <a:spLocks noGrp="1"/>
          </p:cNvSpPr>
          <p:nvPr>
            <p:ph type="body" idx="14" hasCustomPrompt="1"/>
          </p:nvPr>
        </p:nvSpPr>
        <p:spPr>
          <a:xfrm>
            <a:off x="907950" y="5038055"/>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15" name="Sixth Resp #">
            <a:extLst>
              <a:ext uri="{FF2B5EF4-FFF2-40B4-BE49-F238E27FC236}">
                <a16:creationId xmlns:a16="http://schemas.microsoft.com/office/drawing/2014/main" id="{4075988B-8657-4CA4-A4CB-EAEA7B298681}"/>
              </a:ext>
            </a:extLst>
          </p:cNvPr>
          <p:cNvSpPr>
            <a:spLocks noGrp="1"/>
          </p:cNvSpPr>
          <p:nvPr>
            <p:ph type="body" idx="15" hasCustomPrompt="1"/>
          </p:nvPr>
        </p:nvSpPr>
        <p:spPr>
          <a:xfrm>
            <a:off x="1" y="5711539"/>
            <a:ext cx="888136" cy="640080"/>
          </a:xfrm>
          <a:noFill/>
          <a:ln>
            <a:noFill/>
          </a:ln>
        </p:spPr>
        <p:txBody>
          <a:bodyPr lIns="0" tIns="0" rIns="0" bIns="0" anchor="ctr">
            <a:noAutofit/>
          </a:bodyPr>
          <a:lstStyle>
            <a:lvl1pPr marL="0" indent="0" algn="ctr">
              <a:lnSpc>
                <a:spcPct val="100000"/>
              </a:lnSpc>
              <a:spcBef>
                <a:spcPts val="0"/>
              </a:spcBef>
              <a:spcAft>
                <a:spcPts val="0"/>
              </a:spcAft>
              <a:buNone/>
              <a:defRPr sz="2000">
                <a:solidFill>
                  <a:schemeClr val="bg1"/>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6" name="Sixth Resp Text">
            <a:extLst>
              <a:ext uri="{FF2B5EF4-FFF2-40B4-BE49-F238E27FC236}">
                <a16:creationId xmlns:a16="http://schemas.microsoft.com/office/drawing/2014/main" id="{327445DD-9D42-491C-969B-C7919BE2E3F0}"/>
              </a:ext>
            </a:extLst>
          </p:cNvPr>
          <p:cNvSpPr>
            <a:spLocks noGrp="1"/>
          </p:cNvSpPr>
          <p:nvPr>
            <p:ph type="body" idx="16" hasCustomPrompt="1"/>
          </p:nvPr>
        </p:nvSpPr>
        <p:spPr>
          <a:xfrm>
            <a:off x="907950" y="5711539"/>
            <a:ext cx="11233250" cy="640080"/>
          </a:xfrm>
          <a:noFill/>
          <a:ln>
            <a:noFill/>
          </a:ln>
        </p:spPr>
        <p:txBody>
          <a:bodyPr lIns="91440" tIns="0" rIns="91440" bIns="0" anchor="ctr">
            <a:noAutofit/>
          </a:bodyPr>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21878149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x" preserve="1">
  <p:cSld name="KC-Horizontal-Answer">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576AC153-25F3-4431-87F8-2E0931CF2549}"/>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chemeClr val="bg1"/>
                </a:solidFill>
                <a:latin typeface="Amazon Ember Display Heavy"/>
              </a:defRPr>
            </a:lvl1pPr>
          </a:lstStyle>
          <a:p>
            <a:r>
              <a:rPr lang="en-US" dirty="0"/>
              <a:t>Answer and explanation</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0"/>
            <a:ext cx="11771597" cy="1405081"/>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pic>
        <p:nvPicPr>
          <p:cNvPr id="7" name="Copyright1">
            <a:extLst>
              <a:ext uri="{FF2B5EF4-FFF2-40B4-BE49-F238E27FC236}">
                <a16:creationId xmlns:a16="http://schemas.microsoft.com/office/drawing/2014/main" id="{2E0A46E6-23DB-43F3-BD7E-C4579838F24C}"/>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3799983" y="6446520"/>
            <a:ext cx="4610100" cy="311150"/>
          </a:xfrm>
          <a:prstGeom prst="rect">
            <a:avLst/>
          </a:prstGeom>
        </p:spPr>
      </p:pic>
    </p:spTree>
    <p:custDataLst>
      <p:tags r:id="rId1"/>
    </p:custDataLst>
    <p:extLst>
      <p:ext uri="{BB962C8B-B14F-4D97-AF65-F5344CB8AC3E}">
        <p14:creationId xmlns:p14="http://schemas.microsoft.com/office/powerpoint/2010/main" val="40913848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x" preserve="1">
  <p:cSld name="KC-Horz-Ans-Option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D596AB2-A27E-4CAB-B6E0-353909D02FB1}"/>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1A8961C4-E232-4CFC-9419-572E417488B7}"/>
              </a:ext>
            </a:extLst>
          </p:cNvPr>
          <p:cNvSpPr>
            <a:spLocks noGrp="1"/>
          </p:cNvSpPr>
          <p:nvPr>
            <p:ph type="title" idx="1" hasCustomPrompt="1"/>
          </p:nvPr>
        </p:nvSpPr>
        <p:spPr>
          <a:xfrm>
            <a:off x="179239" y="179881"/>
            <a:ext cx="11771597" cy="498849"/>
          </a:xfrm>
        </p:spPr>
        <p:txBody>
          <a:bodyPr/>
          <a:lstStyle>
            <a:lvl1pPr>
              <a:defRPr>
                <a:solidFill>
                  <a:srgbClr val="232F3E"/>
                </a:solidFill>
                <a:latin typeface="Amazon Ember Display Heavy"/>
              </a:defRPr>
            </a:lvl1pPr>
          </a:lstStyle>
          <a:p>
            <a:r>
              <a:rPr lang="en-US" dirty="0"/>
              <a:t>Answer and explanation – Option 1 </a:t>
            </a:r>
          </a:p>
        </p:txBody>
      </p:sp>
      <p:sp>
        <p:nvSpPr>
          <p:cNvPr id="2" name="Question">
            <a:extLst>
              <a:ext uri="{FF2B5EF4-FFF2-40B4-BE49-F238E27FC236}">
                <a16:creationId xmlns:a16="http://schemas.microsoft.com/office/drawing/2014/main" id="{B4965E6E-0F4A-477A-B4B0-DF739088DCEC}"/>
              </a:ext>
            </a:extLst>
          </p:cNvPr>
          <p:cNvSpPr>
            <a:spLocks noGrp="1"/>
          </p:cNvSpPr>
          <p:nvPr>
            <p:ph type="body" idx="2" hasCustomPrompt="1"/>
          </p:nvPr>
        </p:nvSpPr>
        <p:spPr>
          <a:xfrm>
            <a:off x="179239" y="697781"/>
            <a:ext cx="11771597" cy="1345520"/>
          </a:xfrm>
          <a:noFill/>
        </p:spPr>
        <p:txBody>
          <a:bodyPr lIns="91440" tIns="0" rIns="91440" bIns="0">
            <a:normAutofit/>
          </a:bodyPr>
          <a:lstStyle>
            <a:lvl1pPr marL="0" marR="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sz="2000">
                <a:solidFill>
                  <a:srgbClr val="232F3E"/>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 4 responses can only have 1 correct response; 5 responses must have 2 correct responses; 6 responses must have 3 correct responses.</a:t>
            </a:r>
          </a:p>
        </p:txBody>
      </p:sp>
      <p:sp>
        <p:nvSpPr>
          <p:cNvPr id="12" name="Answer Header">
            <a:extLst>
              <a:ext uri="{FF2B5EF4-FFF2-40B4-BE49-F238E27FC236}">
                <a16:creationId xmlns:a16="http://schemas.microsoft.com/office/drawing/2014/main" id="{4CF18732-63A0-43A6-B5E9-C4F74190ED76}"/>
              </a:ext>
            </a:extLst>
          </p:cNvPr>
          <p:cNvSpPr>
            <a:spLocks noGrp="1"/>
          </p:cNvSpPr>
          <p:nvPr>
            <p:ph type="body" idx="12" hasCustomPrompt="1"/>
          </p:nvPr>
        </p:nvSpPr>
        <p:spPr>
          <a:xfrm>
            <a:off x="0" y="2043300"/>
            <a:ext cx="12192000" cy="312702"/>
          </a:xfrm>
          <a:noFill/>
          <a:ln>
            <a:noFill/>
          </a:ln>
        </p:spPr>
        <p:txBody>
          <a:bodyPr lIns="91440">
            <a:noAutofit/>
          </a:bodyPr>
          <a:lstStyle>
            <a:lvl1pPr marL="0" indent="0">
              <a:lnSpc>
                <a:spcPct val="100000"/>
              </a:lnSpc>
              <a:spcAft>
                <a:spcPts val="0"/>
              </a:spcAft>
              <a:buNone/>
              <a:defRPr sz="2000">
                <a:solidFill>
                  <a:schemeClr val="bg1"/>
                </a:solidFill>
              </a:defRPr>
            </a:lvl1pPr>
          </a:lstStyle>
          <a:p>
            <a:pPr lvl="0"/>
            <a:r>
              <a:rPr lang="en-US" dirty="0"/>
              <a:t>Type: The correct response is</a:t>
            </a:r>
          </a:p>
        </p:txBody>
      </p:sp>
      <p:sp>
        <p:nvSpPr>
          <p:cNvPr id="3" name="Answer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356002"/>
            <a:ext cx="11245989" cy="4007816"/>
          </a:xfrm>
          <a:noFill/>
          <a:ln>
            <a:noFill/>
          </a:ln>
        </p:spPr>
        <p:txBody>
          <a:bodyPr lIns="91440" tIns="91440" rIns="182880" bIns="0" anchor="t"/>
          <a:lstStyle>
            <a:lvl1pPr marL="0" indent="0" algn="l">
              <a:spcBef>
                <a:spcPts val="0"/>
              </a:spcBef>
              <a:spcAft>
                <a:spcPts val="0"/>
              </a:spcAft>
              <a:buNone/>
              <a:defRPr sz="2000">
                <a:solidFill>
                  <a:srgbClr val="232F3E"/>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9199177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7DCF8F5D-C71E-4E90-8FF1-79EC1779773B}"/>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and vertical text layout (international) </a:t>
            </a:r>
          </a:p>
        </p:txBody>
      </p:sp>
      <p:pic>
        <p:nvPicPr>
          <p:cNvPr id="99" name="Divider">
            <a:extLst>
              <a:ext uri="{FF2B5EF4-FFF2-40B4-BE49-F238E27FC236}">
                <a16:creationId xmlns:a16="http://schemas.microsoft.com/office/drawing/2014/main" id="{4367E5F6-DCA7-4FF7-A05C-EEBE6326C728}"/>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1033070"/>
            <a:ext cx="11466576" cy="5389244"/>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0702657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62931EA5-40B0-4775-AC8C-735FB207C772}"/>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1FDB7DAC-24E1-411C-8D5F-3A7FDF188C1D}"/>
              </a:ext>
            </a:extLst>
          </p:cNvPr>
          <p:cNvSpPr>
            <a:spLocks noGrp="1"/>
          </p:cNvSpPr>
          <p:nvPr>
            <p:ph type="title" idx="1" hasCustomPrompt="1"/>
          </p:nvPr>
        </p:nvSpPr>
        <p:spPr>
          <a:xfrm rot="5400000">
            <a:off x="8202716" y="2805126"/>
            <a:ext cx="6127095" cy="1132145"/>
          </a:xfrm>
        </p:spPr>
        <p:txBody>
          <a:bodyPr/>
          <a:lstStyle>
            <a:lvl1pPr marL="0" marR="0" indent="0" algn="l" defTabSz="914400" rtl="0" eaLnBrk="1" fontAlgn="auto" latinLnBrk="0" hangingPunct="1">
              <a:spcBef>
                <a:spcPct val="0"/>
              </a:spcBef>
              <a:spcAft>
                <a:spcPts val="0"/>
              </a:spcAft>
              <a:buClrTx/>
              <a:buSzTx/>
              <a:buFontTx/>
              <a:buNone/>
              <a:tabLst/>
              <a:defRPr>
                <a:solidFill>
                  <a:srgbClr val="232F3E"/>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pic>
        <p:nvPicPr>
          <p:cNvPr id="99" name="Divider">
            <a:extLst>
              <a:ext uri="{FF2B5EF4-FFF2-40B4-BE49-F238E27FC236}">
                <a16:creationId xmlns:a16="http://schemas.microsoft.com/office/drawing/2014/main" id="{DA666032-E924-4402-8485-DDD5D20112FD}"/>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rot="5400000">
            <a:off x="7636951" y="3348031"/>
            <a:ext cx="6126480" cy="45720"/>
          </a:xfrm>
          <a:prstGeom prst="rect">
            <a:avLst/>
          </a:prstGeom>
        </p:spPr>
      </p:pic>
      <p:sp>
        <p:nvSpPr>
          <p:cNvPr id="2" name="Content">
            <a:extLst>
              <a:ext uri="{FF2B5EF4-FFF2-40B4-BE49-F238E27FC236}">
                <a16:creationId xmlns:a16="http://schemas.microsoft.com/office/drawing/2014/main" id="{E03519C3-01DC-4A54-BFE9-0527DA2D5160}"/>
              </a:ext>
            </a:extLst>
          </p:cNvPr>
          <p:cNvSpPr>
            <a:spLocks noGrp="1"/>
          </p:cNvSpPr>
          <p:nvPr>
            <p:ph type="body" orient="vert" idx="2" hasCustomPrompt="1"/>
          </p:nvPr>
        </p:nvSpPr>
        <p:spPr>
          <a:xfrm>
            <a:off x="365760" y="307649"/>
            <a:ext cx="10298328" cy="6127095"/>
          </a:xfrm>
        </p:spPr>
        <p:txBody>
          <a:bodyPr vert="eaVert">
            <a:noAutofit/>
          </a:bodyPr>
          <a:lstStyle>
            <a:lvl1pPr>
              <a:lnSpc>
                <a:spcPct val="100000"/>
              </a:lnSpc>
              <a:spcAft>
                <a:spcPts val="0"/>
              </a:spcAft>
              <a:defRPr sz="2400">
                <a:solidFill>
                  <a:srgbClr val="232F3E"/>
                </a:solidFill>
              </a:defRPr>
            </a:lvl1pPr>
            <a:lvl2pPr marL="457200" indent="-228600">
              <a:lnSpc>
                <a:spcPct val="100000"/>
              </a:lnSpc>
              <a:spcAft>
                <a:spcPts val="0"/>
              </a:spcAft>
              <a:defRPr sz="2000">
                <a:solidFill>
                  <a:srgbClr val="232F3E"/>
                </a:solidFill>
              </a:defRPr>
            </a:lvl2pPr>
            <a:lvl3pPr marL="684213" indent="-228600">
              <a:lnSpc>
                <a:spcPct val="100000"/>
              </a:lnSpc>
              <a:spcAft>
                <a:spcPts val="0"/>
              </a:spcAft>
              <a:defRPr sz="1800">
                <a:solidFill>
                  <a:srgbClr val="232F3E"/>
                </a:solidFill>
              </a:defRPr>
            </a:lvl3pPr>
            <a:lvl4pPr marL="914400" indent="-228600">
              <a:lnSpc>
                <a:spcPct val="100000"/>
              </a:lnSpc>
              <a:spcAft>
                <a:spcPts val="0"/>
              </a:spcAft>
              <a:defRPr sz="1600">
                <a:solidFill>
                  <a:srgbClr val="232F3E"/>
                </a:solidFill>
              </a:defRPr>
            </a:lvl4pPr>
            <a:lvl5pPr marL="1144588" indent="-228600">
              <a:lnSpc>
                <a:spcPct val="100000"/>
              </a:lnSpc>
              <a:spcAft>
                <a:spcPts val="0"/>
              </a:spcAft>
              <a:defRPr sz="1600">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14824464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rgbClr val="330066"/>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AA8AAC-8C22-4F3B-BDB0-E5CB0C9C0F7E}"/>
              </a:ext>
            </a:extLst>
          </p:cNvPr>
          <p:cNvSpPr txBox="1"/>
          <p:nvPr userDrawn="1"/>
        </p:nvSpPr>
        <p:spPr>
          <a:xfrm>
            <a:off x="495300" y="1074510"/>
            <a:ext cx="11201400" cy="4708981"/>
          </a:xfrm>
          <a:prstGeom prst="rect">
            <a:avLst/>
          </a:prstGeom>
          <a:noFill/>
        </p:spPr>
        <p:txBody>
          <a:bodyPr wrap="square" rtlCol="0">
            <a:spAutoFit/>
          </a:bodyPr>
          <a:lstStyle/>
          <a:p>
            <a:r>
              <a:rPr lang="en-US" sz="6000" b="1" dirty="0">
                <a:solidFill>
                  <a:schemeClr val="bg1"/>
                </a:solidFill>
              </a:rPr>
              <a:t>Don’t use this layout</a:t>
            </a:r>
          </a:p>
          <a:p>
            <a:endParaRPr lang="en-US" sz="6000" dirty="0">
              <a:solidFill>
                <a:schemeClr val="bg1"/>
              </a:solidFill>
            </a:endParaRPr>
          </a:p>
          <a:p>
            <a:r>
              <a:rPr lang="en-US" sz="6000" dirty="0">
                <a:solidFill>
                  <a:schemeClr val="bg1"/>
                </a:solidFill>
              </a:rPr>
              <a:t>Layouts that appear after this one in the slide master are specific to Academy.</a:t>
            </a:r>
          </a:p>
        </p:txBody>
      </p:sp>
    </p:spTree>
    <p:extLst>
      <p:ext uri="{BB962C8B-B14F-4D97-AF65-F5344CB8AC3E}">
        <p14:creationId xmlns:p14="http://schemas.microsoft.com/office/powerpoint/2010/main" val="1832528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opic Introduction Varia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E7A23F66-1657-489E-8769-B7CCC9F020A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930176A1-BCF0-4712-97A6-6B495F55390B}" type="slidenum">
              <a:rPr lang="en-US" smtClean="0"/>
              <a:pPr/>
              <a:t>‹#›</a:t>
            </a:fld>
            <a:endParaRPr lang="en-US" dirty="0"/>
          </a:p>
        </p:txBody>
      </p:sp>
      <p:sp>
        <p:nvSpPr>
          <p:cNvPr id="4" name="Title">
            <a:extLst>
              <a:ext uri="{FF2B5EF4-FFF2-40B4-BE49-F238E27FC236}">
                <a16:creationId xmlns:a16="http://schemas.microsoft.com/office/drawing/2014/main" id="{F2D32D74-0FC6-414A-96C5-2549942CD64E}"/>
              </a:ext>
            </a:extLst>
          </p:cNvPr>
          <p:cNvSpPr>
            <a:spLocks noGrp="1"/>
          </p:cNvSpPr>
          <p:nvPr>
            <p:ph type="title" idx="1" hasCustomPrompt="1"/>
          </p:nvPr>
        </p:nvSpPr>
        <p:spPr>
          <a:xfrm>
            <a:off x="243242" y="292099"/>
            <a:ext cx="4062057" cy="1866901"/>
          </a:xfrm>
        </p:spPr>
        <p:txBody>
          <a:bodyPr anchor="t">
            <a:normAutofit/>
          </a:bodyPr>
          <a:lstStyle>
            <a:lvl1pPr algn="ctr">
              <a:defRPr sz="3600">
                <a:solidFill>
                  <a:schemeClr val="bg1"/>
                </a:solidFill>
                <a:latin typeface="Amazon Ember Display Heavy"/>
              </a:defRPr>
            </a:lvl1pPr>
          </a:lstStyle>
          <a:p>
            <a:r>
              <a:rPr lang="en-US" dirty="0"/>
              <a:t>Type title here</a:t>
            </a:r>
          </a:p>
        </p:txBody>
      </p:sp>
      <p:sp>
        <p:nvSpPr>
          <p:cNvPr id="3" name="Content">
            <a:extLst>
              <a:ext uri="{FF2B5EF4-FFF2-40B4-BE49-F238E27FC236}">
                <a16:creationId xmlns:a16="http://schemas.microsoft.com/office/drawing/2014/main" id="{E88E0D0B-F719-4929-9A45-08A3503393CA}"/>
              </a:ext>
            </a:extLst>
          </p:cNvPr>
          <p:cNvSpPr>
            <a:spLocks noGrp="1"/>
          </p:cNvSpPr>
          <p:nvPr>
            <p:ph type="body" idx="3" hasCustomPrompt="1"/>
          </p:nvPr>
        </p:nvSpPr>
        <p:spPr>
          <a:xfrm>
            <a:off x="4592635" y="292099"/>
            <a:ext cx="7239701" cy="6142651"/>
          </a:xfrm>
        </p:spPr>
        <p:txBody>
          <a:bodyPr>
            <a:normAutofit/>
          </a:bodyPr>
          <a:lstStyle>
            <a:lvl1pPr>
              <a:lnSpc>
                <a:spcPct val="100000"/>
              </a:lnSpc>
              <a:spcAft>
                <a:spcPts val="1200"/>
              </a:spcAft>
              <a:defRPr sz="2800">
                <a:solidFill>
                  <a:srgbClr val="232F3E"/>
                </a:solidFill>
                <a:latin typeface="+mn-lt"/>
              </a:defRPr>
            </a:lvl1pPr>
            <a:lvl2pPr marL="457200" indent="-228600">
              <a:lnSpc>
                <a:spcPct val="100000"/>
              </a:lnSpc>
              <a:spcAft>
                <a:spcPts val="1200"/>
              </a:spcAft>
              <a:defRPr sz="2400">
                <a:solidFill>
                  <a:srgbClr val="232F3E"/>
                </a:solidFill>
                <a:latin typeface="+mn-lt"/>
              </a:defRPr>
            </a:lvl2pPr>
            <a:lvl3pPr marL="684213" indent="-228600">
              <a:lnSpc>
                <a:spcPct val="100000"/>
              </a:lnSpc>
              <a:spcAft>
                <a:spcPts val="1200"/>
              </a:spcAft>
              <a:defRPr sz="2000">
                <a:solidFill>
                  <a:srgbClr val="232F3E"/>
                </a:solidFill>
                <a:latin typeface="+mn-lt"/>
              </a:defRPr>
            </a:lvl3pPr>
            <a:lvl4pPr marL="914400" indent="-228600">
              <a:lnSpc>
                <a:spcPct val="100000"/>
              </a:lnSpc>
              <a:spcAft>
                <a:spcPts val="1200"/>
              </a:spcAft>
              <a:defRPr sz="1800">
                <a:solidFill>
                  <a:srgbClr val="232F3E"/>
                </a:solidFill>
                <a:latin typeface="+mn-lt"/>
              </a:defRPr>
            </a:lvl4pPr>
            <a:lvl5pPr marL="1144588" indent="-228600">
              <a:lnSpc>
                <a:spcPct val="100000"/>
              </a:lnSpc>
              <a:spcAft>
                <a:spcPts val="1200"/>
              </a:spcAft>
              <a:defRPr sz="1800">
                <a:solidFill>
                  <a:srgbClr val="232F3E"/>
                </a:solidFill>
                <a:latin typeface="+mn-lt"/>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7" name="Copyright1">
            <a:extLst>
              <a:ext uri="{FF2B5EF4-FFF2-40B4-BE49-F238E27FC236}">
                <a16:creationId xmlns:a16="http://schemas.microsoft.com/office/drawing/2014/main" id="{844CFF04-049D-40C7-9082-60C6CF7684A8}"/>
              </a:ext>
              <a:ext uri="{C183D7F6-B498-43B3-948B-1728B52AA6E4}">
                <adec:decorative xmlns:adec="http://schemas.microsoft.com/office/drawing/2017/decorative" val="1"/>
              </a:ext>
            </a:extLst>
          </p:cNvPr>
          <p:cNvPicPr>
            <a:picLocks/>
          </p:cNvPicPr>
          <p:nvPr userDrawn="1"/>
        </p:nvPicPr>
        <p:blipFill>
          <a:blip r:embed="rId4">
            <a:extLst>
              <a:ext uri="{28A0092B-C50C-407E-A947-70E740481C1C}">
                <a14:useLocalDpi xmlns:a14="http://schemas.microsoft.com/office/drawing/2010/main" val="0"/>
              </a:ext>
            </a:extLst>
          </a:blip>
          <a:stretch>
            <a:fillRect/>
          </a:stretch>
        </p:blipFill>
        <p:spPr>
          <a:xfrm>
            <a:off x="6009640" y="6468531"/>
            <a:ext cx="4610100" cy="267127"/>
          </a:xfrm>
          <a:prstGeom prst="rect">
            <a:avLst/>
          </a:prstGeom>
        </p:spPr>
      </p:pic>
    </p:spTree>
    <p:custDataLst>
      <p:tags r:id="rId1"/>
    </p:custDataLst>
    <p:extLst>
      <p:ext uri="{BB962C8B-B14F-4D97-AF65-F5344CB8AC3E}">
        <p14:creationId xmlns:p14="http://schemas.microsoft.com/office/powerpoint/2010/main" val="337845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cademyQuestion">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0" y="185995"/>
            <a:ext cx="12192000" cy="535531"/>
          </a:xfrm>
        </p:spPr>
        <p:txBody>
          <a:bodyPr wrap="square" lIns="182880" rIns="182880">
            <a:spAutoFit/>
          </a:bodyPr>
          <a:lstStyle>
            <a:lvl1pPr>
              <a:lnSpc>
                <a:spcPct val="90000"/>
              </a:lnSpc>
              <a:spcAft>
                <a:spcPts val="0"/>
              </a:spcAft>
              <a:defRPr sz="3200">
                <a:solidFill>
                  <a:srgbClr val="232F3E"/>
                </a:solidFill>
                <a:latin typeface="Amazon Ember Display Heavy"/>
              </a:defRPr>
            </a:lvl1pPr>
          </a:lstStyle>
          <a:p>
            <a:r>
              <a:rPr lang="en-US" dirty="0"/>
              <a:t>Title and text column</a:t>
            </a:r>
          </a:p>
        </p:txBody>
      </p:sp>
      <p:sp>
        <p:nvSpPr>
          <p:cNvPr id="7" name="Text Placeholder 6">
            <a:extLst>
              <a:ext uri="{FF2B5EF4-FFF2-40B4-BE49-F238E27FC236}">
                <a16:creationId xmlns:a16="http://schemas.microsoft.com/office/drawing/2014/main" id="{4F12F17D-55AD-4982-8FE2-C0E80D143499}"/>
              </a:ext>
            </a:extLst>
          </p:cNvPr>
          <p:cNvSpPr>
            <a:spLocks noGrp="1"/>
          </p:cNvSpPr>
          <p:nvPr>
            <p:ph type="body" sz="quarter" idx="98" hasCustomPrompt="1"/>
          </p:nvPr>
        </p:nvSpPr>
        <p:spPr>
          <a:xfrm>
            <a:off x="0" y="721526"/>
            <a:ext cx="12192000" cy="1463040"/>
          </a:xfrm>
          <a:solidFill>
            <a:schemeClr val="accent1"/>
          </a:solidFill>
        </p:spPr>
        <p:txBody>
          <a:bodyPr lIns="182880" tIns="91440" rIns="182880" bIns="91440">
            <a:noAutofit/>
          </a:bodyPr>
          <a:lstStyle>
            <a:lvl1pPr marL="0" indent="0">
              <a:lnSpc>
                <a:spcPct val="100000"/>
              </a:lnSpc>
              <a:spcAft>
                <a:spcPts val="600"/>
              </a:spcAft>
              <a:buNone/>
              <a:defRPr sz="160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Enter question text here</a:t>
            </a:r>
          </a:p>
        </p:txBody>
      </p:sp>
    </p:spTree>
    <p:custDataLst>
      <p:tags r:id="rId1"/>
    </p:custDataLst>
    <p:extLst>
      <p:ext uri="{BB962C8B-B14F-4D97-AF65-F5344CB8AC3E}">
        <p14:creationId xmlns:p14="http://schemas.microsoft.com/office/powerpoint/2010/main" val="23290693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BF7951DD-641A-4F55-851E-3A3DAE5483DC}"/>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sp>
        <p:nvSpPr>
          <p:cNvPr id="4" name="Title">
            <a:extLst>
              <a:ext uri="{FF2B5EF4-FFF2-40B4-BE49-F238E27FC236}">
                <a16:creationId xmlns:a16="http://schemas.microsoft.com/office/drawing/2014/main" id="{75DBD6AA-5E11-44A8-900B-2519518B0622}"/>
              </a:ext>
            </a:extLst>
          </p:cNvPr>
          <p:cNvSpPr>
            <a:spLocks noGrp="1"/>
          </p:cNvSpPr>
          <p:nvPr>
            <p:ph type="title" idx="1" hasCustomPrompt="1"/>
          </p:nvPr>
        </p:nvSpPr>
        <p:spPr>
          <a:xfrm>
            <a:off x="365760" y="301752"/>
            <a:ext cx="11466576" cy="731318"/>
          </a:xfrm>
        </p:spPr>
        <p:txBody>
          <a:bodyPr/>
          <a:lstStyle>
            <a:lvl1pPr>
              <a:defRPr>
                <a:solidFill>
                  <a:srgbClr val="232F3E"/>
                </a:solidFill>
                <a:latin typeface="Amazon Ember Display Heavy"/>
              </a:defRPr>
            </a:lvl1pPr>
          </a:lstStyle>
          <a:p>
            <a:r>
              <a:rPr lang="en-US" dirty="0"/>
              <a:t>Title, 2 headers, and 2 text columns</a:t>
            </a:r>
          </a:p>
        </p:txBody>
      </p:sp>
      <p:sp>
        <p:nvSpPr>
          <p:cNvPr id="12" name="Header Left">
            <a:extLst>
              <a:ext uri="{FF2B5EF4-FFF2-40B4-BE49-F238E27FC236}">
                <a16:creationId xmlns:a16="http://schemas.microsoft.com/office/drawing/2014/main" id="{CEBB69C5-28A4-4F99-A9FE-572F9D53CF4E}"/>
              </a:ext>
            </a:extLst>
          </p:cNvPr>
          <p:cNvSpPr>
            <a:spLocks noGrp="1"/>
          </p:cNvSpPr>
          <p:nvPr>
            <p:ph type="body" idx="12" hasCustomPrompt="1"/>
          </p:nvPr>
        </p:nvSpPr>
        <p:spPr>
          <a:xfrm>
            <a:off x="365760" y="1053311"/>
            <a:ext cx="5669280" cy="440329"/>
          </a:xfrm>
          <a:solidFill>
            <a:schemeClr val="accent1"/>
          </a:solidFill>
          <a:ln>
            <a:noFill/>
          </a:ln>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2" name="Body1 Content">
            <a:extLst>
              <a:ext uri="{FF2B5EF4-FFF2-40B4-BE49-F238E27FC236}">
                <a16:creationId xmlns:a16="http://schemas.microsoft.com/office/drawing/2014/main" id="{5ACBD598-6775-4223-B2AB-B169A112E3FF}"/>
              </a:ext>
            </a:extLst>
          </p:cNvPr>
          <p:cNvSpPr>
            <a:spLocks noGrp="1"/>
          </p:cNvSpPr>
          <p:nvPr>
            <p:ph idx="2" hasCustomPrompt="1"/>
          </p:nvPr>
        </p:nvSpPr>
        <p:spPr>
          <a:xfrm>
            <a:off x="365760"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Header Right">
            <a:extLst>
              <a:ext uri="{FF2B5EF4-FFF2-40B4-BE49-F238E27FC236}">
                <a16:creationId xmlns:a16="http://schemas.microsoft.com/office/drawing/2014/main" id="{08B6087B-5128-4D07-A02C-11A4D91176A4}"/>
              </a:ext>
            </a:extLst>
          </p:cNvPr>
          <p:cNvSpPr>
            <a:spLocks noGrp="1"/>
          </p:cNvSpPr>
          <p:nvPr>
            <p:ph type="body" idx="13" hasCustomPrompt="1"/>
          </p:nvPr>
        </p:nvSpPr>
        <p:spPr>
          <a:xfrm>
            <a:off x="6163056" y="1053311"/>
            <a:ext cx="5669280" cy="440329"/>
          </a:xfrm>
          <a:solidFill>
            <a:schemeClr val="accent1"/>
          </a:solidFill>
        </p:spPr>
        <p:txBody>
          <a:bodyPr anchor="ctr">
            <a:noAutofit/>
          </a:bodyPr>
          <a:lstStyle>
            <a:lvl1pPr marL="0" indent="0">
              <a:lnSpc>
                <a:spcPct val="100000"/>
              </a:lnSpc>
              <a:spcBef>
                <a:spcPts val="0"/>
              </a:spcBef>
              <a:spcAft>
                <a:spcPts val="0"/>
              </a:spcAft>
              <a:buNone/>
              <a:defRPr sz="2400" b="0">
                <a:solidFill>
                  <a:schemeClr val="bg1"/>
                </a:solidFill>
                <a:latin typeface="Amazon Ember Display"/>
              </a:defRPr>
            </a:lvl1pPr>
          </a:lstStyle>
          <a:p>
            <a:pPr lvl="0"/>
            <a:r>
              <a:rPr lang="en-US" dirty="0"/>
              <a:t>Enter header text</a:t>
            </a:r>
          </a:p>
        </p:txBody>
      </p:sp>
      <p:sp>
        <p:nvSpPr>
          <p:cNvPr id="3" name="Content Right">
            <a:extLst>
              <a:ext uri="{FF2B5EF4-FFF2-40B4-BE49-F238E27FC236}">
                <a16:creationId xmlns:a16="http://schemas.microsoft.com/office/drawing/2014/main" id="{7F5B85B9-BABC-44F6-B2AE-99F02670D702}"/>
              </a:ext>
            </a:extLst>
          </p:cNvPr>
          <p:cNvSpPr>
            <a:spLocks noGrp="1"/>
          </p:cNvSpPr>
          <p:nvPr>
            <p:ph idx="3" hasCustomPrompt="1"/>
          </p:nvPr>
        </p:nvSpPr>
        <p:spPr>
          <a:xfrm>
            <a:off x="6163056" y="1563624"/>
            <a:ext cx="5669280" cy="4873752"/>
          </a:xfrm>
        </p:spPr>
        <p:txBody>
          <a:bodyPr>
            <a:noAutofit/>
          </a:bodyPr>
          <a:lstStyle>
            <a:lvl1pPr>
              <a:lnSpc>
                <a:spcPct val="100000"/>
              </a:lnSpc>
              <a:spcAft>
                <a:spcPts val="1200"/>
              </a:spcAft>
              <a:defRPr sz="2800">
                <a:solidFill>
                  <a:srgbClr val="232F3E"/>
                </a:solidFill>
                <a:latin typeface="Amazon Ember Display"/>
              </a:defRPr>
            </a:lvl1pPr>
            <a:lvl2pPr marL="457200" indent="-228600">
              <a:lnSpc>
                <a:spcPct val="100000"/>
              </a:lnSpc>
              <a:spcAft>
                <a:spcPts val="1200"/>
              </a:spcAft>
              <a:defRPr sz="2400">
                <a:solidFill>
                  <a:srgbClr val="232F3E"/>
                </a:solidFill>
                <a:latin typeface="Amazon Ember Display"/>
              </a:defRPr>
            </a:lvl2pPr>
            <a:lvl3pPr marL="684213" indent="-228600">
              <a:lnSpc>
                <a:spcPct val="100000"/>
              </a:lnSpc>
              <a:spcAft>
                <a:spcPts val="1200"/>
              </a:spcAft>
              <a:defRPr sz="2000">
                <a:solidFill>
                  <a:srgbClr val="232F3E"/>
                </a:solidFill>
                <a:latin typeface="Amazon Ember Display"/>
              </a:defRPr>
            </a:lvl3pPr>
            <a:lvl4pPr marL="914400" indent="-228600">
              <a:lnSpc>
                <a:spcPct val="100000"/>
              </a:lnSpc>
              <a:spcAft>
                <a:spcPts val="1200"/>
              </a:spcAft>
              <a:defRPr sz="1800">
                <a:solidFill>
                  <a:srgbClr val="232F3E"/>
                </a:solidFill>
                <a:latin typeface="Amazon Ember Display"/>
              </a:defRPr>
            </a:lvl4pPr>
            <a:lvl5pPr marL="1144588" indent="-228600">
              <a:lnSpc>
                <a:spcPct val="100000"/>
              </a:lnSpc>
              <a:spcAft>
                <a:spcPts val="1200"/>
              </a:spcAft>
              <a:defRPr sz="1800">
                <a:solidFill>
                  <a:srgbClr val="232F3E"/>
                </a:solidFill>
                <a:latin typeface="Amazon Ember Display"/>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1970614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3.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2">
            <a:lum/>
          </a:blip>
          <a:srcRect/>
          <a:stretch>
            <a:fillRect/>
          </a:stretch>
        </a:blipFill>
        <a:effectLst/>
      </p:bgPr>
    </p:bg>
    <p:spTree>
      <p:nvGrpSpPr>
        <p:cNvPr id="1" name=""/>
        <p:cNvGrpSpPr/>
        <p:nvPr/>
      </p:nvGrpSpPr>
      <p:grpSpPr>
        <a:xfrm>
          <a:off x="0" y="0"/>
          <a:ext cx="0" cy="0"/>
          <a:chOff x="0" y="0"/>
          <a:chExt cx="0" cy="0"/>
        </a:xfrm>
      </p:grpSpPr>
      <p:sp>
        <p:nvSpPr>
          <p:cNvPr id="89" name="Slide Number">
            <a:extLst>
              <a:ext uri="{FF2B5EF4-FFF2-40B4-BE49-F238E27FC236}">
                <a16:creationId xmlns:a16="http://schemas.microsoft.com/office/drawing/2014/main" id="{A07A00D0-EC0A-44D2-9309-40C08E7F67D5}"/>
              </a:ext>
            </a:extLst>
          </p:cNvPr>
          <p:cNvSpPr>
            <a:spLocks noGrp="1"/>
          </p:cNvSpPr>
          <p:nvPr>
            <p:ph type="sldNum" idx="89"/>
          </p:nvPr>
        </p:nvSpPr>
        <p:spPr>
          <a:xfrm>
            <a:off x="11466576" y="6446520"/>
            <a:ext cx="484632" cy="228600"/>
          </a:xfrm>
          <a:prstGeom prst="rect">
            <a:avLst/>
          </a:prstGeom>
        </p:spPr>
        <p:txBody>
          <a:bodyPr vert="horz" lIns="0" tIns="0" rIns="0" bIns="0" rtlCol="0" anchor="ctr"/>
          <a:lstStyle>
            <a:lvl1pPr algn="r">
              <a:defRPr sz="1200">
                <a:solidFill>
                  <a:srgbClr val="232F3E"/>
                </a:solidFill>
              </a:defRPr>
            </a:lvl1pPr>
          </a:lstStyle>
          <a:p>
            <a:fld id="{4037B1B0-0345-4E15-985A-6BECCDBE474F}" type="slidenum">
              <a:rPr lang="en-US" smtClean="0"/>
              <a:pPr/>
              <a:t>‹#›</a:t>
            </a:fld>
            <a:endParaRPr lang="en-US" dirty="0"/>
          </a:p>
        </p:txBody>
      </p:sp>
      <p:sp>
        <p:nvSpPr>
          <p:cNvPr id="3" name="Title">
            <a:extLst>
              <a:ext uri="{FF2B5EF4-FFF2-40B4-BE49-F238E27FC236}">
                <a16:creationId xmlns:a16="http://schemas.microsoft.com/office/drawing/2014/main" id="{95BD4D1B-B3EB-4C0C-8CE3-A35C1F88F6BC}"/>
              </a:ext>
            </a:extLst>
          </p:cNvPr>
          <p:cNvSpPr>
            <a:spLocks noGrp="1"/>
          </p:cNvSpPr>
          <p:nvPr>
            <p:ph type="title" idx="1"/>
          </p:nvPr>
        </p:nvSpPr>
        <p:spPr>
          <a:xfrm>
            <a:off x="365760" y="301752"/>
            <a:ext cx="11567160" cy="731520"/>
          </a:xfrm>
          <a:prstGeom prst="rect">
            <a:avLst/>
          </a:prstGeom>
        </p:spPr>
        <p:txBody>
          <a:bodyPr vert="horz" lIns="91440" tIns="45720" rIns="91440" bIns="45720" rtlCol="0" anchor="ctr">
            <a:normAutofit/>
          </a:bodyPr>
          <a:lstStyle/>
          <a:p>
            <a:r>
              <a:rPr lang="en-US" dirty="0"/>
              <a:t>Click to edit Master title style</a:t>
            </a:r>
          </a:p>
        </p:txBody>
      </p:sp>
      <p:sp>
        <p:nvSpPr>
          <p:cNvPr id="2" name="Content">
            <a:extLst>
              <a:ext uri="{FF2B5EF4-FFF2-40B4-BE49-F238E27FC236}">
                <a16:creationId xmlns:a16="http://schemas.microsoft.com/office/drawing/2014/main" id="{3AF961A5-759C-41EF-B858-64D5160112BA}"/>
              </a:ext>
            </a:extLst>
          </p:cNvPr>
          <p:cNvSpPr>
            <a:spLocks noGrp="1"/>
          </p:cNvSpPr>
          <p:nvPr>
            <p:ph type="body" idx="2"/>
          </p:nvPr>
        </p:nvSpPr>
        <p:spPr>
          <a:xfrm>
            <a:off x="365760" y="1143000"/>
            <a:ext cx="11567160" cy="5294376"/>
          </a:xfrm>
          <a:prstGeom prst="rect">
            <a:avLst/>
          </a:prstGeom>
        </p:spPr>
        <p:txBody>
          <a:bodyPr vert="horz" lIns="91440" tIns="45720" rIns="91440" bIns="45720" rtlCol="0">
            <a:normAutofit/>
          </a:bodyPr>
          <a:lstStyle/>
          <a:p>
            <a:pPr marL="230188" lvl="0" indent="-230188" defTabSz="228600">
              <a:lnSpc>
                <a:spcPct val="100000"/>
              </a:lnSpc>
              <a:spcBef>
                <a:spcPts val="500"/>
              </a:spcBef>
              <a:spcAft>
                <a:spcPts val="600"/>
              </a:spcAft>
              <a:buFont typeface="Amazon Ember Display"/>
            </a:pPr>
            <a:r>
              <a:rPr lang="en-US" dirty="0"/>
              <a:t>Edit Master text styles</a:t>
            </a:r>
          </a:p>
          <a:p>
            <a:pPr marL="457200" lvl="1" indent="-230188" defTabSz="228600">
              <a:lnSpc>
                <a:spcPct val="100000"/>
              </a:lnSpc>
              <a:spcAft>
                <a:spcPts val="600"/>
              </a:spcAft>
              <a:buFont typeface="Amazon Ember Display"/>
            </a:pPr>
            <a:r>
              <a:rPr lang="en-US" dirty="0"/>
              <a:t>Second level</a:t>
            </a:r>
          </a:p>
          <a:p>
            <a:pPr marL="685800" lvl="2" indent="-230188" defTabSz="228600">
              <a:lnSpc>
                <a:spcPct val="100000"/>
              </a:lnSpc>
              <a:spcAft>
                <a:spcPts val="600"/>
              </a:spcAft>
              <a:buFont typeface="Amazon Ember Display"/>
            </a:pPr>
            <a:r>
              <a:rPr lang="en-US" dirty="0"/>
              <a:t>Third level</a:t>
            </a:r>
          </a:p>
          <a:p>
            <a:pPr marL="914400" lvl="3" indent="-230188" defTabSz="228600">
              <a:lnSpc>
                <a:spcPct val="100000"/>
              </a:lnSpc>
              <a:spcAft>
                <a:spcPts val="600"/>
              </a:spcAft>
              <a:buFont typeface="Amazon Ember Display"/>
            </a:pPr>
            <a:r>
              <a:rPr lang="en-US" dirty="0"/>
              <a:t>Fourth level</a:t>
            </a:r>
          </a:p>
          <a:p>
            <a:pPr marL="1143000" lvl="4" indent="-230188" defTabSz="228600">
              <a:lnSpc>
                <a:spcPct val="100000"/>
              </a:lnSpc>
              <a:spcAft>
                <a:spcPts val="600"/>
              </a:spcAft>
              <a:buFont typeface="Amazon Ember Display"/>
            </a:pPr>
            <a:r>
              <a:rPr lang="en-US" dirty="0"/>
              <a:t>Fifth level</a:t>
            </a:r>
          </a:p>
        </p:txBody>
      </p:sp>
      <p:pic>
        <p:nvPicPr>
          <p:cNvPr id="98" name="AWS Logo">
            <a:extLst>
              <a:ext uri="{FF2B5EF4-FFF2-40B4-BE49-F238E27FC236}">
                <a16:creationId xmlns:a16="http://schemas.microsoft.com/office/drawing/2014/main" id="{9E7E1626-AACF-488B-8999-ACEC2A595C0B}"/>
              </a:ext>
              <a:ext uri="{C183D7F6-B498-43B3-948B-1728B52AA6E4}">
                <adec:decorative xmlns:adec="http://schemas.microsoft.com/office/drawing/2017/decorative" val="1"/>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243599" y="6445721"/>
            <a:ext cx="366979" cy="219456"/>
          </a:xfrm>
          <a:prstGeom prst="rect">
            <a:avLst/>
          </a:prstGeom>
        </p:spPr>
      </p:pic>
      <p:pic>
        <p:nvPicPr>
          <p:cNvPr id="6" name="Copyright1">
            <a:extLst>
              <a:ext uri="{FF2B5EF4-FFF2-40B4-BE49-F238E27FC236}">
                <a16:creationId xmlns:a16="http://schemas.microsoft.com/office/drawing/2014/main" id="{C320C759-D5D0-424F-9E65-06BA1C6E83D1}"/>
              </a:ext>
              <a:ext uri="{C183D7F6-B498-43B3-948B-1728B52AA6E4}">
                <adec:decorative xmlns:adec="http://schemas.microsoft.com/office/drawing/2017/decorative" val="1"/>
              </a:ext>
            </a:extLst>
          </p:cNvPr>
          <p:cNvPicPr>
            <a:picLocks/>
          </p:cNvPicPr>
          <p:nvPr userDrawn="1"/>
        </p:nvPicPr>
        <p:blipFill>
          <a:blip r:embed="rId65">
            <a:extLst>
              <a:ext uri="{28A0092B-C50C-407E-A947-70E740481C1C}">
                <a14:useLocalDpi xmlns:a14="http://schemas.microsoft.com/office/drawing/2010/main" val="0"/>
              </a:ext>
            </a:extLst>
          </a:blip>
          <a:stretch>
            <a:fillRect/>
          </a:stretch>
        </p:blipFill>
        <p:spPr>
          <a:xfrm>
            <a:off x="3787140" y="6468531"/>
            <a:ext cx="4610100" cy="267127"/>
          </a:xfrm>
          <a:prstGeom prst="rect">
            <a:avLst/>
          </a:prstGeom>
        </p:spPr>
      </p:pic>
    </p:spTree>
    <p:extLst>
      <p:ext uri="{BB962C8B-B14F-4D97-AF65-F5344CB8AC3E}">
        <p14:creationId xmlns:p14="http://schemas.microsoft.com/office/powerpoint/2010/main" val="8171209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18" r:id="rId57"/>
    <p:sldLayoutId id="2147483719" r:id="rId58"/>
    <p:sldLayoutId id="2147483720" r:id="rId59"/>
    <p:sldLayoutId id="2147483721" r:id="rId60"/>
  </p:sldLayoutIdLst>
  <p:hf hdr="0" ftr="0" dt="0"/>
  <p:txStyles>
    <p:titleStyle>
      <a:lvl1pPr algn="l" defTabSz="914400" rtl="0" eaLnBrk="1" latinLnBrk="0" hangingPunct="1">
        <a:lnSpc>
          <a:spcPct val="90000"/>
        </a:lnSpc>
        <a:spcBef>
          <a:spcPct val="0"/>
        </a:spcBef>
        <a:buNone/>
        <a:defRPr sz="3600" kern="1200">
          <a:solidFill>
            <a:srgbClr val="232F3E"/>
          </a:solidFill>
          <a:latin typeface="Amazon Ember display"/>
        </a:defRPr>
      </a:lvl1pPr>
    </p:titleStyle>
    <p:body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p:bodyStyle>
    <p:otherStyle>
      <a:defPPr>
        <a:defRPr lang="en-US"/>
      </a:defPPr>
      <a:lvl1pPr marL="0" algn="l" defTabSz="914400" rtl="0" eaLnBrk="1" latinLnBrk="0" hangingPunct="1">
        <a:defRPr sz="1800" kern="1200">
          <a:solidFill>
            <a:schemeClr val="tx1"/>
          </a:solidFill>
          <a:latin typeface="Amazon Ember display"/>
        </a:defRPr>
      </a:lvl1pPr>
      <a:lvl2pPr marL="457200" algn="l" defTabSz="914400" rtl="0" eaLnBrk="1" latinLnBrk="0" hangingPunct="1">
        <a:defRPr sz="1800" kern="1200">
          <a:solidFill>
            <a:schemeClr val="tx1"/>
          </a:solidFill>
          <a:latin typeface="Amazon Ember display"/>
        </a:defRPr>
      </a:lvl2pPr>
      <a:lvl3pPr marL="914400" algn="l" defTabSz="914400" rtl="0" eaLnBrk="1" latinLnBrk="0" hangingPunct="1">
        <a:defRPr sz="1800" kern="1200">
          <a:solidFill>
            <a:schemeClr val="tx1"/>
          </a:solidFill>
          <a:latin typeface="Amazon Ember display"/>
        </a:defRPr>
      </a:lvl3pPr>
      <a:lvl4pPr marL="1371600" algn="l" defTabSz="914400" rtl="0" eaLnBrk="1" latinLnBrk="0" hangingPunct="1">
        <a:defRPr sz="1800" kern="1200">
          <a:solidFill>
            <a:schemeClr val="tx1"/>
          </a:solidFill>
          <a:latin typeface="Amazon Ember display"/>
        </a:defRPr>
      </a:lvl4pPr>
      <a:lvl5pPr marL="1828800" algn="l" defTabSz="914400" rtl="0" eaLnBrk="1" latinLnBrk="0" hangingPunct="1">
        <a:defRPr sz="1800" kern="1200">
          <a:solidFill>
            <a:schemeClr val="tx1"/>
          </a:solidFill>
          <a:latin typeface="Amazon Ember display"/>
        </a:defRPr>
      </a:lvl5pPr>
      <a:lvl6pPr marL="2286000" algn="l" defTabSz="914400" rtl="0" eaLnBrk="1" latinLnBrk="0" hangingPunct="1">
        <a:defRPr sz="1800" kern="1200">
          <a:solidFill>
            <a:schemeClr val="tx1"/>
          </a:solidFill>
          <a:latin typeface="Amazon Ember display"/>
        </a:defRPr>
      </a:lvl6pPr>
      <a:lvl7pPr marL="2743200" algn="l" defTabSz="914400" rtl="0" eaLnBrk="1" latinLnBrk="0" hangingPunct="1">
        <a:defRPr sz="1800" kern="1200">
          <a:solidFill>
            <a:schemeClr val="tx1"/>
          </a:solidFill>
          <a:latin typeface="Amazon Ember display"/>
        </a:defRPr>
      </a:lvl7pPr>
      <a:lvl8pPr marL="3200400" algn="l" defTabSz="914400" rtl="0" eaLnBrk="1" latinLnBrk="0" hangingPunct="1">
        <a:defRPr sz="1800" kern="1200">
          <a:solidFill>
            <a:schemeClr val="tx1"/>
          </a:solidFill>
          <a:latin typeface="Amazon Ember display"/>
        </a:defRPr>
      </a:lvl8pPr>
      <a:lvl9pPr marL="3657600" algn="l" defTabSz="914400" rtl="0" eaLnBrk="1" latinLnBrk="0" hangingPunct="1">
        <a:defRPr sz="1800" kern="1200">
          <a:solidFill>
            <a:schemeClr val="tx1"/>
          </a:solidFill>
          <a:latin typeface="Amazon Ember display"/>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8.xml"/><Relationship Id="rId1" Type="http://schemas.openxmlformats.org/officeDocument/2006/relationships/tags" Target="../tags/tag5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5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6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1.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6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8.svg"/><Relationship Id="rId2" Type="http://schemas.openxmlformats.org/officeDocument/2006/relationships/slideLayout" Target="../slideLayouts/slideLayout25.xml"/><Relationship Id="rId1" Type="http://schemas.openxmlformats.org/officeDocument/2006/relationships/tags" Target="../tags/tag63.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tags" Target="../tags/tag64.xml"/><Relationship Id="rId5" Type="http://schemas.openxmlformats.org/officeDocument/2006/relationships/image" Target="../media/image30.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10.xml"/><Relationship Id="rId7" Type="http://schemas.openxmlformats.org/officeDocument/2006/relationships/image" Target="../media/image34.svg"/><Relationship Id="rId2" Type="http://schemas.openxmlformats.org/officeDocument/2006/relationships/slideLayout" Target="../slideLayouts/slideLayout26.xml"/><Relationship Id="rId1" Type="http://schemas.openxmlformats.org/officeDocument/2006/relationships/tags" Target="../tags/tag65.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40.svg"/><Relationship Id="rId2" Type="http://schemas.openxmlformats.org/officeDocument/2006/relationships/slideLayout" Target="../slideLayouts/slideLayout20.xml"/><Relationship Id="rId1" Type="http://schemas.openxmlformats.org/officeDocument/2006/relationships/tags" Target="../tags/tag66.xml"/><Relationship Id="rId6" Type="http://schemas.openxmlformats.org/officeDocument/2006/relationships/image" Target="../media/image39.png"/><Relationship Id="rId5" Type="http://schemas.openxmlformats.org/officeDocument/2006/relationships/image" Target="../media/image38.sv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8.xml"/><Relationship Id="rId1" Type="http://schemas.openxmlformats.org/officeDocument/2006/relationships/tags" Target="../tags/tag67.xml"/><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6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0.xml"/><Relationship Id="rId1" Type="http://schemas.openxmlformats.org/officeDocument/2006/relationships/tags" Target="../tags/tag69.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9.xml"/><Relationship Id="rId1" Type="http://schemas.openxmlformats.org/officeDocument/2006/relationships/tags" Target="../tags/tag70.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71.xml"/><Relationship Id="rId5" Type="http://schemas.openxmlformats.org/officeDocument/2006/relationships/image" Target="../media/image46.sv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notesSlide" Target="../notesSlides/notesSlide18.xml"/><Relationship Id="rId7" Type="http://schemas.openxmlformats.org/officeDocument/2006/relationships/image" Target="../media/image50.svg"/><Relationship Id="rId2" Type="http://schemas.openxmlformats.org/officeDocument/2006/relationships/slideLayout" Target="../slideLayouts/slideLayout60.xml"/><Relationship Id="rId1" Type="http://schemas.openxmlformats.org/officeDocument/2006/relationships/tags" Target="../tags/tag72.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9.svg"/><Relationship Id="rId18" Type="http://schemas.openxmlformats.org/officeDocument/2006/relationships/image" Target="../media/image45.png"/><Relationship Id="rId3" Type="http://schemas.openxmlformats.org/officeDocument/2006/relationships/notesSlide" Target="../notesSlides/notesSlide19.xml"/><Relationship Id="rId7" Type="http://schemas.openxmlformats.org/officeDocument/2006/relationships/image" Target="../media/image55.svg"/><Relationship Id="rId12" Type="http://schemas.openxmlformats.org/officeDocument/2006/relationships/image" Target="../media/image58.png"/><Relationship Id="rId17" Type="http://schemas.openxmlformats.org/officeDocument/2006/relationships/image" Target="../media/image63.svg"/><Relationship Id="rId2" Type="http://schemas.openxmlformats.org/officeDocument/2006/relationships/slideLayout" Target="../slideLayouts/slideLayout9.xml"/><Relationship Id="rId16" Type="http://schemas.openxmlformats.org/officeDocument/2006/relationships/image" Target="../media/image62.png"/><Relationship Id="rId1" Type="http://schemas.openxmlformats.org/officeDocument/2006/relationships/tags" Target="../tags/tag73.xml"/><Relationship Id="rId6" Type="http://schemas.openxmlformats.org/officeDocument/2006/relationships/image" Target="../media/image54.png"/><Relationship Id="rId11" Type="http://schemas.openxmlformats.org/officeDocument/2006/relationships/image" Target="../media/image57.svg"/><Relationship Id="rId5" Type="http://schemas.openxmlformats.org/officeDocument/2006/relationships/image" Target="../media/image53.svg"/><Relationship Id="rId15" Type="http://schemas.openxmlformats.org/officeDocument/2006/relationships/image" Target="../media/image61.svg"/><Relationship Id="rId10" Type="http://schemas.openxmlformats.org/officeDocument/2006/relationships/image" Target="../media/image56.png"/><Relationship Id="rId19" Type="http://schemas.openxmlformats.org/officeDocument/2006/relationships/image" Target="../media/image46.svg"/><Relationship Id="rId4" Type="http://schemas.openxmlformats.org/officeDocument/2006/relationships/image" Target="../media/image52.png"/><Relationship Id="rId9" Type="http://schemas.openxmlformats.org/officeDocument/2006/relationships/image" Target="../media/image48.svg"/><Relationship Id="rId14" Type="http://schemas.openxmlformats.org/officeDocument/2006/relationships/image" Target="../media/image60.png"/></Relationships>
</file>

<file path=ppt/slides/_rels/slide20.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notesSlide" Target="../notesSlides/notesSlide20.xml"/><Relationship Id="rId7" Type="http://schemas.openxmlformats.org/officeDocument/2006/relationships/image" Target="../media/image45.png"/><Relationship Id="rId2" Type="http://schemas.openxmlformats.org/officeDocument/2006/relationships/slideLayout" Target="../slideLayouts/slideLayout35.xml"/><Relationship Id="rId1" Type="http://schemas.openxmlformats.org/officeDocument/2006/relationships/tags" Target="../tags/tag74.xml"/><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51.png"/><Relationship Id="rId9" Type="http://schemas.openxmlformats.org/officeDocument/2006/relationships/image" Target="../media/image6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2.xml"/><Relationship Id="rId1" Type="http://schemas.openxmlformats.org/officeDocument/2006/relationships/tags" Target="../tags/tag75.xml"/></Relationships>
</file>

<file path=ppt/slides/_rels/slide22.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svg"/><Relationship Id="rId3" Type="http://schemas.openxmlformats.org/officeDocument/2006/relationships/notesSlide" Target="../notesSlides/notesSlide22.xml"/><Relationship Id="rId7" Type="http://schemas.openxmlformats.org/officeDocument/2006/relationships/image" Target="../media/image70.svg"/><Relationship Id="rId12" Type="http://schemas.openxmlformats.org/officeDocument/2006/relationships/image" Target="../media/image75.png"/><Relationship Id="rId2" Type="http://schemas.openxmlformats.org/officeDocument/2006/relationships/slideLayout" Target="../slideLayouts/slideLayout9.xml"/><Relationship Id="rId1" Type="http://schemas.openxmlformats.org/officeDocument/2006/relationships/tags" Target="../tags/tag76.xml"/><Relationship Id="rId6" Type="http://schemas.openxmlformats.org/officeDocument/2006/relationships/image" Target="../media/image69.png"/><Relationship Id="rId11" Type="http://schemas.openxmlformats.org/officeDocument/2006/relationships/image" Target="../media/image74.svg"/><Relationship Id="rId5" Type="http://schemas.openxmlformats.org/officeDocument/2006/relationships/image" Target="../media/image68.svg"/><Relationship Id="rId15" Type="http://schemas.openxmlformats.org/officeDocument/2006/relationships/image" Target="../media/image46.sv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svg"/><Relationship Id="rId14" Type="http://schemas.openxmlformats.org/officeDocument/2006/relationships/image" Target="../media/image4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0.xml"/><Relationship Id="rId1" Type="http://schemas.openxmlformats.org/officeDocument/2006/relationships/tags" Target="../tags/tag7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8.xml"/><Relationship Id="rId1" Type="http://schemas.openxmlformats.org/officeDocument/2006/relationships/tags" Target="../tags/tag78.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7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8.xml"/><Relationship Id="rId1" Type="http://schemas.openxmlformats.org/officeDocument/2006/relationships/tags" Target="../tags/tag80.xml"/><Relationship Id="rId4" Type="http://schemas.openxmlformats.org/officeDocument/2006/relationships/image" Target="../media/image7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9.xml"/><Relationship Id="rId1" Type="http://schemas.openxmlformats.org/officeDocument/2006/relationships/tags" Target="../tags/tag8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82.xml"/></Relationships>
</file>

<file path=ppt/slides/_rels/slide29.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notesSlide" Target="../notesSlides/notesSlide29.xml"/><Relationship Id="rId7" Type="http://schemas.openxmlformats.org/officeDocument/2006/relationships/image" Target="../media/image81.svg"/><Relationship Id="rId2" Type="http://schemas.openxmlformats.org/officeDocument/2006/relationships/slideLayout" Target="../slideLayouts/slideLayout26.xml"/><Relationship Id="rId1" Type="http://schemas.openxmlformats.org/officeDocument/2006/relationships/tags" Target="../tags/tag83.xml"/><Relationship Id="rId6" Type="http://schemas.openxmlformats.org/officeDocument/2006/relationships/image" Target="../media/image80.png"/><Relationship Id="rId11" Type="http://schemas.openxmlformats.org/officeDocument/2006/relationships/image" Target="../media/image85.svg"/><Relationship Id="rId5" Type="http://schemas.openxmlformats.org/officeDocument/2006/relationships/image" Target="../media/image79.sv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sv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84.xml"/><Relationship Id="rId5" Type="http://schemas.openxmlformats.org/officeDocument/2006/relationships/image" Target="../media/image40.sv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89.svg"/><Relationship Id="rId2" Type="http://schemas.openxmlformats.org/officeDocument/2006/relationships/slideLayout" Target="../slideLayouts/slideLayout28.xml"/><Relationship Id="rId1" Type="http://schemas.openxmlformats.org/officeDocument/2006/relationships/tags" Target="../tags/tag85.xml"/><Relationship Id="rId6" Type="http://schemas.openxmlformats.org/officeDocument/2006/relationships/image" Target="../media/image88.png"/><Relationship Id="rId5" Type="http://schemas.openxmlformats.org/officeDocument/2006/relationships/image" Target="../media/image87.svg"/><Relationship Id="rId4" Type="http://schemas.openxmlformats.org/officeDocument/2006/relationships/image" Target="../media/image86.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91.svg"/><Relationship Id="rId2" Type="http://schemas.openxmlformats.org/officeDocument/2006/relationships/slideLayout" Target="../slideLayouts/slideLayout9.xml"/><Relationship Id="rId1" Type="http://schemas.openxmlformats.org/officeDocument/2006/relationships/tags" Target="../tags/tag86.xml"/><Relationship Id="rId6" Type="http://schemas.openxmlformats.org/officeDocument/2006/relationships/image" Target="../media/image90.png"/><Relationship Id="rId5" Type="http://schemas.openxmlformats.org/officeDocument/2006/relationships/image" Target="../media/image40.sv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7" Type="http://schemas.openxmlformats.org/officeDocument/2006/relationships/image" Target="../media/image94.svg"/><Relationship Id="rId2" Type="http://schemas.openxmlformats.org/officeDocument/2006/relationships/slideLayout" Target="../slideLayouts/slideLayout9.xml"/><Relationship Id="rId1" Type="http://schemas.openxmlformats.org/officeDocument/2006/relationships/tags" Target="../tags/tag87.xml"/><Relationship Id="rId6" Type="http://schemas.openxmlformats.org/officeDocument/2006/relationships/image" Target="../media/image93.png"/><Relationship Id="rId5" Type="http://schemas.openxmlformats.org/officeDocument/2006/relationships/image" Target="../media/image92.svg"/><Relationship Id="rId4" Type="http://schemas.openxmlformats.org/officeDocument/2006/relationships/image" Target="../media/image9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9.xml"/><Relationship Id="rId1" Type="http://schemas.openxmlformats.org/officeDocument/2006/relationships/tags" Target="../tags/tag88.xml"/></Relationships>
</file>

<file path=ppt/slides/_rels/slide35.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notesSlide" Target="../notesSlides/notesSlide35.xml"/><Relationship Id="rId7" Type="http://schemas.openxmlformats.org/officeDocument/2006/relationships/image" Target="../media/image96.svg"/><Relationship Id="rId2" Type="http://schemas.openxmlformats.org/officeDocument/2006/relationships/slideLayout" Target="../slideLayouts/slideLayout9.xml"/><Relationship Id="rId1" Type="http://schemas.openxmlformats.org/officeDocument/2006/relationships/tags" Target="../tags/tag89.xml"/><Relationship Id="rId6" Type="http://schemas.openxmlformats.org/officeDocument/2006/relationships/image" Target="../media/image95.png"/><Relationship Id="rId5" Type="http://schemas.openxmlformats.org/officeDocument/2006/relationships/image" Target="../media/image92.svg"/><Relationship Id="rId4" Type="http://schemas.openxmlformats.org/officeDocument/2006/relationships/image" Target="../media/image90.png"/><Relationship Id="rId9" Type="http://schemas.openxmlformats.org/officeDocument/2006/relationships/image" Target="../media/image98.svg"/></Relationships>
</file>

<file path=ppt/slides/_rels/slide3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notesSlide" Target="../notesSlides/notesSlide36.xml"/><Relationship Id="rId7" Type="http://schemas.openxmlformats.org/officeDocument/2006/relationships/image" Target="../media/image96.svg"/><Relationship Id="rId2" Type="http://schemas.openxmlformats.org/officeDocument/2006/relationships/slideLayout" Target="../slideLayouts/slideLayout9.xml"/><Relationship Id="rId1" Type="http://schemas.openxmlformats.org/officeDocument/2006/relationships/tags" Target="../tags/tag90.xml"/><Relationship Id="rId6" Type="http://schemas.openxmlformats.org/officeDocument/2006/relationships/image" Target="../media/image95.png"/><Relationship Id="rId5" Type="http://schemas.openxmlformats.org/officeDocument/2006/relationships/image" Target="../media/image92.svg"/><Relationship Id="rId4" Type="http://schemas.openxmlformats.org/officeDocument/2006/relationships/image" Target="../media/image90.png"/><Relationship Id="rId9" Type="http://schemas.openxmlformats.org/officeDocument/2006/relationships/image" Target="../media/image98.sv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8.xml"/><Relationship Id="rId1" Type="http://schemas.openxmlformats.org/officeDocument/2006/relationships/tags" Target="../tags/tag91.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92.xml"/></Relationships>
</file>

<file path=ppt/slides/_rels/slide39.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notesSlide" Target="../notesSlides/notesSlide39.xml"/><Relationship Id="rId7" Type="http://schemas.openxmlformats.org/officeDocument/2006/relationships/image" Target="../media/image102.svg"/><Relationship Id="rId2" Type="http://schemas.openxmlformats.org/officeDocument/2006/relationships/slideLayout" Target="../slideLayouts/slideLayout9.xml"/><Relationship Id="rId1" Type="http://schemas.openxmlformats.org/officeDocument/2006/relationships/tags" Target="../tags/tag93.xml"/><Relationship Id="rId6" Type="http://schemas.openxmlformats.org/officeDocument/2006/relationships/image" Target="../media/image101.png"/><Relationship Id="rId5" Type="http://schemas.openxmlformats.org/officeDocument/2006/relationships/image" Target="../media/image100.svg"/><Relationship Id="rId4" Type="http://schemas.openxmlformats.org/officeDocument/2006/relationships/image" Target="../media/image99.png"/><Relationship Id="rId9" Type="http://schemas.openxmlformats.org/officeDocument/2006/relationships/image" Target="../media/image104.sv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9.xml"/><Relationship Id="rId1" Type="http://schemas.openxmlformats.org/officeDocument/2006/relationships/tags" Target="../tags/tag94.xml"/><Relationship Id="rId5" Type="http://schemas.openxmlformats.org/officeDocument/2006/relationships/image" Target="../media/image100.svg"/><Relationship Id="rId4" Type="http://schemas.openxmlformats.org/officeDocument/2006/relationships/image" Target="../media/image9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9.xml"/><Relationship Id="rId1" Type="http://schemas.openxmlformats.org/officeDocument/2006/relationships/tags" Target="../tags/tag95.xml"/><Relationship Id="rId5" Type="http://schemas.openxmlformats.org/officeDocument/2006/relationships/image" Target="../media/image102.svg"/><Relationship Id="rId4" Type="http://schemas.openxmlformats.org/officeDocument/2006/relationships/image" Target="../media/image10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9.xml"/><Relationship Id="rId1" Type="http://schemas.openxmlformats.org/officeDocument/2006/relationships/tags" Target="../tags/tag96.xml"/><Relationship Id="rId5" Type="http://schemas.openxmlformats.org/officeDocument/2006/relationships/image" Target="../media/image104.svg"/><Relationship Id="rId4" Type="http://schemas.openxmlformats.org/officeDocument/2006/relationships/image" Target="../media/image10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8.xml"/><Relationship Id="rId1" Type="http://schemas.openxmlformats.org/officeDocument/2006/relationships/tags" Target="../tags/tag97.xml"/><Relationship Id="rId4"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9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9.xml"/><Relationship Id="rId1" Type="http://schemas.openxmlformats.org/officeDocument/2006/relationships/tags" Target="../tags/tag99.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1.xml"/><Relationship Id="rId1" Type="http://schemas.openxmlformats.org/officeDocument/2006/relationships/tags" Target="../tags/tag100.xml"/><Relationship Id="rId4" Type="http://schemas.openxmlformats.org/officeDocument/2006/relationships/image" Target="../media/image10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8.xml"/><Relationship Id="rId1" Type="http://schemas.openxmlformats.org/officeDocument/2006/relationships/tags" Target="../tags/tag101.xml"/><Relationship Id="rId4" Type="http://schemas.openxmlformats.org/officeDocument/2006/relationships/image" Target="../media/image10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9.xml"/><Relationship Id="rId1" Type="http://schemas.openxmlformats.org/officeDocument/2006/relationships/tags" Target="../tags/tag10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9.xml"/><Relationship Id="rId1" Type="http://schemas.openxmlformats.org/officeDocument/2006/relationships/tags" Target="../tags/tag10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9.xml"/><Relationship Id="rId1" Type="http://schemas.openxmlformats.org/officeDocument/2006/relationships/tags" Target="../tags/tag104.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8.xml"/><Relationship Id="rId1" Type="http://schemas.openxmlformats.org/officeDocument/2006/relationships/tags" Target="../tags/tag105.xml"/><Relationship Id="rId4" Type="http://schemas.openxmlformats.org/officeDocument/2006/relationships/hyperlink" Target="https://support.aws.amazon.com/#/contacts/aws-acade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2765EEF9-29F2-4F67-81A6-21307EFDF68D}"/>
              </a:ext>
            </a:extLst>
          </p:cNvPr>
          <p:cNvSpPr>
            <a:spLocks noGrp="1"/>
          </p:cNvSpPr>
          <p:nvPr>
            <p:ph type="sldNum" idx="97"/>
          </p:nvPr>
        </p:nvSpPr>
        <p:spPr/>
        <p:txBody>
          <a:bodyPr/>
          <a:lstStyle/>
          <a:p>
            <a:fld id="{4037B1B0-0345-4E15-985A-6BECCDBE474F}" type="slidenum">
              <a:rPr lang="en-US" smtClean="0"/>
              <a:pPr/>
              <a:t>1</a:t>
            </a:fld>
            <a:endParaRPr lang="en-US" dirty="0"/>
          </a:p>
        </p:txBody>
      </p:sp>
      <p:sp>
        <p:nvSpPr>
          <p:cNvPr id="12" name="Title">
            <a:extLst>
              <a:ext uri="{FF2B5EF4-FFF2-40B4-BE49-F238E27FC236}">
                <a16:creationId xmlns:a16="http://schemas.microsoft.com/office/drawing/2014/main" id="{C341766F-F436-46E9-A30C-DB5888AD0AA7}"/>
              </a:ext>
            </a:extLst>
          </p:cNvPr>
          <p:cNvSpPr>
            <a:spLocks noGrp="1"/>
          </p:cNvSpPr>
          <p:nvPr>
            <p:ph type="title" idx="1"/>
          </p:nvPr>
        </p:nvSpPr>
        <p:spPr/>
        <p:txBody>
          <a:bodyPr/>
          <a:lstStyle/>
          <a:p>
            <a:r>
              <a:rPr lang="en-US" dirty="0"/>
              <a:t>Caching Content</a:t>
            </a:r>
          </a:p>
        </p:txBody>
      </p:sp>
      <p:sp>
        <p:nvSpPr>
          <p:cNvPr id="7" name="Text Placeholder 6">
            <a:extLst>
              <a:ext uri="{FF2B5EF4-FFF2-40B4-BE49-F238E27FC236}">
                <a16:creationId xmlns:a16="http://schemas.microsoft.com/office/drawing/2014/main" id="{2CAF2D29-2980-4EDA-AF88-15884666C42C}"/>
              </a:ext>
            </a:extLst>
          </p:cNvPr>
          <p:cNvSpPr>
            <a:spLocks noGrp="1"/>
          </p:cNvSpPr>
          <p:nvPr>
            <p:ph type="body" idx="2"/>
          </p:nvPr>
        </p:nvSpPr>
        <p:spPr>
          <a:xfrm>
            <a:off x="457200" y="2772920"/>
            <a:ext cx="5500255" cy="1755648"/>
          </a:xfrm>
        </p:spPr>
        <p:txBody>
          <a:bodyPr/>
          <a:lstStyle/>
          <a:p>
            <a:r>
              <a:rPr lang="en-US" dirty="0"/>
              <a:t>AWS Academy Cloud Architecting</a:t>
            </a:r>
          </a:p>
        </p:txBody>
      </p:sp>
    </p:spTree>
    <p:custDataLst>
      <p:tags r:id="rId1"/>
    </p:custDataLst>
    <p:extLst>
      <p:ext uri="{BB962C8B-B14F-4D97-AF65-F5344CB8AC3E}">
        <p14:creationId xmlns:p14="http://schemas.microsoft.com/office/powerpoint/2010/main" val="266796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A542E85F-89AA-4CF8-81DD-B47083528F54}"/>
              </a:ext>
            </a:extLst>
          </p:cNvPr>
          <p:cNvSpPr>
            <a:spLocks noGrp="1"/>
          </p:cNvSpPr>
          <p:nvPr>
            <p:ph type="sldNum" idx="97"/>
          </p:nvPr>
        </p:nvSpPr>
        <p:spPr/>
        <p:txBody>
          <a:bodyPr/>
          <a:lstStyle/>
          <a:p>
            <a:fld id="{4037B1B0-0345-4E15-985A-6BECCDBE474F}" type="slidenum">
              <a:rPr lang="en-US" smtClean="0"/>
              <a:pPr/>
              <a:t>2</a:t>
            </a:fld>
            <a:endParaRPr lang="en-US" dirty="0"/>
          </a:p>
        </p:txBody>
      </p:sp>
      <p:sp>
        <p:nvSpPr>
          <p:cNvPr id="5" name="Title">
            <a:extLst>
              <a:ext uri="{FF2B5EF4-FFF2-40B4-BE49-F238E27FC236}">
                <a16:creationId xmlns:a16="http://schemas.microsoft.com/office/drawing/2014/main" id="{7421A085-7841-4A79-873C-DC2174EB8422}"/>
              </a:ext>
            </a:extLst>
          </p:cNvPr>
          <p:cNvSpPr>
            <a:spLocks noGrp="1"/>
          </p:cNvSpPr>
          <p:nvPr>
            <p:ph type="title" idx="1"/>
          </p:nvPr>
        </p:nvSpPr>
        <p:spPr/>
        <p:txBody>
          <a:bodyPr/>
          <a:lstStyle/>
          <a:p>
            <a:r>
              <a:rPr lang="en-US" dirty="0"/>
              <a:t>Introduction</a:t>
            </a:r>
          </a:p>
        </p:txBody>
      </p:sp>
      <p:sp>
        <p:nvSpPr>
          <p:cNvPr id="6" name="Subtitle 5">
            <a:extLst>
              <a:ext uri="{FF2B5EF4-FFF2-40B4-BE49-F238E27FC236}">
                <a16:creationId xmlns:a16="http://schemas.microsoft.com/office/drawing/2014/main" id="{EDD260CC-B2D2-4009-876B-1B98CE0DE56A}"/>
              </a:ext>
            </a:extLst>
          </p:cNvPr>
          <p:cNvSpPr>
            <a:spLocks noGrp="1"/>
          </p:cNvSpPr>
          <p:nvPr>
            <p:ph type="subTitle" idx="2"/>
          </p:nvPr>
        </p:nvSpPr>
        <p:spPr/>
        <p:txBody>
          <a:bodyPr/>
          <a:lstStyle/>
          <a:p>
            <a:r>
              <a:rPr lang="en-US" dirty="0"/>
              <a:t>Caching Content</a:t>
            </a:r>
          </a:p>
        </p:txBody>
      </p:sp>
    </p:spTree>
    <p:custDataLst>
      <p:tags r:id="rId1"/>
    </p:custDataLst>
    <p:extLst>
      <p:ext uri="{BB962C8B-B14F-4D97-AF65-F5344CB8AC3E}">
        <p14:creationId xmlns:p14="http://schemas.microsoft.com/office/powerpoint/2010/main" val="1645169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a:extLst>
              <a:ext uri="{FF2B5EF4-FFF2-40B4-BE49-F238E27FC236}">
                <a16:creationId xmlns:a16="http://schemas.microsoft.com/office/drawing/2014/main" id="{AFA1575B-E7DC-49AE-B5D0-D53AA2F0C641}"/>
              </a:ext>
            </a:extLst>
          </p:cNvPr>
          <p:cNvSpPr>
            <a:spLocks noGrp="1"/>
          </p:cNvSpPr>
          <p:nvPr>
            <p:ph type="sldNum" idx="97"/>
          </p:nvPr>
        </p:nvSpPr>
        <p:spPr/>
        <p:txBody>
          <a:bodyPr/>
          <a:lstStyle/>
          <a:p>
            <a:fld id="{930176A1-BCF0-4712-97A6-6B495F55390B}" type="slidenum">
              <a:rPr lang="en-US" smtClean="0"/>
              <a:pPr/>
              <a:t>3</a:t>
            </a:fld>
            <a:endParaRPr lang="en-US" dirty="0"/>
          </a:p>
        </p:txBody>
      </p:sp>
      <p:sp>
        <p:nvSpPr>
          <p:cNvPr id="3" name="Title"/>
          <p:cNvSpPr>
            <a:spLocks noGrp="1"/>
          </p:cNvSpPr>
          <p:nvPr>
            <p:ph type="title" idx="1"/>
          </p:nvPr>
        </p:nvSpPr>
        <p:spPr/>
        <p:txBody>
          <a:bodyPr/>
          <a:lstStyle/>
          <a:p>
            <a:r>
              <a:rPr lang="en-US" dirty="0"/>
              <a:t>Module objectives</a:t>
            </a:r>
          </a:p>
        </p:txBody>
      </p:sp>
      <p:sp>
        <p:nvSpPr>
          <p:cNvPr id="9" name="Text Placeholder 8">
            <a:extLst>
              <a:ext uri="{FF2B5EF4-FFF2-40B4-BE49-F238E27FC236}">
                <a16:creationId xmlns:a16="http://schemas.microsoft.com/office/drawing/2014/main" id="{84FD8CD7-012B-416E-A14C-109F47002A88}"/>
              </a:ext>
            </a:extLst>
          </p:cNvPr>
          <p:cNvSpPr>
            <a:spLocks noGrp="1"/>
          </p:cNvSpPr>
          <p:nvPr>
            <p:ph type="body" idx="3"/>
          </p:nvPr>
        </p:nvSpPr>
        <p:spPr/>
        <p:txBody>
          <a:bodyPr>
            <a:normAutofit/>
          </a:bodyPr>
          <a:lstStyle/>
          <a:p>
            <a:pPr marL="0" indent="0">
              <a:buNone/>
            </a:pPr>
            <a:r>
              <a:rPr lang="en-US" dirty="0"/>
              <a:t>This module prepares you to do the following:</a:t>
            </a:r>
          </a:p>
          <a:p>
            <a:pPr lvl="1"/>
            <a:r>
              <a:rPr lang="en-US" dirty="0"/>
              <a:t>Identify how caching content can improve application performance and reduce latency.</a:t>
            </a:r>
          </a:p>
          <a:p>
            <a:pPr lvl="1"/>
            <a:r>
              <a:rPr lang="en-US" dirty="0"/>
              <a:t>Identify how to use Amazon CloudFront to deliver content by using edge locations protection.</a:t>
            </a:r>
          </a:p>
          <a:p>
            <a:pPr lvl="1"/>
            <a:r>
              <a:rPr lang="en-US" dirty="0"/>
              <a:t>Create architectures that use CloudFront to cache content.</a:t>
            </a:r>
          </a:p>
          <a:p>
            <a:pPr lvl="1"/>
            <a:r>
              <a:rPr lang="en-US" dirty="0"/>
              <a:t>Describe how to use Amazon ElastiCache for database caching.</a:t>
            </a:r>
          </a:p>
          <a:p>
            <a:pPr lvl="1"/>
            <a:r>
              <a:rPr lang="en-US" dirty="0"/>
              <a:t>Use the AWS Well-Architected Framework principles when designing caching strategies.</a:t>
            </a:r>
          </a:p>
        </p:txBody>
      </p:sp>
    </p:spTree>
    <p:custDataLst>
      <p:tags r:id="rId1"/>
    </p:custDataLst>
    <p:extLst>
      <p:ext uri="{BB962C8B-B14F-4D97-AF65-F5344CB8AC3E}">
        <p14:creationId xmlns:p14="http://schemas.microsoft.com/office/powerpoint/2010/main" val="3772832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A2C7B7C-C229-4646-B006-2BC6AB472627}"/>
              </a:ext>
            </a:extLst>
          </p:cNvPr>
          <p:cNvSpPr>
            <a:spLocks noGrp="1"/>
          </p:cNvSpPr>
          <p:nvPr>
            <p:ph type="sldNum" idx="97"/>
          </p:nvPr>
        </p:nvSpPr>
        <p:spPr/>
        <p:txBody>
          <a:bodyPr/>
          <a:lstStyle/>
          <a:p>
            <a:fld id="{4037B1B0-0345-4E15-985A-6BECCDBE474F}" type="slidenum">
              <a:rPr lang="en-US" smtClean="0"/>
              <a:pPr/>
              <a:t>4</a:t>
            </a:fld>
            <a:endParaRPr lang="en-US" dirty="0"/>
          </a:p>
        </p:txBody>
      </p:sp>
      <p:sp>
        <p:nvSpPr>
          <p:cNvPr id="3" name="Title">
            <a:extLst>
              <a:ext uri="{FF2B5EF4-FFF2-40B4-BE49-F238E27FC236}">
                <a16:creationId xmlns:a16="http://schemas.microsoft.com/office/drawing/2014/main" id="{A45F79CE-079F-4BFD-925E-607AD716FC59}"/>
              </a:ext>
            </a:extLst>
          </p:cNvPr>
          <p:cNvSpPr>
            <a:spLocks noGrp="1"/>
          </p:cNvSpPr>
          <p:nvPr>
            <p:ph type="title" idx="1"/>
          </p:nvPr>
        </p:nvSpPr>
        <p:spPr/>
        <p:txBody>
          <a:bodyPr/>
          <a:lstStyle/>
          <a:p>
            <a:r>
              <a:rPr lang="en-US" dirty="0"/>
              <a:t>Module overview</a:t>
            </a:r>
          </a:p>
        </p:txBody>
      </p:sp>
      <p:sp>
        <p:nvSpPr>
          <p:cNvPr id="4" name="Content Placeholder 3">
            <a:extLst>
              <a:ext uri="{FF2B5EF4-FFF2-40B4-BE49-F238E27FC236}">
                <a16:creationId xmlns:a16="http://schemas.microsoft.com/office/drawing/2014/main" id="{48435877-AC79-4C4D-89E7-4809753FFE97}"/>
              </a:ext>
            </a:extLst>
          </p:cNvPr>
          <p:cNvSpPr>
            <a:spLocks noGrp="1"/>
          </p:cNvSpPr>
          <p:nvPr>
            <p:ph idx="2"/>
          </p:nvPr>
        </p:nvSpPr>
        <p:spPr/>
        <p:txBody>
          <a:bodyPr/>
          <a:lstStyle/>
          <a:p>
            <a:pPr marL="0" indent="0">
              <a:buNone/>
            </a:pPr>
            <a:r>
              <a:rPr lang="en-US" b="1" dirty="0"/>
              <a:t>Presentation sections</a:t>
            </a:r>
          </a:p>
          <a:p>
            <a:pPr lvl="1"/>
            <a:r>
              <a:rPr lang="en-US" dirty="0"/>
              <a:t>Overview of caching</a:t>
            </a:r>
          </a:p>
          <a:p>
            <a:pPr lvl="1"/>
            <a:r>
              <a:rPr lang="en-US" dirty="0"/>
              <a:t>Caching using CloudFront</a:t>
            </a:r>
          </a:p>
          <a:p>
            <a:pPr lvl="1"/>
            <a:r>
              <a:rPr lang="en-US" dirty="0"/>
              <a:t>Caching using </a:t>
            </a:r>
            <a:r>
              <a:rPr lang="en-US" dirty="0" err="1"/>
              <a:t>ElastiCache</a:t>
            </a:r>
            <a:endParaRPr lang="en-US" dirty="0"/>
          </a:p>
          <a:p>
            <a:pPr lvl="1"/>
            <a:r>
              <a:rPr lang="en-US" dirty="0"/>
              <a:t>Applying AWS Well-Architected Framework principles to caching</a:t>
            </a:r>
          </a:p>
        </p:txBody>
      </p:sp>
      <p:sp>
        <p:nvSpPr>
          <p:cNvPr id="5" name="Content Placeholder 4">
            <a:extLst>
              <a:ext uri="{FF2B5EF4-FFF2-40B4-BE49-F238E27FC236}">
                <a16:creationId xmlns:a16="http://schemas.microsoft.com/office/drawing/2014/main" id="{FB137B56-CECC-4152-85FC-5B97BD22297E}"/>
              </a:ext>
            </a:extLst>
          </p:cNvPr>
          <p:cNvSpPr>
            <a:spLocks noGrp="1"/>
          </p:cNvSpPr>
          <p:nvPr>
            <p:ph idx="3"/>
          </p:nvPr>
        </p:nvSpPr>
        <p:spPr/>
        <p:txBody>
          <a:bodyPr/>
          <a:lstStyle/>
          <a:p>
            <a:pPr marL="0" indent="0">
              <a:buNone/>
            </a:pPr>
            <a:r>
              <a:rPr lang="en-US" b="1" dirty="0"/>
              <a:t>Knowledge checks</a:t>
            </a:r>
          </a:p>
          <a:p>
            <a:r>
              <a:rPr lang="en-US" sz="2400" dirty="0"/>
              <a:t>10-question knowledge check</a:t>
            </a:r>
          </a:p>
          <a:p>
            <a:r>
              <a:rPr lang="en-US" sz="2400" dirty="0"/>
              <a:t>Sample exam question</a:t>
            </a:r>
          </a:p>
        </p:txBody>
      </p:sp>
    </p:spTree>
    <p:custDataLst>
      <p:tags r:id="rId1"/>
    </p:custDataLst>
    <p:extLst>
      <p:ext uri="{BB962C8B-B14F-4D97-AF65-F5344CB8AC3E}">
        <p14:creationId xmlns:p14="http://schemas.microsoft.com/office/powerpoint/2010/main" val="36643965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F70A197-8392-4DDE-88B2-77D06180A075}"/>
              </a:ext>
            </a:extLst>
          </p:cNvPr>
          <p:cNvSpPr>
            <a:spLocks noGrp="1"/>
          </p:cNvSpPr>
          <p:nvPr>
            <p:ph type="sldNum" idx="97"/>
          </p:nvPr>
        </p:nvSpPr>
        <p:spPr/>
        <p:txBody>
          <a:bodyPr/>
          <a:lstStyle/>
          <a:p>
            <a:fld id="{4037B1B0-0345-4E15-985A-6BECCDBE474F}" type="slidenum">
              <a:rPr lang="en-US" smtClean="0"/>
              <a:pPr/>
              <a:t>5</a:t>
            </a:fld>
            <a:endParaRPr lang="en-US" dirty="0"/>
          </a:p>
        </p:txBody>
      </p:sp>
      <p:sp>
        <p:nvSpPr>
          <p:cNvPr id="6" name="Title">
            <a:extLst>
              <a:ext uri="{FF2B5EF4-FFF2-40B4-BE49-F238E27FC236}">
                <a16:creationId xmlns:a16="http://schemas.microsoft.com/office/drawing/2014/main" id="{90CC3778-96E3-4EC3-BE81-4D608D4087F5}"/>
              </a:ext>
            </a:extLst>
          </p:cNvPr>
          <p:cNvSpPr>
            <a:spLocks noGrp="1"/>
          </p:cNvSpPr>
          <p:nvPr>
            <p:ph type="title" idx="1"/>
          </p:nvPr>
        </p:nvSpPr>
        <p:spPr/>
        <p:txBody>
          <a:bodyPr/>
          <a:lstStyle/>
          <a:p>
            <a:r>
              <a:rPr lang="en-US" dirty="0"/>
              <a:t>Hands-on labs in this module</a:t>
            </a:r>
          </a:p>
        </p:txBody>
      </p:sp>
      <p:sp>
        <p:nvSpPr>
          <p:cNvPr id="12" name="Text Placeholder 11">
            <a:extLst>
              <a:ext uri="{FF2B5EF4-FFF2-40B4-BE49-F238E27FC236}">
                <a16:creationId xmlns:a16="http://schemas.microsoft.com/office/drawing/2014/main" id="{A25F78B1-410C-48E6-8A99-A0F211791A1E}"/>
              </a:ext>
            </a:extLst>
          </p:cNvPr>
          <p:cNvSpPr>
            <a:spLocks noGrp="1"/>
          </p:cNvSpPr>
          <p:nvPr>
            <p:ph type="body" idx="12"/>
          </p:nvPr>
        </p:nvSpPr>
        <p:spPr/>
        <p:txBody>
          <a:bodyPr/>
          <a:lstStyle/>
          <a:p>
            <a:r>
              <a:rPr lang="en-US" sz="2800" dirty="0"/>
              <a:t>Guided lab</a:t>
            </a:r>
          </a:p>
        </p:txBody>
      </p:sp>
      <p:sp>
        <p:nvSpPr>
          <p:cNvPr id="10" name="Content Placeholder 9">
            <a:extLst>
              <a:ext uri="{FF2B5EF4-FFF2-40B4-BE49-F238E27FC236}">
                <a16:creationId xmlns:a16="http://schemas.microsoft.com/office/drawing/2014/main" id="{74060872-8898-43D2-AF91-E39B8884A84F}"/>
              </a:ext>
            </a:extLst>
          </p:cNvPr>
          <p:cNvSpPr>
            <a:spLocks noGrp="1"/>
          </p:cNvSpPr>
          <p:nvPr>
            <p:ph idx="2"/>
          </p:nvPr>
        </p:nvSpPr>
        <p:spPr>
          <a:xfrm>
            <a:off x="365759" y="1563624"/>
            <a:ext cx="11225411" cy="4873752"/>
          </a:xfrm>
          <a:solidFill>
            <a:schemeClr val="bg1"/>
          </a:solidFill>
        </p:spPr>
        <p:txBody>
          <a:bodyPr/>
          <a:lstStyle/>
          <a:p>
            <a:r>
              <a:rPr lang="en-US" dirty="0"/>
              <a:t>Streaming Dynamic Content Using Amazon CloudFront</a:t>
            </a:r>
          </a:p>
          <a:p>
            <a:endParaRPr lang="en-US" dirty="0"/>
          </a:p>
          <a:p>
            <a:pPr marL="0" indent="0">
              <a:buNone/>
            </a:pPr>
            <a:endParaRPr lang="en-US" dirty="0"/>
          </a:p>
        </p:txBody>
      </p:sp>
    </p:spTree>
    <p:custDataLst>
      <p:tags r:id="rId1"/>
    </p:custDataLst>
    <p:extLst>
      <p:ext uri="{BB962C8B-B14F-4D97-AF65-F5344CB8AC3E}">
        <p14:creationId xmlns:p14="http://schemas.microsoft.com/office/powerpoint/2010/main" val="24073137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57643F9-AF74-4A3C-A8B5-8A6841AD99CB}"/>
              </a:ext>
            </a:extLst>
          </p:cNvPr>
          <p:cNvSpPr>
            <a:spLocks noGrp="1"/>
          </p:cNvSpPr>
          <p:nvPr>
            <p:ph type="sldNum" idx="97"/>
          </p:nvPr>
        </p:nvSpPr>
        <p:spPr/>
        <p:txBody>
          <a:bodyPr/>
          <a:lstStyle/>
          <a:p>
            <a:fld id="{930176A1-BCF0-4712-97A6-6B495F55390B}" type="slidenum">
              <a:rPr lang="en-US" smtClean="0"/>
              <a:pPr/>
              <a:t>6</a:t>
            </a:fld>
            <a:endParaRPr lang="en-US" dirty="0"/>
          </a:p>
        </p:txBody>
      </p:sp>
      <p:sp>
        <p:nvSpPr>
          <p:cNvPr id="3" name="Title">
            <a:extLst>
              <a:ext uri="{FF2B5EF4-FFF2-40B4-BE49-F238E27FC236}">
                <a16:creationId xmlns:a16="http://schemas.microsoft.com/office/drawing/2014/main" id="{452E88D9-9979-49F6-B3DA-BAE1DD36FE32}"/>
              </a:ext>
            </a:extLst>
          </p:cNvPr>
          <p:cNvSpPr>
            <a:spLocks noGrp="1"/>
          </p:cNvSpPr>
          <p:nvPr>
            <p:ph type="title" idx="1"/>
          </p:nvPr>
        </p:nvSpPr>
        <p:spPr>
          <a:xfrm>
            <a:off x="243242" y="292099"/>
            <a:ext cx="4062057" cy="1981869"/>
          </a:xfrm>
        </p:spPr>
        <p:txBody>
          <a:bodyPr>
            <a:normAutofit fontScale="90000"/>
          </a:bodyPr>
          <a:lstStyle/>
          <a:p>
            <a:r>
              <a:rPr lang="en-US" dirty="0"/>
              <a:t>As a cloud architect designing content caching:</a:t>
            </a:r>
          </a:p>
        </p:txBody>
      </p:sp>
      <p:sp>
        <p:nvSpPr>
          <p:cNvPr id="6" name="Text Placeholder 5">
            <a:extLst>
              <a:ext uri="{FF2B5EF4-FFF2-40B4-BE49-F238E27FC236}">
                <a16:creationId xmlns:a16="http://schemas.microsoft.com/office/drawing/2014/main" id="{717FCDCA-B380-4417-A52A-4C52217B205F}"/>
              </a:ext>
            </a:extLst>
          </p:cNvPr>
          <p:cNvSpPr>
            <a:spLocks noGrp="1"/>
          </p:cNvSpPr>
          <p:nvPr>
            <p:ph type="body" idx="3"/>
          </p:nvPr>
        </p:nvSpPr>
        <p:spPr>
          <a:xfrm>
            <a:off x="4592635" y="292099"/>
            <a:ext cx="7239701" cy="6142651"/>
          </a:xfrm>
        </p:spPr>
        <p:txBody>
          <a:bodyPr/>
          <a:lstStyle/>
          <a:p>
            <a:r>
              <a:rPr lang="en-US" dirty="0"/>
              <a:t>I need to determine when and how to provide a faster way for my customers to access content so that I can balance performance, cost, and data freshness to meet evolving business requirements. </a:t>
            </a:r>
          </a:p>
          <a:p>
            <a:r>
              <a:rPr lang="en-US" dirty="0"/>
              <a:t>I need to incorporate a content delivery network (CDN) service in my architecture designs so that I can distribute static content securely and efficiently.</a:t>
            </a:r>
          </a:p>
          <a:p>
            <a:r>
              <a:rPr lang="en-US" dirty="0"/>
              <a:t>I need to select an in-memory caching strategy so that I can reduce network latency and offload database pressure. </a:t>
            </a:r>
          </a:p>
          <a:p>
            <a:endParaRPr lang="en-US" dirty="0"/>
          </a:p>
          <a:p>
            <a:endParaRPr lang="en-US" dirty="0"/>
          </a:p>
          <a:p>
            <a:pPr lvl="1"/>
            <a:endParaRPr lang="en-US" dirty="0"/>
          </a:p>
        </p:txBody>
      </p:sp>
      <p:pic>
        <p:nvPicPr>
          <p:cNvPr id="9" name="Picture 8" descr="Illustration of cloud architect.">
            <a:extLst>
              <a:ext uri="{FF2B5EF4-FFF2-40B4-BE49-F238E27FC236}">
                <a16:creationId xmlns:a16="http://schemas.microsoft.com/office/drawing/2014/main" id="{9D5228ED-D20E-4948-9126-DB29262A6F2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38814" y="2434960"/>
            <a:ext cx="2476541" cy="3641432"/>
          </a:xfrm>
          <a:prstGeom prst="rect">
            <a:avLst/>
          </a:prstGeom>
        </p:spPr>
      </p:pic>
    </p:spTree>
    <p:custDataLst>
      <p:tags r:id="rId1"/>
    </p:custDataLst>
    <p:extLst>
      <p:ext uri="{BB962C8B-B14F-4D97-AF65-F5344CB8AC3E}">
        <p14:creationId xmlns:p14="http://schemas.microsoft.com/office/powerpoint/2010/main" val="525353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A542E85F-89AA-4CF8-81DD-B47083528F54}"/>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5" name="Title">
            <a:extLst>
              <a:ext uri="{FF2B5EF4-FFF2-40B4-BE49-F238E27FC236}">
                <a16:creationId xmlns:a16="http://schemas.microsoft.com/office/drawing/2014/main" id="{7421A085-7841-4A79-873C-DC2174EB8422}"/>
              </a:ext>
            </a:extLst>
          </p:cNvPr>
          <p:cNvSpPr>
            <a:spLocks noGrp="1"/>
          </p:cNvSpPr>
          <p:nvPr>
            <p:ph type="title" idx="1"/>
          </p:nvPr>
        </p:nvSpPr>
        <p:spPr/>
        <p:txBody>
          <a:bodyPr/>
          <a:lstStyle/>
          <a:p>
            <a:r>
              <a:rPr lang="en-US" dirty="0"/>
              <a:t>Overview of caching</a:t>
            </a:r>
          </a:p>
        </p:txBody>
      </p:sp>
      <p:sp>
        <p:nvSpPr>
          <p:cNvPr id="6" name="Subtitle 5">
            <a:extLst>
              <a:ext uri="{FF2B5EF4-FFF2-40B4-BE49-F238E27FC236}">
                <a16:creationId xmlns:a16="http://schemas.microsoft.com/office/drawing/2014/main" id="{EDD260CC-B2D2-4009-876B-1B98CE0DE56A}"/>
              </a:ext>
            </a:extLst>
          </p:cNvPr>
          <p:cNvSpPr>
            <a:spLocks noGrp="1"/>
          </p:cNvSpPr>
          <p:nvPr>
            <p:ph type="subTitle" idx="2"/>
          </p:nvPr>
        </p:nvSpPr>
        <p:spPr/>
        <p:txBody>
          <a:bodyPr/>
          <a:lstStyle/>
          <a:p>
            <a:r>
              <a:rPr lang="en-US" dirty="0"/>
              <a:t>Caching Content </a:t>
            </a:r>
          </a:p>
        </p:txBody>
      </p:sp>
    </p:spTree>
    <p:custDataLst>
      <p:tags r:id="rId1"/>
    </p:custDataLst>
    <p:extLst>
      <p:ext uri="{BB962C8B-B14F-4D97-AF65-F5344CB8AC3E}">
        <p14:creationId xmlns:p14="http://schemas.microsoft.com/office/powerpoint/2010/main" val="3565994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6F0351F-2083-4482-B45A-10C378B53098}"/>
              </a:ext>
            </a:extLst>
          </p:cNvPr>
          <p:cNvSpPr>
            <a:spLocks noGrp="1"/>
          </p:cNvSpPr>
          <p:nvPr>
            <p:ph type="sldNum" idx="97"/>
          </p:nvPr>
        </p:nvSpPr>
        <p:spPr/>
        <p:txBody>
          <a:bodyPr/>
          <a:lstStyle/>
          <a:p>
            <a:fld id="{4037B1B0-0345-4E15-985A-6BECCDBE474F}" type="slidenum">
              <a:rPr lang="en-US" smtClean="0"/>
              <a:pPr/>
              <a:t>8</a:t>
            </a:fld>
            <a:endParaRPr lang="en-US" dirty="0"/>
          </a:p>
        </p:txBody>
      </p:sp>
      <p:sp>
        <p:nvSpPr>
          <p:cNvPr id="3" name="Title">
            <a:extLst>
              <a:ext uri="{FF2B5EF4-FFF2-40B4-BE49-F238E27FC236}">
                <a16:creationId xmlns:a16="http://schemas.microsoft.com/office/drawing/2014/main" id="{18ABCEA4-6C0E-40D1-8469-6489E13C9E02}"/>
              </a:ext>
            </a:extLst>
          </p:cNvPr>
          <p:cNvSpPr>
            <a:spLocks noGrp="1"/>
          </p:cNvSpPr>
          <p:nvPr>
            <p:ph type="title" idx="1"/>
          </p:nvPr>
        </p:nvSpPr>
        <p:spPr/>
        <p:txBody>
          <a:bodyPr/>
          <a:lstStyle/>
          <a:p>
            <a:r>
              <a:rPr lang="en-US" dirty="0"/>
              <a:t>Why cache content?</a:t>
            </a:r>
          </a:p>
        </p:txBody>
      </p:sp>
      <p:sp>
        <p:nvSpPr>
          <p:cNvPr id="4" name="Text Placeholder 3">
            <a:extLst>
              <a:ext uri="{FF2B5EF4-FFF2-40B4-BE49-F238E27FC236}">
                <a16:creationId xmlns:a16="http://schemas.microsoft.com/office/drawing/2014/main" id="{E09BDBBB-00C8-47A4-9F43-C294B8CF2F43}"/>
              </a:ext>
            </a:extLst>
          </p:cNvPr>
          <p:cNvSpPr>
            <a:spLocks noGrp="1"/>
          </p:cNvSpPr>
          <p:nvPr>
            <p:ph type="body" idx="2"/>
          </p:nvPr>
        </p:nvSpPr>
        <p:spPr>
          <a:xfrm>
            <a:off x="365125" y="1194955"/>
            <a:ext cx="11466576" cy="982847"/>
          </a:xfrm>
        </p:spPr>
        <p:txBody>
          <a:bodyPr>
            <a:normAutofit/>
          </a:bodyPr>
          <a:lstStyle/>
          <a:p>
            <a:r>
              <a:rPr lang="en-US" dirty="0">
                <a:latin typeface="Amazon Ember display"/>
              </a:rPr>
              <a:t>A cache is a high-speed data storage layer that stores a subset of data so that future requests for that data are served up faster.</a:t>
            </a:r>
          </a:p>
        </p:txBody>
      </p:sp>
      <p:sp>
        <p:nvSpPr>
          <p:cNvPr id="6" name="Text Placeholder 5">
            <a:extLst>
              <a:ext uri="{FF2B5EF4-FFF2-40B4-BE49-F238E27FC236}">
                <a16:creationId xmlns:a16="http://schemas.microsoft.com/office/drawing/2014/main" id="{13EF13B6-A0D1-4658-84AC-C9B724A08F52}"/>
              </a:ext>
            </a:extLst>
          </p:cNvPr>
          <p:cNvSpPr>
            <a:spLocks noGrp="1"/>
          </p:cNvSpPr>
          <p:nvPr>
            <p:ph type="body" idx="3"/>
          </p:nvPr>
        </p:nvSpPr>
        <p:spPr>
          <a:xfrm>
            <a:off x="138506" y="3576975"/>
            <a:ext cx="3749040" cy="2633055"/>
          </a:xfrm>
        </p:spPr>
        <p:txBody>
          <a:bodyPr/>
          <a:lstStyle/>
          <a:p>
            <a:r>
              <a:rPr lang="en-US" sz="2800" dirty="0"/>
              <a:t>Store regularly accessed data in a more optimized way.</a:t>
            </a:r>
          </a:p>
          <a:p>
            <a:endParaRPr lang="en-US" sz="2000" dirty="0"/>
          </a:p>
        </p:txBody>
      </p:sp>
      <p:sp>
        <p:nvSpPr>
          <p:cNvPr id="8" name="Text Placeholder 7">
            <a:extLst>
              <a:ext uri="{FF2B5EF4-FFF2-40B4-BE49-F238E27FC236}">
                <a16:creationId xmlns:a16="http://schemas.microsoft.com/office/drawing/2014/main" id="{A0AF351E-3728-4BE3-9765-5C35D3B0582B}"/>
              </a:ext>
            </a:extLst>
          </p:cNvPr>
          <p:cNvSpPr>
            <a:spLocks noGrp="1"/>
          </p:cNvSpPr>
          <p:nvPr>
            <p:ph type="body" idx="4"/>
          </p:nvPr>
        </p:nvSpPr>
        <p:spPr>
          <a:xfrm>
            <a:off x="4129297" y="3576975"/>
            <a:ext cx="3749040" cy="2633055"/>
          </a:xfrm>
        </p:spPr>
        <p:txBody>
          <a:bodyPr/>
          <a:lstStyle/>
          <a:p>
            <a:r>
              <a:rPr lang="en-US" sz="2800" dirty="0"/>
              <a:t>Increase data retrieval performance.</a:t>
            </a:r>
          </a:p>
          <a:p>
            <a:endParaRPr lang="en-US" sz="2000" dirty="0"/>
          </a:p>
        </p:txBody>
      </p:sp>
      <p:sp>
        <p:nvSpPr>
          <p:cNvPr id="10" name="Text Placeholder 9">
            <a:extLst>
              <a:ext uri="{FF2B5EF4-FFF2-40B4-BE49-F238E27FC236}">
                <a16:creationId xmlns:a16="http://schemas.microsoft.com/office/drawing/2014/main" id="{67FDA154-0D96-4F1A-BB46-C8E7B40D760E}"/>
              </a:ext>
            </a:extLst>
          </p:cNvPr>
          <p:cNvSpPr>
            <a:spLocks noGrp="1"/>
          </p:cNvSpPr>
          <p:nvPr>
            <p:ph type="body" idx="5"/>
          </p:nvPr>
        </p:nvSpPr>
        <p:spPr>
          <a:xfrm>
            <a:off x="8082661" y="3576975"/>
            <a:ext cx="3749040" cy="2633055"/>
          </a:xfrm>
        </p:spPr>
        <p:txBody>
          <a:bodyPr/>
          <a:lstStyle/>
          <a:p>
            <a:r>
              <a:rPr lang="en-US" sz="2800" dirty="0"/>
              <a:t>Reduce the need to access the underlying slower storage layer.</a:t>
            </a:r>
          </a:p>
          <a:p>
            <a:endParaRPr lang="en-US" sz="2000" dirty="0"/>
          </a:p>
        </p:txBody>
      </p:sp>
      <p:pic>
        <p:nvPicPr>
          <p:cNvPr id="14" name="Graphic 13">
            <a:extLst>
              <a:ext uri="{FF2B5EF4-FFF2-40B4-BE49-F238E27FC236}">
                <a16:creationId xmlns:a16="http://schemas.microsoft.com/office/drawing/2014/main" id="{6197C526-ACCC-498F-BAE8-86EB929F24E4}"/>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46276" y="2432243"/>
            <a:ext cx="1333501" cy="1333501"/>
          </a:xfrm>
          <a:prstGeom prst="rect">
            <a:avLst/>
          </a:prstGeom>
        </p:spPr>
      </p:pic>
      <p:pic>
        <p:nvPicPr>
          <p:cNvPr id="15" name="Graphic 14">
            <a:extLst>
              <a:ext uri="{FF2B5EF4-FFF2-40B4-BE49-F238E27FC236}">
                <a16:creationId xmlns:a16="http://schemas.microsoft.com/office/drawing/2014/main" id="{5F26120D-A1D8-44F0-AF14-A68A3C2D23DB}"/>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36052" y="2432243"/>
            <a:ext cx="1333501" cy="1333501"/>
          </a:xfrm>
          <a:prstGeom prst="rect">
            <a:avLst/>
          </a:prstGeom>
        </p:spPr>
      </p:pic>
      <p:grpSp>
        <p:nvGrpSpPr>
          <p:cNvPr id="23" name="Group 22">
            <a:extLst>
              <a:ext uri="{FF2B5EF4-FFF2-40B4-BE49-F238E27FC236}">
                <a16:creationId xmlns:a16="http://schemas.microsoft.com/office/drawing/2014/main" id="{C3AD8C8B-9169-4CA5-A07C-891E52F0DA23}"/>
              </a:ext>
              <a:ext uri="{C183D7F6-B498-43B3-948B-1728B52AA6E4}">
                <adec:decorative xmlns:adec="http://schemas.microsoft.com/office/drawing/2017/decorative" val="1"/>
              </a:ext>
            </a:extLst>
          </p:cNvPr>
          <p:cNvGrpSpPr/>
          <p:nvPr/>
        </p:nvGrpSpPr>
        <p:grpSpPr>
          <a:xfrm>
            <a:off x="5349822" y="2432243"/>
            <a:ext cx="1333501" cy="1333501"/>
            <a:chOff x="5444418" y="2377785"/>
            <a:chExt cx="1333501" cy="1333501"/>
          </a:xfrm>
        </p:grpSpPr>
        <p:grpSp>
          <p:nvGrpSpPr>
            <p:cNvPr id="22" name="Group 21">
              <a:extLst>
                <a:ext uri="{FF2B5EF4-FFF2-40B4-BE49-F238E27FC236}">
                  <a16:creationId xmlns:a16="http://schemas.microsoft.com/office/drawing/2014/main" id="{A9D2559E-83F3-4A0E-8198-8732AEEA35A7}"/>
                </a:ext>
              </a:extLst>
            </p:cNvPr>
            <p:cNvGrpSpPr/>
            <p:nvPr/>
          </p:nvGrpSpPr>
          <p:grpSpPr>
            <a:xfrm>
              <a:off x="5444418" y="2377785"/>
              <a:ext cx="1333501" cy="1333501"/>
              <a:chOff x="5444418" y="2377785"/>
              <a:chExt cx="1333501" cy="1333501"/>
            </a:xfrm>
          </p:grpSpPr>
          <p:pic>
            <p:nvPicPr>
              <p:cNvPr id="12" name="Graphic 11">
                <a:extLst>
                  <a:ext uri="{FF2B5EF4-FFF2-40B4-BE49-F238E27FC236}">
                    <a16:creationId xmlns:a16="http://schemas.microsoft.com/office/drawing/2014/main" id="{2822CA53-2242-4C8B-BE50-36B801F4549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44418" y="2377785"/>
                <a:ext cx="1333501" cy="1333501"/>
              </a:xfrm>
              <a:prstGeom prst="rect">
                <a:avLst/>
              </a:prstGeom>
            </p:spPr>
          </p:pic>
          <p:sp>
            <p:nvSpPr>
              <p:cNvPr id="17" name="Oval 16">
                <a:extLst>
                  <a:ext uri="{FF2B5EF4-FFF2-40B4-BE49-F238E27FC236}">
                    <a16:creationId xmlns:a16="http://schemas.microsoft.com/office/drawing/2014/main" id="{232155CE-FCC3-448C-A772-21365560A34A}"/>
                  </a:ext>
                </a:extLst>
              </p:cNvPr>
              <p:cNvSpPr/>
              <p:nvPr/>
            </p:nvSpPr>
            <p:spPr>
              <a:xfrm>
                <a:off x="5794245" y="2722417"/>
                <a:ext cx="633846" cy="64423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6" name="Graphic 15">
              <a:extLst>
                <a:ext uri="{FF2B5EF4-FFF2-40B4-BE49-F238E27FC236}">
                  <a16:creationId xmlns:a16="http://schemas.microsoft.com/office/drawing/2014/main" id="{750DCC62-EA4E-4538-81DF-24E12A1D5DC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7293" t="22857" r="25175" b="28831"/>
            <a:stretch/>
          </p:blipFill>
          <p:spPr>
            <a:xfrm flipV="1">
              <a:off x="5794245" y="2722416"/>
              <a:ext cx="633846" cy="644236"/>
            </a:xfrm>
            <a:prstGeom prst="ellipse">
              <a:avLst/>
            </a:prstGeom>
          </p:spPr>
        </p:pic>
      </p:grpSp>
    </p:spTree>
    <p:custDataLst>
      <p:tags r:id="rId1"/>
    </p:custDataLst>
    <p:extLst>
      <p:ext uri="{BB962C8B-B14F-4D97-AF65-F5344CB8AC3E}">
        <p14:creationId xmlns:p14="http://schemas.microsoft.com/office/powerpoint/2010/main" val="3140090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08AA04A-47C2-42E7-9C1A-5D48660AB15D}"/>
              </a:ext>
            </a:extLst>
          </p:cNvPr>
          <p:cNvSpPr>
            <a:spLocks noGrp="1"/>
          </p:cNvSpPr>
          <p:nvPr>
            <p:ph type="sldNum" idx="97"/>
          </p:nvPr>
        </p:nvSpPr>
        <p:spPr/>
        <p:txBody>
          <a:bodyPr/>
          <a:lstStyle/>
          <a:p>
            <a:fld id="{4037B1B0-0345-4E15-985A-6BECCDBE474F}" type="slidenum">
              <a:rPr lang="en-US" smtClean="0"/>
              <a:pPr/>
              <a:t>9</a:t>
            </a:fld>
            <a:endParaRPr lang="en-US" dirty="0"/>
          </a:p>
        </p:txBody>
      </p:sp>
      <p:sp>
        <p:nvSpPr>
          <p:cNvPr id="3" name="Title">
            <a:extLst>
              <a:ext uri="{FF2B5EF4-FFF2-40B4-BE49-F238E27FC236}">
                <a16:creationId xmlns:a16="http://schemas.microsoft.com/office/drawing/2014/main" id="{F6381705-D563-472B-BDB3-986702ABC691}"/>
              </a:ext>
            </a:extLst>
          </p:cNvPr>
          <p:cNvSpPr>
            <a:spLocks noGrp="1"/>
          </p:cNvSpPr>
          <p:nvPr>
            <p:ph type="title" idx="1"/>
          </p:nvPr>
        </p:nvSpPr>
        <p:spPr/>
        <p:txBody>
          <a:bodyPr/>
          <a:lstStyle/>
          <a:p>
            <a:r>
              <a:rPr lang="en-US" dirty="0"/>
              <a:t>Caching analogy</a:t>
            </a:r>
          </a:p>
        </p:txBody>
      </p:sp>
      <p:grpSp>
        <p:nvGrpSpPr>
          <p:cNvPr id="15" name="Flatten ToolShedFigure" descr="The two-way arrows between a house and tool shed show the travel time is 2 minutes, significantly less than the duration for the hardware store route.">
            <a:extLst>
              <a:ext uri="{FF2B5EF4-FFF2-40B4-BE49-F238E27FC236}">
                <a16:creationId xmlns:a16="http://schemas.microsoft.com/office/drawing/2014/main" id="{CAF0D354-E307-4245-859E-E10DB8F936B1}"/>
              </a:ext>
            </a:extLst>
          </p:cNvPr>
          <p:cNvGrpSpPr/>
          <p:nvPr/>
        </p:nvGrpSpPr>
        <p:grpSpPr>
          <a:xfrm>
            <a:off x="1050619" y="3837451"/>
            <a:ext cx="9476729" cy="1939580"/>
            <a:chOff x="1050619" y="3837451"/>
            <a:chExt cx="9476729" cy="1939580"/>
          </a:xfrm>
        </p:grpSpPr>
        <p:grpSp>
          <p:nvGrpSpPr>
            <p:cNvPr id="6" name="Group 5">
              <a:extLst>
                <a:ext uri="{FF2B5EF4-FFF2-40B4-BE49-F238E27FC236}">
                  <a16:creationId xmlns:a16="http://schemas.microsoft.com/office/drawing/2014/main" id="{F8F9C365-FDAB-405B-8777-44468550BC32}"/>
                </a:ext>
              </a:extLst>
            </p:cNvPr>
            <p:cNvGrpSpPr/>
            <p:nvPr/>
          </p:nvGrpSpPr>
          <p:grpSpPr>
            <a:xfrm>
              <a:off x="1050619" y="3837451"/>
              <a:ext cx="4452985" cy="1939580"/>
              <a:chOff x="1050619" y="3837451"/>
              <a:chExt cx="4452985" cy="1939580"/>
            </a:xfrm>
          </p:grpSpPr>
          <p:grpSp>
            <p:nvGrpSpPr>
              <p:cNvPr id="12" name="tool shed" descr="The two-way arrows between a house and tool shed show the travel time is two minutes long, significantly less than the duration hardware store route.">
                <a:extLst>
                  <a:ext uri="{FF2B5EF4-FFF2-40B4-BE49-F238E27FC236}">
                    <a16:creationId xmlns:a16="http://schemas.microsoft.com/office/drawing/2014/main" id="{265AC0EC-FD90-4CA8-9CB2-9A08A2B63FBF}"/>
                  </a:ext>
                </a:extLst>
              </p:cNvPr>
              <p:cNvGrpSpPr/>
              <p:nvPr/>
            </p:nvGrpSpPr>
            <p:grpSpPr>
              <a:xfrm>
                <a:off x="1050619" y="3837451"/>
                <a:ext cx="4452985" cy="1939580"/>
                <a:chOff x="901623" y="2928458"/>
                <a:chExt cx="4452985" cy="1939580"/>
              </a:xfrm>
            </p:grpSpPr>
            <p:sp>
              <p:nvSpPr>
                <p:cNvPr id="13" name="TextBox 12">
                  <a:extLst>
                    <a:ext uri="{FF2B5EF4-FFF2-40B4-BE49-F238E27FC236}">
                      <a16:creationId xmlns:a16="http://schemas.microsoft.com/office/drawing/2014/main" id="{00D5269B-A334-4B4B-BB64-1A4A6E499A3F}"/>
                    </a:ext>
                  </a:extLst>
                </p:cNvPr>
                <p:cNvSpPr txBox="1"/>
                <p:nvPr/>
              </p:nvSpPr>
              <p:spPr>
                <a:xfrm>
                  <a:off x="980657" y="4406373"/>
                  <a:ext cx="1809788" cy="461665"/>
                </a:xfrm>
                <a:prstGeom prst="rect">
                  <a:avLst/>
                </a:prstGeom>
                <a:noFill/>
              </p:spPr>
              <p:txBody>
                <a:bodyPr wrap="square" rtlCol="0">
                  <a:spAutoFit/>
                </a:bodyPr>
                <a:lstStyle/>
                <a:p>
                  <a:pPr algn="ctr"/>
                  <a:r>
                    <a:rPr lang="en-US" sz="2400" dirty="0">
                      <a:solidFill>
                        <a:srgbClr val="232F3E"/>
                      </a:solidFill>
                      <a:latin typeface="Amazon Ember display"/>
                    </a:rPr>
                    <a:t>Your house</a:t>
                  </a:r>
                </a:p>
              </p:txBody>
            </p:sp>
            <p:grpSp>
              <p:nvGrpSpPr>
                <p:cNvPr id="16" name="Group 15">
                  <a:extLst>
                    <a:ext uri="{FF2B5EF4-FFF2-40B4-BE49-F238E27FC236}">
                      <a16:creationId xmlns:a16="http://schemas.microsoft.com/office/drawing/2014/main" id="{E3269C51-B1CD-4B89-B322-9F453A4C6AF1}"/>
                    </a:ext>
                  </a:extLst>
                </p:cNvPr>
                <p:cNvGrpSpPr/>
                <p:nvPr/>
              </p:nvGrpSpPr>
              <p:grpSpPr>
                <a:xfrm>
                  <a:off x="901623" y="2928458"/>
                  <a:ext cx="4064153" cy="1452240"/>
                  <a:chOff x="901623" y="2928458"/>
                  <a:chExt cx="4064153" cy="1452240"/>
                </a:xfrm>
              </p:grpSpPr>
              <p:pic>
                <p:nvPicPr>
                  <p:cNvPr id="18" name="Picture 17">
                    <a:extLst>
                      <a:ext uri="{FF2B5EF4-FFF2-40B4-BE49-F238E27FC236}">
                        <a16:creationId xmlns:a16="http://schemas.microsoft.com/office/drawing/2014/main" id="{30979DBA-A946-413E-8DE6-CB3770A7F399}"/>
                      </a:ext>
                      <a:ext uri="{C183D7F6-B498-43B3-948B-1728B52AA6E4}">
                        <adec:decorative xmlns:adec="http://schemas.microsoft.com/office/drawing/2017/decorative" val="1"/>
                      </a:ext>
                    </a:extLst>
                  </p:cNvPr>
                  <p:cNvPicPr>
                    <a:picLocks noChangeAspect="1"/>
                  </p:cNvPicPr>
                  <p:nvPr/>
                </p:nvPicPr>
                <p:blipFill rotWithShape="1">
                  <a:blip r:embed="rId4"/>
                  <a:srcRect t="11964" b="14237"/>
                  <a:stretch/>
                </p:blipFill>
                <p:spPr>
                  <a:xfrm>
                    <a:off x="901623" y="2928458"/>
                    <a:ext cx="1967856" cy="1452240"/>
                  </a:xfrm>
                  <a:prstGeom prst="rect">
                    <a:avLst/>
                  </a:prstGeom>
                  <a:noFill/>
                </p:spPr>
              </p:pic>
              <p:grpSp>
                <p:nvGrpSpPr>
                  <p:cNvPr id="21" name="Group 20">
                    <a:extLst>
                      <a:ext uri="{FF2B5EF4-FFF2-40B4-BE49-F238E27FC236}">
                        <a16:creationId xmlns:a16="http://schemas.microsoft.com/office/drawing/2014/main" id="{865D8454-B503-4668-B3C7-BDB6C586660C}"/>
                      </a:ext>
                    </a:extLst>
                  </p:cNvPr>
                  <p:cNvGrpSpPr/>
                  <p:nvPr/>
                </p:nvGrpSpPr>
                <p:grpSpPr>
                  <a:xfrm>
                    <a:off x="4024590" y="3411332"/>
                    <a:ext cx="941186" cy="729606"/>
                    <a:chOff x="3896861" y="4648125"/>
                    <a:chExt cx="941186" cy="729606"/>
                  </a:xfrm>
                </p:grpSpPr>
                <p:grpSp>
                  <p:nvGrpSpPr>
                    <p:cNvPr id="22" name="Group 21">
                      <a:extLst>
                        <a:ext uri="{FF2B5EF4-FFF2-40B4-BE49-F238E27FC236}">
                          <a16:creationId xmlns:a16="http://schemas.microsoft.com/office/drawing/2014/main" id="{226D84C4-20DA-4AB2-B33E-1F683FD579A3}"/>
                        </a:ext>
                      </a:extLst>
                    </p:cNvPr>
                    <p:cNvGrpSpPr/>
                    <p:nvPr/>
                  </p:nvGrpSpPr>
                  <p:grpSpPr>
                    <a:xfrm>
                      <a:off x="3896861" y="4648125"/>
                      <a:ext cx="941186" cy="729606"/>
                      <a:chOff x="4909008" y="5162287"/>
                      <a:chExt cx="941186" cy="729606"/>
                    </a:xfrm>
                  </p:grpSpPr>
                  <p:sp>
                    <p:nvSpPr>
                      <p:cNvPr id="24" name="Rectangle 23">
                        <a:extLst>
                          <a:ext uri="{FF2B5EF4-FFF2-40B4-BE49-F238E27FC236}">
                            <a16:creationId xmlns:a16="http://schemas.microsoft.com/office/drawing/2014/main" id="{016CA60A-1B58-4900-8A2E-D99E28F20BE2}"/>
                          </a:ext>
                          <a:ext uri="{C183D7F6-B498-43B3-948B-1728B52AA6E4}">
                            <adec:decorative xmlns:adec="http://schemas.microsoft.com/office/drawing/2017/decorative" val="1"/>
                          </a:ext>
                        </a:extLst>
                      </p:cNvPr>
                      <p:cNvSpPr/>
                      <p:nvPr/>
                    </p:nvSpPr>
                    <p:spPr>
                      <a:xfrm>
                        <a:off x="5026969" y="5243059"/>
                        <a:ext cx="707651" cy="584387"/>
                      </a:xfrm>
                      <a:prstGeom prst="rect">
                        <a:avLst/>
                      </a:prstGeom>
                      <a:solidFill>
                        <a:schemeClr val="bg1">
                          <a:lumMod val="95000"/>
                        </a:schemeClr>
                      </a:solid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rapezoid 24">
                        <a:extLst>
                          <a:ext uri="{FF2B5EF4-FFF2-40B4-BE49-F238E27FC236}">
                            <a16:creationId xmlns:a16="http://schemas.microsoft.com/office/drawing/2014/main" id="{DCCD4D85-B420-4ACE-BDCB-5E1B6BF12FC1}"/>
                          </a:ext>
                          <a:ext uri="{C183D7F6-B498-43B3-948B-1728B52AA6E4}">
                            <adec:decorative xmlns:adec="http://schemas.microsoft.com/office/drawing/2017/decorative" val="1"/>
                          </a:ext>
                        </a:extLst>
                      </p:cNvPr>
                      <p:cNvSpPr/>
                      <p:nvPr/>
                    </p:nvSpPr>
                    <p:spPr>
                      <a:xfrm>
                        <a:off x="4909008" y="5162287"/>
                        <a:ext cx="941186" cy="178981"/>
                      </a:xfrm>
                      <a:prstGeom prst="trapezoid">
                        <a:avLst/>
                      </a:prstGeom>
                      <a:solidFill>
                        <a:schemeClr val="bg1">
                          <a:lumMod val="65000"/>
                        </a:schemeClr>
                      </a:solidFill>
                      <a:ln w="254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7F12614-D2D9-49C7-ACE0-4BE70786D767}"/>
                          </a:ext>
                        </a:extLst>
                      </p:cNvPr>
                      <p:cNvSpPr/>
                      <p:nvPr/>
                    </p:nvSpPr>
                    <p:spPr>
                      <a:xfrm>
                        <a:off x="5232715" y="5405716"/>
                        <a:ext cx="296160" cy="486177"/>
                      </a:xfrm>
                      <a:prstGeom prst="rect">
                        <a:avLst/>
                      </a:prstGeom>
                      <a:solidFill>
                        <a:srgbClr val="1CC9F7"/>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BF85C8F0-3366-402F-B078-95B2A17CC092}"/>
                          </a:ext>
                        </a:extLst>
                      </p:cNvPr>
                      <p:cNvSpPr/>
                      <p:nvPr/>
                    </p:nvSpPr>
                    <p:spPr>
                      <a:xfrm>
                        <a:off x="5273173" y="5449450"/>
                        <a:ext cx="215244" cy="442443"/>
                      </a:xfrm>
                      <a:prstGeom prst="rect">
                        <a:avLst/>
                      </a:prstGeom>
                      <a:solidFill>
                        <a:srgbClr val="77E0FB"/>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8" name="Group 27">
                        <a:extLst>
                          <a:ext uri="{FF2B5EF4-FFF2-40B4-BE49-F238E27FC236}">
                            <a16:creationId xmlns:a16="http://schemas.microsoft.com/office/drawing/2014/main" id="{3DA22F34-3257-4CDB-98EF-EF82E257508E}"/>
                          </a:ext>
                        </a:extLst>
                      </p:cNvPr>
                      <p:cNvGrpSpPr/>
                      <p:nvPr/>
                    </p:nvGrpSpPr>
                    <p:grpSpPr>
                      <a:xfrm>
                        <a:off x="5304636" y="5488022"/>
                        <a:ext cx="149930" cy="192670"/>
                        <a:chOff x="5320608" y="5487112"/>
                        <a:chExt cx="149930" cy="192670"/>
                      </a:xfrm>
                    </p:grpSpPr>
                    <p:sp>
                      <p:nvSpPr>
                        <p:cNvPr id="29" name="Rectangle 28">
                          <a:extLst>
                            <a:ext uri="{FF2B5EF4-FFF2-40B4-BE49-F238E27FC236}">
                              <a16:creationId xmlns:a16="http://schemas.microsoft.com/office/drawing/2014/main" id="{DF54AF55-1A8D-4BD1-BF08-D78B0ECE4A46}"/>
                            </a:ext>
                          </a:extLst>
                        </p:cNvPr>
                        <p:cNvSpPr/>
                        <p:nvPr/>
                      </p:nvSpPr>
                      <p:spPr>
                        <a:xfrm>
                          <a:off x="5320608" y="5488932"/>
                          <a:ext cx="58993" cy="190850"/>
                        </a:xfrm>
                        <a:prstGeom prst="rect">
                          <a:avLst/>
                        </a:prstGeom>
                        <a:solidFill>
                          <a:srgbClr val="D2F4FD"/>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18201CF-8F87-4249-8679-B785DFB66AC3}"/>
                            </a:ext>
                          </a:extLst>
                        </p:cNvPr>
                        <p:cNvSpPr/>
                        <p:nvPr/>
                      </p:nvSpPr>
                      <p:spPr>
                        <a:xfrm>
                          <a:off x="5411545" y="5487112"/>
                          <a:ext cx="58993" cy="190850"/>
                        </a:xfrm>
                        <a:prstGeom prst="rect">
                          <a:avLst/>
                        </a:prstGeom>
                        <a:solidFill>
                          <a:srgbClr val="D2F4FD"/>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3" name="Rectangle 22">
                      <a:extLst>
                        <a:ext uri="{FF2B5EF4-FFF2-40B4-BE49-F238E27FC236}">
                          <a16:creationId xmlns:a16="http://schemas.microsoft.com/office/drawing/2014/main" id="{B2983C83-20AD-4B61-AB7A-B8C5709EB775}"/>
                        </a:ext>
                      </a:extLst>
                    </p:cNvPr>
                    <p:cNvSpPr/>
                    <p:nvPr/>
                  </p:nvSpPr>
                  <p:spPr>
                    <a:xfrm rot="5400000">
                      <a:off x="4344594" y="5194093"/>
                      <a:ext cx="45719" cy="321558"/>
                    </a:xfrm>
                    <a:prstGeom prst="rect">
                      <a:avLst/>
                    </a:prstGeom>
                    <a:solidFill>
                      <a:schemeClr val="tx1">
                        <a:lumMod val="50000"/>
                        <a:lumOff val="50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17" name="TextBox 16">
                  <a:extLst>
                    <a:ext uri="{FF2B5EF4-FFF2-40B4-BE49-F238E27FC236}">
                      <a16:creationId xmlns:a16="http://schemas.microsoft.com/office/drawing/2014/main" id="{F7CA1D18-8AC7-47C5-801B-9B6F77F07511}"/>
                    </a:ext>
                  </a:extLst>
                </p:cNvPr>
                <p:cNvSpPr txBox="1"/>
                <p:nvPr/>
              </p:nvSpPr>
              <p:spPr>
                <a:xfrm>
                  <a:off x="3544820" y="4406373"/>
                  <a:ext cx="1809788" cy="461665"/>
                </a:xfrm>
                <a:prstGeom prst="rect">
                  <a:avLst/>
                </a:prstGeom>
                <a:noFill/>
              </p:spPr>
              <p:txBody>
                <a:bodyPr wrap="square" rtlCol="0">
                  <a:spAutoFit/>
                </a:bodyPr>
                <a:lstStyle/>
                <a:p>
                  <a:pPr algn="ctr"/>
                  <a:r>
                    <a:rPr lang="en-US" sz="2400" dirty="0">
                      <a:solidFill>
                        <a:srgbClr val="232F3E"/>
                      </a:solidFill>
                      <a:latin typeface="Amazon Ember display"/>
                    </a:rPr>
                    <a:t>Tool shed</a:t>
                  </a:r>
                </a:p>
              </p:txBody>
            </p:sp>
          </p:grpSp>
          <p:cxnSp>
            <p:nvCxnSpPr>
              <p:cNvPr id="39" name="Straight Arrow Connector 38">
                <a:extLst>
                  <a:ext uri="{FF2B5EF4-FFF2-40B4-BE49-F238E27FC236}">
                    <a16:creationId xmlns:a16="http://schemas.microsoft.com/office/drawing/2014/main" id="{7489D5C1-F3CA-4ABC-A21D-06A1CDF10B17}"/>
                  </a:ext>
                </a:extLst>
              </p:cNvPr>
              <p:cNvCxnSpPr>
                <a:cxnSpLocks/>
              </p:cNvCxnSpPr>
              <p:nvPr/>
            </p:nvCxnSpPr>
            <p:spPr>
              <a:xfrm>
                <a:off x="3109821" y="5038593"/>
                <a:ext cx="970972" cy="0"/>
              </a:xfrm>
              <a:prstGeom prst="straightConnector1">
                <a:avLst/>
              </a:prstGeom>
              <a:ln w="19050">
                <a:solidFill>
                  <a:srgbClr val="7030A0"/>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1418200-5CA9-4FD7-99D1-26AA00A6BCB6}"/>
                  </a:ext>
                </a:extLst>
              </p:cNvPr>
              <p:cNvCxnSpPr>
                <a:cxnSpLocks/>
              </p:cNvCxnSpPr>
              <p:nvPr/>
            </p:nvCxnSpPr>
            <p:spPr>
              <a:xfrm>
                <a:off x="3109821" y="4835393"/>
                <a:ext cx="925630" cy="0"/>
              </a:xfrm>
              <a:prstGeom prst="straightConnector1">
                <a:avLst/>
              </a:prstGeom>
              <a:ln w="19050">
                <a:solidFill>
                  <a:srgbClr val="7030A0"/>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617F581C-6FBA-4F91-9ABA-9035DF14E8BD}"/>
                </a:ext>
              </a:extLst>
            </p:cNvPr>
            <p:cNvSpPr txBox="1"/>
            <p:nvPr/>
          </p:nvSpPr>
          <p:spPr>
            <a:xfrm>
              <a:off x="5308523" y="4509739"/>
              <a:ext cx="5218825" cy="461665"/>
            </a:xfrm>
            <a:prstGeom prst="rect">
              <a:avLst/>
            </a:prstGeom>
            <a:noFill/>
          </p:spPr>
          <p:txBody>
            <a:bodyPr wrap="square" rtlCol="0">
              <a:spAutoFit/>
            </a:bodyPr>
            <a:lstStyle/>
            <a:p>
              <a:pPr algn="ctr"/>
              <a:r>
                <a:rPr lang="en-US" sz="2400" dirty="0">
                  <a:solidFill>
                    <a:srgbClr val="232F3E"/>
                  </a:solidFill>
                  <a:latin typeface="Amazon Ember display"/>
                </a:rPr>
                <a:t>Travel time to shed = </a:t>
              </a:r>
              <a:r>
                <a:rPr lang="en-US" sz="2400" b="1" dirty="0">
                  <a:solidFill>
                    <a:srgbClr val="232F3E"/>
                  </a:solidFill>
                  <a:latin typeface="Amazon Ember display"/>
                </a:rPr>
                <a:t>2 minutes</a:t>
              </a:r>
            </a:p>
          </p:txBody>
        </p:sp>
      </p:grpSp>
      <p:grpSp>
        <p:nvGrpSpPr>
          <p:cNvPr id="14" name="Flatten HardwareFigure" descr="The two-way arrows between a house and hardware store show the travel time is 30 minutes.">
            <a:extLst>
              <a:ext uri="{FF2B5EF4-FFF2-40B4-BE49-F238E27FC236}">
                <a16:creationId xmlns:a16="http://schemas.microsoft.com/office/drawing/2014/main" id="{565D8BBA-5BE0-4822-9752-49E0F4F7756E}"/>
              </a:ext>
            </a:extLst>
          </p:cNvPr>
          <p:cNvGrpSpPr/>
          <p:nvPr/>
        </p:nvGrpSpPr>
        <p:grpSpPr>
          <a:xfrm>
            <a:off x="1050619" y="1063521"/>
            <a:ext cx="10388754" cy="2813701"/>
            <a:chOff x="1050619" y="1063521"/>
            <a:chExt cx="10388754" cy="2813701"/>
          </a:xfrm>
        </p:grpSpPr>
        <p:cxnSp>
          <p:nvCxnSpPr>
            <p:cNvPr id="33" name="Straight Arrow Connector 32">
              <a:extLst>
                <a:ext uri="{FF2B5EF4-FFF2-40B4-BE49-F238E27FC236}">
                  <a16:creationId xmlns:a16="http://schemas.microsoft.com/office/drawing/2014/main" id="{58A22264-80F6-4EA4-8DEC-1CEA6F0E887B}"/>
                </a:ext>
              </a:extLst>
            </p:cNvPr>
            <p:cNvCxnSpPr>
              <a:cxnSpLocks/>
            </p:cNvCxnSpPr>
            <p:nvPr/>
          </p:nvCxnSpPr>
          <p:spPr>
            <a:xfrm>
              <a:off x="3166393" y="2593634"/>
              <a:ext cx="6499042" cy="0"/>
            </a:xfrm>
            <a:prstGeom prst="straightConnector1">
              <a:avLst/>
            </a:prstGeom>
            <a:ln w="19050">
              <a:solidFill>
                <a:srgbClr val="0070C0"/>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0CDE9324-6B89-47AC-84FE-FB44DB3A85CA}"/>
                </a:ext>
              </a:extLst>
            </p:cNvPr>
            <p:cNvCxnSpPr>
              <a:cxnSpLocks/>
            </p:cNvCxnSpPr>
            <p:nvPr/>
          </p:nvCxnSpPr>
          <p:spPr>
            <a:xfrm>
              <a:off x="3166393" y="2390434"/>
              <a:ext cx="6446143" cy="0"/>
            </a:xfrm>
            <a:prstGeom prst="straightConnector1">
              <a:avLst/>
            </a:prstGeom>
            <a:ln w="19050">
              <a:solidFill>
                <a:srgbClr val="0070C0"/>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EF9F357-B758-439E-AC6A-4A8237516552}"/>
                </a:ext>
              </a:extLst>
            </p:cNvPr>
            <p:cNvSpPr txBox="1"/>
            <p:nvPr/>
          </p:nvSpPr>
          <p:spPr>
            <a:xfrm>
              <a:off x="1129653" y="3046225"/>
              <a:ext cx="1809788" cy="461665"/>
            </a:xfrm>
            <a:prstGeom prst="rect">
              <a:avLst/>
            </a:prstGeom>
            <a:noFill/>
          </p:spPr>
          <p:txBody>
            <a:bodyPr wrap="square" rtlCol="0">
              <a:spAutoFit/>
            </a:bodyPr>
            <a:lstStyle/>
            <a:p>
              <a:pPr algn="ctr"/>
              <a:r>
                <a:rPr lang="en-US" sz="2400" dirty="0">
                  <a:solidFill>
                    <a:srgbClr val="232F3E"/>
                  </a:solidFill>
                  <a:latin typeface="Amazon Ember display"/>
                </a:rPr>
                <a:t>Your house</a:t>
              </a:r>
            </a:p>
          </p:txBody>
        </p:sp>
        <p:pic>
          <p:nvPicPr>
            <p:cNvPr id="9" name="Picture 8">
              <a:extLst>
                <a:ext uri="{FF2B5EF4-FFF2-40B4-BE49-F238E27FC236}">
                  <a16:creationId xmlns:a16="http://schemas.microsoft.com/office/drawing/2014/main" id="{694E56FE-251E-4080-B096-12F830E3F0F6}"/>
                </a:ext>
                <a:ext uri="{C183D7F6-B498-43B3-948B-1728B52AA6E4}">
                  <adec:decorative xmlns:adec="http://schemas.microsoft.com/office/drawing/2017/decorative" val="1"/>
                </a:ext>
              </a:extLst>
            </p:cNvPr>
            <p:cNvPicPr>
              <a:picLocks noChangeAspect="1"/>
            </p:cNvPicPr>
            <p:nvPr/>
          </p:nvPicPr>
          <p:blipFill rotWithShape="1">
            <a:blip r:embed="rId4"/>
            <a:srcRect t="11964" b="14237"/>
            <a:stretch/>
          </p:blipFill>
          <p:spPr>
            <a:xfrm>
              <a:off x="1050619" y="1568310"/>
              <a:ext cx="1967856" cy="1452240"/>
            </a:xfrm>
            <a:prstGeom prst="rect">
              <a:avLst/>
            </a:prstGeom>
            <a:noFill/>
          </p:spPr>
        </p:pic>
        <p:pic>
          <p:nvPicPr>
            <p:cNvPr id="10" name="Picture 9">
              <a:extLst>
                <a:ext uri="{FF2B5EF4-FFF2-40B4-BE49-F238E27FC236}">
                  <a16:creationId xmlns:a16="http://schemas.microsoft.com/office/drawing/2014/main" id="{0AFB1424-5E47-4007-B95B-E2D9C6857B40}"/>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482344" y="1063521"/>
              <a:ext cx="1957029" cy="1957029"/>
            </a:xfrm>
            <a:prstGeom prst="rect">
              <a:avLst/>
            </a:prstGeom>
            <a:noFill/>
          </p:spPr>
        </p:pic>
        <p:sp>
          <p:nvSpPr>
            <p:cNvPr id="11" name="TextBox 10">
              <a:extLst>
                <a:ext uri="{FF2B5EF4-FFF2-40B4-BE49-F238E27FC236}">
                  <a16:creationId xmlns:a16="http://schemas.microsoft.com/office/drawing/2014/main" id="{F978C7C2-1A1E-49B7-9043-5910E5EE260C}"/>
                </a:ext>
              </a:extLst>
            </p:cNvPr>
            <p:cNvSpPr txBox="1"/>
            <p:nvPr/>
          </p:nvSpPr>
          <p:spPr>
            <a:xfrm>
              <a:off x="9555964" y="3046225"/>
              <a:ext cx="1809788" cy="830997"/>
            </a:xfrm>
            <a:prstGeom prst="rect">
              <a:avLst/>
            </a:prstGeom>
            <a:noFill/>
          </p:spPr>
          <p:txBody>
            <a:bodyPr wrap="square" rtlCol="0">
              <a:spAutoFit/>
            </a:bodyPr>
            <a:lstStyle/>
            <a:p>
              <a:pPr algn="ctr"/>
              <a:r>
                <a:rPr lang="en-US" sz="2400" dirty="0">
                  <a:solidFill>
                    <a:srgbClr val="232F3E"/>
                  </a:solidFill>
                  <a:latin typeface="Amazon Ember display"/>
                </a:rPr>
                <a:t>Hardware store</a:t>
              </a:r>
            </a:p>
          </p:txBody>
        </p:sp>
        <p:sp>
          <p:nvSpPr>
            <p:cNvPr id="45" name="TextBox 44">
              <a:extLst>
                <a:ext uri="{FF2B5EF4-FFF2-40B4-BE49-F238E27FC236}">
                  <a16:creationId xmlns:a16="http://schemas.microsoft.com/office/drawing/2014/main" id="{700EBFAA-8303-4841-825B-B77445B6EF31}"/>
                </a:ext>
              </a:extLst>
            </p:cNvPr>
            <p:cNvSpPr txBox="1"/>
            <p:nvPr/>
          </p:nvSpPr>
          <p:spPr>
            <a:xfrm>
              <a:off x="3921674" y="1928768"/>
              <a:ext cx="4935580" cy="461665"/>
            </a:xfrm>
            <a:prstGeom prst="rect">
              <a:avLst/>
            </a:prstGeom>
            <a:noFill/>
          </p:spPr>
          <p:txBody>
            <a:bodyPr wrap="square" rtlCol="0">
              <a:spAutoFit/>
            </a:bodyPr>
            <a:lstStyle/>
            <a:p>
              <a:pPr algn="ctr"/>
              <a:r>
                <a:rPr lang="en-US" sz="2400" dirty="0">
                  <a:solidFill>
                    <a:srgbClr val="232F3E"/>
                  </a:solidFill>
                  <a:latin typeface="Amazon Ember display"/>
                </a:rPr>
                <a:t>Travel time to store = </a:t>
              </a:r>
              <a:r>
                <a:rPr lang="en-US" sz="2400" b="1" dirty="0">
                  <a:solidFill>
                    <a:srgbClr val="232F3E"/>
                  </a:solidFill>
                  <a:latin typeface="Amazon Ember display"/>
                </a:rPr>
                <a:t>30 minutes</a:t>
              </a:r>
            </a:p>
          </p:txBody>
        </p:sp>
      </p:grpSp>
    </p:spTree>
    <p:custDataLst>
      <p:tags r:id="rId1"/>
    </p:custDataLst>
    <p:extLst>
      <p:ext uri="{BB962C8B-B14F-4D97-AF65-F5344CB8AC3E}">
        <p14:creationId xmlns:p14="http://schemas.microsoft.com/office/powerpoint/2010/main" val="3545214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21462DA-EBCC-4AD0-AA4C-909CBFC5BEED}"/>
              </a:ext>
            </a:extLst>
          </p:cNvPr>
          <p:cNvSpPr>
            <a:spLocks noGrp="1"/>
          </p:cNvSpPr>
          <p:nvPr>
            <p:ph type="sldNum" idx="97"/>
          </p:nvPr>
        </p:nvSpPr>
        <p:spPr/>
        <p:txBody>
          <a:bodyPr/>
          <a:lstStyle/>
          <a:p>
            <a:fld id="{4037B1B0-0345-4E15-985A-6BECCDBE474F}" type="slidenum">
              <a:rPr lang="en-US" smtClean="0"/>
              <a:pPr/>
              <a:t>10</a:t>
            </a:fld>
            <a:endParaRPr lang="en-US" dirty="0"/>
          </a:p>
        </p:txBody>
      </p:sp>
      <p:sp>
        <p:nvSpPr>
          <p:cNvPr id="3" name="Title">
            <a:extLst>
              <a:ext uri="{FF2B5EF4-FFF2-40B4-BE49-F238E27FC236}">
                <a16:creationId xmlns:a16="http://schemas.microsoft.com/office/drawing/2014/main" id="{440DEB0F-B281-4BF7-BDB9-B2C5E05E1874}"/>
              </a:ext>
            </a:extLst>
          </p:cNvPr>
          <p:cNvSpPr>
            <a:spLocks noGrp="1"/>
          </p:cNvSpPr>
          <p:nvPr>
            <p:ph type="title" idx="1"/>
          </p:nvPr>
        </p:nvSpPr>
        <p:spPr/>
        <p:txBody>
          <a:bodyPr/>
          <a:lstStyle/>
          <a:p>
            <a:r>
              <a:rPr lang="en-US" dirty="0"/>
              <a:t>What should you cache?</a:t>
            </a:r>
          </a:p>
        </p:txBody>
      </p:sp>
      <p:pic>
        <p:nvPicPr>
          <p:cNvPr id="19" name="Picture Placeholder 14">
            <a:extLst>
              <a:ext uri="{FF2B5EF4-FFF2-40B4-BE49-F238E27FC236}">
                <a16:creationId xmlns:a16="http://schemas.microsoft.com/office/drawing/2014/main" id="{23E9FB07-78A6-4A8E-8E9B-5E3DC79858CC}"/>
              </a:ext>
              <a:ext uri="{C183D7F6-B498-43B3-948B-1728B52AA6E4}">
                <adec:decorative xmlns:adec="http://schemas.microsoft.com/office/drawing/2017/decorative" val="1"/>
              </a:ext>
            </a:extLst>
          </p:cNvPr>
          <p:cNvPicPr>
            <a:picLocks noGrp="1" noChangeAspect="1"/>
          </p:cNvPicPr>
          <p:nvPr>
            <p:ph type="pic" idx="2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096963" y="1096963"/>
            <a:ext cx="2286000" cy="2286000"/>
          </a:xfrm>
        </p:spPr>
      </p:pic>
      <p:sp>
        <p:nvSpPr>
          <p:cNvPr id="5" name="Text Placeholder 4">
            <a:extLst>
              <a:ext uri="{FF2B5EF4-FFF2-40B4-BE49-F238E27FC236}">
                <a16:creationId xmlns:a16="http://schemas.microsoft.com/office/drawing/2014/main" id="{7323849F-9189-4A24-BCA4-22D9F33F64CF}"/>
              </a:ext>
            </a:extLst>
          </p:cNvPr>
          <p:cNvSpPr>
            <a:spLocks noGrp="1"/>
          </p:cNvSpPr>
          <p:nvPr>
            <p:ph type="body" idx="2"/>
          </p:nvPr>
        </p:nvSpPr>
        <p:spPr>
          <a:xfrm>
            <a:off x="371854" y="3383280"/>
            <a:ext cx="3749040" cy="2999232"/>
          </a:xfrm>
        </p:spPr>
        <p:txBody>
          <a:bodyPr/>
          <a:lstStyle/>
          <a:p>
            <a:pPr marL="0" indent="0" algn="ctr">
              <a:buNone/>
            </a:pPr>
            <a:r>
              <a:rPr lang="en-US" sz="2800" dirty="0">
                <a:ea typeface="+mn-ea"/>
                <a:cs typeface="+mn-cs"/>
              </a:rPr>
              <a:t>Static and frequently accessed data</a:t>
            </a:r>
          </a:p>
          <a:p>
            <a:endParaRPr lang="en-US" sz="2000" dirty="0"/>
          </a:p>
        </p:txBody>
      </p:sp>
      <p:pic>
        <p:nvPicPr>
          <p:cNvPr id="13" name="Picture Placeholder 12">
            <a:extLst>
              <a:ext uri="{FF2B5EF4-FFF2-40B4-BE49-F238E27FC236}">
                <a16:creationId xmlns:a16="http://schemas.microsoft.com/office/drawing/2014/main" id="{A160ABF9-7ACB-4D68-8038-A3669BD08CCF}"/>
              </a:ext>
              <a:ext uri="{C183D7F6-B498-43B3-948B-1728B52AA6E4}">
                <adec:decorative xmlns:adec="http://schemas.microsoft.com/office/drawing/2017/decorative" val="1"/>
              </a:ext>
            </a:extLst>
          </p:cNvPr>
          <p:cNvPicPr>
            <a:picLocks noGrp="1" noChangeAspect="1"/>
          </p:cNvPicPr>
          <p:nvPr>
            <p:ph type="pic" idx="3"/>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4861580" y="1096963"/>
            <a:ext cx="2286000" cy="2286000"/>
          </a:xfrm>
        </p:spPr>
      </p:pic>
      <p:sp>
        <p:nvSpPr>
          <p:cNvPr id="12" name="Text Placeholder 4">
            <a:extLst>
              <a:ext uri="{FF2B5EF4-FFF2-40B4-BE49-F238E27FC236}">
                <a16:creationId xmlns:a16="http://schemas.microsoft.com/office/drawing/2014/main" id="{ED65C899-7ADD-4F3E-AD27-AEA12C2110E2}"/>
              </a:ext>
            </a:extLst>
          </p:cNvPr>
          <p:cNvSpPr txBox="1">
            <a:spLocks/>
          </p:cNvSpPr>
          <p:nvPr/>
        </p:nvSpPr>
        <p:spPr>
          <a:xfrm>
            <a:off x="4239660" y="3383280"/>
            <a:ext cx="3580034" cy="2999232"/>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mazon Ember Display"/>
              <a:buChar char="•"/>
              <a:defRPr lang="en-US" sz="2400" kern="1200">
                <a:solidFill>
                  <a:srgbClr val="232F3E"/>
                </a:solidFill>
                <a:latin typeface="Amazon Ember display"/>
              </a:defRPr>
            </a:lvl1pPr>
            <a:lvl2pPr marL="457200" indent="-228600" algn="l" defTabSz="914400" rtl="0" eaLnBrk="1" latinLnBrk="0" hangingPunct="1">
              <a:lnSpc>
                <a:spcPct val="100000"/>
              </a:lnSpc>
              <a:spcBef>
                <a:spcPts val="0"/>
              </a:spcBef>
              <a:spcAft>
                <a:spcPts val="600"/>
              </a:spcAft>
              <a:buFont typeface="Amazon Ember Display"/>
              <a:buChar char="•"/>
              <a:defRPr lang="en-US" sz="2000" kern="1200">
                <a:solidFill>
                  <a:srgbClr val="232F3E"/>
                </a:solidFill>
                <a:latin typeface="Amazon Ember display"/>
              </a:defRPr>
            </a:lvl2pPr>
            <a:lvl3pPr marL="684213" indent="-228600" algn="l" defTabSz="914400" rtl="0" eaLnBrk="1" latinLnBrk="0" hangingPunct="1">
              <a:lnSpc>
                <a:spcPct val="100000"/>
              </a:lnSpc>
              <a:spcBef>
                <a:spcPts val="0"/>
              </a:spcBef>
              <a:spcAft>
                <a:spcPts val="600"/>
              </a:spcAft>
              <a:buFont typeface="Amazon Ember Display"/>
              <a:buChar char="•"/>
              <a:defRPr lang="en-US" sz="1800" kern="1200">
                <a:solidFill>
                  <a:srgbClr val="232F3E"/>
                </a:solidFill>
                <a:latin typeface="Amazon Ember display"/>
              </a:defRPr>
            </a:lvl3pPr>
            <a:lvl4pPr marL="914400" indent="-228600" algn="l" defTabSz="914400" rtl="0" eaLnBrk="1" latinLnBrk="0" hangingPunct="1">
              <a:lnSpc>
                <a:spcPct val="100000"/>
              </a:lnSpc>
              <a:spcBef>
                <a:spcPts val="0"/>
              </a:spcBef>
              <a:spcAft>
                <a:spcPts val="600"/>
              </a:spcAft>
              <a:buFont typeface="Amazon Ember Display"/>
              <a:buChar char="•"/>
              <a:defRPr lang="en-US" sz="1600" kern="1200">
                <a:solidFill>
                  <a:srgbClr val="232F3E"/>
                </a:solidFill>
                <a:latin typeface="Amazon Ember display"/>
              </a:defRPr>
            </a:lvl4pPr>
            <a:lvl5pPr marL="1144588" indent="-228600" algn="l" defTabSz="914400" rtl="0" eaLnBrk="1" latinLnBrk="0" hangingPunct="1">
              <a:lnSpc>
                <a:spcPct val="100000"/>
              </a:lnSpc>
              <a:spcBef>
                <a:spcPts val="0"/>
              </a:spcBef>
              <a:spcAft>
                <a:spcPts val="600"/>
              </a:spcAft>
              <a:buFont typeface="Amazon Ember Display"/>
              <a:buChar char="•"/>
              <a:defRPr lang="en-US" sz="1600" kern="120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lvl="0" indent="0" algn="ctr">
              <a:spcAft>
                <a:spcPts val="0"/>
              </a:spcAft>
              <a:buNone/>
              <a:defRPr/>
            </a:pPr>
            <a:r>
              <a:rPr lang="en-US" sz="2800" dirty="0"/>
              <a:t>Results of computationally intensive calculations</a:t>
            </a:r>
          </a:p>
          <a:p>
            <a:endParaRPr lang="en-US" sz="2000" dirty="0"/>
          </a:p>
        </p:txBody>
      </p:sp>
      <p:pic>
        <p:nvPicPr>
          <p:cNvPr id="20" name="Picture Placeholder 10">
            <a:extLst>
              <a:ext uri="{FF2B5EF4-FFF2-40B4-BE49-F238E27FC236}">
                <a16:creationId xmlns:a16="http://schemas.microsoft.com/office/drawing/2014/main" id="{B3592DB0-1D69-4F4E-83B1-41392AA55D54}"/>
              </a:ext>
              <a:ext uri="{C183D7F6-B498-43B3-948B-1728B52AA6E4}">
                <adec:decorative xmlns:adec="http://schemas.microsoft.com/office/drawing/2017/decorative" val="1"/>
              </a:ext>
            </a:extLst>
          </p:cNvPr>
          <p:cNvPicPr>
            <a:picLocks noGrp="1" noChangeAspect="1"/>
          </p:cNvPicPr>
          <p:nvPr>
            <p:ph type="pic" idx="24"/>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8815388" y="1096963"/>
            <a:ext cx="2286000" cy="2286000"/>
          </a:xfrm>
          <a:prstGeom prst="rect">
            <a:avLst/>
          </a:prstGeom>
        </p:spPr>
      </p:pic>
      <p:sp>
        <p:nvSpPr>
          <p:cNvPr id="9" name="Text Placeholder 8">
            <a:extLst>
              <a:ext uri="{FF2B5EF4-FFF2-40B4-BE49-F238E27FC236}">
                <a16:creationId xmlns:a16="http://schemas.microsoft.com/office/drawing/2014/main" id="{E19EA38C-68E0-4054-B997-42C7FDCEB533}"/>
              </a:ext>
            </a:extLst>
          </p:cNvPr>
          <p:cNvSpPr>
            <a:spLocks noGrp="1"/>
          </p:cNvSpPr>
          <p:nvPr>
            <p:ph type="body" idx="4"/>
          </p:nvPr>
        </p:nvSpPr>
        <p:spPr>
          <a:xfrm>
            <a:off x="7723632" y="3383280"/>
            <a:ext cx="4108704" cy="2999232"/>
          </a:xfrm>
        </p:spPr>
        <p:txBody>
          <a:bodyPr/>
          <a:lstStyle/>
          <a:p>
            <a:pPr marL="0" indent="0" algn="ctr">
              <a:buNone/>
            </a:pPr>
            <a:r>
              <a:rPr lang="en-US" sz="2800" dirty="0">
                <a:ea typeface="+mn-ea"/>
                <a:cs typeface="+mn-cs"/>
              </a:rPr>
              <a:t>Results of time-consuming, frequently used, or complex database queries </a:t>
            </a:r>
          </a:p>
          <a:p>
            <a:pPr marL="0" indent="0">
              <a:buNone/>
            </a:pPr>
            <a:endParaRPr lang="en-US" sz="2000" dirty="0"/>
          </a:p>
        </p:txBody>
      </p:sp>
    </p:spTree>
    <p:custDataLst>
      <p:tags r:id="rId1"/>
    </p:custDataLst>
    <p:extLst>
      <p:ext uri="{BB962C8B-B14F-4D97-AF65-F5344CB8AC3E}">
        <p14:creationId xmlns:p14="http://schemas.microsoft.com/office/powerpoint/2010/main" val="2865791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16832C1-833E-4A2D-A5D7-6513AFB7CF4C}"/>
              </a:ext>
            </a:extLst>
          </p:cNvPr>
          <p:cNvSpPr>
            <a:spLocks noGrp="1"/>
          </p:cNvSpPr>
          <p:nvPr>
            <p:ph type="sldNum" idx="97"/>
          </p:nvPr>
        </p:nvSpPr>
        <p:spPr/>
        <p:txBody>
          <a:bodyPr/>
          <a:lstStyle/>
          <a:p>
            <a:fld id="{4037B1B0-0345-4E15-985A-6BECCDBE474F}" type="slidenum">
              <a:rPr lang="en-US" smtClean="0"/>
              <a:pPr/>
              <a:t>11</a:t>
            </a:fld>
            <a:endParaRPr lang="en-US" dirty="0"/>
          </a:p>
        </p:txBody>
      </p:sp>
      <p:sp>
        <p:nvSpPr>
          <p:cNvPr id="3" name="Title">
            <a:extLst>
              <a:ext uri="{FF2B5EF4-FFF2-40B4-BE49-F238E27FC236}">
                <a16:creationId xmlns:a16="http://schemas.microsoft.com/office/drawing/2014/main" id="{B83826F9-8A0A-4E93-B182-1B5482CED794}"/>
              </a:ext>
            </a:extLst>
          </p:cNvPr>
          <p:cNvSpPr>
            <a:spLocks noGrp="1"/>
          </p:cNvSpPr>
          <p:nvPr>
            <p:ph type="title" idx="1"/>
          </p:nvPr>
        </p:nvSpPr>
        <p:spPr/>
        <p:txBody>
          <a:bodyPr/>
          <a:lstStyle/>
          <a:p>
            <a:r>
              <a:rPr lang="en-US" dirty="0"/>
              <a:t>Trade-offs to consider when caching</a:t>
            </a:r>
          </a:p>
        </p:txBody>
      </p:sp>
      <p:sp>
        <p:nvSpPr>
          <p:cNvPr id="4" name="Text Placeholder 3">
            <a:extLst>
              <a:ext uri="{FF2B5EF4-FFF2-40B4-BE49-F238E27FC236}">
                <a16:creationId xmlns:a16="http://schemas.microsoft.com/office/drawing/2014/main" id="{04DDA1F3-8F75-4851-BED5-F3847539983E}"/>
              </a:ext>
            </a:extLst>
          </p:cNvPr>
          <p:cNvSpPr>
            <a:spLocks noGrp="1"/>
          </p:cNvSpPr>
          <p:nvPr>
            <p:ph type="body" idx="12"/>
          </p:nvPr>
        </p:nvSpPr>
        <p:spPr/>
        <p:txBody>
          <a:bodyPr/>
          <a:lstStyle/>
          <a:p>
            <a:r>
              <a:rPr lang="en-US" dirty="0"/>
              <a:t>Benefits of caching</a:t>
            </a:r>
          </a:p>
        </p:txBody>
      </p:sp>
      <p:sp>
        <p:nvSpPr>
          <p:cNvPr id="5" name="Content Placeholder 4">
            <a:extLst>
              <a:ext uri="{FF2B5EF4-FFF2-40B4-BE49-F238E27FC236}">
                <a16:creationId xmlns:a16="http://schemas.microsoft.com/office/drawing/2014/main" id="{FB851D7C-170D-4461-A5A3-1EC076A790D2}"/>
              </a:ext>
            </a:extLst>
          </p:cNvPr>
          <p:cNvSpPr>
            <a:spLocks noGrp="1"/>
          </p:cNvSpPr>
          <p:nvPr>
            <p:ph idx="2"/>
          </p:nvPr>
        </p:nvSpPr>
        <p:spPr/>
        <p:txBody>
          <a:bodyPr/>
          <a:lstStyle/>
          <a:p>
            <a:r>
              <a:rPr lang="en-US" dirty="0">
                <a:ea typeface="Amazon Ember Light" panose="020B0403020204020204" pitchFamily="34" charset="0"/>
                <a:cs typeface="Amazon Ember Light" panose="020B0403020204020204" pitchFamily="34" charset="0"/>
              </a:rPr>
              <a:t>Reduces response latency</a:t>
            </a:r>
          </a:p>
          <a:p>
            <a:r>
              <a:rPr lang="en-US" dirty="0"/>
              <a:t>Reduces cost</a:t>
            </a:r>
          </a:p>
          <a:p>
            <a:r>
              <a:rPr lang="en-US" dirty="0"/>
              <a:t>Alleviates the load on the origin (data source)</a:t>
            </a:r>
          </a:p>
          <a:p>
            <a:r>
              <a:rPr lang="en-US" dirty="0"/>
              <a:t>Provides predictable performance</a:t>
            </a:r>
          </a:p>
          <a:p>
            <a:r>
              <a:rPr lang="en-US" dirty="0"/>
              <a:t>Improves availability</a:t>
            </a:r>
          </a:p>
          <a:p>
            <a:endParaRPr lang="en-US" dirty="0"/>
          </a:p>
        </p:txBody>
      </p:sp>
      <p:sp>
        <p:nvSpPr>
          <p:cNvPr id="6" name="Text Placeholder 5">
            <a:extLst>
              <a:ext uri="{FF2B5EF4-FFF2-40B4-BE49-F238E27FC236}">
                <a16:creationId xmlns:a16="http://schemas.microsoft.com/office/drawing/2014/main" id="{277A31A1-76D0-4B40-BB16-26101C0812DF}"/>
              </a:ext>
            </a:extLst>
          </p:cNvPr>
          <p:cNvSpPr>
            <a:spLocks noGrp="1"/>
          </p:cNvSpPr>
          <p:nvPr>
            <p:ph type="body" idx="13"/>
          </p:nvPr>
        </p:nvSpPr>
        <p:spPr/>
        <p:txBody>
          <a:bodyPr/>
          <a:lstStyle/>
          <a:p>
            <a:r>
              <a:rPr lang="en-US" dirty="0"/>
              <a:t>Challenges of caching</a:t>
            </a:r>
          </a:p>
        </p:txBody>
      </p:sp>
      <p:sp>
        <p:nvSpPr>
          <p:cNvPr id="7" name="Content Placeholder 6">
            <a:extLst>
              <a:ext uri="{FF2B5EF4-FFF2-40B4-BE49-F238E27FC236}">
                <a16:creationId xmlns:a16="http://schemas.microsoft.com/office/drawing/2014/main" id="{7D5DA564-E646-44C6-9786-7B5A6245A77B}"/>
              </a:ext>
            </a:extLst>
          </p:cNvPr>
          <p:cNvSpPr>
            <a:spLocks noGrp="1"/>
          </p:cNvSpPr>
          <p:nvPr>
            <p:ph idx="3"/>
          </p:nvPr>
        </p:nvSpPr>
        <p:spPr/>
        <p:txBody>
          <a:bodyPr/>
          <a:lstStyle/>
          <a:p>
            <a:r>
              <a:rPr lang="en-US" dirty="0"/>
              <a:t>Requires additional engineering</a:t>
            </a:r>
          </a:p>
          <a:p>
            <a:r>
              <a:rPr lang="en-US" dirty="0"/>
              <a:t>Requires someone to determine how to cache data and deal with stale data based on the business use case</a:t>
            </a:r>
          </a:p>
          <a:p>
            <a:endParaRPr lang="en-US" dirty="0"/>
          </a:p>
        </p:txBody>
      </p:sp>
    </p:spTree>
    <p:extLst>
      <p:ext uri="{BB962C8B-B14F-4D97-AF65-F5344CB8AC3E}">
        <p14:creationId xmlns:p14="http://schemas.microsoft.com/office/powerpoint/2010/main" val="1299074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ABD9F752-CF26-41E4-B62D-1708B9216061}"/>
              </a:ext>
            </a:extLst>
          </p:cNvPr>
          <p:cNvSpPr>
            <a:spLocks noGrp="1"/>
          </p:cNvSpPr>
          <p:nvPr>
            <p:ph type="sldNum" idx="97"/>
          </p:nvPr>
        </p:nvSpPr>
        <p:spPr/>
        <p:txBody>
          <a:bodyPr/>
          <a:lstStyle/>
          <a:p>
            <a:fld id="{4037B1B0-0345-4E15-985A-6BECCDBE474F}" type="slidenum">
              <a:rPr lang="en-US" smtClean="0"/>
              <a:pPr/>
              <a:t>12</a:t>
            </a:fld>
            <a:endParaRPr lang="en-US" dirty="0"/>
          </a:p>
        </p:txBody>
      </p:sp>
      <p:sp>
        <p:nvSpPr>
          <p:cNvPr id="3" name="Title">
            <a:extLst>
              <a:ext uri="{FF2B5EF4-FFF2-40B4-BE49-F238E27FC236}">
                <a16:creationId xmlns:a16="http://schemas.microsoft.com/office/drawing/2014/main" id="{2DF1AD6C-3405-438C-96F1-78E317699D76}"/>
              </a:ext>
            </a:extLst>
          </p:cNvPr>
          <p:cNvSpPr>
            <a:spLocks noGrp="1"/>
          </p:cNvSpPr>
          <p:nvPr>
            <p:ph type="title" idx="1"/>
          </p:nvPr>
        </p:nvSpPr>
        <p:spPr/>
        <p:txBody>
          <a:bodyPr>
            <a:normAutofit/>
          </a:bodyPr>
          <a:lstStyle/>
          <a:p>
            <a:r>
              <a:rPr lang="en-US" dirty="0"/>
              <a:t>Types of caching and AWS caching services</a:t>
            </a:r>
          </a:p>
        </p:txBody>
      </p:sp>
      <p:pic>
        <p:nvPicPr>
          <p:cNvPr id="10" name="Graphic 19">
            <a:extLst>
              <a:ext uri="{FF2B5EF4-FFF2-40B4-BE49-F238E27FC236}">
                <a16:creationId xmlns:a16="http://schemas.microsoft.com/office/drawing/2014/main" id="{DE091D99-58C8-4105-8180-71914132D6E0}"/>
              </a:ext>
              <a:ext uri="{C183D7F6-B498-43B3-948B-1728B52AA6E4}">
                <adec:decorative xmlns:adec="http://schemas.microsoft.com/office/drawing/2017/decorative" val="1"/>
              </a:ext>
            </a:extLst>
          </p:cNvPr>
          <p:cNvPicPr>
            <a:picLocks noGrp="1" noChangeAspect="1" noChangeArrowheads="1"/>
          </p:cNvPicPr>
          <p:nvPr>
            <p:ph type="pic" idx="23"/>
          </p:nvPr>
        </p:nvPicPr>
        <p:blipFill>
          <a:blip r:embed="rId4">
            <a:extLst>
              <a:ext uri="{96DAC541-7B7A-43D3-8B79-37D633B846F1}">
                <asvg:svgBlip xmlns:asvg="http://schemas.microsoft.com/office/drawing/2016/SVG/main" r:embed="rId5"/>
              </a:ext>
            </a:extLst>
          </a:blip>
          <a:srcRect/>
          <a:stretch/>
        </p:blipFill>
        <p:spPr bwMode="auto">
          <a:xfrm>
            <a:off x="2354957" y="1315521"/>
            <a:ext cx="1690886" cy="1690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1">
            <a:extLst>
              <a:ext uri="{FF2B5EF4-FFF2-40B4-BE49-F238E27FC236}">
                <a16:creationId xmlns:a16="http://schemas.microsoft.com/office/drawing/2014/main" id="{ECF305A5-5848-4D8A-B239-C7185F9A4158}"/>
              </a:ext>
            </a:extLst>
          </p:cNvPr>
          <p:cNvSpPr txBox="1">
            <a:spLocks noChangeArrowheads="1"/>
          </p:cNvSpPr>
          <p:nvPr/>
        </p:nvSpPr>
        <p:spPr bwMode="auto">
          <a:xfrm>
            <a:off x="2054225" y="3006407"/>
            <a:ext cx="2292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dirty="0">
                <a:solidFill>
                  <a:srgbClr val="232F3E"/>
                </a:solidFill>
                <a:latin typeface="+mn-lt"/>
                <a:cs typeface="Arial" panose="020B0604020202020204" pitchFamily="34" charset="0"/>
              </a:rPr>
              <a:t>Amazon CloudFront</a:t>
            </a:r>
          </a:p>
        </p:txBody>
      </p:sp>
      <p:sp>
        <p:nvSpPr>
          <p:cNvPr id="5" name="Text Placeholder 4">
            <a:extLst>
              <a:ext uri="{FF2B5EF4-FFF2-40B4-BE49-F238E27FC236}">
                <a16:creationId xmlns:a16="http://schemas.microsoft.com/office/drawing/2014/main" id="{4EAECEE8-849D-42BE-B9C0-531AB4EAA58A}"/>
              </a:ext>
            </a:extLst>
          </p:cNvPr>
          <p:cNvSpPr>
            <a:spLocks noGrp="1"/>
          </p:cNvSpPr>
          <p:nvPr>
            <p:ph type="body" idx="12"/>
          </p:nvPr>
        </p:nvSpPr>
        <p:spPr/>
        <p:txBody>
          <a:bodyPr/>
          <a:lstStyle/>
          <a:p>
            <a:r>
              <a:rPr lang="en-US" dirty="0"/>
              <a:t>Static caching (edge caching)</a:t>
            </a:r>
          </a:p>
        </p:txBody>
      </p:sp>
      <p:sp>
        <p:nvSpPr>
          <p:cNvPr id="6" name="Content Placeholder 5">
            <a:extLst>
              <a:ext uri="{FF2B5EF4-FFF2-40B4-BE49-F238E27FC236}">
                <a16:creationId xmlns:a16="http://schemas.microsoft.com/office/drawing/2014/main" id="{54A79498-8FD9-453C-801E-F6FD9C844810}"/>
              </a:ext>
            </a:extLst>
          </p:cNvPr>
          <p:cNvSpPr>
            <a:spLocks noGrp="1"/>
          </p:cNvSpPr>
          <p:nvPr>
            <p:ph idx="3"/>
          </p:nvPr>
        </p:nvSpPr>
        <p:spPr>
          <a:xfrm>
            <a:off x="365760" y="3895344"/>
            <a:ext cx="5669280" cy="2551176"/>
          </a:xfrm>
        </p:spPr>
        <p:txBody>
          <a:bodyPr/>
          <a:lstStyle/>
          <a:p>
            <a:pPr marL="0" indent="0">
              <a:buNone/>
            </a:pPr>
            <a:r>
              <a:rPr lang="en-US" dirty="0"/>
              <a:t>Retrieve content from the nearest edge location.</a:t>
            </a:r>
          </a:p>
        </p:txBody>
      </p:sp>
      <p:pic>
        <p:nvPicPr>
          <p:cNvPr id="12" name="Graphic 21">
            <a:extLst>
              <a:ext uri="{FF2B5EF4-FFF2-40B4-BE49-F238E27FC236}">
                <a16:creationId xmlns:a16="http://schemas.microsoft.com/office/drawing/2014/main" id="{981B5E59-406B-4A05-B2CD-198F7C6DD86E}"/>
              </a:ext>
              <a:ext uri="{C183D7F6-B498-43B3-948B-1728B52AA6E4}">
                <adec:decorative xmlns:adec="http://schemas.microsoft.com/office/drawing/2017/decorative" val="1"/>
              </a:ext>
            </a:extLst>
          </p:cNvPr>
          <p:cNvPicPr>
            <a:picLocks noGrp="1" noChangeAspect="1" noChangeArrowheads="1"/>
          </p:cNvPicPr>
          <p:nvPr>
            <p:ph type="pic" idx="22"/>
          </p:nvPr>
        </p:nvPicPr>
        <p:blipFill>
          <a:blip r:embed="rId6">
            <a:extLst>
              <a:ext uri="{96DAC541-7B7A-43D3-8B79-37D633B846F1}">
                <asvg:svgBlip xmlns:asvg="http://schemas.microsoft.com/office/drawing/2016/SVG/main" r:embed="rId7"/>
              </a:ext>
            </a:extLst>
          </a:blip>
          <a:srcRect/>
          <a:stretch/>
        </p:blipFill>
        <p:spPr bwMode="auto">
          <a:xfrm>
            <a:off x="8255949" y="1315522"/>
            <a:ext cx="1690885" cy="1690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5">
            <a:extLst>
              <a:ext uri="{FF2B5EF4-FFF2-40B4-BE49-F238E27FC236}">
                <a16:creationId xmlns:a16="http://schemas.microsoft.com/office/drawing/2014/main" id="{88144F93-B757-455B-9A38-B9A7F4BF6670}"/>
              </a:ext>
            </a:extLst>
          </p:cNvPr>
          <p:cNvSpPr txBox="1">
            <a:spLocks noChangeArrowheads="1"/>
          </p:cNvSpPr>
          <p:nvPr/>
        </p:nvSpPr>
        <p:spPr bwMode="auto">
          <a:xfrm>
            <a:off x="7804407" y="3006407"/>
            <a:ext cx="259396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en-US" dirty="0">
                <a:solidFill>
                  <a:srgbClr val="232F3E"/>
                </a:solidFill>
                <a:latin typeface="+mn-lt"/>
                <a:cs typeface="Arial" panose="020B0604020202020204" pitchFamily="34" charset="0"/>
              </a:rPr>
              <a:t>Amazon ElastiCache</a:t>
            </a:r>
          </a:p>
        </p:txBody>
      </p:sp>
      <p:sp>
        <p:nvSpPr>
          <p:cNvPr id="8" name="Text Placeholder 7">
            <a:extLst>
              <a:ext uri="{FF2B5EF4-FFF2-40B4-BE49-F238E27FC236}">
                <a16:creationId xmlns:a16="http://schemas.microsoft.com/office/drawing/2014/main" id="{6EDE7344-AC52-4FAD-A3CC-BB12ED322729}"/>
              </a:ext>
            </a:extLst>
          </p:cNvPr>
          <p:cNvSpPr>
            <a:spLocks noGrp="1"/>
          </p:cNvSpPr>
          <p:nvPr>
            <p:ph type="body" idx="13"/>
          </p:nvPr>
        </p:nvSpPr>
        <p:spPr/>
        <p:txBody>
          <a:bodyPr/>
          <a:lstStyle/>
          <a:p>
            <a:r>
              <a:rPr lang="en-US" dirty="0"/>
              <a:t>Database caching (data caching)</a:t>
            </a:r>
          </a:p>
        </p:txBody>
      </p:sp>
      <p:sp>
        <p:nvSpPr>
          <p:cNvPr id="9" name="Content Placeholder 8">
            <a:extLst>
              <a:ext uri="{FF2B5EF4-FFF2-40B4-BE49-F238E27FC236}">
                <a16:creationId xmlns:a16="http://schemas.microsoft.com/office/drawing/2014/main" id="{6DC9EB7E-8187-42F4-999C-E84E13A6A668}"/>
              </a:ext>
            </a:extLst>
          </p:cNvPr>
          <p:cNvSpPr>
            <a:spLocks noGrp="1"/>
          </p:cNvSpPr>
          <p:nvPr>
            <p:ph idx="4"/>
          </p:nvPr>
        </p:nvSpPr>
        <p:spPr>
          <a:xfrm>
            <a:off x="6163056" y="3895344"/>
            <a:ext cx="5669280" cy="2551176"/>
          </a:xfrm>
        </p:spPr>
        <p:txBody>
          <a:bodyPr/>
          <a:lstStyle/>
          <a:p>
            <a:pPr marL="0" indent="0">
              <a:spcAft>
                <a:spcPts val="0"/>
              </a:spcAft>
              <a:buNone/>
              <a:defRPr/>
            </a:pPr>
            <a:r>
              <a:rPr lang="en-US" dirty="0"/>
              <a:t>Retrieve content from an in-memory database layer.</a:t>
            </a:r>
            <a:endParaRPr lang="en-US" sz="2500" dirty="0"/>
          </a:p>
        </p:txBody>
      </p:sp>
    </p:spTree>
    <p:custDataLst>
      <p:tags r:id="rId1"/>
    </p:custDataLst>
    <p:extLst>
      <p:ext uri="{BB962C8B-B14F-4D97-AF65-F5344CB8AC3E}">
        <p14:creationId xmlns:p14="http://schemas.microsoft.com/office/powerpoint/2010/main" val="3685724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0176A1-BCF0-4712-97A6-6B495F55390B}"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dirty="0"/>
              <a:t>Key takeaways: Overview of caching</a:t>
            </a:r>
          </a:p>
        </p:txBody>
      </p:sp>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normAutofit/>
          </a:bodyPr>
          <a:lstStyle/>
          <a:p>
            <a:r>
              <a:rPr lang="en-US" dirty="0">
                <a:latin typeface="Amazon Ember display"/>
              </a:rPr>
              <a:t>A cache is a high-speed data storage layer that stores a subset of data so that future requests for that data are served up faster. </a:t>
            </a:r>
          </a:p>
          <a:p>
            <a:r>
              <a:rPr lang="en-US" dirty="0"/>
              <a:t>S</a:t>
            </a:r>
            <a:r>
              <a:rPr lang="en-US" dirty="0">
                <a:ea typeface="Amazon Ember Light" panose="020B0403020204020204" pitchFamily="34" charset="0"/>
                <a:cs typeface="Amazon Ember Light" panose="020B0403020204020204" pitchFamily="34" charset="0"/>
              </a:rPr>
              <a:t>tatic and frequently accessed data</a:t>
            </a:r>
            <a:r>
              <a:rPr lang="en-US" dirty="0"/>
              <a:t> </a:t>
            </a:r>
            <a:r>
              <a:rPr lang="en-US" dirty="0">
                <a:ea typeface="Amazon Ember Light" panose="020B0403020204020204" pitchFamily="34" charset="0"/>
                <a:cs typeface="Amazon Ember Light" panose="020B0403020204020204" pitchFamily="34" charset="0"/>
              </a:rPr>
              <a:t>are good candidates for caching.</a:t>
            </a:r>
          </a:p>
          <a:p>
            <a:r>
              <a:rPr lang="en-US" dirty="0">
                <a:ea typeface="Amazon Ember Light" panose="020B0403020204020204" pitchFamily="34" charset="0"/>
                <a:cs typeface="Amazon Ember Light" panose="020B0403020204020204" pitchFamily="34" charset="0"/>
              </a:rPr>
              <a:t>Caching improves </a:t>
            </a:r>
            <a:r>
              <a:rPr lang="en-US" dirty="0"/>
              <a:t>application speed and decreases database cost.</a:t>
            </a:r>
          </a:p>
          <a:p>
            <a:r>
              <a:rPr lang="en-US" dirty="0"/>
              <a:t>Content is retrieved from the nearest edge location with static caching and retrieved from an in-memory database layer with database caching.</a:t>
            </a:r>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2862734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dirty="0"/>
              <a:t>Caching using CloudFront</a:t>
            </a:r>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dirty="0"/>
              <a:t>Caching Content</a:t>
            </a:r>
          </a:p>
        </p:txBody>
      </p:sp>
    </p:spTree>
    <p:custDataLst>
      <p:tags r:id="rId1"/>
    </p:custDataLst>
    <p:extLst>
      <p:ext uri="{BB962C8B-B14F-4D97-AF65-F5344CB8AC3E}">
        <p14:creationId xmlns:p14="http://schemas.microsoft.com/office/powerpoint/2010/main" val="3574568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9283381-99AE-404A-946D-B052D644D431}"/>
              </a:ext>
            </a:extLst>
          </p:cNvPr>
          <p:cNvSpPr>
            <a:spLocks noGrp="1"/>
          </p:cNvSpPr>
          <p:nvPr>
            <p:ph type="sldNum" idx="97"/>
          </p:nvPr>
        </p:nvSpPr>
        <p:spPr/>
        <p:txBody>
          <a:bodyPr/>
          <a:lstStyle/>
          <a:p>
            <a:fld id="{4037B1B0-0345-4E15-985A-6BECCDBE474F}" type="slidenum">
              <a:rPr lang="en-US" smtClean="0"/>
              <a:pPr/>
              <a:t>15</a:t>
            </a:fld>
            <a:endParaRPr lang="en-US" dirty="0"/>
          </a:p>
        </p:txBody>
      </p:sp>
      <p:sp>
        <p:nvSpPr>
          <p:cNvPr id="3" name="Title">
            <a:extLst>
              <a:ext uri="{FF2B5EF4-FFF2-40B4-BE49-F238E27FC236}">
                <a16:creationId xmlns:a16="http://schemas.microsoft.com/office/drawing/2014/main" id="{E4D128F6-E612-4B31-8688-C141F0EB12A3}"/>
              </a:ext>
            </a:extLst>
          </p:cNvPr>
          <p:cNvSpPr>
            <a:spLocks noGrp="1"/>
          </p:cNvSpPr>
          <p:nvPr>
            <p:ph type="title" idx="1"/>
          </p:nvPr>
        </p:nvSpPr>
        <p:spPr/>
        <p:txBody>
          <a:bodyPr>
            <a:normAutofit/>
          </a:bodyPr>
          <a:lstStyle/>
          <a:p>
            <a:r>
              <a:rPr lang="en-US" dirty="0"/>
              <a:t>Content delivery network (CDN) </a:t>
            </a:r>
          </a:p>
        </p:txBody>
      </p:sp>
      <p:sp>
        <p:nvSpPr>
          <p:cNvPr id="4" name="Text Placeholder 3">
            <a:extLst>
              <a:ext uri="{FF2B5EF4-FFF2-40B4-BE49-F238E27FC236}">
                <a16:creationId xmlns:a16="http://schemas.microsoft.com/office/drawing/2014/main" id="{64C89B13-1EB6-4B0F-9657-49F76A8CF957}"/>
              </a:ext>
            </a:extLst>
          </p:cNvPr>
          <p:cNvSpPr>
            <a:spLocks noGrp="1"/>
          </p:cNvSpPr>
          <p:nvPr>
            <p:ph type="body" idx="12"/>
          </p:nvPr>
        </p:nvSpPr>
        <p:spPr>
          <a:xfrm>
            <a:off x="365760" y="1053311"/>
            <a:ext cx="3898879" cy="440329"/>
          </a:xfrm>
        </p:spPr>
        <p:txBody>
          <a:bodyPr/>
          <a:lstStyle/>
          <a:p>
            <a:r>
              <a:rPr lang="en-US" dirty="0"/>
              <a:t>Delivery challenge</a:t>
            </a:r>
          </a:p>
        </p:txBody>
      </p:sp>
      <p:sp>
        <p:nvSpPr>
          <p:cNvPr id="5" name="Content Placeholder 4">
            <a:extLst>
              <a:ext uri="{FF2B5EF4-FFF2-40B4-BE49-F238E27FC236}">
                <a16:creationId xmlns:a16="http://schemas.microsoft.com/office/drawing/2014/main" id="{63A44D65-71C0-47E6-9C48-0E86E9EB6017}"/>
              </a:ext>
            </a:extLst>
          </p:cNvPr>
          <p:cNvSpPr>
            <a:spLocks noGrp="1"/>
          </p:cNvSpPr>
          <p:nvPr>
            <p:ph idx="2"/>
          </p:nvPr>
        </p:nvSpPr>
        <p:spPr>
          <a:xfrm>
            <a:off x="365760" y="1563624"/>
            <a:ext cx="3898879" cy="4873752"/>
          </a:xfrm>
        </p:spPr>
        <p:txBody>
          <a:bodyPr/>
          <a:lstStyle/>
          <a:p>
            <a:pPr marL="0" indent="0">
              <a:buNone/>
            </a:pPr>
            <a:r>
              <a:rPr lang="en-US" dirty="0"/>
              <a:t>Deliver geographically dispersed content with low latency and low cost for end users to access.</a:t>
            </a:r>
          </a:p>
        </p:txBody>
      </p:sp>
      <p:sp>
        <p:nvSpPr>
          <p:cNvPr id="6" name="Text Placeholder 5">
            <a:extLst>
              <a:ext uri="{FF2B5EF4-FFF2-40B4-BE49-F238E27FC236}">
                <a16:creationId xmlns:a16="http://schemas.microsoft.com/office/drawing/2014/main" id="{ABE35F5B-5F49-4A7A-B6F7-DD068B102B75}"/>
              </a:ext>
            </a:extLst>
          </p:cNvPr>
          <p:cNvSpPr>
            <a:spLocks noGrp="1"/>
          </p:cNvSpPr>
          <p:nvPr>
            <p:ph type="body" idx="13"/>
          </p:nvPr>
        </p:nvSpPr>
        <p:spPr>
          <a:xfrm>
            <a:off x="4333795" y="1053311"/>
            <a:ext cx="7498541" cy="440329"/>
          </a:xfrm>
        </p:spPr>
        <p:txBody>
          <a:bodyPr/>
          <a:lstStyle/>
          <a:p>
            <a:r>
              <a:rPr lang="en-US" dirty="0"/>
              <a:t>CDN solution</a:t>
            </a:r>
          </a:p>
        </p:txBody>
      </p:sp>
      <p:sp>
        <p:nvSpPr>
          <p:cNvPr id="7" name="Content Placeholder 6">
            <a:extLst>
              <a:ext uri="{FF2B5EF4-FFF2-40B4-BE49-F238E27FC236}">
                <a16:creationId xmlns:a16="http://schemas.microsoft.com/office/drawing/2014/main" id="{9E3BD800-5899-4976-B949-04E7EBF1381C}"/>
              </a:ext>
            </a:extLst>
          </p:cNvPr>
          <p:cNvSpPr>
            <a:spLocks noGrp="1"/>
          </p:cNvSpPr>
          <p:nvPr>
            <p:ph idx="3"/>
          </p:nvPr>
        </p:nvSpPr>
        <p:spPr>
          <a:xfrm>
            <a:off x="4333795" y="1563624"/>
            <a:ext cx="7498541" cy="4873752"/>
          </a:xfrm>
        </p:spPr>
        <p:txBody>
          <a:bodyPr/>
          <a:lstStyle/>
          <a:p>
            <a:r>
              <a:rPr lang="en-US" dirty="0"/>
              <a:t>Is a globally distributed system of caching servers </a:t>
            </a:r>
          </a:p>
          <a:p>
            <a:r>
              <a:rPr lang="en-US" dirty="0"/>
              <a:t>Has intermediary servers between the client and the application</a:t>
            </a:r>
          </a:p>
          <a:p>
            <a:r>
              <a:rPr lang="en-US" dirty="0"/>
              <a:t>Caches copies of commonly requested files (static content)</a:t>
            </a:r>
          </a:p>
          <a:p>
            <a:r>
              <a:rPr lang="en-US" dirty="0"/>
              <a:t>Delivers a local copy of the requested content from a nearby cache edge or point of presence</a:t>
            </a:r>
          </a:p>
        </p:txBody>
      </p:sp>
    </p:spTree>
    <p:custDataLst>
      <p:tags r:id="rId1"/>
    </p:custDataLst>
    <p:extLst>
      <p:ext uri="{BB962C8B-B14F-4D97-AF65-F5344CB8AC3E}">
        <p14:creationId xmlns:p14="http://schemas.microsoft.com/office/powerpoint/2010/main" val="1604690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14EB2F1-CB84-4B35-99F4-C08C6DC30542}"/>
              </a:ext>
            </a:extLst>
          </p:cNvPr>
          <p:cNvSpPr>
            <a:spLocks noGrp="1"/>
          </p:cNvSpPr>
          <p:nvPr>
            <p:ph type="sldNum" idx="97"/>
          </p:nvPr>
        </p:nvSpPr>
        <p:spPr/>
        <p:txBody>
          <a:bodyPr/>
          <a:lstStyle/>
          <a:p>
            <a:fld id="{4037B1B0-0345-4E15-985A-6BECCDBE474F}" type="slidenum">
              <a:rPr lang="en-US" smtClean="0"/>
              <a:pPr/>
              <a:t>16</a:t>
            </a:fld>
            <a:endParaRPr lang="en-US" dirty="0"/>
          </a:p>
        </p:txBody>
      </p:sp>
      <p:sp>
        <p:nvSpPr>
          <p:cNvPr id="3" name="Title">
            <a:extLst>
              <a:ext uri="{FF2B5EF4-FFF2-40B4-BE49-F238E27FC236}">
                <a16:creationId xmlns:a16="http://schemas.microsoft.com/office/drawing/2014/main" id="{C64085E5-70F8-4244-AE9D-1C015989C39A}"/>
              </a:ext>
            </a:extLst>
          </p:cNvPr>
          <p:cNvSpPr>
            <a:spLocks noGrp="1"/>
          </p:cNvSpPr>
          <p:nvPr>
            <p:ph type="title" idx="1"/>
          </p:nvPr>
        </p:nvSpPr>
        <p:spPr/>
        <p:txBody>
          <a:bodyPr>
            <a:normAutofit fontScale="90000"/>
          </a:bodyPr>
          <a:lstStyle/>
          <a:p>
            <a:r>
              <a:rPr lang="en-US" dirty="0"/>
              <a:t>Which type of content can you cache by using an edge cache?</a:t>
            </a:r>
          </a:p>
        </p:txBody>
      </p:sp>
      <p:grpSp>
        <p:nvGrpSpPr>
          <p:cNvPr id="4" name="Flatten TypeOfContent" descr="A webpage shows content that can and can’t be cached. See notes for details.">
            <a:extLst>
              <a:ext uri="{FF2B5EF4-FFF2-40B4-BE49-F238E27FC236}">
                <a16:creationId xmlns:a16="http://schemas.microsoft.com/office/drawing/2014/main" id="{9D1B95DF-10FF-4817-B33D-2DA9FE578903}"/>
              </a:ext>
            </a:extLst>
          </p:cNvPr>
          <p:cNvGrpSpPr/>
          <p:nvPr/>
        </p:nvGrpSpPr>
        <p:grpSpPr>
          <a:xfrm>
            <a:off x="2441457" y="1578060"/>
            <a:ext cx="7182442" cy="4581190"/>
            <a:chOff x="2441457" y="1578060"/>
            <a:chExt cx="7182442" cy="4581190"/>
          </a:xfrm>
        </p:grpSpPr>
        <p:sp>
          <p:nvSpPr>
            <p:cNvPr id="32" name="Rounded Rectangle 10">
              <a:extLst>
                <a:ext uri="{FF2B5EF4-FFF2-40B4-BE49-F238E27FC236}">
                  <a16:creationId xmlns:a16="http://schemas.microsoft.com/office/drawing/2014/main" id="{AE38F5EC-25BF-4BAA-A3C8-A16440D42883}"/>
                </a:ext>
                <a:ext uri="{C183D7F6-B498-43B3-948B-1728B52AA6E4}">
                  <adec:decorative xmlns:adec="http://schemas.microsoft.com/office/drawing/2017/decorative" val="1"/>
                </a:ext>
              </a:extLst>
            </p:cNvPr>
            <p:cNvSpPr/>
            <p:nvPr/>
          </p:nvSpPr>
          <p:spPr bwMode="auto">
            <a:xfrm>
              <a:off x="2441457" y="1578060"/>
              <a:ext cx="7182442" cy="4581190"/>
            </a:xfrm>
            <a:prstGeom prst="roundRect">
              <a:avLst>
                <a:gd name="adj" fmla="val 2483"/>
              </a:avLst>
            </a:prstGeom>
            <a:ln w="19050">
              <a:solidFill>
                <a:schemeClr val="tx2"/>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24" tIns="45712" rIns="91424" bIns="45712" numCol="1" rtlCol="0" anchor="ctr" anchorCtr="0" compatLnSpc="1">
              <a:prstTxWarp prst="textNoShape">
                <a:avLst/>
              </a:prstTxWarp>
            </a:bodyPr>
            <a:lstStyle/>
            <a:p>
              <a:pPr algn="ctr" defTabSz="913924"/>
              <a:endParaRPr lang="en-US" sz="2266" dirty="0">
                <a:solidFill>
                  <a:schemeClr val="tx1">
                    <a:alpha val="99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33" name="Picture 32">
              <a:extLst>
                <a:ext uri="{FF2B5EF4-FFF2-40B4-BE49-F238E27FC236}">
                  <a16:creationId xmlns:a16="http://schemas.microsoft.com/office/drawing/2014/main" id="{82F9D855-FC0E-4136-ABE9-CD330A77776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3412" y="1972737"/>
              <a:ext cx="6822194" cy="1127635"/>
            </a:xfrm>
            <a:prstGeom prst="rect">
              <a:avLst/>
            </a:prstGeom>
          </p:spPr>
        </p:pic>
        <p:pic>
          <p:nvPicPr>
            <p:cNvPr id="34" name="Picture 33">
              <a:extLst>
                <a:ext uri="{FF2B5EF4-FFF2-40B4-BE49-F238E27FC236}">
                  <a16:creationId xmlns:a16="http://schemas.microsoft.com/office/drawing/2014/main" id="{796EBD37-EE98-4D6B-BB6A-2789540302C8}"/>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603411" y="3212247"/>
              <a:ext cx="6917104" cy="2904923"/>
            </a:xfrm>
            <a:prstGeom prst="rect">
              <a:avLst/>
            </a:prstGeom>
          </p:spPr>
        </p:pic>
        <p:sp>
          <p:nvSpPr>
            <p:cNvPr id="36" name="Oval 35">
              <a:extLst>
                <a:ext uri="{FF2B5EF4-FFF2-40B4-BE49-F238E27FC236}">
                  <a16:creationId xmlns:a16="http://schemas.microsoft.com/office/drawing/2014/main" id="{9C46DF66-414B-4B58-A6EE-B219BFC61B09}"/>
                </a:ext>
                <a:ext uri="{C183D7F6-B498-43B3-948B-1728B52AA6E4}">
                  <adec:decorative xmlns:adec="http://schemas.microsoft.com/office/drawing/2017/decorative" val="1"/>
                </a:ext>
              </a:extLst>
            </p:cNvPr>
            <p:cNvSpPr/>
            <p:nvPr/>
          </p:nvSpPr>
          <p:spPr bwMode="auto">
            <a:xfrm>
              <a:off x="7180457" y="4981993"/>
              <a:ext cx="1159314" cy="898347"/>
            </a:xfrm>
            <a:prstGeom prst="ellipse">
              <a:avLst/>
            </a:prstGeom>
            <a:noFill/>
            <a:ln w="28575">
              <a:solidFill>
                <a:srgbClr val="19594E"/>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24" tIns="45712" rIns="91424" bIns="45712" numCol="1" rtlCol="0" anchor="ctr" anchorCtr="0" compatLnSpc="1">
              <a:prstTxWarp prst="textNoShape">
                <a:avLst/>
              </a:prstTxWarp>
            </a:bodyPr>
            <a:lstStyle/>
            <a:p>
              <a:pPr algn="ctr" defTabSz="913924"/>
              <a:endParaRPr lang="en-US" sz="2266" dirty="0">
                <a:solidFill>
                  <a:schemeClr val="tx1">
                    <a:alpha val="99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37" name="Picture 36">
              <a:extLst>
                <a:ext uri="{FF2B5EF4-FFF2-40B4-BE49-F238E27FC236}">
                  <a16:creationId xmlns:a16="http://schemas.microsoft.com/office/drawing/2014/main" id="{4BBE35D9-5C89-4B86-8D4D-BE8AEFF48C35}"/>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2648128" y="1645526"/>
              <a:ext cx="6777478" cy="351050"/>
            </a:xfrm>
            <a:prstGeom prst="rect">
              <a:avLst/>
            </a:prstGeom>
          </p:spPr>
        </p:pic>
        <p:sp>
          <p:nvSpPr>
            <p:cNvPr id="38" name="Oval 37">
              <a:extLst>
                <a:ext uri="{FF2B5EF4-FFF2-40B4-BE49-F238E27FC236}">
                  <a16:creationId xmlns:a16="http://schemas.microsoft.com/office/drawing/2014/main" id="{57E5570F-CEE6-401A-9CA5-C9631CF649C5}"/>
                </a:ext>
                <a:ext uri="{C183D7F6-B498-43B3-948B-1728B52AA6E4}">
                  <adec:decorative xmlns:adec="http://schemas.microsoft.com/office/drawing/2017/decorative" val="1"/>
                </a:ext>
              </a:extLst>
            </p:cNvPr>
            <p:cNvSpPr/>
            <p:nvPr/>
          </p:nvSpPr>
          <p:spPr bwMode="auto">
            <a:xfrm>
              <a:off x="3824168" y="2052857"/>
              <a:ext cx="1193146" cy="349931"/>
            </a:xfrm>
            <a:prstGeom prst="ellipse">
              <a:avLst/>
            </a:prstGeom>
            <a:noFill/>
            <a:ln w="28575">
              <a:solidFill>
                <a:srgbClr val="007FAA"/>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24" tIns="45712" rIns="91424" bIns="45712" numCol="1" rtlCol="0" anchor="ctr" anchorCtr="0" compatLnSpc="1">
              <a:prstTxWarp prst="textNoShape">
                <a:avLst/>
              </a:prstTxWarp>
            </a:bodyPr>
            <a:lstStyle/>
            <a:p>
              <a:pPr algn="ctr" defTabSz="913924"/>
              <a:endParaRPr lang="en-US" sz="2266" dirty="0">
                <a:solidFill>
                  <a:schemeClr val="tx1">
                    <a:alpha val="99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Rectangle: Rounded Corners 48">
              <a:extLst>
                <a:ext uri="{FF2B5EF4-FFF2-40B4-BE49-F238E27FC236}">
                  <a16:creationId xmlns:a16="http://schemas.microsoft.com/office/drawing/2014/main" id="{F8C3AA18-4A31-4CDC-BF56-6E25A4E8FCDF}"/>
                </a:ext>
                <a:ext uri="{C183D7F6-B498-43B3-948B-1728B52AA6E4}">
                  <adec:decorative xmlns:adec="http://schemas.microsoft.com/office/drawing/2017/decorative" val="1"/>
                </a:ext>
              </a:extLst>
            </p:cNvPr>
            <p:cNvSpPr/>
            <p:nvPr/>
          </p:nvSpPr>
          <p:spPr>
            <a:xfrm>
              <a:off x="2565311" y="3371277"/>
              <a:ext cx="2550322" cy="2745894"/>
            </a:xfrm>
            <a:prstGeom prst="roundRect">
              <a:avLst/>
            </a:prstGeom>
            <a:noFill/>
            <a:ln w="28575">
              <a:solidFill>
                <a:srgbClr val="1959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Oval 51">
              <a:extLst>
                <a:ext uri="{FF2B5EF4-FFF2-40B4-BE49-F238E27FC236}">
                  <a16:creationId xmlns:a16="http://schemas.microsoft.com/office/drawing/2014/main" id="{CF9EB3FB-2B71-4DD0-A66C-C568C03DD3FA}"/>
                </a:ext>
                <a:ext uri="{C183D7F6-B498-43B3-948B-1728B52AA6E4}">
                  <adec:decorative xmlns:adec="http://schemas.microsoft.com/office/drawing/2017/decorative" val="1"/>
                </a:ext>
              </a:extLst>
            </p:cNvPr>
            <p:cNvSpPr/>
            <p:nvPr/>
          </p:nvSpPr>
          <p:spPr bwMode="auto">
            <a:xfrm>
              <a:off x="4604510" y="2364480"/>
              <a:ext cx="4643100" cy="467098"/>
            </a:xfrm>
            <a:prstGeom prst="ellipse">
              <a:avLst/>
            </a:prstGeom>
            <a:noFill/>
            <a:ln w="28575">
              <a:solidFill>
                <a:srgbClr val="007FAA"/>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1424" tIns="45712" rIns="91424" bIns="45712" numCol="1" rtlCol="0" anchor="ctr" anchorCtr="0" compatLnSpc="1">
              <a:prstTxWarp prst="textNoShape">
                <a:avLst/>
              </a:prstTxWarp>
            </a:bodyPr>
            <a:lstStyle/>
            <a:p>
              <a:pPr algn="ctr" defTabSz="913924"/>
              <a:endParaRPr lang="en-US" sz="2266" dirty="0">
                <a:solidFill>
                  <a:schemeClr val="tx1">
                    <a:alpha val="99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6" name="Rectangle 15">
              <a:extLst>
                <a:ext uri="{FF2B5EF4-FFF2-40B4-BE49-F238E27FC236}">
                  <a16:creationId xmlns:a16="http://schemas.microsoft.com/office/drawing/2014/main" id="{7F965421-10FF-40D1-9600-6B0AA8F5558A}"/>
                </a:ext>
              </a:extLst>
            </p:cNvPr>
            <p:cNvSpPr/>
            <p:nvPr/>
          </p:nvSpPr>
          <p:spPr>
            <a:xfrm>
              <a:off x="2645197" y="1991776"/>
              <a:ext cx="1050520" cy="380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7" name="Callout: Custom color set menu">
            <a:extLst>
              <a:ext uri="{FF2B5EF4-FFF2-40B4-BE49-F238E27FC236}">
                <a16:creationId xmlns:a16="http://schemas.microsoft.com/office/drawing/2014/main" id="{0CE3AD4B-1A52-42D9-90D1-9A4D2C2A2C8C}"/>
              </a:ext>
              <a:ext uri="{C183D7F6-B498-43B3-948B-1728B52AA6E4}">
                <adec:decorative xmlns:adec="http://schemas.microsoft.com/office/drawing/2017/decorative" val="0"/>
              </a:ext>
            </a:extLst>
          </p:cNvPr>
          <p:cNvSpPr/>
          <p:nvPr/>
        </p:nvSpPr>
        <p:spPr>
          <a:xfrm>
            <a:off x="842824" y="5202010"/>
            <a:ext cx="1536706" cy="584775"/>
          </a:xfrm>
          <a:prstGeom prst="borderCallout2">
            <a:avLst>
              <a:gd name="adj1" fmla="val 116"/>
              <a:gd name="adj2" fmla="val 49952"/>
              <a:gd name="adj3" fmla="val -70386"/>
              <a:gd name="adj4" fmla="val 50096"/>
              <a:gd name="adj5" fmla="val -72110"/>
              <a:gd name="adj6" fmla="val 112047"/>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dirty="0">
                <a:solidFill>
                  <a:schemeClr val="bg1"/>
                </a:solidFill>
              </a:rPr>
              <a:t>Images </a:t>
            </a:r>
            <a:br>
              <a:rPr lang="en-US" sz="1600" dirty="0">
                <a:solidFill>
                  <a:schemeClr val="bg1"/>
                </a:solidFill>
              </a:rPr>
            </a:br>
            <a:r>
              <a:rPr lang="en-US" sz="1600" dirty="0">
                <a:solidFill>
                  <a:schemeClr val="bg1"/>
                </a:solidFill>
              </a:rPr>
              <a:t>can be cached.</a:t>
            </a:r>
          </a:p>
        </p:txBody>
      </p:sp>
      <p:sp>
        <p:nvSpPr>
          <p:cNvPr id="58" name="Callout: Custom color set menu">
            <a:extLst>
              <a:ext uri="{FF2B5EF4-FFF2-40B4-BE49-F238E27FC236}">
                <a16:creationId xmlns:a16="http://schemas.microsoft.com/office/drawing/2014/main" id="{5D7B33DA-C84F-488A-8AD2-3F763DCB1C51}"/>
              </a:ext>
              <a:ext uri="{C183D7F6-B498-43B3-948B-1728B52AA6E4}">
                <adec:decorative xmlns:adec="http://schemas.microsoft.com/office/drawing/2017/decorative" val="0"/>
              </a:ext>
            </a:extLst>
          </p:cNvPr>
          <p:cNvSpPr/>
          <p:nvPr/>
        </p:nvSpPr>
        <p:spPr>
          <a:xfrm>
            <a:off x="8938712" y="5504653"/>
            <a:ext cx="1536706" cy="584775"/>
          </a:xfrm>
          <a:prstGeom prst="borderCallout2">
            <a:avLst>
              <a:gd name="adj1" fmla="val 116"/>
              <a:gd name="adj2" fmla="val 49952"/>
              <a:gd name="adj3" fmla="val -66444"/>
              <a:gd name="adj4" fmla="val 49596"/>
              <a:gd name="adj5" fmla="val -66261"/>
              <a:gd name="adj6" fmla="val -49268"/>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dirty="0">
                <a:solidFill>
                  <a:schemeClr val="bg1"/>
                </a:solidFill>
              </a:rPr>
              <a:t>Videos </a:t>
            </a:r>
            <a:br>
              <a:rPr lang="en-US" sz="1600" dirty="0">
                <a:solidFill>
                  <a:schemeClr val="bg1"/>
                </a:solidFill>
              </a:rPr>
            </a:br>
            <a:r>
              <a:rPr lang="en-US" sz="1600" dirty="0">
                <a:solidFill>
                  <a:schemeClr val="bg1"/>
                </a:solidFill>
              </a:rPr>
              <a:t>can be cached.</a:t>
            </a:r>
          </a:p>
        </p:txBody>
      </p:sp>
      <p:sp>
        <p:nvSpPr>
          <p:cNvPr id="59" name="Callout: Custom color set menu">
            <a:extLst>
              <a:ext uri="{FF2B5EF4-FFF2-40B4-BE49-F238E27FC236}">
                <a16:creationId xmlns:a16="http://schemas.microsoft.com/office/drawing/2014/main" id="{6C3290B1-8C0D-4421-B6CE-4FF3897F73CA}"/>
              </a:ext>
              <a:ext uri="{C183D7F6-B498-43B3-948B-1728B52AA6E4}">
                <adec:decorative xmlns:adec="http://schemas.microsoft.com/office/drawing/2017/decorative" val="0"/>
              </a:ext>
            </a:extLst>
          </p:cNvPr>
          <p:cNvSpPr/>
          <p:nvPr/>
        </p:nvSpPr>
        <p:spPr>
          <a:xfrm>
            <a:off x="10057366" y="4159449"/>
            <a:ext cx="1536706" cy="584775"/>
          </a:xfrm>
          <a:prstGeom prst="borderCallout2">
            <a:avLst>
              <a:gd name="adj1" fmla="val 69822"/>
              <a:gd name="adj2" fmla="val 49235"/>
              <a:gd name="adj3" fmla="val -185133"/>
              <a:gd name="adj4" fmla="val 48879"/>
              <a:gd name="adj5" fmla="val -184950"/>
              <a:gd name="adj6" fmla="val -48552"/>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dirty="0">
                <a:solidFill>
                  <a:schemeClr val="bg1"/>
                </a:solidFill>
              </a:rPr>
              <a:t>Web objects </a:t>
            </a:r>
            <a:br>
              <a:rPr lang="en-US" sz="1600" dirty="0">
                <a:solidFill>
                  <a:schemeClr val="bg1"/>
                </a:solidFill>
              </a:rPr>
            </a:br>
            <a:r>
              <a:rPr lang="en-US" sz="1600" dirty="0">
                <a:solidFill>
                  <a:schemeClr val="bg1"/>
                </a:solidFill>
              </a:rPr>
              <a:t>can be cached.</a:t>
            </a:r>
          </a:p>
        </p:txBody>
      </p:sp>
      <p:sp>
        <p:nvSpPr>
          <p:cNvPr id="24" name="Callout: Custom color set menu">
            <a:extLst>
              <a:ext uri="{FF2B5EF4-FFF2-40B4-BE49-F238E27FC236}">
                <a16:creationId xmlns:a16="http://schemas.microsoft.com/office/drawing/2014/main" id="{1B9F2487-4960-434F-B88F-911DF96C0540}"/>
              </a:ext>
              <a:ext uri="{C183D7F6-B498-43B3-948B-1728B52AA6E4}">
                <adec:decorative xmlns:adec="http://schemas.microsoft.com/office/drawing/2017/decorative" val="0"/>
              </a:ext>
            </a:extLst>
          </p:cNvPr>
          <p:cNvSpPr/>
          <p:nvPr/>
        </p:nvSpPr>
        <p:spPr>
          <a:xfrm>
            <a:off x="198262" y="2259208"/>
            <a:ext cx="2115024" cy="1077218"/>
          </a:xfrm>
          <a:prstGeom prst="borderCallout2">
            <a:avLst>
              <a:gd name="adj1" fmla="val 116"/>
              <a:gd name="adj2" fmla="val 49383"/>
              <a:gd name="adj3" fmla="val -27962"/>
              <a:gd name="adj4" fmla="val 48958"/>
              <a:gd name="adj5" fmla="val -25894"/>
              <a:gd name="adj6" fmla="val 180332"/>
            </a:avLst>
          </a:prstGeom>
          <a:solidFill>
            <a:schemeClr val="accent2"/>
          </a:solidFill>
          <a:ln w="44450">
            <a:solidFill>
              <a:schemeClr val="accent2"/>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Dynamically generated content cannot be cached by using an edge cache.</a:t>
            </a:r>
          </a:p>
        </p:txBody>
      </p:sp>
      <p:sp>
        <p:nvSpPr>
          <p:cNvPr id="41" name="Callout: Custom color set menu">
            <a:extLst>
              <a:ext uri="{FF2B5EF4-FFF2-40B4-BE49-F238E27FC236}">
                <a16:creationId xmlns:a16="http://schemas.microsoft.com/office/drawing/2014/main" id="{294CF9EB-A442-4B21-83C4-3DF7188A7D06}"/>
              </a:ext>
              <a:ext uri="{C183D7F6-B498-43B3-948B-1728B52AA6E4}">
                <adec:decorative xmlns:adec="http://schemas.microsoft.com/office/drawing/2017/decorative" val="0"/>
              </a:ext>
            </a:extLst>
          </p:cNvPr>
          <p:cNvSpPr/>
          <p:nvPr/>
        </p:nvSpPr>
        <p:spPr>
          <a:xfrm>
            <a:off x="10027952" y="1918544"/>
            <a:ext cx="1936373" cy="1077218"/>
          </a:xfrm>
          <a:prstGeom prst="borderCallout2">
            <a:avLst>
              <a:gd name="adj1" fmla="val 53146"/>
              <a:gd name="adj2" fmla="val -2391"/>
              <a:gd name="adj3" fmla="val 52908"/>
              <a:gd name="adj4" fmla="val -10212"/>
              <a:gd name="adj5" fmla="val 53650"/>
              <a:gd name="adj6" fmla="val -45538"/>
            </a:avLst>
          </a:prstGeom>
          <a:solidFill>
            <a:schemeClr val="accent2"/>
          </a:solidFill>
          <a:ln w="44450">
            <a:solidFill>
              <a:schemeClr val="accent2"/>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User-generated data cannot be cached by using an edge cache.</a:t>
            </a:r>
          </a:p>
        </p:txBody>
      </p:sp>
    </p:spTree>
    <p:custDataLst>
      <p:tags r:id="rId1"/>
    </p:custDataLst>
    <p:extLst>
      <p:ext uri="{BB962C8B-B14F-4D97-AF65-F5344CB8AC3E}">
        <p14:creationId xmlns:p14="http://schemas.microsoft.com/office/powerpoint/2010/main" val="4937373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9C497A92-04D3-453B-A581-69706C33898F}"/>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784ABB48-2154-4B80-98B1-05018A154512}"/>
              </a:ext>
            </a:extLst>
          </p:cNvPr>
          <p:cNvSpPr>
            <a:spLocks noGrp="1"/>
          </p:cNvSpPr>
          <p:nvPr>
            <p:ph type="title" idx="1"/>
          </p:nvPr>
        </p:nvSpPr>
        <p:spPr/>
        <p:txBody>
          <a:bodyPr/>
          <a:lstStyle/>
          <a:p>
            <a:r>
              <a:rPr lang="en-US" dirty="0"/>
              <a:t>CloudFront</a:t>
            </a:r>
          </a:p>
        </p:txBody>
      </p:sp>
      <p:pic>
        <p:nvPicPr>
          <p:cNvPr id="11" name="Graphic 19">
            <a:extLst>
              <a:ext uri="{FF2B5EF4-FFF2-40B4-BE49-F238E27FC236}">
                <a16:creationId xmlns:a16="http://schemas.microsoft.com/office/drawing/2014/main" id="{739E4E2B-805D-48FB-86E9-8ECE5432DA9D}"/>
              </a:ext>
              <a:ext uri="{C183D7F6-B498-43B3-948B-1728B52AA6E4}">
                <adec:decorative xmlns:adec="http://schemas.microsoft.com/office/drawing/2017/decorative" val="1"/>
              </a:ext>
            </a:extLst>
          </p:cNvPr>
          <p:cNvPicPr>
            <a:picLocks noGrp="1" noChangeAspect="1" noChangeArrowheads="1"/>
          </p:cNvPicPr>
          <p:nvPr>
            <p:ph type="pic" idx="3"/>
          </p:nvPr>
        </p:nvPicPr>
        <p:blipFill>
          <a:blip r:embed="rId4">
            <a:extLst>
              <a:ext uri="{96DAC541-7B7A-43D3-8B79-37D633B846F1}">
                <asvg:svgBlip xmlns:asvg="http://schemas.microsoft.com/office/drawing/2016/SVG/main" r:embed="rId5"/>
              </a:ext>
            </a:extLst>
          </a:blip>
          <a:srcRect/>
          <a:stretch/>
        </p:blipFill>
        <p:spPr bwMode="auto">
          <a:xfrm>
            <a:off x="531813" y="21828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4">
            <a:extLst>
              <a:ext uri="{FF2B5EF4-FFF2-40B4-BE49-F238E27FC236}">
                <a16:creationId xmlns:a16="http://schemas.microsoft.com/office/drawing/2014/main" id="{2FBCF04C-339B-424A-B511-35766FD2C20F}"/>
              </a:ext>
            </a:extLst>
          </p:cNvPr>
          <p:cNvSpPr>
            <a:spLocks noGrp="1"/>
          </p:cNvSpPr>
          <p:nvPr>
            <p:ph type="body" idx="4"/>
          </p:nvPr>
        </p:nvSpPr>
        <p:spPr/>
        <p:txBody>
          <a:bodyPr/>
          <a:lstStyle/>
          <a:p>
            <a:r>
              <a:rPr lang="en-US" dirty="0"/>
              <a:t>CloudFront</a:t>
            </a:r>
          </a:p>
        </p:txBody>
      </p:sp>
      <p:sp>
        <p:nvSpPr>
          <p:cNvPr id="4" name="Content Placeholder 3">
            <a:extLst>
              <a:ext uri="{FF2B5EF4-FFF2-40B4-BE49-F238E27FC236}">
                <a16:creationId xmlns:a16="http://schemas.microsoft.com/office/drawing/2014/main" id="{C268F2C9-E444-4BDF-BC35-4721C544CDB6}"/>
              </a:ext>
            </a:extLst>
          </p:cNvPr>
          <p:cNvSpPr>
            <a:spLocks noGrp="1"/>
          </p:cNvSpPr>
          <p:nvPr>
            <p:ph idx="2"/>
          </p:nvPr>
        </p:nvSpPr>
        <p:spPr/>
        <p:txBody>
          <a:bodyPr/>
          <a:lstStyle/>
          <a:p>
            <a:r>
              <a:rPr lang="en-US" dirty="0"/>
              <a:t>Is a CDN service that delivers content across the globe securely with low latency and high transfer speeds</a:t>
            </a:r>
          </a:p>
          <a:p>
            <a:r>
              <a:rPr lang="en-US" dirty="0"/>
              <a:t>Provides high-speed content distribution by delivering through edge locations</a:t>
            </a:r>
          </a:p>
          <a:p>
            <a:r>
              <a:rPr lang="en-US" dirty="0"/>
              <a:t>Improves application resiliency from distributed denial of service (DDoS) attacks by leveraging services such as AWS Shield and AWS WAF</a:t>
            </a:r>
          </a:p>
        </p:txBody>
      </p:sp>
    </p:spTree>
    <p:custDataLst>
      <p:tags r:id="rId1"/>
    </p:custDataLst>
    <p:extLst>
      <p:ext uri="{BB962C8B-B14F-4D97-AF65-F5344CB8AC3E}">
        <p14:creationId xmlns:p14="http://schemas.microsoft.com/office/powerpoint/2010/main" val="446889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7B58B23-1E1F-4A8B-BC71-AD867E60A5CB}"/>
              </a:ext>
            </a:extLst>
          </p:cNvPr>
          <p:cNvSpPr>
            <a:spLocks noGrp="1"/>
          </p:cNvSpPr>
          <p:nvPr>
            <p:ph type="sldNum" idx="97"/>
          </p:nvPr>
        </p:nvSpPr>
        <p:spPr/>
        <p:txBody>
          <a:bodyPr/>
          <a:lstStyle/>
          <a:p>
            <a:fld id="{4037B1B0-0345-4E15-985A-6BECCDBE474F}" type="slidenum">
              <a:rPr lang="en-US" smtClean="0"/>
              <a:pPr/>
              <a:t>18</a:t>
            </a:fld>
            <a:endParaRPr lang="en-US" dirty="0"/>
          </a:p>
        </p:txBody>
      </p:sp>
      <p:sp>
        <p:nvSpPr>
          <p:cNvPr id="3" name="Title">
            <a:extLst>
              <a:ext uri="{FF2B5EF4-FFF2-40B4-BE49-F238E27FC236}">
                <a16:creationId xmlns:a16="http://schemas.microsoft.com/office/drawing/2014/main" id="{DDD959CF-A42B-4A37-9B93-7060F9826407}"/>
              </a:ext>
            </a:extLst>
          </p:cNvPr>
          <p:cNvSpPr>
            <a:spLocks noGrp="1"/>
          </p:cNvSpPr>
          <p:nvPr>
            <p:ph type="title" idx="1"/>
          </p:nvPr>
        </p:nvSpPr>
        <p:spPr/>
        <p:txBody>
          <a:bodyPr>
            <a:normAutofit/>
          </a:bodyPr>
          <a:lstStyle/>
          <a:p>
            <a:r>
              <a:rPr lang="en-US" dirty="0"/>
              <a:t>CloudFront global edge network components</a:t>
            </a:r>
          </a:p>
        </p:txBody>
      </p:sp>
      <p:sp>
        <p:nvSpPr>
          <p:cNvPr id="4" name="Text Placeholder 3">
            <a:extLst>
              <a:ext uri="{FF2B5EF4-FFF2-40B4-BE49-F238E27FC236}">
                <a16:creationId xmlns:a16="http://schemas.microsoft.com/office/drawing/2014/main" id="{1FB7DC6C-B1CA-49FE-9B60-5327F3599D92}"/>
              </a:ext>
            </a:extLst>
          </p:cNvPr>
          <p:cNvSpPr>
            <a:spLocks noGrp="1"/>
          </p:cNvSpPr>
          <p:nvPr>
            <p:ph type="body" idx="12"/>
          </p:nvPr>
        </p:nvSpPr>
        <p:spPr/>
        <p:txBody>
          <a:bodyPr/>
          <a:lstStyle/>
          <a:p>
            <a:r>
              <a:rPr lang="en-US" dirty="0"/>
              <a:t>CloudFront edge locations</a:t>
            </a:r>
          </a:p>
        </p:txBody>
      </p:sp>
      <p:sp>
        <p:nvSpPr>
          <p:cNvPr id="5" name="Content Placeholder 4">
            <a:extLst>
              <a:ext uri="{FF2B5EF4-FFF2-40B4-BE49-F238E27FC236}">
                <a16:creationId xmlns:a16="http://schemas.microsoft.com/office/drawing/2014/main" id="{865E5466-F8A8-4A06-81C2-663DA97E47D2}"/>
              </a:ext>
            </a:extLst>
          </p:cNvPr>
          <p:cNvSpPr>
            <a:spLocks noGrp="1"/>
          </p:cNvSpPr>
          <p:nvPr>
            <p:ph idx="2"/>
          </p:nvPr>
        </p:nvSpPr>
        <p:spPr>
          <a:xfrm>
            <a:off x="365760" y="1563624"/>
            <a:ext cx="5669280" cy="2931258"/>
          </a:xfrm>
        </p:spPr>
        <p:txBody>
          <a:bodyPr/>
          <a:lstStyle/>
          <a:p>
            <a:r>
              <a:rPr lang="en-US" dirty="0"/>
              <a:t>Are more numerous and closer to users</a:t>
            </a:r>
          </a:p>
          <a:p>
            <a:r>
              <a:rPr lang="en-US" dirty="0"/>
              <a:t>Have smaller caches</a:t>
            </a:r>
          </a:p>
          <a:p>
            <a:r>
              <a:rPr lang="en-US" dirty="0"/>
              <a:t>Help ensure that popular content can be served quickly to viewers</a:t>
            </a:r>
          </a:p>
          <a:p>
            <a:endParaRPr lang="en-US" dirty="0"/>
          </a:p>
        </p:txBody>
      </p:sp>
      <p:sp>
        <p:nvSpPr>
          <p:cNvPr id="6" name="Text Placeholder 5">
            <a:extLst>
              <a:ext uri="{FF2B5EF4-FFF2-40B4-BE49-F238E27FC236}">
                <a16:creationId xmlns:a16="http://schemas.microsoft.com/office/drawing/2014/main" id="{CEF8355B-20E1-4854-BB4D-72B12C320FF5}"/>
              </a:ext>
            </a:extLst>
          </p:cNvPr>
          <p:cNvSpPr>
            <a:spLocks noGrp="1"/>
          </p:cNvSpPr>
          <p:nvPr>
            <p:ph type="body" idx="13"/>
          </p:nvPr>
        </p:nvSpPr>
        <p:spPr/>
        <p:txBody>
          <a:bodyPr/>
          <a:lstStyle/>
          <a:p>
            <a:r>
              <a:rPr lang="en-US" dirty="0"/>
              <a:t>CloudFront Regional edge caches </a:t>
            </a:r>
          </a:p>
        </p:txBody>
      </p:sp>
      <p:sp>
        <p:nvSpPr>
          <p:cNvPr id="7" name="Content Placeholder 6">
            <a:extLst>
              <a:ext uri="{FF2B5EF4-FFF2-40B4-BE49-F238E27FC236}">
                <a16:creationId xmlns:a16="http://schemas.microsoft.com/office/drawing/2014/main" id="{E17CAFDE-F4E3-4510-B113-97D5832B700F}"/>
              </a:ext>
            </a:extLst>
          </p:cNvPr>
          <p:cNvSpPr>
            <a:spLocks noGrp="1"/>
          </p:cNvSpPr>
          <p:nvPr>
            <p:ph idx="3"/>
          </p:nvPr>
        </p:nvSpPr>
        <p:spPr>
          <a:xfrm>
            <a:off x="6163056" y="1563624"/>
            <a:ext cx="5669280" cy="2931258"/>
          </a:xfrm>
        </p:spPr>
        <p:txBody>
          <a:bodyPr/>
          <a:lstStyle/>
          <a:p>
            <a:r>
              <a:rPr lang="en-US" dirty="0"/>
              <a:t>Are fewer and farther away from users</a:t>
            </a:r>
          </a:p>
          <a:p>
            <a:r>
              <a:rPr lang="en-US" dirty="0"/>
              <a:t>Have larger caches</a:t>
            </a:r>
          </a:p>
          <a:p>
            <a:r>
              <a:rPr lang="en-US" dirty="0"/>
              <a:t>Helps with less popular content in particular</a:t>
            </a:r>
          </a:p>
          <a:p>
            <a:endParaRPr lang="en-US" dirty="0"/>
          </a:p>
        </p:txBody>
      </p:sp>
      <p:grpSp>
        <p:nvGrpSpPr>
          <p:cNvPr id="8" name="Flatten GlobalEdgeNetwork" descr="Where Regional edge caches and edge locations are placed in relation to the user is shown. See notes for details.">
            <a:extLst>
              <a:ext uri="{FF2B5EF4-FFF2-40B4-BE49-F238E27FC236}">
                <a16:creationId xmlns:a16="http://schemas.microsoft.com/office/drawing/2014/main" id="{E0892DA0-F978-4F16-8413-97AAD76B08EB}"/>
              </a:ext>
            </a:extLst>
          </p:cNvPr>
          <p:cNvGrpSpPr/>
          <p:nvPr/>
        </p:nvGrpSpPr>
        <p:grpSpPr>
          <a:xfrm>
            <a:off x="1977510" y="4425223"/>
            <a:ext cx="8162650" cy="2010262"/>
            <a:chOff x="1977510" y="4425223"/>
            <a:chExt cx="8162650" cy="2010262"/>
          </a:xfrm>
        </p:grpSpPr>
        <p:grpSp>
          <p:nvGrpSpPr>
            <p:cNvPr id="26" name="Group 25">
              <a:extLst>
                <a:ext uri="{FF2B5EF4-FFF2-40B4-BE49-F238E27FC236}">
                  <a16:creationId xmlns:a16="http://schemas.microsoft.com/office/drawing/2014/main" id="{0AEBC6A3-CD59-48C1-B380-5C1EB840FDDE}"/>
                </a:ext>
              </a:extLst>
            </p:cNvPr>
            <p:cNvGrpSpPr/>
            <p:nvPr/>
          </p:nvGrpSpPr>
          <p:grpSpPr>
            <a:xfrm>
              <a:off x="1977510" y="4494882"/>
              <a:ext cx="8162650" cy="1940603"/>
              <a:chOff x="1951474" y="4812643"/>
              <a:chExt cx="8162650" cy="1940603"/>
            </a:xfrm>
          </p:grpSpPr>
          <p:sp>
            <p:nvSpPr>
              <p:cNvPr id="10" name="TextBox 9">
                <a:extLst>
                  <a:ext uri="{FF2B5EF4-FFF2-40B4-BE49-F238E27FC236}">
                    <a16:creationId xmlns:a16="http://schemas.microsoft.com/office/drawing/2014/main" id="{7DE83D1F-4EF7-4754-ACA0-BAF880E5EA7D}"/>
                  </a:ext>
                </a:extLst>
              </p:cNvPr>
              <p:cNvSpPr txBox="1"/>
              <p:nvPr/>
            </p:nvSpPr>
            <p:spPr>
              <a:xfrm>
                <a:off x="5849840" y="5552917"/>
                <a:ext cx="1985109" cy="1200329"/>
              </a:xfrm>
              <a:prstGeom prst="rect">
                <a:avLst/>
              </a:prstGeom>
              <a:noFill/>
              <a:ln w="28575">
                <a:noFill/>
              </a:ln>
            </p:spPr>
            <p:txBody>
              <a:bodyPr wrap="square" rtlCol="0">
                <a:spAutoFit/>
              </a:bodyPr>
              <a:lstStyle/>
              <a:p>
                <a:pPr algn="ctr"/>
                <a:r>
                  <a:rPr lang="en-US" sz="2400" dirty="0">
                    <a:solidFill>
                      <a:srgbClr val="232F3E"/>
                    </a:solidFill>
                  </a:rPr>
                  <a:t>Regional edge cache</a:t>
                </a:r>
              </a:p>
              <a:p>
                <a:pPr algn="ctr"/>
                <a:endParaRPr lang="en-US" sz="2400" dirty="0">
                  <a:solidFill>
                    <a:srgbClr val="232F3E"/>
                  </a:solidFill>
                </a:endParaRPr>
              </a:p>
            </p:txBody>
          </p:sp>
          <p:grpSp>
            <p:nvGrpSpPr>
              <p:cNvPr id="15" name="Group 14">
                <a:extLst>
                  <a:ext uri="{FF2B5EF4-FFF2-40B4-BE49-F238E27FC236}">
                    <a16:creationId xmlns:a16="http://schemas.microsoft.com/office/drawing/2014/main" id="{83872E01-A261-49A4-9410-CDAEAF5B0995}"/>
                  </a:ext>
                </a:extLst>
              </p:cNvPr>
              <p:cNvGrpSpPr/>
              <p:nvPr/>
            </p:nvGrpSpPr>
            <p:grpSpPr>
              <a:xfrm>
                <a:off x="1951474" y="4812643"/>
                <a:ext cx="8162650" cy="1755936"/>
                <a:chOff x="1951474" y="4812643"/>
                <a:chExt cx="8162650" cy="1755936"/>
              </a:xfrm>
            </p:grpSpPr>
            <p:sp>
              <p:nvSpPr>
                <p:cNvPr id="11" name="TextBox 10">
                  <a:extLst>
                    <a:ext uri="{FF2B5EF4-FFF2-40B4-BE49-F238E27FC236}">
                      <a16:creationId xmlns:a16="http://schemas.microsoft.com/office/drawing/2014/main" id="{B18CA3BA-348E-41A3-AD37-2DE1E981F002}"/>
                    </a:ext>
                  </a:extLst>
                </p:cNvPr>
                <p:cNvSpPr txBox="1"/>
                <p:nvPr/>
              </p:nvSpPr>
              <p:spPr>
                <a:xfrm>
                  <a:off x="8367069" y="5737582"/>
                  <a:ext cx="1747055" cy="830997"/>
                </a:xfrm>
                <a:prstGeom prst="rect">
                  <a:avLst/>
                </a:prstGeom>
                <a:noFill/>
                <a:ln w="28575">
                  <a:noFill/>
                </a:ln>
              </p:spPr>
              <p:txBody>
                <a:bodyPr wrap="square" rtlCol="0">
                  <a:spAutoFit/>
                </a:bodyPr>
                <a:lstStyle/>
                <a:p>
                  <a:pPr algn="ctr"/>
                  <a:r>
                    <a:rPr lang="en-US" sz="2400" dirty="0">
                      <a:solidFill>
                        <a:srgbClr val="232F3E"/>
                      </a:solidFill>
                    </a:rPr>
                    <a:t>Origin location</a:t>
                  </a:r>
                </a:p>
              </p:txBody>
            </p:sp>
            <p:cxnSp>
              <p:nvCxnSpPr>
                <p:cNvPr id="12" name="Straight Arrow Connector 11">
                  <a:extLst>
                    <a:ext uri="{FF2B5EF4-FFF2-40B4-BE49-F238E27FC236}">
                      <a16:creationId xmlns:a16="http://schemas.microsoft.com/office/drawing/2014/main" id="{1B2BD098-9DA3-4214-803D-920B8C10D9E3}"/>
                    </a:ext>
                  </a:extLst>
                </p:cNvPr>
                <p:cNvCxnSpPr>
                  <a:cxnSpLocks/>
                </p:cNvCxnSpPr>
                <p:nvPr/>
              </p:nvCxnSpPr>
              <p:spPr>
                <a:xfrm>
                  <a:off x="2895671" y="5320449"/>
                  <a:ext cx="951673" cy="0"/>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BB37EC-8A41-49A1-85EA-CCA1704E359C}"/>
                    </a:ext>
                  </a:extLst>
                </p:cNvPr>
                <p:cNvCxnSpPr>
                  <a:cxnSpLocks/>
                </p:cNvCxnSpPr>
                <p:nvPr/>
              </p:nvCxnSpPr>
              <p:spPr>
                <a:xfrm>
                  <a:off x="4955828" y="5292931"/>
                  <a:ext cx="1079212" cy="1445"/>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66B4E2E-4575-44DF-837F-CAE26790C61F}"/>
                    </a:ext>
                  </a:extLst>
                </p:cNvPr>
                <p:cNvCxnSpPr>
                  <a:cxnSpLocks/>
                </p:cNvCxnSpPr>
                <p:nvPr/>
              </p:nvCxnSpPr>
              <p:spPr>
                <a:xfrm>
                  <a:off x="7518264" y="5292931"/>
                  <a:ext cx="1021484" cy="1444"/>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17" name="TextBox 22">
                  <a:extLst>
                    <a:ext uri="{FF2B5EF4-FFF2-40B4-BE49-F238E27FC236}">
                      <a16:creationId xmlns:a16="http://schemas.microsoft.com/office/drawing/2014/main" id="{4E5DED5E-824A-492C-B9CE-BE19276C4793}"/>
                    </a:ext>
                  </a:extLst>
                </p:cNvPr>
                <p:cNvSpPr txBox="1">
                  <a:spLocks noChangeArrowheads="1"/>
                </p:cNvSpPr>
                <p:nvPr/>
              </p:nvSpPr>
              <p:spPr bwMode="auto">
                <a:xfrm>
                  <a:off x="3519924" y="5525007"/>
                  <a:ext cx="170936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dirty="0">
                      <a:solidFill>
                        <a:srgbClr val="232F3E"/>
                      </a:solidFill>
                      <a:latin typeface="+mn-lt"/>
                    </a:rPr>
                    <a:t>Edge location</a:t>
                  </a:r>
                </a:p>
              </p:txBody>
            </p:sp>
            <p:pic>
              <p:nvPicPr>
                <p:cNvPr id="19" name="Graphic 18">
                  <a:extLst>
                    <a:ext uri="{FF2B5EF4-FFF2-40B4-BE49-F238E27FC236}">
                      <a16:creationId xmlns:a16="http://schemas.microsoft.com/office/drawing/2014/main" id="{F67F4DFF-A11D-443F-8351-6A6CB676D5E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46007" y="5055459"/>
                  <a:ext cx="457200" cy="457200"/>
                </a:xfrm>
                <a:prstGeom prst="rect">
                  <a:avLst/>
                </a:prstGeom>
              </p:spPr>
            </p:pic>
            <p:pic>
              <p:nvPicPr>
                <p:cNvPr id="20" name="Graphic 22">
                  <a:extLst>
                    <a:ext uri="{FF2B5EF4-FFF2-40B4-BE49-F238E27FC236}">
                      <a16:creationId xmlns:a16="http://schemas.microsoft.com/office/drawing/2014/main" id="{88947083-8236-4B94-B155-5C092D63DF38}"/>
                    </a:ext>
                  </a:extLst>
                </p:cNvPr>
                <p:cNvPicPr>
                  <a:picLocks noChangeAspect="1" noChangeArrowheads="1"/>
                </p:cNvPicPr>
                <p:nvPr/>
              </p:nvPicPr>
              <p:blipFill>
                <a:blip r:embed="rId6">
                  <a:extLst>
                    <a:ext uri="{96DAC541-7B7A-43D3-8B79-37D633B846F1}">
                      <asvg:svgBlip xmlns:asvg="http://schemas.microsoft.com/office/drawing/2016/SVG/main" r:embed="rId7"/>
                    </a:ext>
                  </a:extLst>
                </a:blip>
                <a:srcRect/>
                <a:stretch/>
              </p:blipFill>
              <p:spPr bwMode="auto">
                <a:xfrm>
                  <a:off x="2139223" y="4882746"/>
                  <a:ext cx="670171" cy="67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Box 39">
                  <a:extLst>
                    <a:ext uri="{FF2B5EF4-FFF2-40B4-BE49-F238E27FC236}">
                      <a16:creationId xmlns:a16="http://schemas.microsoft.com/office/drawing/2014/main" id="{FE426AFA-5620-4622-A9F6-6C1724D71193}"/>
                    </a:ext>
                  </a:extLst>
                </p:cNvPr>
                <p:cNvSpPr txBox="1">
                  <a:spLocks noChangeArrowheads="1"/>
                </p:cNvSpPr>
                <p:nvPr/>
              </p:nvSpPr>
              <p:spPr bwMode="auto">
                <a:xfrm>
                  <a:off x="1951474" y="5510169"/>
                  <a:ext cx="1073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400" dirty="0">
                      <a:solidFill>
                        <a:srgbClr val="232F3E"/>
                      </a:solidFill>
                      <a:latin typeface="+mn-lt"/>
                    </a:rPr>
                    <a:t>User</a:t>
                  </a:r>
                </a:p>
              </p:txBody>
            </p:sp>
            <p:pic>
              <p:nvPicPr>
                <p:cNvPr id="25" name="Graphic 24">
                  <a:extLst>
                    <a:ext uri="{FF2B5EF4-FFF2-40B4-BE49-F238E27FC236}">
                      <a16:creationId xmlns:a16="http://schemas.microsoft.com/office/drawing/2014/main" id="{3F6EC225-D214-4B63-8C60-7C4D93CB992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97212" y="4812643"/>
                  <a:ext cx="810376" cy="810376"/>
                </a:xfrm>
                <a:prstGeom prst="rect">
                  <a:avLst/>
                </a:prstGeom>
              </p:spPr>
            </p:pic>
          </p:grpSp>
        </p:grpSp>
        <p:pic>
          <p:nvPicPr>
            <p:cNvPr id="23" name="Picture Placeholder 33">
              <a:extLst>
                <a:ext uri="{FF2B5EF4-FFF2-40B4-BE49-F238E27FC236}">
                  <a16:creationId xmlns:a16="http://schemas.microsoft.com/office/drawing/2014/main" id="{E57A6443-F14C-4016-B452-ECFB81D66ABC}"/>
                </a:ext>
                <a:ext uri="{C183D7F6-B498-43B3-948B-1728B52AA6E4}">
                  <adec:decorative xmlns:adec="http://schemas.microsoft.com/office/drawing/2017/decorative" val="1"/>
                </a:ext>
              </a:extLst>
            </p:cNvPr>
            <p:cNvPicPr>
              <a:picLocks noChangeAspect="1"/>
            </p:cNvPicPr>
            <p:nvPr/>
          </p:nvPicPr>
          <p:blipFill>
            <a:blip r:embed="rId8"/>
            <a:srcRect l="2230" r="2230"/>
            <a:stretch>
              <a:fillRect/>
            </a:stretch>
          </p:blipFill>
          <p:spPr>
            <a:xfrm>
              <a:off x="8727914" y="4425223"/>
              <a:ext cx="1077439" cy="1077439"/>
            </a:xfrm>
            <a:prstGeom prst="rect">
              <a:avLst/>
            </a:prstGeom>
          </p:spPr>
        </p:pic>
      </p:grpSp>
    </p:spTree>
    <p:custDataLst>
      <p:tags r:id="rId1"/>
    </p:custDataLst>
    <p:extLst>
      <p:ext uri="{BB962C8B-B14F-4D97-AF65-F5344CB8AC3E}">
        <p14:creationId xmlns:p14="http://schemas.microsoft.com/office/powerpoint/2010/main" val="1040813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D8B3038-1A88-4553-B294-CC32D7CD8D1D}"/>
              </a:ext>
            </a:extLst>
          </p:cNvPr>
          <p:cNvSpPr>
            <a:spLocks noGrp="1"/>
          </p:cNvSpPr>
          <p:nvPr>
            <p:ph type="sldNum" idx="97"/>
          </p:nvPr>
        </p:nvSpPr>
        <p:spPr/>
        <p:txBody>
          <a:bodyPr/>
          <a:lstStyle/>
          <a:p>
            <a:fld id="{4037B1B0-0345-4E15-985A-6BECCDBE474F}" type="slidenum">
              <a:rPr lang="en-US" smtClean="0"/>
              <a:pPr/>
              <a:t>19</a:t>
            </a:fld>
            <a:endParaRPr lang="en-US" dirty="0"/>
          </a:p>
        </p:txBody>
      </p:sp>
      <p:sp>
        <p:nvSpPr>
          <p:cNvPr id="3" name="Title">
            <a:extLst>
              <a:ext uri="{FF2B5EF4-FFF2-40B4-BE49-F238E27FC236}">
                <a16:creationId xmlns:a16="http://schemas.microsoft.com/office/drawing/2014/main" id="{C24DBB0B-5276-4552-8C6A-AD790C5B6F4E}"/>
              </a:ext>
            </a:extLst>
          </p:cNvPr>
          <p:cNvSpPr>
            <a:spLocks noGrp="1"/>
          </p:cNvSpPr>
          <p:nvPr>
            <p:ph type="title" idx="1"/>
          </p:nvPr>
        </p:nvSpPr>
        <p:spPr/>
        <p:txBody>
          <a:bodyPr/>
          <a:lstStyle/>
          <a:p>
            <a:r>
              <a:rPr lang="en-US" sz="4000" dirty="0"/>
              <a:t>How caching works in CloudFront</a:t>
            </a:r>
            <a:endParaRPr lang="en-US" dirty="0"/>
          </a:p>
        </p:txBody>
      </p:sp>
      <p:grpSp>
        <p:nvGrpSpPr>
          <p:cNvPr id="21" name="Flatten HowCachingWorks" descr="Diagram showing how caching with CloudFront works. See notes for details.">
            <a:extLst>
              <a:ext uri="{FF2B5EF4-FFF2-40B4-BE49-F238E27FC236}">
                <a16:creationId xmlns:a16="http://schemas.microsoft.com/office/drawing/2014/main" id="{A7C17D6C-10E1-44F5-BCF6-CD93BD20D2C6}"/>
              </a:ext>
            </a:extLst>
          </p:cNvPr>
          <p:cNvGrpSpPr/>
          <p:nvPr/>
        </p:nvGrpSpPr>
        <p:grpSpPr>
          <a:xfrm>
            <a:off x="642562" y="1375312"/>
            <a:ext cx="10549225" cy="4841179"/>
            <a:chOff x="642562" y="1375312"/>
            <a:chExt cx="10549225" cy="4841179"/>
          </a:xfrm>
        </p:grpSpPr>
        <p:grpSp>
          <p:nvGrpSpPr>
            <p:cNvPr id="4" name="Group 3">
              <a:extLst>
                <a:ext uri="{FF2B5EF4-FFF2-40B4-BE49-F238E27FC236}">
                  <a16:creationId xmlns:a16="http://schemas.microsoft.com/office/drawing/2014/main" id="{266EB861-D276-4A2F-9A44-1798BA3632E4}"/>
                </a:ext>
              </a:extLst>
            </p:cNvPr>
            <p:cNvGrpSpPr/>
            <p:nvPr/>
          </p:nvGrpSpPr>
          <p:grpSpPr>
            <a:xfrm>
              <a:off x="9347711" y="1937093"/>
              <a:ext cx="1664261" cy="2743892"/>
              <a:chOff x="9344822" y="2813877"/>
              <a:chExt cx="1664261" cy="2743892"/>
            </a:xfrm>
          </p:grpSpPr>
          <p:sp>
            <p:nvSpPr>
              <p:cNvPr id="5" name="TextBox 20">
                <a:extLst>
                  <a:ext uri="{FF2B5EF4-FFF2-40B4-BE49-F238E27FC236}">
                    <a16:creationId xmlns:a16="http://schemas.microsoft.com/office/drawing/2014/main" id="{03B62809-8BE0-4C27-BAF6-4C6A611349E8}"/>
                  </a:ext>
                </a:extLst>
              </p:cNvPr>
              <p:cNvSpPr txBox="1">
                <a:spLocks noChangeArrowheads="1"/>
              </p:cNvSpPr>
              <p:nvPr/>
            </p:nvSpPr>
            <p:spPr bwMode="auto">
              <a:xfrm>
                <a:off x="9618941" y="4600915"/>
                <a:ext cx="12906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sz="1600">
                    <a:cs typeface="Arial" panose="020B0604020202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pPr algn="ctr"/>
                <a:r>
                  <a:rPr lang="en-US" altLang="en-US" dirty="0">
                    <a:solidFill>
                      <a:srgbClr val="232F3E"/>
                    </a:solidFill>
                  </a:rPr>
                  <a:t>S3 bucket origin</a:t>
                </a:r>
              </a:p>
              <a:p>
                <a:pPr algn="ctr"/>
                <a:r>
                  <a:rPr lang="en-US" altLang="en-US" dirty="0">
                    <a:solidFill>
                      <a:srgbClr val="232F3E"/>
                    </a:solidFill>
                  </a:rPr>
                  <a:t>with </a:t>
                </a:r>
                <a:r>
                  <a:rPr lang="en-US" altLang="en-US" dirty="0">
                    <a:solidFill>
                      <a:srgbClr val="FF0000"/>
                    </a:solidFill>
                  </a:rPr>
                  <a:t>cat.jpg</a:t>
                </a:r>
              </a:p>
            </p:txBody>
          </p:sp>
          <p:pic>
            <p:nvPicPr>
              <p:cNvPr id="6" name="Graphic 5">
                <a:extLst>
                  <a:ext uri="{FF2B5EF4-FFF2-40B4-BE49-F238E27FC236}">
                    <a16:creationId xmlns:a16="http://schemas.microsoft.com/office/drawing/2014/main" id="{533E8495-C689-414B-910E-BCB7FC3BBB8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33079" y="4026859"/>
                <a:ext cx="608654" cy="608654"/>
              </a:xfrm>
              <a:prstGeom prst="rect">
                <a:avLst/>
              </a:prstGeom>
              <a:scene3d>
                <a:camera prst="orthographicFront">
                  <a:rot lat="0" lon="0" rev="0"/>
                </a:camera>
                <a:lightRig rig="twoPt" dir="tl"/>
              </a:scene3d>
            </p:spPr>
          </p:pic>
          <p:sp>
            <p:nvSpPr>
              <p:cNvPr id="7" name="Rectangle 6">
                <a:extLst>
                  <a:ext uri="{FF2B5EF4-FFF2-40B4-BE49-F238E27FC236}">
                    <a16:creationId xmlns:a16="http://schemas.microsoft.com/office/drawing/2014/main" id="{E3A9C5E3-F088-4BEA-AC0C-6205B041B6D9}"/>
                  </a:ext>
                </a:extLst>
              </p:cNvPr>
              <p:cNvSpPr/>
              <p:nvPr/>
            </p:nvSpPr>
            <p:spPr>
              <a:xfrm>
                <a:off x="9467992" y="2813877"/>
                <a:ext cx="1541091" cy="2743892"/>
              </a:xfrm>
              <a:prstGeom prst="rect">
                <a:avLst/>
              </a:prstGeom>
              <a:noFill/>
              <a:ln w="15875">
                <a:solidFill>
                  <a:srgbClr val="00A4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rgbClr val="232F3E"/>
                    </a:solidFill>
                    <a:cs typeface="Arial" panose="020B0604020202020204" pitchFamily="34" charset="0"/>
                  </a:rPr>
                  <a:t>Region</a:t>
                </a:r>
              </a:p>
            </p:txBody>
          </p:sp>
          <p:pic>
            <p:nvPicPr>
              <p:cNvPr id="8" name="Graphic 7">
                <a:extLst>
                  <a:ext uri="{FF2B5EF4-FFF2-40B4-BE49-F238E27FC236}">
                    <a16:creationId xmlns:a16="http://schemas.microsoft.com/office/drawing/2014/main" id="{1C82E486-008C-45C2-A125-4DB87179F32E}"/>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344822" y="2822918"/>
                <a:ext cx="381000" cy="381000"/>
              </a:xfrm>
              <a:prstGeom prst="rect">
                <a:avLst/>
              </a:prstGeom>
              <a:scene3d>
                <a:camera prst="orthographicFront">
                  <a:rot lat="0" lon="0" rev="0"/>
                </a:camera>
                <a:lightRig rig="twoPt" dir="tl"/>
              </a:scene3d>
            </p:spPr>
          </p:pic>
        </p:grpSp>
        <p:sp>
          <p:nvSpPr>
            <p:cNvPr id="11" name="TextBox 22">
              <a:extLst>
                <a:ext uri="{FF2B5EF4-FFF2-40B4-BE49-F238E27FC236}">
                  <a16:creationId xmlns:a16="http://schemas.microsoft.com/office/drawing/2014/main" id="{7AFD8D07-5C9E-4F81-9989-2ECC4D17D307}"/>
                </a:ext>
              </a:extLst>
            </p:cNvPr>
            <p:cNvSpPr txBox="1">
              <a:spLocks noChangeArrowheads="1"/>
            </p:cNvSpPr>
            <p:nvPr/>
          </p:nvSpPr>
          <p:spPr bwMode="auto">
            <a:xfrm>
              <a:off x="5907935" y="3667640"/>
              <a:ext cx="16111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defRPr/>
              </a:pPr>
              <a:r>
                <a:rPr lang="en-US" altLang="en-US" sz="1600" dirty="0">
                  <a:solidFill>
                    <a:srgbClr val="232F3E"/>
                  </a:solidFill>
                  <a:latin typeface="+mn-lt"/>
                  <a:cs typeface="Arial" panose="020B0604020202020204" pitchFamily="34" charset="0"/>
                </a:rPr>
                <a:t>Edge node </a:t>
              </a:r>
              <a:br>
                <a:rPr lang="en-US" altLang="en-US" sz="1600" dirty="0">
                  <a:solidFill>
                    <a:srgbClr val="232F3E"/>
                  </a:solidFill>
                  <a:latin typeface="+mn-lt"/>
                  <a:cs typeface="Arial" panose="020B0604020202020204" pitchFamily="34" charset="0"/>
                </a:rPr>
              </a:br>
              <a:r>
                <a:rPr lang="en-US" altLang="en-US" sz="1600" dirty="0">
                  <a:solidFill>
                    <a:srgbClr val="232F3E"/>
                  </a:solidFill>
                  <a:latin typeface="+mn-lt"/>
                  <a:cs typeface="Arial" panose="020B0604020202020204" pitchFamily="34" charset="0"/>
                </a:rPr>
                <a:t>with </a:t>
              </a:r>
              <a:r>
                <a:rPr lang="en-US" altLang="en-US" sz="1600" dirty="0">
                  <a:solidFill>
                    <a:srgbClr val="FF0000"/>
                  </a:solidFill>
                  <a:latin typeface="+mn-lt"/>
                  <a:cs typeface="Arial" panose="020B0604020202020204" pitchFamily="34" charset="0"/>
                </a:rPr>
                <a:t>cat.jpg</a:t>
              </a:r>
            </a:p>
            <a:p>
              <a:pPr>
                <a:defRPr/>
              </a:pPr>
              <a:endParaRPr lang="en-US" altLang="en-US" sz="1600" dirty="0">
                <a:latin typeface="+mn-lt"/>
                <a:cs typeface="Arial" panose="020B0604020202020204" pitchFamily="34" charset="0"/>
              </a:endParaRPr>
            </a:p>
          </p:txBody>
        </p:sp>
        <p:pic>
          <p:nvPicPr>
            <p:cNvPr id="12" name="Graphic 11">
              <a:extLst>
                <a:ext uri="{FF2B5EF4-FFF2-40B4-BE49-F238E27FC236}">
                  <a16:creationId xmlns:a16="http://schemas.microsoft.com/office/drawing/2014/main" id="{01A919B9-50F5-46A6-A405-5C9CB44CB06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56360" y="3266931"/>
              <a:ext cx="457200" cy="457200"/>
            </a:xfrm>
            <a:prstGeom prst="rect">
              <a:avLst/>
            </a:prstGeom>
            <a:scene3d>
              <a:camera prst="orthographicFront">
                <a:rot lat="0" lon="0" rev="0"/>
              </a:camera>
              <a:lightRig rig="twoPt" dir="tl"/>
            </a:scene3d>
          </p:spPr>
        </p:pic>
        <p:sp>
          <p:nvSpPr>
            <p:cNvPr id="13" name="TextBox 22">
              <a:extLst>
                <a:ext uri="{FF2B5EF4-FFF2-40B4-BE49-F238E27FC236}">
                  <a16:creationId xmlns:a16="http://schemas.microsoft.com/office/drawing/2014/main" id="{D1FD218E-58C2-44D5-AECC-6420E4A10172}"/>
                </a:ext>
              </a:extLst>
            </p:cNvPr>
            <p:cNvSpPr txBox="1">
              <a:spLocks noChangeArrowheads="1"/>
            </p:cNvSpPr>
            <p:nvPr/>
          </p:nvSpPr>
          <p:spPr bwMode="auto">
            <a:xfrm>
              <a:off x="5573361" y="4787558"/>
              <a:ext cx="1759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defRPr/>
              </a:pPr>
              <a:r>
                <a:rPr lang="en-US" altLang="en-US" sz="1600" dirty="0">
                  <a:solidFill>
                    <a:srgbClr val="232F3E"/>
                  </a:solidFill>
                  <a:latin typeface="+mn-lt"/>
                  <a:cs typeface="Arial" panose="020B0604020202020204" pitchFamily="34" charset="0"/>
                </a:rPr>
                <a:t>Edge node</a:t>
              </a:r>
            </a:p>
          </p:txBody>
        </p:sp>
        <p:sp>
          <p:nvSpPr>
            <p:cNvPr id="15" name="TextBox 22">
              <a:extLst>
                <a:ext uri="{FF2B5EF4-FFF2-40B4-BE49-F238E27FC236}">
                  <a16:creationId xmlns:a16="http://schemas.microsoft.com/office/drawing/2014/main" id="{648C86C0-476A-44F2-8160-7C5F2D877A74}"/>
                </a:ext>
              </a:extLst>
            </p:cNvPr>
            <p:cNvSpPr txBox="1">
              <a:spLocks noChangeArrowheads="1"/>
            </p:cNvSpPr>
            <p:nvPr/>
          </p:nvSpPr>
          <p:spPr bwMode="auto">
            <a:xfrm>
              <a:off x="5907935" y="5563802"/>
              <a:ext cx="15431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defRPr sz="1600">
                  <a:cs typeface="Arial" panose="020B0604020202020204" pitchFamily="34" charset="0"/>
                </a:defRPr>
              </a:lvl1pPr>
              <a:lvl2pPr marL="742950" indent="-285750">
                <a:defRPr>
                  <a:latin typeface="Calibri" panose="020F0502020204030204" pitchFamily="34" charset="0"/>
                </a:defRPr>
              </a:lvl2pPr>
              <a:lvl3pPr marL="1143000" indent="-228600">
                <a:defRPr>
                  <a:latin typeface="Calibri" panose="020F0502020204030204" pitchFamily="34" charset="0"/>
                </a:defRPr>
              </a:lvl3pPr>
              <a:lvl4pPr marL="1600200" indent="-228600">
                <a:defRPr>
                  <a:latin typeface="Calibri" panose="020F0502020204030204" pitchFamily="34" charset="0"/>
                </a:defRPr>
              </a:lvl4pPr>
              <a:lvl5pPr marL="2057400" indent="-228600">
                <a:defRPr>
                  <a:latin typeface="Calibri" panose="020F0502020204030204" pitchFamily="34" charset="0"/>
                </a:defRPr>
              </a:lvl5pPr>
              <a:lvl6pPr marL="2514600" indent="-228600" eaLnBrk="0" fontAlgn="base" hangingPunct="0">
                <a:spcBef>
                  <a:spcPct val="0"/>
                </a:spcBef>
                <a:spcAft>
                  <a:spcPct val="0"/>
                </a:spcAft>
                <a:defRPr>
                  <a:latin typeface="Calibri" panose="020F0502020204030204" pitchFamily="34" charset="0"/>
                </a:defRPr>
              </a:lvl6pPr>
              <a:lvl7pPr marL="2971800" indent="-228600" eaLnBrk="0" fontAlgn="base" hangingPunct="0">
                <a:spcBef>
                  <a:spcPct val="0"/>
                </a:spcBef>
                <a:spcAft>
                  <a:spcPct val="0"/>
                </a:spcAft>
                <a:defRPr>
                  <a:latin typeface="Calibri" panose="020F0502020204030204" pitchFamily="34" charset="0"/>
                </a:defRPr>
              </a:lvl7pPr>
              <a:lvl8pPr marL="3429000" indent="-228600" eaLnBrk="0" fontAlgn="base" hangingPunct="0">
                <a:spcBef>
                  <a:spcPct val="0"/>
                </a:spcBef>
                <a:spcAft>
                  <a:spcPct val="0"/>
                </a:spcAft>
                <a:defRPr>
                  <a:latin typeface="Calibri" panose="020F0502020204030204" pitchFamily="34" charset="0"/>
                </a:defRPr>
              </a:lvl8pPr>
              <a:lvl9pPr marL="3886200" indent="-228600" eaLnBrk="0" fontAlgn="base" hangingPunct="0">
                <a:spcBef>
                  <a:spcPct val="0"/>
                </a:spcBef>
                <a:spcAft>
                  <a:spcPct val="0"/>
                </a:spcAft>
                <a:defRPr>
                  <a:latin typeface="Calibri" panose="020F0502020204030204" pitchFamily="34" charset="0"/>
                </a:defRPr>
              </a:lvl9pPr>
            </a:lstStyle>
            <a:p>
              <a:r>
                <a:rPr lang="en-US" altLang="en-US" dirty="0">
                  <a:solidFill>
                    <a:srgbClr val="232F3E"/>
                  </a:solidFill>
                </a:rPr>
                <a:t>Edge node</a:t>
              </a:r>
            </a:p>
          </p:txBody>
        </p:sp>
        <p:pic>
          <p:nvPicPr>
            <p:cNvPr id="16" name="Graphic 15">
              <a:extLst>
                <a:ext uri="{FF2B5EF4-FFF2-40B4-BE49-F238E27FC236}">
                  <a16:creationId xmlns:a16="http://schemas.microsoft.com/office/drawing/2014/main" id="{8B48BA5E-200A-4AB0-87F9-87F37A5F022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56360" y="5145772"/>
              <a:ext cx="457200" cy="457200"/>
            </a:xfrm>
            <a:prstGeom prst="rect">
              <a:avLst/>
            </a:prstGeom>
            <a:scene3d>
              <a:camera prst="orthographicFront">
                <a:rot lat="0" lon="0" rev="0"/>
              </a:camera>
              <a:lightRig rig="twoPt" dir="tl"/>
            </a:scene3d>
          </p:spPr>
        </p:pic>
        <p:sp>
          <p:nvSpPr>
            <p:cNvPr id="17" name="TextBox 22">
              <a:extLst>
                <a:ext uri="{FF2B5EF4-FFF2-40B4-BE49-F238E27FC236}">
                  <a16:creationId xmlns:a16="http://schemas.microsoft.com/office/drawing/2014/main" id="{BA1F6402-4737-40C3-8A35-6526674657DD}"/>
                </a:ext>
              </a:extLst>
            </p:cNvPr>
            <p:cNvSpPr txBox="1">
              <a:spLocks noChangeArrowheads="1"/>
            </p:cNvSpPr>
            <p:nvPr/>
          </p:nvSpPr>
          <p:spPr bwMode="auto">
            <a:xfrm>
              <a:off x="5909968" y="2946815"/>
              <a:ext cx="154109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defRPr/>
              </a:pPr>
              <a:r>
                <a:rPr lang="en-US" altLang="en-US" sz="1600" dirty="0">
                  <a:solidFill>
                    <a:srgbClr val="232F3E"/>
                  </a:solidFill>
                  <a:latin typeface="+mn-lt"/>
                  <a:cs typeface="Arial" panose="020B0604020202020204" pitchFamily="34" charset="0"/>
                </a:rPr>
                <a:t>Edge node</a:t>
              </a:r>
            </a:p>
          </p:txBody>
        </p:sp>
        <p:pic>
          <p:nvPicPr>
            <p:cNvPr id="18" name="Graphic 17">
              <a:extLst>
                <a:ext uri="{FF2B5EF4-FFF2-40B4-BE49-F238E27FC236}">
                  <a16:creationId xmlns:a16="http://schemas.microsoft.com/office/drawing/2014/main" id="{AF8B756E-D327-4B4E-BCE2-D96F8C3F6A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58394" y="2491000"/>
              <a:ext cx="457200" cy="457200"/>
            </a:xfrm>
            <a:prstGeom prst="rect">
              <a:avLst/>
            </a:prstGeom>
            <a:scene3d>
              <a:camera prst="orthographicFront">
                <a:rot lat="0" lon="0" rev="0"/>
              </a:camera>
              <a:lightRig rig="twoPt" dir="tl"/>
            </a:scene3d>
          </p:spPr>
        </p:pic>
        <p:sp>
          <p:nvSpPr>
            <p:cNvPr id="19" name="Rectangle 18">
              <a:extLst>
                <a:ext uri="{FF2B5EF4-FFF2-40B4-BE49-F238E27FC236}">
                  <a16:creationId xmlns:a16="http://schemas.microsoft.com/office/drawing/2014/main" id="{D58FA056-0B21-41A6-A8C4-1BA067D7BEED}"/>
                </a:ext>
              </a:extLst>
            </p:cNvPr>
            <p:cNvSpPr/>
            <p:nvPr/>
          </p:nvSpPr>
          <p:spPr>
            <a:xfrm>
              <a:off x="5062502" y="1375312"/>
              <a:ext cx="6129285" cy="4653670"/>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solidFill>
                    <a:schemeClr val="tx1"/>
                  </a:solidFill>
                  <a:cs typeface="Arial" panose="020B0604020202020204" pitchFamily="34" charset="0"/>
                </a:rPr>
                <a:t>AWS Cloud</a:t>
              </a:r>
            </a:p>
          </p:txBody>
        </p:sp>
        <p:pic>
          <p:nvPicPr>
            <p:cNvPr id="20" name="Graphic 19">
              <a:extLst>
                <a:ext uri="{FF2B5EF4-FFF2-40B4-BE49-F238E27FC236}">
                  <a16:creationId xmlns:a16="http://schemas.microsoft.com/office/drawing/2014/main" id="{86DBA2DF-8512-4E75-9297-3CD1AF9CBF16}"/>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5062503" y="1375312"/>
              <a:ext cx="381000" cy="381000"/>
            </a:xfrm>
            <a:prstGeom prst="rect">
              <a:avLst/>
            </a:prstGeom>
            <a:scene3d>
              <a:camera prst="orthographicFront">
                <a:rot lat="0" lon="0" rev="0"/>
              </a:camera>
              <a:lightRig rig="twoPt" dir="tl"/>
            </a:scene3d>
          </p:spPr>
        </p:pic>
        <p:cxnSp>
          <p:nvCxnSpPr>
            <p:cNvPr id="23" name="Straight Arrow Connector 22">
              <a:extLst>
                <a:ext uri="{FF2B5EF4-FFF2-40B4-BE49-F238E27FC236}">
                  <a16:creationId xmlns:a16="http://schemas.microsoft.com/office/drawing/2014/main" id="{DAB94D38-E4DB-42D7-AB28-E1A9DC9FA8E1}"/>
                </a:ext>
              </a:extLst>
            </p:cNvPr>
            <p:cNvCxnSpPr>
              <a:cxnSpLocks/>
              <a:endCxn id="6" idx="1"/>
            </p:cNvCxnSpPr>
            <p:nvPr/>
          </p:nvCxnSpPr>
          <p:spPr>
            <a:xfrm flipV="1">
              <a:off x="6713504" y="3454402"/>
              <a:ext cx="3222464" cy="12092"/>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9549C68-0443-4441-8804-AADD77372D02}"/>
                </a:ext>
              </a:extLst>
            </p:cNvPr>
            <p:cNvCxnSpPr>
              <a:cxnSpLocks/>
            </p:cNvCxnSpPr>
            <p:nvPr/>
          </p:nvCxnSpPr>
          <p:spPr>
            <a:xfrm>
              <a:off x="6690833" y="3570439"/>
              <a:ext cx="3245135" cy="0"/>
            </a:xfrm>
            <a:prstGeom prst="straightConnector1">
              <a:avLst/>
            </a:prstGeom>
            <a:ln w="190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4EC797BE-689C-4EF4-A58C-03C345817E6A}"/>
                </a:ext>
              </a:extLst>
            </p:cNvPr>
            <p:cNvSpPr/>
            <p:nvPr/>
          </p:nvSpPr>
          <p:spPr>
            <a:xfrm>
              <a:off x="5275282" y="1816242"/>
              <a:ext cx="2544630" cy="4116258"/>
            </a:xfrm>
            <a:prstGeom prst="rect">
              <a:avLst/>
            </a:prstGeom>
            <a:noFill/>
            <a:ln w="15875">
              <a:solidFill>
                <a:srgbClr val="8C4FF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endParaRPr lang="en-US" sz="1600" dirty="0">
                <a:solidFill>
                  <a:schemeClr val="tx1"/>
                </a:solidFill>
                <a:cs typeface="Arial" panose="020B0604020202020204" pitchFamily="34" charset="0"/>
              </a:endParaRPr>
            </a:p>
          </p:txBody>
        </p:sp>
        <p:pic>
          <p:nvPicPr>
            <p:cNvPr id="70" name="Graphic 69">
              <a:extLst>
                <a:ext uri="{FF2B5EF4-FFF2-40B4-BE49-F238E27FC236}">
                  <a16:creationId xmlns:a16="http://schemas.microsoft.com/office/drawing/2014/main" id="{382B54F3-FDC1-4C90-A656-FF5A2207C58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36737" y="4343651"/>
              <a:ext cx="457200" cy="457200"/>
            </a:xfrm>
            <a:prstGeom prst="rect">
              <a:avLst/>
            </a:prstGeom>
            <a:scene3d>
              <a:camera prst="orthographicFront">
                <a:rot lat="0" lon="0" rev="0"/>
              </a:camera>
              <a:lightRig rig="twoPt" dir="tl"/>
            </a:scene3d>
          </p:spPr>
        </p:pic>
        <p:grpSp>
          <p:nvGrpSpPr>
            <p:cNvPr id="9" name="Group 8">
              <a:extLst>
                <a:ext uri="{FF2B5EF4-FFF2-40B4-BE49-F238E27FC236}">
                  <a16:creationId xmlns:a16="http://schemas.microsoft.com/office/drawing/2014/main" id="{0DA6E70A-6A1B-4298-BBD6-35D1EABCA967}"/>
                </a:ext>
              </a:extLst>
            </p:cNvPr>
            <p:cNvGrpSpPr/>
            <p:nvPr/>
          </p:nvGrpSpPr>
          <p:grpSpPr>
            <a:xfrm>
              <a:off x="642562" y="2936376"/>
              <a:ext cx="5649006" cy="1259144"/>
              <a:chOff x="565428" y="3731827"/>
              <a:chExt cx="5649006" cy="1259144"/>
            </a:xfrm>
          </p:grpSpPr>
          <p:pic>
            <p:nvPicPr>
              <p:cNvPr id="37" name="Graphic 36">
                <a:extLst>
                  <a:ext uri="{FF2B5EF4-FFF2-40B4-BE49-F238E27FC236}">
                    <a16:creationId xmlns:a16="http://schemas.microsoft.com/office/drawing/2014/main" id="{01BA2900-9615-448C-A72B-CA1E288AB84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07625" y="3731827"/>
                <a:ext cx="976156" cy="976156"/>
              </a:xfrm>
              <a:prstGeom prst="rect">
                <a:avLst/>
              </a:prstGeom>
              <a:scene3d>
                <a:camera prst="orthographicFront">
                  <a:rot lat="0" lon="0" rev="0"/>
                </a:camera>
                <a:lightRig rig="twoPt" dir="tl"/>
              </a:scene3d>
            </p:spPr>
          </p:pic>
          <p:pic>
            <p:nvPicPr>
              <p:cNvPr id="40" name="Graphic 39">
                <a:extLst>
                  <a:ext uri="{FF2B5EF4-FFF2-40B4-BE49-F238E27FC236}">
                    <a16:creationId xmlns:a16="http://schemas.microsoft.com/office/drawing/2014/main" id="{93508F61-B74D-4F26-BA7D-B5F29F9DE78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6724" y="3890188"/>
                <a:ext cx="817795" cy="817795"/>
              </a:xfrm>
              <a:prstGeom prst="rect">
                <a:avLst/>
              </a:prstGeom>
              <a:scene3d>
                <a:camera prst="orthographicFront">
                  <a:rot lat="0" lon="0" rev="0"/>
                </a:camera>
                <a:lightRig rig="twoPt" dir="tl"/>
              </a:scene3d>
            </p:spPr>
          </p:pic>
          <p:pic>
            <p:nvPicPr>
              <p:cNvPr id="41" name="Graphic 40">
                <a:extLst>
                  <a:ext uri="{FF2B5EF4-FFF2-40B4-BE49-F238E27FC236}">
                    <a16:creationId xmlns:a16="http://schemas.microsoft.com/office/drawing/2014/main" id="{9918958E-3AB5-473F-96E3-0432D5C5DFAA}"/>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346395" y="3836528"/>
                <a:ext cx="871455" cy="871455"/>
              </a:xfrm>
              <a:prstGeom prst="rect">
                <a:avLst/>
              </a:prstGeom>
              <a:scene3d>
                <a:camera prst="orthographicFront">
                  <a:rot lat="0" lon="0" rev="0"/>
                </a:camera>
                <a:lightRig rig="twoPt" dir="tl"/>
              </a:scene3d>
            </p:spPr>
          </p:pic>
          <p:cxnSp>
            <p:nvCxnSpPr>
              <p:cNvPr id="42" name="Straight Arrow Connector 41">
                <a:extLst>
                  <a:ext uri="{FF2B5EF4-FFF2-40B4-BE49-F238E27FC236}">
                    <a16:creationId xmlns:a16="http://schemas.microsoft.com/office/drawing/2014/main" id="{12D78EEB-95C9-4AFD-A107-BF18460B0CDA}"/>
                  </a:ext>
                </a:extLst>
              </p:cNvPr>
              <p:cNvCxnSpPr>
                <a:cxnSpLocks/>
              </p:cNvCxnSpPr>
              <p:nvPr/>
            </p:nvCxnSpPr>
            <p:spPr>
              <a:xfrm>
                <a:off x="4233257" y="4207813"/>
                <a:ext cx="1981177" cy="0"/>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1DD3AE7-CD79-4018-B6DF-0F5D3992C06F}"/>
                  </a:ext>
                </a:extLst>
              </p:cNvPr>
              <p:cNvCxnSpPr>
                <a:cxnSpLocks/>
              </p:cNvCxnSpPr>
              <p:nvPr/>
            </p:nvCxnSpPr>
            <p:spPr>
              <a:xfrm>
                <a:off x="4183781" y="4350732"/>
                <a:ext cx="2003848" cy="0"/>
              </a:xfrm>
              <a:prstGeom prst="straightConnector1">
                <a:avLst/>
              </a:prstGeom>
              <a:ln w="190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F503D617-C650-4FB2-8041-7775DDB165CA}"/>
                  </a:ext>
                </a:extLst>
              </p:cNvPr>
              <p:cNvCxnSpPr>
                <a:cxnSpLocks/>
              </p:cNvCxnSpPr>
              <p:nvPr/>
            </p:nvCxnSpPr>
            <p:spPr>
              <a:xfrm>
                <a:off x="2096879" y="4177303"/>
                <a:ext cx="1168320" cy="0"/>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724CCCCD-83D9-4FDA-AD6F-26E21E1A4971}"/>
                  </a:ext>
                </a:extLst>
              </p:cNvPr>
              <p:cNvCxnSpPr>
                <a:cxnSpLocks/>
              </p:cNvCxnSpPr>
              <p:nvPr/>
            </p:nvCxnSpPr>
            <p:spPr>
              <a:xfrm>
                <a:off x="2016634" y="4333007"/>
                <a:ext cx="1190991" cy="0"/>
              </a:xfrm>
              <a:prstGeom prst="straightConnector1">
                <a:avLst/>
              </a:prstGeom>
              <a:ln w="19050">
                <a:solidFill>
                  <a:schemeClr val="tx1"/>
                </a:solidFill>
                <a:headEnd type="arrow" w="med" len="sm"/>
                <a:tailEnd type="none" w="med" len="sm"/>
              </a:ln>
            </p:spPr>
            <p:style>
              <a:lnRef idx="1">
                <a:schemeClr val="accent1"/>
              </a:lnRef>
              <a:fillRef idx="0">
                <a:schemeClr val="accent1"/>
              </a:fillRef>
              <a:effectRef idx="0">
                <a:schemeClr val="accent1"/>
              </a:effectRef>
              <a:fontRef idx="minor">
                <a:schemeClr val="tx1"/>
              </a:fontRef>
            </p:style>
          </p:cxnSp>
          <p:sp>
            <p:nvSpPr>
              <p:cNvPr id="71" name="TextBox 22">
                <a:extLst>
                  <a:ext uri="{FF2B5EF4-FFF2-40B4-BE49-F238E27FC236}">
                    <a16:creationId xmlns:a16="http://schemas.microsoft.com/office/drawing/2014/main" id="{47235360-F245-43F8-B8DE-5FB0E84D9186}"/>
                  </a:ext>
                </a:extLst>
              </p:cNvPr>
              <p:cNvSpPr txBox="1">
                <a:spLocks noChangeArrowheads="1"/>
              </p:cNvSpPr>
              <p:nvPr/>
            </p:nvSpPr>
            <p:spPr bwMode="auto">
              <a:xfrm>
                <a:off x="2890134" y="4497068"/>
                <a:ext cx="16111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defRPr/>
                </a:pPr>
                <a:r>
                  <a:rPr lang="en-US" altLang="en-US" sz="1600" dirty="0">
                    <a:solidFill>
                      <a:srgbClr val="232F3E"/>
                    </a:solidFill>
                    <a:latin typeface="+mn-lt"/>
                    <a:cs typeface="Arial" panose="020B0604020202020204" pitchFamily="34" charset="0"/>
                  </a:rPr>
                  <a:t>Internet</a:t>
                </a:r>
              </a:p>
            </p:txBody>
          </p:sp>
          <p:sp>
            <p:nvSpPr>
              <p:cNvPr id="72" name="TextBox 22">
                <a:extLst>
                  <a:ext uri="{FF2B5EF4-FFF2-40B4-BE49-F238E27FC236}">
                    <a16:creationId xmlns:a16="http://schemas.microsoft.com/office/drawing/2014/main" id="{82534AEB-A044-4DD8-B8D0-73E630921F22}"/>
                  </a:ext>
                </a:extLst>
              </p:cNvPr>
              <p:cNvSpPr txBox="1">
                <a:spLocks noChangeArrowheads="1"/>
              </p:cNvSpPr>
              <p:nvPr/>
            </p:nvSpPr>
            <p:spPr bwMode="auto">
              <a:xfrm>
                <a:off x="565428" y="4652417"/>
                <a:ext cx="16111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defRPr/>
                </a:pPr>
                <a:r>
                  <a:rPr lang="en-US" altLang="en-US" sz="1600" dirty="0">
                    <a:solidFill>
                      <a:srgbClr val="232F3E"/>
                    </a:solidFill>
                    <a:latin typeface="+mn-lt"/>
                    <a:cs typeface="Arial" panose="020B0604020202020204" pitchFamily="34" charset="0"/>
                  </a:rPr>
                  <a:t>User</a:t>
                </a:r>
              </a:p>
            </p:txBody>
          </p:sp>
        </p:grpSp>
        <p:sp>
          <p:nvSpPr>
            <p:cNvPr id="10" name="Rectangle 9">
              <a:extLst>
                <a:ext uri="{FF2B5EF4-FFF2-40B4-BE49-F238E27FC236}">
                  <a16:creationId xmlns:a16="http://schemas.microsoft.com/office/drawing/2014/main" id="{2B046E8C-FAC5-474A-BAE8-09A2431EC519}"/>
                </a:ext>
              </a:extLst>
            </p:cNvPr>
            <p:cNvSpPr/>
            <p:nvPr/>
          </p:nvSpPr>
          <p:spPr>
            <a:xfrm>
              <a:off x="5676566" y="1786488"/>
              <a:ext cx="1228221" cy="338554"/>
            </a:xfrm>
            <a:prstGeom prst="rect">
              <a:avLst/>
            </a:prstGeom>
          </p:spPr>
          <p:txBody>
            <a:bodyPr wrap="none">
              <a:spAutoFit/>
            </a:bodyPr>
            <a:lstStyle/>
            <a:p>
              <a:pPr>
                <a:defRPr/>
              </a:pPr>
              <a:r>
                <a:rPr lang="en-US" sz="1600" dirty="0">
                  <a:solidFill>
                    <a:srgbClr val="232F3E"/>
                  </a:solidFill>
                  <a:cs typeface="Arial" panose="020B0604020202020204" pitchFamily="34" charset="0"/>
                </a:rPr>
                <a:t>CloudFront</a:t>
              </a:r>
            </a:p>
          </p:txBody>
        </p:sp>
        <p:cxnSp>
          <p:nvCxnSpPr>
            <p:cNvPr id="36" name="Straight Connector 20" descr="Describe what is being pointed to.">
              <a:extLst>
                <a:ext uri="{FF2B5EF4-FFF2-40B4-BE49-F238E27FC236}">
                  <a16:creationId xmlns:a16="http://schemas.microsoft.com/office/drawing/2014/main" id="{E01AF980-8167-491A-AF75-D27CD158DCF3}"/>
                </a:ext>
              </a:extLst>
            </p:cNvPr>
            <p:cNvCxnSpPr>
              <a:cxnSpLocks/>
            </p:cNvCxnSpPr>
            <p:nvPr/>
          </p:nvCxnSpPr>
          <p:spPr>
            <a:xfrm rot="10800000">
              <a:off x="7191454" y="4132055"/>
              <a:ext cx="2446354" cy="278073"/>
            </a:xfrm>
            <a:prstGeom prst="bentConnector3">
              <a:avLst>
                <a:gd name="adj1" fmla="val 50000"/>
              </a:avLst>
            </a:prstGeom>
            <a:solidFill>
              <a:schemeClr val="accent4"/>
            </a:solidFill>
            <a:ln w="44450" cap="flat">
              <a:solidFill>
                <a:srgbClr val="19594E"/>
              </a:solidFill>
              <a:round/>
              <a:headEnd type="arrow"/>
              <a:tailEnd type="arrow"/>
            </a:ln>
          </p:spPr>
          <p:style>
            <a:lnRef idx="2">
              <a:schemeClr val="accent5">
                <a:shade val="50000"/>
              </a:schemeClr>
            </a:lnRef>
            <a:fillRef idx="1">
              <a:schemeClr val="accent5"/>
            </a:fillRef>
            <a:effectRef idx="0">
              <a:schemeClr val="accent5"/>
            </a:effectRef>
            <a:fontRef idx="minor">
              <a:schemeClr val="lt1"/>
            </a:fontRef>
          </p:style>
        </p:cxnSp>
        <p:sp>
          <p:nvSpPr>
            <p:cNvPr id="38" name="Callout: Create resources">
              <a:extLst>
                <a:ext uri="{FF2B5EF4-FFF2-40B4-BE49-F238E27FC236}">
                  <a16:creationId xmlns:a16="http://schemas.microsoft.com/office/drawing/2014/main" id="{D773A505-0DC9-4B1F-89FC-E5E1DDA1592F}"/>
                </a:ext>
                <a:ext uri="{C183D7F6-B498-43B3-948B-1728B52AA6E4}">
                  <adec:decorative xmlns:adec="http://schemas.microsoft.com/office/drawing/2017/decorative" val="1"/>
                </a:ext>
              </a:extLst>
            </p:cNvPr>
            <p:cNvSpPr/>
            <p:nvPr/>
          </p:nvSpPr>
          <p:spPr>
            <a:xfrm>
              <a:off x="7446956" y="4646831"/>
              <a:ext cx="1970443" cy="1569660"/>
            </a:xfrm>
            <a:prstGeom prst="borderCallout1">
              <a:avLst>
                <a:gd name="adj1" fmla="val -1680"/>
                <a:gd name="adj2" fmla="val 49038"/>
                <a:gd name="adj3" fmla="val -54109"/>
                <a:gd name="adj4" fmla="val 48990"/>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dirty="0">
                  <a:solidFill>
                    <a:schemeClr val="bg1"/>
                  </a:solidFill>
                </a:rPr>
                <a:t>Based on time to live (TTL) caching, the cached image will become stale if the origin is updated. </a:t>
              </a:r>
            </a:p>
          </p:txBody>
        </p:sp>
        <p:sp>
          <p:nvSpPr>
            <p:cNvPr id="45" name="Oval 44">
              <a:extLst>
                <a:ext uri="{FF2B5EF4-FFF2-40B4-BE49-F238E27FC236}">
                  <a16:creationId xmlns:a16="http://schemas.microsoft.com/office/drawing/2014/main" id="{12A85DBB-3587-4A02-8F03-6ECD11EEFDA7}"/>
                </a:ext>
                <a:ext uri="{C183D7F6-B498-43B3-948B-1728B52AA6E4}">
                  <adec:decorative xmlns:adec="http://schemas.microsoft.com/office/drawing/2017/decorative" val="1"/>
                </a:ext>
              </a:extLst>
            </p:cNvPr>
            <p:cNvSpPr>
              <a:spLocks noChangeAspect="1"/>
            </p:cNvSpPr>
            <p:nvPr/>
          </p:nvSpPr>
          <p:spPr>
            <a:xfrm>
              <a:off x="2526529" y="2828169"/>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1</a:t>
              </a:r>
            </a:p>
          </p:txBody>
        </p:sp>
        <p:sp>
          <p:nvSpPr>
            <p:cNvPr id="46" name="Oval 45">
              <a:extLst>
                <a:ext uri="{FF2B5EF4-FFF2-40B4-BE49-F238E27FC236}">
                  <a16:creationId xmlns:a16="http://schemas.microsoft.com/office/drawing/2014/main" id="{C905F93D-5603-42A7-9C4E-92246F883E27}"/>
                </a:ext>
                <a:ext uri="{C183D7F6-B498-43B3-948B-1728B52AA6E4}">
                  <adec:decorative xmlns:adec="http://schemas.microsoft.com/office/drawing/2017/decorative" val="1"/>
                </a:ext>
              </a:extLst>
            </p:cNvPr>
            <p:cNvSpPr>
              <a:spLocks noChangeAspect="1"/>
            </p:cNvSpPr>
            <p:nvPr/>
          </p:nvSpPr>
          <p:spPr>
            <a:xfrm>
              <a:off x="5400064" y="2866122"/>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2</a:t>
              </a:r>
            </a:p>
          </p:txBody>
        </p:sp>
        <p:sp>
          <p:nvSpPr>
            <p:cNvPr id="47" name="Oval 46">
              <a:extLst>
                <a:ext uri="{FF2B5EF4-FFF2-40B4-BE49-F238E27FC236}">
                  <a16:creationId xmlns:a16="http://schemas.microsoft.com/office/drawing/2014/main" id="{B6E2C7A1-A154-411B-8DCA-5A610094F38C}"/>
                </a:ext>
                <a:ext uri="{C183D7F6-B498-43B3-948B-1728B52AA6E4}">
                  <adec:decorative xmlns:adec="http://schemas.microsoft.com/office/drawing/2017/decorative" val="1"/>
                </a:ext>
              </a:extLst>
            </p:cNvPr>
            <p:cNvSpPr>
              <a:spLocks noChangeAspect="1"/>
            </p:cNvSpPr>
            <p:nvPr/>
          </p:nvSpPr>
          <p:spPr>
            <a:xfrm>
              <a:off x="8176349" y="2906654"/>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3</a:t>
              </a:r>
            </a:p>
          </p:txBody>
        </p:sp>
        <p:sp>
          <p:nvSpPr>
            <p:cNvPr id="48" name="Oval 47">
              <a:extLst>
                <a:ext uri="{FF2B5EF4-FFF2-40B4-BE49-F238E27FC236}">
                  <a16:creationId xmlns:a16="http://schemas.microsoft.com/office/drawing/2014/main" id="{2AD6E7EF-F243-47E8-9B59-C19D773CB34C}"/>
                </a:ext>
                <a:ext uri="{C183D7F6-B498-43B3-948B-1728B52AA6E4}">
                  <adec:decorative xmlns:adec="http://schemas.microsoft.com/office/drawing/2017/decorative" val="1"/>
                </a:ext>
              </a:extLst>
            </p:cNvPr>
            <p:cNvSpPr>
              <a:spLocks noChangeAspect="1"/>
            </p:cNvSpPr>
            <p:nvPr/>
          </p:nvSpPr>
          <p:spPr>
            <a:xfrm>
              <a:off x="8195152" y="3612898"/>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4</a:t>
              </a:r>
            </a:p>
          </p:txBody>
        </p:sp>
        <p:sp>
          <p:nvSpPr>
            <p:cNvPr id="49" name="Oval 48">
              <a:extLst>
                <a:ext uri="{FF2B5EF4-FFF2-40B4-BE49-F238E27FC236}">
                  <a16:creationId xmlns:a16="http://schemas.microsoft.com/office/drawing/2014/main" id="{1D8A9EBA-F4A0-4EFE-84D4-0BFA57906C28}"/>
                </a:ext>
                <a:ext uri="{C183D7F6-B498-43B3-948B-1728B52AA6E4}">
                  <adec:decorative xmlns:adec="http://schemas.microsoft.com/office/drawing/2017/decorative" val="1"/>
                </a:ext>
              </a:extLst>
            </p:cNvPr>
            <p:cNvSpPr>
              <a:spLocks noChangeAspect="1"/>
            </p:cNvSpPr>
            <p:nvPr/>
          </p:nvSpPr>
          <p:spPr>
            <a:xfrm>
              <a:off x="2526529" y="3628366"/>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5</a:t>
              </a:r>
            </a:p>
          </p:txBody>
        </p:sp>
        <p:pic>
          <p:nvPicPr>
            <p:cNvPr id="50" name="Graphic 19">
              <a:extLst>
                <a:ext uri="{FF2B5EF4-FFF2-40B4-BE49-F238E27FC236}">
                  <a16:creationId xmlns:a16="http://schemas.microsoft.com/office/drawing/2014/main" id="{5E6C7319-D79F-4F4A-B09F-F102527EBD58}"/>
                </a:ext>
                <a:ext uri="{C183D7F6-B498-43B3-948B-1728B52AA6E4}">
                  <adec:decorative xmlns:adec="http://schemas.microsoft.com/office/drawing/2017/decorative" val="1"/>
                </a:ext>
              </a:extLst>
            </p:cNvPr>
            <p:cNvPicPr>
              <a:picLocks noChangeAspect="1" noChangeArrowheads="1"/>
            </p:cNvPicPr>
            <p:nvPr/>
          </p:nvPicPr>
          <p:blipFill>
            <a:blip r:embed="rId18">
              <a:extLst>
                <a:ext uri="{96DAC541-7B7A-43D3-8B79-37D633B846F1}">
                  <asvg:svgBlip xmlns:asvg="http://schemas.microsoft.com/office/drawing/2016/SVG/main" r:embed="rId19"/>
                </a:ext>
              </a:extLst>
            </a:blip>
            <a:srcRect/>
            <a:stretch/>
          </p:blipFill>
          <p:spPr bwMode="auto">
            <a:xfrm>
              <a:off x="5275279" y="1810599"/>
              <a:ext cx="457201"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ustDataLst>
      <p:tags r:id="rId1"/>
    </p:custDataLst>
    <p:extLst>
      <p:ext uri="{BB962C8B-B14F-4D97-AF65-F5344CB8AC3E}">
        <p14:creationId xmlns:p14="http://schemas.microsoft.com/office/powerpoint/2010/main" val="2046758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D9A41F5-B013-47E7-A775-7D1AEBE4F121}"/>
              </a:ext>
            </a:extLst>
          </p:cNvPr>
          <p:cNvSpPr>
            <a:spLocks noGrp="1"/>
          </p:cNvSpPr>
          <p:nvPr>
            <p:ph type="sldNum" idx="97"/>
          </p:nvPr>
        </p:nvSpPr>
        <p:spPr/>
        <p:txBody>
          <a:bodyPr/>
          <a:lstStyle/>
          <a:p>
            <a:fld id="{4037B1B0-0345-4E15-985A-6BECCDBE474F}" type="slidenum">
              <a:rPr lang="en-US" smtClean="0"/>
              <a:pPr/>
              <a:t>20</a:t>
            </a:fld>
            <a:endParaRPr lang="en-US" dirty="0"/>
          </a:p>
        </p:txBody>
      </p:sp>
      <p:sp>
        <p:nvSpPr>
          <p:cNvPr id="3" name="Title">
            <a:extLst>
              <a:ext uri="{FF2B5EF4-FFF2-40B4-BE49-F238E27FC236}">
                <a16:creationId xmlns:a16="http://schemas.microsoft.com/office/drawing/2014/main" id="{316BFDA5-7D6B-4F69-84F3-581646E08771}"/>
              </a:ext>
            </a:extLst>
          </p:cNvPr>
          <p:cNvSpPr>
            <a:spLocks noGrp="1"/>
          </p:cNvSpPr>
          <p:nvPr>
            <p:ph type="title" idx="1"/>
          </p:nvPr>
        </p:nvSpPr>
        <p:spPr/>
        <p:txBody>
          <a:bodyPr/>
          <a:lstStyle/>
          <a:p>
            <a:r>
              <a:rPr lang="en-US" dirty="0"/>
              <a:t>How to configure a CloudFront distribution</a:t>
            </a:r>
          </a:p>
        </p:txBody>
      </p:sp>
      <p:pic>
        <p:nvPicPr>
          <p:cNvPr id="34" name="Picture Placeholder 33">
            <a:extLst>
              <a:ext uri="{FF2B5EF4-FFF2-40B4-BE49-F238E27FC236}">
                <a16:creationId xmlns:a16="http://schemas.microsoft.com/office/drawing/2014/main" id="{C7E72A63-B545-4195-910E-633FC56DA443}"/>
              </a:ext>
              <a:ext uri="{C183D7F6-B498-43B3-948B-1728B52AA6E4}">
                <adec:decorative xmlns:adec="http://schemas.microsoft.com/office/drawing/2017/decorative" val="1"/>
              </a:ext>
            </a:extLst>
          </p:cNvPr>
          <p:cNvPicPr>
            <a:picLocks noGrp="1" noChangeAspect="1"/>
          </p:cNvPicPr>
          <p:nvPr>
            <p:ph type="pic" idx="22"/>
          </p:nvPr>
        </p:nvPicPr>
        <p:blipFill>
          <a:blip r:embed="rId4"/>
          <a:srcRect l="2230" r="2230"/>
          <a:stretch>
            <a:fillRect/>
          </a:stretch>
        </p:blipFill>
        <p:spPr>
          <a:xfrm>
            <a:off x="845820" y="1859484"/>
            <a:ext cx="1828800" cy="1828800"/>
          </a:xfrm>
          <a:prstGeom prst="rect">
            <a:avLst/>
          </a:prstGeom>
        </p:spPr>
      </p:pic>
      <p:sp>
        <p:nvSpPr>
          <p:cNvPr id="6" name="Text Placeholder 5">
            <a:extLst>
              <a:ext uri="{FF2B5EF4-FFF2-40B4-BE49-F238E27FC236}">
                <a16:creationId xmlns:a16="http://schemas.microsoft.com/office/drawing/2014/main" id="{4F3E7E42-921B-48A3-B8BB-FB91F4EC46B5}"/>
              </a:ext>
            </a:extLst>
          </p:cNvPr>
          <p:cNvSpPr>
            <a:spLocks noGrp="1"/>
          </p:cNvSpPr>
          <p:nvPr>
            <p:ph type="body" idx="2"/>
          </p:nvPr>
        </p:nvSpPr>
        <p:spPr>
          <a:xfrm>
            <a:off x="365760" y="4041801"/>
            <a:ext cx="2788920" cy="2520162"/>
          </a:xfrm>
        </p:spPr>
        <p:txBody>
          <a:bodyPr/>
          <a:lstStyle/>
          <a:p>
            <a:pPr algn="ctr"/>
            <a:r>
              <a:rPr lang="en-US" sz="2800" dirty="0">
                <a:ea typeface="Amazon Ember" panose="020B0603020204020204" pitchFamily="34" charset="0"/>
                <a:cs typeface="Amazon Ember" panose="020B0603020204020204" pitchFamily="34" charset="0"/>
              </a:rPr>
              <a:t>Specify an</a:t>
            </a:r>
            <a:br>
              <a:rPr lang="en-US" sz="2800" dirty="0">
                <a:ea typeface="Amazon Ember" panose="020B0603020204020204" pitchFamily="34" charset="0"/>
                <a:cs typeface="Amazon Ember" panose="020B0603020204020204" pitchFamily="34" charset="0"/>
              </a:rPr>
            </a:br>
            <a:r>
              <a:rPr lang="en-US" sz="2800" dirty="0">
                <a:ea typeface="Amazon Ember" panose="020B0603020204020204" pitchFamily="34" charset="0"/>
                <a:cs typeface="Amazon Ember" panose="020B0603020204020204" pitchFamily="34" charset="0"/>
              </a:rPr>
              <a:t>origin location.</a:t>
            </a:r>
            <a:endParaRPr lang="en-US" sz="2800" dirty="0"/>
          </a:p>
          <a:p>
            <a:endParaRPr lang="en-US" dirty="0"/>
          </a:p>
        </p:txBody>
      </p:sp>
      <p:cxnSp>
        <p:nvCxnSpPr>
          <p:cNvPr id="16" name="Straight Arrow Connector 15">
            <a:extLst>
              <a:ext uri="{FF2B5EF4-FFF2-40B4-BE49-F238E27FC236}">
                <a16:creationId xmlns:a16="http://schemas.microsoft.com/office/drawing/2014/main" id="{A850FFA2-01AE-4B41-8D3E-1E7285D0D952}"/>
              </a:ext>
              <a:ext uri="{C183D7F6-B498-43B3-948B-1728B52AA6E4}">
                <adec:decorative xmlns:adec="http://schemas.microsoft.com/office/drawing/2017/decorative" val="1"/>
              </a:ext>
            </a:extLst>
          </p:cNvPr>
          <p:cNvCxnSpPr>
            <a:cxnSpLocks/>
          </p:cNvCxnSpPr>
          <p:nvPr/>
        </p:nvCxnSpPr>
        <p:spPr>
          <a:xfrm>
            <a:off x="2523872" y="2864064"/>
            <a:ext cx="1168320" cy="0"/>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35" name="Picture Placeholder 34">
            <a:extLst>
              <a:ext uri="{FF2B5EF4-FFF2-40B4-BE49-F238E27FC236}">
                <a16:creationId xmlns:a16="http://schemas.microsoft.com/office/drawing/2014/main" id="{FC3759BB-8117-47CB-AA9C-DFDD07E4BA13}"/>
              </a:ext>
              <a:ext uri="{C183D7F6-B498-43B3-948B-1728B52AA6E4}">
                <adec:decorative xmlns:adec="http://schemas.microsoft.com/office/drawing/2017/decorative" val="1"/>
              </a:ext>
            </a:extLst>
          </p:cNvPr>
          <p:cNvPicPr>
            <a:picLocks noGrp="1" noChangeAspect="1"/>
          </p:cNvPicPr>
          <p:nvPr>
            <p:ph type="pic" idx="23"/>
          </p:nvPr>
        </p:nvPicPr>
        <p:blipFill>
          <a:blip r:embed="rId5">
            <a:extLst>
              <a:ext uri="{96DAC541-7B7A-43D3-8B79-37D633B846F1}">
                <asvg:svgBlip xmlns:asvg="http://schemas.microsoft.com/office/drawing/2016/SVG/main" r:embed="rId6"/>
              </a:ext>
            </a:extLst>
          </a:blip>
          <a:srcRect/>
          <a:stretch>
            <a:fillRect/>
          </a:stretch>
        </p:blipFill>
        <p:spPr>
          <a:xfrm>
            <a:off x="3738563" y="1834996"/>
            <a:ext cx="1828800" cy="1828800"/>
          </a:xfrm>
          <a:prstGeom prst="rect">
            <a:avLst/>
          </a:prstGeom>
        </p:spPr>
      </p:pic>
      <p:sp>
        <p:nvSpPr>
          <p:cNvPr id="9" name="Text Placeholder 8">
            <a:extLst>
              <a:ext uri="{FF2B5EF4-FFF2-40B4-BE49-F238E27FC236}">
                <a16:creationId xmlns:a16="http://schemas.microsoft.com/office/drawing/2014/main" id="{2C7078F4-0E6D-48F6-B596-8100A2D4E90A}"/>
              </a:ext>
            </a:extLst>
          </p:cNvPr>
          <p:cNvSpPr>
            <a:spLocks noGrp="1"/>
          </p:cNvSpPr>
          <p:nvPr>
            <p:ph type="body" idx="3"/>
          </p:nvPr>
        </p:nvSpPr>
        <p:spPr>
          <a:xfrm>
            <a:off x="3258312" y="4041801"/>
            <a:ext cx="2788920" cy="2520162"/>
          </a:xfrm>
        </p:spPr>
        <p:txBody>
          <a:bodyPr/>
          <a:lstStyle/>
          <a:p>
            <a:pPr algn="ctr"/>
            <a:r>
              <a:rPr lang="en-US" sz="2800" dirty="0">
                <a:ea typeface="Amazon Ember" panose="020B0603020204020204" pitchFamily="34" charset="0"/>
                <a:cs typeface="Amazon Ember" panose="020B0603020204020204" pitchFamily="34" charset="0"/>
              </a:rPr>
              <a:t>Configure</a:t>
            </a:r>
            <a:br>
              <a:rPr lang="en-US" sz="2800" dirty="0">
                <a:ea typeface="Amazon Ember" panose="020B0603020204020204" pitchFamily="34" charset="0"/>
                <a:cs typeface="Amazon Ember" panose="020B0603020204020204" pitchFamily="34" charset="0"/>
              </a:rPr>
            </a:br>
            <a:r>
              <a:rPr lang="en-US" sz="2800" dirty="0">
                <a:ea typeface="Amazon Ember" panose="020B0603020204020204" pitchFamily="34" charset="0"/>
                <a:cs typeface="Amazon Ember" panose="020B0603020204020204" pitchFamily="34" charset="0"/>
              </a:rPr>
              <a:t>the distribution.</a:t>
            </a:r>
          </a:p>
          <a:p>
            <a:endParaRPr lang="en-US" dirty="0"/>
          </a:p>
        </p:txBody>
      </p:sp>
      <p:cxnSp>
        <p:nvCxnSpPr>
          <p:cNvPr id="17" name="Straight Arrow Connector 16">
            <a:extLst>
              <a:ext uri="{FF2B5EF4-FFF2-40B4-BE49-F238E27FC236}">
                <a16:creationId xmlns:a16="http://schemas.microsoft.com/office/drawing/2014/main" id="{6917D394-B268-4BD9-ACCB-0B53E830B91B}"/>
              </a:ext>
              <a:ext uri="{C183D7F6-B498-43B3-948B-1728B52AA6E4}">
                <adec:decorative xmlns:adec="http://schemas.microsoft.com/office/drawing/2017/decorative" val="1"/>
              </a:ext>
            </a:extLst>
          </p:cNvPr>
          <p:cNvCxnSpPr>
            <a:cxnSpLocks/>
          </p:cNvCxnSpPr>
          <p:nvPr/>
        </p:nvCxnSpPr>
        <p:spPr>
          <a:xfrm>
            <a:off x="5561842" y="2864064"/>
            <a:ext cx="970779" cy="0"/>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36" name="Graphic 19">
            <a:extLst>
              <a:ext uri="{FF2B5EF4-FFF2-40B4-BE49-F238E27FC236}">
                <a16:creationId xmlns:a16="http://schemas.microsoft.com/office/drawing/2014/main" id="{1B0821C5-3848-4551-A22F-831777140EDC}"/>
              </a:ext>
              <a:ext uri="{C183D7F6-B498-43B3-948B-1728B52AA6E4}">
                <adec:decorative xmlns:adec="http://schemas.microsoft.com/office/drawing/2017/decorative" val="1"/>
              </a:ext>
            </a:extLst>
          </p:cNvPr>
          <p:cNvPicPr>
            <a:picLocks noGrp="1" noChangeAspect="1" noChangeArrowheads="1"/>
          </p:cNvPicPr>
          <p:nvPr>
            <p:ph type="pic" idx="24"/>
          </p:nvPr>
        </p:nvPicPr>
        <p:blipFill>
          <a:blip r:embed="rId7">
            <a:extLst>
              <a:ext uri="{96DAC541-7B7A-43D3-8B79-37D633B846F1}">
                <asvg:svgBlip xmlns:asvg="http://schemas.microsoft.com/office/drawing/2016/SVG/main" r:embed="rId8"/>
              </a:ext>
            </a:extLst>
          </a:blip>
          <a:srcRect/>
          <a:stretch/>
        </p:blipFill>
        <p:spPr bwMode="auto">
          <a:xfrm>
            <a:off x="6630988" y="1836363"/>
            <a:ext cx="1828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Placeholder 11">
            <a:extLst>
              <a:ext uri="{FF2B5EF4-FFF2-40B4-BE49-F238E27FC236}">
                <a16:creationId xmlns:a16="http://schemas.microsoft.com/office/drawing/2014/main" id="{F8C734E7-0A66-4117-8273-B583296C2CD6}"/>
              </a:ext>
            </a:extLst>
          </p:cNvPr>
          <p:cNvSpPr>
            <a:spLocks noGrp="1"/>
          </p:cNvSpPr>
          <p:nvPr>
            <p:ph type="body" idx="4"/>
          </p:nvPr>
        </p:nvSpPr>
        <p:spPr>
          <a:xfrm>
            <a:off x="6150864" y="4041801"/>
            <a:ext cx="2788920" cy="2520162"/>
          </a:xfrm>
        </p:spPr>
        <p:txBody>
          <a:bodyPr/>
          <a:lstStyle/>
          <a:p>
            <a:pPr algn="ctr"/>
            <a:r>
              <a:rPr lang="en-US" sz="2800" dirty="0">
                <a:ea typeface="Amazon Ember" panose="020B0603020204020204" pitchFamily="34" charset="0"/>
                <a:cs typeface="Amazon Ember" panose="020B0603020204020204" pitchFamily="34" charset="0"/>
              </a:rPr>
              <a:t>CloudFront becomes available.</a:t>
            </a:r>
          </a:p>
          <a:p>
            <a:endParaRPr lang="en-US" dirty="0"/>
          </a:p>
        </p:txBody>
      </p:sp>
      <p:cxnSp>
        <p:nvCxnSpPr>
          <p:cNvPr id="19" name="Straight Arrow Connector 18">
            <a:extLst>
              <a:ext uri="{FF2B5EF4-FFF2-40B4-BE49-F238E27FC236}">
                <a16:creationId xmlns:a16="http://schemas.microsoft.com/office/drawing/2014/main" id="{F8FCCE05-65DF-4483-B8AB-278988DBB2DC}"/>
              </a:ext>
              <a:ext uri="{C183D7F6-B498-43B3-948B-1728B52AA6E4}">
                <adec:decorative xmlns:adec="http://schemas.microsoft.com/office/drawing/2017/decorative" val="1"/>
              </a:ext>
            </a:extLst>
          </p:cNvPr>
          <p:cNvCxnSpPr>
            <a:cxnSpLocks/>
          </p:cNvCxnSpPr>
          <p:nvPr/>
        </p:nvCxnSpPr>
        <p:spPr>
          <a:xfrm>
            <a:off x="8552634" y="2861901"/>
            <a:ext cx="970779" cy="0"/>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pic>
        <p:nvPicPr>
          <p:cNvPr id="37" name="Picture Placeholder 36">
            <a:extLst>
              <a:ext uri="{FF2B5EF4-FFF2-40B4-BE49-F238E27FC236}">
                <a16:creationId xmlns:a16="http://schemas.microsoft.com/office/drawing/2014/main" id="{C0C6DFCA-AA83-489F-9648-78A82D4E149F}"/>
              </a:ext>
              <a:ext uri="{C183D7F6-B498-43B3-948B-1728B52AA6E4}">
                <adec:decorative xmlns:adec="http://schemas.microsoft.com/office/drawing/2017/decorative" val="1"/>
              </a:ext>
            </a:extLst>
          </p:cNvPr>
          <p:cNvPicPr>
            <a:picLocks noGrp="1" noChangeAspect="1"/>
          </p:cNvPicPr>
          <p:nvPr>
            <p:ph type="pic" idx="25"/>
          </p:nvPr>
        </p:nvPicPr>
        <p:blipFill>
          <a:blip r:embed="rId9"/>
          <a:srcRect l="823" r="823"/>
          <a:stretch>
            <a:fillRect/>
          </a:stretch>
        </p:blipFill>
        <p:spPr>
          <a:xfrm>
            <a:off x="9523413" y="1836363"/>
            <a:ext cx="1828800" cy="1828800"/>
          </a:xfrm>
          <a:prstGeom prst="rect">
            <a:avLst/>
          </a:prstGeom>
        </p:spPr>
      </p:pic>
      <p:sp>
        <p:nvSpPr>
          <p:cNvPr id="15" name="Text Placeholder 14">
            <a:extLst>
              <a:ext uri="{FF2B5EF4-FFF2-40B4-BE49-F238E27FC236}">
                <a16:creationId xmlns:a16="http://schemas.microsoft.com/office/drawing/2014/main" id="{3BABA942-A220-4B91-BE4C-0D48BFF83F35}"/>
              </a:ext>
            </a:extLst>
          </p:cNvPr>
          <p:cNvSpPr>
            <a:spLocks noGrp="1"/>
          </p:cNvSpPr>
          <p:nvPr>
            <p:ph type="body" idx="5"/>
          </p:nvPr>
        </p:nvSpPr>
        <p:spPr>
          <a:xfrm>
            <a:off x="8939784" y="4041801"/>
            <a:ext cx="2892552" cy="2520161"/>
          </a:xfrm>
        </p:spPr>
        <p:txBody>
          <a:bodyPr/>
          <a:lstStyle/>
          <a:p>
            <a:pPr algn="ctr"/>
            <a:r>
              <a:rPr lang="en-US" sz="2800" dirty="0">
                <a:ea typeface="Amazon Ember" panose="020B0603020204020204" pitchFamily="34" charset="0"/>
                <a:cs typeface="Amazon Ember" panose="020B0603020204020204" pitchFamily="34" charset="0"/>
              </a:rPr>
              <a:t>CloudFront sends your distribution’s </a:t>
            </a:r>
            <a:br>
              <a:rPr lang="en-US" sz="2800" dirty="0">
                <a:ea typeface="Amazon Ember" panose="020B0603020204020204" pitchFamily="34" charset="0"/>
                <a:cs typeface="Amazon Ember" panose="020B0603020204020204" pitchFamily="34" charset="0"/>
              </a:rPr>
            </a:br>
            <a:r>
              <a:rPr lang="en-US" sz="2800" dirty="0">
                <a:ea typeface="Amazon Ember" panose="020B0603020204020204" pitchFamily="34" charset="0"/>
                <a:cs typeface="Amazon Ember" panose="020B0603020204020204" pitchFamily="34" charset="0"/>
              </a:rPr>
              <a:t>configuration to </a:t>
            </a:r>
            <a:br>
              <a:rPr lang="en-US" sz="2800" dirty="0">
                <a:ea typeface="Amazon Ember" panose="020B0603020204020204" pitchFamily="34" charset="0"/>
                <a:cs typeface="Amazon Ember" panose="020B0603020204020204" pitchFamily="34" charset="0"/>
              </a:rPr>
            </a:br>
            <a:r>
              <a:rPr lang="en-US" sz="2800" dirty="0">
                <a:ea typeface="Amazon Ember" panose="020B0603020204020204" pitchFamily="34" charset="0"/>
                <a:cs typeface="Amazon Ember" panose="020B0603020204020204" pitchFamily="34" charset="0"/>
              </a:rPr>
              <a:t>edge locations.</a:t>
            </a:r>
          </a:p>
          <a:p>
            <a:endParaRPr lang="en-US" dirty="0"/>
          </a:p>
        </p:txBody>
      </p:sp>
    </p:spTree>
    <p:custDataLst>
      <p:tags r:id="rId1"/>
    </p:custDataLst>
    <p:extLst>
      <p:ext uri="{BB962C8B-B14F-4D97-AF65-F5344CB8AC3E}">
        <p14:creationId xmlns:p14="http://schemas.microsoft.com/office/powerpoint/2010/main" val="3033628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8027358-2C35-41CF-8C29-2D1F3C93C4A4}"/>
              </a:ext>
            </a:extLst>
          </p:cNvPr>
          <p:cNvSpPr>
            <a:spLocks noGrp="1"/>
          </p:cNvSpPr>
          <p:nvPr>
            <p:ph type="sldNum" idx="97"/>
          </p:nvPr>
        </p:nvSpPr>
        <p:spPr/>
        <p:txBody>
          <a:bodyPr/>
          <a:lstStyle/>
          <a:p>
            <a:fld id="{4037B1B0-0345-4E15-985A-6BECCDBE474F}" type="slidenum">
              <a:rPr lang="en-US" smtClean="0"/>
              <a:pPr/>
              <a:t>21</a:t>
            </a:fld>
            <a:endParaRPr lang="en-US" dirty="0"/>
          </a:p>
        </p:txBody>
      </p:sp>
      <p:sp>
        <p:nvSpPr>
          <p:cNvPr id="3" name="Title">
            <a:extLst>
              <a:ext uri="{FF2B5EF4-FFF2-40B4-BE49-F238E27FC236}">
                <a16:creationId xmlns:a16="http://schemas.microsoft.com/office/drawing/2014/main" id="{5A64E3C4-AFCD-4C67-A8E3-D78834C02D59}"/>
              </a:ext>
            </a:extLst>
          </p:cNvPr>
          <p:cNvSpPr>
            <a:spLocks noGrp="1"/>
          </p:cNvSpPr>
          <p:nvPr>
            <p:ph type="title" idx="1"/>
          </p:nvPr>
        </p:nvSpPr>
        <p:spPr/>
        <p:txBody>
          <a:bodyPr/>
          <a:lstStyle/>
          <a:p>
            <a:r>
              <a:rPr lang="en-US" dirty="0"/>
              <a:t>Controlling how long content is cached</a:t>
            </a:r>
          </a:p>
        </p:txBody>
      </p:sp>
      <p:sp>
        <p:nvSpPr>
          <p:cNvPr id="4" name="Text Placeholder 3">
            <a:extLst>
              <a:ext uri="{FF2B5EF4-FFF2-40B4-BE49-F238E27FC236}">
                <a16:creationId xmlns:a16="http://schemas.microsoft.com/office/drawing/2014/main" id="{EB50A331-C095-4CF9-A6D8-32C509F5A71F}"/>
              </a:ext>
            </a:extLst>
          </p:cNvPr>
          <p:cNvSpPr>
            <a:spLocks noGrp="1"/>
          </p:cNvSpPr>
          <p:nvPr>
            <p:ph type="body" idx="12"/>
          </p:nvPr>
        </p:nvSpPr>
        <p:spPr>
          <a:xfrm>
            <a:off x="365760" y="1351741"/>
            <a:ext cx="2788920" cy="1093124"/>
          </a:xfrm>
        </p:spPr>
        <p:txBody>
          <a:bodyPr/>
          <a:lstStyle/>
          <a:p>
            <a:pPr algn="ctr"/>
            <a:r>
              <a:rPr lang="en-US" dirty="0"/>
              <a:t>Set a maximum TTL value</a:t>
            </a:r>
          </a:p>
        </p:txBody>
      </p:sp>
      <p:sp>
        <p:nvSpPr>
          <p:cNvPr id="5" name="Text Placeholder 4">
            <a:extLst>
              <a:ext uri="{FF2B5EF4-FFF2-40B4-BE49-F238E27FC236}">
                <a16:creationId xmlns:a16="http://schemas.microsoft.com/office/drawing/2014/main" id="{70B489C9-D612-405A-95CF-1007B66E1491}"/>
              </a:ext>
            </a:extLst>
          </p:cNvPr>
          <p:cNvSpPr>
            <a:spLocks noGrp="1"/>
          </p:cNvSpPr>
          <p:nvPr>
            <p:ph type="body" idx="2"/>
          </p:nvPr>
        </p:nvSpPr>
        <p:spPr>
          <a:xfrm>
            <a:off x="365760" y="2594495"/>
            <a:ext cx="2788920" cy="4152206"/>
          </a:xfrm>
        </p:spPr>
        <p:txBody>
          <a:bodyPr/>
          <a:lstStyle/>
          <a:p>
            <a:pPr marL="0" indent="0" algn="ctr">
              <a:buNone/>
            </a:pPr>
            <a:r>
              <a:rPr lang="en-US" dirty="0"/>
              <a:t>Expires cached content faster with a low maximum TTL value</a:t>
            </a:r>
          </a:p>
        </p:txBody>
      </p:sp>
      <p:sp>
        <p:nvSpPr>
          <p:cNvPr id="6" name="Text Placeholder 5">
            <a:extLst>
              <a:ext uri="{FF2B5EF4-FFF2-40B4-BE49-F238E27FC236}">
                <a16:creationId xmlns:a16="http://schemas.microsoft.com/office/drawing/2014/main" id="{2180D2CA-0259-48B6-ACD1-D3829B27FD14}"/>
              </a:ext>
            </a:extLst>
          </p:cNvPr>
          <p:cNvSpPr>
            <a:spLocks noGrp="1"/>
          </p:cNvSpPr>
          <p:nvPr>
            <p:ph type="body" idx="13"/>
          </p:nvPr>
        </p:nvSpPr>
        <p:spPr>
          <a:xfrm>
            <a:off x="3264408" y="1351741"/>
            <a:ext cx="2788920" cy="1093124"/>
          </a:xfrm>
        </p:spPr>
        <p:txBody>
          <a:bodyPr/>
          <a:lstStyle/>
          <a:p>
            <a:pPr algn="ctr"/>
            <a:r>
              <a:rPr lang="en-US" dirty="0"/>
              <a:t>Implement content versioning</a:t>
            </a:r>
          </a:p>
        </p:txBody>
      </p:sp>
      <p:sp>
        <p:nvSpPr>
          <p:cNvPr id="7" name="Text Placeholder 6">
            <a:extLst>
              <a:ext uri="{FF2B5EF4-FFF2-40B4-BE49-F238E27FC236}">
                <a16:creationId xmlns:a16="http://schemas.microsoft.com/office/drawing/2014/main" id="{1083207C-8B3C-4A80-82D7-F2F0EA7E0B0E}"/>
              </a:ext>
            </a:extLst>
          </p:cNvPr>
          <p:cNvSpPr>
            <a:spLocks noGrp="1"/>
          </p:cNvSpPr>
          <p:nvPr>
            <p:ph type="body" idx="3"/>
          </p:nvPr>
        </p:nvSpPr>
        <p:spPr>
          <a:xfrm>
            <a:off x="3264408" y="2594495"/>
            <a:ext cx="2788920" cy="4152206"/>
          </a:xfrm>
        </p:spPr>
        <p:txBody>
          <a:bodyPr/>
          <a:lstStyle/>
          <a:p>
            <a:pPr marL="0" indent="0" algn="ctr">
              <a:buNone/>
            </a:pPr>
            <a:r>
              <a:rPr lang="en-US" dirty="0"/>
              <a:t>Fetches and caches new files immediately</a:t>
            </a:r>
          </a:p>
        </p:txBody>
      </p:sp>
      <p:sp>
        <p:nvSpPr>
          <p:cNvPr id="8" name="Text Placeholder 7">
            <a:extLst>
              <a:ext uri="{FF2B5EF4-FFF2-40B4-BE49-F238E27FC236}">
                <a16:creationId xmlns:a16="http://schemas.microsoft.com/office/drawing/2014/main" id="{0F0F9FB1-5322-4971-A7A6-44C9F0F1D546}"/>
              </a:ext>
            </a:extLst>
          </p:cNvPr>
          <p:cNvSpPr>
            <a:spLocks noGrp="1"/>
          </p:cNvSpPr>
          <p:nvPr>
            <p:ph type="body" idx="14"/>
          </p:nvPr>
        </p:nvSpPr>
        <p:spPr>
          <a:xfrm>
            <a:off x="6163056" y="1351741"/>
            <a:ext cx="2788920" cy="1093124"/>
          </a:xfrm>
        </p:spPr>
        <p:txBody>
          <a:bodyPr/>
          <a:lstStyle/>
          <a:p>
            <a:pPr algn="ctr"/>
            <a:r>
              <a:rPr lang="en-US" dirty="0"/>
              <a:t>Specify </a:t>
            </a:r>
            <a:br>
              <a:rPr lang="en-US" dirty="0"/>
            </a:br>
            <a:r>
              <a:rPr lang="en-US" dirty="0"/>
              <a:t>cache-control headers</a:t>
            </a:r>
          </a:p>
        </p:txBody>
      </p:sp>
      <p:sp>
        <p:nvSpPr>
          <p:cNvPr id="9" name="Text Placeholder 8">
            <a:extLst>
              <a:ext uri="{FF2B5EF4-FFF2-40B4-BE49-F238E27FC236}">
                <a16:creationId xmlns:a16="http://schemas.microsoft.com/office/drawing/2014/main" id="{3B34B4E6-19C2-4C0D-9C06-9FA062BF8ADC}"/>
              </a:ext>
            </a:extLst>
          </p:cNvPr>
          <p:cNvSpPr>
            <a:spLocks noGrp="1"/>
          </p:cNvSpPr>
          <p:nvPr>
            <p:ph type="body" idx="4"/>
          </p:nvPr>
        </p:nvSpPr>
        <p:spPr>
          <a:xfrm>
            <a:off x="6163056" y="2594495"/>
            <a:ext cx="2788920" cy="4152206"/>
          </a:xfrm>
        </p:spPr>
        <p:txBody>
          <a:bodyPr/>
          <a:lstStyle/>
          <a:p>
            <a:pPr marL="0" indent="0" algn="ctr">
              <a:buNone/>
            </a:pPr>
            <a:r>
              <a:rPr lang="en-US" dirty="0"/>
              <a:t>Provides precise control over content expiration for individual files</a:t>
            </a:r>
          </a:p>
          <a:p>
            <a:endParaRPr lang="en-US" dirty="0"/>
          </a:p>
        </p:txBody>
      </p:sp>
      <p:sp>
        <p:nvSpPr>
          <p:cNvPr id="10" name="Text Placeholder 9">
            <a:extLst>
              <a:ext uri="{FF2B5EF4-FFF2-40B4-BE49-F238E27FC236}">
                <a16:creationId xmlns:a16="http://schemas.microsoft.com/office/drawing/2014/main" id="{1669B5BB-B2D5-43CA-9385-27477A226CA7}"/>
              </a:ext>
            </a:extLst>
          </p:cNvPr>
          <p:cNvSpPr>
            <a:spLocks noGrp="1"/>
          </p:cNvSpPr>
          <p:nvPr>
            <p:ph type="body" idx="15"/>
          </p:nvPr>
        </p:nvSpPr>
        <p:spPr>
          <a:xfrm>
            <a:off x="9061704" y="1351741"/>
            <a:ext cx="2788920" cy="1093124"/>
          </a:xfrm>
        </p:spPr>
        <p:txBody>
          <a:bodyPr/>
          <a:lstStyle/>
          <a:p>
            <a:pPr algn="ctr"/>
            <a:r>
              <a:rPr lang="en-US" dirty="0"/>
              <a:t>Use CloudFront invalidation requests</a:t>
            </a:r>
          </a:p>
        </p:txBody>
      </p:sp>
      <p:sp>
        <p:nvSpPr>
          <p:cNvPr id="11" name="Text Placeholder 10">
            <a:extLst>
              <a:ext uri="{FF2B5EF4-FFF2-40B4-BE49-F238E27FC236}">
                <a16:creationId xmlns:a16="http://schemas.microsoft.com/office/drawing/2014/main" id="{C9AFB706-53E2-470A-97FB-09DF4F09FED6}"/>
              </a:ext>
            </a:extLst>
          </p:cNvPr>
          <p:cNvSpPr>
            <a:spLocks noGrp="1"/>
          </p:cNvSpPr>
          <p:nvPr>
            <p:ph type="body" idx="5"/>
          </p:nvPr>
        </p:nvSpPr>
        <p:spPr>
          <a:xfrm>
            <a:off x="9061704" y="2594495"/>
            <a:ext cx="2788920" cy="4152206"/>
          </a:xfrm>
        </p:spPr>
        <p:txBody>
          <a:bodyPr/>
          <a:lstStyle/>
          <a:p>
            <a:pPr marL="0" indent="0" algn="ctr">
              <a:buNone/>
            </a:pPr>
            <a:r>
              <a:rPr lang="en-US" dirty="0"/>
              <a:t>Forces CloudFront to expire content from edge caches</a:t>
            </a:r>
          </a:p>
        </p:txBody>
      </p:sp>
    </p:spTree>
    <p:custDataLst>
      <p:tags r:id="rId1"/>
    </p:custDataLst>
    <p:extLst>
      <p:ext uri="{BB962C8B-B14F-4D97-AF65-F5344CB8AC3E}">
        <p14:creationId xmlns:p14="http://schemas.microsoft.com/office/powerpoint/2010/main" val="3581803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9E525AC-D1F1-4087-8749-F3F6C8B09C6C}"/>
              </a:ext>
            </a:extLst>
          </p:cNvPr>
          <p:cNvSpPr>
            <a:spLocks noGrp="1"/>
          </p:cNvSpPr>
          <p:nvPr>
            <p:ph type="sldNum" idx="97"/>
          </p:nvPr>
        </p:nvSpPr>
        <p:spPr/>
        <p:txBody>
          <a:bodyPr/>
          <a:lstStyle/>
          <a:p>
            <a:fld id="{4037B1B0-0345-4E15-985A-6BECCDBE474F}" type="slidenum">
              <a:rPr lang="en-US" smtClean="0"/>
              <a:pPr/>
              <a:t>22</a:t>
            </a:fld>
            <a:endParaRPr lang="en-US" dirty="0"/>
          </a:p>
        </p:txBody>
      </p:sp>
      <p:sp>
        <p:nvSpPr>
          <p:cNvPr id="3" name="Title">
            <a:extLst>
              <a:ext uri="{FF2B5EF4-FFF2-40B4-BE49-F238E27FC236}">
                <a16:creationId xmlns:a16="http://schemas.microsoft.com/office/drawing/2014/main" id="{44BDFC55-218C-442A-8F2B-D6AAA64ACBCB}"/>
              </a:ext>
            </a:extLst>
          </p:cNvPr>
          <p:cNvSpPr>
            <a:spLocks noGrp="1"/>
          </p:cNvSpPr>
          <p:nvPr>
            <p:ph type="title" idx="1"/>
          </p:nvPr>
        </p:nvSpPr>
        <p:spPr/>
        <p:txBody>
          <a:bodyPr/>
          <a:lstStyle/>
          <a:p>
            <a:r>
              <a:rPr lang="en-US" dirty="0"/>
              <a:t>Using CloudFront for video streaming</a:t>
            </a:r>
          </a:p>
        </p:txBody>
      </p:sp>
      <p:grpSp>
        <p:nvGrpSpPr>
          <p:cNvPr id="83" name="Flatten UsingCloudFront" descr="Elastic Transcoder converts video files for CloudFront to deliver. See notes for details.">
            <a:extLst>
              <a:ext uri="{FF2B5EF4-FFF2-40B4-BE49-F238E27FC236}">
                <a16:creationId xmlns:a16="http://schemas.microsoft.com/office/drawing/2014/main" id="{2F1DA594-A4DD-4113-94B7-A0366AD1B55E}"/>
              </a:ext>
            </a:extLst>
          </p:cNvPr>
          <p:cNvGrpSpPr/>
          <p:nvPr/>
        </p:nvGrpSpPr>
        <p:grpSpPr>
          <a:xfrm>
            <a:off x="364887" y="1325366"/>
            <a:ext cx="11589727" cy="4361592"/>
            <a:chOff x="364887" y="1325366"/>
            <a:chExt cx="11589727" cy="4361592"/>
          </a:xfrm>
        </p:grpSpPr>
        <p:cxnSp>
          <p:nvCxnSpPr>
            <p:cNvPr id="84" name="Straight Arrow Connector 83">
              <a:extLst>
                <a:ext uri="{FF2B5EF4-FFF2-40B4-BE49-F238E27FC236}">
                  <a16:creationId xmlns:a16="http://schemas.microsoft.com/office/drawing/2014/main" id="{702AB524-1753-4213-8950-72ED5DA56786}"/>
                </a:ext>
              </a:extLst>
            </p:cNvPr>
            <p:cNvCxnSpPr>
              <a:cxnSpLocks/>
            </p:cNvCxnSpPr>
            <p:nvPr/>
          </p:nvCxnSpPr>
          <p:spPr>
            <a:xfrm flipV="1">
              <a:off x="9330235" y="3440626"/>
              <a:ext cx="1687529" cy="11688"/>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F1DCF5AC-5523-4A1F-9B13-32CEE126D71A}"/>
                </a:ext>
              </a:extLst>
            </p:cNvPr>
            <p:cNvGrpSpPr/>
            <p:nvPr/>
          </p:nvGrpSpPr>
          <p:grpSpPr>
            <a:xfrm>
              <a:off x="10606167" y="2994403"/>
              <a:ext cx="1348447" cy="1429843"/>
              <a:chOff x="10647556" y="3392591"/>
              <a:chExt cx="1348447" cy="1429843"/>
            </a:xfrm>
          </p:grpSpPr>
          <p:pic>
            <p:nvPicPr>
              <p:cNvPr id="113" name="Graphic 112">
                <a:extLst>
                  <a:ext uri="{FF2B5EF4-FFF2-40B4-BE49-F238E27FC236}">
                    <a16:creationId xmlns:a16="http://schemas.microsoft.com/office/drawing/2014/main" id="{1325BE22-02DD-4F3D-BE89-BCD72486CF5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51546" y="3392591"/>
                <a:ext cx="759803" cy="759803"/>
              </a:xfrm>
              <a:prstGeom prst="rect">
                <a:avLst/>
              </a:prstGeom>
            </p:spPr>
          </p:pic>
          <p:sp>
            <p:nvSpPr>
              <p:cNvPr id="114" name="TextBox 113">
                <a:extLst>
                  <a:ext uri="{FF2B5EF4-FFF2-40B4-BE49-F238E27FC236}">
                    <a16:creationId xmlns:a16="http://schemas.microsoft.com/office/drawing/2014/main" id="{6410FA5A-8377-4A63-B3B4-9F83E7E8A27B}"/>
                  </a:ext>
                </a:extLst>
              </p:cNvPr>
              <p:cNvSpPr txBox="1"/>
              <p:nvPr/>
            </p:nvSpPr>
            <p:spPr>
              <a:xfrm>
                <a:off x="10647556" y="4237659"/>
                <a:ext cx="1348447" cy="584775"/>
              </a:xfrm>
              <a:prstGeom prst="rect">
                <a:avLst/>
              </a:prstGeom>
              <a:noFill/>
            </p:spPr>
            <p:txBody>
              <a:bodyPr wrap="none" rtlCol="0">
                <a:spAutoFit/>
              </a:bodyPr>
              <a:lstStyle/>
              <a:p>
                <a:pPr algn="ctr"/>
                <a:r>
                  <a:rPr lang="en-US" sz="1600" b="1" dirty="0">
                    <a:solidFill>
                      <a:srgbClr val="232F3E"/>
                    </a:solidFill>
                    <a:ea typeface="Amazon Ember Light" panose="020B0403020204020204" pitchFamily="34" charset="0"/>
                    <a:cs typeface="Amazon Ember Light" panose="020B0403020204020204" pitchFamily="34" charset="0"/>
                  </a:rPr>
                  <a:t>User mobile</a:t>
                </a:r>
                <a:br>
                  <a:rPr lang="en-US" sz="1600" b="1" dirty="0">
                    <a:solidFill>
                      <a:srgbClr val="232F3E"/>
                    </a:solidFill>
                    <a:ea typeface="Amazon Ember Light" panose="020B0403020204020204" pitchFamily="34" charset="0"/>
                    <a:cs typeface="Amazon Ember Light" panose="020B0403020204020204" pitchFamily="34" charset="0"/>
                  </a:rPr>
                </a:br>
                <a:r>
                  <a:rPr lang="en-US" sz="1600" b="1" dirty="0">
                    <a:solidFill>
                      <a:srgbClr val="232F3E"/>
                    </a:solidFill>
                    <a:ea typeface="Amazon Ember Light" panose="020B0403020204020204" pitchFamily="34" charset="0"/>
                    <a:cs typeface="Amazon Ember Light" panose="020B0403020204020204" pitchFamily="34" charset="0"/>
                  </a:rPr>
                  <a:t>device</a:t>
                </a:r>
              </a:p>
            </p:txBody>
          </p:sp>
        </p:grpSp>
        <p:grpSp>
          <p:nvGrpSpPr>
            <p:cNvPr id="86" name="Group 85">
              <a:extLst>
                <a:ext uri="{FF2B5EF4-FFF2-40B4-BE49-F238E27FC236}">
                  <a16:creationId xmlns:a16="http://schemas.microsoft.com/office/drawing/2014/main" id="{E56168D0-2CDD-4736-ADCE-9AAC4401E160}"/>
                </a:ext>
              </a:extLst>
            </p:cNvPr>
            <p:cNvGrpSpPr/>
            <p:nvPr/>
          </p:nvGrpSpPr>
          <p:grpSpPr>
            <a:xfrm>
              <a:off x="364887" y="1325366"/>
              <a:ext cx="10230376" cy="4361592"/>
              <a:chOff x="336400" y="1557013"/>
              <a:chExt cx="10230376" cy="4371975"/>
            </a:xfrm>
          </p:grpSpPr>
          <p:sp>
            <p:nvSpPr>
              <p:cNvPr id="87" name="Rectangle 86">
                <a:extLst>
                  <a:ext uri="{FF2B5EF4-FFF2-40B4-BE49-F238E27FC236}">
                    <a16:creationId xmlns:a16="http://schemas.microsoft.com/office/drawing/2014/main" id="{59097D96-2397-4215-8133-31BB4E02EE2A}"/>
                  </a:ext>
                </a:extLst>
              </p:cNvPr>
              <p:cNvSpPr/>
              <p:nvPr/>
            </p:nvSpPr>
            <p:spPr>
              <a:xfrm>
                <a:off x="337273" y="1557013"/>
                <a:ext cx="10229503" cy="4325994"/>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ysClr val="windowText" lastClr="000000"/>
                    </a:solidFill>
                    <a:effectLst/>
                    <a:uLnTx/>
                    <a:uFillTx/>
                    <a:ea typeface="+mn-ea"/>
                    <a:cs typeface="+mn-cs"/>
                  </a:rPr>
                  <a:t> AWS Cloud</a:t>
                </a:r>
              </a:p>
            </p:txBody>
          </p:sp>
          <p:pic>
            <p:nvPicPr>
              <p:cNvPr id="88" name="Graphic 87">
                <a:extLst>
                  <a:ext uri="{FF2B5EF4-FFF2-40B4-BE49-F238E27FC236}">
                    <a16:creationId xmlns:a16="http://schemas.microsoft.com/office/drawing/2014/main" id="{D23D55A0-2470-4557-ADF6-36C98DD683D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6400" y="1564184"/>
                <a:ext cx="457200" cy="457200"/>
              </a:xfrm>
              <a:prstGeom prst="rect">
                <a:avLst/>
              </a:prstGeom>
            </p:spPr>
          </p:pic>
          <p:grpSp>
            <p:nvGrpSpPr>
              <p:cNvPr id="89" name="Group 88">
                <a:extLst>
                  <a:ext uri="{FF2B5EF4-FFF2-40B4-BE49-F238E27FC236}">
                    <a16:creationId xmlns:a16="http://schemas.microsoft.com/office/drawing/2014/main" id="{929C23A5-E5E1-4A6A-86B8-6A7E8B6676F3}"/>
                  </a:ext>
                </a:extLst>
              </p:cNvPr>
              <p:cNvGrpSpPr/>
              <p:nvPr/>
            </p:nvGrpSpPr>
            <p:grpSpPr>
              <a:xfrm>
                <a:off x="424145" y="3293365"/>
                <a:ext cx="925253" cy="1315851"/>
                <a:chOff x="424145" y="3293365"/>
                <a:chExt cx="925253" cy="1315851"/>
              </a:xfrm>
            </p:grpSpPr>
            <p:sp>
              <p:nvSpPr>
                <p:cNvPr id="111" name="TextBox 110">
                  <a:extLst>
                    <a:ext uri="{FF2B5EF4-FFF2-40B4-BE49-F238E27FC236}">
                      <a16:creationId xmlns:a16="http://schemas.microsoft.com/office/drawing/2014/main" id="{3EFC1196-A4C3-4B05-9F1C-F77A9B04D0D7}"/>
                    </a:ext>
                  </a:extLst>
                </p:cNvPr>
                <p:cNvSpPr txBox="1"/>
                <p:nvPr/>
              </p:nvSpPr>
              <p:spPr>
                <a:xfrm>
                  <a:off x="424145" y="4023049"/>
                  <a:ext cx="925253" cy="586167"/>
                </a:xfrm>
                <a:prstGeom prst="rect">
                  <a:avLst/>
                </a:prstGeom>
                <a:noFill/>
              </p:spPr>
              <p:txBody>
                <a:bodyPr wrap="none" rtlCol="0">
                  <a:spAutoFit/>
                </a:bodyPr>
                <a:lstStyle/>
                <a:p>
                  <a:pPr algn="ctr"/>
                  <a:r>
                    <a:rPr lang="en-US" sz="1600" b="1" dirty="0">
                      <a:solidFill>
                        <a:srgbClr val="232F3E"/>
                      </a:solidFill>
                      <a:ea typeface="Amazon Ember Light" panose="020B0403020204020204" pitchFamily="34" charset="0"/>
                      <a:cs typeface="Amazon Ember Light" panose="020B0403020204020204" pitchFamily="34" charset="0"/>
                    </a:rPr>
                    <a:t>Source</a:t>
                  </a:r>
                  <a:br>
                    <a:rPr lang="en-US" sz="1600" b="1" dirty="0">
                      <a:solidFill>
                        <a:srgbClr val="232F3E"/>
                      </a:solidFill>
                      <a:ea typeface="Amazon Ember Light" panose="020B0403020204020204" pitchFamily="34" charset="0"/>
                      <a:cs typeface="Amazon Ember Light" panose="020B0403020204020204" pitchFamily="34" charset="0"/>
                    </a:rPr>
                  </a:br>
                  <a:r>
                    <a:rPr lang="en-US" sz="1600" b="1" dirty="0">
                      <a:solidFill>
                        <a:srgbClr val="232F3E"/>
                      </a:solidFill>
                      <a:ea typeface="Amazon Ember Light" panose="020B0403020204020204" pitchFamily="34" charset="0"/>
                      <a:cs typeface="Amazon Ember Light" panose="020B0403020204020204" pitchFamily="34" charset="0"/>
                    </a:rPr>
                    <a:t>content</a:t>
                  </a:r>
                </a:p>
              </p:txBody>
            </p:sp>
            <p:pic>
              <p:nvPicPr>
                <p:cNvPr id="112" name="Graphic 111">
                  <a:extLst>
                    <a:ext uri="{FF2B5EF4-FFF2-40B4-BE49-F238E27FC236}">
                      <a16:creationId xmlns:a16="http://schemas.microsoft.com/office/drawing/2014/main" id="{E67EE30D-75A7-4A9B-8BAD-AAA9C2FE2FC5}"/>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8517" y="3293365"/>
                  <a:ext cx="772117" cy="772117"/>
                </a:xfrm>
                <a:prstGeom prst="rect">
                  <a:avLst/>
                </a:prstGeom>
              </p:spPr>
            </p:pic>
          </p:grpSp>
          <p:sp>
            <p:nvSpPr>
              <p:cNvPr id="90" name="TextBox 89">
                <a:extLst>
                  <a:ext uri="{FF2B5EF4-FFF2-40B4-BE49-F238E27FC236}">
                    <a16:creationId xmlns:a16="http://schemas.microsoft.com/office/drawing/2014/main" id="{CD0ED587-C631-4330-9A83-193C7D440D19}"/>
                  </a:ext>
                </a:extLst>
              </p:cNvPr>
              <p:cNvSpPr txBox="1"/>
              <p:nvPr/>
            </p:nvSpPr>
            <p:spPr>
              <a:xfrm>
                <a:off x="1576442" y="4023049"/>
                <a:ext cx="1705916" cy="586167"/>
              </a:xfrm>
              <a:prstGeom prst="rect">
                <a:avLst/>
              </a:prstGeom>
              <a:noFill/>
            </p:spPr>
            <p:txBody>
              <a:bodyPr wrap="none" rtlCol="0">
                <a:spAutoFit/>
              </a:bodyPr>
              <a:lstStyle/>
              <a:p>
                <a:pPr algn="ctr"/>
                <a:r>
                  <a:rPr lang="en-US" altLang="en-US" sz="1600" b="1" dirty="0">
                    <a:solidFill>
                      <a:srgbClr val="232F3E"/>
                    </a:solidFill>
                    <a:ea typeface="Amazon Ember Light" panose="020B0403020204020204" pitchFamily="34" charset="0"/>
                    <a:cs typeface="Amazon Ember Light" panose="020B0403020204020204" pitchFamily="34" charset="0"/>
                  </a:rPr>
                  <a:t>Amazon Elastic </a:t>
                </a:r>
                <a:br>
                  <a:rPr lang="en-US" altLang="en-US" sz="1600" b="1" dirty="0">
                    <a:solidFill>
                      <a:srgbClr val="232F3E"/>
                    </a:solidFill>
                    <a:ea typeface="Amazon Ember Light" panose="020B0403020204020204" pitchFamily="34" charset="0"/>
                    <a:cs typeface="Amazon Ember Light" panose="020B0403020204020204" pitchFamily="34" charset="0"/>
                  </a:rPr>
                </a:br>
                <a:r>
                  <a:rPr lang="en-US" altLang="en-US" sz="1600" b="1" dirty="0">
                    <a:solidFill>
                      <a:srgbClr val="232F3E"/>
                    </a:solidFill>
                    <a:ea typeface="Amazon Ember Light" panose="020B0403020204020204" pitchFamily="34" charset="0"/>
                    <a:cs typeface="Amazon Ember Light" panose="020B0403020204020204" pitchFamily="34" charset="0"/>
                  </a:rPr>
                  <a:t>Transcoder</a:t>
                </a:r>
              </a:p>
            </p:txBody>
          </p:sp>
          <p:grpSp>
            <p:nvGrpSpPr>
              <p:cNvPr id="91" name="Group 90">
                <a:extLst>
                  <a:ext uri="{FF2B5EF4-FFF2-40B4-BE49-F238E27FC236}">
                    <a16:creationId xmlns:a16="http://schemas.microsoft.com/office/drawing/2014/main" id="{B46EC769-EE81-4E3F-90E9-68F06A06BF25}"/>
                  </a:ext>
                </a:extLst>
              </p:cNvPr>
              <p:cNvGrpSpPr/>
              <p:nvPr/>
            </p:nvGrpSpPr>
            <p:grpSpPr>
              <a:xfrm>
                <a:off x="4442992" y="3304992"/>
                <a:ext cx="974784" cy="711200"/>
                <a:chOff x="3821862" y="3065179"/>
                <a:chExt cx="974784" cy="711200"/>
              </a:xfrm>
            </p:grpSpPr>
            <p:sp>
              <p:nvSpPr>
                <p:cNvPr id="104" name="Rectangle 103">
                  <a:extLst>
                    <a:ext uri="{FF2B5EF4-FFF2-40B4-BE49-F238E27FC236}">
                      <a16:creationId xmlns:a16="http://schemas.microsoft.com/office/drawing/2014/main" id="{9A0098EA-0D6E-4637-A33A-736DED6FB79A}"/>
                    </a:ext>
                  </a:extLst>
                </p:cNvPr>
                <p:cNvSpPr/>
                <p:nvPr/>
              </p:nvSpPr>
              <p:spPr>
                <a:xfrm>
                  <a:off x="3821862" y="3065179"/>
                  <a:ext cx="306028" cy="7112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05" name="Rectangle 104">
                  <a:extLst>
                    <a:ext uri="{FF2B5EF4-FFF2-40B4-BE49-F238E27FC236}">
                      <a16:creationId xmlns:a16="http://schemas.microsoft.com/office/drawing/2014/main" id="{5210E78F-F6DD-48F1-B74D-20996A1C954A}"/>
                    </a:ext>
                  </a:extLst>
                </p:cNvPr>
                <p:cNvSpPr/>
                <p:nvPr/>
              </p:nvSpPr>
              <p:spPr>
                <a:xfrm>
                  <a:off x="4262356" y="3074434"/>
                  <a:ext cx="287193" cy="14359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06" name="Rectangle 105">
                  <a:extLst>
                    <a:ext uri="{FF2B5EF4-FFF2-40B4-BE49-F238E27FC236}">
                      <a16:creationId xmlns:a16="http://schemas.microsoft.com/office/drawing/2014/main" id="{CDC7C82A-B711-47D8-9D7D-89AAE37862B4}"/>
                    </a:ext>
                  </a:extLst>
                </p:cNvPr>
                <p:cNvSpPr/>
                <p:nvPr/>
              </p:nvSpPr>
              <p:spPr>
                <a:xfrm>
                  <a:off x="4365856" y="3259088"/>
                  <a:ext cx="430790" cy="14359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07" name="Rectangle 106">
                  <a:extLst>
                    <a:ext uri="{FF2B5EF4-FFF2-40B4-BE49-F238E27FC236}">
                      <a16:creationId xmlns:a16="http://schemas.microsoft.com/office/drawing/2014/main" id="{D8E416FF-39B9-4F5F-9371-78CEF38ACC89}"/>
                    </a:ext>
                  </a:extLst>
                </p:cNvPr>
                <p:cNvSpPr/>
                <p:nvPr/>
              </p:nvSpPr>
              <p:spPr>
                <a:xfrm>
                  <a:off x="4460097" y="3443743"/>
                  <a:ext cx="143597" cy="14359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08" name="Rectangle 107">
                  <a:extLst>
                    <a:ext uri="{FF2B5EF4-FFF2-40B4-BE49-F238E27FC236}">
                      <a16:creationId xmlns:a16="http://schemas.microsoft.com/office/drawing/2014/main" id="{ED4EA025-0B4D-4BD2-A7C9-E1FC8EF39FFD}"/>
                    </a:ext>
                  </a:extLst>
                </p:cNvPr>
                <p:cNvSpPr/>
                <p:nvPr/>
              </p:nvSpPr>
              <p:spPr>
                <a:xfrm>
                  <a:off x="4262356" y="3628396"/>
                  <a:ext cx="526521" cy="14359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09" name="Rectangle 108">
                  <a:extLst>
                    <a:ext uri="{FF2B5EF4-FFF2-40B4-BE49-F238E27FC236}">
                      <a16:creationId xmlns:a16="http://schemas.microsoft.com/office/drawing/2014/main" id="{8B192CEA-40CB-450D-A147-A0CF8131A27C}"/>
                    </a:ext>
                  </a:extLst>
                </p:cNvPr>
                <p:cNvSpPr/>
                <p:nvPr/>
              </p:nvSpPr>
              <p:spPr>
                <a:xfrm>
                  <a:off x="3962894" y="3259088"/>
                  <a:ext cx="285714" cy="3829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10" name="Arrow: Right 109">
                  <a:extLst>
                    <a:ext uri="{FF2B5EF4-FFF2-40B4-BE49-F238E27FC236}">
                      <a16:creationId xmlns:a16="http://schemas.microsoft.com/office/drawing/2014/main" id="{30B01EC5-62C1-4C23-83F2-59E77C70DB7D}"/>
                    </a:ext>
                  </a:extLst>
                </p:cNvPr>
                <p:cNvSpPr/>
                <p:nvPr/>
              </p:nvSpPr>
              <p:spPr>
                <a:xfrm>
                  <a:off x="3962154" y="3355326"/>
                  <a:ext cx="287193" cy="190447"/>
                </a:xfrm>
                <a:prstGeom prst="rightArrow">
                  <a:avLst/>
                </a:prstGeom>
                <a:solidFill>
                  <a:srgbClr val="9CA9A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sp>
            <p:nvSpPr>
              <p:cNvPr id="92" name="TextBox 91">
                <a:extLst>
                  <a:ext uri="{FF2B5EF4-FFF2-40B4-BE49-F238E27FC236}">
                    <a16:creationId xmlns:a16="http://schemas.microsoft.com/office/drawing/2014/main" id="{791136AE-43AA-47CD-AFAE-A052976EE58F}"/>
                  </a:ext>
                </a:extLst>
              </p:cNvPr>
              <p:cNvSpPr txBox="1"/>
              <p:nvPr/>
            </p:nvSpPr>
            <p:spPr>
              <a:xfrm>
                <a:off x="6810043" y="4023049"/>
                <a:ext cx="1263487" cy="339360"/>
              </a:xfrm>
              <a:prstGeom prst="rect">
                <a:avLst/>
              </a:prstGeom>
              <a:noFill/>
            </p:spPr>
            <p:txBody>
              <a:bodyPr wrap="none" rtlCol="0">
                <a:spAutoFit/>
              </a:bodyPr>
              <a:lstStyle/>
              <a:p>
                <a:pPr algn="ctr"/>
                <a:r>
                  <a:rPr lang="en-US" sz="1600" b="1" dirty="0">
                    <a:solidFill>
                      <a:srgbClr val="232F3E"/>
                    </a:solidFill>
                    <a:ea typeface="Amazon Ember" panose="020B0603020204020204" pitchFamily="34" charset="0"/>
                    <a:cs typeface="Amazon Ember" panose="020B0603020204020204" pitchFamily="34" charset="0"/>
                  </a:rPr>
                  <a:t>Amazon S3</a:t>
                </a:r>
              </a:p>
            </p:txBody>
          </p:sp>
          <p:sp>
            <p:nvSpPr>
              <p:cNvPr id="93" name="TextBox 92">
                <a:extLst>
                  <a:ext uri="{FF2B5EF4-FFF2-40B4-BE49-F238E27FC236}">
                    <a16:creationId xmlns:a16="http://schemas.microsoft.com/office/drawing/2014/main" id="{87320756-49B4-46FC-8463-5096F2A91072}"/>
                  </a:ext>
                </a:extLst>
              </p:cNvPr>
              <p:cNvSpPr txBox="1"/>
              <p:nvPr/>
            </p:nvSpPr>
            <p:spPr>
              <a:xfrm>
                <a:off x="8306630" y="4016002"/>
                <a:ext cx="1410792" cy="586167"/>
              </a:xfrm>
              <a:prstGeom prst="rect">
                <a:avLst/>
              </a:prstGeom>
              <a:noFill/>
            </p:spPr>
            <p:txBody>
              <a:bodyPr wrap="square" rtlCol="0">
                <a:spAutoFit/>
              </a:bodyPr>
              <a:lstStyle/>
              <a:p>
                <a:pPr algn="ctr"/>
                <a:r>
                  <a:rPr lang="en-US" sz="1600" b="1" dirty="0">
                    <a:solidFill>
                      <a:srgbClr val="232F3E"/>
                    </a:solidFill>
                    <a:ea typeface="Amazon Ember" panose="020B0603020204020204" pitchFamily="34" charset="0"/>
                    <a:cs typeface="Amazon Ember" panose="020B0603020204020204" pitchFamily="34" charset="0"/>
                  </a:rPr>
                  <a:t>Amazon</a:t>
                </a:r>
                <a:br>
                  <a:rPr lang="en-US" sz="1600" b="1" dirty="0">
                    <a:solidFill>
                      <a:srgbClr val="232F3E"/>
                    </a:solidFill>
                    <a:ea typeface="Amazon Ember" panose="020B0603020204020204" pitchFamily="34" charset="0"/>
                    <a:cs typeface="Amazon Ember" panose="020B0603020204020204" pitchFamily="34" charset="0"/>
                  </a:rPr>
                </a:br>
                <a:r>
                  <a:rPr lang="en-US" sz="1600" b="1" dirty="0">
                    <a:solidFill>
                      <a:srgbClr val="232F3E"/>
                    </a:solidFill>
                    <a:ea typeface="Amazon Ember" panose="020B0603020204020204" pitchFamily="34" charset="0"/>
                    <a:cs typeface="Amazon Ember" panose="020B0603020204020204" pitchFamily="34" charset="0"/>
                  </a:rPr>
                  <a:t>CloudFront</a:t>
                </a:r>
              </a:p>
            </p:txBody>
          </p:sp>
          <p:cxnSp>
            <p:nvCxnSpPr>
              <p:cNvPr id="94" name="Straight Arrow Connector 93">
                <a:extLst>
                  <a:ext uri="{FF2B5EF4-FFF2-40B4-BE49-F238E27FC236}">
                    <a16:creationId xmlns:a16="http://schemas.microsoft.com/office/drawing/2014/main" id="{F3E80215-5F4E-4C71-9439-77C906073AD2}"/>
                  </a:ext>
                </a:extLst>
              </p:cNvPr>
              <p:cNvCxnSpPr>
                <a:cxnSpLocks/>
                <a:endCxn id="104" idx="1"/>
              </p:cNvCxnSpPr>
              <p:nvPr/>
            </p:nvCxnSpPr>
            <p:spPr>
              <a:xfrm flipV="1">
                <a:off x="2755463" y="3660592"/>
                <a:ext cx="1687529" cy="11688"/>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BBDAA348-EDF6-465D-904D-937E1CF7B3D4}"/>
                  </a:ext>
                </a:extLst>
              </p:cNvPr>
              <p:cNvCxnSpPr>
                <a:cxnSpLocks/>
              </p:cNvCxnSpPr>
              <p:nvPr/>
            </p:nvCxnSpPr>
            <p:spPr>
              <a:xfrm>
                <a:off x="7818997" y="3669311"/>
                <a:ext cx="806841" cy="2968"/>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064AB258-BAB6-4F12-B8CF-0664E4995751}"/>
                  </a:ext>
                </a:extLst>
              </p:cNvPr>
              <p:cNvCxnSpPr>
                <a:cxnSpLocks/>
              </p:cNvCxnSpPr>
              <p:nvPr/>
            </p:nvCxnSpPr>
            <p:spPr>
              <a:xfrm flipV="1">
                <a:off x="5412486" y="3638016"/>
                <a:ext cx="1637117" cy="11339"/>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97" name="Callout: Colors menu">
                <a:extLst>
                  <a:ext uri="{FF2B5EF4-FFF2-40B4-BE49-F238E27FC236}">
                    <a16:creationId xmlns:a16="http://schemas.microsoft.com/office/drawing/2014/main" id="{62EAC738-0C60-48EF-BCEB-59E160D3EB9B}"/>
                  </a:ext>
                  <a:ext uri="{C183D7F6-B498-43B3-948B-1728B52AA6E4}">
                    <adec:decorative xmlns:adec="http://schemas.microsoft.com/office/drawing/2017/decorative" val="0"/>
                  </a:ext>
                </a:extLst>
              </p:cNvPr>
              <p:cNvSpPr/>
              <p:nvPr/>
            </p:nvSpPr>
            <p:spPr>
              <a:xfrm>
                <a:off x="3046578" y="4355591"/>
                <a:ext cx="1536706" cy="1573397"/>
              </a:xfrm>
              <a:prstGeom prst="borderCallout1">
                <a:avLst>
                  <a:gd name="adj1" fmla="val -1615"/>
                  <a:gd name="adj2" fmla="val 53152"/>
                  <a:gd name="adj3" fmla="val -62187"/>
                  <a:gd name="adj4" fmla="val 53781"/>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b="1" dirty="0">
                    <a:solidFill>
                      <a:schemeClr val="bg1"/>
                    </a:solidFill>
                  </a:rPr>
                  <a:t>The input video is converted </a:t>
                </a:r>
                <a:br>
                  <a:rPr lang="en-US" sz="1600" b="1" dirty="0">
                    <a:solidFill>
                      <a:schemeClr val="bg1"/>
                    </a:solidFill>
                  </a:rPr>
                </a:br>
                <a:r>
                  <a:rPr lang="en-US" sz="1600" b="1" dirty="0">
                    <a:solidFill>
                      <a:schemeClr val="bg1"/>
                    </a:solidFill>
                  </a:rPr>
                  <a:t>into multiple </a:t>
                </a:r>
                <a:br>
                  <a:rPr lang="en-US" sz="1600" b="1" dirty="0">
                    <a:solidFill>
                      <a:schemeClr val="bg1"/>
                    </a:solidFill>
                  </a:rPr>
                </a:br>
                <a:r>
                  <a:rPr lang="en-US" sz="1600" b="1" dirty="0">
                    <a:solidFill>
                      <a:schemeClr val="bg1"/>
                    </a:solidFill>
                  </a:rPr>
                  <a:t>output formats.</a:t>
                </a:r>
              </a:p>
            </p:txBody>
          </p:sp>
          <p:sp>
            <p:nvSpPr>
              <p:cNvPr id="98" name="Callout: Colors menu">
                <a:extLst>
                  <a:ext uri="{FF2B5EF4-FFF2-40B4-BE49-F238E27FC236}">
                    <a16:creationId xmlns:a16="http://schemas.microsoft.com/office/drawing/2014/main" id="{500083C8-5D05-4B85-8801-6C7ECA98D177}"/>
                  </a:ext>
                  <a:ext uri="{C183D7F6-B498-43B3-948B-1728B52AA6E4}">
                    <adec:decorative xmlns:adec="http://schemas.microsoft.com/office/drawing/2017/decorative" val="0"/>
                  </a:ext>
                </a:extLst>
              </p:cNvPr>
              <p:cNvSpPr/>
              <p:nvPr/>
            </p:nvSpPr>
            <p:spPr>
              <a:xfrm>
                <a:off x="5410007" y="4483432"/>
                <a:ext cx="1614596" cy="1079782"/>
              </a:xfrm>
              <a:prstGeom prst="borderCallout1">
                <a:avLst>
                  <a:gd name="adj1" fmla="val -1615"/>
                  <a:gd name="adj2" fmla="val 53152"/>
                  <a:gd name="adj3" fmla="val -116418"/>
                  <a:gd name="adj4" fmla="val 53433"/>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b="1" dirty="0">
                    <a:solidFill>
                      <a:schemeClr val="bg1"/>
                    </a:solidFill>
                  </a:rPr>
                  <a:t>The converted</a:t>
                </a:r>
                <a:br>
                  <a:rPr lang="en-US" sz="1600" b="1" dirty="0">
                    <a:solidFill>
                      <a:schemeClr val="bg1"/>
                    </a:solidFill>
                  </a:rPr>
                </a:br>
                <a:r>
                  <a:rPr lang="en-US" sz="1600" b="1" dirty="0">
                    <a:solidFill>
                      <a:schemeClr val="bg1"/>
                    </a:solidFill>
                  </a:rPr>
                  <a:t>output is stored </a:t>
                </a:r>
                <a:br>
                  <a:rPr lang="en-US" sz="1600" b="1" dirty="0">
                    <a:solidFill>
                      <a:schemeClr val="bg1"/>
                    </a:solidFill>
                  </a:rPr>
                </a:br>
                <a:r>
                  <a:rPr lang="en-US" sz="1600" b="1" dirty="0">
                    <a:solidFill>
                      <a:schemeClr val="bg1"/>
                    </a:solidFill>
                  </a:rPr>
                  <a:t>in an S3 bucket.</a:t>
                </a:r>
              </a:p>
            </p:txBody>
          </p:sp>
          <p:sp>
            <p:nvSpPr>
              <p:cNvPr id="99" name="Callout: Custom color set menu">
                <a:extLst>
                  <a:ext uri="{FF2B5EF4-FFF2-40B4-BE49-F238E27FC236}">
                    <a16:creationId xmlns:a16="http://schemas.microsoft.com/office/drawing/2014/main" id="{5EA76AF5-286C-4B28-A91B-5BF048CFB2A9}"/>
                  </a:ext>
                  <a:ext uri="{C183D7F6-B498-43B3-948B-1728B52AA6E4}">
                    <adec:decorative xmlns:adec="http://schemas.microsoft.com/office/drawing/2017/decorative" val="0"/>
                  </a:ext>
                </a:extLst>
              </p:cNvPr>
              <p:cNvSpPr/>
              <p:nvPr/>
            </p:nvSpPr>
            <p:spPr>
              <a:xfrm>
                <a:off x="9410672" y="1977465"/>
                <a:ext cx="1110752" cy="1079782"/>
              </a:xfrm>
              <a:prstGeom prst="borderCallout2">
                <a:avLst>
                  <a:gd name="adj1" fmla="val 101497"/>
                  <a:gd name="adj2" fmla="val 47336"/>
                  <a:gd name="adj3" fmla="val 146123"/>
                  <a:gd name="adj4" fmla="val 47480"/>
                  <a:gd name="adj5" fmla="val 157800"/>
                  <a:gd name="adj6" fmla="val 47470"/>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lIns="45720" rIns="45720" rtlCol="0" anchor="ctr">
                <a:spAutoFit/>
              </a:bodyPr>
              <a:lstStyle/>
              <a:p>
                <a:pPr algn="ctr"/>
                <a:r>
                  <a:rPr lang="en-US" sz="1600" b="1" dirty="0">
                    <a:solidFill>
                      <a:schemeClr val="bg1"/>
                    </a:solidFill>
                  </a:rPr>
                  <a:t>The dynamic </a:t>
                </a:r>
                <a:br>
                  <a:rPr lang="en-US" sz="1600" b="1" dirty="0">
                    <a:solidFill>
                      <a:schemeClr val="bg1"/>
                    </a:solidFill>
                  </a:rPr>
                </a:br>
                <a:r>
                  <a:rPr lang="en-US" sz="1600" b="1" dirty="0">
                    <a:solidFill>
                      <a:schemeClr val="bg1"/>
                    </a:solidFill>
                  </a:rPr>
                  <a:t>stream is</a:t>
                </a:r>
                <a:br>
                  <a:rPr lang="en-US" sz="1600" b="1" dirty="0">
                    <a:solidFill>
                      <a:schemeClr val="bg1"/>
                    </a:solidFill>
                  </a:rPr>
                </a:br>
                <a:r>
                  <a:rPr lang="en-US" sz="1600" b="1" dirty="0">
                    <a:solidFill>
                      <a:schemeClr val="bg1"/>
                    </a:solidFill>
                  </a:rPr>
                  <a:t>delivered.</a:t>
                </a:r>
              </a:p>
            </p:txBody>
          </p:sp>
          <p:pic>
            <p:nvPicPr>
              <p:cNvPr id="100" name="Graphic 8">
                <a:extLst>
                  <a:ext uri="{FF2B5EF4-FFF2-40B4-BE49-F238E27FC236}">
                    <a16:creationId xmlns:a16="http://schemas.microsoft.com/office/drawing/2014/main" id="{B1A8C18F-B7E4-4C69-B271-C18DD57C5708}"/>
                  </a:ext>
                </a:extLst>
              </p:cNvPr>
              <p:cNvPicPr>
                <a:picLocks noChangeAspect="1" noChangeArrowheads="1"/>
              </p:cNvPicPr>
              <p:nvPr/>
            </p:nvPicPr>
            <p:blipFill>
              <a:blip r:embed="rId10">
                <a:extLst>
                  <a:ext uri="{96DAC541-7B7A-43D3-8B79-37D633B846F1}">
                    <asvg:svgBlip xmlns:asvg="http://schemas.microsoft.com/office/drawing/2016/SVG/main" r:embed="rId11"/>
                  </a:ext>
                </a:extLst>
              </a:blip>
              <a:srcRect/>
              <a:stretch/>
            </p:blipFill>
            <p:spPr bwMode="auto">
              <a:xfrm>
                <a:off x="7069570" y="3177982"/>
                <a:ext cx="845068" cy="8450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 name="Graphic 17">
                <a:extLst>
                  <a:ext uri="{FF2B5EF4-FFF2-40B4-BE49-F238E27FC236}">
                    <a16:creationId xmlns:a16="http://schemas.microsoft.com/office/drawing/2014/main" id="{9FA0DD46-B9C9-4845-8853-12B0A4D5F656}"/>
                  </a:ext>
                </a:extLst>
              </p:cNvPr>
              <p:cNvPicPr>
                <a:picLocks noChangeAspect="1" noChangeArrowheads="1"/>
              </p:cNvPicPr>
              <p:nvPr/>
            </p:nvPicPr>
            <p:blipFill>
              <a:blip r:embed="rId12">
                <a:extLst>
                  <a:ext uri="{96DAC541-7B7A-43D3-8B79-37D633B846F1}">
                    <asvg:svgBlip xmlns:asvg="http://schemas.microsoft.com/office/drawing/2016/SVG/main" r:embed="rId13"/>
                  </a:ext>
                </a:extLst>
              </a:blip>
              <a:srcRect/>
              <a:stretch/>
            </p:blipFill>
            <p:spPr bwMode="auto">
              <a:xfrm>
                <a:off x="1970589" y="3191075"/>
                <a:ext cx="845068" cy="845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 name="Graphic 19">
                <a:extLst>
                  <a:ext uri="{FF2B5EF4-FFF2-40B4-BE49-F238E27FC236}">
                    <a16:creationId xmlns:a16="http://schemas.microsoft.com/office/drawing/2014/main" id="{A93B182E-A3B9-46CE-A412-DA3FBFC97EFD}"/>
                  </a:ext>
                </a:extLst>
              </p:cNvPr>
              <p:cNvPicPr>
                <a:picLocks noChangeAspect="1" noChangeArrowheads="1"/>
              </p:cNvPicPr>
              <p:nvPr/>
            </p:nvPicPr>
            <p:blipFill>
              <a:blip r:embed="rId14">
                <a:extLst>
                  <a:ext uri="{96DAC541-7B7A-43D3-8B79-37D633B846F1}">
                    <asvg:svgBlip xmlns:asvg="http://schemas.microsoft.com/office/drawing/2016/SVG/main" r:embed="rId15"/>
                  </a:ext>
                </a:extLst>
              </a:blip>
              <a:srcRect/>
              <a:stretch/>
            </p:blipFill>
            <p:spPr bwMode="auto">
              <a:xfrm>
                <a:off x="8601344" y="3214876"/>
                <a:ext cx="821364" cy="821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 name="Straight Arrow Connector 102">
                <a:extLst>
                  <a:ext uri="{FF2B5EF4-FFF2-40B4-BE49-F238E27FC236}">
                    <a16:creationId xmlns:a16="http://schemas.microsoft.com/office/drawing/2014/main" id="{43215CF2-5FCA-4E16-B67B-C3F8156B4908}"/>
                  </a:ext>
                </a:extLst>
              </p:cNvPr>
              <p:cNvCxnSpPr>
                <a:cxnSpLocks/>
                <a:stCxn id="112" idx="3"/>
              </p:cNvCxnSpPr>
              <p:nvPr/>
            </p:nvCxnSpPr>
            <p:spPr>
              <a:xfrm flipV="1">
                <a:off x="1300634" y="3670818"/>
                <a:ext cx="695342" cy="8606"/>
              </a:xfrm>
              <a:prstGeom prst="straightConnector1">
                <a:avLst/>
              </a:prstGeom>
              <a:ln w="19050">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grpSp>
      </p:grpSp>
    </p:spTree>
    <p:custDataLst>
      <p:tags r:id="rId1"/>
    </p:custDataLst>
    <p:extLst>
      <p:ext uri="{BB962C8B-B14F-4D97-AF65-F5344CB8AC3E}">
        <p14:creationId xmlns:p14="http://schemas.microsoft.com/office/powerpoint/2010/main" val="894621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79283381-99AE-404A-946D-B052D644D431}"/>
              </a:ext>
            </a:extLst>
          </p:cNvPr>
          <p:cNvSpPr>
            <a:spLocks noGrp="1"/>
          </p:cNvSpPr>
          <p:nvPr>
            <p:ph type="sldNum" idx="97"/>
          </p:nvPr>
        </p:nvSpPr>
        <p:spPr/>
        <p:txBody>
          <a:bodyPr/>
          <a:lstStyle/>
          <a:p>
            <a:fld id="{4037B1B0-0345-4E15-985A-6BECCDBE474F}" type="slidenum">
              <a:rPr lang="en-US" smtClean="0"/>
              <a:pPr/>
              <a:t>23</a:t>
            </a:fld>
            <a:endParaRPr lang="en-US" dirty="0"/>
          </a:p>
        </p:txBody>
      </p:sp>
      <p:sp>
        <p:nvSpPr>
          <p:cNvPr id="3" name="Title">
            <a:extLst>
              <a:ext uri="{FF2B5EF4-FFF2-40B4-BE49-F238E27FC236}">
                <a16:creationId xmlns:a16="http://schemas.microsoft.com/office/drawing/2014/main" id="{E4D128F6-E612-4B31-8688-C141F0EB12A3}"/>
              </a:ext>
            </a:extLst>
          </p:cNvPr>
          <p:cNvSpPr>
            <a:spLocks noGrp="1"/>
          </p:cNvSpPr>
          <p:nvPr>
            <p:ph type="title" idx="1"/>
          </p:nvPr>
        </p:nvSpPr>
        <p:spPr/>
        <p:txBody>
          <a:bodyPr>
            <a:normAutofit/>
          </a:bodyPr>
          <a:lstStyle/>
          <a:p>
            <a:r>
              <a:rPr lang="en-US" dirty="0"/>
              <a:t>DDoS mitigation</a:t>
            </a:r>
          </a:p>
        </p:txBody>
      </p:sp>
      <p:sp>
        <p:nvSpPr>
          <p:cNvPr id="4" name="Text Placeholder 3">
            <a:extLst>
              <a:ext uri="{FF2B5EF4-FFF2-40B4-BE49-F238E27FC236}">
                <a16:creationId xmlns:a16="http://schemas.microsoft.com/office/drawing/2014/main" id="{64C89B13-1EB6-4B0F-9657-49F76A8CF957}"/>
              </a:ext>
            </a:extLst>
          </p:cNvPr>
          <p:cNvSpPr>
            <a:spLocks noGrp="1"/>
          </p:cNvSpPr>
          <p:nvPr>
            <p:ph type="body" idx="12"/>
          </p:nvPr>
        </p:nvSpPr>
        <p:spPr>
          <a:xfrm>
            <a:off x="365760" y="1053311"/>
            <a:ext cx="3898879" cy="440329"/>
          </a:xfrm>
        </p:spPr>
        <p:txBody>
          <a:bodyPr/>
          <a:lstStyle/>
          <a:p>
            <a:r>
              <a:rPr lang="en-US" dirty="0"/>
              <a:t>Security challenge</a:t>
            </a:r>
          </a:p>
        </p:txBody>
      </p:sp>
      <p:sp>
        <p:nvSpPr>
          <p:cNvPr id="5" name="Content Placeholder 4">
            <a:extLst>
              <a:ext uri="{FF2B5EF4-FFF2-40B4-BE49-F238E27FC236}">
                <a16:creationId xmlns:a16="http://schemas.microsoft.com/office/drawing/2014/main" id="{63A44D65-71C0-47E6-9C48-0E86E9EB6017}"/>
              </a:ext>
            </a:extLst>
          </p:cNvPr>
          <p:cNvSpPr>
            <a:spLocks noGrp="1"/>
          </p:cNvSpPr>
          <p:nvPr>
            <p:ph idx="2"/>
          </p:nvPr>
        </p:nvSpPr>
        <p:spPr>
          <a:xfrm>
            <a:off x="365760" y="1563624"/>
            <a:ext cx="3898879" cy="4873752"/>
          </a:xfrm>
        </p:spPr>
        <p:txBody>
          <a:bodyPr/>
          <a:lstStyle/>
          <a:p>
            <a:pPr marL="0" indent="0">
              <a:buNone/>
            </a:pPr>
            <a:r>
              <a:rPr lang="en-US" dirty="0"/>
              <a:t>Publicly accessible content is exposed to common web threats that affect availability and compromise security.</a:t>
            </a:r>
          </a:p>
        </p:txBody>
      </p:sp>
      <p:sp>
        <p:nvSpPr>
          <p:cNvPr id="6" name="Text Placeholder 5">
            <a:extLst>
              <a:ext uri="{FF2B5EF4-FFF2-40B4-BE49-F238E27FC236}">
                <a16:creationId xmlns:a16="http://schemas.microsoft.com/office/drawing/2014/main" id="{ABE35F5B-5F49-4A7A-B6F7-DD068B102B75}"/>
              </a:ext>
            </a:extLst>
          </p:cNvPr>
          <p:cNvSpPr>
            <a:spLocks noGrp="1"/>
          </p:cNvSpPr>
          <p:nvPr>
            <p:ph type="body" idx="13"/>
          </p:nvPr>
        </p:nvSpPr>
        <p:spPr>
          <a:xfrm>
            <a:off x="4333795" y="1053311"/>
            <a:ext cx="7498541" cy="440329"/>
          </a:xfrm>
        </p:spPr>
        <p:txBody>
          <a:bodyPr/>
          <a:lstStyle/>
          <a:p>
            <a:r>
              <a:rPr lang="en-US" dirty="0"/>
              <a:t>CloudFront solution </a:t>
            </a:r>
          </a:p>
        </p:txBody>
      </p:sp>
      <p:sp>
        <p:nvSpPr>
          <p:cNvPr id="7" name="Content Placeholder 6">
            <a:extLst>
              <a:ext uri="{FF2B5EF4-FFF2-40B4-BE49-F238E27FC236}">
                <a16:creationId xmlns:a16="http://schemas.microsoft.com/office/drawing/2014/main" id="{9E3BD800-5899-4976-B949-04E7EBF1381C}"/>
              </a:ext>
            </a:extLst>
          </p:cNvPr>
          <p:cNvSpPr>
            <a:spLocks noGrp="1"/>
          </p:cNvSpPr>
          <p:nvPr>
            <p:ph idx="3"/>
          </p:nvPr>
        </p:nvSpPr>
        <p:spPr>
          <a:xfrm>
            <a:off x="4333795" y="1563624"/>
            <a:ext cx="7498541" cy="4873752"/>
          </a:xfrm>
        </p:spPr>
        <p:txBody>
          <a:bodyPr/>
          <a:lstStyle/>
          <a:p>
            <a:r>
              <a:rPr lang="en-US" sz="2700" dirty="0"/>
              <a:t>Monitoring and mitigation are built into Amazon Route 53 as it routes traffic to CloudFront.</a:t>
            </a:r>
          </a:p>
          <a:p>
            <a:r>
              <a:rPr lang="en-US" sz="2700" dirty="0"/>
              <a:t>CloudFront can create an AWS WAF web access control list (ACL) that configures rules to analyze incoming requests and block threats before they reach your servers. </a:t>
            </a:r>
          </a:p>
          <a:p>
            <a:r>
              <a:rPr lang="en-US" sz="2700" dirty="0"/>
              <a:t>Shield DDoS mitigations allow only traffic that is valid for web applications to pass through to CloudFront. </a:t>
            </a:r>
          </a:p>
        </p:txBody>
      </p:sp>
    </p:spTree>
    <p:custDataLst>
      <p:tags r:id="rId1"/>
    </p:custDataLst>
    <p:extLst>
      <p:ext uri="{BB962C8B-B14F-4D97-AF65-F5344CB8AC3E}">
        <p14:creationId xmlns:p14="http://schemas.microsoft.com/office/powerpoint/2010/main" val="1282584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0176A1-BCF0-4712-97A6-6B495F55390B}"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dirty="0"/>
              <a:t>Key takeaways: Caching using CloudFront</a:t>
            </a:r>
          </a:p>
        </p:txBody>
      </p:sp>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normAutofit/>
          </a:bodyPr>
          <a:lstStyle/>
          <a:p>
            <a:r>
              <a:rPr lang="en-US" dirty="0"/>
              <a:t>Static file caching is done by using a CDN.</a:t>
            </a:r>
          </a:p>
          <a:p>
            <a:r>
              <a:rPr lang="en-US" dirty="0"/>
              <a:t>CloudFront is a CDN service that uses edge locations and Regional edge caches to deliver content securely across the globe.</a:t>
            </a:r>
          </a:p>
          <a:p>
            <a:r>
              <a:rPr lang="en-US" dirty="0"/>
              <a:t>You can control CloudFront caching behavior by using a combination of actions.</a:t>
            </a:r>
          </a:p>
          <a:p>
            <a:r>
              <a:rPr lang="en-US" dirty="0"/>
              <a:t>By using CloudFront for distributing content, you are also protecting your systems from DDoS attacks.</a:t>
            </a:r>
          </a:p>
          <a:p>
            <a:endParaRPr lang="en-US" dirty="0"/>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27963502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DAB44C6-DE69-407E-AD4F-17A9E76CD4AC}"/>
              </a:ext>
            </a:extLst>
          </p:cNvPr>
          <p:cNvSpPr>
            <a:spLocks noGrp="1"/>
          </p:cNvSpPr>
          <p:nvPr>
            <p:ph type="sldNum" idx="97"/>
          </p:nvPr>
        </p:nvSpPr>
        <p:spPr/>
        <p:txBody>
          <a:bodyPr/>
          <a:lstStyle/>
          <a:p>
            <a:fld id="{4037B1B0-0345-4E15-985A-6BECCDBE474F}" type="slidenum">
              <a:rPr lang="en-US" smtClean="0"/>
              <a:pPr/>
              <a:t>25</a:t>
            </a:fld>
            <a:endParaRPr lang="en-US" dirty="0"/>
          </a:p>
        </p:txBody>
      </p:sp>
      <p:sp>
        <p:nvSpPr>
          <p:cNvPr id="3" name="Title">
            <a:extLst>
              <a:ext uri="{FF2B5EF4-FFF2-40B4-BE49-F238E27FC236}">
                <a16:creationId xmlns:a16="http://schemas.microsoft.com/office/drawing/2014/main" id="{BF66D025-696C-48D3-943A-7B79B773817E}"/>
              </a:ext>
            </a:extLst>
          </p:cNvPr>
          <p:cNvSpPr>
            <a:spLocks noGrp="1"/>
          </p:cNvSpPr>
          <p:nvPr>
            <p:ph type="title" idx="1"/>
          </p:nvPr>
        </p:nvSpPr>
        <p:spPr/>
        <p:txBody>
          <a:bodyPr/>
          <a:lstStyle/>
          <a:p>
            <a:r>
              <a:rPr lang="en-US" dirty="0"/>
              <a:t>Guided lab: Streaming Dynamic Content Using Amazon CloudFront (CloudFront lab)</a:t>
            </a:r>
          </a:p>
        </p:txBody>
      </p:sp>
    </p:spTree>
    <p:custDataLst>
      <p:tags r:id="rId1"/>
    </p:custDataLst>
    <p:extLst>
      <p:ext uri="{BB962C8B-B14F-4D97-AF65-F5344CB8AC3E}">
        <p14:creationId xmlns:p14="http://schemas.microsoft.com/office/powerpoint/2010/main" val="4139932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C090984-7B18-4AB9-8A29-7EAACAB93DB7}"/>
              </a:ext>
            </a:extLst>
          </p:cNvPr>
          <p:cNvSpPr>
            <a:spLocks noGrp="1"/>
          </p:cNvSpPr>
          <p:nvPr>
            <p:ph type="sldNum" idx="97"/>
          </p:nvPr>
        </p:nvSpPr>
        <p:spPr/>
        <p:txBody>
          <a:bodyPr/>
          <a:lstStyle/>
          <a:p>
            <a:fld id="{930176A1-BCF0-4712-97A6-6B495F55390B}" type="slidenum">
              <a:rPr lang="en-US" smtClean="0"/>
              <a:pPr/>
              <a:t>26</a:t>
            </a:fld>
            <a:endParaRPr lang="en-US" dirty="0"/>
          </a:p>
        </p:txBody>
      </p:sp>
      <p:sp>
        <p:nvSpPr>
          <p:cNvPr id="3" name="Title">
            <a:extLst>
              <a:ext uri="{FF2B5EF4-FFF2-40B4-BE49-F238E27FC236}">
                <a16:creationId xmlns:a16="http://schemas.microsoft.com/office/drawing/2014/main" id="{80692762-2E68-41FA-805E-632DBC4A8A06}"/>
              </a:ext>
            </a:extLst>
          </p:cNvPr>
          <p:cNvSpPr>
            <a:spLocks noGrp="1"/>
          </p:cNvSpPr>
          <p:nvPr>
            <p:ph type="title" idx="1"/>
          </p:nvPr>
        </p:nvSpPr>
        <p:spPr/>
        <p:txBody>
          <a:bodyPr/>
          <a:lstStyle/>
          <a:p>
            <a:r>
              <a:rPr lang="en-US" dirty="0"/>
              <a:t>CloudFront lab tasks:</a:t>
            </a:r>
          </a:p>
        </p:txBody>
      </p:sp>
      <p:sp>
        <p:nvSpPr>
          <p:cNvPr id="4" name="Text Placeholder 3">
            <a:extLst>
              <a:ext uri="{FF2B5EF4-FFF2-40B4-BE49-F238E27FC236}">
                <a16:creationId xmlns:a16="http://schemas.microsoft.com/office/drawing/2014/main" id="{CAD25515-29E4-4B4A-A230-72A825FE8BEA}"/>
              </a:ext>
            </a:extLst>
          </p:cNvPr>
          <p:cNvSpPr>
            <a:spLocks noGrp="1"/>
          </p:cNvSpPr>
          <p:nvPr>
            <p:ph type="body" idx="3"/>
          </p:nvPr>
        </p:nvSpPr>
        <p:spPr/>
        <p:txBody>
          <a:bodyPr/>
          <a:lstStyle/>
          <a:p>
            <a:pPr marL="0" indent="0">
              <a:buNone/>
            </a:pPr>
            <a:r>
              <a:rPr lang="en-US" dirty="0"/>
              <a:t>In this lab, you perform the following main tasks: </a:t>
            </a:r>
          </a:p>
          <a:p>
            <a:r>
              <a:rPr lang="en-US" dirty="0"/>
              <a:t>Create an Amazon CloudFront distribution.</a:t>
            </a:r>
          </a:p>
          <a:p>
            <a:r>
              <a:rPr lang="en-US" dirty="0"/>
              <a:t>Create an Amazon Elastic Transcoder pipeline.</a:t>
            </a:r>
          </a:p>
          <a:p>
            <a:r>
              <a:rPr lang="en-US" dirty="0"/>
              <a:t>Test playback of the dynamic (multiple bitrate) stream.</a:t>
            </a:r>
          </a:p>
          <a:p>
            <a:endParaRPr lang="en-US" dirty="0"/>
          </a:p>
          <a:p>
            <a:pPr lvl="1"/>
            <a:endParaRPr lang="en-US" dirty="0"/>
          </a:p>
        </p:txBody>
      </p:sp>
      <p:pic>
        <p:nvPicPr>
          <p:cNvPr id="5" name="Content Placeholder 3">
            <a:extLst>
              <a:ext uri="{FF2B5EF4-FFF2-40B4-BE49-F238E27FC236}">
                <a16:creationId xmlns:a16="http://schemas.microsoft.com/office/drawing/2014/main" id="{81CAF9C7-F28E-496C-BFA0-18506D4716A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220" y="3213676"/>
            <a:ext cx="2943736" cy="2100699"/>
          </a:xfrm>
          <a:prstGeom prst="rect">
            <a:avLst/>
          </a:prstGeom>
        </p:spPr>
      </p:pic>
    </p:spTree>
    <p:custDataLst>
      <p:tags r:id="rId1"/>
    </p:custDataLst>
    <p:extLst>
      <p:ext uri="{BB962C8B-B14F-4D97-AF65-F5344CB8AC3E}">
        <p14:creationId xmlns:p14="http://schemas.microsoft.com/office/powerpoint/2010/main" val="4233921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C07559B-0861-4733-A990-630E7AF4AAA7}"/>
              </a:ext>
            </a:extLst>
          </p:cNvPr>
          <p:cNvSpPr>
            <a:spLocks noGrp="1"/>
          </p:cNvSpPr>
          <p:nvPr>
            <p:ph type="sldNum" idx="97"/>
          </p:nvPr>
        </p:nvSpPr>
        <p:spPr/>
        <p:txBody>
          <a:bodyPr/>
          <a:lstStyle/>
          <a:p>
            <a:fld id="{4037B1B0-0345-4E15-985A-6BECCDBE474F}" type="slidenum">
              <a:rPr lang="en-US" smtClean="0"/>
              <a:pPr/>
              <a:t>27</a:t>
            </a:fld>
            <a:endParaRPr lang="en-US" dirty="0"/>
          </a:p>
        </p:txBody>
      </p:sp>
      <p:sp>
        <p:nvSpPr>
          <p:cNvPr id="3" name="Title">
            <a:extLst>
              <a:ext uri="{FF2B5EF4-FFF2-40B4-BE49-F238E27FC236}">
                <a16:creationId xmlns:a16="http://schemas.microsoft.com/office/drawing/2014/main" id="{4DAE5ED6-1389-4EB0-B1C1-3F85496BC2BE}"/>
              </a:ext>
            </a:extLst>
          </p:cNvPr>
          <p:cNvSpPr>
            <a:spLocks noGrp="1"/>
          </p:cNvSpPr>
          <p:nvPr>
            <p:ph type="title" idx="1"/>
          </p:nvPr>
        </p:nvSpPr>
        <p:spPr/>
        <p:txBody>
          <a:bodyPr/>
          <a:lstStyle/>
          <a:p>
            <a:r>
              <a:rPr lang="en-US" dirty="0"/>
              <a:t>Debrief: CloudFront lab</a:t>
            </a:r>
          </a:p>
        </p:txBody>
      </p:sp>
      <p:sp>
        <p:nvSpPr>
          <p:cNvPr id="4" name="Content Placeholder 3">
            <a:extLst>
              <a:ext uri="{FF2B5EF4-FFF2-40B4-BE49-F238E27FC236}">
                <a16:creationId xmlns:a16="http://schemas.microsoft.com/office/drawing/2014/main" id="{6ACB3BB1-8FDB-4E35-B87C-8B5485A4A2EE}"/>
              </a:ext>
            </a:extLst>
          </p:cNvPr>
          <p:cNvSpPr>
            <a:spLocks noGrp="1"/>
          </p:cNvSpPr>
          <p:nvPr>
            <p:ph idx="2"/>
          </p:nvPr>
        </p:nvSpPr>
        <p:spPr/>
        <p:txBody>
          <a:bodyPr/>
          <a:lstStyle/>
          <a:p>
            <a:pPr>
              <a:buFont typeface="Arial" panose="020B0604020202020204" pitchFamily="34" charset="0"/>
              <a:buChar char="•"/>
            </a:pPr>
            <a:r>
              <a:rPr lang="en-US" dirty="0"/>
              <a:t>What did you specify as the origin that will be used to deliver the multiple bit-rate files generated by Amazon Elastic Transcoder to end-user devices?</a:t>
            </a:r>
          </a:p>
          <a:p>
            <a:pPr>
              <a:buFont typeface="Arial" panose="020B0604020202020204" pitchFamily="34" charset="0"/>
              <a:buChar char="•"/>
            </a:pPr>
            <a:r>
              <a:rPr lang="en-US" dirty="0"/>
              <a:t>Which two components does the playback URL that plays through Amazon CloudFront consist of?</a:t>
            </a:r>
          </a:p>
        </p:txBody>
      </p:sp>
    </p:spTree>
    <p:custDataLst>
      <p:tags r:id="rId1"/>
    </p:custDataLst>
    <p:extLst>
      <p:ext uri="{BB962C8B-B14F-4D97-AF65-F5344CB8AC3E}">
        <p14:creationId xmlns:p14="http://schemas.microsoft.com/office/powerpoint/2010/main" val="15514632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normAutofit/>
          </a:bodyPr>
          <a:lstStyle/>
          <a:p>
            <a:r>
              <a:rPr lang="en-US" dirty="0"/>
              <a:t>Caching using </a:t>
            </a:r>
            <a:r>
              <a:rPr lang="en-US" dirty="0" err="1"/>
              <a:t>ElastiCache</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dirty="0"/>
              <a:t>Caching Content </a:t>
            </a:r>
          </a:p>
        </p:txBody>
      </p:sp>
    </p:spTree>
    <p:custDataLst>
      <p:tags r:id="rId1"/>
    </p:custDataLst>
    <p:extLst>
      <p:ext uri="{BB962C8B-B14F-4D97-AF65-F5344CB8AC3E}">
        <p14:creationId xmlns:p14="http://schemas.microsoft.com/office/powerpoint/2010/main" val="34709492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8101E362-20F2-49A7-BC85-7CE5FA19618A}"/>
              </a:ext>
            </a:extLst>
          </p:cNvPr>
          <p:cNvSpPr>
            <a:spLocks noGrp="1"/>
          </p:cNvSpPr>
          <p:nvPr>
            <p:ph type="sldNum" idx="97"/>
          </p:nvPr>
        </p:nvSpPr>
        <p:spPr/>
        <p:txBody>
          <a:bodyPr/>
          <a:lstStyle/>
          <a:p>
            <a:fld id="{4037B1B0-0345-4E15-985A-6BECCDBE474F}" type="slidenum">
              <a:rPr lang="en-US" smtClean="0"/>
              <a:pPr/>
              <a:t>29</a:t>
            </a:fld>
            <a:endParaRPr lang="en-US" dirty="0"/>
          </a:p>
        </p:txBody>
      </p:sp>
      <p:sp>
        <p:nvSpPr>
          <p:cNvPr id="3" name="Title">
            <a:extLst>
              <a:ext uri="{FF2B5EF4-FFF2-40B4-BE49-F238E27FC236}">
                <a16:creationId xmlns:a16="http://schemas.microsoft.com/office/drawing/2014/main" id="{9DF60BBC-0954-43EB-A702-3A7363C0D209}"/>
              </a:ext>
            </a:extLst>
          </p:cNvPr>
          <p:cNvSpPr>
            <a:spLocks noGrp="1"/>
          </p:cNvSpPr>
          <p:nvPr>
            <p:ph type="title" idx="1"/>
          </p:nvPr>
        </p:nvSpPr>
        <p:spPr/>
        <p:txBody>
          <a:bodyPr/>
          <a:lstStyle/>
          <a:p>
            <a:r>
              <a:rPr lang="en-US" dirty="0"/>
              <a:t>When should you cache your database?</a:t>
            </a:r>
          </a:p>
        </p:txBody>
      </p:sp>
      <p:pic>
        <p:nvPicPr>
          <p:cNvPr id="11" name="Picture Placeholder 10">
            <a:extLst>
              <a:ext uri="{FF2B5EF4-FFF2-40B4-BE49-F238E27FC236}">
                <a16:creationId xmlns:a16="http://schemas.microsoft.com/office/drawing/2014/main" id="{DA884020-77A1-4F64-B604-A28C6117431A}"/>
              </a:ext>
              <a:ext uri="{C183D7F6-B498-43B3-948B-1728B52AA6E4}">
                <adec:decorative xmlns:adec="http://schemas.microsoft.com/office/drawing/2017/decorative" val="1"/>
              </a:ext>
            </a:extLst>
          </p:cNvPr>
          <p:cNvPicPr>
            <a:picLocks noGrp="1" noChangeAspect="1"/>
          </p:cNvPicPr>
          <p:nvPr>
            <p:ph type="pic" idx="22"/>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1097280" y="1423099"/>
            <a:ext cx="2286000" cy="2286000"/>
          </a:xfrm>
        </p:spPr>
      </p:pic>
      <p:sp>
        <p:nvSpPr>
          <p:cNvPr id="5" name="Text Placeholder 4">
            <a:extLst>
              <a:ext uri="{FF2B5EF4-FFF2-40B4-BE49-F238E27FC236}">
                <a16:creationId xmlns:a16="http://schemas.microsoft.com/office/drawing/2014/main" id="{F13A5FAF-AED9-4D45-92A2-EC7226EC00C3}"/>
              </a:ext>
            </a:extLst>
          </p:cNvPr>
          <p:cNvSpPr>
            <a:spLocks noGrp="1"/>
          </p:cNvSpPr>
          <p:nvPr>
            <p:ph type="body" idx="2"/>
          </p:nvPr>
        </p:nvSpPr>
        <p:spPr>
          <a:xfrm>
            <a:off x="365760" y="3754819"/>
            <a:ext cx="3749040" cy="2999232"/>
          </a:xfrm>
        </p:spPr>
        <p:txBody>
          <a:bodyPr/>
          <a:lstStyle/>
          <a:p>
            <a:pPr marL="0" indent="0" algn="ctr">
              <a:buNone/>
            </a:pPr>
            <a:r>
              <a:rPr lang="en-US" dirty="0">
                <a:ea typeface="Amazon Ember Light" panose="020B0403020204020204" pitchFamily="34" charset="0"/>
                <a:cs typeface="Amazon Ember Light" panose="020B0403020204020204" pitchFamily="34" charset="0"/>
              </a:rPr>
              <a:t>You are concerned about response times for your customer.</a:t>
            </a:r>
          </a:p>
          <a:p>
            <a:endParaRPr lang="en-US" dirty="0"/>
          </a:p>
        </p:txBody>
      </p:sp>
      <p:pic>
        <p:nvPicPr>
          <p:cNvPr id="12" name="Picture Placeholder 12">
            <a:extLst>
              <a:ext uri="{FF2B5EF4-FFF2-40B4-BE49-F238E27FC236}">
                <a16:creationId xmlns:a16="http://schemas.microsoft.com/office/drawing/2014/main" id="{7C05DAD4-3EBB-4A29-94E8-E033EDE65D0D}"/>
              </a:ext>
              <a:ext uri="{C183D7F6-B498-43B3-948B-1728B52AA6E4}">
                <adec:decorative xmlns:adec="http://schemas.microsoft.com/office/drawing/2017/decorative" val="1"/>
              </a:ext>
            </a:extLst>
          </p:cNvPr>
          <p:cNvPicPr>
            <a:picLocks noGrp="1" noChangeAspect="1"/>
          </p:cNvPicPr>
          <p:nvPr>
            <p:ph type="pic" idx="3"/>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4953000" y="1466898"/>
            <a:ext cx="2286000" cy="2286000"/>
          </a:xfrm>
        </p:spPr>
      </p:pic>
      <p:pic>
        <p:nvPicPr>
          <p:cNvPr id="17" name="Picture Placeholder 14">
            <a:extLst>
              <a:ext uri="{FF2B5EF4-FFF2-40B4-BE49-F238E27FC236}">
                <a16:creationId xmlns:a16="http://schemas.microsoft.com/office/drawing/2014/main" id="{B8C092B0-4B1F-4B5C-8549-9C4FA10C1074}"/>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5435731" y="1713656"/>
            <a:ext cx="1320538" cy="1320538"/>
          </a:xfrm>
          <a:prstGeom prst="rect">
            <a:avLst/>
          </a:prstGeom>
        </p:spPr>
      </p:pic>
      <p:sp>
        <p:nvSpPr>
          <p:cNvPr id="13" name="Text Placeholder 4">
            <a:extLst>
              <a:ext uri="{FF2B5EF4-FFF2-40B4-BE49-F238E27FC236}">
                <a16:creationId xmlns:a16="http://schemas.microsoft.com/office/drawing/2014/main" id="{9CB1F662-0136-4061-B941-815B3F321EC0}"/>
              </a:ext>
            </a:extLst>
          </p:cNvPr>
          <p:cNvSpPr txBox="1">
            <a:spLocks/>
          </p:cNvSpPr>
          <p:nvPr/>
        </p:nvSpPr>
        <p:spPr>
          <a:xfrm>
            <a:off x="4224528" y="3754819"/>
            <a:ext cx="3749040" cy="2999232"/>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600"/>
              </a:spcAft>
              <a:buFont typeface="Amazon Ember Display"/>
              <a:buChar char="•"/>
              <a:defRPr lang="en-US" sz="2400" kern="1200">
                <a:solidFill>
                  <a:srgbClr val="232F3E"/>
                </a:solidFill>
                <a:latin typeface="Amazon Ember display"/>
              </a:defRPr>
            </a:lvl1pPr>
            <a:lvl2pPr marL="457200" indent="-228600" algn="l" defTabSz="914400" rtl="0" eaLnBrk="1" latinLnBrk="0" hangingPunct="1">
              <a:lnSpc>
                <a:spcPct val="100000"/>
              </a:lnSpc>
              <a:spcBef>
                <a:spcPts val="0"/>
              </a:spcBef>
              <a:spcAft>
                <a:spcPts val="600"/>
              </a:spcAft>
              <a:buFont typeface="Amazon Ember Display"/>
              <a:buChar char="•"/>
              <a:defRPr lang="en-US" sz="2000" kern="1200">
                <a:solidFill>
                  <a:srgbClr val="232F3E"/>
                </a:solidFill>
                <a:latin typeface="Amazon Ember display"/>
              </a:defRPr>
            </a:lvl2pPr>
            <a:lvl3pPr marL="684213" indent="-228600" algn="l" defTabSz="914400" rtl="0" eaLnBrk="1" latinLnBrk="0" hangingPunct="1">
              <a:lnSpc>
                <a:spcPct val="100000"/>
              </a:lnSpc>
              <a:spcBef>
                <a:spcPts val="0"/>
              </a:spcBef>
              <a:spcAft>
                <a:spcPts val="600"/>
              </a:spcAft>
              <a:buFont typeface="Amazon Ember Display"/>
              <a:buChar char="•"/>
              <a:defRPr lang="en-US" sz="1800" kern="1200">
                <a:solidFill>
                  <a:srgbClr val="232F3E"/>
                </a:solidFill>
                <a:latin typeface="Amazon Ember display"/>
              </a:defRPr>
            </a:lvl3pPr>
            <a:lvl4pPr marL="914400" indent="-228600" algn="l" defTabSz="914400" rtl="0" eaLnBrk="1" latinLnBrk="0" hangingPunct="1">
              <a:lnSpc>
                <a:spcPct val="100000"/>
              </a:lnSpc>
              <a:spcBef>
                <a:spcPts val="0"/>
              </a:spcBef>
              <a:spcAft>
                <a:spcPts val="600"/>
              </a:spcAft>
              <a:buFont typeface="Amazon Ember Display"/>
              <a:buChar char="•"/>
              <a:defRPr lang="en-US" sz="1600" kern="1200">
                <a:solidFill>
                  <a:srgbClr val="232F3E"/>
                </a:solidFill>
                <a:latin typeface="Amazon Ember display"/>
              </a:defRPr>
            </a:lvl4pPr>
            <a:lvl5pPr marL="1144588" indent="-228600" algn="l" defTabSz="914400" rtl="0" eaLnBrk="1" latinLnBrk="0" hangingPunct="1">
              <a:lnSpc>
                <a:spcPct val="100000"/>
              </a:lnSpc>
              <a:spcBef>
                <a:spcPts val="0"/>
              </a:spcBef>
              <a:spcAft>
                <a:spcPts val="600"/>
              </a:spcAft>
              <a:buFont typeface="Amazon Ember Display"/>
              <a:buChar char="•"/>
              <a:defRPr lang="en-US" sz="1600" kern="120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indent="0" algn="ctr">
              <a:buNone/>
            </a:pPr>
            <a:r>
              <a:rPr lang="en-US" dirty="0">
                <a:ea typeface="Amazon Ember Light" panose="020B0403020204020204" pitchFamily="34" charset="0"/>
                <a:cs typeface="Amazon Ember Light" panose="020B0403020204020204" pitchFamily="34" charset="0"/>
              </a:rPr>
              <a:t>You have a high volume of requests that are overburdening your database.</a:t>
            </a:r>
          </a:p>
          <a:p>
            <a:endParaRPr lang="en-US" dirty="0"/>
          </a:p>
        </p:txBody>
      </p:sp>
      <p:pic>
        <p:nvPicPr>
          <p:cNvPr id="30" name="Picture Placeholder 29">
            <a:extLst>
              <a:ext uri="{FF2B5EF4-FFF2-40B4-BE49-F238E27FC236}">
                <a16:creationId xmlns:a16="http://schemas.microsoft.com/office/drawing/2014/main" id="{F298B622-3C32-4DC2-AB42-9218B2122E52}"/>
              </a:ext>
              <a:ext uri="{C183D7F6-B498-43B3-948B-1728B52AA6E4}">
                <adec:decorative xmlns:adec="http://schemas.microsoft.com/office/drawing/2017/decorative" val="1"/>
              </a:ext>
            </a:extLst>
          </p:cNvPr>
          <p:cNvPicPr>
            <a:picLocks noGrp="1" noChangeAspect="1"/>
          </p:cNvPicPr>
          <p:nvPr>
            <p:ph type="pic" idx="24"/>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a:off x="8815388" y="1422782"/>
            <a:ext cx="2286000" cy="2286000"/>
          </a:xfrm>
          <a:prstGeom prst="rect">
            <a:avLst/>
          </a:prstGeom>
        </p:spPr>
      </p:pic>
      <p:sp>
        <p:nvSpPr>
          <p:cNvPr id="9" name="Text Placeholder 8">
            <a:extLst>
              <a:ext uri="{FF2B5EF4-FFF2-40B4-BE49-F238E27FC236}">
                <a16:creationId xmlns:a16="http://schemas.microsoft.com/office/drawing/2014/main" id="{11C3C5B5-5E4B-4ADA-890C-62EA8D3C619E}"/>
              </a:ext>
            </a:extLst>
          </p:cNvPr>
          <p:cNvSpPr>
            <a:spLocks noGrp="1"/>
          </p:cNvSpPr>
          <p:nvPr>
            <p:ph type="body" idx="4"/>
          </p:nvPr>
        </p:nvSpPr>
        <p:spPr>
          <a:xfrm>
            <a:off x="8083296" y="3754819"/>
            <a:ext cx="3749040" cy="2999232"/>
          </a:xfrm>
        </p:spPr>
        <p:txBody>
          <a:bodyPr/>
          <a:lstStyle/>
          <a:p>
            <a:pPr marL="0" indent="0" algn="ctr">
              <a:buNone/>
            </a:pPr>
            <a:r>
              <a:rPr lang="en-US" dirty="0">
                <a:ea typeface="Amazon Ember Light" panose="020B0403020204020204" pitchFamily="34" charset="0"/>
                <a:cs typeface="Amazon Ember Light" panose="020B0403020204020204" pitchFamily="34" charset="0"/>
              </a:rPr>
              <a:t>You want to reduce your database costs.</a:t>
            </a:r>
          </a:p>
          <a:p>
            <a:endParaRPr lang="en-US" dirty="0"/>
          </a:p>
        </p:txBody>
      </p:sp>
    </p:spTree>
    <p:custDataLst>
      <p:tags r:id="rId1"/>
    </p:custDataLst>
    <p:extLst>
      <p:ext uri="{BB962C8B-B14F-4D97-AF65-F5344CB8AC3E}">
        <p14:creationId xmlns:p14="http://schemas.microsoft.com/office/powerpoint/2010/main" val="22926182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9C497A92-04D3-453B-A581-69706C33898F}"/>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784ABB48-2154-4B80-98B1-05018A154512}"/>
              </a:ext>
            </a:extLst>
          </p:cNvPr>
          <p:cNvSpPr>
            <a:spLocks noGrp="1"/>
          </p:cNvSpPr>
          <p:nvPr>
            <p:ph type="title" idx="1"/>
          </p:nvPr>
        </p:nvSpPr>
        <p:spPr/>
        <p:txBody>
          <a:bodyPr/>
          <a:lstStyle/>
          <a:p>
            <a:r>
              <a:rPr lang="en-US" dirty="0"/>
              <a:t>ElastiCache</a:t>
            </a:r>
          </a:p>
        </p:txBody>
      </p:sp>
      <p:pic>
        <p:nvPicPr>
          <p:cNvPr id="11" name="Graphic 21">
            <a:extLst>
              <a:ext uri="{FF2B5EF4-FFF2-40B4-BE49-F238E27FC236}">
                <a16:creationId xmlns:a16="http://schemas.microsoft.com/office/drawing/2014/main" id="{0E94EBB6-F09E-46E1-A795-534106F535BE}"/>
              </a:ext>
              <a:ext uri="{C183D7F6-B498-43B3-948B-1728B52AA6E4}">
                <adec:decorative xmlns:adec="http://schemas.microsoft.com/office/drawing/2017/decorative" val="1"/>
              </a:ext>
            </a:extLst>
          </p:cNvPr>
          <p:cNvPicPr>
            <a:picLocks noGrp="1" noChangeAspect="1" noChangeArrowheads="1"/>
          </p:cNvPicPr>
          <p:nvPr>
            <p:ph type="pic" idx="3"/>
          </p:nvPr>
        </p:nvPicPr>
        <p:blipFill>
          <a:blip r:embed="rId4">
            <a:extLst>
              <a:ext uri="{96DAC541-7B7A-43D3-8B79-37D633B846F1}">
                <asvg:svgBlip xmlns:asvg="http://schemas.microsoft.com/office/drawing/2016/SVG/main" r:embed="rId5"/>
              </a:ext>
            </a:extLst>
          </a:blip>
          <a:srcRect/>
          <a:stretch/>
        </p:blipFill>
        <p:spPr bwMode="auto">
          <a:xfrm>
            <a:off x="531813" y="2182813"/>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Placeholder 4">
            <a:extLst>
              <a:ext uri="{FF2B5EF4-FFF2-40B4-BE49-F238E27FC236}">
                <a16:creationId xmlns:a16="http://schemas.microsoft.com/office/drawing/2014/main" id="{2FBCF04C-339B-424A-B511-35766FD2C20F}"/>
              </a:ext>
            </a:extLst>
          </p:cNvPr>
          <p:cNvSpPr>
            <a:spLocks noGrp="1"/>
          </p:cNvSpPr>
          <p:nvPr>
            <p:ph type="body" idx="4"/>
          </p:nvPr>
        </p:nvSpPr>
        <p:spPr/>
        <p:txBody>
          <a:bodyPr/>
          <a:lstStyle/>
          <a:p>
            <a:r>
              <a:rPr lang="en-US" dirty="0"/>
              <a:t>ElastiCache</a:t>
            </a:r>
          </a:p>
        </p:txBody>
      </p:sp>
      <p:sp>
        <p:nvSpPr>
          <p:cNvPr id="4" name="Content Placeholder 3">
            <a:extLst>
              <a:ext uri="{FF2B5EF4-FFF2-40B4-BE49-F238E27FC236}">
                <a16:creationId xmlns:a16="http://schemas.microsoft.com/office/drawing/2014/main" id="{C268F2C9-E444-4BDF-BC35-4721C544CDB6}"/>
              </a:ext>
            </a:extLst>
          </p:cNvPr>
          <p:cNvSpPr>
            <a:spLocks noGrp="1"/>
          </p:cNvSpPr>
          <p:nvPr>
            <p:ph idx="2"/>
          </p:nvPr>
        </p:nvSpPr>
        <p:spPr/>
        <p:txBody>
          <a:bodyPr>
            <a:noAutofit/>
          </a:bodyPr>
          <a:lstStyle/>
          <a:p>
            <a:r>
              <a:rPr lang="en-US" sz="3000" dirty="0"/>
              <a:t>Is a fully managed, key-value, in-memory data store with sub-millisecond latency</a:t>
            </a:r>
          </a:p>
          <a:p>
            <a:r>
              <a:rPr lang="en-US" sz="3000" dirty="0"/>
              <a:t>Sits between an application and an origin data store</a:t>
            </a:r>
          </a:p>
          <a:p>
            <a:r>
              <a:rPr lang="en-US" sz="3000" dirty="0"/>
              <a:t>Decreases access latency and eases the load of databases and applications</a:t>
            </a:r>
          </a:p>
          <a:p>
            <a:r>
              <a:rPr lang="en-US" sz="3000" dirty="0"/>
              <a:t>Provides a high performance and cost-effective in-memory cache </a:t>
            </a:r>
          </a:p>
          <a:p>
            <a:r>
              <a:rPr lang="en-US" sz="3000" dirty="0"/>
              <a:t>Is fully compatible with open source Redis and Memcached engines</a:t>
            </a:r>
          </a:p>
        </p:txBody>
      </p:sp>
    </p:spTree>
    <p:custDataLst>
      <p:tags r:id="rId1"/>
    </p:custDataLst>
    <p:extLst>
      <p:ext uri="{BB962C8B-B14F-4D97-AF65-F5344CB8AC3E}">
        <p14:creationId xmlns:p14="http://schemas.microsoft.com/office/powerpoint/2010/main" val="2699189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E3D80AB-416D-4496-8274-52A9C982D52E}"/>
              </a:ext>
            </a:extLst>
          </p:cNvPr>
          <p:cNvSpPr>
            <a:spLocks noGrp="1"/>
          </p:cNvSpPr>
          <p:nvPr>
            <p:ph type="sldNum" idx="97"/>
          </p:nvPr>
        </p:nvSpPr>
        <p:spPr/>
        <p:txBody>
          <a:bodyPr/>
          <a:lstStyle/>
          <a:p>
            <a:fld id="{4037B1B0-0345-4E15-985A-6BECCDBE474F}" type="slidenum">
              <a:rPr lang="en-US" smtClean="0"/>
              <a:pPr/>
              <a:t>31</a:t>
            </a:fld>
            <a:endParaRPr lang="en-US" dirty="0"/>
          </a:p>
        </p:txBody>
      </p:sp>
      <p:sp>
        <p:nvSpPr>
          <p:cNvPr id="3" name="Title">
            <a:extLst>
              <a:ext uri="{FF2B5EF4-FFF2-40B4-BE49-F238E27FC236}">
                <a16:creationId xmlns:a16="http://schemas.microsoft.com/office/drawing/2014/main" id="{78C84B5F-C224-45B0-B485-3C759FFE8B40}"/>
              </a:ext>
            </a:extLst>
          </p:cNvPr>
          <p:cNvSpPr>
            <a:spLocks noGrp="1"/>
          </p:cNvSpPr>
          <p:nvPr>
            <p:ph type="title" idx="1"/>
          </p:nvPr>
        </p:nvSpPr>
        <p:spPr/>
        <p:txBody>
          <a:bodyPr>
            <a:normAutofit fontScale="90000"/>
          </a:bodyPr>
          <a:lstStyle/>
          <a:p>
            <a:r>
              <a:rPr lang="en-US" dirty="0"/>
              <a:t>Choose an ElastiCache engine based on what you need</a:t>
            </a:r>
          </a:p>
        </p:txBody>
      </p:sp>
      <p:grpSp>
        <p:nvGrpSpPr>
          <p:cNvPr id="9" name="Group 8">
            <a:extLst>
              <a:ext uri="{FF2B5EF4-FFF2-40B4-BE49-F238E27FC236}">
                <a16:creationId xmlns:a16="http://schemas.microsoft.com/office/drawing/2014/main" id="{71168780-1DD8-4CE8-833A-1B2BE5EA4FC6}"/>
              </a:ext>
            </a:extLst>
          </p:cNvPr>
          <p:cNvGrpSpPr/>
          <p:nvPr/>
        </p:nvGrpSpPr>
        <p:grpSpPr>
          <a:xfrm>
            <a:off x="446996" y="1344454"/>
            <a:ext cx="2405314" cy="2011680"/>
            <a:chOff x="446996" y="1344454"/>
            <a:chExt cx="2405314" cy="2011680"/>
          </a:xfrm>
        </p:grpSpPr>
        <p:sp>
          <p:nvSpPr>
            <p:cNvPr id="37" name="Callout: Create resources">
              <a:extLst>
                <a:ext uri="{FF2B5EF4-FFF2-40B4-BE49-F238E27FC236}">
                  <a16:creationId xmlns:a16="http://schemas.microsoft.com/office/drawing/2014/main" id="{F984A372-46CA-40B5-9F8E-2B0CCCBCE621}"/>
                </a:ext>
                <a:ext uri="{C183D7F6-B498-43B3-948B-1728B52AA6E4}">
                  <adec:decorative xmlns:adec="http://schemas.microsoft.com/office/drawing/2017/decorative" val="0"/>
                </a:ext>
              </a:extLst>
            </p:cNvPr>
            <p:cNvSpPr/>
            <p:nvPr/>
          </p:nvSpPr>
          <p:spPr>
            <a:xfrm flipH="1">
              <a:off x="446996" y="2243856"/>
              <a:ext cx="1324796" cy="338553"/>
            </a:xfrm>
            <a:prstGeom prst="borderCallout1">
              <a:avLst>
                <a:gd name="adj1" fmla="val 48874"/>
                <a:gd name="adj2" fmla="val 226"/>
                <a:gd name="adj3" fmla="val 49512"/>
                <a:gd name="adj4" fmla="val -35921"/>
              </a:avLst>
            </a:prstGeom>
            <a:ln w="44450">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wrap="square" lIns="45720" rIns="45720" rtlCol="0" anchor="ctr">
              <a:spAutoFit/>
            </a:bodyPr>
            <a:lstStyle/>
            <a:p>
              <a:pPr algn="ctr"/>
              <a:r>
                <a:rPr lang="en-US" sz="1600" dirty="0">
                  <a:solidFill>
                    <a:schemeClr val="bg1"/>
                  </a:solidFill>
                </a:rPr>
                <a:t>If you need: </a:t>
              </a:r>
            </a:p>
          </p:txBody>
        </p:sp>
        <p:cxnSp>
          <p:nvCxnSpPr>
            <p:cNvPr id="19" name="Connector: Elbow 18">
              <a:extLst>
                <a:ext uri="{FF2B5EF4-FFF2-40B4-BE49-F238E27FC236}">
                  <a16:creationId xmlns:a16="http://schemas.microsoft.com/office/drawing/2014/main" id="{4329381D-CA52-4E30-B585-89B2502AFE57}"/>
                </a:ext>
                <a:ext uri="{C183D7F6-B498-43B3-948B-1728B52AA6E4}">
                  <adec:decorative xmlns:adec="http://schemas.microsoft.com/office/drawing/2017/decorative" val="1"/>
                </a:ext>
              </a:extLst>
            </p:cNvPr>
            <p:cNvCxnSpPr>
              <a:cxnSpLocks/>
            </p:cNvCxnSpPr>
            <p:nvPr/>
          </p:nvCxnSpPr>
          <p:spPr>
            <a:xfrm flipH="1" flipV="1">
              <a:off x="2843166" y="1344454"/>
              <a:ext cx="9144" cy="2011680"/>
            </a:xfrm>
            <a:prstGeom prst="bentConnector3">
              <a:avLst>
                <a:gd name="adj1" fmla="val 6709076"/>
              </a:avLst>
            </a:prstGeom>
            <a:ln w="44450">
              <a:solidFill>
                <a:srgbClr val="19594E"/>
              </a:solidFill>
            </a:ln>
            <a:effectLst/>
          </p:spPr>
          <p:style>
            <a:lnRef idx="1">
              <a:schemeClr val="accent1"/>
            </a:lnRef>
            <a:fillRef idx="0">
              <a:schemeClr val="accent1"/>
            </a:fillRef>
            <a:effectRef idx="0">
              <a:schemeClr val="accent1"/>
            </a:effectRef>
            <a:fontRef idx="minor">
              <a:schemeClr val="tx1"/>
            </a:fontRef>
          </p:style>
        </p:cxnSp>
      </p:grpSp>
      <p:sp>
        <p:nvSpPr>
          <p:cNvPr id="5" name="Text Placeholder 4">
            <a:extLst>
              <a:ext uri="{FF2B5EF4-FFF2-40B4-BE49-F238E27FC236}">
                <a16:creationId xmlns:a16="http://schemas.microsoft.com/office/drawing/2014/main" id="{AB23DEE8-E536-45FE-8F9B-027BFDDE9338}"/>
              </a:ext>
            </a:extLst>
          </p:cNvPr>
          <p:cNvSpPr>
            <a:spLocks noGrp="1"/>
          </p:cNvSpPr>
          <p:nvPr>
            <p:ph type="body" idx="2"/>
          </p:nvPr>
        </p:nvSpPr>
        <p:spPr>
          <a:xfrm>
            <a:off x="2455952" y="1462886"/>
            <a:ext cx="5622444" cy="2147679"/>
          </a:xfrm>
        </p:spPr>
        <p:txBody>
          <a:bodyPr/>
          <a:lstStyle/>
          <a:p>
            <a:pPr marL="342900" indent="-342900">
              <a:buFont typeface="Arial" panose="020B0604020202020204" pitchFamily="34" charset="0"/>
              <a:buChar char="•"/>
            </a:pPr>
            <a:r>
              <a:rPr lang="en-US" dirty="0"/>
              <a:t>the most basic model</a:t>
            </a:r>
          </a:p>
          <a:p>
            <a:pPr marL="342900" indent="-342900">
              <a:buFont typeface="Arial" panose="020B0604020202020204" pitchFamily="34" charset="0"/>
              <a:buChar char="•"/>
            </a:pPr>
            <a:r>
              <a:rPr lang="en-US" dirty="0"/>
              <a:t>the ability to run large nodes with multiple cores or threads</a:t>
            </a:r>
          </a:p>
          <a:p>
            <a:pPr marL="342900" indent="-342900">
              <a:buFont typeface="Arial" panose="020B0604020202020204" pitchFamily="34" charset="0"/>
              <a:buChar char="•"/>
            </a:pPr>
            <a:r>
              <a:rPr lang="en-US" dirty="0"/>
              <a:t>the ability to scale horizontally with Auto Discovery</a:t>
            </a:r>
          </a:p>
          <a:p>
            <a:endParaRPr lang="en-US" dirty="0"/>
          </a:p>
        </p:txBody>
      </p:sp>
      <p:sp>
        <p:nvSpPr>
          <p:cNvPr id="13" name="Arrow">
            <a:extLst>
              <a:ext uri="{FF2B5EF4-FFF2-40B4-BE49-F238E27FC236}">
                <a16:creationId xmlns:a16="http://schemas.microsoft.com/office/drawing/2014/main" id="{B02EF714-2A6F-48AD-BE68-81C5F3875E9E}"/>
              </a:ext>
              <a:ext uri="{C183D7F6-B498-43B3-948B-1728B52AA6E4}">
                <adec:decorative xmlns:adec="http://schemas.microsoft.com/office/drawing/2017/decorative" val="0"/>
              </a:ext>
            </a:extLst>
          </p:cNvPr>
          <p:cNvSpPr/>
          <p:nvPr/>
        </p:nvSpPr>
        <p:spPr>
          <a:xfrm>
            <a:off x="8109365" y="1934029"/>
            <a:ext cx="1530027" cy="440329"/>
          </a:xfrm>
          <a:prstGeom prst="rightArrow">
            <a:avLst/>
          </a:prstGeom>
          <a:solidFill>
            <a:schemeClr val="accent5"/>
          </a:solidFill>
          <a:ln w="12700">
            <a:solidFill>
              <a:srgbClr val="232F3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Choose</a:t>
            </a:r>
          </a:p>
        </p:txBody>
      </p:sp>
      <p:pic>
        <p:nvPicPr>
          <p:cNvPr id="10" name="Picture Placeholder 9">
            <a:extLst>
              <a:ext uri="{FF2B5EF4-FFF2-40B4-BE49-F238E27FC236}">
                <a16:creationId xmlns:a16="http://schemas.microsoft.com/office/drawing/2014/main" id="{83C84FD8-D051-44E6-A3E2-0F1ABC56585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a:stretch>
            <a:fillRect/>
          </a:stretch>
        </p:blipFill>
        <p:spPr>
          <a:xfrm>
            <a:off x="9928303" y="1569850"/>
            <a:ext cx="1073559" cy="1073559"/>
          </a:xfrm>
          <a:prstGeom prst="rect">
            <a:avLst/>
          </a:prstGeom>
        </p:spPr>
      </p:pic>
      <p:sp>
        <p:nvSpPr>
          <p:cNvPr id="38" name="Text Placeholder 5">
            <a:extLst>
              <a:ext uri="{FF2B5EF4-FFF2-40B4-BE49-F238E27FC236}">
                <a16:creationId xmlns:a16="http://schemas.microsoft.com/office/drawing/2014/main" id="{18BAEF14-B209-4754-9273-F6E081364164}"/>
              </a:ext>
            </a:extLst>
          </p:cNvPr>
          <p:cNvSpPr txBox="1">
            <a:spLocks/>
          </p:cNvSpPr>
          <p:nvPr/>
        </p:nvSpPr>
        <p:spPr>
          <a:xfrm>
            <a:off x="9493560" y="2582409"/>
            <a:ext cx="1967950" cy="440329"/>
          </a:xfrm>
          <a:prstGeom prst="rect">
            <a:avLst/>
          </a:prstGeom>
        </p:spPr>
        <p:txBody>
          <a:bodyPr/>
          <a:lst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indent="0" algn="ctr">
              <a:buNone/>
            </a:pPr>
            <a:r>
              <a:rPr lang="en-US" sz="2000" dirty="0"/>
              <a:t>ElastiCache </a:t>
            </a:r>
            <a:br>
              <a:rPr lang="en-US" sz="2000" dirty="0"/>
            </a:br>
            <a:r>
              <a:rPr lang="en-US" sz="2000" dirty="0"/>
              <a:t>for </a:t>
            </a:r>
            <a:r>
              <a:rPr lang="en-US" sz="2000" dirty="0">
                <a:ea typeface="Amazon Ember Light" panose="020B0403020204020204" pitchFamily="34" charset="0"/>
                <a:cs typeface="Amazon Ember Light" panose="020B0403020204020204" pitchFamily="34" charset="0"/>
              </a:rPr>
              <a:t>Memcached </a:t>
            </a:r>
            <a:endParaRPr lang="en-US" sz="2000" dirty="0"/>
          </a:p>
        </p:txBody>
      </p:sp>
      <p:grpSp>
        <p:nvGrpSpPr>
          <p:cNvPr id="12" name="Group 11">
            <a:extLst>
              <a:ext uri="{FF2B5EF4-FFF2-40B4-BE49-F238E27FC236}">
                <a16:creationId xmlns:a16="http://schemas.microsoft.com/office/drawing/2014/main" id="{752C1DA8-8FAA-406B-BDC2-C7C8A16D2A01}"/>
              </a:ext>
            </a:extLst>
          </p:cNvPr>
          <p:cNvGrpSpPr/>
          <p:nvPr/>
        </p:nvGrpSpPr>
        <p:grpSpPr>
          <a:xfrm>
            <a:off x="458397" y="3640258"/>
            <a:ext cx="2405314" cy="2347128"/>
            <a:chOff x="431893" y="3759526"/>
            <a:chExt cx="2405314" cy="2011680"/>
          </a:xfrm>
        </p:grpSpPr>
        <p:sp>
          <p:nvSpPr>
            <p:cNvPr id="23" name="Callout: Create resources">
              <a:extLst>
                <a:ext uri="{FF2B5EF4-FFF2-40B4-BE49-F238E27FC236}">
                  <a16:creationId xmlns:a16="http://schemas.microsoft.com/office/drawing/2014/main" id="{1DDCE6BA-1B9F-4906-B888-6DAF7EF2B798}"/>
                </a:ext>
                <a:ext uri="{C183D7F6-B498-43B3-948B-1728B52AA6E4}">
                  <adec:decorative xmlns:adec="http://schemas.microsoft.com/office/drawing/2017/decorative" val="0"/>
                </a:ext>
              </a:extLst>
            </p:cNvPr>
            <p:cNvSpPr/>
            <p:nvPr/>
          </p:nvSpPr>
          <p:spPr>
            <a:xfrm flipH="1">
              <a:off x="431893" y="4658928"/>
              <a:ext cx="1324796" cy="338553"/>
            </a:xfrm>
            <a:prstGeom prst="borderCallout1">
              <a:avLst>
                <a:gd name="adj1" fmla="val 48874"/>
                <a:gd name="adj2" fmla="val 226"/>
                <a:gd name="adj3" fmla="val 49512"/>
                <a:gd name="adj4" fmla="val -35921"/>
              </a:avLst>
            </a:prstGeom>
            <a:ln w="44450">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wrap="square" lIns="45720" rIns="45720" rtlCol="0" anchor="ctr">
              <a:spAutoFit/>
            </a:bodyPr>
            <a:lstStyle/>
            <a:p>
              <a:pPr algn="ctr"/>
              <a:r>
                <a:rPr lang="en-US" sz="1600" dirty="0">
                  <a:solidFill>
                    <a:schemeClr val="bg1"/>
                  </a:solidFill>
                </a:rPr>
                <a:t>If you need: </a:t>
              </a:r>
            </a:p>
          </p:txBody>
        </p:sp>
        <p:cxnSp>
          <p:nvCxnSpPr>
            <p:cNvPr id="24" name="Connector: Elbow 23">
              <a:extLst>
                <a:ext uri="{FF2B5EF4-FFF2-40B4-BE49-F238E27FC236}">
                  <a16:creationId xmlns:a16="http://schemas.microsoft.com/office/drawing/2014/main" id="{2DA3327B-1352-4169-B8FE-8CAC0A28435E}"/>
                </a:ext>
                <a:ext uri="{C183D7F6-B498-43B3-948B-1728B52AA6E4}">
                  <adec:decorative xmlns:adec="http://schemas.microsoft.com/office/drawing/2017/decorative" val="1"/>
                </a:ext>
              </a:extLst>
            </p:cNvPr>
            <p:cNvCxnSpPr>
              <a:cxnSpLocks/>
            </p:cNvCxnSpPr>
            <p:nvPr/>
          </p:nvCxnSpPr>
          <p:spPr>
            <a:xfrm flipH="1" flipV="1">
              <a:off x="2828063" y="3759526"/>
              <a:ext cx="9144" cy="2011680"/>
            </a:xfrm>
            <a:prstGeom prst="bentConnector3">
              <a:avLst>
                <a:gd name="adj1" fmla="val 6709076"/>
              </a:avLst>
            </a:prstGeom>
            <a:ln w="44450">
              <a:solidFill>
                <a:srgbClr val="19594E"/>
              </a:solidFill>
            </a:ln>
            <a:effectLst/>
          </p:spPr>
          <p:style>
            <a:lnRef idx="1">
              <a:schemeClr val="accent1"/>
            </a:lnRef>
            <a:fillRef idx="0">
              <a:schemeClr val="accent1"/>
            </a:fillRef>
            <a:effectRef idx="0">
              <a:schemeClr val="accent1"/>
            </a:effectRef>
            <a:fontRef idx="minor">
              <a:schemeClr val="tx1"/>
            </a:fontRef>
          </p:style>
        </p:cxnSp>
      </p:grpSp>
      <p:sp>
        <p:nvSpPr>
          <p:cNvPr id="7" name="Text Placeholder 6">
            <a:extLst>
              <a:ext uri="{FF2B5EF4-FFF2-40B4-BE49-F238E27FC236}">
                <a16:creationId xmlns:a16="http://schemas.microsoft.com/office/drawing/2014/main" id="{C8A61483-1302-4A59-81EA-433618EFDD2F}"/>
              </a:ext>
            </a:extLst>
          </p:cNvPr>
          <p:cNvSpPr>
            <a:spLocks noGrp="1"/>
          </p:cNvSpPr>
          <p:nvPr>
            <p:ph type="body" idx="3"/>
          </p:nvPr>
        </p:nvSpPr>
        <p:spPr>
          <a:xfrm>
            <a:off x="2455952" y="3783590"/>
            <a:ext cx="6630606" cy="2424620"/>
          </a:xfrm>
        </p:spPr>
        <p:txBody>
          <a:bodyPr/>
          <a:lstStyle/>
          <a:p>
            <a:pPr marL="342900" indent="-342900">
              <a:buFont typeface="Arial" panose="020B0604020202020204" pitchFamily="34" charset="0"/>
              <a:buChar char="•"/>
            </a:pPr>
            <a:r>
              <a:rPr lang="en-US" dirty="0"/>
              <a:t>to support complex data types</a:t>
            </a:r>
          </a:p>
          <a:p>
            <a:pPr marL="342900" indent="-342900">
              <a:buFont typeface="Arial" panose="020B0604020202020204" pitchFamily="34" charset="0"/>
              <a:buChar char="•"/>
            </a:pPr>
            <a:r>
              <a:rPr lang="en-US" dirty="0"/>
              <a:t>to provide persistence of your key store</a:t>
            </a:r>
          </a:p>
          <a:p>
            <a:pPr marL="342900" indent="-342900">
              <a:buFont typeface="Arial" panose="020B0604020202020204" pitchFamily="34" charset="0"/>
              <a:buChar char="•"/>
            </a:pPr>
            <a:r>
              <a:rPr lang="en-US" dirty="0"/>
              <a:t>to sort or rank in-memory datasets</a:t>
            </a:r>
          </a:p>
          <a:p>
            <a:pPr marL="342900" indent="-342900">
              <a:buFont typeface="Arial" panose="020B0604020202020204" pitchFamily="34" charset="0"/>
              <a:buChar char="•"/>
            </a:pPr>
            <a:r>
              <a:rPr lang="en-US" dirty="0"/>
              <a:t>to provide high availability with automatic failover</a:t>
            </a:r>
          </a:p>
          <a:p>
            <a:pPr marL="342900" indent="-342900">
              <a:buFont typeface="Arial" panose="020B0604020202020204" pitchFamily="34" charset="0"/>
              <a:buChar char="•"/>
            </a:pPr>
            <a:r>
              <a:rPr lang="en-US" dirty="0"/>
              <a:t>to support publish/subscribe messaging</a:t>
            </a:r>
          </a:p>
          <a:p>
            <a:endParaRPr lang="en-US" dirty="0"/>
          </a:p>
        </p:txBody>
      </p:sp>
      <p:sp>
        <p:nvSpPr>
          <p:cNvPr id="18" name="Arrow">
            <a:extLst>
              <a:ext uri="{FF2B5EF4-FFF2-40B4-BE49-F238E27FC236}">
                <a16:creationId xmlns:a16="http://schemas.microsoft.com/office/drawing/2014/main" id="{0FE63F50-491A-441D-8EB7-F00CC05A2073}"/>
              </a:ext>
              <a:ext uri="{C183D7F6-B498-43B3-948B-1728B52AA6E4}">
                <adec:decorative xmlns:adec="http://schemas.microsoft.com/office/drawing/2017/decorative" val="0"/>
              </a:ext>
            </a:extLst>
          </p:cNvPr>
          <p:cNvSpPr/>
          <p:nvPr/>
        </p:nvSpPr>
        <p:spPr>
          <a:xfrm>
            <a:off x="8109364" y="4355900"/>
            <a:ext cx="1530027" cy="440329"/>
          </a:xfrm>
          <a:prstGeom prst="rightArrow">
            <a:avLst/>
          </a:prstGeom>
          <a:solidFill>
            <a:schemeClr val="accent5"/>
          </a:solidFill>
          <a:ln w="12700">
            <a:solidFill>
              <a:srgbClr val="232F3E"/>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Choose</a:t>
            </a:r>
          </a:p>
        </p:txBody>
      </p:sp>
      <p:pic>
        <p:nvPicPr>
          <p:cNvPr id="11" name="Picture Placeholder 10">
            <a:extLst>
              <a:ext uri="{FF2B5EF4-FFF2-40B4-BE49-F238E27FC236}">
                <a16:creationId xmlns:a16="http://schemas.microsoft.com/office/drawing/2014/main" id="{02490FE7-C084-4B88-85E4-073E5F66903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rcRect/>
          <a:stretch>
            <a:fillRect/>
          </a:stretch>
        </p:blipFill>
        <p:spPr>
          <a:xfrm>
            <a:off x="9928303" y="3883949"/>
            <a:ext cx="1073560" cy="1073560"/>
          </a:xfrm>
          <a:prstGeom prst="rect">
            <a:avLst/>
          </a:prstGeom>
        </p:spPr>
      </p:pic>
      <p:sp>
        <p:nvSpPr>
          <p:cNvPr id="39" name="Text Placeholder 5">
            <a:extLst>
              <a:ext uri="{FF2B5EF4-FFF2-40B4-BE49-F238E27FC236}">
                <a16:creationId xmlns:a16="http://schemas.microsoft.com/office/drawing/2014/main" id="{CCEB792B-8A0B-4D87-A0F6-DC28293B8A2E}"/>
              </a:ext>
            </a:extLst>
          </p:cNvPr>
          <p:cNvSpPr txBox="1">
            <a:spLocks/>
          </p:cNvSpPr>
          <p:nvPr/>
        </p:nvSpPr>
        <p:spPr>
          <a:xfrm>
            <a:off x="9648048" y="4991870"/>
            <a:ext cx="1725462" cy="440329"/>
          </a:xfrm>
          <a:prstGeom prst="rect">
            <a:avLst/>
          </a:prstGeom>
        </p:spPr>
        <p:txBody>
          <a:bodyPr/>
          <a:lstStyle>
            <a:lvl1pPr marL="228600" indent="-228600" algn="l" defTabSz="914400" rtl="0" eaLnBrk="1" latinLnBrk="0" hangingPunct="1">
              <a:lnSpc>
                <a:spcPct val="90000"/>
              </a:lnSpc>
              <a:spcBef>
                <a:spcPts val="0"/>
              </a:spcBef>
              <a:spcAft>
                <a:spcPts val="1200"/>
              </a:spcAft>
              <a:buFont typeface="Amazon Ember Display"/>
              <a:buChar char="•"/>
              <a:defRPr lang="en-US" sz="2800" kern="1200" dirty="0">
                <a:solidFill>
                  <a:srgbClr val="232F3E"/>
                </a:solidFill>
                <a:latin typeface="Amazon Ember display"/>
              </a:defRPr>
            </a:lvl1pPr>
            <a:lvl2pPr marL="685800" indent="-228600" algn="l" defTabSz="914400" rtl="0" eaLnBrk="1" latinLnBrk="0" hangingPunct="1">
              <a:lnSpc>
                <a:spcPct val="90000"/>
              </a:lnSpc>
              <a:spcBef>
                <a:spcPts val="0"/>
              </a:spcBef>
              <a:spcAft>
                <a:spcPts val="1200"/>
              </a:spcAft>
              <a:buFont typeface="Amazon Ember Display"/>
              <a:buChar char="•"/>
              <a:defRPr lang="en-US" sz="2400" kern="1200" dirty="0">
                <a:solidFill>
                  <a:srgbClr val="232F3E"/>
                </a:solidFill>
                <a:latin typeface="Amazon Ember display"/>
              </a:defRPr>
            </a:lvl2pPr>
            <a:lvl3pPr marL="1143000" indent="-228600" algn="l" defTabSz="914400" rtl="0" eaLnBrk="1" latinLnBrk="0" hangingPunct="1">
              <a:lnSpc>
                <a:spcPct val="90000"/>
              </a:lnSpc>
              <a:spcBef>
                <a:spcPts val="0"/>
              </a:spcBef>
              <a:spcAft>
                <a:spcPts val="1200"/>
              </a:spcAft>
              <a:buFont typeface="Amazon Ember Display"/>
              <a:buChar char="•"/>
              <a:defRPr lang="en-US" sz="2000" kern="1200" dirty="0">
                <a:solidFill>
                  <a:srgbClr val="232F3E"/>
                </a:solidFill>
                <a:latin typeface="Amazon Ember display"/>
              </a:defRPr>
            </a:lvl3pPr>
            <a:lvl4pPr marL="16002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4pPr>
            <a:lvl5pPr marL="2057400" indent="-228600" algn="l" defTabSz="914400" rtl="0" eaLnBrk="1" latinLnBrk="0" hangingPunct="1">
              <a:lnSpc>
                <a:spcPct val="90000"/>
              </a:lnSpc>
              <a:spcBef>
                <a:spcPts val="0"/>
              </a:spcBef>
              <a:spcAft>
                <a:spcPts val="1200"/>
              </a:spcAft>
              <a:buFont typeface="Amazon Ember Display"/>
              <a:buChar char="•"/>
              <a:defRPr lang="en-US" sz="1800" kern="1200" dirty="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0" indent="0" algn="ctr">
              <a:buNone/>
            </a:pPr>
            <a:r>
              <a:rPr lang="en-US" sz="2000" dirty="0"/>
              <a:t>ElastiCache </a:t>
            </a:r>
            <a:br>
              <a:rPr lang="en-US" sz="2000" dirty="0"/>
            </a:br>
            <a:r>
              <a:rPr lang="en-US" sz="2000" dirty="0"/>
              <a:t>for </a:t>
            </a:r>
            <a:r>
              <a:rPr lang="en-US" sz="2000" dirty="0">
                <a:ea typeface="Amazon Ember Light" panose="020B0403020204020204" pitchFamily="34" charset="0"/>
                <a:cs typeface="Amazon Ember Light" panose="020B0403020204020204" pitchFamily="34" charset="0"/>
              </a:rPr>
              <a:t>Redis </a:t>
            </a:r>
            <a:endParaRPr lang="en-US" sz="2000" dirty="0"/>
          </a:p>
        </p:txBody>
      </p:sp>
    </p:spTree>
    <p:custDataLst>
      <p:tags r:id="rId1"/>
    </p:custDataLst>
    <p:extLst>
      <p:ext uri="{BB962C8B-B14F-4D97-AF65-F5344CB8AC3E}">
        <p14:creationId xmlns:p14="http://schemas.microsoft.com/office/powerpoint/2010/main" val="1355825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F466F267-F145-4526-AE06-1C6E1F6860E5}"/>
              </a:ext>
            </a:extLst>
          </p:cNvPr>
          <p:cNvSpPr>
            <a:spLocks noGrp="1"/>
          </p:cNvSpPr>
          <p:nvPr>
            <p:ph type="sldNum" idx="97"/>
          </p:nvPr>
        </p:nvSpPr>
        <p:spPr/>
        <p:txBody>
          <a:bodyPr/>
          <a:lstStyle/>
          <a:p>
            <a:fld id="{4037B1B0-0345-4E15-985A-6BECCDBE474F}" type="slidenum">
              <a:rPr lang="en-US" smtClean="0"/>
              <a:pPr/>
              <a:t>32</a:t>
            </a:fld>
            <a:endParaRPr lang="en-US" dirty="0"/>
          </a:p>
        </p:txBody>
      </p:sp>
      <p:sp>
        <p:nvSpPr>
          <p:cNvPr id="3" name="Title">
            <a:extLst>
              <a:ext uri="{FF2B5EF4-FFF2-40B4-BE49-F238E27FC236}">
                <a16:creationId xmlns:a16="http://schemas.microsoft.com/office/drawing/2014/main" id="{19266085-727D-4B46-852E-493A543995D6}"/>
              </a:ext>
            </a:extLst>
          </p:cNvPr>
          <p:cNvSpPr>
            <a:spLocks noGrp="1"/>
          </p:cNvSpPr>
          <p:nvPr>
            <p:ph type="title" idx="1"/>
          </p:nvPr>
        </p:nvSpPr>
        <p:spPr/>
        <p:txBody>
          <a:bodyPr/>
          <a:lstStyle/>
          <a:p>
            <a:r>
              <a:rPr lang="en-US" dirty="0"/>
              <a:t>ElastiCache components</a:t>
            </a:r>
          </a:p>
        </p:txBody>
      </p:sp>
      <p:grpSp>
        <p:nvGrpSpPr>
          <p:cNvPr id="30" name="Flatten ElastiCacheComponents">
            <a:extLst>
              <a:ext uri="{FF2B5EF4-FFF2-40B4-BE49-F238E27FC236}">
                <a16:creationId xmlns:a16="http://schemas.microsoft.com/office/drawing/2014/main" id="{E211DE8A-F106-40C2-AB08-53FC463B05A7}"/>
              </a:ext>
              <a:ext uri="{C183D7F6-B498-43B3-948B-1728B52AA6E4}">
                <adec:decorative xmlns:adec="http://schemas.microsoft.com/office/drawing/2017/decorative" val="1"/>
              </a:ext>
            </a:extLst>
          </p:cNvPr>
          <p:cNvGrpSpPr/>
          <p:nvPr/>
        </p:nvGrpSpPr>
        <p:grpSpPr>
          <a:xfrm>
            <a:off x="927536" y="1630408"/>
            <a:ext cx="6605788" cy="3943581"/>
            <a:chOff x="961921" y="1675013"/>
            <a:chExt cx="6605788" cy="3943581"/>
          </a:xfrm>
        </p:grpSpPr>
        <p:sp>
          <p:nvSpPr>
            <p:cNvPr id="5" name="Rectangle 4">
              <a:extLst>
                <a:ext uri="{FF2B5EF4-FFF2-40B4-BE49-F238E27FC236}">
                  <a16:creationId xmlns:a16="http://schemas.microsoft.com/office/drawing/2014/main" id="{BC596630-72C5-4E6E-B0D7-12387B31E7AE}"/>
                </a:ext>
              </a:extLst>
            </p:cNvPr>
            <p:cNvSpPr/>
            <p:nvPr/>
          </p:nvSpPr>
          <p:spPr>
            <a:xfrm>
              <a:off x="1637898" y="1675013"/>
              <a:ext cx="5929811" cy="3937618"/>
            </a:xfrm>
            <a:prstGeom prst="rect">
              <a:avLst/>
            </a:prstGeom>
            <a:noFill/>
            <a:ln w="19050" cap="flat" cmpd="sng" algn="ctr">
              <a:solidFill>
                <a:srgbClr val="5A6B86"/>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dirty="0">
                <a:solidFill>
                  <a:srgbClr val="232F3E"/>
                </a:solidFill>
                <a:ea typeface="Amazon Ember Light" panose="020B0403020204020204" pitchFamily="34" charset="0"/>
                <a:cs typeface="Amazon Ember Light" panose="020B0403020204020204" pitchFamily="34" charset="0"/>
              </a:endParaRPr>
            </a:p>
          </p:txBody>
        </p:sp>
        <p:sp>
          <p:nvSpPr>
            <p:cNvPr id="6" name="TextBox 5">
              <a:extLst>
                <a:ext uri="{FF2B5EF4-FFF2-40B4-BE49-F238E27FC236}">
                  <a16:creationId xmlns:a16="http://schemas.microsoft.com/office/drawing/2014/main" id="{801E7CF9-ADA9-4DB1-95BA-36E1ED677319}"/>
                </a:ext>
              </a:extLst>
            </p:cNvPr>
            <p:cNvSpPr txBox="1"/>
            <p:nvPr/>
          </p:nvSpPr>
          <p:spPr>
            <a:xfrm>
              <a:off x="961921" y="3884251"/>
              <a:ext cx="1374094" cy="369332"/>
            </a:xfrm>
            <a:prstGeom prst="rect">
              <a:avLst/>
            </a:prstGeom>
            <a:solidFill>
              <a:schemeClr val="bg1"/>
            </a:solidFill>
          </p:spPr>
          <p:txBody>
            <a:bodyPr wrap="none" rtlCol="0">
              <a:spAutoFit/>
            </a:bodyPr>
            <a:lstStyle/>
            <a:p>
              <a:pPr algn="ctr"/>
              <a:r>
                <a:rPr lang="en-US"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rPr>
                <a:t>ElastiCache</a:t>
              </a:r>
            </a:p>
          </p:txBody>
        </p:sp>
        <p:pic>
          <p:nvPicPr>
            <p:cNvPr id="7" name="Graphic 21">
              <a:extLst>
                <a:ext uri="{FF2B5EF4-FFF2-40B4-BE49-F238E27FC236}">
                  <a16:creationId xmlns:a16="http://schemas.microsoft.com/office/drawing/2014/main" id="{3133EE02-A4C3-402D-87F4-827B1E60BA52}"/>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967503" y="2543464"/>
              <a:ext cx="1340787" cy="134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7">
              <a:extLst>
                <a:ext uri="{FF2B5EF4-FFF2-40B4-BE49-F238E27FC236}">
                  <a16:creationId xmlns:a16="http://schemas.microsoft.com/office/drawing/2014/main" id="{4450E783-BC19-45A6-9BD9-B35ED6956527}"/>
                </a:ext>
              </a:extLst>
            </p:cNvPr>
            <p:cNvGrpSpPr/>
            <p:nvPr/>
          </p:nvGrpSpPr>
          <p:grpSpPr>
            <a:xfrm>
              <a:off x="2602458" y="2164399"/>
              <a:ext cx="4290016" cy="2745818"/>
              <a:chOff x="2799351" y="2659713"/>
              <a:chExt cx="3777664" cy="2383262"/>
            </a:xfrm>
          </p:grpSpPr>
          <p:pic>
            <p:nvPicPr>
              <p:cNvPr id="9" name="Graphic 8">
                <a:extLst>
                  <a:ext uri="{FF2B5EF4-FFF2-40B4-BE49-F238E27FC236}">
                    <a16:creationId xmlns:a16="http://schemas.microsoft.com/office/drawing/2014/main" id="{3FFB3BFE-53F6-4985-ADC9-42823D22FA9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36935" y="2659713"/>
                <a:ext cx="640080" cy="640080"/>
              </a:xfrm>
              <a:prstGeom prst="rect">
                <a:avLst/>
              </a:prstGeom>
            </p:spPr>
          </p:pic>
          <p:pic>
            <p:nvPicPr>
              <p:cNvPr id="10" name="Graphic 9">
                <a:extLst>
                  <a:ext uri="{FF2B5EF4-FFF2-40B4-BE49-F238E27FC236}">
                    <a16:creationId xmlns:a16="http://schemas.microsoft.com/office/drawing/2014/main" id="{5C6E5C31-EECC-4C0E-8F2E-D89B5CE80F3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36935" y="3512825"/>
                <a:ext cx="640080" cy="640080"/>
              </a:xfrm>
              <a:prstGeom prst="rect">
                <a:avLst/>
              </a:prstGeom>
            </p:spPr>
          </p:pic>
          <p:pic>
            <p:nvPicPr>
              <p:cNvPr id="11" name="Graphic 10">
                <a:extLst>
                  <a:ext uri="{FF2B5EF4-FFF2-40B4-BE49-F238E27FC236}">
                    <a16:creationId xmlns:a16="http://schemas.microsoft.com/office/drawing/2014/main" id="{5F6C9760-89A5-4D33-9689-B35ACE10C2B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936935" y="4393272"/>
                <a:ext cx="640080" cy="640080"/>
              </a:xfrm>
              <a:prstGeom prst="rect">
                <a:avLst/>
              </a:prstGeom>
            </p:spPr>
          </p:pic>
          <p:pic>
            <p:nvPicPr>
              <p:cNvPr id="12" name="Graphic 11">
                <a:extLst>
                  <a:ext uri="{FF2B5EF4-FFF2-40B4-BE49-F238E27FC236}">
                    <a16:creationId xmlns:a16="http://schemas.microsoft.com/office/drawing/2014/main" id="{04F254EC-8F77-455C-9FA7-AB0D9BAB0B6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31734" y="2659713"/>
                <a:ext cx="640080" cy="640080"/>
              </a:xfrm>
              <a:prstGeom prst="rect">
                <a:avLst/>
              </a:prstGeom>
            </p:spPr>
          </p:pic>
          <p:pic>
            <p:nvPicPr>
              <p:cNvPr id="13" name="Graphic 12">
                <a:extLst>
                  <a:ext uri="{FF2B5EF4-FFF2-40B4-BE49-F238E27FC236}">
                    <a16:creationId xmlns:a16="http://schemas.microsoft.com/office/drawing/2014/main" id="{41088039-C8FE-4E0A-B249-A0C66A50B30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31734" y="3512825"/>
                <a:ext cx="640080" cy="640080"/>
              </a:xfrm>
              <a:prstGeom prst="rect">
                <a:avLst/>
              </a:prstGeom>
            </p:spPr>
          </p:pic>
          <p:pic>
            <p:nvPicPr>
              <p:cNvPr id="14" name="Graphic 13">
                <a:extLst>
                  <a:ext uri="{FF2B5EF4-FFF2-40B4-BE49-F238E27FC236}">
                    <a16:creationId xmlns:a16="http://schemas.microsoft.com/office/drawing/2014/main" id="{DA187072-5144-4A5C-909A-0DDA12BE8AB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31734" y="4393272"/>
                <a:ext cx="640080" cy="640080"/>
              </a:xfrm>
              <a:prstGeom prst="rect">
                <a:avLst/>
              </a:prstGeom>
            </p:spPr>
          </p:pic>
          <p:pic>
            <p:nvPicPr>
              <p:cNvPr id="15" name="Graphic 14">
                <a:extLst>
                  <a:ext uri="{FF2B5EF4-FFF2-40B4-BE49-F238E27FC236}">
                    <a16:creationId xmlns:a16="http://schemas.microsoft.com/office/drawing/2014/main" id="{1CF6FE95-E0F2-4146-92A4-6BA209A03D3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8143" y="2659713"/>
                <a:ext cx="640080" cy="640080"/>
              </a:xfrm>
              <a:prstGeom prst="rect">
                <a:avLst/>
              </a:prstGeom>
            </p:spPr>
          </p:pic>
          <p:pic>
            <p:nvPicPr>
              <p:cNvPr id="16" name="Graphic 15">
                <a:extLst>
                  <a:ext uri="{FF2B5EF4-FFF2-40B4-BE49-F238E27FC236}">
                    <a16:creationId xmlns:a16="http://schemas.microsoft.com/office/drawing/2014/main" id="{3DE4889E-D4A8-4EB3-81A4-D2E66864A7A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8143" y="3512825"/>
                <a:ext cx="640080" cy="640080"/>
              </a:xfrm>
              <a:prstGeom prst="rect">
                <a:avLst/>
              </a:prstGeom>
            </p:spPr>
          </p:pic>
          <p:pic>
            <p:nvPicPr>
              <p:cNvPr id="17" name="Graphic 16">
                <a:extLst>
                  <a:ext uri="{FF2B5EF4-FFF2-40B4-BE49-F238E27FC236}">
                    <a16:creationId xmlns:a16="http://schemas.microsoft.com/office/drawing/2014/main" id="{C4D9CC94-C9D4-4038-B710-42CE955B5A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8143" y="4393272"/>
                <a:ext cx="640080" cy="640080"/>
              </a:xfrm>
              <a:prstGeom prst="rect">
                <a:avLst/>
              </a:prstGeom>
            </p:spPr>
          </p:pic>
          <p:pic>
            <p:nvPicPr>
              <p:cNvPr id="18" name="Graphic 17">
                <a:extLst>
                  <a:ext uri="{FF2B5EF4-FFF2-40B4-BE49-F238E27FC236}">
                    <a16:creationId xmlns:a16="http://schemas.microsoft.com/office/drawing/2014/main" id="{ABD7A170-EE77-4DC2-98AC-03FB4D34EC3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62942" y="2669336"/>
                <a:ext cx="640080" cy="640080"/>
              </a:xfrm>
              <a:prstGeom prst="rect">
                <a:avLst/>
              </a:prstGeom>
            </p:spPr>
          </p:pic>
          <p:pic>
            <p:nvPicPr>
              <p:cNvPr id="19" name="Graphic 18">
                <a:extLst>
                  <a:ext uri="{FF2B5EF4-FFF2-40B4-BE49-F238E27FC236}">
                    <a16:creationId xmlns:a16="http://schemas.microsoft.com/office/drawing/2014/main" id="{C9DD7D8B-B3FD-4BF8-B97C-DEEB9BE868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62942" y="3522448"/>
                <a:ext cx="640080" cy="640080"/>
              </a:xfrm>
              <a:prstGeom prst="rect">
                <a:avLst/>
              </a:prstGeom>
            </p:spPr>
          </p:pic>
          <p:pic>
            <p:nvPicPr>
              <p:cNvPr id="20" name="Graphic 19">
                <a:extLst>
                  <a:ext uri="{FF2B5EF4-FFF2-40B4-BE49-F238E27FC236}">
                    <a16:creationId xmlns:a16="http://schemas.microsoft.com/office/drawing/2014/main" id="{F37F249E-E645-4DF7-A675-54A059FB1C9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62942" y="4402895"/>
                <a:ext cx="640080" cy="640080"/>
              </a:xfrm>
              <a:prstGeom prst="rect">
                <a:avLst/>
              </a:prstGeom>
            </p:spPr>
          </p:pic>
          <p:pic>
            <p:nvPicPr>
              <p:cNvPr id="21" name="Graphic 20">
                <a:extLst>
                  <a:ext uri="{FF2B5EF4-FFF2-40B4-BE49-F238E27FC236}">
                    <a16:creationId xmlns:a16="http://schemas.microsoft.com/office/drawing/2014/main" id="{7068E0E9-83EA-424F-B2B3-E262F4D05A6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9351" y="2669336"/>
                <a:ext cx="640080" cy="640080"/>
              </a:xfrm>
              <a:prstGeom prst="rect">
                <a:avLst/>
              </a:prstGeom>
            </p:spPr>
          </p:pic>
          <p:pic>
            <p:nvPicPr>
              <p:cNvPr id="22" name="Graphic 21">
                <a:extLst>
                  <a:ext uri="{FF2B5EF4-FFF2-40B4-BE49-F238E27FC236}">
                    <a16:creationId xmlns:a16="http://schemas.microsoft.com/office/drawing/2014/main" id="{4F92ABA9-BA27-4597-A442-671417FE96E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9351" y="3522448"/>
                <a:ext cx="640080" cy="640080"/>
              </a:xfrm>
              <a:prstGeom prst="rect">
                <a:avLst/>
              </a:prstGeom>
            </p:spPr>
          </p:pic>
          <p:pic>
            <p:nvPicPr>
              <p:cNvPr id="23" name="Graphic 22">
                <a:extLst>
                  <a:ext uri="{FF2B5EF4-FFF2-40B4-BE49-F238E27FC236}">
                    <a16:creationId xmlns:a16="http://schemas.microsoft.com/office/drawing/2014/main" id="{818F850C-CC60-4FE3-9CA8-CD0D539251E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9351" y="4402895"/>
                <a:ext cx="640080" cy="640080"/>
              </a:xfrm>
              <a:prstGeom prst="rect">
                <a:avLst/>
              </a:prstGeom>
            </p:spPr>
          </p:pic>
        </p:grpSp>
        <p:sp>
          <p:nvSpPr>
            <p:cNvPr id="24" name="Rectangle 23">
              <a:extLst>
                <a:ext uri="{FF2B5EF4-FFF2-40B4-BE49-F238E27FC236}">
                  <a16:creationId xmlns:a16="http://schemas.microsoft.com/office/drawing/2014/main" id="{CCF71553-7C29-49A2-8ADD-CCD33B98844A}"/>
                </a:ext>
              </a:extLst>
            </p:cNvPr>
            <p:cNvSpPr/>
            <p:nvPr/>
          </p:nvSpPr>
          <p:spPr>
            <a:xfrm>
              <a:off x="3535042" y="5249262"/>
              <a:ext cx="2135521" cy="369332"/>
            </a:xfrm>
            <a:prstGeom prst="rect">
              <a:avLst/>
            </a:prstGeom>
          </p:spPr>
          <p:txBody>
            <a:bodyPr wrap="none">
              <a:spAutoFit/>
            </a:bodyPr>
            <a:lstStyle/>
            <a:p>
              <a:pPr lvl="0" algn="ctr">
                <a:defRPr/>
              </a:pPr>
              <a:r>
                <a:rPr lang="en-US" dirty="0">
                  <a:solidFill>
                    <a:srgbClr val="232F3E"/>
                  </a:solidFill>
                  <a:ea typeface="Amazon Ember Light" panose="020B0403020204020204" pitchFamily="34" charset="0"/>
                  <a:cs typeface="Amazon Ember Light" panose="020B0403020204020204" pitchFamily="34" charset="0"/>
                </a:rPr>
                <a:t>ElastiCache cluster</a:t>
              </a:r>
            </a:p>
          </p:txBody>
        </p:sp>
      </p:grpSp>
      <p:sp>
        <p:nvSpPr>
          <p:cNvPr id="25" name="Callout: Custom color set menu">
            <a:extLst>
              <a:ext uri="{FF2B5EF4-FFF2-40B4-BE49-F238E27FC236}">
                <a16:creationId xmlns:a16="http://schemas.microsoft.com/office/drawing/2014/main" id="{D6F9AFA3-6F59-4C0C-A6D8-DD7B99DC90CF}"/>
              </a:ext>
              <a:ext uri="{C183D7F6-B498-43B3-948B-1728B52AA6E4}">
                <adec:decorative xmlns:adec="http://schemas.microsoft.com/office/drawing/2017/decorative" val="0"/>
              </a:ext>
            </a:extLst>
          </p:cNvPr>
          <p:cNvSpPr/>
          <p:nvPr/>
        </p:nvSpPr>
        <p:spPr>
          <a:xfrm flipH="1">
            <a:off x="7857034" y="2106917"/>
            <a:ext cx="3490670" cy="646331"/>
          </a:xfrm>
          <a:prstGeom prst="borderCallout2">
            <a:avLst>
              <a:gd name="adj1" fmla="val 53868"/>
              <a:gd name="adj2" fmla="val 99938"/>
              <a:gd name="adj3" fmla="val 53405"/>
              <a:gd name="adj4" fmla="val 130201"/>
              <a:gd name="adj5" fmla="val 51959"/>
              <a:gd name="adj6" fmla="val 136753"/>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dirty="0">
                <a:solidFill>
                  <a:schemeClr val="bg1"/>
                </a:solidFill>
              </a:rPr>
              <a:t>A node is the smallest block </a:t>
            </a:r>
            <a:br>
              <a:rPr lang="en-US" dirty="0">
                <a:solidFill>
                  <a:schemeClr val="bg1"/>
                </a:solidFill>
              </a:rPr>
            </a:br>
            <a:r>
              <a:rPr lang="en-US" dirty="0">
                <a:solidFill>
                  <a:schemeClr val="bg1"/>
                </a:solidFill>
              </a:rPr>
              <a:t>of an ElastiCache deployment.  </a:t>
            </a:r>
          </a:p>
        </p:txBody>
      </p:sp>
      <p:sp>
        <p:nvSpPr>
          <p:cNvPr id="26" name="Callout: Custom color set menu">
            <a:extLst>
              <a:ext uri="{FF2B5EF4-FFF2-40B4-BE49-F238E27FC236}">
                <a16:creationId xmlns:a16="http://schemas.microsoft.com/office/drawing/2014/main" id="{E211CD95-B336-4911-83D7-28B81FB19BFA}"/>
              </a:ext>
              <a:ext uri="{C183D7F6-B498-43B3-948B-1728B52AA6E4}">
                <adec:decorative xmlns:adec="http://schemas.microsoft.com/office/drawing/2017/decorative" val="0"/>
              </a:ext>
            </a:extLst>
          </p:cNvPr>
          <p:cNvSpPr/>
          <p:nvPr/>
        </p:nvSpPr>
        <p:spPr>
          <a:xfrm flipH="1">
            <a:off x="8705338" y="2871517"/>
            <a:ext cx="2642365" cy="923330"/>
          </a:xfrm>
          <a:prstGeom prst="borderCallout2">
            <a:avLst>
              <a:gd name="adj1" fmla="val 53868"/>
              <a:gd name="adj2" fmla="val 100377"/>
              <a:gd name="adj3" fmla="val 53405"/>
              <a:gd name="adj4" fmla="val 130201"/>
              <a:gd name="adj5" fmla="val 52380"/>
              <a:gd name="adj6" fmla="val 144006"/>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dirty="0">
                <a:ea typeface="Amazon Ember Light" panose="020B0403020204020204" pitchFamily="34" charset="0"/>
                <a:cs typeface="Amazon Ember Light" panose="020B0403020204020204" pitchFamily="34" charset="0"/>
              </a:rPr>
              <a:t>An ElastiCache cluster is a logical grouping of one or more nodes</a:t>
            </a:r>
            <a:r>
              <a:rPr lang="en-US" dirty="0">
                <a:solidFill>
                  <a:schemeClr val="bg1"/>
                </a:solidFill>
              </a:rPr>
              <a:t>.  </a:t>
            </a:r>
          </a:p>
        </p:txBody>
      </p:sp>
      <p:grpSp>
        <p:nvGrpSpPr>
          <p:cNvPr id="27" name="Group 26">
            <a:extLst>
              <a:ext uri="{FF2B5EF4-FFF2-40B4-BE49-F238E27FC236}">
                <a16:creationId xmlns:a16="http://schemas.microsoft.com/office/drawing/2014/main" id="{2FF3238E-0810-484F-A16C-35AB5041BDE6}"/>
              </a:ext>
            </a:extLst>
          </p:cNvPr>
          <p:cNvGrpSpPr/>
          <p:nvPr/>
        </p:nvGrpSpPr>
        <p:grpSpPr>
          <a:xfrm>
            <a:off x="7857033" y="4339977"/>
            <a:ext cx="3558803" cy="1519371"/>
            <a:chOff x="7857033" y="4339977"/>
            <a:chExt cx="3558803" cy="1519371"/>
          </a:xfrm>
        </p:grpSpPr>
        <p:sp>
          <p:nvSpPr>
            <p:cNvPr id="32" name="Rectangle 31">
              <a:extLst>
                <a:ext uri="{FF2B5EF4-FFF2-40B4-BE49-F238E27FC236}">
                  <a16:creationId xmlns:a16="http://schemas.microsoft.com/office/drawing/2014/main" id="{32959DA4-BC6D-4EBC-B8C3-4ED591E37151}"/>
                </a:ext>
              </a:extLst>
            </p:cNvPr>
            <p:cNvSpPr/>
            <p:nvPr/>
          </p:nvSpPr>
          <p:spPr>
            <a:xfrm>
              <a:off x="7857033" y="4340772"/>
              <a:ext cx="3490670" cy="1518576"/>
            </a:xfrm>
            <a:prstGeom prst="rect">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08E6050C-C4AF-4555-B005-D09FD7AFE92D}"/>
                </a:ext>
              </a:extLst>
            </p:cNvPr>
            <p:cNvSpPr/>
            <p:nvPr/>
          </p:nvSpPr>
          <p:spPr>
            <a:xfrm>
              <a:off x="7863567" y="4339977"/>
              <a:ext cx="3552269" cy="1477328"/>
            </a:xfrm>
            <a:prstGeom prst="rect">
              <a:avLst/>
            </a:prstGeom>
          </p:spPr>
          <p:txBody>
            <a:bodyPr wrap="square">
              <a:spAutoFit/>
            </a:bodyPr>
            <a:lstStyle/>
            <a:p>
              <a:pPr algn="ctr"/>
              <a:r>
                <a:rPr lang="en-US" dirty="0">
                  <a:solidFill>
                    <a:srgbClr val="232F3E"/>
                  </a:solidFill>
                </a:rPr>
                <a:t>With the Memcached engine, data is partitioned across up to 20 nodes in a cluster. With the Redis engine, you can scale up to 250 nodes.</a:t>
              </a:r>
            </a:p>
          </p:txBody>
        </p:sp>
      </p:grpSp>
    </p:spTree>
    <p:custDataLst>
      <p:tags r:id="rId1"/>
    </p:custDataLst>
    <p:extLst>
      <p:ext uri="{BB962C8B-B14F-4D97-AF65-F5344CB8AC3E}">
        <p14:creationId xmlns:p14="http://schemas.microsoft.com/office/powerpoint/2010/main" val="26306395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B49E9D4-CEB6-44EE-99F6-B9F291C96A90}"/>
              </a:ext>
            </a:extLst>
          </p:cNvPr>
          <p:cNvSpPr>
            <a:spLocks noGrp="1"/>
          </p:cNvSpPr>
          <p:nvPr>
            <p:ph type="sldNum" idx="97"/>
          </p:nvPr>
        </p:nvSpPr>
        <p:spPr/>
        <p:txBody>
          <a:bodyPr/>
          <a:lstStyle/>
          <a:p>
            <a:fld id="{4037B1B0-0345-4E15-985A-6BECCDBE474F}" type="slidenum">
              <a:rPr lang="en-US" smtClean="0"/>
              <a:pPr/>
              <a:t>33</a:t>
            </a:fld>
            <a:endParaRPr lang="en-US" dirty="0"/>
          </a:p>
        </p:txBody>
      </p:sp>
      <p:sp>
        <p:nvSpPr>
          <p:cNvPr id="3" name="Title">
            <a:extLst>
              <a:ext uri="{FF2B5EF4-FFF2-40B4-BE49-F238E27FC236}">
                <a16:creationId xmlns:a16="http://schemas.microsoft.com/office/drawing/2014/main" id="{A53579C7-2FD8-41D0-A275-794F41E84259}"/>
              </a:ext>
            </a:extLst>
          </p:cNvPr>
          <p:cNvSpPr>
            <a:spLocks noGrp="1"/>
          </p:cNvSpPr>
          <p:nvPr>
            <p:ph type="title" idx="1"/>
          </p:nvPr>
        </p:nvSpPr>
        <p:spPr/>
        <p:txBody>
          <a:bodyPr/>
          <a:lstStyle/>
          <a:p>
            <a:r>
              <a:rPr lang="en-US" dirty="0"/>
              <a:t>Time to live (TTL)</a:t>
            </a:r>
          </a:p>
        </p:txBody>
      </p:sp>
      <p:grpSp>
        <p:nvGrpSpPr>
          <p:cNvPr id="8" name="Group 7">
            <a:extLst>
              <a:ext uri="{FF2B5EF4-FFF2-40B4-BE49-F238E27FC236}">
                <a16:creationId xmlns:a16="http://schemas.microsoft.com/office/drawing/2014/main" id="{3ABCBF85-A90B-4EF4-B847-C91EEBCA58A2}"/>
              </a:ext>
              <a:ext uri="{C183D7F6-B498-43B3-948B-1728B52AA6E4}">
                <adec:decorative xmlns:adec="http://schemas.microsoft.com/office/drawing/2017/decorative" val="1"/>
              </a:ext>
            </a:extLst>
          </p:cNvPr>
          <p:cNvGrpSpPr/>
          <p:nvPr/>
        </p:nvGrpSpPr>
        <p:grpSpPr>
          <a:xfrm>
            <a:off x="531813" y="2182813"/>
            <a:ext cx="2286000" cy="2286000"/>
            <a:chOff x="531813" y="2182813"/>
            <a:chExt cx="2286000" cy="2286000"/>
          </a:xfrm>
        </p:grpSpPr>
        <p:pic>
          <p:nvPicPr>
            <p:cNvPr id="6" name="Picture Placeholder 6">
              <a:extLst>
                <a:ext uri="{FF2B5EF4-FFF2-40B4-BE49-F238E27FC236}">
                  <a16:creationId xmlns:a16="http://schemas.microsoft.com/office/drawing/2014/main" id="{73077AFC-A062-4101-BEDE-58292D38A9A6}"/>
                </a:ext>
              </a:extLst>
            </p:cNvPr>
            <p:cNvPicPr>
              <a:picLocks noChangeAspect="1"/>
            </p:cNvPicPr>
            <p:nvPr/>
          </p:nvPicPr>
          <p:blipFill>
            <a:blip r:embed="rId4">
              <a:extLst>
                <a:ext uri="{96DAC541-7B7A-43D3-8B79-37D633B846F1}">
                  <asvg:svgBlip xmlns:asvg="http://schemas.microsoft.com/office/drawing/2016/SVG/main" r:embed="rId5"/>
                </a:ext>
              </a:extLst>
            </a:blip>
            <a:srcRect/>
            <a:stretch>
              <a:fillRect/>
            </a:stretch>
          </p:blipFill>
          <p:spPr>
            <a:xfrm>
              <a:off x="531813" y="2182813"/>
              <a:ext cx="2286000" cy="2286000"/>
            </a:xfrm>
            <a:prstGeom prst="rect">
              <a:avLst/>
            </a:prstGeom>
          </p:spPr>
        </p:pic>
        <p:pic>
          <p:nvPicPr>
            <p:cNvPr id="7" name="Graphic 6">
              <a:extLst>
                <a:ext uri="{FF2B5EF4-FFF2-40B4-BE49-F238E27FC236}">
                  <a16:creationId xmlns:a16="http://schemas.microsoft.com/office/drawing/2014/main" id="{D32687D6-118F-401A-A382-47E9B1B152CF}"/>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22173" t="23912" r="22523" b="24187"/>
            <a:stretch/>
          </p:blipFill>
          <p:spPr>
            <a:xfrm>
              <a:off x="1130087" y="3176241"/>
              <a:ext cx="1089452" cy="1022421"/>
            </a:xfrm>
            <a:prstGeom prst="ellipse">
              <a:avLst/>
            </a:prstGeom>
          </p:spPr>
        </p:pic>
      </p:grpSp>
      <p:sp>
        <p:nvSpPr>
          <p:cNvPr id="5" name="Content Placeholder 5">
            <a:extLst>
              <a:ext uri="{FF2B5EF4-FFF2-40B4-BE49-F238E27FC236}">
                <a16:creationId xmlns:a16="http://schemas.microsoft.com/office/drawing/2014/main" id="{9C0E5DEA-F35B-4B2B-A937-D3B7DD3EF075}"/>
              </a:ext>
            </a:extLst>
          </p:cNvPr>
          <p:cNvSpPr txBox="1">
            <a:spLocks/>
          </p:cNvSpPr>
          <p:nvPr/>
        </p:nvSpPr>
        <p:spPr>
          <a:xfrm>
            <a:off x="3118104" y="1936376"/>
            <a:ext cx="8714232" cy="449185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0"/>
              </a:spcBef>
              <a:spcAft>
                <a:spcPts val="1200"/>
              </a:spcAft>
              <a:buFont typeface="Amazon Ember Display"/>
              <a:buChar char="•"/>
              <a:defRPr lang="en-US" sz="2800" kern="1200">
                <a:solidFill>
                  <a:srgbClr val="232F3E"/>
                </a:solidFill>
                <a:latin typeface="Amazon Ember display"/>
              </a:defRPr>
            </a:lvl1pPr>
            <a:lvl2pPr marL="457200" indent="-228600" algn="l" defTabSz="914400" rtl="0" eaLnBrk="1" latinLnBrk="0" hangingPunct="1">
              <a:lnSpc>
                <a:spcPct val="100000"/>
              </a:lnSpc>
              <a:spcBef>
                <a:spcPts val="0"/>
              </a:spcBef>
              <a:spcAft>
                <a:spcPts val="1200"/>
              </a:spcAft>
              <a:buFont typeface="Amazon Ember Display"/>
              <a:buChar char="•"/>
              <a:defRPr lang="en-US" sz="2400" kern="1200">
                <a:solidFill>
                  <a:srgbClr val="232F3E"/>
                </a:solidFill>
                <a:latin typeface="Amazon Ember display"/>
              </a:defRPr>
            </a:lvl2pPr>
            <a:lvl3pPr marL="682625" indent="-228600" algn="l" defTabSz="914400" rtl="0" eaLnBrk="1" latinLnBrk="0" hangingPunct="1">
              <a:lnSpc>
                <a:spcPct val="100000"/>
              </a:lnSpc>
              <a:spcBef>
                <a:spcPts val="0"/>
              </a:spcBef>
              <a:spcAft>
                <a:spcPts val="1200"/>
              </a:spcAft>
              <a:buFont typeface="Amazon Ember Display"/>
              <a:buChar char="•"/>
              <a:defRPr lang="en-US" sz="2000" kern="1200">
                <a:solidFill>
                  <a:srgbClr val="232F3E"/>
                </a:solidFill>
                <a:latin typeface="Amazon Ember display"/>
              </a:defRPr>
            </a:lvl3pPr>
            <a:lvl4pPr marL="914400" indent="-228600" algn="l" defTabSz="914400" rtl="0" eaLnBrk="1" latinLnBrk="0" hangingPunct="1">
              <a:lnSpc>
                <a:spcPct val="100000"/>
              </a:lnSpc>
              <a:spcBef>
                <a:spcPts val="0"/>
              </a:spcBef>
              <a:spcAft>
                <a:spcPts val="1200"/>
              </a:spcAft>
              <a:buFont typeface="Amazon Ember Display"/>
              <a:buChar char="•"/>
              <a:defRPr lang="en-US" sz="1800" kern="1200">
                <a:solidFill>
                  <a:srgbClr val="232F3E"/>
                </a:solidFill>
                <a:latin typeface="Amazon Ember display"/>
              </a:defRPr>
            </a:lvl4pPr>
            <a:lvl5pPr marL="1146175" indent="-228600" algn="l" defTabSz="914400" rtl="0" eaLnBrk="1" latinLnBrk="0" hangingPunct="1">
              <a:lnSpc>
                <a:spcPct val="100000"/>
              </a:lnSpc>
              <a:spcBef>
                <a:spcPts val="0"/>
              </a:spcBef>
              <a:spcAft>
                <a:spcPts val="1200"/>
              </a:spcAft>
              <a:buFont typeface="Amazon Ember Display"/>
              <a:buChar char="•"/>
              <a:defRPr lang="en-US" sz="1800" kern="1200">
                <a:solidFill>
                  <a:srgbClr val="232F3E"/>
                </a:solidFill>
                <a:latin typeface="Amazon Ember display"/>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r>
              <a:rPr lang="en-US" dirty="0">
                <a:latin typeface="Amazon Ember" panose="020B0603020204020204"/>
                <a:ea typeface="Amazon Ember" panose="020B0603020204020204" pitchFamily="34" charset="0"/>
                <a:cs typeface="Amazon Ember" panose="020B0603020204020204" pitchFamily="34" charset="0"/>
              </a:rPr>
              <a:t>A TTL value is added to each write. </a:t>
            </a:r>
          </a:p>
          <a:p>
            <a:r>
              <a:rPr lang="en-US" dirty="0">
                <a:latin typeface="Amazon Ember" panose="020B0603020204020204"/>
                <a:ea typeface="Amazon Ember" panose="020B0603020204020204" pitchFamily="34" charset="0"/>
                <a:cs typeface="Amazon Ember" panose="020B0603020204020204" pitchFamily="34" charset="0"/>
              </a:rPr>
              <a:t>The TTL specifies the number of seconds or milliseconds until the key expires. </a:t>
            </a:r>
          </a:p>
          <a:p>
            <a:r>
              <a:rPr lang="en-US" dirty="0">
                <a:latin typeface="Amazon Ember" panose="020B0603020204020204"/>
                <a:ea typeface="Amazon Ember" panose="020B0603020204020204" pitchFamily="34" charset="0"/>
                <a:cs typeface="Amazon Ember" panose="020B0603020204020204" pitchFamily="34" charset="0"/>
              </a:rPr>
              <a:t>After the TTL expires, the application queries the database for data.</a:t>
            </a:r>
          </a:p>
        </p:txBody>
      </p:sp>
    </p:spTree>
    <p:custDataLst>
      <p:tags r:id="rId1"/>
    </p:custDataLst>
    <p:extLst>
      <p:ext uri="{BB962C8B-B14F-4D97-AF65-F5344CB8AC3E}">
        <p14:creationId xmlns:p14="http://schemas.microsoft.com/office/powerpoint/2010/main" val="4218396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02BABD5-9C30-4CE8-8288-AAB120D2921C}"/>
              </a:ext>
            </a:extLst>
          </p:cNvPr>
          <p:cNvSpPr>
            <a:spLocks noGrp="1"/>
          </p:cNvSpPr>
          <p:nvPr>
            <p:ph type="sldNum" idx="97"/>
          </p:nvPr>
        </p:nvSpPr>
        <p:spPr/>
        <p:txBody>
          <a:bodyPr/>
          <a:lstStyle/>
          <a:p>
            <a:fld id="{4037B1B0-0345-4E15-985A-6BECCDBE474F}" type="slidenum">
              <a:rPr lang="en-US" smtClean="0"/>
              <a:pPr/>
              <a:t>34</a:t>
            </a:fld>
            <a:endParaRPr lang="en-US" dirty="0"/>
          </a:p>
        </p:txBody>
      </p:sp>
      <p:sp>
        <p:nvSpPr>
          <p:cNvPr id="3" name="Title">
            <a:extLst>
              <a:ext uri="{FF2B5EF4-FFF2-40B4-BE49-F238E27FC236}">
                <a16:creationId xmlns:a16="http://schemas.microsoft.com/office/drawing/2014/main" id="{BBFAACE3-D897-4DDA-8844-50EE0BCE322B}"/>
              </a:ext>
            </a:extLst>
          </p:cNvPr>
          <p:cNvSpPr>
            <a:spLocks noGrp="1"/>
          </p:cNvSpPr>
          <p:nvPr>
            <p:ph type="title" idx="1"/>
          </p:nvPr>
        </p:nvSpPr>
        <p:spPr/>
        <p:txBody>
          <a:bodyPr/>
          <a:lstStyle/>
          <a:p>
            <a:r>
              <a:rPr lang="en-US" dirty="0"/>
              <a:t>Strategies for handling stale data </a:t>
            </a:r>
          </a:p>
        </p:txBody>
      </p:sp>
      <p:graphicFrame>
        <p:nvGraphicFramePr>
          <p:cNvPr id="5" name="Table 1">
            <a:extLst>
              <a:ext uri="{FF2B5EF4-FFF2-40B4-BE49-F238E27FC236}">
                <a16:creationId xmlns:a16="http://schemas.microsoft.com/office/drawing/2014/main" id="{82098731-EEF5-4000-94CB-3B3E7E2E4DCE}"/>
              </a:ext>
            </a:extLst>
          </p:cNvPr>
          <p:cNvGraphicFramePr>
            <a:graphicFrameLocks noGrp="1"/>
          </p:cNvGraphicFramePr>
          <p:nvPr>
            <p:extLst>
              <p:ext uri="{D42A27DB-BD31-4B8C-83A1-F6EECF244321}">
                <p14:modId xmlns:p14="http://schemas.microsoft.com/office/powerpoint/2010/main" val="3274020156"/>
              </p:ext>
            </p:extLst>
          </p:nvPr>
        </p:nvGraphicFramePr>
        <p:xfrm>
          <a:off x="365761" y="1134736"/>
          <a:ext cx="11466575" cy="5023998"/>
        </p:xfrm>
        <a:graphic>
          <a:graphicData uri="http://schemas.openxmlformats.org/drawingml/2006/table">
            <a:tbl>
              <a:tblPr firstRow="1" firstCol="1" bandRow="1">
                <a:tableStyleId>{5C22544A-7EE6-4342-B048-85BDC9FD1C3A}</a:tableStyleId>
              </a:tblPr>
              <a:tblGrid>
                <a:gridCol w="2242009">
                  <a:extLst>
                    <a:ext uri="{9D8B030D-6E8A-4147-A177-3AD203B41FA5}">
                      <a16:colId xmlns:a16="http://schemas.microsoft.com/office/drawing/2014/main" val="20000"/>
                    </a:ext>
                  </a:extLst>
                </a:gridCol>
                <a:gridCol w="4584338">
                  <a:extLst>
                    <a:ext uri="{9D8B030D-6E8A-4147-A177-3AD203B41FA5}">
                      <a16:colId xmlns:a16="http://schemas.microsoft.com/office/drawing/2014/main" val="20001"/>
                    </a:ext>
                  </a:extLst>
                </a:gridCol>
                <a:gridCol w="4640228">
                  <a:extLst>
                    <a:ext uri="{9D8B030D-6E8A-4147-A177-3AD203B41FA5}">
                      <a16:colId xmlns:a16="http://schemas.microsoft.com/office/drawing/2014/main" val="20002"/>
                    </a:ext>
                  </a:extLst>
                </a:gridCol>
              </a:tblGrid>
              <a:tr h="774654">
                <a:tc>
                  <a:txBody>
                    <a:bodyPr/>
                    <a:lstStyle/>
                    <a:p>
                      <a:r>
                        <a:rPr lang="en-US" sz="2400" b="1" dirty="0">
                          <a:solidFill>
                            <a:schemeClr val="bg2"/>
                          </a:solidFill>
                        </a:rPr>
                        <a:t>Features</a:t>
                      </a:r>
                    </a:p>
                  </a:txBody>
                  <a:tcPr marL="150638" marR="75319" marT="37664" marB="37664" anchor="ctr"/>
                </a:tc>
                <a:tc>
                  <a:txBody>
                    <a:bodyPr/>
                    <a:lstStyle/>
                    <a:p>
                      <a:pPr algn="ctr"/>
                      <a:r>
                        <a:rPr lang="en-US" sz="2400" dirty="0"/>
                        <a:t>Lazy Loading</a:t>
                      </a:r>
                    </a:p>
                  </a:txBody>
                  <a:tcPr marL="150638" marR="75319" marT="37664" marB="37664" anchor="ctr"/>
                </a:tc>
                <a:tc>
                  <a:txBody>
                    <a:bodyPr/>
                    <a:lstStyle/>
                    <a:p>
                      <a:pPr algn="ctr"/>
                      <a:r>
                        <a:rPr lang="en-US" sz="2400" dirty="0"/>
                        <a:t>Write-Through</a:t>
                      </a:r>
                    </a:p>
                  </a:txBody>
                  <a:tcPr marL="150638" marR="75319" marT="37664" marB="37664" anchor="ctr"/>
                </a:tc>
                <a:extLst>
                  <a:ext uri="{0D108BD9-81ED-4DB2-BD59-A6C34878D82A}">
                    <a16:rowId xmlns:a16="http://schemas.microsoft.com/office/drawing/2014/main" val="10000"/>
                  </a:ext>
                </a:extLst>
              </a:tr>
              <a:tr h="1100143">
                <a:tc>
                  <a:txBody>
                    <a:bodyPr/>
                    <a:lstStyle/>
                    <a:p>
                      <a:pPr marL="0" algn="l" defTabSz="1097278" rtl="0" eaLnBrk="1" latinLnBrk="0" hangingPunct="1"/>
                      <a:r>
                        <a:rPr lang="en-US" sz="2400" kern="1200" dirty="0">
                          <a:solidFill>
                            <a:schemeClr val="bg1"/>
                          </a:solidFill>
                        </a:rPr>
                        <a:t>Caching Pattern</a:t>
                      </a:r>
                      <a:endParaRPr lang="en-US" sz="2400" kern="1200" dirty="0">
                        <a:solidFill>
                          <a:schemeClr val="bg1"/>
                        </a:solidFill>
                        <a:latin typeface="+mn-lt"/>
                        <a:ea typeface="+mn-ea"/>
                        <a:cs typeface="+mn-cs"/>
                      </a:endParaRPr>
                    </a:p>
                  </a:txBody>
                  <a:tcPr marL="150638" marR="75319" marT="37664" marB="37664" anchor="ctr"/>
                </a:tc>
                <a:tc>
                  <a:txBody>
                    <a:bodyPr/>
                    <a:lstStyle/>
                    <a:p>
                      <a:r>
                        <a:rPr lang="en-US" sz="2400" b="0" i="0" kern="1200" dirty="0">
                          <a:solidFill>
                            <a:schemeClr val="dk1"/>
                          </a:solidFill>
                          <a:effectLst/>
                          <a:latin typeface="+mn-lt"/>
                          <a:ea typeface="+mn-ea"/>
                          <a:cs typeface="+mn-cs"/>
                        </a:rPr>
                        <a:t>This strategy updates the cache after the data is requested.</a:t>
                      </a:r>
                    </a:p>
                  </a:txBody>
                  <a:tcPr marL="150638" marR="75319" marT="37664" marB="37664" anchor="ctr"/>
                </a:tc>
                <a:tc>
                  <a:txBody>
                    <a:bodyPr/>
                    <a:lstStyle/>
                    <a:p>
                      <a:r>
                        <a:rPr lang="en-US" sz="2400" b="0" i="0" kern="1200" dirty="0">
                          <a:solidFill>
                            <a:schemeClr val="dk1"/>
                          </a:solidFill>
                          <a:effectLst/>
                          <a:latin typeface="+mn-lt"/>
                          <a:ea typeface="+mn-ea"/>
                          <a:cs typeface="+mn-cs"/>
                        </a:rPr>
                        <a:t>This strategy updates the cache immediately after updating the primary database.</a:t>
                      </a:r>
                    </a:p>
                  </a:txBody>
                  <a:tcPr marL="150638" marR="75319" marT="37664" marB="37664" anchor="ctr"/>
                </a:tc>
                <a:extLst>
                  <a:ext uri="{0D108BD9-81ED-4DB2-BD59-A6C34878D82A}">
                    <a16:rowId xmlns:a16="http://schemas.microsoft.com/office/drawing/2014/main" val="10001"/>
                  </a:ext>
                </a:extLst>
              </a:tr>
              <a:tr h="1490002">
                <a:tc>
                  <a:txBody>
                    <a:bodyPr/>
                    <a:lstStyle/>
                    <a:p>
                      <a:pPr marL="0" algn="l" defTabSz="1097278" rtl="0" eaLnBrk="1" latinLnBrk="0" hangingPunct="1"/>
                      <a:r>
                        <a:rPr lang="en-US" sz="2400" kern="1200" dirty="0">
                          <a:solidFill>
                            <a:schemeClr val="bg1"/>
                          </a:solidFill>
                        </a:rPr>
                        <a:t>Advantage</a:t>
                      </a:r>
                      <a:endParaRPr lang="en-US" sz="2400" kern="1200" dirty="0">
                        <a:solidFill>
                          <a:schemeClr val="bg1"/>
                        </a:solidFill>
                        <a:latin typeface="+mn-lt"/>
                        <a:ea typeface="+mn-ea"/>
                        <a:cs typeface="+mn-cs"/>
                      </a:endParaRPr>
                    </a:p>
                  </a:txBody>
                  <a:tcPr marL="150638" marR="75319" marT="37664" marB="37664" anchor="ctr"/>
                </a:tc>
                <a:tc>
                  <a:txBody>
                    <a:bodyPr/>
                    <a:lstStyle/>
                    <a:p>
                      <a:r>
                        <a:rPr lang="en-US" sz="2400" b="0" i="0" kern="1200" dirty="0">
                          <a:solidFill>
                            <a:schemeClr val="dk1"/>
                          </a:solidFill>
                          <a:effectLst/>
                          <a:latin typeface="+mn-lt"/>
                          <a:ea typeface="+mn-ea"/>
                          <a:cs typeface="+mn-cs"/>
                        </a:rPr>
                        <a:t>The cache contains only data that the application actually requests.</a:t>
                      </a:r>
                    </a:p>
                  </a:txBody>
                  <a:tcPr marL="150638" marR="75319" marT="37664" marB="37664" anchor="ctr"/>
                </a:tc>
                <a:tc>
                  <a:txBody>
                    <a:bodyPr/>
                    <a:lstStyle/>
                    <a:p>
                      <a:r>
                        <a:rPr lang="en-US" sz="2400" b="0" i="0" kern="1200" dirty="0">
                          <a:solidFill>
                            <a:schemeClr val="dk1"/>
                          </a:solidFill>
                          <a:effectLst/>
                          <a:latin typeface="+mn-lt"/>
                          <a:ea typeface="+mn-ea"/>
                          <a:cs typeface="+mn-cs"/>
                        </a:rPr>
                        <a:t>The cache is up-to-date with the primary database (most likely data will be found in the cache).</a:t>
                      </a:r>
                    </a:p>
                  </a:txBody>
                  <a:tcPr marL="150638" marR="75319" marT="37664" marB="37664" anchor="ctr"/>
                </a:tc>
                <a:extLst>
                  <a:ext uri="{0D108BD9-81ED-4DB2-BD59-A6C34878D82A}">
                    <a16:rowId xmlns:a16="http://schemas.microsoft.com/office/drawing/2014/main" val="10003"/>
                  </a:ext>
                </a:extLst>
              </a:tr>
              <a:tr h="1100143">
                <a:tc>
                  <a:txBody>
                    <a:bodyPr/>
                    <a:lstStyle/>
                    <a:p>
                      <a:pPr marL="0" algn="l" defTabSz="1097278" rtl="0" eaLnBrk="1" latinLnBrk="0" hangingPunct="1"/>
                      <a:r>
                        <a:rPr lang="en-US" sz="2400" kern="1200" dirty="0">
                          <a:solidFill>
                            <a:schemeClr val="bg1"/>
                          </a:solidFill>
                        </a:rPr>
                        <a:t>Disadvantage</a:t>
                      </a:r>
                      <a:endParaRPr lang="en-US" sz="2400" kern="1200" dirty="0">
                        <a:solidFill>
                          <a:schemeClr val="bg1"/>
                        </a:solidFill>
                        <a:latin typeface="+mn-lt"/>
                        <a:ea typeface="+mn-ea"/>
                        <a:cs typeface="+mn-cs"/>
                      </a:endParaRPr>
                    </a:p>
                  </a:txBody>
                  <a:tcPr marL="150638" marR="75319" marT="37664" marB="37664" anchor="ctr"/>
                </a:tc>
                <a:tc>
                  <a:txBody>
                    <a:bodyPr/>
                    <a:lstStyle/>
                    <a:p>
                      <a:r>
                        <a:rPr lang="en-US" sz="2400" dirty="0"/>
                        <a:t>This strategy requires a programmatic strategy to handle keeping the cache as up to date.</a:t>
                      </a:r>
                    </a:p>
                  </a:txBody>
                  <a:tcPr marL="150638" marR="75319" marT="37664" marB="37664" anchor="ctr"/>
                </a:tc>
                <a:tc>
                  <a:txBody>
                    <a:bodyPr/>
                    <a:lstStyle/>
                    <a:p>
                      <a:r>
                        <a:rPr lang="en-US" sz="2400" dirty="0"/>
                        <a:t>This strategy results in an increase in cost from storing data in-memory that you might not use.</a:t>
                      </a:r>
                    </a:p>
                  </a:txBody>
                  <a:tcPr marL="150638" marR="75319" marT="37664" marB="37664" anchor="ctr"/>
                </a:tc>
                <a:extLst>
                  <a:ext uri="{0D108BD9-81ED-4DB2-BD59-A6C34878D82A}">
                    <a16:rowId xmlns:a16="http://schemas.microsoft.com/office/drawing/2014/main" val="2517917583"/>
                  </a:ext>
                </a:extLst>
              </a:tr>
            </a:tbl>
          </a:graphicData>
        </a:graphic>
      </p:graphicFrame>
    </p:spTree>
    <p:custDataLst>
      <p:tags r:id="rId1"/>
    </p:custDataLst>
    <p:extLst>
      <p:ext uri="{BB962C8B-B14F-4D97-AF65-F5344CB8AC3E}">
        <p14:creationId xmlns:p14="http://schemas.microsoft.com/office/powerpoint/2010/main" val="3225523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1903E23-7745-4D64-8FB1-F815DDACB9FE}"/>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B1C5279D-43ED-47C0-B263-F6226B3F25E5}"/>
              </a:ext>
            </a:extLst>
          </p:cNvPr>
          <p:cNvSpPr>
            <a:spLocks noGrp="1"/>
          </p:cNvSpPr>
          <p:nvPr>
            <p:ph type="title" idx="1"/>
          </p:nvPr>
        </p:nvSpPr>
        <p:spPr/>
        <p:txBody>
          <a:bodyPr/>
          <a:lstStyle/>
          <a:p>
            <a:r>
              <a:rPr lang="en-US" dirty="0"/>
              <a:t>Caching strategies: Lazy loading</a:t>
            </a:r>
          </a:p>
        </p:txBody>
      </p:sp>
      <p:grpSp>
        <p:nvGrpSpPr>
          <p:cNvPr id="17" name="Flatten LazyLoading" descr="Diagram showing how a user can access content by using lazy loading caching. See notes for details.">
            <a:extLst>
              <a:ext uri="{FF2B5EF4-FFF2-40B4-BE49-F238E27FC236}">
                <a16:creationId xmlns:a16="http://schemas.microsoft.com/office/drawing/2014/main" id="{208A7B71-3FFC-403C-8411-57CAC1397207}"/>
              </a:ext>
            </a:extLst>
          </p:cNvPr>
          <p:cNvGrpSpPr/>
          <p:nvPr/>
        </p:nvGrpSpPr>
        <p:grpSpPr>
          <a:xfrm>
            <a:off x="679917" y="1661030"/>
            <a:ext cx="10587772" cy="3871991"/>
            <a:chOff x="679917" y="1661030"/>
            <a:chExt cx="10587772" cy="3871991"/>
          </a:xfrm>
        </p:grpSpPr>
        <p:cxnSp>
          <p:nvCxnSpPr>
            <p:cNvPr id="30" name="Straight Arrow Connector 29">
              <a:extLst>
                <a:ext uri="{FF2B5EF4-FFF2-40B4-BE49-F238E27FC236}">
                  <a16:creationId xmlns:a16="http://schemas.microsoft.com/office/drawing/2014/main" id="{1598442B-BBE3-42FD-9888-4B3CB28EBEE4}"/>
                </a:ext>
              </a:extLst>
            </p:cNvPr>
            <p:cNvCxnSpPr>
              <a:cxnSpLocks/>
            </p:cNvCxnSpPr>
            <p:nvPr/>
          </p:nvCxnSpPr>
          <p:spPr>
            <a:xfrm flipV="1">
              <a:off x="5697199" y="2966841"/>
              <a:ext cx="4663" cy="784418"/>
            </a:xfrm>
            <a:prstGeom prst="straightConnector1">
              <a:avLst/>
            </a:prstGeom>
            <a:ln w="28575">
              <a:solidFill>
                <a:schemeClr val="tx1"/>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BF49F14-1A57-4074-BFC6-40628C0ECB1F}"/>
                </a:ext>
              </a:extLst>
            </p:cNvPr>
            <p:cNvCxnSpPr>
              <a:cxnSpLocks/>
            </p:cNvCxnSpPr>
            <p:nvPr/>
          </p:nvCxnSpPr>
          <p:spPr>
            <a:xfrm>
              <a:off x="10152994" y="4789165"/>
              <a:ext cx="0" cy="743856"/>
            </a:xfrm>
            <a:prstGeom prst="line">
              <a:avLst/>
            </a:prstGeom>
            <a:ln w="28575">
              <a:solidFill>
                <a:srgbClr val="7C5AED"/>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7D04489-10FB-47DC-941E-5C838138A119}"/>
                </a:ext>
              </a:extLst>
            </p:cNvPr>
            <p:cNvGrpSpPr/>
            <p:nvPr/>
          </p:nvGrpSpPr>
          <p:grpSpPr>
            <a:xfrm>
              <a:off x="679917" y="1661030"/>
              <a:ext cx="10587772" cy="3861481"/>
              <a:chOff x="679917" y="1661030"/>
              <a:chExt cx="10587772" cy="3861481"/>
            </a:xfrm>
          </p:grpSpPr>
          <p:sp>
            <p:nvSpPr>
              <p:cNvPr id="42" name="TextBox 41">
                <a:extLst>
                  <a:ext uri="{FF2B5EF4-FFF2-40B4-BE49-F238E27FC236}">
                    <a16:creationId xmlns:a16="http://schemas.microsoft.com/office/drawing/2014/main" id="{D4F2EEEA-17FF-405D-A892-0F73A57D7BB5}"/>
                  </a:ext>
                </a:extLst>
              </p:cNvPr>
              <p:cNvSpPr txBox="1"/>
              <p:nvPr/>
            </p:nvSpPr>
            <p:spPr>
              <a:xfrm>
                <a:off x="6737820" y="2006791"/>
                <a:ext cx="128236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2F3E"/>
                    </a:solidFill>
                    <a:effectLst/>
                    <a:uLnTx/>
                    <a:uFillTx/>
                    <a:ea typeface="+mn-ea"/>
                    <a:cs typeface="+mn-cs"/>
                  </a:rPr>
                  <a:t>If no = cache miss </a:t>
                </a:r>
              </a:p>
            </p:txBody>
          </p:sp>
          <p:grpSp>
            <p:nvGrpSpPr>
              <p:cNvPr id="7" name="Group 6">
                <a:extLst>
                  <a:ext uri="{FF2B5EF4-FFF2-40B4-BE49-F238E27FC236}">
                    <a16:creationId xmlns:a16="http://schemas.microsoft.com/office/drawing/2014/main" id="{A1970064-4D32-401E-878F-B2B4A520C574}"/>
                  </a:ext>
                </a:extLst>
              </p:cNvPr>
              <p:cNvGrpSpPr/>
              <p:nvPr/>
            </p:nvGrpSpPr>
            <p:grpSpPr>
              <a:xfrm>
                <a:off x="679917" y="1661030"/>
                <a:ext cx="10587772" cy="3861481"/>
                <a:chOff x="679917" y="1661030"/>
                <a:chExt cx="10587772" cy="3861481"/>
              </a:xfrm>
            </p:grpSpPr>
            <p:sp>
              <p:nvSpPr>
                <p:cNvPr id="13" name="TextBox 12">
                  <a:extLst>
                    <a:ext uri="{FF2B5EF4-FFF2-40B4-BE49-F238E27FC236}">
                      <a16:creationId xmlns:a16="http://schemas.microsoft.com/office/drawing/2014/main" id="{57C56A7E-C731-4441-857E-AA63AC53C389}"/>
                    </a:ext>
                  </a:extLst>
                </p:cNvPr>
                <p:cNvSpPr txBox="1"/>
                <p:nvPr/>
              </p:nvSpPr>
              <p:spPr>
                <a:xfrm>
                  <a:off x="2995448" y="3900543"/>
                  <a:ext cx="1714647"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2F3E"/>
                      </a:solidFill>
                      <a:effectLst/>
                      <a:uLnTx/>
                      <a:uFillTx/>
                      <a:ea typeface="+mn-ea"/>
                      <a:cs typeface="+mn-cs"/>
                    </a:rPr>
                    <a:t>Data request</a:t>
                  </a:r>
                </a:p>
              </p:txBody>
            </p:sp>
            <p:grpSp>
              <p:nvGrpSpPr>
                <p:cNvPr id="4" name="Group 3">
                  <a:extLst>
                    <a:ext uri="{FF2B5EF4-FFF2-40B4-BE49-F238E27FC236}">
                      <a16:creationId xmlns:a16="http://schemas.microsoft.com/office/drawing/2014/main" id="{7754B7F7-2966-41C8-A05D-F2D438C70972}"/>
                    </a:ext>
                  </a:extLst>
                </p:cNvPr>
                <p:cNvGrpSpPr/>
                <p:nvPr/>
              </p:nvGrpSpPr>
              <p:grpSpPr>
                <a:xfrm>
                  <a:off x="679917" y="1661030"/>
                  <a:ext cx="10587772" cy="3861481"/>
                  <a:chOff x="679917" y="1661030"/>
                  <a:chExt cx="10587772" cy="3861481"/>
                </a:xfrm>
              </p:grpSpPr>
              <p:grpSp>
                <p:nvGrpSpPr>
                  <p:cNvPr id="11" name="Group 10">
                    <a:extLst>
                      <a:ext uri="{FF2B5EF4-FFF2-40B4-BE49-F238E27FC236}">
                        <a16:creationId xmlns:a16="http://schemas.microsoft.com/office/drawing/2014/main" id="{F2F2655C-5E01-4117-948F-41FF54AE8254}"/>
                      </a:ext>
                    </a:extLst>
                  </p:cNvPr>
                  <p:cNvGrpSpPr/>
                  <p:nvPr/>
                </p:nvGrpSpPr>
                <p:grpSpPr>
                  <a:xfrm>
                    <a:off x="679917" y="1661030"/>
                    <a:ext cx="10587772" cy="3861481"/>
                    <a:chOff x="679917" y="1661030"/>
                    <a:chExt cx="10587772" cy="3861481"/>
                  </a:xfrm>
                </p:grpSpPr>
                <p:grpSp>
                  <p:nvGrpSpPr>
                    <p:cNvPr id="8" name="Group 7">
                      <a:extLst>
                        <a:ext uri="{FF2B5EF4-FFF2-40B4-BE49-F238E27FC236}">
                          <a16:creationId xmlns:a16="http://schemas.microsoft.com/office/drawing/2014/main" id="{40FC30A5-0455-463A-8196-43E958EE6472}"/>
                        </a:ext>
                      </a:extLst>
                    </p:cNvPr>
                    <p:cNvGrpSpPr/>
                    <p:nvPr/>
                  </p:nvGrpSpPr>
                  <p:grpSpPr>
                    <a:xfrm>
                      <a:off x="1460937" y="1661030"/>
                      <a:ext cx="9806752" cy="3861481"/>
                      <a:chOff x="1460937" y="1661030"/>
                      <a:chExt cx="9806752" cy="3861481"/>
                    </a:xfrm>
                  </p:grpSpPr>
                  <p:sp>
                    <p:nvSpPr>
                      <p:cNvPr id="5" name="TextBox 17">
                        <a:extLst>
                          <a:ext uri="{FF2B5EF4-FFF2-40B4-BE49-F238E27FC236}">
                            <a16:creationId xmlns:a16="http://schemas.microsoft.com/office/drawing/2014/main" id="{78E30774-4EE2-4938-94D3-FBFE271EAFD7}"/>
                          </a:ext>
                        </a:extLst>
                      </p:cNvPr>
                      <p:cNvSpPr txBox="1">
                        <a:spLocks noChangeArrowheads="1"/>
                      </p:cNvSpPr>
                      <p:nvPr/>
                    </p:nvSpPr>
                    <p:spPr bwMode="auto">
                      <a:xfrm>
                        <a:off x="4364075" y="4789165"/>
                        <a:ext cx="26662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32F3E"/>
                            </a:solidFill>
                            <a:effectLst/>
                            <a:uLnTx/>
                            <a:uFillTx/>
                            <a:latin typeface="+mn-lt"/>
                            <a:ea typeface="+mn-ea"/>
                            <a:cs typeface="+mn-cs"/>
                          </a:rPr>
                          <a:t>Cache node</a:t>
                        </a:r>
                      </a:p>
                    </p:txBody>
                  </p:sp>
                  <p:pic>
                    <p:nvPicPr>
                      <p:cNvPr id="6" name="Graphic 5">
                        <a:extLst>
                          <a:ext uri="{FF2B5EF4-FFF2-40B4-BE49-F238E27FC236}">
                            <a16:creationId xmlns:a16="http://schemas.microsoft.com/office/drawing/2014/main" id="{477C22A7-21F7-47EA-BD81-D776E05989A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18538" y="3712184"/>
                        <a:ext cx="1157322" cy="1157322"/>
                      </a:xfrm>
                      <a:prstGeom prst="rect">
                        <a:avLst/>
                      </a:prstGeom>
                    </p:spPr>
                  </p:pic>
                  <p:sp>
                    <p:nvSpPr>
                      <p:cNvPr id="10" name="TextBox 9">
                        <a:extLst>
                          <a:ext uri="{FF2B5EF4-FFF2-40B4-BE49-F238E27FC236}">
                            <a16:creationId xmlns:a16="http://schemas.microsoft.com/office/drawing/2014/main" id="{B58EE560-9C09-4C46-AF60-E44076023F46}"/>
                          </a:ext>
                        </a:extLst>
                      </p:cNvPr>
                      <p:cNvSpPr txBox="1"/>
                      <p:nvPr/>
                    </p:nvSpPr>
                    <p:spPr>
                      <a:xfrm>
                        <a:off x="8996989" y="4494499"/>
                        <a:ext cx="2270700"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2F3E"/>
                            </a:solidFill>
                            <a:effectLst/>
                            <a:uLnTx/>
                            <a:uFillTx/>
                            <a:ea typeface="+mn-ea"/>
                            <a:cs typeface="+mn-cs"/>
                          </a:rPr>
                          <a:t>Database</a:t>
                        </a:r>
                      </a:p>
                    </p:txBody>
                  </p:sp>
                  <p:sp>
                    <p:nvSpPr>
                      <p:cNvPr id="14" name="Freeform 60">
                        <a:extLst>
                          <a:ext uri="{FF2B5EF4-FFF2-40B4-BE49-F238E27FC236}">
                            <a16:creationId xmlns:a16="http://schemas.microsoft.com/office/drawing/2014/main" id="{A4F5FF36-4FB3-492B-A61E-024291CCE177}"/>
                          </a:ext>
                        </a:extLst>
                      </p:cNvPr>
                      <p:cNvSpPr/>
                      <p:nvPr/>
                    </p:nvSpPr>
                    <p:spPr>
                      <a:xfrm rot="5400000" flipH="1" flipV="1">
                        <a:off x="2298370" y="1451237"/>
                        <a:ext cx="1395654" cy="3070520"/>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28575">
                        <a:solidFill>
                          <a:srgbClr val="7C5AED"/>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w="28575">
                            <a:solidFill>
                              <a:prstClr val="black"/>
                            </a:solidFill>
                          </a:ln>
                          <a:solidFill>
                            <a:prstClr val="white"/>
                          </a:solidFill>
                          <a:effectLst/>
                          <a:uLnTx/>
                          <a:uFillTx/>
                          <a:ea typeface="+mn-ea"/>
                          <a:cs typeface="+mn-cs"/>
                        </a:endParaRPr>
                      </a:p>
                    </p:txBody>
                  </p:sp>
                  <p:sp>
                    <p:nvSpPr>
                      <p:cNvPr id="15" name="Flowchart: Decision 14">
                        <a:extLst>
                          <a:ext uri="{FF2B5EF4-FFF2-40B4-BE49-F238E27FC236}">
                            <a16:creationId xmlns:a16="http://schemas.microsoft.com/office/drawing/2014/main" id="{A9EE4727-1A5A-4ECB-9AE7-FDD5E579203A}"/>
                          </a:ext>
                        </a:extLst>
                      </p:cNvPr>
                      <p:cNvSpPr/>
                      <p:nvPr/>
                    </p:nvSpPr>
                    <p:spPr>
                      <a:xfrm>
                        <a:off x="4531457" y="1661030"/>
                        <a:ext cx="2331481" cy="1276301"/>
                      </a:xfrm>
                      <a:prstGeom prst="flowChartDecision">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2F3E"/>
                            </a:solidFill>
                            <a:effectLst/>
                            <a:uLnTx/>
                            <a:uFillTx/>
                            <a:ea typeface="+mn-ea"/>
                            <a:cs typeface="+mn-cs"/>
                          </a:rPr>
                          <a:t>Requested data in the cache?</a:t>
                        </a:r>
                      </a:p>
                    </p:txBody>
                  </p:sp>
                  <p:sp>
                    <p:nvSpPr>
                      <p:cNvPr id="16" name="TextBox 15">
                        <a:extLst>
                          <a:ext uri="{FF2B5EF4-FFF2-40B4-BE49-F238E27FC236}">
                            <a16:creationId xmlns:a16="http://schemas.microsoft.com/office/drawing/2014/main" id="{FF9E07E7-ADCB-49D2-99B6-536260FDDEB2}"/>
                          </a:ext>
                        </a:extLst>
                      </p:cNvPr>
                      <p:cNvSpPr txBox="1"/>
                      <p:nvPr/>
                    </p:nvSpPr>
                    <p:spPr>
                      <a:xfrm>
                        <a:off x="3396108" y="1993686"/>
                        <a:ext cx="128236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32F3E"/>
                            </a:solidFill>
                            <a:effectLst/>
                            <a:uLnTx/>
                            <a:uFillTx/>
                            <a:ea typeface="+mn-ea"/>
                            <a:cs typeface="+mn-cs"/>
                          </a:rPr>
                          <a:t>If yes = cache hit </a:t>
                        </a:r>
                      </a:p>
                    </p:txBody>
                  </p:sp>
                  <p:sp>
                    <p:nvSpPr>
                      <p:cNvPr id="22" name="Freeform 60">
                        <a:extLst>
                          <a:ext uri="{FF2B5EF4-FFF2-40B4-BE49-F238E27FC236}">
                            <a16:creationId xmlns:a16="http://schemas.microsoft.com/office/drawing/2014/main" id="{64C43760-0063-433C-A3FB-B002FAB1B7E5}"/>
                          </a:ext>
                        </a:extLst>
                      </p:cNvPr>
                      <p:cNvSpPr/>
                      <p:nvPr/>
                    </p:nvSpPr>
                    <p:spPr>
                      <a:xfrm rot="5400000" flipH="1">
                        <a:off x="7804884" y="1357234"/>
                        <a:ext cx="1395654" cy="3279545"/>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28575">
                        <a:solidFill>
                          <a:srgbClr val="1DB893"/>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w="28575">
                            <a:solidFill>
                              <a:srgbClr val="FFFFFF"/>
                            </a:solidFill>
                          </a:ln>
                          <a:solidFill>
                            <a:prstClr val="white"/>
                          </a:solidFill>
                          <a:effectLst/>
                          <a:uLnTx/>
                          <a:uFillTx/>
                          <a:ea typeface="+mn-ea"/>
                          <a:cs typeface="+mn-cs"/>
                        </a:endParaRPr>
                      </a:p>
                    </p:txBody>
                  </p:sp>
                  <p:cxnSp>
                    <p:nvCxnSpPr>
                      <p:cNvPr id="27" name="Straight Arrow Connector 26">
                        <a:extLst>
                          <a:ext uri="{FF2B5EF4-FFF2-40B4-BE49-F238E27FC236}">
                            <a16:creationId xmlns:a16="http://schemas.microsoft.com/office/drawing/2014/main" id="{0BC3B3BB-FDF2-49FC-8E77-9128483B04B9}"/>
                          </a:ext>
                        </a:extLst>
                      </p:cNvPr>
                      <p:cNvCxnSpPr>
                        <a:cxnSpLocks/>
                      </p:cNvCxnSpPr>
                      <p:nvPr/>
                    </p:nvCxnSpPr>
                    <p:spPr>
                      <a:xfrm>
                        <a:off x="1827339" y="4194941"/>
                        <a:ext cx="3333242" cy="0"/>
                      </a:xfrm>
                      <a:prstGeom prst="straightConnector1">
                        <a:avLst/>
                      </a:prstGeom>
                      <a:ln w="28575">
                        <a:solidFill>
                          <a:srgbClr val="1DB893"/>
                        </a:solidFill>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8FC01A8D-264C-48EF-A6C7-AE56AA7AD1AF}"/>
                          </a:ext>
                          <a:ext uri="{C183D7F6-B498-43B3-948B-1728B52AA6E4}">
                            <adec:decorative xmlns:adec="http://schemas.microsoft.com/office/drawing/2017/decorative" val="1"/>
                          </a:ext>
                        </a:extLst>
                      </p:cNvPr>
                      <p:cNvSpPr>
                        <a:spLocks noChangeAspect="1"/>
                      </p:cNvSpPr>
                      <p:nvPr/>
                    </p:nvSpPr>
                    <p:spPr>
                      <a:xfrm>
                        <a:off x="2644224" y="3966341"/>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1</a:t>
                        </a:r>
                      </a:p>
                    </p:txBody>
                  </p:sp>
                  <p:sp>
                    <p:nvSpPr>
                      <p:cNvPr id="34" name="Oval 33">
                        <a:extLst>
                          <a:ext uri="{FF2B5EF4-FFF2-40B4-BE49-F238E27FC236}">
                            <a16:creationId xmlns:a16="http://schemas.microsoft.com/office/drawing/2014/main" id="{587548A3-25CA-4734-A46B-82D923723E40}"/>
                          </a:ext>
                          <a:ext uri="{C183D7F6-B498-43B3-948B-1728B52AA6E4}">
                            <adec:decorative xmlns:adec="http://schemas.microsoft.com/office/drawing/2017/decorative" val="1"/>
                          </a:ext>
                        </a:extLst>
                      </p:cNvPr>
                      <p:cNvSpPr>
                        <a:spLocks noChangeAspect="1"/>
                      </p:cNvSpPr>
                      <p:nvPr/>
                    </p:nvSpPr>
                    <p:spPr>
                      <a:xfrm>
                        <a:off x="2861268" y="2060069"/>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2a</a:t>
                        </a:r>
                      </a:p>
                    </p:txBody>
                  </p:sp>
                  <p:sp>
                    <p:nvSpPr>
                      <p:cNvPr id="35" name="Oval 34">
                        <a:extLst>
                          <a:ext uri="{FF2B5EF4-FFF2-40B4-BE49-F238E27FC236}">
                            <a16:creationId xmlns:a16="http://schemas.microsoft.com/office/drawing/2014/main" id="{FF8A4F13-3CE6-451D-AA25-A7F33DA20CFB}"/>
                          </a:ext>
                          <a:ext uri="{C183D7F6-B498-43B3-948B-1728B52AA6E4}">
                            <adec:decorative xmlns:adec="http://schemas.microsoft.com/office/drawing/2017/decorative" val="1"/>
                          </a:ext>
                        </a:extLst>
                      </p:cNvPr>
                      <p:cNvSpPr>
                        <a:spLocks noChangeAspect="1"/>
                      </p:cNvSpPr>
                      <p:nvPr/>
                    </p:nvSpPr>
                    <p:spPr>
                      <a:xfrm>
                        <a:off x="8072381" y="2012660"/>
                        <a:ext cx="477851" cy="477851"/>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2b</a:t>
                        </a:r>
                      </a:p>
                    </p:txBody>
                  </p:sp>
                  <p:sp>
                    <p:nvSpPr>
                      <p:cNvPr id="37" name="Freeform 60">
                        <a:extLst>
                          <a:ext uri="{FF2B5EF4-FFF2-40B4-BE49-F238E27FC236}">
                            <a16:creationId xmlns:a16="http://schemas.microsoft.com/office/drawing/2014/main" id="{C3936D92-0600-4FFF-A723-F1094A7B6202}"/>
                          </a:ext>
                        </a:extLst>
                      </p:cNvPr>
                      <p:cNvSpPr/>
                      <p:nvPr/>
                    </p:nvSpPr>
                    <p:spPr>
                      <a:xfrm rot="5400000" flipV="1">
                        <a:off x="5435040" y="815065"/>
                        <a:ext cx="733344" cy="8681548"/>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28575">
                        <a:solidFill>
                          <a:srgbClr val="7C5AED"/>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w="28575">
                            <a:solidFill>
                              <a:prstClr val="black"/>
                            </a:solidFill>
                          </a:ln>
                          <a:solidFill>
                            <a:prstClr val="white"/>
                          </a:solidFill>
                          <a:effectLst/>
                          <a:uLnTx/>
                          <a:uFillTx/>
                          <a:ea typeface="+mn-ea"/>
                          <a:cs typeface="+mn-cs"/>
                        </a:endParaRPr>
                      </a:p>
                    </p:txBody>
                  </p:sp>
                  <p:cxnSp>
                    <p:nvCxnSpPr>
                      <p:cNvPr id="40" name="Straight Arrow Connector 39">
                        <a:extLst>
                          <a:ext uri="{FF2B5EF4-FFF2-40B4-BE49-F238E27FC236}">
                            <a16:creationId xmlns:a16="http://schemas.microsoft.com/office/drawing/2014/main" id="{9652B4D9-AEBF-430F-BD84-463527166217}"/>
                          </a:ext>
                        </a:extLst>
                      </p:cNvPr>
                      <p:cNvCxnSpPr>
                        <a:cxnSpLocks/>
                      </p:cNvCxnSpPr>
                      <p:nvPr/>
                    </p:nvCxnSpPr>
                    <p:spPr>
                      <a:xfrm flipH="1">
                        <a:off x="6190278" y="4206409"/>
                        <a:ext cx="3668946" cy="0"/>
                      </a:xfrm>
                      <a:prstGeom prst="straightConnector1">
                        <a:avLst/>
                      </a:prstGeom>
                      <a:ln w="28575">
                        <a:solidFill>
                          <a:srgbClr val="7C5AED"/>
                        </a:solidFill>
                        <a:prstDash val="solid"/>
                        <a:headEnd type="none" w="med" len="sm"/>
                        <a:tailEnd type="arrow" w="med" len="sm"/>
                      </a:ln>
                    </p:spPr>
                    <p:style>
                      <a:lnRef idx="1">
                        <a:schemeClr val="accent1"/>
                      </a:lnRef>
                      <a:fillRef idx="0">
                        <a:schemeClr val="accent1"/>
                      </a:fillRef>
                      <a:effectRef idx="0">
                        <a:schemeClr val="accent1"/>
                      </a:effectRef>
                      <a:fontRef idx="minor">
                        <a:schemeClr val="tx1"/>
                      </a:fontRef>
                    </p:style>
                  </p:cxnSp>
                  <p:sp>
                    <p:nvSpPr>
                      <p:cNvPr id="43" name="TextBox 17">
                        <a:extLst>
                          <a:ext uri="{FF2B5EF4-FFF2-40B4-BE49-F238E27FC236}">
                            <a16:creationId xmlns:a16="http://schemas.microsoft.com/office/drawing/2014/main" id="{E58AAFD4-3069-4344-92D7-5A98497D9D52}"/>
                          </a:ext>
                        </a:extLst>
                      </p:cNvPr>
                      <p:cNvSpPr txBox="1">
                        <a:spLocks noChangeArrowheads="1"/>
                      </p:cNvSpPr>
                      <p:nvPr/>
                    </p:nvSpPr>
                    <p:spPr bwMode="auto">
                      <a:xfrm>
                        <a:off x="6664333" y="3900543"/>
                        <a:ext cx="26662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srgbClr val="232F3E"/>
                            </a:solidFill>
                            <a:effectLst/>
                            <a:uLnTx/>
                            <a:uFillTx/>
                            <a:latin typeface="+mn-lt"/>
                            <a:ea typeface="+mn-ea"/>
                            <a:cs typeface="+mn-cs"/>
                          </a:rPr>
                          <a:t>Data copied to the cache for future requests</a:t>
                        </a:r>
                      </a:p>
                    </p:txBody>
                  </p:sp>
                  <p:pic>
                    <p:nvPicPr>
                      <p:cNvPr id="33" name="Graphic 32">
                        <a:extLst>
                          <a:ext uri="{FF2B5EF4-FFF2-40B4-BE49-F238E27FC236}">
                            <a16:creationId xmlns:a16="http://schemas.microsoft.com/office/drawing/2014/main" id="{32DA6C0C-CD5E-4D9B-A0FA-824A3B5920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96186" y="3656650"/>
                        <a:ext cx="913615" cy="913615"/>
                      </a:xfrm>
                      <a:prstGeom prst="rect">
                        <a:avLst/>
                      </a:prstGeom>
                    </p:spPr>
                  </p:pic>
                </p:grpSp>
                <p:sp>
                  <p:nvSpPr>
                    <p:cNvPr id="46" name="TextBox 45">
                      <a:extLst>
                        <a:ext uri="{FF2B5EF4-FFF2-40B4-BE49-F238E27FC236}">
                          <a16:creationId xmlns:a16="http://schemas.microsoft.com/office/drawing/2014/main" id="{8906B876-4278-4F3D-89BE-1214AA1FE75C}"/>
                        </a:ext>
                      </a:extLst>
                    </p:cNvPr>
                    <p:cNvSpPr txBox="1"/>
                    <p:nvPr/>
                  </p:nvSpPr>
                  <p:spPr>
                    <a:xfrm>
                      <a:off x="679917" y="4411963"/>
                      <a:ext cx="176008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232F3E"/>
                          </a:solidFill>
                        </a:rPr>
                        <a:t>User application </a:t>
                      </a:r>
                    </a:p>
                  </p:txBody>
                </p:sp>
              </p:grpSp>
              <p:pic>
                <p:nvPicPr>
                  <p:cNvPr id="48" name="Graphic 8">
                    <a:extLst>
                      <a:ext uri="{FF2B5EF4-FFF2-40B4-BE49-F238E27FC236}">
                        <a16:creationId xmlns:a16="http://schemas.microsoft.com/office/drawing/2014/main" id="{5699AC0A-3415-4E41-A005-A9BBD7B36DAB}"/>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1120792" y="3662858"/>
                    <a:ext cx="784419" cy="784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grpSp>
      <p:sp>
        <p:nvSpPr>
          <p:cNvPr id="36" name="Callout: Custom color set menu">
            <a:extLst>
              <a:ext uri="{FF2B5EF4-FFF2-40B4-BE49-F238E27FC236}">
                <a16:creationId xmlns:a16="http://schemas.microsoft.com/office/drawing/2014/main" id="{7C84AF58-3214-4E6B-883D-99D4637D5792}"/>
              </a:ext>
              <a:ext uri="{C183D7F6-B498-43B3-948B-1728B52AA6E4}">
                <adec:decorative xmlns:adec="http://schemas.microsoft.com/office/drawing/2017/decorative" val="0"/>
              </a:ext>
            </a:extLst>
          </p:cNvPr>
          <p:cNvSpPr/>
          <p:nvPr/>
        </p:nvSpPr>
        <p:spPr>
          <a:xfrm>
            <a:off x="273631" y="1289327"/>
            <a:ext cx="1536706" cy="923330"/>
          </a:xfrm>
          <a:prstGeom prst="borderCallout2">
            <a:avLst>
              <a:gd name="adj1" fmla="val 102564"/>
              <a:gd name="adj2" fmla="val 50636"/>
              <a:gd name="adj3" fmla="val 173718"/>
              <a:gd name="adj4" fmla="val 50096"/>
              <a:gd name="adj5" fmla="val 173901"/>
              <a:gd name="adj6" fmla="val 77609"/>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dirty="0">
                <a:solidFill>
                  <a:schemeClr val="bg1"/>
                </a:solidFill>
              </a:rPr>
              <a:t>Lower latency response to the requester</a:t>
            </a:r>
          </a:p>
        </p:txBody>
      </p:sp>
      <p:sp>
        <p:nvSpPr>
          <p:cNvPr id="44" name="Callout: Custom color set menu">
            <a:extLst>
              <a:ext uri="{FF2B5EF4-FFF2-40B4-BE49-F238E27FC236}">
                <a16:creationId xmlns:a16="http://schemas.microsoft.com/office/drawing/2014/main" id="{903D6CA4-4B3A-4B53-89B1-AAEAEDCD668D}"/>
              </a:ext>
              <a:ext uri="{C183D7F6-B498-43B3-948B-1728B52AA6E4}">
                <adec:decorative xmlns:adec="http://schemas.microsoft.com/office/drawing/2017/decorative" val="0"/>
              </a:ext>
            </a:extLst>
          </p:cNvPr>
          <p:cNvSpPr/>
          <p:nvPr/>
        </p:nvSpPr>
        <p:spPr>
          <a:xfrm>
            <a:off x="10653058" y="2574727"/>
            <a:ext cx="1311798" cy="1200329"/>
          </a:xfrm>
          <a:prstGeom prst="borderCallout2">
            <a:avLst>
              <a:gd name="adj1" fmla="val 102564"/>
              <a:gd name="adj2" fmla="val 50636"/>
              <a:gd name="adj3" fmla="val 173718"/>
              <a:gd name="adj4" fmla="val 51464"/>
              <a:gd name="adj5" fmla="val 173740"/>
              <a:gd name="adj6" fmla="val -7243"/>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dirty="0">
                <a:solidFill>
                  <a:schemeClr val="bg1"/>
                </a:solidFill>
              </a:rPr>
              <a:t>Reduced load on the primary database</a:t>
            </a:r>
          </a:p>
        </p:txBody>
      </p:sp>
    </p:spTree>
    <p:custDataLst>
      <p:tags r:id="rId1"/>
    </p:custDataLst>
    <p:extLst>
      <p:ext uri="{BB962C8B-B14F-4D97-AF65-F5344CB8AC3E}">
        <p14:creationId xmlns:p14="http://schemas.microsoft.com/office/powerpoint/2010/main" val="3290506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11903E23-7745-4D64-8FB1-F815DDACB9FE}"/>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B1C5279D-43ED-47C0-B263-F6226B3F25E5}"/>
              </a:ext>
            </a:extLst>
          </p:cNvPr>
          <p:cNvSpPr>
            <a:spLocks noGrp="1"/>
          </p:cNvSpPr>
          <p:nvPr>
            <p:ph type="title" idx="1"/>
          </p:nvPr>
        </p:nvSpPr>
        <p:spPr/>
        <p:txBody>
          <a:bodyPr>
            <a:normAutofit/>
          </a:bodyPr>
          <a:lstStyle/>
          <a:p>
            <a:r>
              <a:rPr lang="en-US" dirty="0"/>
              <a:t>Caching strategies: Write-through</a:t>
            </a:r>
          </a:p>
        </p:txBody>
      </p:sp>
      <p:grpSp>
        <p:nvGrpSpPr>
          <p:cNvPr id="15" name="Flatten WriteThrough" descr="Diagram showing how content gets cached by using the write-through strategy.  See notes for details.">
            <a:extLst>
              <a:ext uri="{FF2B5EF4-FFF2-40B4-BE49-F238E27FC236}">
                <a16:creationId xmlns:a16="http://schemas.microsoft.com/office/drawing/2014/main" id="{C5F2006C-3FAE-4FA4-AC8B-B524CEBA2573}"/>
              </a:ext>
            </a:extLst>
          </p:cNvPr>
          <p:cNvGrpSpPr/>
          <p:nvPr/>
        </p:nvGrpSpPr>
        <p:grpSpPr>
          <a:xfrm>
            <a:off x="718357" y="2546290"/>
            <a:ext cx="10871663" cy="2387010"/>
            <a:chOff x="718357" y="3299022"/>
            <a:chExt cx="10871663" cy="2387010"/>
          </a:xfrm>
        </p:grpSpPr>
        <p:grpSp>
          <p:nvGrpSpPr>
            <p:cNvPr id="8" name="Group 7">
              <a:extLst>
                <a:ext uri="{FF2B5EF4-FFF2-40B4-BE49-F238E27FC236}">
                  <a16:creationId xmlns:a16="http://schemas.microsoft.com/office/drawing/2014/main" id="{0CBEBAE5-C1FC-44DD-8C8D-2D11604A31AA}"/>
                </a:ext>
              </a:extLst>
            </p:cNvPr>
            <p:cNvGrpSpPr/>
            <p:nvPr/>
          </p:nvGrpSpPr>
          <p:grpSpPr>
            <a:xfrm>
              <a:off x="718357" y="3299022"/>
              <a:ext cx="10871663" cy="2387010"/>
              <a:chOff x="263937" y="3620133"/>
              <a:chExt cx="10871663" cy="2387010"/>
            </a:xfrm>
          </p:grpSpPr>
          <p:grpSp>
            <p:nvGrpSpPr>
              <p:cNvPr id="4" name="Group 3">
                <a:extLst>
                  <a:ext uri="{FF2B5EF4-FFF2-40B4-BE49-F238E27FC236}">
                    <a16:creationId xmlns:a16="http://schemas.microsoft.com/office/drawing/2014/main" id="{352FD6E8-7705-4F0E-9209-F3C6BF05B3FC}"/>
                  </a:ext>
                </a:extLst>
              </p:cNvPr>
              <p:cNvGrpSpPr/>
              <p:nvPr/>
            </p:nvGrpSpPr>
            <p:grpSpPr>
              <a:xfrm>
                <a:off x="263937" y="3620133"/>
                <a:ext cx="10871663" cy="2195966"/>
                <a:chOff x="263937" y="3620133"/>
                <a:chExt cx="10871663" cy="2195966"/>
              </a:xfrm>
            </p:grpSpPr>
            <p:sp>
              <p:nvSpPr>
                <p:cNvPr id="10" name="TextBox 9">
                  <a:extLst>
                    <a:ext uri="{FF2B5EF4-FFF2-40B4-BE49-F238E27FC236}">
                      <a16:creationId xmlns:a16="http://schemas.microsoft.com/office/drawing/2014/main" id="{B58EE560-9C09-4C46-AF60-E44076023F46}"/>
                    </a:ext>
                  </a:extLst>
                </p:cNvPr>
                <p:cNvSpPr txBox="1"/>
                <p:nvPr/>
              </p:nvSpPr>
              <p:spPr>
                <a:xfrm>
                  <a:off x="8864900" y="4716540"/>
                  <a:ext cx="22707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32F3E"/>
                      </a:solidFill>
                      <a:effectLst/>
                      <a:uLnTx/>
                      <a:uFillTx/>
                      <a:latin typeface="Amazon Ember display"/>
                      <a:ea typeface="+mn-ea"/>
                      <a:cs typeface="+mn-cs"/>
                    </a:rPr>
                    <a:t>Database</a:t>
                  </a:r>
                </a:p>
              </p:txBody>
            </p:sp>
            <p:grpSp>
              <p:nvGrpSpPr>
                <p:cNvPr id="58" name="Group 57">
                  <a:extLst>
                    <a:ext uri="{FF2B5EF4-FFF2-40B4-BE49-F238E27FC236}">
                      <a16:creationId xmlns:a16="http://schemas.microsoft.com/office/drawing/2014/main" id="{E2D6D162-2D4E-4101-B94A-26A91286454E}"/>
                    </a:ext>
                  </a:extLst>
                </p:cNvPr>
                <p:cNvGrpSpPr/>
                <p:nvPr/>
              </p:nvGrpSpPr>
              <p:grpSpPr>
                <a:xfrm>
                  <a:off x="263937" y="3620133"/>
                  <a:ext cx="10328072" cy="2195966"/>
                  <a:chOff x="263937" y="3620133"/>
                  <a:chExt cx="10328072" cy="2195966"/>
                </a:xfrm>
              </p:grpSpPr>
              <p:sp>
                <p:nvSpPr>
                  <p:cNvPr id="9" name="TextBox 8">
                    <a:extLst>
                      <a:ext uri="{FF2B5EF4-FFF2-40B4-BE49-F238E27FC236}">
                        <a16:creationId xmlns:a16="http://schemas.microsoft.com/office/drawing/2014/main" id="{3C5A0C0E-E520-4510-8392-20B9C1C8B233}"/>
                      </a:ext>
                    </a:extLst>
                  </p:cNvPr>
                  <p:cNvSpPr txBox="1"/>
                  <p:nvPr/>
                </p:nvSpPr>
                <p:spPr>
                  <a:xfrm>
                    <a:off x="263937" y="4668210"/>
                    <a:ext cx="22707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32F3E"/>
                        </a:solidFill>
                        <a:effectLst/>
                        <a:uLnTx/>
                        <a:uFillTx/>
                        <a:latin typeface="Amazon Ember display"/>
                        <a:ea typeface="+mn-ea"/>
                        <a:cs typeface="+mn-cs"/>
                      </a:rPr>
                      <a:t>User application </a:t>
                    </a:r>
                  </a:p>
                </p:txBody>
              </p:sp>
              <p:grpSp>
                <p:nvGrpSpPr>
                  <p:cNvPr id="57" name="Group 56">
                    <a:extLst>
                      <a:ext uri="{FF2B5EF4-FFF2-40B4-BE49-F238E27FC236}">
                        <a16:creationId xmlns:a16="http://schemas.microsoft.com/office/drawing/2014/main" id="{956D0D7A-1AA2-471A-876A-26B3877FC112}"/>
                      </a:ext>
                    </a:extLst>
                  </p:cNvPr>
                  <p:cNvGrpSpPr/>
                  <p:nvPr/>
                </p:nvGrpSpPr>
                <p:grpSpPr>
                  <a:xfrm>
                    <a:off x="893362" y="3620133"/>
                    <a:ext cx="9698647" cy="2195966"/>
                    <a:chOff x="893362" y="3620133"/>
                    <a:chExt cx="9698647" cy="2195966"/>
                  </a:xfrm>
                </p:grpSpPr>
                <p:sp>
                  <p:nvSpPr>
                    <p:cNvPr id="5" name="TextBox 17">
                      <a:extLst>
                        <a:ext uri="{FF2B5EF4-FFF2-40B4-BE49-F238E27FC236}">
                          <a16:creationId xmlns:a16="http://schemas.microsoft.com/office/drawing/2014/main" id="{78E30774-4EE2-4938-94D3-FBFE271EAFD7}"/>
                        </a:ext>
                      </a:extLst>
                    </p:cNvPr>
                    <p:cNvSpPr txBox="1">
                      <a:spLocks noChangeArrowheads="1"/>
                    </p:cNvSpPr>
                    <p:nvPr/>
                  </p:nvSpPr>
                  <p:spPr bwMode="auto">
                    <a:xfrm>
                      <a:off x="4364075" y="4789165"/>
                      <a:ext cx="26662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b="0" i="0" u="none" strike="noStrike" kern="1200" cap="none" spc="0" normalizeH="0" baseline="0" noProof="0" dirty="0">
                          <a:ln>
                            <a:noFill/>
                          </a:ln>
                          <a:solidFill>
                            <a:srgbClr val="232F3E"/>
                          </a:solidFill>
                          <a:effectLst/>
                          <a:uLnTx/>
                          <a:uFillTx/>
                          <a:latin typeface="Amazon Ember display"/>
                          <a:ea typeface="+mn-ea"/>
                          <a:cs typeface="+mn-cs"/>
                        </a:rPr>
                        <a:t>Cache node</a:t>
                      </a:r>
                    </a:p>
                  </p:txBody>
                </p:sp>
                <p:pic>
                  <p:nvPicPr>
                    <p:cNvPr id="6" name="Graphic 5">
                      <a:extLst>
                        <a:ext uri="{FF2B5EF4-FFF2-40B4-BE49-F238E27FC236}">
                          <a16:creationId xmlns:a16="http://schemas.microsoft.com/office/drawing/2014/main" id="{477C22A7-21F7-47EA-BD81-D776E05989A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18538" y="3712184"/>
                      <a:ext cx="1157322" cy="1157322"/>
                    </a:xfrm>
                    <a:prstGeom prst="rect">
                      <a:avLst/>
                    </a:prstGeom>
                  </p:spPr>
                </p:pic>
                <p:sp>
                  <p:nvSpPr>
                    <p:cNvPr id="13" name="TextBox 12">
                      <a:extLst>
                        <a:ext uri="{FF2B5EF4-FFF2-40B4-BE49-F238E27FC236}">
                          <a16:creationId xmlns:a16="http://schemas.microsoft.com/office/drawing/2014/main" id="{57C56A7E-C731-4441-857E-AA63AC53C389}"/>
                        </a:ext>
                      </a:extLst>
                    </p:cNvPr>
                    <p:cNvSpPr txBox="1"/>
                    <p:nvPr/>
                  </p:nvSpPr>
                  <p:spPr>
                    <a:xfrm>
                      <a:off x="7163741" y="3975696"/>
                      <a:ext cx="147338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32F3E"/>
                          </a:solidFill>
                          <a:effectLst/>
                          <a:uLnTx/>
                          <a:uFillTx/>
                          <a:latin typeface="Amazon Ember display"/>
                          <a:ea typeface="+mn-ea"/>
                          <a:cs typeface="+mn-cs"/>
                        </a:rPr>
                        <a:t>Updates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32F3E"/>
                          </a:solidFill>
                          <a:effectLst/>
                          <a:uLnTx/>
                          <a:uFillTx/>
                          <a:latin typeface="Amazon Ember display"/>
                          <a:ea typeface="+mn-ea"/>
                          <a:cs typeface="+mn-cs"/>
                        </a:rPr>
                        <a:t>the cache</a:t>
                      </a:r>
                    </a:p>
                  </p:txBody>
                </p:sp>
                <p:cxnSp>
                  <p:nvCxnSpPr>
                    <p:cNvPr id="27" name="Straight Arrow Connector 26">
                      <a:extLst>
                        <a:ext uri="{FF2B5EF4-FFF2-40B4-BE49-F238E27FC236}">
                          <a16:creationId xmlns:a16="http://schemas.microsoft.com/office/drawing/2014/main" id="{0BC3B3BB-FDF2-49FC-8E77-9128483B04B9}"/>
                        </a:ext>
                      </a:extLst>
                    </p:cNvPr>
                    <p:cNvCxnSpPr>
                      <a:cxnSpLocks/>
                    </p:cNvCxnSpPr>
                    <p:nvPr/>
                  </p:nvCxnSpPr>
                  <p:spPr>
                    <a:xfrm>
                      <a:off x="6233815" y="4280930"/>
                      <a:ext cx="3333242" cy="0"/>
                    </a:xfrm>
                    <a:prstGeom prst="straightConnector1">
                      <a:avLst/>
                    </a:prstGeom>
                    <a:ln w="285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33" name="Graphic 32">
                      <a:extLst>
                        <a:ext uri="{FF2B5EF4-FFF2-40B4-BE49-F238E27FC236}">
                          <a16:creationId xmlns:a16="http://schemas.microsoft.com/office/drawing/2014/main" id="{32DA6C0C-CD5E-4D9B-A0FA-824A3B5920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08491" y="3620133"/>
                      <a:ext cx="1183518" cy="1183516"/>
                    </a:xfrm>
                    <a:prstGeom prst="rect">
                      <a:avLst/>
                    </a:prstGeom>
                  </p:spPr>
                </p:pic>
                <p:sp>
                  <p:nvSpPr>
                    <p:cNvPr id="32" name="TextBox 31">
                      <a:extLst>
                        <a:ext uri="{FF2B5EF4-FFF2-40B4-BE49-F238E27FC236}">
                          <a16:creationId xmlns:a16="http://schemas.microsoft.com/office/drawing/2014/main" id="{3A821B80-1513-40FF-9F87-E40E0D561DF5}"/>
                        </a:ext>
                      </a:extLst>
                    </p:cNvPr>
                    <p:cNvSpPr txBox="1"/>
                    <p:nvPr/>
                  </p:nvSpPr>
                  <p:spPr>
                    <a:xfrm>
                      <a:off x="2667157" y="5446767"/>
                      <a:ext cx="26662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232F3E"/>
                          </a:solidFill>
                          <a:effectLst/>
                          <a:uLnTx/>
                          <a:uFillTx/>
                          <a:latin typeface="Amazon Ember display"/>
                          <a:ea typeface="+mn-ea"/>
                          <a:cs typeface="+mn-cs"/>
                        </a:rPr>
                        <a:t>Writes to the database</a:t>
                      </a:r>
                    </a:p>
                  </p:txBody>
                </p:sp>
                <p:pic>
                  <p:nvPicPr>
                    <p:cNvPr id="41" name="Graphic 8">
                      <a:extLst>
                        <a:ext uri="{FF2B5EF4-FFF2-40B4-BE49-F238E27FC236}">
                          <a16:creationId xmlns:a16="http://schemas.microsoft.com/office/drawing/2014/main" id="{0612051A-02D9-42C6-ABB7-F6F3D42716D1}"/>
                        </a:ext>
                      </a:extLst>
                    </p:cNvPr>
                    <p:cNvPicPr>
                      <a:picLocks noChangeAspect="1" noChangeArrowheads="1"/>
                    </p:cNvPicPr>
                    <p:nvPr/>
                  </p:nvPicPr>
                  <p:blipFill>
                    <a:blip r:embed="rId8">
                      <a:extLst>
                        <a:ext uri="{96DAC541-7B7A-43D3-8B79-37D633B846F1}">
                          <asvg:svgBlip xmlns:asvg="http://schemas.microsoft.com/office/drawing/2016/SVG/main" r:embed="rId9"/>
                        </a:ext>
                      </a:extLst>
                    </a:blip>
                    <a:srcRect/>
                    <a:stretch/>
                  </p:blipFill>
                  <p:spPr bwMode="auto">
                    <a:xfrm>
                      <a:off x="893362" y="3662858"/>
                      <a:ext cx="1011850" cy="101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grpSp>
            <p:nvGrpSpPr>
              <p:cNvPr id="7" name="Group 6">
                <a:extLst>
                  <a:ext uri="{FF2B5EF4-FFF2-40B4-BE49-F238E27FC236}">
                    <a16:creationId xmlns:a16="http://schemas.microsoft.com/office/drawing/2014/main" id="{596938F2-16FA-45FF-8B4E-B3A353ED9B2D}"/>
                  </a:ext>
                </a:extLst>
              </p:cNvPr>
              <p:cNvGrpSpPr/>
              <p:nvPr/>
            </p:nvGrpSpPr>
            <p:grpSpPr>
              <a:xfrm>
                <a:off x="1504767" y="4043695"/>
                <a:ext cx="8495483" cy="1963448"/>
                <a:chOff x="1504767" y="4043695"/>
                <a:chExt cx="8495483" cy="1963448"/>
              </a:xfrm>
            </p:grpSpPr>
            <p:sp>
              <p:nvSpPr>
                <p:cNvPr id="22" name="Freeform 60">
                  <a:extLst>
                    <a:ext uri="{FF2B5EF4-FFF2-40B4-BE49-F238E27FC236}">
                      <a16:creationId xmlns:a16="http://schemas.microsoft.com/office/drawing/2014/main" id="{1560703E-B364-4660-ABF6-1958FC94FFAB}"/>
                    </a:ext>
                  </a:extLst>
                </p:cNvPr>
                <p:cNvSpPr/>
                <p:nvPr/>
              </p:nvSpPr>
              <p:spPr>
                <a:xfrm rot="5400000">
                  <a:off x="5385837" y="1170290"/>
                  <a:ext cx="733344" cy="8495483"/>
                </a:xfrm>
                <a:custGeom>
                  <a:avLst/>
                  <a:gdLst>
                    <a:gd name="connsiteX0" fmla="*/ 1371600 w 1371600"/>
                    <a:gd name="connsiteY0" fmla="*/ 711200 h 711200"/>
                    <a:gd name="connsiteX1" fmla="*/ 1371600 w 1371600"/>
                    <a:gd name="connsiteY1" fmla="*/ 0 h 711200"/>
                    <a:gd name="connsiteX2" fmla="*/ 0 w 1371600"/>
                    <a:gd name="connsiteY2" fmla="*/ 0 h 711200"/>
                  </a:gdLst>
                  <a:ahLst/>
                  <a:cxnLst>
                    <a:cxn ang="0">
                      <a:pos x="connsiteX0" y="connsiteY0"/>
                    </a:cxn>
                    <a:cxn ang="0">
                      <a:pos x="connsiteX1" y="connsiteY1"/>
                    </a:cxn>
                    <a:cxn ang="0">
                      <a:pos x="connsiteX2" y="connsiteY2"/>
                    </a:cxn>
                  </a:cxnLst>
                  <a:rect l="l" t="t" r="r" b="b"/>
                  <a:pathLst>
                    <a:path w="1371600" h="711200">
                      <a:moveTo>
                        <a:pt x="1371600" y="711200"/>
                      </a:moveTo>
                      <a:lnTo>
                        <a:pt x="1371600" y="0"/>
                      </a:lnTo>
                      <a:lnTo>
                        <a:pt x="0" y="0"/>
                      </a:lnTo>
                    </a:path>
                  </a:pathLst>
                </a:custGeom>
                <a:noFill/>
                <a:ln w="28575">
                  <a:solidFill>
                    <a:srgbClr val="7C5AED"/>
                  </a:solidFill>
                  <a:headEnd type="none" w="med" len="sm"/>
                  <a:tailEnd type="arrow" w="med"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w="28575">
                      <a:solidFill>
                        <a:prstClr val="black"/>
                      </a:solidFill>
                    </a:ln>
                    <a:solidFill>
                      <a:prstClr val="white"/>
                    </a:solidFill>
                    <a:effectLst/>
                    <a:uLnTx/>
                    <a:uFillTx/>
                    <a:latin typeface="Amazon Ember Display"/>
                    <a:ea typeface="+mn-ea"/>
                    <a:cs typeface="+mn-cs"/>
                  </a:endParaRPr>
                </a:p>
              </p:txBody>
            </p:sp>
            <p:cxnSp>
              <p:nvCxnSpPr>
                <p:cNvPr id="23" name="Straight Connector 22">
                  <a:extLst>
                    <a:ext uri="{FF2B5EF4-FFF2-40B4-BE49-F238E27FC236}">
                      <a16:creationId xmlns:a16="http://schemas.microsoft.com/office/drawing/2014/main" id="{5DEAC459-A6DE-4608-BEA7-60AEFFCEF899}"/>
                    </a:ext>
                  </a:extLst>
                </p:cNvPr>
                <p:cNvCxnSpPr>
                  <a:cxnSpLocks/>
                </p:cNvCxnSpPr>
                <p:nvPr/>
              </p:nvCxnSpPr>
              <p:spPr>
                <a:xfrm>
                  <a:off x="1504767" y="5034687"/>
                  <a:ext cx="0" cy="743856"/>
                </a:xfrm>
                <a:prstGeom prst="line">
                  <a:avLst/>
                </a:prstGeom>
                <a:ln w="28575">
                  <a:solidFill>
                    <a:srgbClr val="7C5AED"/>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DDFD111-8121-401A-BC8D-6D08DAFD129F}"/>
                    </a:ext>
                    <a:ext uri="{C183D7F6-B498-43B3-948B-1728B52AA6E4}">
                      <adec:decorative xmlns:adec="http://schemas.microsoft.com/office/drawing/2017/decorative" val="1"/>
                    </a:ext>
                  </a:extLst>
                </p:cNvPr>
                <p:cNvSpPr>
                  <a:spLocks noChangeAspect="1"/>
                </p:cNvSpPr>
                <p:nvPr/>
              </p:nvSpPr>
              <p:spPr>
                <a:xfrm>
                  <a:off x="2306037" y="5549943"/>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1</a:t>
                  </a:r>
                </a:p>
              </p:txBody>
            </p:sp>
            <p:sp>
              <p:nvSpPr>
                <p:cNvPr id="26" name="Oval 25">
                  <a:extLst>
                    <a:ext uri="{FF2B5EF4-FFF2-40B4-BE49-F238E27FC236}">
                      <a16:creationId xmlns:a16="http://schemas.microsoft.com/office/drawing/2014/main" id="{AA27A474-BDA3-4992-813C-813A0EA7F4ED}"/>
                    </a:ext>
                    <a:ext uri="{C183D7F6-B498-43B3-948B-1728B52AA6E4}">
                      <adec:decorative xmlns:adec="http://schemas.microsoft.com/office/drawing/2017/decorative" val="1"/>
                    </a:ext>
                  </a:extLst>
                </p:cNvPr>
                <p:cNvSpPr>
                  <a:spLocks noChangeAspect="1"/>
                </p:cNvSpPr>
                <p:nvPr/>
              </p:nvSpPr>
              <p:spPr>
                <a:xfrm>
                  <a:off x="6856670" y="4043695"/>
                  <a:ext cx="457200" cy="457200"/>
                </a:xfrm>
                <a:prstGeom prst="ellipse">
                  <a:avLst/>
                </a:prstGeom>
                <a:solidFill>
                  <a:schemeClr val="accent5"/>
                </a:solidFill>
                <a:ln>
                  <a:no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2</a:t>
                  </a:r>
                </a:p>
              </p:txBody>
            </p:sp>
          </p:grpSp>
        </p:grpSp>
        <p:cxnSp>
          <p:nvCxnSpPr>
            <p:cNvPr id="28" name="Straight Arrow Connector 27">
              <a:extLst>
                <a:ext uri="{FF2B5EF4-FFF2-40B4-BE49-F238E27FC236}">
                  <a16:creationId xmlns:a16="http://schemas.microsoft.com/office/drawing/2014/main" id="{9D24720A-EB6A-4B8E-B149-3D3BB87003C9}"/>
                </a:ext>
              </a:extLst>
            </p:cNvPr>
            <p:cNvCxnSpPr>
              <a:cxnSpLocks/>
              <a:endCxn id="6" idx="1"/>
            </p:cNvCxnSpPr>
            <p:nvPr/>
          </p:nvCxnSpPr>
          <p:spPr>
            <a:xfrm flipV="1">
              <a:off x="2359632" y="3969734"/>
              <a:ext cx="3213326" cy="8016"/>
            </a:xfrm>
            <a:prstGeom prst="straightConnector1">
              <a:avLst/>
            </a:prstGeom>
            <a:ln w="28575">
              <a:solidFill>
                <a:schemeClr val="tx1"/>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1920326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0176A1-BCF0-4712-97A6-6B495F55390B}"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lstStyle/>
          <a:p>
            <a:r>
              <a:rPr lang="en-US" dirty="0"/>
              <a:t>Key takeaways: Caching using </a:t>
            </a:r>
            <a:r>
              <a:rPr lang="en-US" dirty="0" err="1"/>
              <a:t>ElastiCache</a:t>
            </a:r>
            <a:endParaRPr lang="en-US" dirty="0"/>
          </a:p>
        </p:txBody>
      </p:sp>
      <p:sp>
        <p:nvSpPr>
          <p:cNvPr id="4" name="Text Placeholder 3">
            <a:extLst>
              <a:ext uri="{FF2B5EF4-FFF2-40B4-BE49-F238E27FC236}">
                <a16:creationId xmlns:a16="http://schemas.microsoft.com/office/drawing/2014/main" id="{641F168C-F6FE-4D33-B99F-76543B1E39F8}"/>
              </a:ext>
            </a:extLst>
          </p:cNvPr>
          <p:cNvSpPr>
            <a:spLocks noGrp="1"/>
          </p:cNvSpPr>
          <p:nvPr>
            <p:ph type="body" idx="3"/>
          </p:nvPr>
        </p:nvSpPr>
        <p:spPr/>
        <p:txBody>
          <a:bodyPr>
            <a:normAutofit/>
          </a:bodyPr>
          <a:lstStyle/>
          <a:p>
            <a:r>
              <a:rPr lang="en-US" dirty="0"/>
              <a:t>ElastiCache is a key-value, in-memory data store with the </a:t>
            </a:r>
            <a:r>
              <a:rPr lang="en-US" dirty="0">
                <a:ea typeface="Calibri" panose="020F0502020204030204" pitchFamily="34" charset="0"/>
                <a:cs typeface="Times New Roman" panose="02020603050405020304" pitchFamily="18" charset="0"/>
              </a:rPr>
              <a:t>purpose of providing millisecond latency and inexpensive access to copies of data. </a:t>
            </a:r>
            <a:endParaRPr lang="en-US" dirty="0"/>
          </a:p>
          <a:p>
            <a:r>
              <a:rPr lang="en-US" dirty="0"/>
              <a:t>ElastiCache reduces the complexity of administering your caching systems for Redis and Memcached engines. </a:t>
            </a:r>
          </a:p>
          <a:p>
            <a:r>
              <a:rPr lang="en-US" dirty="0"/>
              <a:t>Lazy loading and write-through are two strategies to handle keeping the cache as up to date as is appropriate. </a:t>
            </a:r>
          </a:p>
          <a:p>
            <a:endParaRPr lang="en-US" dirty="0"/>
          </a:p>
          <a:p>
            <a:endParaRPr lang="en-US" dirty="0"/>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3769605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32577DC0-FC87-4CA4-86FA-B4168515040E}"/>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C2DC5273-D793-4FB4-A615-4B5FAC4B1E10}"/>
              </a:ext>
            </a:extLst>
          </p:cNvPr>
          <p:cNvSpPr>
            <a:spLocks noGrp="1"/>
          </p:cNvSpPr>
          <p:nvPr>
            <p:ph type="title" idx="1"/>
          </p:nvPr>
        </p:nvSpPr>
        <p:spPr/>
        <p:txBody>
          <a:bodyPr/>
          <a:lstStyle/>
          <a:p>
            <a:r>
              <a:rPr lang="en-US" b="1" dirty="0"/>
              <a:t>Applying the AWS Well-Architected Framework principles to caching</a:t>
            </a:r>
            <a:endParaRPr lang="en-US" dirty="0"/>
          </a:p>
        </p:txBody>
      </p:sp>
      <p:sp>
        <p:nvSpPr>
          <p:cNvPr id="4" name="Subtitle 3">
            <a:extLst>
              <a:ext uri="{FF2B5EF4-FFF2-40B4-BE49-F238E27FC236}">
                <a16:creationId xmlns:a16="http://schemas.microsoft.com/office/drawing/2014/main" id="{65767C99-227C-4E8C-BB69-74D74AE9A794}"/>
              </a:ext>
            </a:extLst>
          </p:cNvPr>
          <p:cNvSpPr>
            <a:spLocks noGrp="1"/>
          </p:cNvSpPr>
          <p:nvPr>
            <p:ph type="subTitle" idx="2"/>
          </p:nvPr>
        </p:nvSpPr>
        <p:spPr/>
        <p:txBody>
          <a:bodyPr/>
          <a:lstStyle/>
          <a:p>
            <a:r>
              <a:rPr lang="en-US" dirty="0"/>
              <a:t>Caching Content</a:t>
            </a:r>
          </a:p>
        </p:txBody>
      </p:sp>
    </p:spTree>
    <p:custDataLst>
      <p:tags r:id="rId1"/>
    </p:custDataLst>
    <p:extLst>
      <p:ext uri="{BB962C8B-B14F-4D97-AF65-F5344CB8AC3E}">
        <p14:creationId xmlns:p14="http://schemas.microsoft.com/office/powerpoint/2010/main" val="5758879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1CF3212-1E1B-4125-A4CB-31C90D0FD7CB}"/>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D510B08D-D39B-4B47-963A-E4488BD23E61}"/>
              </a:ext>
            </a:extLst>
          </p:cNvPr>
          <p:cNvSpPr>
            <a:spLocks noGrp="1"/>
          </p:cNvSpPr>
          <p:nvPr>
            <p:ph type="title" idx="1"/>
          </p:nvPr>
        </p:nvSpPr>
        <p:spPr/>
        <p:txBody>
          <a:bodyPr>
            <a:normAutofit fontScale="90000"/>
          </a:bodyPr>
          <a:lstStyle/>
          <a:p>
            <a:r>
              <a:rPr lang="en-US" dirty="0"/>
              <a:t>AWS Well-Architected Framework caching best practices</a:t>
            </a:r>
          </a:p>
        </p:txBody>
      </p:sp>
      <p:sp>
        <p:nvSpPr>
          <p:cNvPr id="5" name="TextBox 4">
            <a:extLst>
              <a:ext uri="{FF2B5EF4-FFF2-40B4-BE49-F238E27FC236}">
                <a16:creationId xmlns:a16="http://schemas.microsoft.com/office/drawing/2014/main" id="{BC374524-EF5E-48AC-892C-9A48E80B94EB}"/>
              </a:ext>
            </a:extLst>
          </p:cNvPr>
          <p:cNvSpPr txBox="1"/>
          <p:nvPr/>
        </p:nvSpPr>
        <p:spPr>
          <a:xfrm>
            <a:off x="4843376" y="4518087"/>
            <a:ext cx="184731" cy="523220"/>
          </a:xfrm>
          <a:prstGeom prst="rect">
            <a:avLst/>
          </a:prstGeom>
          <a:noFill/>
        </p:spPr>
        <p:txBody>
          <a:bodyPr wrap="none" rtlCol="0">
            <a:spAutoFit/>
          </a:bodyPr>
          <a:lstStyle/>
          <a:p>
            <a:pPr lvl="0">
              <a:defRPr/>
            </a:pPr>
            <a:endParaRPr kumimoji="0" lang="en-US" sz="2800" b="0" i="0" u="none" strike="noStrike" kern="1200" cap="none" spc="0" normalizeH="0" baseline="0" noProof="0" dirty="0">
              <a:ln>
                <a:noFill/>
              </a:ln>
              <a:solidFill>
                <a:prstClr val="black"/>
              </a:solidFill>
              <a:effectLst/>
              <a:uLnTx/>
              <a:uFillTx/>
              <a:latin typeface="Amazon Ember Display"/>
              <a:ea typeface="+mn-ea"/>
              <a:cs typeface="+mn-cs"/>
            </a:endParaRPr>
          </a:p>
        </p:txBody>
      </p:sp>
      <p:sp>
        <p:nvSpPr>
          <p:cNvPr id="6" name="TextBox 5">
            <a:extLst>
              <a:ext uri="{FF2B5EF4-FFF2-40B4-BE49-F238E27FC236}">
                <a16:creationId xmlns:a16="http://schemas.microsoft.com/office/drawing/2014/main" id="{8DF4DA1D-5311-4C25-A90A-01FE69CC7BAB}"/>
              </a:ext>
            </a:extLst>
          </p:cNvPr>
          <p:cNvSpPr txBox="1"/>
          <p:nvPr/>
        </p:nvSpPr>
        <p:spPr>
          <a:xfrm>
            <a:off x="2529288" y="4458612"/>
            <a:ext cx="184730"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Amazon Ember Display"/>
              <a:ea typeface="+mn-ea"/>
              <a:cs typeface="+mn-cs"/>
            </a:endParaRPr>
          </a:p>
        </p:txBody>
      </p:sp>
      <p:sp>
        <p:nvSpPr>
          <p:cNvPr id="7" name="TextBox 6">
            <a:extLst>
              <a:ext uri="{FF2B5EF4-FFF2-40B4-BE49-F238E27FC236}">
                <a16:creationId xmlns:a16="http://schemas.microsoft.com/office/drawing/2014/main" id="{8333EF0E-21B1-4FE1-99E9-367D2AA813F8}"/>
              </a:ext>
            </a:extLst>
          </p:cNvPr>
          <p:cNvSpPr txBox="1"/>
          <p:nvPr/>
        </p:nvSpPr>
        <p:spPr>
          <a:xfrm>
            <a:off x="8782904" y="4458612"/>
            <a:ext cx="184731"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mazon Ember Display"/>
              <a:ea typeface="+mn-ea"/>
              <a:cs typeface="+mn-cs"/>
            </a:endParaRPr>
          </a:p>
        </p:txBody>
      </p:sp>
      <p:pic>
        <p:nvPicPr>
          <p:cNvPr id="8" name="Picture 7">
            <a:extLst>
              <a:ext uri="{FF2B5EF4-FFF2-40B4-BE49-F238E27FC236}">
                <a16:creationId xmlns:a16="http://schemas.microsoft.com/office/drawing/2014/main" id="{E3B40587-B2CB-4B20-8B5F-977AFBA60B21}"/>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23378" y="1207008"/>
            <a:ext cx="1766162" cy="4572000"/>
          </a:xfrm>
          <a:prstGeom prst="rect">
            <a:avLst/>
          </a:prstGeom>
        </p:spPr>
      </p:pic>
      <p:pic>
        <p:nvPicPr>
          <p:cNvPr id="9" name="Picture 8">
            <a:extLst>
              <a:ext uri="{FF2B5EF4-FFF2-40B4-BE49-F238E27FC236}">
                <a16:creationId xmlns:a16="http://schemas.microsoft.com/office/drawing/2014/main" id="{EF567720-B07A-478F-BCD6-155711D39461}"/>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12919" y="1207008"/>
            <a:ext cx="1766162" cy="4572000"/>
          </a:xfrm>
          <a:prstGeom prst="rect">
            <a:avLst/>
          </a:prstGeom>
        </p:spPr>
      </p:pic>
      <p:pic>
        <p:nvPicPr>
          <p:cNvPr id="10" name="Picture 9">
            <a:extLst>
              <a:ext uri="{FF2B5EF4-FFF2-40B4-BE49-F238E27FC236}">
                <a16:creationId xmlns:a16="http://schemas.microsoft.com/office/drawing/2014/main" id="{0C4272AA-85A1-4BA0-BC51-AFDA199DF41D}"/>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702460" y="1207008"/>
            <a:ext cx="1766162" cy="4572000"/>
          </a:xfrm>
          <a:prstGeom prst="rect">
            <a:avLst/>
          </a:prstGeom>
        </p:spPr>
      </p:pic>
    </p:spTree>
    <p:custDataLst>
      <p:tags r:id="rId1"/>
    </p:custDataLst>
    <p:extLst>
      <p:ext uri="{BB962C8B-B14F-4D97-AF65-F5344CB8AC3E}">
        <p14:creationId xmlns:p14="http://schemas.microsoft.com/office/powerpoint/2010/main" val="21301916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6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6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5" name="Title">
            <a:extLst>
              <a:ext uri="{FF2B5EF4-FFF2-40B4-BE49-F238E27FC236}">
                <a16:creationId xmlns:a16="http://schemas.microsoft.com/office/drawing/2014/main" id="{4EE70549-5633-491F-A48E-F41E93529CD5}"/>
              </a:ext>
            </a:extLst>
          </p:cNvPr>
          <p:cNvSpPr>
            <a:spLocks noGrp="1"/>
          </p:cNvSpPr>
          <p:nvPr>
            <p:ph type="title" idx="1"/>
          </p:nvPr>
        </p:nvSpPr>
        <p:spPr>
          <a:xfrm>
            <a:off x="365759" y="301752"/>
            <a:ext cx="11542705" cy="731318"/>
          </a:xfrm>
        </p:spPr>
        <p:txBody>
          <a:bodyPr>
            <a:noAutofit/>
          </a:bodyPr>
          <a:lstStyle/>
          <a:p>
            <a:r>
              <a:rPr lang="en-US" sz="2400" dirty="0"/>
              <a:t>Best practice approach: Data management</a:t>
            </a:r>
          </a:p>
        </p:txBody>
      </p:sp>
      <p:pic>
        <p:nvPicPr>
          <p:cNvPr id="11" name="Picture 7" descr="Performance efficiency pillar.&#10;">
            <a:extLst>
              <a:ext uri="{FF2B5EF4-FFF2-40B4-BE49-F238E27FC236}">
                <a16:creationId xmlns:a16="http://schemas.microsoft.com/office/drawing/2014/main" id="{B29D15ED-87FC-4CA8-8232-ABEABDAEB704}"/>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0397" y="1203342"/>
            <a:ext cx="1766162" cy="4572000"/>
          </a:xfrm>
          <a:prstGeom prst="rect">
            <a:avLst/>
          </a:prstGeom>
        </p:spPr>
      </p:pic>
      <p:sp>
        <p:nvSpPr>
          <p:cNvPr id="9" name="TextBox 8">
            <a:extLst>
              <a:ext uri="{FF2B5EF4-FFF2-40B4-BE49-F238E27FC236}">
                <a16:creationId xmlns:a16="http://schemas.microsoft.com/office/drawing/2014/main" id="{BDEC7359-4A3A-43C8-9B96-D0B12AB48563}"/>
              </a:ext>
            </a:extLst>
          </p:cNvPr>
          <p:cNvSpPr txBox="1"/>
          <p:nvPr/>
        </p:nvSpPr>
        <p:spPr>
          <a:xfrm>
            <a:off x="4706790" y="2004915"/>
            <a:ext cx="528709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mazon Ember Display"/>
                <a:ea typeface="+mn-ea"/>
                <a:cs typeface="+mn-cs"/>
              </a:rPr>
              <a:t>Best practices</a:t>
            </a:r>
          </a:p>
        </p:txBody>
      </p:sp>
      <p:sp>
        <p:nvSpPr>
          <p:cNvPr id="8" name="Rectangle: Rounded Corners 7">
            <a:extLst>
              <a:ext uri="{FF2B5EF4-FFF2-40B4-BE49-F238E27FC236}">
                <a16:creationId xmlns:a16="http://schemas.microsoft.com/office/drawing/2014/main" id="{429AC97B-5540-4022-83C8-6CB9B2D91C00}"/>
              </a:ext>
              <a:ext uri="{C183D7F6-B498-43B3-948B-1728B52AA6E4}">
                <adec:decorative xmlns:adec="http://schemas.microsoft.com/office/drawing/2017/decorative" val="0"/>
              </a:ext>
            </a:extLst>
          </p:cNvPr>
          <p:cNvSpPr/>
          <p:nvPr/>
        </p:nvSpPr>
        <p:spPr>
          <a:xfrm>
            <a:off x="4637300" y="2499236"/>
            <a:ext cx="5426075" cy="1277759"/>
          </a:xfrm>
          <a:prstGeom prst="round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400" dirty="0">
                <a:solidFill>
                  <a:srgbClr val="232F3E"/>
                </a:solidFill>
                <a:latin typeface="Amazon Ember Display"/>
              </a:rPr>
              <a:t>Implement data access patterns that utilize caching.</a:t>
            </a:r>
          </a:p>
        </p:txBody>
      </p:sp>
      <p:sp>
        <p:nvSpPr>
          <p:cNvPr id="19" name="Rectangle: Rounded Corners 18">
            <a:extLst>
              <a:ext uri="{FF2B5EF4-FFF2-40B4-BE49-F238E27FC236}">
                <a16:creationId xmlns:a16="http://schemas.microsoft.com/office/drawing/2014/main" id="{E0C0A15B-D82D-467C-A7C7-3605098EA7F5}"/>
              </a:ext>
              <a:ext uri="{C183D7F6-B498-43B3-948B-1728B52AA6E4}">
                <adec:decorative xmlns:adec="http://schemas.microsoft.com/office/drawing/2017/decorative" val="0"/>
              </a:ext>
            </a:extLst>
          </p:cNvPr>
          <p:cNvSpPr/>
          <p:nvPr/>
        </p:nvSpPr>
        <p:spPr>
          <a:xfrm>
            <a:off x="4637299" y="3900092"/>
            <a:ext cx="5426075" cy="1277759"/>
          </a:xfrm>
          <a:prstGeom prst="round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2400" dirty="0">
                <a:solidFill>
                  <a:srgbClr val="232F3E"/>
                </a:solidFill>
                <a:latin typeface="Amazon Ember Display"/>
              </a:rPr>
              <a:t>Implement strategies to improve query performance in data store.</a:t>
            </a:r>
          </a:p>
        </p:txBody>
      </p:sp>
    </p:spTree>
    <p:custDataLst>
      <p:tags r:id="rId1"/>
    </p:custDataLst>
    <p:extLst>
      <p:ext uri="{BB962C8B-B14F-4D97-AF65-F5344CB8AC3E}">
        <p14:creationId xmlns:p14="http://schemas.microsoft.com/office/powerpoint/2010/main" val="3415288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6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6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5" name="Title">
            <a:extLst>
              <a:ext uri="{FF2B5EF4-FFF2-40B4-BE49-F238E27FC236}">
                <a16:creationId xmlns:a16="http://schemas.microsoft.com/office/drawing/2014/main" id="{4EE70549-5633-491F-A48E-F41E93529CD5}"/>
              </a:ext>
            </a:extLst>
          </p:cNvPr>
          <p:cNvSpPr>
            <a:spLocks noGrp="1"/>
          </p:cNvSpPr>
          <p:nvPr>
            <p:ph type="title" idx="1"/>
          </p:nvPr>
        </p:nvSpPr>
        <p:spPr>
          <a:xfrm>
            <a:off x="365759" y="301752"/>
            <a:ext cx="11542705" cy="731318"/>
          </a:xfrm>
        </p:spPr>
        <p:txBody>
          <a:bodyPr>
            <a:noAutofit/>
          </a:bodyPr>
          <a:lstStyle/>
          <a:p>
            <a:r>
              <a:rPr lang="en-US" sz="2400" dirty="0"/>
              <a:t>Best practice approach: Foundations – plan your network topology</a:t>
            </a:r>
          </a:p>
        </p:txBody>
      </p:sp>
      <p:pic>
        <p:nvPicPr>
          <p:cNvPr id="11" name="Picture 8" descr="Reliability pillar.">
            <a:extLst>
              <a:ext uri="{FF2B5EF4-FFF2-40B4-BE49-F238E27FC236}">
                <a16:creationId xmlns:a16="http://schemas.microsoft.com/office/drawing/2014/main" id="{47107C9C-DA80-4FCD-BCF3-6DF6454E5ECE}"/>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0397" y="1203342"/>
            <a:ext cx="1766162" cy="4572000"/>
          </a:xfrm>
          <a:prstGeom prst="rect">
            <a:avLst/>
          </a:prstGeom>
        </p:spPr>
      </p:pic>
      <p:sp>
        <p:nvSpPr>
          <p:cNvPr id="8" name="TextBox 7">
            <a:extLst>
              <a:ext uri="{FF2B5EF4-FFF2-40B4-BE49-F238E27FC236}">
                <a16:creationId xmlns:a16="http://schemas.microsoft.com/office/drawing/2014/main" id="{EA1B0030-2B9F-444A-8177-78A5111937DA}"/>
              </a:ext>
            </a:extLst>
          </p:cNvPr>
          <p:cNvSpPr txBox="1"/>
          <p:nvPr/>
        </p:nvSpPr>
        <p:spPr>
          <a:xfrm>
            <a:off x="5999913" y="2379027"/>
            <a:ext cx="292387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mazon Ember Display"/>
                <a:ea typeface="+mn-ea"/>
                <a:cs typeface="+mn-cs"/>
              </a:rPr>
              <a:t>Best practice</a:t>
            </a:r>
          </a:p>
        </p:txBody>
      </p:sp>
      <p:sp>
        <p:nvSpPr>
          <p:cNvPr id="19" name="Rectangle: Rounded Corners 18">
            <a:extLst>
              <a:ext uri="{FF2B5EF4-FFF2-40B4-BE49-F238E27FC236}">
                <a16:creationId xmlns:a16="http://schemas.microsoft.com/office/drawing/2014/main" id="{E0C0A15B-D82D-467C-A7C7-3605098EA7F5}"/>
              </a:ext>
              <a:ext uri="{C183D7F6-B498-43B3-948B-1728B52AA6E4}">
                <adec:decorative xmlns:adec="http://schemas.microsoft.com/office/drawing/2017/decorative" val="0"/>
              </a:ext>
            </a:extLst>
          </p:cNvPr>
          <p:cNvSpPr/>
          <p:nvPr/>
        </p:nvSpPr>
        <p:spPr>
          <a:xfrm>
            <a:off x="4748814" y="2840692"/>
            <a:ext cx="5426075" cy="1327310"/>
          </a:xfrm>
          <a:prstGeom prst="roundRect">
            <a:avLst/>
          </a:prstGeom>
          <a:solidFill>
            <a:schemeClr val="bg1"/>
          </a:solidFill>
          <a:ln w="28575">
            <a:solidFill>
              <a:srgbClr val="B533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2400" dirty="0">
                <a:solidFill>
                  <a:srgbClr val="232F3E"/>
                </a:solidFill>
                <a:latin typeface="Amazon Ember Display"/>
              </a:rPr>
              <a:t>Use highly available network connectivity for your workload public endpoints.</a:t>
            </a:r>
          </a:p>
        </p:txBody>
      </p:sp>
    </p:spTree>
    <p:custDataLst>
      <p:tags r:id="rId1"/>
    </p:custDataLst>
    <p:extLst>
      <p:ext uri="{BB962C8B-B14F-4D97-AF65-F5344CB8AC3E}">
        <p14:creationId xmlns:p14="http://schemas.microsoft.com/office/powerpoint/2010/main" val="29303407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F54A59E-034D-4036-9DDE-F026296C9AE2}"/>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037B1B0-0345-4E15-985A-6BECCDBE474F}" type="slidenum">
              <a:rPr kumimoji="0" lang="en-US" sz="16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6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5" name="Title">
            <a:extLst>
              <a:ext uri="{FF2B5EF4-FFF2-40B4-BE49-F238E27FC236}">
                <a16:creationId xmlns:a16="http://schemas.microsoft.com/office/drawing/2014/main" id="{4EE70549-5633-491F-A48E-F41E93529CD5}"/>
              </a:ext>
            </a:extLst>
          </p:cNvPr>
          <p:cNvSpPr>
            <a:spLocks noGrp="1"/>
          </p:cNvSpPr>
          <p:nvPr>
            <p:ph type="title" idx="1"/>
          </p:nvPr>
        </p:nvSpPr>
        <p:spPr>
          <a:xfrm>
            <a:off x="365759" y="301752"/>
            <a:ext cx="11542705" cy="731318"/>
          </a:xfrm>
        </p:spPr>
        <p:txBody>
          <a:bodyPr>
            <a:noAutofit/>
          </a:bodyPr>
          <a:lstStyle/>
          <a:p>
            <a:r>
              <a:rPr lang="en-US" sz="2400" dirty="0"/>
              <a:t>Best practice approach: Cost-effective resources - plan for data transfer </a:t>
            </a:r>
          </a:p>
        </p:txBody>
      </p:sp>
      <p:pic>
        <p:nvPicPr>
          <p:cNvPr id="14" name="Picture 9" descr="Cost Optimization pillar.">
            <a:extLst>
              <a:ext uri="{FF2B5EF4-FFF2-40B4-BE49-F238E27FC236}">
                <a16:creationId xmlns:a16="http://schemas.microsoft.com/office/drawing/2014/main" id="{35BF28B0-0D60-4C36-95B9-F93A8BC6B5F2}"/>
              </a:ext>
              <a:ext uri="{C183D7F6-B498-43B3-948B-1728B52AA6E4}">
                <adec:decorative xmlns:adec="http://schemas.microsoft.com/office/drawing/2017/decorative" val="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0349" y="1218016"/>
            <a:ext cx="1766162" cy="4572000"/>
          </a:xfrm>
          <a:prstGeom prst="rect">
            <a:avLst/>
          </a:prstGeom>
        </p:spPr>
      </p:pic>
      <p:sp>
        <p:nvSpPr>
          <p:cNvPr id="9" name="TextBox 8">
            <a:extLst>
              <a:ext uri="{FF2B5EF4-FFF2-40B4-BE49-F238E27FC236}">
                <a16:creationId xmlns:a16="http://schemas.microsoft.com/office/drawing/2014/main" id="{25A3DDA2-1B78-480E-A62A-54D44A5D2943}"/>
              </a:ext>
            </a:extLst>
          </p:cNvPr>
          <p:cNvSpPr txBox="1"/>
          <p:nvPr/>
        </p:nvSpPr>
        <p:spPr>
          <a:xfrm>
            <a:off x="5877733" y="1198871"/>
            <a:ext cx="292387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Amazon Ember Display"/>
                <a:ea typeface="+mn-ea"/>
                <a:cs typeface="+mn-cs"/>
              </a:rPr>
              <a:t>Best practices</a:t>
            </a:r>
          </a:p>
        </p:txBody>
      </p:sp>
      <p:sp>
        <p:nvSpPr>
          <p:cNvPr id="8" name="Rectangle: Rounded Corners 7">
            <a:extLst>
              <a:ext uri="{FF2B5EF4-FFF2-40B4-BE49-F238E27FC236}">
                <a16:creationId xmlns:a16="http://schemas.microsoft.com/office/drawing/2014/main" id="{9508C26F-B015-4454-9D28-F66CABC32A2D}"/>
              </a:ext>
              <a:ext uri="{C183D7F6-B498-43B3-948B-1728B52AA6E4}">
                <adec:decorative xmlns:adec="http://schemas.microsoft.com/office/drawing/2017/decorative" val="0"/>
              </a:ext>
            </a:extLst>
          </p:cNvPr>
          <p:cNvSpPr/>
          <p:nvPr/>
        </p:nvSpPr>
        <p:spPr>
          <a:xfrm>
            <a:off x="4626632" y="1673379"/>
            <a:ext cx="5426075" cy="1446500"/>
          </a:xfrm>
          <a:prstGeom prst="roundRect">
            <a:avLst/>
          </a:prstGeom>
          <a:solidFill>
            <a:schemeClr val="bg1"/>
          </a:solidFill>
          <a:ln w="28575">
            <a:solidFill>
              <a:srgbClr val="7C5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2400" dirty="0">
                <a:solidFill>
                  <a:srgbClr val="232F3E"/>
                </a:solidFill>
                <a:latin typeface="Amazon Ember Display"/>
              </a:rPr>
              <a:t>Perform data transfer modeling. </a:t>
            </a:r>
          </a:p>
        </p:txBody>
      </p:sp>
      <p:sp>
        <p:nvSpPr>
          <p:cNvPr id="10" name="Rectangle: Rounded Corners 9">
            <a:extLst>
              <a:ext uri="{FF2B5EF4-FFF2-40B4-BE49-F238E27FC236}">
                <a16:creationId xmlns:a16="http://schemas.microsoft.com/office/drawing/2014/main" id="{E0923A9D-F41D-4675-A46D-CFD25E67D2AB}"/>
              </a:ext>
              <a:ext uri="{C183D7F6-B498-43B3-948B-1728B52AA6E4}">
                <adec:decorative xmlns:adec="http://schemas.microsoft.com/office/drawing/2017/decorative" val="0"/>
              </a:ext>
            </a:extLst>
          </p:cNvPr>
          <p:cNvSpPr/>
          <p:nvPr/>
        </p:nvSpPr>
        <p:spPr>
          <a:xfrm>
            <a:off x="4626632" y="3208586"/>
            <a:ext cx="5426075" cy="1446500"/>
          </a:xfrm>
          <a:prstGeom prst="roundRect">
            <a:avLst/>
          </a:prstGeom>
          <a:solidFill>
            <a:schemeClr val="bg1"/>
          </a:solidFill>
          <a:ln w="28575">
            <a:solidFill>
              <a:srgbClr val="7C5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2400" dirty="0">
                <a:solidFill>
                  <a:srgbClr val="232F3E"/>
                </a:solidFill>
                <a:latin typeface="Amazon Ember Display"/>
              </a:rPr>
              <a:t>Select components to optimize data transfer cost.</a:t>
            </a:r>
          </a:p>
        </p:txBody>
      </p:sp>
      <p:sp>
        <p:nvSpPr>
          <p:cNvPr id="11" name="Rectangle: Rounded Corners 10">
            <a:extLst>
              <a:ext uri="{FF2B5EF4-FFF2-40B4-BE49-F238E27FC236}">
                <a16:creationId xmlns:a16="http://schemas.microsoft.com/office/drawing/2014/main" id="{DA62360C-82D5-4C28-8A5D-53F32135AEFD}"/>
              </a:ext>
              <a:ext uri="{C183D7F6-B498-43B3-948B-1728B52AA6E4}">
                <adec:decorative xmlns:adec="http://schemas.microsoft.com/office/drawing/2017/decorative" val="0"/>
              </a:ext>
            </a:extLst>
          </p:cNvPr>
          <p:cNvSpPr/>
          <p:nvPr/>
        </p:nvSpPr>
        <p:spPr>
          <a:xfrm>
            <a:off x="4626632" y="4743793"/>
            <a:ext cx="5426075" cy="1446500"/>
          </a:xfrm>
          <a:prstGeom prst="roundRect">
            <a:avLst/>
          </a:prstGeom>
          <a:solidFill>
            <a:schemeClr val="bg1"/>
          </a:solidFill>
          <a:ln w="28575">
            <a:solidFill>
              <a:srgbClr val="7C5A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en-US" sz="2400" dirty="0">
                <a:solidFill>
                  <a:srgbClr val="232F3E"/>
                </a:solidFill>
                <a:latin typeface="Amazon Ember Display"/>
              </a:rPr>
              <a:t>Implement services to reduce data transfer costs.</a:t>
            </a:r>
          </a:p>
        </p:txBody>
      </p:sp>
    </p:spTree>
    <p:custDataLst>
      <p:tags r:id="rId1"/>
    </p:custDataLst>
    <p:extLst>
      <p:ext uri="{BB962C8B-B14F-4D97-AF65-F5344CB8AC3E}">
        <p14:creationId xmlns:p14="http://schemas.microsoft.com/office/powerpoint/2010/main" val="34819747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27C306B8-78BA-41DF-9CB8-E2EDD7892C7C}"/>
              </a:ext>
            </a:extLst>
          </p:cNvPr>
          <p:cNvSpPr>
            <a:spLocks noGrp="1"/>
          </p:cNvSpPr>
          <p:nvPr>
            <p:ph type="sldNum" idx="9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0176A1-BCF0-4712-97A6-6B495F55390B}" type="slidenum">
              <a:rPr kumimoji="0" lang="en-US" sz="1200" b="0" i="0" u="none" strike="noStrike" kern="1200" cap="none" spc="0" normalizeH="0" baseline="0" noProof="0" smtClean="0">
                <a:ln>
                  <a:noFill/>
                </a:ln>
                <a:solidFill>
                  <a:srgbClr val="232F3E"/>
                </a:solidFill>
                <a:effectLst/>
                <a:uLnTx/>
                <a:uFillTx/>
                <a:latin typeface="Amazon Ember Display"/>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srgbClr val="232F3E"/>
              </a:solidFill>
              <a:effectLst/>
              <a:uLnTx/>
              <a:uFillTx/>
              <a:latin typeface="Amazon Ember Display"/>
              <a:ea typeface="+mn-ea"/>
              <a:cs typeface="+mn-cs"/>
            </a:endParaRPr>
          </a:p>
        </p:txBody>
      </p:sp>
      <p:sp>
        <p:nvSpPr>
          <p:cNvPr id="3" name="Title">
            <a:extLst>
              <a:ext uri="{FF2B5EF4-FFF2-40B4-BE49-F238E27FC236}">
                <a16:creationId xmlns:a16="http://schemas.microsoft.com/office/drawing/2014/main" id="{1FEDED09-2D96-4DEB-B2BA-482DB6D419E8}"/>
              </a:ext>
            </a:extLst>
          </p:cNvPr>
          <p:cNvSpPr>
            <a:spLocks noGrp="1"/>
          </p:cNvSpPr>
          <p:nvPr>
            <p:ph type="title" idx="1"/>
          </p:nvPr>
        </p:nvSpPr>
        <p:spPr/>
        <p:txBody>
          <a:bodyPr>
            <a:noAutofit/>
          </a:bodyPr>
          <a:lstStyle/>
          <a:p>
            <a:r>
              <a:rPr lang="en-US" sz="3000" dirty="0"/>
              <a:t>Key takeaways: Applying AWS Well -Architected Framework principles to caching</a:t>
            </a:r>
          </a:p>
        </p:txBody>
      </p:sp>
      <p:sp>
        <p:nvSpPr>
          <p:cNvPr id="6" name="Text Placeholder 3">
            <a:extLst>
              <a:ext uri="{FF2B5EF4-FFF2-40B4-BE49-F238E27FC236}">
                <a16:creationId xmlns:a16="http://schemas.microsoft.com/office/drawing/2014/main" id="{CE59900B-E8AB-4B80-8754-A2FE764FFFE2}"/>
              </a:ext>
            </a:extLst>
          </p:cNvPr>
          <p:cNvSpPr txBox="1">
            <a:spLocks/>
          </p:cNvSpPr>
          <p:nvPr/>
        </p:nvSpPr>
        <p:spPr>
          <a:xfrm>
            <a:off x="4471639" y="292099"/>
            <a:ext cx="7477119" cy="6024448"/>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0"/>
              </a:spcBef>
              <a:spcAft>
                <a:spcPts val="1200"/>
              </a:spcAft>
              <a:buFont typeface="Amazon Ember Display"/>
              <a:buChar char="•"/>
              <a:defRPr lang="en-US" sz="2800" kern="1200">
                <a:solidFill>
                  <a:srgbClr val="232F3E"/>
                </a:solidFill>
                <a:latin typeface="+mn-lt"/>
              </a:defRPr>
            </a:lvl1pPr>
            <a:lvl2pPr marL="457200" indent="-228600" algn="l" defTabSz="914400" rtl="0" eaLnBrk="1" latinLnBrk="0" hangingPunct="1">
              <a:lnSpc>
                <a:spcPct val="100000"/>
              </a:lnSpc>
              <a:spcBef>
                <a:spcPts val="0"/>
              </a:spcBef>
              <a:spcAft>
                <a:spcPts val="1200"/>
              </a:spcAft>
              <a:buFont typeface="Amazon Ember Display"/>
              <a:buChar char="•"/>
              <a:defRPr lang="en-US" sz="2400" kern="1200">
                <a:solidFill>
                  <a:srgbClr val="232F3E"/>
                </a:solidFill>
                <a:latin typeface="+mn-lt"/>
              </a:defRPr>
            </a:lvl2pPr>
            <a:lvl3pPr marL="684213" indent="-228600" algn="l" defTabSz="914400" rtl="0" eaLnBrk="1" latinLnBrk="0" hangingPunct="1">
              <a:lnSpc>
                <a:spcPct val="100000"/>
              </a:lnSpc>
              <a:spcBef>
                <a:spcPts val="0"/>
              </a:spcBef>
              <a:spcAft>
                <a:spcPts val="1200"/>
              </a:spcAft>
              <a:buFont typeface="Amazon Ember Display"/>
              <a:buChar char="•"/>
              <a:defRPr lang="en-US" sz="2000" kern="1200">
                <a:solidFill>
                  <a:srgbClr val="232F3E"/>
                </a:solidFill>
                <a:latin typeface="+mn-lt"/>
              </a:defRPr>
            </a:lvl3pPr>
            <a:lvl4pPr marL="914400" indent="-228600" algn="l" defTabSz="914400" rtl="0" eaLnBrk="1" latinLnBrk="0" hangingPunct="1">
              <a:lnSpc>
                <a:spcPct val="100000"/>
              </a:lnSpc>
              <a:spcBef>
                <a:spcPts val="0"/>
              </a:spcBef>
              <a:spcAft>
                <a:spcPts val="1200"/>
              </a:spcAft>
              <a:buFont typeface="Amazon Ember Display"/>
              <a:buChar char="•"/>
              <a:defRPr lang="en-US" sz="1800" kern="1200">
                <a:solidFill>
                  <a:srgbClr val="232F3E"/>
                </a:solidFill>
                <a:latin typeface="+mn-lt"/>
              </a:defRPr>
            </a:lvl4pPr>
            <a:lvl5pPr marL="1144588" indent="-228600" algn="l" defTabSz="914400" rtl="0" eaLnBrk="1" latinLnBrk="0" hangingPunct="1">
              <a:lnSpc>
                <a:spcPct val="100000"/>
              </a:lnSpc>
              <a:spcBef>
                <a:spcPts val="0"/>
              </a:spcBef>
              <a:spcAft>
                <a:spcPts val="1200"/>
              </a:spcAft>
              <a:buFont typeface="Amazon Ember Display"/>
              <a:buChar char="•"/>
              <a:defRPr lang="en-US" sz="1800" kern="1200">
                <a:solidFill>
                  <a:srgbClr val="232F3E"/>
                </a:solidFill>
                <a:latin typeface="+mn-lt"/>
              </a:defRPr>
            </a:lvl5pPr>
            <a:lvl6pPr marL="25146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6pPr>
            <a:lvl7pPr marL="29718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7pPr>
            <a:lvl8pPr marL="34290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8pPr>
            <a:lvl9pPr marL="3886200" indent="-228600" algn="l" defTabSz="914400" rtl="0" eaLnBrk="1" latinLnBrk="0" hangingPunct="1">
              <a:lnSpc>
                <a:spcPct val="90000"/>
              </a:lnSpc>
              <a:spcBef>
                <a:spcPts val="500"/>
              </a:spcBef>
              <a:buFont typeface="Amazon Ember Display"/>
              <a:buChar char="•"/>
              <a:defRPr sz="1800" kern="1200">
                <a:solidFill>
                  <a:schemeClr val="tx1"/>
                </a:solidFill>
                <a:latin typeface="Amazon Ember display"/>
              </a:defRPr>
            </a:lvl9pPr>
          </a:lstStyle>
          <a:p>
            <a:pPr marL="228600" marR="0" lvl="0" indent="-228600" algn="l" defTabSz="914400" rtl="0" eaLnBrk="1" fontAlgn="auto" latinLnBrk="0" hangingPunct="1">
              <a:lnSpc>
                <a:spcPct val="100000"/>
              </a:lnSpc>
              <a:spcBef>
                <a:spcPts val="0"/>
              </a:spcBef>
              <a:spcAft>
                <a:spcPts val="1200"/>
              </a:spcAft>
              <a:buClrTx/>
              <a:buSzTx/>
              <a:buFont typeface="Amazon Ember Display"/>
              <a:buChar char="•"/>
              <a:tabLst/>
              <a:defRPr/>
            </a:pPr>
            <a:r>
              <a:rPr kumimoji="0" lang="en-US" sz="2400" b="0" i="0" u="none" kern="1200" cap="none" spc="0" normalizeH="0" baseline="0" noProof="0" dirty="0">
                <a:ln>
                  <a:noFill/>
                </a:ln>
                <a:effectLst/>
                <a:uLnTx/>
                <a:uFillTx/>
                <a:ea typeface="+mn-ea"/>
                <a:cs typeface="+mn-cs"/>
              </a:rPr>
              <a:t>Consider best practices in the performance efficiency pillar such as making selection choices based on data characteristics and available options.</a:t>
            </a:r>
          </a:p>
          <a:p>
            <a:pPr lvl="0">
              <a:defRPr/>
            </a:pPr>
            <a:r>
              <a:rPr lang="en-US" sz="2400" dirty="0"/>
              <a:t>Consider</a:t>
            </a:r>
            <a:r>
              <a:rPr kumimoji="0" lang="en-US" sz="2400" b="0" i="0" u="none" kern="1200" cap="none" spc="0" normalizeH="0" baseline="0" noProof="0" dirty="0">
                <a:ln>
                  <a:noFill/>
                </a:ln>
                <a:effectLst/>
                <a:uLnTx/>
                <a:uFillTx/>
                <a:ea typeface="+mn-ea"/>
                <a:cs typeface="+mn-cs"/>
              </a:rPr>
              <a:t> best practices in the </a:t>
            </a:r>
            <a:r>
              <a:rPr lang="en-US" sz="2400" dirty="0"/>
              <a:t>reliability pillar such as using highly available network connectivity for your public endpoints.</a:t>
            </a:r>
          </a:p>
          <a:p>
            <a:pPr>
              <a:defRPr/>
            </a:pPr>
            <a:r>
              <a:rPr kumimoji="0" lang="en-US" sz="2400" b="0" i="0" u="none" kern="1200" cap="none" spc="0" normalizeH="0" baseline="0" noProof="0" dirty="0">
                <a:ln>
                  <a:noFill/>
                </a:ln>
                <a:effectLst/>
                <a:uLnTx/>
                <a:uFillTx/>
                <a:ea typeface="+mn-ea"/>
                <a:cs typeface="+mn-cs"/>
              </a:rPr>
              <a:t>Consider best practices in the cost optimization pillar such as implementing</a:t>
            </a:r>
            <a:r>
              <a:rPr lang="en-US" sz="2400" dirty="0"/>
              <a:t> services to reduce data transfer costs</a:t>
            </a:r>
            <a:r>
              <a:rPr kumimoji="0" lang="en-US" sz="2400" b="0" i="0" u="none" kern="1200" cap="none" spc="0" normalizeH="0" baseline="0" noProof="0" dirty="0">
                <a:ln>
                  <a:noFill/>
                </a:ln>
                <a:effectLst/>
                <a:uLnTx/>
                <a:uFillTx/>
                <a:ea typeface="+mn-ea"/>
                <a:cs typeface="+mn-cs"/>
              </a:rPr>
              <a:t>. </a:t>
            </a:r>
          </a:p>
        </p:txBody>
      </p:sp>
      <p:pic>
        <p:nvPicPr>
          <p:cNvPr id="5" name="Content Placeholder 13">
            <a:extLst>
              <a:ext uri="{FF2B5EF4-FFF2-40B4-BE49-F238E27FC236}">
                <a16:creationId xmlns:a16="http://schemas.microsoft.com/office/drawing/2014/main" id="{0BE67EF3-A3F7-407F-819C-0F6A1858E52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565" y="2892425"/>
            <a:ext cx="2511045" cy="2743200"/>
          </a:xfrm>
          <a:prstGeom prst="rect">
            <a:avLst/>
          </a:prstGeom>
        </p:spPr>
      </p:pic>
    </p:spTree>
    <p:custDataLst>
      <p:tags r:id="rId1"/>
    </p:custDataLst>
    <p:extLst>
      <p:ext uri="{BB962C8B-B14F-4D97-AF65-F5344CB8AC3E}">
        <p14:creationId xmlns:p14="http://schemas.microsoft.com/office/powerpoint/2010/main" val="35859365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466D712-C9A8-46A0-B884-5E631A8FEB20}"/>
              </a:ext>
            </a:extLst>
          </p:cNvPr>
          <p:cNvSpPr>
            <a:spLocks noGrp="1"/>
          </p:cNvSpPr>
          <p:nvPr>
            <p:ph type="sldNum" idx="97"/>
          </p:nvPr>
        </p:nvSpPr>
        <p:spPr/>
        <p:txBody>
          <a:bodyPr/>
          <a:lstStyle/>
          <a:p>
            <a:fld id="{4037B1B0-0345-4E15-985A-6BECCDBE474F}" type="slidenum">
              <a:rPr lang="en-US" smtClean="0"/>
              <a:pPr/>
              <a:t>44</a:t>
            </a:fld>
            <a:endParaRPr lang="en-US" dirty="0"/>
          </a:p>
        </p:txBody>
      </p:sp>
      <p:sp>
        <p:nvSpPr>
          <p:cNvPr id="3" name="Title">
            <a:extLst>
              <a:ext uri="{FF2B5EF4-FFF2-40B4-BE49-F238E27FC236}">
                <a16:creationId xmlns:a16="http://schemas.microsoft.com/office/drawing/2014/main" id="{0CB2CE2B-6503-4A42-A26B-2A0DCBE429FE}"/>
              </a:ext>
            </a:extLst>
          </p:cNvPr>
          <p:cNvSpPr>
            <a:spLocks noGrp="1"/>
          </p:cNvSpPr>
          <p:nvPr>
            <p:ph type="title" idx="1"/>
          </p:nvPr>
        </p:nvSpPr>
        <p:spPr/>
        <p:txBody>
          <a:bodyPr/>
          <a:lstStyle/>
          <a:p>
            <a:r>
              <a:rPr lang="en-US" dirty="0"/>
              <a:t>Module wrap-up</a:t>
            </a:r>
          </a:p>
        </p:txBody>
      </p:sp>
      <p:sp>
        <p:nvSpPr>
          <p:cNvPr id="4" name="Subtitle 3">
            <a:extLst>
              <a:ext uri="{FF2B5EF4-FFF2-40B4-BE49-F238E27FC236}">
                <a16:creationId xmlns:a16="http://schemas.microsoft.com/office/drawing/2014/main" id="{5E5B7028-94BF-44DD-A6A8-83AC8452CF4D}"/>
              </a:ext>
            </a:extLst>
          </p:cNvPr>
          <p:cNvSpPr>
            <a:spLocks noGrp="1"/>
          </p:cNvSpPr>
          <p:nvPr>
            <p:ph type="subTitle" idx="2"/>
          </p:nvPr>
        </p:nvSpPr>
        <p:spPr/>
        <p:txBody>
          <a:bodyPr/>
          <a:lstStyle/>
          <a:p>
            <a:r>
              <a:rPr lang="en-US" dirty="0"/>
              <a:t>Caching Content</a:t>
            </a:r>
          </a:p>
        </p:txBody>
      </p:sp>
    </p:spTree>
    <p:custDataLst>
      <p:tags r:id="rId1"/>
    </p:custDataLst>
    <p:extLst>
      <p:ext uri="{BB962C8B-B14F-4D97-AF65-F5344CB8AC3E}">
        <p14:creationId xmlns:p14="http://schemas.microsoft.com/office/powerpoint/2010/main" val="9535443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B977DED-1D58-41D1-B7D1-CD7547E004DA}"/>
              </a:ext>
            </a:extLst>
          </p:cNvPr>
          <p:cNvSpPr>
            <a:spLocks noGrp="1"/>
          </p:cNvSpPr>
          <p:nvPr>
            <p:ph type="sldNum" idx="97"/>
          </p:nvPr>
        </p:nvSpPr>
        <p:spPr/>
        <p:txBody>
          <a:bodyPr/>
          <a:lstStyle/>
          <a:p>
            <a:fld id="{4037B1B0-0345-4E15-985A-6BECCDBE474F}" type="slidenum">
              <a:rPr lang="en-US" smtClean="0"/>
              <a:pPr/>
              <a:t>45</a:t>
            </a:fld>
            <a:endParaRPr lang="en-US" dirty="0"/>
          </a:p>
        </p:txBody>
      </p:sp>
      <p:sp>
        <p:nvSpPr>
          <p:cNvPr id="3" name="Title">
            <a:extLst>
              <a:ext uri="{FF2B5EF4-FFF2-40B4-BE49-F238E27FC236}">
                <a16:creationId xmlns:a16="http://schemas.microsoft.com/office/drawing/2014/main" id="{BB1EAD8F-C490-41B0-BAA6-7B6D3A342EAD}"/>
              </a:ext>
            </a:extLst>
          </p:cNvPr>
          <p:cNvSpPr>
            <a:spLocks noGrp="1"/>
          </p:cNvSpPr>
          <p:nvPr>
            <p:ph type="title" idx="1"/>
          </p:nvPr>
        </p:nvSpPr>
        <p:spPr/>
        <p:txBody>
          <a:bodyPr/>
          <a:lstStyle/>
          <a:p>
            <a:r>
              <a:rPr lang="en-US" dirty="0"/>
              <a:t>Module summary</a:t>
            </a:r>
          </a:p>
        </p:txBody>
      </p:sp>
      <p:sp>
        <p:nvSpPr>
          <p:cNvPr id="4" name="Content Placeholder 3">
            <a:extLst>
              <a:ext uri="{FF2B5EF4-FFF2-40B4-BE49-F238E27FC236}">
                <a16:creationId xmlns:a16="http://schemas.microsoft.com/office/drawing/2014/main" id="{CC88BFF3-185D-4536-92AC-28642BDA4378}"/>
              </a:ext>
            </a:extLst>
          </p:cNvPr>
          <p:cNvSpPr>
            <a:spLocks noGrp="1"/>
          </p:cNvSpPr>
          <p:nvPr>
            <p:ph idx="2"/>
          </p:nvPr>
        </p:nvSpPr>
        <p:spPr/>
        <p:txBody>
          <a:bodyPr>
            <a:normAutofit/>
          </a:bodyPr>
          <a:lstStyle/>
          <a:p>
            <a:pPr marL="0" indent="0">
              <a:buNone/>
            </a:pPr>
            <a:r>
              <a:rPr lang="en-US" dirty="0"/>
              <a:t>This module prepared you to do the following: </a:t>
            </a:r>
          </a:p>
          <a:p>
            <a:pPr lvl="1"/>
            <a:r>
              <a:rPr lang="en-US" dirty="0"/>
              <a:t>Identify how caching content can improve application performance and reduce latency.</a:t>
            </a:r>
          </a:p>
          <a:p>
            <a:pPr lvl="1"/>
            <a:r>
              <a:rPr lang="en-US" dirty="0"/>
              <a:t>Identify how to use Amazon CloudFront to deliver content by using edge locations protection.</a:t>
            </a:r>
          </a:p>
          <a:p>
            <a:pPr lvl="1"/>
            <a:r>
              <a:rPr lang="en-US" dirty="0"/>
              <a:t>Create architectures that use CloudFront to cache content.</a:t>
            </a:r>
          </a:p>
          <a:p>
            <a:pPr lvl="1"/>
            <a:r>
              <a:rPr lang="en-US" dirty="0"/>
              <a:t>Describe how to use </a:t>
            </a:r>
            <a:r>
              <a:rPr lang="en-US" dirty="0" err="1"/>
              <a:t>ElastiCache</a:t>
            </a:r>
            <a:r>
              <a:rPr lang="en-US" dirty="0"/>
              <a:t> for database caching.</a:t>
            </a:r>
          </a:p>
          <a:p>
            <a:pPr lvl="1"/>
            <a:r>
              <a:rPr lang="en-US" dirty="0"/>
              <a:t>Use the AWS Well-Architected Framework principles when designing caching strategies.</a:t>
            </a:r>
          </a:p>
        </p:txBody>
      </p:sp>
    </p:spTree>
    <p:custDataLst>
      <p:tags r:id="rId1"/>
    </p:custDataLst>
    <p:extLst>
      <p:ext uri="{BB962C8B-B14F-4D97-AF65-F5344CB8AC3E}">
        <p14:creationId xmlns:p14="http://schemas.microsoft.com/office/powerpoint/2010/main" val="21625582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D3E603CF-D68B-4B8B-93BC-FCD4BB859AB0}"/>
              </a:ext>
            </a:extLst>
          </p:cNvPr>
          <p:cNvSpPr>
            <a:spLocks noGrp="1"/>
          </p:cNvSpPr>
          <p:nvPr>
            <p:ph type="sldNum" idx="97"/>
          </p:nvPr>
        </p:nvSpPr>
        <p:spPr/>
        <p:txBody>
          <a:bodyPr/>
          <a:lstStyle/>
          <a:p>
            <a:fld id="{930176A1-BCF0-4712-97A6-6B495F55390B}" type="slidenum">
              <a:rPr lang="en-US" smtClean="0"/>
              <a:pPr/>
              <a:t>46</a:t>
            </a:fld>
            <a:endParaRPr lang="en-US" dirty="0"/>
          </a:p>
        </p:txBody>
      </p:sp>
      <p:sp>
        <p:nvSpPr>
          <p:cNvPr id="6" name="Title">
            <a:extLst>
              <a:ext uri="{FF2B5EF4-FFF2-40B4-BE49-F238E27FC236}">
                <a16:creationId xmlns:a16="http://schemas.microsoft.com/office/drawing/2014/main" id="{0FF32DA6-E074-48D1-B456-F492D13645A3}"/>
              </a:ext>
            </a:extLst>
          </p:cNvPr>
          <p:cNvSpPr>
            <a:spLocks noGrp="1"/>
          </p:cNvSpPr>
          <p:nvPr>
            <p:ph type="title" idx="1"/>
          </p:nvPr>
        </p:nvSpPr>
        <p:spPr/>
        <p:txBody>
          <a:bodyPr/>
          <a:lstStyle/>
          <a:p>
            <a:r>
              <a:rPr lang="en-US" dirty="0"/>
              <a:t>Considerations for the café</a:t>
            </a:r>
          </a:p>
        </p:txBody>
      </p:sp>
      <p:sp>
        <p:nvSpPr>
          <p:cNvPr id="7" name="Content Placeholder 6">
            <a:extLst>
              <a:ext uri="{FF2B5EF4-FFF2-40B4-BE49-F238E27FC236}">
                <a16:creationId xmlns:a16="http://schemas.microsoft.com/office/drawing/2014/main" id="{057D32ED-E531-4CFA-A2FC-2955696D6542}"/>
              </a:ext>
            </a:extLst>
          </p:cNvPr>
          <p:cNvSpPr>
            <a:spLocks noGrp="1"/>
          </p:cNvSpPr>
          <p:nvPr>
            <p:ph idx="2"/>
          </p:nvPr>
        </p:nvSpPr>
        <p:spPr/>
        <p:txBody>
          <a:bodyPr/>
          <a:lstStyle/>
          <a:p>
            <a:r>
              <a:rPr lang="en-US" dirty="0"/>
              <a:t>Discuss how you as a cloud architect might advise the café based on the key cloud architect concerns presented at the start of this module.</a:t>
            </a:r>
          </a:p>
        </p:txBody>
      </p:sp>
      <p:pic>
        <p:nvPicPr>
          <p:cNvPr id="9" name="Content Placeholder 9">
            <a:extLst>
              <a:ext uri="{FF2B5EF4-FFF2-40B4-BE49-F238E27FC236}">
                <a16:creationId xmlns:a16="http://schemas.microsoft.com/office/drawing/2014/main" id="{8BB967EE-2606-4FC8-9FBA-D4B09E6741D4}"/>
              </a:ext>
              <a:ext uri="{C183D7F6-B498-43B3-948B-1728B52AA6E4}">
                <adec:decorative xmlns:adec="http://schemas.microsoft.com/office/drawing/2017/decorative" val="1"/>
              </a:ext>
            </a:extLst>
          </p:cNvPr>
          <p:cNvPicPr>
            <a:picLocks noGrp="1" noChangeAspect="1"/>
          </p:cNvPicPr>
          <p:nvPr>
            <p:ph type="pic" idx="22"/>
          </p:nvPr>
        </p:nvPicPr>
        <p:blipFill>
          <a:blip r:embed="rId4">
            <a:extLst>
              <a:ext uri="{28A0092B-C50C-407E-A947-70E740481C1C}">
                <a14:useLocalDpi xmlns:a14="http://schemas.microsoft.com/office/drawing/2010/main" val="0"/>
              </a:ext>
            </a:extLst>
          </a:blip>
          <a:srcRect l="16039" r="16039"/>
          <a:stretch>
            <a:fillRect/>
          </a:stretch>
        </p:blipFill>
        <p:spPr>
          <a:prstGeom prst="rect">
            <a:avLst/>
          </a:prstGeom>
        </p:spPr>
      </p:pic>
    </p:spTree>
    <p:custDataLst>
      <p:tags r:id="rId1"/>
    </p:custDataLst>
    <p:extLst>
      <p:ext uri="{BB962C8B-B14F-4D97-AF65-F5344CB8AC3E}">
        <p14:creationId xmlns:p14="http://schemas.microsoft.com/office/powerpoint/2010/main" val="26729467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C5C500B6-DE28-45E7-BCA4-C41255BDBCEA}"/>
              </a:ext>
            </a:extLst>
          </p:cNvPr>
          <p:cNvSpPr>
            <a:spLocks noGrp="1"/>
          </p:cNvSpPr>
          <p:nvPr>
            <p:ph type="sldNum" idx="97"/>
          </p:nvPr>
        </p:nvSpPr>
        <p:spPr/>
        <p:txBody>
          <a:bodyPr/>
          <a:lstStyle/>
          <a:p>
            <a:fld id="{930176A1-BCF0-4712-97A6-6B495F55390B}" type="slidenum">
              <a:rPr lang="en-US" smtClean="0"/>
              <a:pPr/>
              <a:t>47</a:t>
            </a:fld>
            <a:endParaRPr lang="en-US" dirty="0"/>
          </a:p>
        </p:txBody>
      </p:sp>
      <p:sp>
        <p:nvSpPr>
          <p:cNvPr id="3" name="Title">
            <a:extLst>
              <a:ext uri="{FF2B5EF4-FFF2-40B4-BE49-F238E27FC236}">
                <a16:creationId xmlns:a16="http://schemas.microsoft.com/office/drawing/2014/main" id="{51F3F5E5-7DD2-4213-B89E-D58B1DC6C675}"/>
              </a:ext>
            </a:extLst>
          </p:cNvPr>
          <p:cNvSpPr>
            <a:spLocks noGrp="1"/>
          </p:cNvSpPr>
          <p:nvPr>
            <p:ph type="title" idx="1"/>
          </p:nvPr>
        </p:nvSpPr>
        <p:spPr/>
        <p:txBody>
          <a:bodyPr/>
          <a:lstStyle/>
          <a:p>
            <a:r>
              <a:rPr lang="en-US" dirty="0"/>
              <a:t>Module knowledge check</a:t>
            </a:r>
          </a:p>
        </p:txBody>
      </p:sp>
      <p:sp>
        <p:nvSpPr>
          <p:cNvPr id="4" name="Text Placeholder 3">
            <a:extLst>
              <a:ext uri="{FF2B5EF4-FFF2-40B4-BE49-F238E27FC236}">
                <a16:creationId xmlns:a16="http://schemas.microsoft.com/office/drawing/2014/main" id="{B102839A-21FA-4CBF-AD8B-EDDC3CB67316}"/>
              </a:ext>
            </a:extLst>
          </p:cNvPr>
          <p:cNvSpPr>
            <a:spLocks noGrp="1"/>
          </p:cNvSpPr>
          <p:nvPr>
            <p:ph type="body" idx="3"/>
          </p:nvPr>
        </p:nvSpPr>
        <p:spPr/>
        <p:txBody>
          <a:bodyPr/>
          <a:lstStyle/>
          <a:p>
            <a:r>
              <a:rPr lang="en-US" dirty="0"/>
              <a:t>The knowledge check is delivered online within your course.</a:t>
            </a:r>
          </a:p>
          <a:p>
            <a:r>
              <a:rPr lang="en-US" dirty="0"/>
              <a:t>The knowledge check includes 10 questions based on material presented on the slides and in the slide notes.</a:t>
            </a:r>
          </a:p>
          <a:p>
            <a:r>
              <a:rPr lang="en-US" dirty="0"/>
              <a:t>You can retake the knowledge check as many times as you like.</a:t>
            </a:r>
          </a:p>
        </p:txBody>
      </p:sp>
      <p:pic>
        <p:nvPicPr>
          <p:cNvPr id="5" name="Content Placeholder 9">
            <a:extLst>
              <a:ext uri="{FF2B5EF4-FFF2-40B4-BE49-F238E27FC236}">
                <a16:creationId xmlns:a16="http://schemas.microsoft.com/office/drawing/2014/main" id="{807D4F68-5D6A-4D5A-900A-3670C23DDC8F}"/>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11658" y="3044661"/>
            <a:ext cx="1624858" cy="2438728"/>
          </a:xfrm>
          <a:prstGeom prst="rect">
            <a:avLst/>
          </a:prstGeom>
        </p:spPr>
      </p:pic>
    </p:spTree>
    <p:custDataLst>
      <p:tags r:id="rId1"/>
    </p:custDataLst>
    <p:extLst>
      <p:ext uri="{BB962C8B-B14F-4D97-AF65-F5344CB8AC3E}">
        <p14:creationId xmlns:p14="http://schemas.microsoft.com/office/powerpoint/2010/main" val="17435139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BE7C7FE3-114D-4F09-A6D8-7D726A57536D}"/>
              </a:ext>
            </a:extLst>
          </p:cNvPr>
          <p:cNvSpPr>
            <a:spLocks noGrp="1"/>
          </p:cNvSpPr>
          <p:nvPr>
            <p:ph type="sldNum" idx="97"/>
          </p:nvPr>
        </p:nvSpPr>
        <p:spPr/>
        <p:txBody>
          <a:bodyPr/>
          <a:lstStyle/>
          <a:p>
            <a:fld id="{4037B1B0-0345-4E15-985A-6BECCDBE474F}" type="slidenum">
              <a:rPr lang="en-US" smtClean="0"/>
              <a:pPr/>
              <a:t>48</a:t>
            </a:fld>
            <a:endParaRPr lang="en-US" dirty="0"/>
          </a:p>
        </p:txBody>
      </p:sp>
      <p:sp>
        <p:nvSpPr>
          <p:cNvPr id="3" name="Title">
            <a:extLst>
              <a:ext uri="{FF2B5EF4-FFF2-40B4-BE49-F238E27FC236}">
                <a16:creationId xmlns:a16="http://schemas.microsoft.com/office/drawing/2014/main" id="{F5028736-5372-4938-A26F-30FF32872DC0}"/>
              </a:ext>
            </a:extLst>
          </p:cNvPr>
          <p:cNvSpPr>
            <a:spLocks noGrp="1"/>
          </p:cNvSpPr>
          <p:nvPr>
            <p:ph type="title" idx="1"/>
          </p:nvPr>
        </p:nvSpPr>
        <p:spPr/>
        <p:txBody>
          <a:bodyPr/>
          <a:lstStyle/>
          <a:p>
            <a:r>
              <a:rPr lang="en-US" dirty="0"/>
              <a:t>Sample exam question</a:t>
            </a:r>
          </a:p>
        </p:txBody>
      </p:sp>
      <p:sp>
        <p:nvSpPr>
          <p:cNvPr id="6" name="Text Placeholder 5">
            <a:extLst>
              <a:ext uri="{FF2B5EF4-FFF2-40B4-BE49-F238E27FC236}">
                <a16:creationId xmlns:a16="http://schemas.microsoft.com/office/drawing/2014/main" id="{DBD41753-00A1-4B2D-9A54-D2109FDADD93}"/>
              </a:ext>
            </a:extLst>
          </p:cNvPr>
          <p:cNvSpPr>
            <a:spLocks noGrp="1"/>
          </p:cNvSpPr>
          <p:nvPr>
            <p:ph type="body" sz="quarter" idx="98"/>
          </p:nvPr>
        </p:nvSpPr>
        <p:spPr/>
        <p:txBody>
          <a:bodyPr/>
          <a:lstStyle/>
          <a:p>
            <a:r>
              <a:rPr lang="en-US" sz="1800" dirty="0"/>
              <a:t>Your company is hosting an ecommerce site and storing the records in an Amazon RDS database. After a few days, the Amazon RDS database is experiencing serious performance issues due to website requests. Which option is the most cost-effective way to deal with the performance issues due to many read requests?</a:t>
            </a:r>
          </a:p>
        </p:txBody>
      </p:sp>
      <p:sp>
        <p:nvSpPr>
          <p:cNvPr id="14" name="Text Placeholder 3">
            <a:extLst>
              <a:ext uri="{FF2B5EF4-FFF2-40B4-BE49-F238E27FC236}">
                <a16:creationId xmlns:a16="http://schemas.microsoft.com/office/drawing/2014/main" id="{F6273E28-0A43-43EC-8717-2E9B3AEC1A11}"/>
              </a:ext>
            </a:extLst>
          </p:cNvPr>
          <p:cNvSpPr txBox="1">
            <a:spLocks/>
          </p:cNvSpPr>
          <p:nvPr/>
        </p:nvSpPr>
        <p:spPr>
          <a:xfrm>
            <a:off x="0" y="2440732"/>
            <a:ext cx="12188952" cy="558729"/>
          </a:xfrm>
          <a:prstGeom prst="rect">
            <a:avLst/>
          </a:prstGeom>
          <a:noFill/>
        </p:spPr>
        <p:txBody>
          <a:bodyPr vert="horz" lIns="182880" tIns="91440" rIns="182880" bIns="91440" rtlCol="0" anchor="ctr">
            <a:normAutofit/>
          </a:bodyPr>
          <a:lstStyle>
            <a:defPPr>
              <a:defRPr lang="en-US"/>
            </a:defPPr>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kern="1200">
                <a:solidFill>
                  <a:schemeClr val="bg1"/>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232F3E"/>
                </a:solidFill>
                <a:effectLst/>
                <a:uLnTx/>
                <a:uFillTx/>
                <a:latin typeface="+mn-lt"/>
                <a:ea typeface="+mn-ea"/>
                <a:cs typeface="+mn-cs"/>
              </a:rPr>
              <a:t>Identify the key words and phrases before continuing.</a:t>
            </a:r>
          </a:p>
        </p:txBody>
      </p:sp>
      <p:sp>
        <p:nvSpPr>
          <p:cNvPr id="15" name="Text Placeholder 3">
            <a:extLst>
              <a:ext uri="{FF2B5EF4-FFF2-40B4-BE49-F238E27FC236}">
                <a16:creationId xmlns:a16="http://schemas.microsoft.com/office/drawing/2014/main" id="{161CB9C2-C199-471C-A6E6-48A1444E8DA5}"/>
              </a:ext>
            </a:extLst>
          </p:cNvPr>
          <p:cNvSpPr txBox="1">
            <a:spLocks/>
          </p:cNvSpPr>
          <p:nvPr/>
        </p:nvSpPr>
        <p:spPr>
          <a:xfrm>
            <a:off x="0" y="2999461"/>
            <a:ext cx="12188952" cy="3051128"/>
          </a:xfrm>
          <a:prstGeom prst="rect">
            <a:avLst/>
          </a:prstGeom>
          <a:noFill/>
        </p:spPr>
        <p:txBody>
          <a:bodyPr vert="horz" lIns="182880" tIns="91440" rIns="182880" bIns="91440" rtlCol="0">
            <a:noAutofit/>
          </a:bodyPr>
          <a:lstStyle>
            <a:defPPr>
              <a:defRPr lang="en-US"/>
            </a:defPPr>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1800" kern="1200">
                <a:solidFill>
                  <a:schemeClr val="bg1"/>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kumimoji="0" lang="en-US" sz="1800" i="0" u="none" strike="noStrike" kern="1200" cap="none" spc="0" normalizeH="0" baseline="0" noProof="0" dirty="0">
                <a:ln>
                  <a:noFill/>
                </a:ln>
                <a:solidFill>
                  <a:srgbClr val="232F3E"/>
                </a:solidFill>
                <a:effectLst/>
                <a:uLnTx/>
                <a:uFillTx/>
                <a:latin typeface="+mn-lt"/>
                <a:ea typeface="Amazon Ember Heavy" panose="020B0803020204020204" pitchFamily="34" charset="0"/>
                <a:cs typeface="Amazon Ember Heavy" panose="020B0803020204020204" pitchFamily="34" charset="0"/>
              </a:rPr>
              <a:t>The following are the key words and phrases:</a:t>
            </a:r>
          </a:p>
          <a:p>
            <a:pPr marL="285750" lvl="0" indent="-285750">
              <a:buFont typeface="Arial" panose="020B0604020202020204" pitchFamily="34" charset="0"/>
              <a:buChar char="•"/>
              <a:defRPr/>
            </a:pPr>
            <a:r>
              <a:rPr lang="en-US" dirty="0">
                <a:solidFill>
                  <a:srgbClr val="232F3E"/>
                </a:solidFill>
                <a:latin typeface="+mn-lt"/>
              </a:rPr>
              <a:t>Amazon RDS database</a:t>
            </a:r>
          </a:p>
          <a:p>
            <a:pPr marL="285750" lvl="0" indent="-285750">
              <a:buFont typeface="Arial" panose="020B0604020202020204" pitchFamily="34" charset="0"/>
              <a:buChar char="•"/>
              <a:defRPr/>
            </a:pPr>
            <a:r>
              <a:rPr lang="en-US" dirty="0">
                <a:solidFill>
                  <a:srgbClr val="232F3E"/>
                </a:solidFill>
                <a:latin typeface="+mn-lt"/>
              </a:rPr>
              <a:t>cost-effective</a:t>
            </a:r>
          </a:p>
          <a:p>
            <a:pPr marL="285750" lvl="0" indent="-285750">
              <a:buFont typeface="Arial" panose="020B0604020202020204" pitchFamily="34" charset="0"/>
              <a:buChar char="•"/>
              <a:defRPr/>
            </a:pPr>
            <a:r>
              <a:rPr lang="en-US" dirty="0">
                <a:solidFill>
                  <a:srgbClr val="232F3E"/>
                </a:solidFill>
                <a:latin typeface="+mn-lt"/>
              </a:rPr>
              <a:t>performance issues due to many read requests</a:t>
            </a:r>
          </a:p>
        </p:txBody>
      </p:sp>
    </p:spTree>
    <p:custDataLst>
      <p:tags r:id="rId1"/>
    </p:custDataLst>
    <p:extLst>
      <p:ext uri="{BB962C8B-B14F-4D97-AF65-F5344CB8AC3E}">
        <p14:creationId xmlns:p14="http://schemas.microsoft.com/office/powerpoint/2010/main" val="407855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60C1596-F24F-4D09-B02B-BC63E00C7E5E}"/>
              </a:ext>
            </a:extLst>
          </p:cNvPr>
          <p:cNvSpPr>
            <a:spLocks noGrp="1"/>
          </p:cNvSpPr>
          <p:nvPr>
            <p:ph type="sldNum" idx="97"/>
          </p:nvPr>
        </p:nvSpPr>
        <p:spPr/>
        <p:txBody>
          <a:bodyPr/>
          <a:lstStyle/>
          <a:p>
            <a:fld id="{4037B1B0-0345-4E15-985A-6BECCDBE474F}" type="slidenum">
              <a:rPr lang="en-US" smtClean="0"/>
              <a:pPr/>
              <a:t>49</a:t>
            </a:fld>
            <a:endParaRPr lang="en-US" dirty="0"/>
          </a:p>
        </p:txBody>
      </p:sp>
      <p:sp>
        <p:nvSpPr>
          <p:cNvPr id="21" name="Title">
            <a:extLst>
              <a:ext uri="{FF2B5EF4-FFF2-40B4-BE49-F238E27FC236}">
                <a16:creationId xmlns:a16="http://schemas.microsoft.com/office/drawing/2014/main" id="{EDED5338-E1F6-4A13-90E6-0B24EB06EB47}"/>
              </a:ext>
            </a:extLst>
          </p:cNvPr>
          <p:cNvSpPr>
            <a:spLocks noGrp="1"/>
          </p:cNvSpPr>
          <p:nvPr>
            <p:ph type="title" idx="1"/>
          </p:nvPr>
        </p:nvSpPr>
        <p:spPr/>
        <p:txBody>
          <a:bodyPr/>
          <a:lstStyle/>
          <a:p>
            <a:r>
              <a:rPr lang="en-US" dirty="0"/>
              <a:t>Sample exam question: Response choices</a:t>
            </a:r>
          </a:p>
        </p:txBody>
      </p:sp>
      <p:sp>
        <p:nvSpPr>
          <p:cNvPr id="22" name="Text Placeholder 21">
            <a:extLst>
              <a:ext uri="{FF2B5EF4-FFF2-40B4-BE49-F238E27FC236}">
                <a16:creationId xmlns:a16="http://schemas.microsoft.com/office/drawing/2014/main" id="{2F3936C1-AD6A-4B22-B005-DA7F2684F35E}"/>
              </a:ext>
            </a:extLst>
          </p:cNvPr>
          <p:cNvSpPr>
            <a:spLocks noGrp="1"/>
          </p:cNvSpPr>
          <p:nvPr>
            <p:ph type="body" sz="quarter" idx="98"/>
          </p:nvPr>
        </p:nvSpPr>
        <p:spPr/>
        <p:txBody>
          <a:bodyPr/>
          <a:lstStyle/>
          <a:p>
            <a:r>
              <a:rPr lang="en-US" sz="1800" dirty="0"/>
              <a:t>Your company is hosting an ecommerce site and storing the records in an </a:t>
            </a:r>
            <a:r>
              <a:rPr lang="en-US" sz="1800" b="1" dirty="0"/>
              <a:t>Amazon RDS database</a:t>
            </a:r>
            <a:r>
              <a:rPr lang="en-US" sz="1800" dirty="0"/>
              <a:t>. After a few days, the Amazon RDS database is experiencing serious performance issues due to website requests. Which option is the most </a:t>
            </a:r>
            <a:r>
              <a:rPr lang="en-US" sz="1800" b="1" dirty="0"/>
              <a:t>cost-effective</a:t>
            </a:r>
            <a:r>
              <a:rPr lang="en-US" sz="1800" dirty="0"/>
              <a:t> way to deal with the </a:t>
            </a:r>
            <a:r>
              <a:rPr lang="en-US" sz="1800" b="1" dirty="0"/>
              <a:t>performance issues due to many read requests</a:t>
            </a:r>
            <a:r>
              <a:rPr lang="en-US" sz="1800" dirty="0"/>
              <a:t>?</a:t>
            </a:r>
          </a:p>
          <a:p>
            <a:endParaRPr lang="en-US" sz="1800" dirty="0"/>
          </a:p>
        </p:txBody>
      </p:sp>
      <p:sp>
        <p:nvSpPr>
          <p:cNvPr id="6" name="Choice Header">
            <a:extLst>
              <a:ext uri="{FF2B5EF4-FFF2-40B4-BE49-F238E27FC236}">
                <a16:creationId xmlns:a16="http://schemas.microsoft.com/office/drawing/2014/main" id="{3F996E5E-AAE7-4F03-97C6-34A28BC4975B}"/>
              </a:ext>
            </a:extLst>
          </p:cNvPr>
          <p:cNvSpPr txBox="1">
            <a:spLocks/>
          </p:cNvSpPr>
          <p:nvPr/>
        </p:nvSpPr>
        <p:spPr>
          <a:xfrm>
            <a:off x="2477" y="2247498"/>
            <a:ext cx="886968" cy="317500"/>
          </a:xfrm>
          <a:prstGeom prst="rect">
            <a:avLst/>
          </a:prstGeom>
          <a:solidFill>
            <a:schemeClr val="accent2"/>
          </a:solidFill>
          <a:ln>
            <a:noFill/>
          </a:ln>
        </p:spPr>
        <p:txBody>
          <a:bodyPr lIns="0" tIns="45720" rIns="0" bIns="45720" anchor="ctr">
            <a:noAutofit/>
          </a:bodyPr>
          <a:lstStyle>
            <a:defPPr>
              <a:defRPr lang="en-US"/>
            </a:defPPr>
            <a:lvl1pPr marL="0" indent="0" algn="ctr"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600"/>
              </a:spcAft>
              <a:buClrTx/>
              <a:buSzTx/>
              <a:buFont typeface="Amazon Ember"/>
              <a:buNone/>
              <a:tabLst/>
              <a:defRPr/>
            </a:pPr>
            <a:r>
              <a:rPr kumimoji="0" lang="en-US" sz="1600" b="1" i="0" u="none" strike="noStrike" kern="1200" cap="none" spc="0" normalizeH="0" baseline="0" noProof="0" dirty="0">
                <a:ln>
                  <a:noFill/>
                </a:ln>
                <a:solidFill>
                  <a:schemeClr val="bg1"/>
                </a:solidFill>
                <a:effectLst/>
                <a:uLnTx/>
                <a:uFillTx/>
                <a:latin typeface="+mn-lt"/>
                <a:ea typeface="+mn-ea"/>
                <a:cs typeface="+mn-cs"/>
              </a:rPr>
              <a:t>Choice</a:t>
            </a:r>
          </a:p>
        </p:txBody>
      </p:sp>
      <p:sp>
        <p:nvSpPr>
          <p:cNvPr id="7" name="Response Header">
            <a:extLst>
              <a:ext uri="{FF2B5EF4-FFF2-40B4-BE49-F238E27FC236}">
                <a16:creationId xmlns:a16="http://schemas.microsoft.com/office/drawing/2014/main" id="{D1E3B812-79B4-4414-9DF3-C3B4608F1E84}"/>
              </a:ext>
            </a:extLst>
          </p:cNvPr>
          <p:cNvSpPr txBox="1">
            <a:spLocks/>
          </p:cNvSpPr>
          <p:nvPr/>
        </p:nvSpPr>
        <p:spPr>
          <a:xfrm>
            <a:off x="907950" y="2247498"/>
            <a:ext cx="11284050" cy="317500"/>
          </a:xfrm>
          <a:prstGeom prst="rect">
            <a:avLst/>
          </a:prstGeom>
          <a:solidFill>
            <a:schemeClr val="accent2"/>
          </a:solidFill>
          <a:ln>
            <a:noFill/>
          </a:ln>
        </p:spPr>
        <p:txBody>
          <a:bodyPr lIns="91440" rIns="91440" anchor="ctr">
            <a:noAutofit/>
          </a:bodyPr>
          <a:lstStyle>
            <a:defPPr>
              <a:defRPr lang="en-US"/>
            </a:defPPr>
            <a:lvl1pPr marL="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l" defTabSz="228600" rtl="0" eaLnBrk="1" fontAlgn="auto" latinLnBrk="0" hangingPunct="1">
              <a:lnSpc>
                <a:spcPct val="100000"/>
              </a:lnSpc>
              <a:spcBef>
                <a:spcPts val="0"/>
              </a:spcBef>
              <a:spcAft>
                <a:spcPts val="600"/>
              </a:spcAft>
              <a:buClrTx/>
              <a:buSzTx/>
              <a:buFont typeface="Amazon Ember"/>
              <a:buNone/>
              <a:tabLst/>
              <a:defRPr/>
            </a:pPr>
            <a:r>
              <a:rPr kumimoji="0" lang="en-US" sz="1600" b="1" i="0" u="none" strike="noStrike" kern="1200" cap="none" spc="0" normalizeH="0" baseline="0" noProof="0" dirty="0">
                <a:ln>
                  <a:noFill/>
                </a:ln>
                <a:solidFill>
                  <a:schemeClr val="bg1"/>
                </a:solidFill>
                <a:effectLst/>
                <a:uLnTx/>
                <a:uFillTx/>
                <a:latin typeface="+mn-lt"/>
                <a:ea typeface="+mn-ea"/>
                <a:cs typeface="+mn-cs"/>
              </a:rPr>
              <a:t>Response</a:t>
            </a:r>
          </a:p>
        </p:txBody>
      </p:sp>
      <p:grpSp>
        <p:nvGrpSpPr>
          <p:cNvPr id="23" name="Group 22">
            <a:extLst>
              <a:ext uri="{FF2B5EF4-FFF2-40B4-BE49-F238E27FC236}">
                <a16:creationId xmlns:a16="http://schemas.microsoft.com/office/drawing/2014/main" id="{FB7FB152-EB9F-4868-A95D-1F3F58950B58}"/>
              </a:ext>
            </a:extLst>
          </p:cNvPr>
          <p:cNvGrpSpPr/>
          <p:nvPr/>
        </p:nvGrpSpPr>
        <p:grpSpPr>
          <a:xfrm>
            <a:off x="2477" y="2564971"/>
            <a:ext cx="12189169" cy="2571900"/>
            <a:chOff x="2477" y="3043941"/>
            <a:chExt cx="12189169" cy="2571900"/>
          </a:xfrm>
        </p:grpSpPr>
        <p:sp>
          <p:nvSpPr>
            <p:cNvPr id="8" name="First Resp #">
              <a:extLst>
                <a:ext uri="{FF2B5EF4-FFF2-40B4-BE49-F238E27FC236}">
                  <a16:creationId xmlns:a16="http://schemas.microsoft.com/office/drawing/2014/main" id="{50D4BF4D-2ADF-481B-AB74-C89F98076F9A}"/>
                </a:ext>
              </a:extLst>
            </p:cNvPr>
            <p:cNvSpPr txBox="1">
              <a:spLocks/>
            </p:cNvSpPr>
            <p:nvPr/>
          </p:nvSpPr>
          <p:spPr>
            <a:xfrm>
              <a:off x="2477" y="304394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A</a:t>
              </a:r>
            </a:p>
          </p:txBody>
        </p:sp>
        <p:sp>
          <p:nvSpPr>
            <p:cNvPr id="9" name="First Resp Text">
              <a:extLst>
                <a:ext uri="{FF2B5EF4-FFF2-40B4-BE49-F238E27FC236}">
                  <a16:creationId xmlns:a16="http://schemas.microsoft.com/office/drawing/2014/main" id="{A0B7C74D-8B03-4109-A80D-B35621F8559C}"/>
                </a:ext>
              </a:extLst>
            </p:cNvPr>
            <p:cNvSpPr txBox="1">
              <a:spLocks/>
            </p:cNvSpPr>
            <p:nvPr/>
          </p:nvSpPr>
          <p:spPr>
            <a:xfrm>
              <a:off x="907950" y="304394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latin typeface="+mn-lt"/>
                </a:rPr>
                <a:t>Enable the Multi-AZ feature for the Amazon RDS database.</a:t>
              </a:r>
              <a:endParaRPr kumimoji="0" lang="en-US" sz="1600" b="0" i="0" u="none" strike="noStrike" kern="1200" cap="none" spc="0" normalizeH="0" baseline="0" noProof="0" dirty="0">
                <a:ln>
                  <a:noFill/>
                </a:ln>
                <a:solidFill>
                  <a:srgbClr val="232F3E"/>
                </a:solidFill>
                <a:effectLst/>
                <a:uLnTx/>
                <a:uFillTx/>
                <a:latin typeface="+mn-lt"/>
              </a:endParaRPr>
            </a:p>
          </p:txBody>
        </p:sp>
        <p:sp>
          <p:nvSpPr>
            <p:cNvPr id="10" name="Second Resp #">
              <a:extLst>
                <a:ext uri="{FF2B5EF4-FFF2-40B4-BE49-F238E27FC236}">
                  <a16:creationId xmlns:a16="http://schemas.microsoft.com/office/drawing/2014/main" id="{246C48B0-A0E6-4C02-8F1D-6631CCF8677A}"/>
                </a:ext>
              </a:extLst>
            </p:cNvPr>
            <p:cNvSpPr txBox="1">
              <a:spLocks/>
            </p:cNvSpPr>
            <p:nvPr/>
          </p:nvSpPr>
          <p:spPr>
            <a:xfrm>
              <a:off x="2477" y="368788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B</a:t>
              </a:r>
            </a:p>
          </p:txBody>
        </p:sp>
        <p:sp>
          <p:nvSpPr>
            <p:cNvPr id="11" name="Second Resp Text">
              <a:extLst>
                <a:ext uri="{FF2B5EF4-FFF2-40B4-BE49-F238E27FC236}">
                  <a16:creationId xmlns:a16="http://schemas.microsoft.com/office/drawing/2014/main" id="{E39680D5-C554-4563-8436-485817C9736B}"/>
                </a:ext>
              </a:extLst>
            </p:cNvPr>
            <p:cNvSpPr txBox="1">
              <a:spLocks/>
            </p:cNvSpPr>
            <p:nvPr/>
          </p:nvSpPr>
          <p:spPr>
            <a:xfrm>
              <a:off x="907950" y="368788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latin typeface="+mn-lt"/>
                </a:rPr>
                <a:t>Configure Amazon ElastiCache to cache frequently used content from the database.</a:t>
              </a:r>
            </a:p>
          </p:txBody>
        </p:sp>
        <p:sp>
          <p:nvSpPr>
            <p:cNvPr id="12" name="Third Resp #">
              <a:extLst>
                <a:ext uri="{FF2B5EF4-FFF2-40B4-BE49-F238E27FC236}">
                  <a16:creationId xmlns:a16="http://schemas.microsoft.com/office/drawing/2014/main" id="{F001397A-F32C-4D56-B084-61BE01996E3F}"/>
                </a:ext>
              </a:extLst>
            </p:cNvPr>
            <p:cNvSpPr txBox="1">
              <a:spLocks/>
            </p:cNvSpPr>
            <p:nvPr/>
          </p:nvSpPr>
          <p:spPr>
            <a:xfrm>
              <a:off x="2477" y="433182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C</a:t>
              </a:r>
            </a:p>
          </p:txBody>
        </p:sp>
        <p:sp>
          <p:nvSpPr>
            <p:cNvPr id="13" name="Third Resp Text">
              <a:extLst>
                <a:ext uri="{FF2B5EF4-FFF2-40B4-BE49-F238E27FC236}">
                  <a16:creationId xmlns:a16="http://schemas.microsoft.com/office/drawing/2014/main" id="{D390788A-E6DE-4219-B1A0-44AAA778A117}"/>
                </a:ext>
              </a:extLst>
            </p:cNvPr>
            <p:cNvSpPr txBox="1">
              <a:spLocks/>
            </p:cNvSpPr>
            <p:nvPr/>
          </p:nvSpPr>
          <p:spPr>
            <a:xfrm>
              <a:off x="907950" y="433182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latin typeface="+mn-lt"/>
                </a:rPr>
                <a:t>Place a load balancer in front of the database.</a:t>
              </a:r>
            </a:p>
          </p:txBody>
        </p:sp>
        <p:sp>
          <p:nvSpPr>
            <p:cNvPr id="14" name="Fourth Resp #">
              <a:extLst>
                <a:ext uri="{FF2B5EF4-FFF2-40B4-BE49-F238E27FC236}">
                  <a16:creationId xmlns:a16="http://schemas.microsoft.com/office/drawing/2014/main" id="{589FBE28-C515-472F-A537-587EFED24508}"/>
                </a:ext>
              </a:extLst>
            </p:cNvPr>
            <p:cNvSpPr txBox="1">
              <a:spLocks/>
            </p:cNvSpPr>
            <p:nvPr/>
          </p:nvSpPr>
          <p:spPr>
            <a:xfrm>
              <a:off x="2477" y="497576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mn-lt"/>
                  <a:ea typeface="+mn-ea"/>
                  <a:cs typeface="+mn-cs"/>
                </a:rPr>
                <a:t>D</a:t>
              </a:r>
            </a:p>
          </p:txBody>
        </p:sp>
        <p:sp>
          <p:nvSpPr>
            <p:cNvPr id="15" name="Fourth Resp Text">
              <a:extLst>
                <a:ext uri="{FF2B5EF4-FFF2-40B4-BE49-F238E27FC236}">
                  <a16:creationId xmlns:a16="http://schemas.microsoft.com/office/drawing/2014/main" id="{92EE079D-FFFC-4920-B510-D249E5D1158E}"/>
                </a:ext>
              </a:extLst>
            </p:cNvPr>
            <p:cNvSpPr txBox="1">
              <a:spLocks/>
            </p:cNvSpPr>
            <p:nvPr/>
          </p:nvSpPr>
          <p:spPr>
            <a:xfrm>
              <a:off x="907950" y="497576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solidFill>
                    <a:srgbClr val="232F3E"/>
                  </a:solidFill>
                  <a:latin typeface="+mn-lt"/>
                </a:rPr>
                <a:t>Configure Amazon CloudFront to cache content from the database.</a:t>
              </a:r>
            </a:p>
          </p:txBody>
        </p:sp>
      </p:grpSp>
    </p:spTree>
    <p:custDataLst>
      <p:tags r:id="rId1"/>
    </p:custDataLst>
    <p:extLst>
      <p:ext uri="{BB962C8B-B14F-4D97-AF65-F5344CB8AC3E}">
        <p14:creationId xmlns:p14="http://schemas.microsoft.com/office/powerpoint/2010/main" val="30875330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560C1596-F24F-4D09-B02B-BC63E00C7E5E}"/>
              </a:ext>
            </a:extLst>
          </p:cNvPr>
          <p:cNvSpPr>
            <a:spLocks noGrp="1"/>
          </p:cNvSpPr>
          <p:nvPr>
            <p:ph type="sldNum" idx="97"/>
          </p:nvPr>
        </p:nvSpPr>
        <p:spPr/>
        <p:txBody>
          <a:bodyPr/>
          <a:lstStyle/>
          <a:p>
            <a:fld id="{4037B1B0-0345-4E15-985A-6BECCDBE474F}" type="slidenum">
              <a:rPr lang="en-US" smtClean="0"/>
              <a:pPr/>
              <a:t>50</a:t>
            </a:fld>
            <a:endParaRPr lang="en-US" dirty="0"/>
          </a:p>
        </p:txBody>
      </p:sp>
      <p:sp>
        <p:nvSpPr>
          <p:cNvPr id="21" name="Title">
            <a:extLst>
              <a:ext uri="{FF2B5EF4-FFF2-40B4-BE49-F238E27FC236}">
                <a16:creationId xmlns:a16="http://schemas.microsoft.com/office/drawing/2014/main" id="{EDED5338-E1F6-4A13-90E6-0B24EB06EB47}"/>
              </a:ext>
            </a:extLst>
          </p:cNvPr>
          <p:cNvSpPr>
            <a:spLocks noGrp="1"/>
          </p:cNvSpPr>
          <p:nvPr>
            <p:ph type="title" idx="1"/>
          </p:nvPr>
        </p:nvSpPr>
        <p:spPr/>
        <p:txBody>
          <a:bodyPr/>
          <a:lstStyle/>
          <a:p>
            <a:r>
              <a:rPr lang="en-US" dirty="0"/>
              <a:t>Sample exam question: Answer</a:t>
            </a:r>
          </a:p>
        </p:txBody>
      </p:sp>
      <p:sp>
        <p:nvSpPr>
          <p:cNvPr id="22" name="Text Placeholder 21">
            <a:extLst>
              <a:ext uri="{FF2B5EF4-FFF2-40B4-BE49-F238E27FC236}">
                <a16:creationId xmlns:a16="http://schemas.microsoft.com/office/drawing/2014/main" id="{2F3936C1-AD6A-4B22-B005-DA7F2684F35E}"/>
              </a:ext>
            </a:extLst>
          </p:cNvPr>
          <p:cNvSpPr>
            <a:spLocks noGrp="1"/>
          </p:cNvSpPr>
          <p:nvPr>
            <p:ph type="body" sz="quarter" idx="98"/>
          </p:nvPr>
        </p:nvSpPr>
        <p:spPr/>
        <p:txBody>
          <a:bodyPr/>
          <a:lstStyle/>
          <a:p>
            <a:r>
              <a:rPr lang="en-US" sz="1800" dirty="0"/>
              <a:t>The answer is B.</a:t>
            </a:r>
          </a:p>
        </p:txBody>
      </p:sp>
      <p:sp>
        <p:nvSpPr>
          <p:cNvPr id="6" name="Choice Header">
            <a:extLst>
              <a:ext uri="{FF2B5EF4-FFF2-40B4-BE49-F238E27FC236}">
                <a16:creationId xmlns:a16="http://schemas.microsoft.com/office/drawing/2014/main" id="{3F996E5E-AAE7-4F03-97C6-34A28BC4975B}"/>
              </a:ext>
            </a:extLst>
          </p:cNvPr>
          <p:cNvSpPr txBox="1">
            <a:spLocks/>
          </p:cNvSpPr>
          <p:nvPr/>
        </p:nvSpPr>
        <p:spPr>
          <a:xfrm>
            <a:off x="2477" y="2247498"/>
            <a:ext cx="886968" cy="317500"/>
          </a:xfrm>
          <a:prstGeom prst="rect">
            <a:avLst/>
          </a:prstGeom>
          <a:solidFill>
            <a:schemeClr val="accent2"/>
          </a:solidFill>
          <a:ln>
            <a:noFill/>
          </a:ln>
        </p:spPr>
        <p:txBody>
          <a:bodyPr lIns="0" tIns="45720" rIns="0" bIns="45720" anchor="ctr">
            <a:noAutofit/>
          </a:bodyPr>
          <a:lstStyle>
            <a:defPPr>
              <a:defRPr lang="en-US"/>
            </a:defPPr>
            <a:lvl1pPr marL="0" indent="0" algn="ctr"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600"/>
              </a:spcAft>
              <a:buClrTx/>
              <a:buSzTx/>
              <a:buFont typeface="Amazon Ember"/>
              <a:buNone/>
              <a:tabLst/>
              <a:defRPr/>
            </a:pPr>
            <a:r>
              <a:rPr kumimoji="0" lang="en-US" sz="1600" b="1" i="0" u="none" strike="noStrike" kern="1200" cap="none" spc="0" normalizeH="0" baseline="0" noProof="0" dirty="0">
                <a:ln>
                  <a:noFill/>
                </a:ln>
                <a:solidFill>
                  <a:schemeClr val="bg1"/>
                </a:solidFill>
                <a:effectLst/>
                <a:uLnTx/>
                <a:uFillTx/>
                <a:latin typeface="+mn-lt"/>
                <a:ea typeface="+mn-ea"/>
                <a:cs typeface="+mn-cs"/>
              </a:rPr>
              <a:t>Choice</a:t>
            </a:r>
          </a:p>
        </p:txBody>
      </p:sp>
      <p:sp>
        <p:nvSpPr>
          <p:cNvPr id="7" name="Response Header">
            <a:extLst>
              <a:ext uri="{FF2B5EF4-FFF2-40B4-BE49-F238E27FC236}">
                <a16:creationId xmlns:a16="http://schemas.microsoft.com/office/drawing/2014/main" id="{D1E3B812-79B4-4414-9DF3-C3B4608F1E84}"/>
              </a:ext>
            </a:extLst>
          </p:cNvPr>
          <p:cNvSpPr txBox="1">
            <a:spLocks/>
          </p:cNvSpPr>
          <p:nvPr/>
        </p:nvSpPr>
        <p:spPr>
          <a:xfrm>
            <a:off x="907950" y="2247498"/>
            <a:ext cx="11284050" cy="317500"/>
          </a:xfrm>
          <a:prstGeom prst="rect">
            <a:avLst/>
          </a:prstGeom>
          <a:solidFill>
            <a:schemeClr val="accent2"/>
          </a:solidFill>
          <a:ln>
            <a:noFill/>
          </a:ln>
        </p:spPr>
        <p:txBody>
          <a:bodyPr lIns="91440" rIns="91440" anchor="ctr">
            <a:noAutofit/>
          </a:bodyPr>
          <a:lstStyle>
            <a:defPPr>
              <a:defRPr lang="en-US"/>
            </a:defPPr>
            <a:lvl1pPr marL="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1pPr>
            <a:lvl2pPr marL="457200" indent="-230188" algn="l" defTabSz="228600" rtl="0" eaLnBrk="1" latinLnBrk="0" hangingPunct="1">
              <a:lnSpc>
                <a:spcPct val="100000"/>
              </a:lnSpc>
              <a:spcBef>
                <a:spcPts val="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l" defTabSz="228600" rtl="0" eaLnBrk="1" fontAlgn="auto" latinLnBrk="0" hangingPunct="1">
              <a:lnSpc>
                <a:spcPct val="100000"/>
              </a:lnSpc>
              <a:spcBef>
                <a:spcPts val="0"/>
              </a:spcBef>
              <a:spcAft>
                <a:spcPts val="600"/>
              </a:spcAft>
              <a:buClrTx/>
              <a:buSzTx/>
              <a:buFont typeface="Amazon Ember"/>
              <a:buNone/>
              <a:tabLst/>
              <a:defRPr/>
            </a:pPr>
            <a:r>
              <a:rPr kumimoji="0" lang="en-US" sz="1600" b="1" i="0" u="none" strike="noStrike" kern="1200" cap="none" spc="0" normalizeH="0" baseline="0" noProof="0" dirty="0">
                <a:ln>
                  <a:noFill/>
                </a:ln>
                <a:solidFill>
                  <a:schemeClr val="bg1"/>
                </a:solidFill>
                <a:effectLst/>
                <a:uLnTx/>
                <a:uFillTx/>
                <a:latin typeface="+mn-lt"/>
                <a:ea typeface="+mn-ea"/>
                <a:cs typeface="+mn-cs"/>
              </a:rPr>
              <a:t>Response</a:t>
            </a:r>
          </a:p>
        </p:txBody>
      </p:sp>
      <p:grpSp>
        <p:nvGrpSpPr>
          <p:cNvPr id="24" name="Group 23">
            <a:extLst>
              <a:ext uri="{FF2B5EF4-FFF2-40B4-BE49-F238E27FC236}">
                <a16:creationId xmlns:a16="http://schemas.microsoft.com/office/drawing/2014/main" id="{30EFC6B9-68A8-45EC-A7A0-E36D302700FB}"/>
              </a:ext>
            </a:extLst>
          </p:cNvPr>
          <p:cNvGrpSpPr/>
          <p:nvPr/>
        </p:nvGrpSpPr>
        <p:grpSpPr>
          <a:xfrm>
            <a:off x="2477" y="2564971"/>
            <a:ext cx="12189169" cy="1284020"/>
            <a:chOff x="2477" y="3043941"/>
            <a:chExt cx="12189169" cy="1284020"/>
          </a:xfrm>
        </p:grpSpPr>
        <p:sp>
          <p:nvSpPr>
            <p:cNvPr id="26" name="First Resp Text">
              <a:extLst>
                <a:ext uri="{FF2B5EF4-FFF2-40B4-BE49-F238E27FC236}">
                  <a16:creationId xmlns:a16="http://schemas.microsoft.com/office/drawing/2014/main" id="{4AB4AFD1-203F-4A56-801E-834BC2F392E3}"/>
                </a:ext>
              </a:extLst>
            </p:cNvPr>
            <p:cNvSpPr txBox="1">
              <a:spLocks/>
            </p:cNvSpPr>
            <p:nvPr/>
          </p:nvSpPr>
          <p:spPr>
            <a:xfrm>
              <a:off x="907950" y="304394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endParaRPr kumimoji="0" lang="en-US" sz="1600" b="0" i="0" u="none" strike="noStrike" kern="1200" cap="none" spc="0" normalizeH="0" baseline="0" noProof="0" dirty="0">
                <a:ln>
                  <a:noFill/>
                </a:ln>
                <a:solidFill>
                  <a:srgbClr val="232F3E"/>
                </a:solidFill>
                <a:effectLst/>
                <a:uLnTx/>
                <a:uFillTx/>
                <a:latin typeface="Amazon Ember"/>
                <a:ea typeface="+mn-ea"/>
                <a:cs typeface="+mn-cs"/>
              </a:endParaRPr>
            </a:p>
          </p:txBody>
        </p:sp>
        <p:sp>
          <p:nvSpPr>
            <p:cNvPr id="27" name="Second Resp #">
              <a:extLst>
                <a:ext uri="{FF2B5EF4-FFF2-40B4-BE49-F238E27FC236}">
                  <a16:creationId xmlns:a16="http://schemas.microsoft.com/office/drawing/2014/main" id="{9364B3BF-BE93-4E37-91DA-FC0B42CDD6D3}"/>
                </a:ext>
              </a:extLst>
            </p:cNvPr>
            <p:cNvSpPr txBox="1">
              <a:spLocks/>
            </p:cNvSpPr>
            <p:nvPr/>
          </p:nvSpPr>
          <p:spPr>
            <a:xfrm>
              <a:off x="2477" y="3687881"/>
              <a:ext cx="886968" cy="640080"/>
            </a:xfrm>
            <a:prstGeom prst="rect">
              <a:avLst/>
            </a:prstGeom>
            <a:noFill/>
            <a:ln>
              <a:noFill/>
            </a:ln>
          </p:spPr>
          <p:txBody>
            <a:bodyPr lIns="0" tIns="0" rIns="0" bIns="0" anchor="ctr"/>
            <a:lstStyle>
              <a:defPPr>
                <a:defRPr lang="en-US"/>
              </a:defPPr>
              <a:lvl1pPr marL="0" indent="0" algn="ctr" defTabSz="228600" rtl="0" eaLnBrk="1" latinLnBrk="0" hangingPunct="1">
                <a:lnSpc>
                  <a:spcPct val="100000"/>
                </a:lnSpc>
                <a:spcBef>
                  <a:spcPts val="0"/>
                </a:spcBef>
                <a:spcAft>
                  <a:spcPts val="0"/>
                </a:spcAft>
                <a:buFont typeface="Amazon Ember"/>
                <a:buNone/>
                <a:defRPr sz="2000" kern="1200">
                  <a:solidFill>
                    <a:schemeClr val="tx2"/>
                  </a:solidFill>
                  <a:latin typeface="+mj-lt"/>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marL="0" marR="0" lvl="0" indent="0" algn="ctr" defTabSz="228600" rtl="0" eaLnBrk="1" fontAlgn="auto" latinLnBrk="0" hangingPunct="1">
                <a:lnSpc>
                  <a:spcPct val="100000"/>
                </a:lnSpc>
                <a:spcBef>
                  <a:spcPts val="0"/>
                </a:spcBef>
                <a:spcAft>
                  <a:spcPts val="0"/>
                </a:spcAft>
                <a:buClrTx/>
                <a:buSzTx/>
                <a:buFont typeface="Amazon Ember"/>
                <a:buNone/>
                <a:tabLst/>
                <a:defRPr/>
              </a:pPr>
              <a:r>
                <a:rPr kumimoji="0" lang="en-US" sz="1600" b="1" i="0" u="none" strike="noStrike" kern="1200" cap="none" spc="0" normalizeH="0" baseline="0" noProof="0" dirty="0">
                  <a:ln>
                    <a:noFill/>
                  </a:ln>
                  <a:solidFill>
                    <a:srgbClr val="232F3E"/>
                  </a:solidFill>
                  <a:effectLst/>
                  <a:uLnTx/>
                  <a:uFillTx/>
                  <a:latin typeface="Amazon Ember Display" panose="020F0603020204020204" pitchFamily="34" charset="0"/>
                  <a:ea typeface="Amazon Ember Display" panose="020F0603020204020204" pitchFamily="34" charset="0"/>
                  <a:cs typeface="Amazon Ember Display" panose="020F0603020204020204" pitchFamily="34" charset="0"/>
                </a:rPr>
                <a:t>B</a:t>
              </a:r>
            </a:p>
          </p:txBody>
        </p:sp>
        <p:sp>
          <p:nvSpPr>
            <p:cNvPr id="28" name="Second Resp Text">
              <a:extLst>
                <a:ext uri="{FF2B5EF4-FFF2-40B4-BE49-F238E27FC236}">
                  <a16:creationId xmlns:a16="http://schemas.microsoft.com/office/drawing/2014/main" id="{10FCFE79-4812-4DFB-93AD-5C5BF51A9B4F}"/>
                </a:ext>
              </a:extLst>
            </p:cNvPr>
            <p:cNvSpPr txBox="1">
              <a:spLocks/>
            </p:cNvSpPr>
            <p:nvPr/>
          </p:nvSpPr>
          <p:spPr>
            <a:xfrm>
              <a:off x="907950" y="3687881"/>
              <a:ext cx="11283696" cy="640080"/>
            </a:xfrm>
            <a:prstGeom prst="rect">
              <a:avLst/>
            </a:prstGeom>
            <a:noFill/>
            <a:ln>
              <a:noFill/>
            </a:ln>
          </p:spPr>
          <p:txBody>
            <a:bodyPr lIns="91440" tIns="45720" rIns="91440" bIns="45720" anchor="ctr"/>
            <a:lstStyle>
              <a:defPPr>
                <a:defRPr lang="en-US"/>
              </a:defPPr>
              <a:lvl1pPr marL="0" indent="0" algn="l" defTabSz="228600" rtl="0" eaLnBrk="1" latinLnBrk="0" hangingPunct="1">
                <a:lnSpc>
                  <a:spcPct val="100000"/>
                </a:lnSpc>
                <a:spcBef>
                  <a:spcPts val="0"/>
                </a:spcBef>
                <a:spcAft>
                  <a:spcPts val="0"/>
                </a:spcAft>
                <a:buFont typeface="Amazon Ember"/>
                <a:buNone/>
                <a:defRPr sz="2000" kern="1200">
                  <a:solidFill>
                    <a:schemeClr val="tx2"/>
                  </a:solidFill>
                  <a:latin typeface="Amazon Ember"/>
                </a:defRPr>
              </a:lvl1pPr>
              <a:lvl2pPr marL="228600" indent="0" algn="l" defTabSz="228600" rtl="0" eaLnBrk="1" latinLnBrk="0" hangingPunct="1">
                <a:lnSpc>
                  <a:spcPct val="100000"/>
                </a:lnSpc>
                <a:spcBef>
                  <a:spcPts val="0"/>
                </a:spcBef>
                <a:spcAft>
                  <a:spcPts val="600"/>
                </a:spcAft>
                <a:buFont typeface="Amazon Ember"/>
                <a:buNone/>
                <a:defRPr sz="2400" kern="1200">
                  <a:solidFill>
                    <a:schemeClr val="tx2"/>
                  </a:solidFill>
                  <a:latin typeface="Amazon Ember"/>
                </a:defRPr>
              </a:lvl2pPr>
              <a:lvl3pPr marL="502920" indent="0" algn="l" defTabSz="228600" rtl="0" eaLnBrk="1" latinLnBrk="0" hangingPunct="1">
                <a:lnSpc>
                  <a:spcPct val="100000"/>
                </a:lnSpc>
                <a:spcBef>
                  <a:spcPts val="0"/>
                </a:spcBef>
                <a:spcAft>
                  <a:spcPts val="600"/>
                </a:spcAft>
                <a:buFont typeface="Amazon Ember"/>
                <a:buNone/>
                <a:defRPr sz="2000" kern="1200">
                  <a:solidFill>
                    <a:schemeClr val="tx2"/>
                  </a:solidFill>
                  <a:latin typeface="Amazon Ember"/>
                </a:defRPr>
              </a:lvl3pPr>
              <a:lvl4pPr marL="77724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4pPr>
              <a:lvl5pPr marL="1051560" indent="0" algn="l" defTabSz="228600" rtl="0" eaLnBrk="1" latinLnBrk="0" hangingPunct="1">
                <a:lnSpc>
                  <a:spcPct val="100000"/>
                </a:lnSpc>
                <a:spcBef>
                  <a:spcPts val="0"/>
                </a:spcBef>
                <a:spcAft>
                  <a:spcPts val="600"/>
                </a:spcAft>
                <a:buFont typeface="Amazon Ember"/>
                <a:buNone/>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a:lstStyle>
            <a:p>
              <a:pPr lvl="0">
                <a:defRPr/>
              </a:pPr>
              <a:r>
                <a:rPr 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Configure Amazon ElastiCache to cache frequently used content from the database.</a:t>
              </a:r>
              <a:endParaRPr lang="en-US" sz="1600" dirty="0">
                <a:solidFill>
                  <a:srgbClr val="232F3E"/>
                </a:solidFill>
                <a:latin typeface="Amazon Ember Display" panose="020F0603020204020204" pitchFamily="34" charset="0"/>
                <a:ea typeface="Amazon Ember Display" panose="020F0603020204020204" pitchFamily="34" charset="0"/>
                <a:cs typeface="Amazon Ember Display" panose="020F0603020204020204" pitchFamily="34" charset="0"/>
              </a:endParaRPr>
            </a:p>
          </p:txBody>
        </p:sp>
      </p:grpSp>
    </p:spTree>
    <p:custDataLst>
      <p:tags r:id="rId1"/>
    </p:custDataLst>
    <p:extLst>
      <p:ext uri="{BB962C8B-B14F-4D97-AF65-F5344CB8AC3E}">
        <p14:creationId xmlns:p14="http://schemas.microsoft.com/office/powerpoint/2010/main" val="41489049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FC7CDECE-42DD-444A-A391-59FC4FA195B0}"/>
              </a:ext>
            </a:extLst>
          </p:cNvPr>
          <p:cNvSpPr>
            <a:spLocks noGrp="1"/>
          </p:cNvSpPr>
          <p:nvPr>
            <p:ph type="sldNum" idx="97"/>
          </p:nvPr>
        </p:nvSpPr>
        <p:spPr/>
        <p:txBody>
          <a:bodyPr/>
          <a:lstStyle/>
          <a:p>
            <a:fld id="{4037B1B0-0345-4E15-985A-6BECCDBE474F}" type="slidenum">
              <a:rPr lang="en-US" smtClean="0"/>
              <a:pPr/>
              <a:t>51</a:t>
            </a:fld>
            <a:endParaRPr lang="en-US" dirty="0"/>
          </a:p>
        </p:txBody>
      </p:sp>
      <p:sp>
        <p:nvSpPr>
          <p:cNvPr id="3" name="Title">
            <a:extLst>
              <a:ext uri="{FF2B5EF4-FFF2-40B4-BE49-F238E27FC236}">
                <a16:creationId xmlns:a16="http://schemas.microsoft.com/office/drawing/2014/main" id="{86DE125D-EF16-4D55-911F-84B4B633C221}"/>
              </a:ext>
            </a:extLst>
          </p:cNvPr>
          <p:cNvSpPr>
            <a:spLocks noGrp="1"/>
          </p:cNvSpPr>
          <p:nvPr>
            <p:ph type="title" idx="1"/>
          </p:nvPr>
        </p:nvSpPr>
        <p:spPr/>
        <p:txBody>
          <a:bodyPr/>
          <a:lstStyle/>
          <a:p>
            <a:r>
              <a:rPr lang="en-US" dirty="0"/>
              <a:t>Thank you</a:t>
            </a:r>
          </a:p>
        </p:txBody>
      </p:sp>
      <p:sp>
        <p:nvSpPr>
          <p:cNvPr id="8" name="Text Placeholder 11">
            <a:extLst>
              <a:ext uri="{FF2B5EF4-FFF2-40B4-BE49-F238E27FC236}">
                <a16:creationId xmlns:a16="http://schemas.microsoft.com/office/drawing/2014/main" id="{42F1ACF1-06C6-4DA7-8E1C-319A1D6E0048}"/>
              </a:ext>
            </a:extLst>
          </p:cNvPr>
          <p:cNvSpPr>
            <a:spLocks noGrp="1"/>
          </p:cNvSpPr>
          <p:nvPr>
            <p:ph type="body" idx="2"/>
          </p:nvPr>
        </p:nvSpPr>
        <p:spPr/>
        <p:txBody>
          <a:bodyPr/>
          <a:lstStyle>
            <a:lvl1pPr marL="0" indent="0">
              <a:lnSpc>
                <a:spcPct val="100000"/>
              </a:lnSpc>
              <a:spcBef>
                <a:spcPts val="0"/>
              </a:spcBef>
              <a:spcAft>
                <a:spcPts val="0"/>
              </a:spcAft>
              <a:buClrTx/>
              <a:buSzTx/>
              <a:buFontTx/>
              <a:buNone/>
              <a:tabLst/>
              <a:defRPr sz="1800">
                <a:solidFill>
                  <a:schemeClr val="bg2"/>
                </a:solidFill>
              </a:defRPr>
            </a:lvl1pPr>
            <a:lvl2pPr marL="457200" indent="0">
              <a:buNone/>
              <a:defRPr sz="2000">
                <a:solidFill>
                  <a:schemeClr val="bg2"/>
                </a:solidFill>
              </a:defRPr>
            </a:lvl2pPr>
            <a:lvl3pPr marL="914400" indent="0">
              <a:buNone/>
              <a:defRPr sz="1800">
                <a:solidFill>
                  <a:schemeClr val="bg2"/>
                </a:solidFill>
              </a:defRPr>
            </a:lvl3pPr>
            <a:lvl4pPr marL="1371600" indent="0">
              <a:buNone/>
              <a:defRPr sz="1600">
                <a:solidFill>
                  <a:schemeClr val="bg2"/>
                </a:solidFill>
              </a:defRPr>
            </a:lvl4pPr>
            <a:lvl5pPr marL="1828800" indent="0">
              <a:buNone/>
              <a:defRPr sz="1600">
                <a:solidFill>
                  <a:schemeClr val="bg2"/>
                </a:solidFill>
              </a:defRPr>
            </a:lvl5pPr>
          </a:lstStyle>
          <a:p>
            <a:r>
              <a:rPr lang="en-US" dirty="0">
                <a:solidFill>
                  <a:schemeClr val="bg1"/>
                </a:solidFill>
              </a:rPr>
              <a:t>Corrections, feedback, or other questions?</a:t>
            </a:r>
          </a:p>
          <a:p>
            <a:r>
              <a:rPr lang="en-US" dirty="0">
                <a:solidFill>
                  <a:schemeClr val="bg1"/>
                </a:solidFill>
              </a:rPr>
              <a:t>Contact us at </a:t>
            </a:r>
            <a:r>
              <a:rPr lang="en-US" dirty="0">
                <a:solidFill>
                  <a:schemeClr val="bg1"/>
                </a:solidFill>
                <a:hlinkClick r:id="rId4">
                  <a:extLst>
                    <a:ext uri="{A12FA001-AC4F-418D-AE19-62706E023703}">
                      <ahyp:hlinkClr xmlns:ahyp="http://schemas.microsoft.com/office/drawing/2018/hyperlinkcolor" val="tx"/>
                    </a:ext>
                  </a:extLst>
                </a:hlinkClick>
              </a:rPr>
              <a:t>https://support.aws.amazon.com/#/contacts/aws-academy</a:t>
            </a:r>
            <a:r>
              <a:rPr lang="en-US" dirty="0">
                <a:solidFill>
                  <a:schemeClr val="bg1"/>
                </a:solidFill>
              </a:rPr>
              <a:t>.</a:t>
            </a:r>
          </a:p>
        </p:txBody>
      </p:sp>
    </p:spTree>
    <p:custDataLst>
      <p:tags r:id="rId1"/>
    </p:custDataLst>
    <p:extLst>
      <p:ext uri="{BB962C8B-B14F-4D97-AF65-F5344CB8AC3E}">
        <p14:creationId xmlns:p14="http://schemas.microsoft.com/office/powerpoint/2010/main" val="3618961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5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neBrand EVO (2022-Q4) ColorSet 3">
  <a:themeElements>
    <a:clrScheme name="OneBrand Evo Set 3">
      <a:dk1>
        <a:sysClr val="windowText" lastClr="000000"/>
      </a:dk1>
      <a:lt1>
        <a:sysClr val="window" lastClr="FFFFFF"/>
      </a:lt1>
      <a:dk2>
        <a:srgbClr val="232F3E"/>
      </a:dk2>
      <a:lt2>
        <a:srgbClr val="F1F3F3"/>
      </a:lt2>
      <a:accent1>
        <a:srgbClr val="005276"/>
      </a:accent1>
      <a:accent2>
        <a:srgbClr val="007FAA"/>
      </a:accent2>
      <a:accent3>
        <a:srgbClr val="9FFCEA"/>
      </a:accent3>
      <a:accent4>
        <a:srgbClr val="38EF7D"/>
      </a:accent4>
      <a:accent5>
        <a:srgbClr val="19594E"/>
      </a:accent5>
      <a:accent6>
        <a:srgbClr val="197956"/>
      </a:accent6>
      <a:hlink>
        <a:srgbClr val="197956"/>
      </a:hlink>
      <a:folHlink>
        <a:srgbClr val="197956"/>
      </a:folHlink>
    </a:clrScheme>
    <a:fontScheme name="AWS One Brand Evo">
      <a:majorFont>
        <a:latin typeface="Amazon Ember Display Heavy"/>
        <a:ea typeface=""/>
        <a:cs typeface=""/>
      </a:majorFont>
      <a:minorFont>
        <a:latin typeface="Amazon Ember Display"/>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lite">
      <a:srgbClr val="1A2F4C"/>
    </a:custClr>
    <a:custClr name="Anchor">
      <a:srgbClr val="003181"/>
    </a:custClr>
    <a:custClr name="Sea Blue">
      <a:srgbClr val="005276"/>
    </a:custClr>
    <a:custClr name="Sky">
      <a:srgbClr val="2074D5"/>
    </a:custClr>
    <a:custClr name="Aqua">
      <a:srgbClr val="007FAA"/>
    </a:custClr>
    <a:custClr name="Cyan">
      <a:srgbClr val="7CE8F4"/>
    </a:custClr>
    <a:custClr name="blank">
      <a:srgbClr val="FFFFFF"/>
    </a:custClr>
    <a:custClr name="blank">
      <a:srgbClr val="FFFFFF"/>
    </a:custClr>
    <a:custClr name="blank">
      <a:srgbClr val="FFFFFF"/>
    </a:custClr>
    <a:custClr name="blank">
      <a:srgbClr val="FFFFFF"/>
    </a:custClr>
    <a:custClr name="Galaxy">
      <a:srgbClr val="330066"/>
    </a:custClr>
    <a:custClr name="Dark Grape">
      <a:srgbClr val="563377"/>
    </a:custClr>
    <a:custClr name="Violet">
      <a:srgbClr val="7C5AED"/>
    </a:custClr>
    <a:custClr name="Bright Lilac">
      <a:srgbClr val="CC83EA"/>
    </a:custClr>
    <a:custClr name="Wine">
      <a:srgbClr val="8F1761"/>
    </a:custClr>
    <a:custClr name="Bloodthorn">
      <a:srgbClr val="B5335C"/>
    </a:custClr>
    <a:custClr name="Cosmos">
      <a:srgbClr val="DF2A5D"/>
    </a:custClr>
    <a:custClr name="Magenta">
      <a:srgbClr val="F46EBB"/>
    </a:custClr>
    <a:custClr name="blank">
      <a:srgbClr val="FFFFFF"/>
    </a:custClr>
    <a:custClr name="blank">
      <a:srgbClr val="FFFFFF"/>
    </a:custClr>
    <a:custClr name="Umber">
      <a:srgbClr val="BE4E2E"/>
    </a:custClr>
    <a:custClr name="Smile">
      <a:srgbClr val="FF9900"/>
    </a:custClr>
    <a:custClr name="Peach">
      <a:srgbClr val="FFAD97"/>
    </a:custClr>
    <a:custClr name="Rind">
      <a:srgbClr val="FBD8B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Evergreen">
      <a:srgbClr val="19594E"/>
    </a:custClr>
    <a:custClr name="Salem">
      <a:srgbClr val="197956"/>
    </a:custClr>
    <a:custClr name="Aloha">
      <a:srgbClr val="1DB893"/>
    </a:custClr>
    <a:custClr name="Mist">
      <a:srgbClr val="9FFCEA"/>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Dark Squid Ink">
      <a:srgbClr val="161E2D"/>
    </a:custClr>
    <a:custClr name="Squid Ink">
      <a:srgbClr val="232F3E"/>
    </a:custClr>
    <a:custClr name="Stone">
      <a:srgbClr val="D4DADA"/>
    </a:custClr>
    <a:custClr name="Paper">
      <a:srgbClr val="F1F3F3"/>
    </a:custClr>
    <a:custClr name="White">
      <a:srgbClr val="FFFFFF"/>
    </a:custClr>
  </a:custClrLst>
  <a:extLst>
    <a:ext uri="{05A4C25C-085E-4340-85A3-A5531E510DB2}">
      <thm15:themeFamily xmlns:thm15="http://schemas.microsoft.com/office/thememl/2012/main" name="TC Official Evolved ColorSet 4 (2022-Q4).potx" id="{CECD8FAD-F029-48AF-B3C8-C6C68F5F2640}" vid="{A1F5EB9E-5EAA-4239-ADDD-DA0BB31B89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12223</Words>
  <Application>Microsoft Office PowerPoint</Application>
  <PresentationFormat>Widescreen</PresentationFormat>
  <Paragraphs>767</Paragraphs>
  <Slides>51</Slides>
  <Notes>51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51</vt:i4>
      </vt:variant>
    </vt:vector>
  </HeadingPairs>
  <TitlesOfParts>
    <vt:vector size="63" baseType="lpstr">
      <vt:lpstr>Amazon Ember</vt:lpstr>
      <vt:lpstr>Amazon Ember Cd RC Light</vt:lpstr>
      <vt:lpstr>Amazon Ember Display</vt:lpstr>
      <vt:lpstr>Amazon Ember Display</vt:lpstr>
      <vt:lpstr>Amazon Ember Display Heavy</vt:lpstr>
      <vt:lpstr>Amazon Ember Heavy</vt:lpstr>
      <vt:lpstr>Amazon Ember Light</vt:lpstr>
      <vt:lpstr>Arial</vt:lpstr>
      <vt:lpstr>Calibri</vt:lpstr>
      <vt:lpstr>Lucida Console</vt:lpstr>
      <vt:lpstr>Times New Roman</vt:lpstr>
      <vt:lpstr>OneBrand EVO (2022-Q4) ColorSet 3</vt:lpstr>
      <vt:lpstr>Caching Content</vt:lpstr>
      <vt:lpstr>Introduction</vt:lpstr>
      <vt:lpstr>Module objectives</vt:lpstr>
      <vt:lpstr>Module overview</vt:lpstr>
      <vt:lpstr>Hands-on labs in this module</vt:lpstr>
      <vt:lpstr>As a cloud architect designing content caching:</vt:lpstr>
      <vt:lpstr>Overview of caching</vt:lpstr>
      <vt:lpstr>Why cache content?</vt:lpstr>
      <vt:lpstr>Caching analogy</vt:lpstr>
      <vt:lpstr>What should you cache?</vt:lpstr>
      <vt:lpstr>Trade-offs to consider when caching</vt:lpstr>
      <vt:lpstr>Types of caching and AWS caching services</vt:lpstr>
      <vt:lpstr>Key takeaways: Overview of caching</vt:lpstr>
      <vt:lpstr>Caching using CloudFront</vt:lpstr>
      <vt:lpstr>Content delivery network (CDN) </vt:lpstr>
      <vt:lpstr>Which type of content can you cache by using an edge cache?</vt:lpstr>
      <vt:lpstr>CloudFront</vt:lpstr>
      <vt:lpstr>CloudFront global edge network components</vt:lpstr>
      <vt:lpstr>How caching works in CloudFront</vt:lpstr>
      <vt:lpstr>How to configure a CloudFront distribution</vt:lpstr>
      <vt:lpstr>Controlling how long content is cached</vt:lpstr>
      <vt:lpstr>Using CloudFront for video streaming</vt:lpstr>
      <vt:lpstr>DDoS mitigation</vt:lpstr>
      <vt:lpstr>Key takeaways: Caching using CloudFront</vt:lpstr>
      <vt:lpstr>Guided lab: Streaming Dynamic Content Using Amazon CloudFront (CloudFront lab)</vt:lpstr>
      <vt:lpstr>CloudFront lab tasks:</vt:lpstr>
      <vt:lpstr>Debrief: CloudFront lab</vt:lpstr>
      <vt:lpstr>Caching using ElastiCache</vt:lpstr>
      <vt:lpstr>When should you cache your database?</vt:lpstr>
      <vt:lpstr>ElastiCache</vt:lpstr>
      <vt:lpstr>Choose an ElastiCache engine based on what you need</vt:lpstr>
      <vt:lpstr>ElastiCache components</vt:lpstr>
      <vt:lpstr>Time to live (TTL)</vt:lpstr>
      <vt:lpstr>Strategies for handling stale data </vt:lpstr>
      <vt:lpstr>Caching strategies: Lazy loading</vt:lpstr>
      <vt:lpstr>Caching strategies: Write-through</vt:lpstr>
      <vt:lpstr>Key takeaways: Caching using ElastiCache</vt:lpstr>
      <vt:lpstr>Applying the AWS Well-Architected Framework principles to caching</vt:lpstr>
      <vt:lpstr>AWS Well-Architected Framework caching best practices</vt:lpstr>
      <vt:lpstr>Best practice approach: Data management</vt:lpstr>
      <vt:lpstr>Best practice approach: Foundations – plan your network topology</vt:lpstr>
      <vt:lpstr>Best practice approach: Cost-effective resources - plan for data transfer </vt:lpstr>
      <vt:lpstr>Key takeaways: Applying AWS Well -Architected Framework principles to caching</vt:lpstr>
      <vt:lpstr>Module wrap-up</vt:lpstr>
      <vt:lpstr>Module summary</vt:lpstr>
      <vt:lpstr>Considerations for the café</vt:lpstr>
      <vt:lpstr>Module knowledge check</vt:lpstr>
      <vt:lpstr>Sample exam question</vt:lpstr>
      <vt:lpstr>Sample exam question: Response choices</vt:lpstr>
      <vt:lpstr>Sample exam question: Answer</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2024-02-28T15:20:38Z</dcterms:created>
  <dcterms:modified xsi:type="dcterms:W3CDTF">2024-02-28T21:20:26Z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53C4249A-A77D-4E87-A9CF-1544B4700FAB</vt:lpwstr>
  </property>
  <property fmtid="{D5CDD505-2E9C-101B-9397-08002B2CF9AE}" pid="3" name="ArticulatePath">
    <vt:lpwstr>ACAv3-EN-M12-CachingContent_InstructorDeck</vt:lpwstr>
  </property>
</Properties>
</file>
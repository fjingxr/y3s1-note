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ags/tag56.xml" ContentType="application/vnd.openxmlformats-officedocument.presentationml.tags+xml"/>
  <Override PartName="/ppt/notesSlides/notesSlide1.xml" ContentType="application/vnd.openxmlformats-officedocument.presentationml.notesSlide+xml"/>
  <Override PartName="/ppt/tags/tag57.xml" ContentType="application/vnd.openxmlformats-officedocument.presentationml.tags+xml"/>
  <Override PartName="/ppt/notesSlides/notesSlide2.xml" ContentType="application/vnd.openxmlformats-officedocument.presentationml.notesSlide+xml"/>
  <Override PartName="/ppt/tags/tag58.xml" ContentType="application/vnd.openxmlformats-officedocument.presentationml.tags+xml"/>
  <Override PartName="/ppt/notesSlides/notesSlide3.xml" ContentType="application/vnd.openxmlformats-officedocument.presentationml.notesSlide+xml"/>
  <Override PartName="/ppt/tags/tag59.xml" ContentType="application/vnd.openxmlformats-officedocument.presentationml.tags+xml"/>
  <Override PartName="/ppt/notesSlides/notesSlide4.xml" ContentType="application/vnd.openxmlformats-officedocument.presentationml.notesSlide+xml"/>
  <Override PartName="/ppt/tags/tag60.xml" ContentType="application/vnd.openxmlformats-officedocument.presentationml.tags+xml"/>
  <Override PartName="/ppt/notesSlides/notesSlide5.xml" ContentType="application/vnd.openxmlformats-officedocument.presentationml.notesSlide+xml"/>
  <Override PartName="/ppt/tags/tag61.xml" ContentType="application/vnd.openxmlformats-officedocument.presentationml.tags+xml"/>
  <Override PartName="/ppt/notesSlides/notesSlide6.xml" ContentType="application/vnd.openxmlformats-officedocument.presentationml.notesSlide+xml"/>
  <Override PartName="/ppt/tags/tag62.xml" ContentType="application/vnd.openxmlformats-officedocument.presentationml.tags+xml"/>
  <Override PartName="/ppt/notesSlides/notesSlide7.xml" ContentType="application/vnd.openxmlformats-officedocument.presentationml.notesSlide+xml"/>
  <Override PartName="/ppt/tags/tag63.xml" ContentType="application/vnd.openxmlformats-officedocument.presentationml.tags+xml"/>
  <Override PartName="/ppt/notesSlides/notesSlide8.xml" ContentType="application/vnd.openxmlformats-officedocument.presentationml.notesSlide+xml"/>
  <Override PartName="/ppt/tags/tag64.xml" ContentType="application/vnd.openxmlformats-officedocument.presentationml.tags+xml"/>
  <Override PartName="/ppt/notesSlides/notesSlide9.xml" ContentType="application/vnd.openxmlformats-officedocument.presentationml.notesSlide+xml"/>
  <Override PartName="/ppt/tags/tag65.xml" ContentType="application/vnd.openxmlformats-officedocument.presentationml.tags+xml"/>
  <Override PartName="/ppt/notesSlides/notesSlide10.xml" ContentType="application/vnd.openxmlformats-officedocument.presentationml.notesSlide+xml"/>
  <Override PartName="/ppt/tags/tag66.xml" ContentType="application/vnd.openxmlformats-officedocument.presentationml.tags+xml"/>
  <Override PartName="/ppt/notesSlides/notesSlide11.xml" ContentType="application/vnd.openxmlformats-officedocument.presentationml.notesSlide+xml"/>
  <Override PartName="/ppt/tags/tag67.xml" ContentType="application/vnd.openxmlformats-officedocument.presentationml.tags+xml"/>
  <Override PartName="/ppt/notesSlides/notesSlide12.xml" ContentType="application/vnd.openxmlformats-officedocument.presentationml.notesSlide+xml"/>
  <Override PartName="/ppt/tags/tag68.xml" ContentType="application/vnd.openxmlformats-officedocument.presentationml.tags+xml"/>
  <Override PartName="/ppt/notesSlides/notesSlide13.xml" ContentType="application/vnd.openxmlformats-officedocument.presentationml.notesSlide+xml"/>
  <Override PartName="/ppt/tags/tag69.xml" ContentType="application/vnd.openxmlformats-officedocument.presentationml.tags+xml"/>
  <Override PartName="/ppt/notesSlides/notesSlide14.xml" ContentType="application/vnd.openxmlformats-officedocument.presentationml.notesSlide+xml"/>
  <Override PartName="/ppt/tags/tag70.xml" ContentType="application/vnd.openxmlformats-officedocument.presentationml.tags+xml"/>
  <Override PartName="/ppt/notesSlides/notesSlide15.xml" ContentType="application/vnd.openxmlformats-officedocument.presentationml.notesSlide+xml"/>
  <Override PartName="/ppt/tags/tag71.xml" ContentType="application/vnd.openxmlformats-officedocument.presentationml.tags+xml"/>
  <Override PartName="/ppt/notesSlides/notesSlide16.xml" ContentType="application/vnd.openxmlformats-officedocument.presentationml.notesSlide+xml"/>
  <Override PartName="/ppt/tags/tag72.xml" ContentType="application/vnd.openxmlformats-officedocument.presentationml.tags+xml"/>
  <Override PartName="/ppt/notesSlides/notesSlide17.xml" ContentType="application/vnd.openxmlformats-officedocument.presentationml.notesSlide+xml"/>
  <Override PartName="/ppt/tags/tag73.xml" ContentType="application/vnd.openxmlformats-officedocument.presentationml.tags+xml"/>
  <Override PartName="/ppt/notesSlides/notesSlide18.xml" ContentType="application/vnd.openxmlformats-officedocument.presentationml.notesSlide+xml"/>
  <Override PartName="/ppt/tags/tag74.xml" ContentType="application/vnd.openxmlformats-officedocument.presentationml.tags+xml"/>
  <Override PartName="/ppt/notesSlides/notesSlide19.xml" ContentType="application/vnd.openxmlformats-officedocument.presentationml.notesSlide+xml"/>
  <Override PartName="/ppt/tags/tag75.xml" ContentType="application/vnd.openxmlformats-officedocument.presentationml.tags+xml"/>
  <Override PartName="/ppt/notesSlides/notesSlide20.xml" ContentType="application/vnd.openxmlformats-officedocument.presentationml.notesSlide+xml"/>
  <Override PartName="/ppt/tags/tag76.xml" ContentType="application/vnd.openxmlformats-officedocument.presentationml.tags+xml"/>
  <Override PartName="/ppt/notesSlides/notesSlide21.xml" ContentType="application/vnd.openxmlformats-officedocument.presentationml.notesSlide+xml"/>
  <Override PartName="/ppt/tags/tag77.xml" ContentType="application/vnd.openxmlformats-officedocument.presentationml.tags+xml"/>
  <Override PartName="/ppt/notesSlides/notesSlide22.xml" ContentType="application/vnd.openxmlformats-officedocument.presentationml.notesSlide+xml"/>
  <Override PartName="/ppt/tags/tag78.xml" ContentType="application/vnd.openxmlformats-officedocument.presentationml.tags+xml"/>
  <Override PartName="/ppt/notesSlides/notesSlide23.xml" ContentType="application/vnd.openxmlformats-officedocument.presentationml.notesSlide+xml"/>
  <Override PartName="/ppt/tags/tag79.xml" ContentType="application/vnd.openxmlformats-officedocument.presentationml.tags+xml"/>
  <Override PartName="/ppt/notesSlides/notesSlide24.xml" ContentType="application/vnd.openxmlformats-officedocument.presentationml.notesSlide+xml"/>
  <Override PartName="/ppt/tags/tag80.xml" ContentType="application/vnd.openxmlformats-officedocument.presentationml.tags+xml"/>
  <Override PartName="/ppt/notesSlides/notesSlide25.xml" ContentType="application/vnd.openxmlformats-officedocument.presentationml.notesSlide+xml"/>
  <Override PartName="/ppt/tags/tag81.xml" ContentType="application/vnd.openxmlformats-officedocument.presentationml.tags+xml"/>
  <Override PartName="/ppt/notesSlides/notesSlide26.xml" ContentType="application/vnd.openxmlformats-officedocument.presentationml.notesSlide+xml"/>
  <Override PartName="/ppt/tags/tag82.xml" ContentType="application/vnd.openxmlformats-officedocument.presentationml.tags+xml"/>
  <Override PartName="/ppt/notesSlides/notesSlide27.xml" ContentType="application/vnd.openxmlformats-officedocument.presentationml.notesSlide+xml"/>
  <Override PartName="/ppt/tags/tag83.xml" ContentType="application/vnd.openxmlformats-officedocument.presentationml.tags+xml"/>
  <Override PartName="/ppt/notesSlides/notesSlide28.xml" ContentType="application/vnd.openxmlformats-officedocument.presentationml.notesSlide+xml"/>
  <Override PartName="/ppt/tags/tag84.xml" ContentType="application/vnd.openxmlformats-officedocument.presentationml.tags+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31"/>
  </p:notesMasterIdLst>
  <p:sldIdLst>
    <p:sldId id="258" r:id="rId2"/>
    <p:sldId id="1748" r:id="rId3"/>
    <p:sldId id="325" r:id="rId4"/>
    <p:sldId id="1877" r:id="rId5"/>
    <p:sldId id="1932" r:id="rId6"/>
    <p:sldId id="1933" r:id="rId7"/>
    <p:sldId id="1904" r:id="rId8"/>
    <p:sldId id="1907" r:id="rId9"/>
    <p:sldId id="1887" r:id="rId10"/>
    <p:sldId id="1888" r:id="rId11"/>
    <p:sldId id="1934" r:id="rId12"/>
    <p:sldId id="1935" r:id="rId13"/>
    <p:sldId id="1883" r:id="rId14"/>
    <p:sldId id="1929" r:id="rId15"/>
    <p:sldId id="1936" r:id="rId16"/>
    <p:sldId id="1937" r:id="rId17"/>
    <p:sldId id="1885" r:id="rId18"/>
    <p:sldId id="1895" r:id="rId19"/>
    <p:sldId id="1951" r:id="rId20"/>
    <p:sldId id="1952" r:id="rId21"/>
    <p:sldId id="1915" r:id="rId22"/>
    <p:sldId id="1942" r:id="rId23"/>
    <p:sldId id="1927" r:id="rId24"/>
    <p:sldId id="1944" r:id="rId25"/>
    <p:sldId id="1948" r:id="rId26"/>
    <p:sldId id="1953" r:id="rId27"/>
    <p:sldId id="1758" r:id="rId28"/>
    <p:sldId id="1759" r:id="rId29"/>
    <p:sldId id="1678" r:id="rId30"/>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17: Bridging to Certification" id="{4435AA00-829A-40C3-8DCB-FB9ACA7400F3}">
          <p14:sldIdLst>
            <p14:sldId id="258"/>
          </p14:sldIdLst>
        </p14:section>
        <p14:section name="Introduction" id="{76B5C9E1-C14E-4F0D-9DDE-62043A2E240B}">
          <p14:sldIdLst>
            <p14:sldId id="1748"/>
            <p14:sldId id="325"/>
            <p14:sldId id="1877"/>
            <p14:sldId id="1932"/>
            <p14:sldId id="1933"/>
          </p14:sldIdLst>
        </p14:section>
        <p14:section name="Certification domains" id="{719DE69B-D0A2-483D-B201-760E38C53203}">
          <p14:sldIdLst>
            <p14:sldId id="1904"/>
            <p14:sldId id="1907"/>
            <p14:sldId id="1887"/>
            <p14:sldId id="1888"/>
            <p14:sldId id="1934"/>
            <p14:sldId id="1935"/>
          </p14:sldIdLst>
        </p14:section>
        <p14:section name="Certification exam resources" id="{7B4B04D5-0226-42DD-8321-EB78FEC62D85}">
          <p14:sldIdLst>
            <p14:sldId id="1883"/>
            <p14:sldId id="1929"/>
            <p14:sldId id="1936"/>
            <p14:sldId id="1937"/>
          </p14:sldIdLst>
        </p14:section>
        <p14:section name="Additional resources" id="{31148C26-B81A-43A0-9D94-FF52E570C5D8}">
          <p14:sldIdLst>
            <p14:sldId id="1885"/>
            <p14:sldId id="1895"/>
            <p14:sldId id="1951"/>
            <p14:sldId id="1952"/>
            <p14:sldId id="1915"/>
            <p14:sldId id="1942"/>
            <p14:sldId id="1927"/>
            <p14:sldId id="1944"/>
            <p14:sldId id="1948"/>
            <p14:sldId id="1953"/>
          </p14:sldIdLst>
        </p14:section>
        <p14:section name="Module wrap-up" id="{FF92FF6D-5C4A-427B-8471-87D9F1C15538}">
          <p14:sldIdLst>
            <p14:sldId id="1758"/>
            <p14:sldId id="1759"/>
            <p14:sldId id="167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30" autoAdjust="0"/>
    <p:restoredTop sz="75402" autoAdjust="0"/>
  </p:normalViewPr>
  <p:slideViewPr>
    <p:cSldViewPr snapToGrid="0">
      <p:cViewPr varScale="1">
        <p:scale>
          <a:sx n="95" d="100"/>
          <a:sy n="95" d="100"/>
        </p:scale>
        <p:origin x="2885" y="62"/>
      </p:cViewPr>
      <p:guideLst/>
    </p:cSldViewPr>
  </p:slideViewPr>
  <p:notesTextViewPr>
    <p:cViewPr>
      <p:scale>
        <a:sx n="1" d="1"/>
        <a:sy n="1" d="1"/>
      </p:scale>
      <p:origin x="0" y="0"/>
    </p:cViewPr>
  </p:notesTextViewPr>
  <p:notesViewPr>
    <p:cSldViewPr snapToGrid="0">
      <p:cViewPr varScale="1">
        <p:scale>
          <a:sx n="57" d="100"/>
          <a:sy n="57" d="100"/>
        </p:scale>
        <p:origin x="3024"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17500" y="3810000"/>
            <a:ext cx="7112000" cy="5588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5599302"/>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aws.amazon.com/this-is-my-architecture/"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aws.amazon.com/this-is-my-architecture/"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48FAF304-AD7D-FE57-CBDB-84FAD1821D68}"/>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Welcome to the Bridging to Certification module. This module will bridge solutions architecting concepts to the AWS Certified Solutions Architect - Associate certification and identify resources useful for a solutions architect.</a:t>
            </a:r>
          </a:p>
        </p:txBody>
      </p:sp>
    </p:spTree>
    <p:extLst>
      <p:ext uri="{BB962C8B-B14F-4D97-AF65-F5344CB8AC3E}">
        <p14:creationId xmlns:p14="http://schemas.microsoft.com/office/powerpoint/2010/main" val="1171446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6ADB534E-EDB9-D721-CB88-32C4E88D8E69}"/>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section identifies the course objectives and introduces information about AWS Certifications. </a:t>
            </a:r>
          </a:p>
        </p:txBody>
      </p:sp>
    </p:spTree>
    <p:extLst>
      <p:ext uri="{BB962C8B-B14F-4D97-AF65-F5344CB8AC3E}">
        <p14:creationId xmlns:p14="http://schemas.microsoft.com/office/powerpoint/2010/main" val="1739719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1EE7E257-B89E-AF2F-4E87-4DB866C8F858}"/>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921444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34C1038C-D371-23E2-521A-C395E670095F}"/>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|Each module has an introduction, content sections, and a wrap-up. The wrap-up for this module contains a sample exam question for you to review with the students.</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341107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Image Placeholder 6">
            <a:extLst>
              <a:ext uri="{FF2B5EF4-FFF2-40B4-BE49-F238E27FC236}">
                <a16:creationId xmlns:a16="http://schemas.microsoft.com/office/drawing/2014/main" id="{923A2919-C86F-17D0-F66B-059AAB9A2532}"/>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|All of this information is within the Solutions Architect – Associate (SAA-C03) exam guide.</a:t>
            </a:r>
          </a:p>
          <a:p>
            <a:r>
              <a:rPr lang="en-US">
                <a:latin typeface="Calibri" panose="020F0502020204030204" pitchFamily="34" charset="0"/>
              </a:rPr>
              <a:t>|</a:t>
            </a:r>
            <a:endParaRPr lang="en-US" dirty="0">
              <a:latin typeface="Calibri" panose="020F0502020204030204" pitchFamily="34" charset="0"/>
            </a:endParaRPr>
          </a:p>
          <a:p>
            <a:r>
              <a:rPr lang="en-US" b="1" dirty="0">
                <a:latin typeface="Calibri" panose="020F0502020204030204" pitchFamily="34" charset="0"/>
              </a:rPr>
              <a:t>|Student notes</a:t>
            </a:r>
          </a:p>
          <a:p>
            <a:pPr lvl="0"/>
            <a:r>
              <a:rPr lang="en-US" dirty="0">
                <a:latin typeface="Calibri" panose="020F0502020204030204" pitchFamily="34" charset="0"/>
              </a:rPr>
              <a:t>Each certification exam specifies content domains that will be covered in the exam. Each domain breaks down the knowledge and skills needed for that domain into task statements. </a:t>
            </a:r>
          </a:p>
          <a:p>
            <a:pPr lvl="0"/>
            <a:r>
              <a:rPr lang="en-US" dirty="0">
                <a:latin typeface="Calibri" panose="020F0502020204030204" pitchFamily="34" charset="0"/>
              </a:rPr>
              <a:t>There are two types of questions on the exam: </a:t>
            </a:r>
          </a:p>
          <a:p>
            <a:r>
              <a:rPr lang="en-US" dirty="0">
                <a:latin typeface="Calibri" panose="020F0502020204030204" pitchFamily="34" charset="0"/>
              </a:rPr>
              <a:t>Multiple choice questions have one correct response and three incorrect responses (distractors).</a:t>
            </a:r>
          </a:p>
          <a:p>
            <a:r>
              <a:rPr lang="en-US" dirty="0">
                <a:latin typeface="Calibri" panose="020F0502020204030204" pitchFamily="34" charset="0"/>
              </a:rPr>
              <a:t>Multiple response questions have two or more correct responses out of five or more response options. </a:t>
            </a:r>
          </a:p>
          <a:p>
            <a:pPr lvl="0"/>
            <a:endParaRPr lang="en-US" dirty="0">
              <a:latin typeface="Calibri" panose="020F0502020204030204" pitchFamily="34" charset="0"/>
            </a:endParaRPr>
          </a:p>
          <a:p>
            <a:pPr lvl="0"/>
            <a:r>
              <a:rPr lang="en-US" dirty="0">
                <a:latin typeface="Calibri" panose="020F0502020204030204" pitchFamily="34" charset="0"/>
              </a:rPr>
              <a:t>Your results for the exam are reported as a scaled score. Your score shows how you performed on the exam as a whole and whether you passed. </a:t>
            </a:r>
          </a:p>
          <a:p>
            <a:endParaRPr lang="en-US" dirty="0">
              <a:latin typeface="Calibri" panose="020F0502020204030204" pitchFamily="34" charset="0"/>
            </a:endParaRPr>
          </a:p>
          <a:p>
            <a:r>
              <a:rPr lang="en-US" dirty="0">
                <a:latin typeface="Calibri" panose="020F0502020204030204" pitchFamily="34" charset="0"/>
              </a:rPr>
              <a:t>Unanswered questions are scored as incorrect; there is no penalty for guessing. The exam includes 50 questions that affect your score. The exam also includes 15 unscored questions that do not affect your score. Amazon Web Services (AWS) collects information about performance on these unscored questions to evaluate these questions for future use as scored questions. These unscored questions are not identified on the exam. </a:t>
            </a:r>
          </a:p>
          <a:p>
            <a:endParaRPr lang="en-US" dirty="0">
              <a:latin typeface="Calibri" panose="020F0502020204030204" pitchFamily="34" charset="0"/>
            </a:endParaRPr>
          </a:p>
          <a:p>
            <a:r>
              <a:rPr lang="en-US" dirty="0">
                <a:latin typeface="Calibri" panose="020F0502020204030204" pitchFamily="34" charset="0"/>
              </a:rPr>
              <a:t>The AWS Certified Solutions Architect – Associate (SAA-C03) Exam Guide includes additional details on these topics. </a:t>
            </a:r>
          </a:p>
        </p:txBody>
      </p:sp>
    </p:spTree>
    <p:extLst>
      <p:ext uri="{BB962C8B-B14F-4D97-AF65-F5344CB8AC3E}">
        <p14:creationId xmlns:p14="http://schemas.microsoft.com/office/powerpoint/2010/main" val="1294274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|All of this information is within the SAA-C03 exam guide.</a:t>
            </a:r>
          </a:p>
          <a:p>
            <a:endParaRPr lang="en-US" b="1" dirty="0">
              <a:latin typeface="Calibri" panose="020F0502020204030204" pitchFamily="34" charset="0"/>
            </a:endParaRPr>
          </a:p>
          <a:p>
            <a:r>
              <a:rPr lang="en-US" b="1" dirty="0">
                <a:latin typeface="Calibri" panose="020F0502020204030204" pitchFamily="34" charset="0"/>
              </a:rPr>
              <a:t>|Student notes</a:t>
            </a:r>
          </a:p>
          <a:p>
            <a:r>
              <a:rPr lang="en-US" dirty="0">
                <a:latin typeface="Calibri" panose="020F0502020204030204" pitchFamily="34" charset="0"/>
              </a:rPr>
              <a:t>The slide summarizes the expected experience and knowledge for a candidate taking the Solutions Architect – Associate Certification. There are additional details in the exam preparation resources linked later in this presentation.</a:t>
            </a:r>
          </a:p>
        </p:txBody>
      </p:sp>
    </p:spTree>
    <p:extLst>
      <p:ext uri="{BB962C8B-B14F-4D97-AF65-F5344CB8AC3E}">
        <p14:creationId xmlns:p14="http://schemas.microsoft.com/office/powerpoint/2010/main" val="2675964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1CB5BC7D-30AF-FC9E-B7E8-83697127FA50}"/>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|Recommend opening the exam guide.</a:t>
            </a:r>
          </a:p>
          <a:p>
            <a:r>
              <a:rPr lang="en-US" dirty="0">
                <a:latin typeface="Calibri" panose="020F0502020204030204" pitchFamily="34" charset="0"/>
              </a:rPr>
              <a:t>|</a:t>
            </a:r>
          </a:p>
          <a:p>
            <a:r>
              <a:rPr lang="en-US" b="1" dirty="0">
                <a:latin typeface="Calibri" panose="020F0502020204030204" pitchFamily="34" charset="0"/>
              </a:rPr>
              <a:t>|Student notes</a:t>
            </a:r>
          </a:p>
          <a:p>
            <a:pPr lvl="0"/>
            <a:r>
              <a:rPr lang="en-US" dirty="0">
                <a:latin typeface="Calibri" panose="020F0502020204030204" pitchFamily="34" charset="0"/>
              </a:rPr>
              <a:t>This section describes the domains and task statements of the Solutions Architect – Associate Certification exam.</a:t>
            </a:r>
          </a:p>
          <a:p>
            <a:pPr lvl="0"/>
            <a:endParaRPr lang="en-US" dirty="0">
              <a:latin typeface="Calibri" panose="020F0502020204030204" pitchFamily="34" charset="0"/>
            </a:endParaRPr>
          </a:p>
          <a:p>
            <a:pPr lvl="0"/>
            <a:r>
              <a:rPr lang="en-US" dirty="0">
                <a:latin typeface="Calibri" panose="020F0502020204030204" pitchFamily="34" charset="0"/>
              </a:rPr>
              <a:t>All the content in this section comes from the AWS Certified Solutions Architect – Associate (SAA-C03) Exam Guide. The exam guide is linked in your course resources and available from the AWS Certified Solutions Architect – Associate Certification web page.</a:t>
            </a:r>
          </a:p>
        </p:txBody>
      </p:sp>
    </p:spTree>
    <p:extLst>
      <p:ext uri="{BB962C8B-B14F-4D97-AF65-F5344CB8AC3E}">
        <p14:creationId xmlns:p14="http://schemas.microsoft.com/office/powerpoint/2010/main" val="3056054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8</a:t>
            </a:fld>
            <a:r>
              <a:rPr lang="en-US" b="1">
                <a:latin typeface="Calibri" panose="020F0502020204030204" pitchFamily="34" charset="0"/>
              </a:rPr>
              <a:t> </a:t>
            </a:r>
          </a:p>
          <a:p>
            <a:r>
              <a:rPr lang="en-US" b="1">
                <a:latin typeface="Calibri" panose="020F0502020204030204" pitchFamily="34" charset="0"/>
              </a:rPr>
              <a:t>|Instructor notes</a:t>
            </a:r>
          </a:p>
          <a:p>
            <a:r>
              <a:rPr lang="en-US">
                <a:latin typeface="Calibri" panose="020F0502020204030204" pitchFamily="34" charset="0"/>
              </a:rPr>
              <a:t>|You can go over the information on the AWS Certified Solutions Architect - Associate (SAA-C03) Exam Guide with your students. Each of the four domains have task statements that are elaborated on in the form of knowledge and skills needed. </a:t>
            </a:r>
            <a:br>
              <a:rPr lang="en-US">
                <a:latin typeface="Calibri" panose="020F0502020204030204" pitchFamily="34" charset="0"/>
              </a:rPr>
            </a:br>
            <a:r>
              <a:rPr lang="en-US">
                <a:latin typeface="Calibri" panose="020F0502020204030204" pitchFamily="34" charset="0"/>
              </a:rPr>
              <a:t>|</a:t>
            </a:r>
          </a:p>
          <a:p>
            <a:r>
              <a:rPr lang="en-US" b="1">
                <a:latin typeface="Calibri" panose="020F0502020204030204" pitchFamily="34" charset="0"/>
              </a:rPr>
              <a:t>|Student notes</a:t>
            </a:r>
          </a:p>
          <a:p>
            <a:pPr marL="0" indent="0">
              <a:buFont typeface="Arial" panose="020B0604020202020204" pitchFamily="34" charset="0"/>
              <a:buNone/>
            </a:pPr>
            <a:r>
              <a:rPr lang="en-US">
                <a:latin typeface="Calibri" panose="020F0502020204030204" pitchFamily="34" charset="0"/>
              </a:rPr>
              <a:t>The exam content is divided into the four domains listed on the slide. Each domain has a weight that indicates its relative importance, and this weight is reflected in how questions in the exam are distributed. </a:t>
            </a:r>
          </a:p>
        </p:txBody>
      </p:sp>
    </p:spTree>
    <p:extLst>
      <p:ext uri="{BB962C8B-B14F-4D97-AF65-F5344CB8AC3E}">
        <p14:creationId xmlns:p14="http://schemas.microsoft.com/office/powerpoint/2010/main" val="3762568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9</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|Each of the domain slides can be used as a reviewing opportunity. The content related to this domain is spread across multiple modules and sections. Together, the students can recall the areas related to this domain that took longer to learn or that they have lab experiences with.</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Security is a constant theme throughout the exam. You need to know the services related to security, in addition to security concepts and how they affect the decisions you will evaluate about various services and solutions. Security should be considered at every stage, level, and tier of your applications and architectures.</a:t>
            </a:r>
          </a:p>
          <a:p>
            <a:endParaRPr lang="en-US" dirty="0">
              <a:latin typeface="Calibri" panose="020F0502020204030204" pitchFamily="34" charset="0"/>
            </a:endParaRPr>
          </a:p>
          <a:p>
            <a:r>
              <a:rPr lang="en-US" dirty="0">
                <a:latin typeface="Calibri" panose="020F0502020204030204" pitchFamily="34" charset="0"/>
              </a:rPr>
              <a:t>Consider secure solutions for every topic. Domain 1 is broken into three task statements stated on the slide.</a:t>
            </a:r>
          </a:p>
          <a:p>
            <a:endParaRPr lang="en-US" dirty="0">
              <a:latin typeface="Calibri" panose="020F0502020204030204" pitchFamily="34" charset="0"/>
            </a:endParaRPr>
          </a:p>
          <a:p>
            <a:r>
              <a:rPr lang="en-US" dirty="0">
                <a:latin typeface="Calibri" panose="020F0502020204030204" pitchFamily="34" charset="0"/>
              </a:rPr>
              <a:t>The following are some big-idea topics and questions related to the first domain:</a:t>
            </a:r>
          </a:p>
          <a:p>
            <a:pPr marL="171450" indent="-171450">
              <a:buFont typeface="Arial" panose="020B0604020202020204" pitchFamily="34" charset="0"/>
              <a:buChar char="•"/>
            </a:pPr>
            <a:r>
              <a:rPr lang="en-US" dirty="0">
                <a:latin typeface="Calibri" panose="020F0502020204030204" pitchFamily="34" charset="0"/>
              </a:rPr>
              <a:t>Which services can we use to follow the Principle of Least Privilege when working in a multi-account environment? Would you use AWS Control Tower, AWS Service Catalog, or AWS Organizations?</a:t>
            </a:r>
          </a:p>
          <a:p>
            <a:pPr marL="171450" indent="-171450">
              <a:buFont typeface="Arial" panose="020B0604020202020204" pitchFamily="34" charset="0"/>
              <a:buChar char="•"/>
            </a:pPr>
            <a:r>
              <a:rPr lang="en-US" dirty="0">
                <a:latin typeface="Calibri" panose="020F0502020204030204" pitchFamily="34" charset="0"/>
              </a:rPr>
              <a:t>Be sure you have a good understanding of AWS Identity and Access Management (IAM). When would you use an AWS IAM role, and when would you use an IAM user? Know the difference between a resource policy, a permissions policy, and a service control policy (SCP). How are policies evaluated when there are overlapping allow and deny rules?</a:t>
            </a:r>
          </a:p>
          <a:p>
            <a:pPr marL="171450" indent="-171450">
              <a:buFont typeface="Arial" panose="020B0604020202020204" pitchFamily="34" charset="0"/>
              <a:buChar char="•"/>
            </a:pPr>
            <a:r>
              <a:rPr lang="en-US" dirty="0">
                <a:latin typeface="Calibri" panose="020F0502020204030204" pitchFamily="34" charset="0"/>
              </a:rPr>
              <a:t>Know different ways to federate into AWS. Be sure to know the AWS IAM Identity Center service and different use cases for AWS Directory Service. </a:t>
            </a:r>
          </a:p>
          <a:p>
            <a:pPr marL="171450" indent="-171450">
              <a:buFont typeface="Arial" panose="020B0604020202020204" pitchFamily="34" charset="0"/>
              <a:buChar char="•"/>
            </a:pPr>
            <a:r>
              <a:rPr lang="en-US" dirty="0">
                <a:latin typeface="Calibri" panose="020F0502020204030204" pitchFamily="34" charset="0"/>
              </a:rPr>
              <a:t>Understand which monitoring services exist, including Amazon CloudTrail, Amazon CloudWatch, and VPC Flow Logs. </a:t>
            </a:r>
          </a:p>
          <a:p>
            <a:pPr marL="171450" indent="-171450">
              <a:buFont typeface="Arial" panose="020B0604020202020204" pitchFamily="34" charset="0"/>
              <a:buChar char="•"/>
            </a:pPr>
            <a:r>
              <a:rPr lang="en-US" dirty="0">
                <a:latin typeface="Calibri" panose="020F0502020204030204" pitchFamily="34" charset="0"/>
              </a:rPr>
              <a:t>Know the different use cases and capabilities of AWS Shield, AWS WAF, AWS Secrets Manager, and AWS Systems Manager Parameter Store.</a:t>
            </a:r>
          </a:p>
          <a:p>
            <a:pPr marL="171450" indent="-171450">
              <a:buFont typeface="Arial" panose="020B0604020202020204" pitchFamily="34" charset="0"/>
              <a:buChar char="•"/>
            </a:pPr>
            <a:r>
              <a:rPr lang="en-US" dirty="0">
                <a:latin typeface="Calibri" panose="020F0502020204030204" pitchFamily="34" charset="0"/>
              </a:rPr>
              <a:t>Make sure you know how you can protect your data in transit and at rest in AWS.</a:t>
            </a:r>
          </a:p>
          <a:p>
            <a:pPr marL="171450" indent="-171450">
              <a:buFont typeface="Arial" panose="020B0604020202020204" pitchFamily="34" charset="0"/>
              <a:buChar char="•"/>
            </a:pPr>
            <a:r>
              <a:rPr lang="en-US" dirty="0">
                <a:latin typeface="Calibri" panose="020F0502020204030204" pitchFamily="34" charset="0"/>
              </a:rPr>
              <a:t>In which case would you choose AWS Key Management Service (AWS KMS) or AWS </a:t>
            </a:r>
            <a:r>
              <a:rPr lang="en-US" dirty="0" err="1">
                <a:latin typeface="Calibri" panose="020F0502020204030204" pitchFamily="34" charset="0"/>
              </a:rPr>
              <a:t>CloudHSM</a:t>
            </a:r>
            <a:r>
              <a:rPr lang="en-US" dirty="0">
                <a:latin typeface="Calibri" panose="020F0502020204030204" pitchFamily="34" charset="0"/>
              </a:rPr>
              <a:t>?</a:t>
            </a:r>
          </a:p>
        </p:txBody>
      </p:sp>
    </p:spTree>
    <p:extLst>
      <p:ext uri="{BB962C8B-B14F-4D97-AF65-F5344CB8AC3E}">
        <p14:creationId xmlns:p14="http://schemas.microsoft.com/office/powerpoint/2010/main" val="2895686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10</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|Each of the domain slides can be used as a reviewing opportunity. The content related to this domain is spread across multiple modules and sections. Together, the students can recall the areas related to this domain that took longer to learn or that they have lab experiences with.</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A resilient workload has the capability to recover when stress by loads, attacks, either accidental or through a bug, or deliberate, through intention, and failure of any component in the workload’s components.</a:t>
            </a: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Dive deeper into high availability, fault tolerance, disaster recovery, elasticity, and scalability. Domain 2 is broken into two task statements stated on the slide.</a:t>
            </a: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following are some big-idea topics and questions related to the second domain:</a:t>
            </a:r>
          </a:p>
          <a:p>
            <a:pPr marL="171450" indent="-171450">
              <a:buFont typeface="Arial" panose="020B0604020202020204" pitchFamily="34" charset="0"/>
              <a:buChar char="•"/>
            </a:pPr>
            <a:r>
              <a:rPr lang="en-US" dirty="0">
                <a:latin typeface="Calibri" panose="020F0502020204030204" pitchFamily="34" charset="0"/>
              </a:rPr>
              <a:t>An understanding of AWS Global Infrastructure is required to design resilient workloads across Availability Zones and across AWS Regions. </a:t>
            </a:r>
          </a:p>
          <a:p>
            <a:pPr marL="171450" indent="-171450">
              <a:buFont typeface="Arial" panose="020B0604020202020204" pitchFamily="34" charset="0"/>
              <a:buChar char="•"/>
            </a:pPr>
            <a:r>
              <a:rPr lang="en-US" dirty="0">
                <a:latin typeface="Calibri" panose="020F0502020204030204" pitchFamily="34" charset="0"/>
              </a:rPr>
              <a:t>Which services could you use to create an environment that can tolerate a single point of failure of a single Amazon Elastic Compute Cloud (Amazon EC2) instance or a loss of an entire Availability Zone? </a:t>
            </a:r>
          </a:p>
          <a:p>
            <a:pPr marL="171450" indent="-171450">
              <a:buFont typeface="Arial" panose="020B0604020202020204" pitchFamily="34" charset="0"/>
              <a:buChar char="•"/>
            </a:pPr>
            <a:r>
              <a:rPr lang="en-US" dirty="0">
                <a:latin typeface="Calibri" panose="020F0502020204030204" pitchFamily="34" charset="0"/>
              </a:rPr>
              <a:t>Ensure you understand Elastic Load Balancing (ELB), Amazon EC2 Auto Scaling, and AWS Auto Scaling. You should know how to use AWS services to automatically scale up and down to match demand.</a:t>
            </a:r>
          </a:p>
          <a:p>
            <a:pPr marL="171450" indent="-171450">
              <a:buFont typeface="Arial" panose="020B0604020202020204" pitchFamily="34" charset="0"/>
              <a:buChar char="•"/>
            </a:pPr>
            <a:r>
              <a:rPr lang="en-US" dirty="0">
                <a:latin typeface="Calibri" panose="020F0502020204030204" pitchFamily="34" charset="0"/>
              </a:rPr>
              <a:t>Understand the use cases for Amazon Route 53 with failover routing or latency-based routing, in addition to AWS Global Accelerator.</a:t>
            </a:r>
          </a:p>
          <a:p>
            <a:pPr marL="171450" indent="-171450">
              <a:buFont typeface="Arial" panose="020B0604020202020204" pitchFamily="34" charset="0"/>
              <a:buChar char="•"/>
            </a:pPr>
            <a:r>
              <a:rPr lang="en-US" dirty="0">
                <a:latin typeface="Calibri" panose="020F0502020204030204" pitchFamily="34" charset="0"/>
              </a:rPr>
              <a:t>Know the different disaster recovery strategies. </a:t>
            </a:r>
          </a:p>
          <a:p>
            <a:pPr marL="171450" indent="-171450">
              <a:buFont typeface="Arial" panose="020B0604020202020204" pitchFamily="34" charset="0"/>
              <a:buChar char="•"/>
            </a:pPr>
            <a:r>
              <a:rPr lang="en-US" dirty="0">
                <a:latin typeface="Calibri" panose="020F0502020204030204" pitchFamily="34" charset="0"/>
              </a:rPr>
              <a:t>Know which AWS managed services have built-in resilience, such as Amazon Simple Queue Service (Amazon SQS), AWS Lambda, and AWS </a:t>
            </a:r>
            <a:r>
              <a:rPr lang="en-US" dirty="0" err="1">
                <a:latin typeface="Calibri" panose="020F0502020204030204" pitchFamily="34" charset="0"/>
              </a:rPr>
              <a:t>Fargate</a:t>
            </a:r>
            <a:r>
              <a:rPr lang="en-US" dirty="0">
                <a:latin typeface="Calibri" panose="020F0502020204030204" pitchFamily="34" charset="0"/>
              </a:rPr>
              <a:t>. Know their capabilities and their appropriate use cases.</a:t>
            </a:r>
          </a:p>
          <a:p>
            <a:pPr marL="171450" indent="-171450">
              <a:buFont typeface="Arial" panose="020B0604020202020204" pitchFamily="34" charset="0"/>
              <a:buChar char="•"/>
            </a:pPr>
            <a:r>
              <a:rPr lang="en-US" dirty="0">
                <a:latin typeface="Calibri" panose="020F0502020204030204" pitchFamily="34" charset="0"/>
              </a:rPr>
              <a:t>Ensure you understand serverless technologies and patterns and the differences between stateful and stateless applications. </a:t>
            </a:r>
          </a:p>
          <a:p>
            <a:pPr marL="171450" indent="-171450">
              <a:buFont typeface="Arial" panose="020B0604020202020204" pitchFamily="34" charset="0"/>
              <a:buChar char="•"/>
            </a:pPr>
            <a:r>
              <a:rPr lang="en-US" dirty="0">
                <a:latin typeface="Calibri" panose="020F0502020204030204" pitchFamily="34" charset="0"/>
              </a:rPr>
              <a:t>Know which services you can use to offload some of your frequent traffic to data stores such as read replicas and Amazon ElastiCache. </a:t>
            </a:r>
          </a:p>
        </p:txBody>
      </p:sp>
    </p:spTree>
    <p:extLst>
      <p:ext uri="{BB962C8B-B14F-4D97-AF65-F5344CB8AC3E}">
        <p14:creationId xmlns:p14="http://schemas.microsoft.com/office/powerpoint/2010/main" val="1675108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11</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|Each of the domain slides can be used as a reviewing opportunity. The content related to this domain is spread across multiple modules and sections. Together, the students can recall the areas related to this domain that took longer to learn or that they have lab experiences with.</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There are a few major layers to think about when designing high-performing solutions on AWS. You have the storage layer, the computer layer, the database layer, and the network layer. You also have to think about your data ingestion and transformation. The optimal solution for a particular workload varies. Well-architected workloads use multiple solutions and use different features to improve performance. It is important to use data obtained through benchmarking or load testing to continually optimize your architecture. Domain 3 is broken into five task statements stated on the slide.</a:t>
            </a: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following are some big-idea topics and questions related to the third domain:</a:t>
            </a:r>
          </a:p>
          <a:p>
            <a:pPr marL="171450" indent="-171450">
              <a:buFont typeface="Arial" panose="020B0604020202020204" pitchFamily="34" charset="0"/>
              <a:buChar char="•"/>
            </a:pPr>
            <a:r>
              <a:rPr lang="en-US" dirty="0">
                <a:latin typeface="Calibri" panose="020F0502020204030204" pitchFamily="34" charset="0"/>
              </a:rPr>
              <a:t>Understand the differences between object storage, block storage, and file storage. Be sure to know services such as Amazon Simple Storage Service (Amazon S3), Amazon Elastic File System (Amazon EFS), Amazon </a:t>
            </a:r>
            <a:r>
              <a:rPr lang="en-US" dirty="0" err="1">
                <a:latin typeface="Calibri" panose="020F0502020204030204" pitchFamily="34" charset="0"/>
              </a:rPr>
              <a:t>FSx</a:t>
            </a:r>
            <a:r>
              <a:rPr lang="en-US" dirty="0">
                <a:latin typeface="Calibri" panose="020F0502020204030204" pitchFamily="34" charset="0"/>
              </a:rPr>
              <a:t>, and Amazon Elastic Block Store (Amazon EBS). </a:t>
            </a:r>
          </a:p>
          <a:p>
            <a:pPr marL="171450" indent="-171450">
              <a:buFont typeface="Arial" panose="020B0604020202020204" pitchFamily="34" charset="0"/>
              <a:buChar char="•"/>
            </a:pPr>
            <a:r>
              <a:rPr lang="en-US" dirty="0">
                <a:latin typeface="Calibri" panose="020F0502020204030204" pitchFamily="34" charset="0"/>
              </a:rPr>
              <a:t>Know how you can scale with different compute services including Amazon EC2, Amazon EMR, AWS </a:t>
            </a:r>
            <a:r>
              <a:rPr lang="en-US" dirty="0" err="1">
                <a:latin typeface="Calibri" panose="020F0502020204030204" pitchFamily="34" charset="0"/>
              </a:rPr>
              <a:t>Fargate</a:t>
            </a:r>
            <a:r>
              <a:rPr lang="en-US" dirty="0">
                <a:latin typeface="Calibri" panose="020F0502020204030204" pitchFamily="34" charset="0"/>
              </a:rPr>
              <a:t>, and AWS Lambda. </a:t>
            </a:r>
          </a:p>
          <a:p>
            <a:pPr marL="171450" indent="-171450">
              <a:buFont typeface="Arial" panose="020B0604020202020204" pitchFamily="34" charset="0"/>
              <a:buChar char="•"/>
            </a:pPr>
            <a:r>
              <a:rPr lang="en-US" dirty="0">
                <a:latin typeface="Calibri" panose="020F0502020204030204" pitchFamily="34" charset="0"/>
              </a:rPr>
              <a:t>Understand how other serverless technologies, including Amazon API Gateway, AWS Step Functions, and Amazon </a:t>
            </a:r>
            <a:r>
              <a:rPr lang="en-US" dirty="0" err="1">
                <a:latin typeface="Calibri" panose="020F0502020204030204" pitchFamily="34" charset="0"/>
              </a:rPr>
              <a:t>EventBridge</a:t>
            </a:r>
            <a:r>
              <a:rPr lang="en-US" dirty="0">
                <a:latin typeface="Calibri" panose="020F0502020204030204" pitchFamily="34" charset="0"/>
              </a:rPr>
              <a:t>, can include overall performance. </a:t>
            </a:r>
          </a:p>
          <a:p>
            <a:pPr marL="171450" indent="-171450">
              <a:buFont typeface="Arial" panose="020B0604020202020204" pitchFamily="34" charset="0"/>
              <a:buChar char="•"/>
            </a:pPr>
            <a:r>
              <a:rPr lang="en-US" dirty="0">
                <a:latin typeface="Calibri" panose="020F0502020204030204" pitchFamily="34" charset="0"/>
              </a:rPr>
              <a:t>Know the capabilities and limitations of Amazon Relational Database Service (Amazon RDS), Amazon Aurora, Amazon DynamoDB, Amazon Elasticache, and Amazon Redshift. How do read replicas work for the services that support them? Which database services provide cross-Region support?</a:t>
            </a:r>
          </a:p>
          <a:p>
            <a:pPr marL="171450" indent="-171450">
              <a:buFont typeface="Arial" panose="020B0604020202020204" pitchFamily="34" charset="0"/>
              <a:buChar char="•"/>
            </a:pPr>
            <a:r>
              <a:rPr lang="en-US" dirty="0">
                <a:latin typeface="Calibri" panose="020F0502020204030204" pitchFamily="34" charset="0"/>
              </a:rPr>
              <a:t>Understand different caching strategies such as lazy loading and write through. </a:t>
            </a:r>
          </a:p>
          <a:p>
            <a:pPr marL="171450" indent="-171450">
              <a:buFont typeface="Arial" panose="020B0604020202020204" pitchFamily="34" charset="0"/>
              <a:buChar char="•"/>
            </a:pPr>
            <a:r>
              <a:rPr lang="en-US" dirty="0">
                <a:latin typeface="Calibri" panose="020F0502020204030204" pitchFamily="34" charset="0"/>
              </a:rPr>
              <a:t>Know which services and solutions can help optimize network traffic, such as Amazon CloudFront, AWS Global Accelerator, and Amazon Virtual Private Cloud (Amazon VPC) endpoints. </a:t>
            </a:r>
          </a:p>
          <a:p>
            <a:pPr marL="171450" indent="-171450">
              <a:buFont typeface="Arial" panose="020B0604020202020204" pitchFamily="34" charset="0"/>
              <a:buChar char="•"/>
            </a:pPr>
            <a:r>
              <a:rPr lang="en-US" dirty="0">
                <a:latin typeface="Calibri" panose="020F0502020204030204" pitchFamily="34" charset="0"/>
              </a:rPr>
              <a:t>Know the different data ingestion patterns and data transfer services, such as AWS </a:t>
            </a:r>
            <a:r>
              <a:rPr lang="en-US" dirty="0" err="1">
                <a:latin typeface="Calibri" panose="020F0502020204030204" pitchFamily="34" charset="0"/>
              </a:rPr>
              <a:t>DataSync</a:t>
            </a:r>
            <a:r>
              <a:rPr lang="en-US" dirty="0">
                <a:latin typeface="Calibri" panose="020F0502020204030204" pitchFamily="34" charset="0"/>
              </a:rPr>
              <a:t>, AWS Storage Gateway, and the AWS Transfer Family options.</a:t>
            </a:r>
          </a:p>
        </p:txBody>
      </p:sp>
    </p:spTree>
    <p:extLst>
      <p:ext uri="{BB962C8B-B14F-4D97-AF65-F5344CB8AC3E}">
        <p14:creationId xmlns:p14="http://schemas.microsoft.com/office/powerpoint/2010/main" val="2783438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12</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|Each of the domain slides can be used as a reviewing opportunity. The content related to this domain is spread across multiple modules and sections. Together, the students can recall the areas related to this domain that took longer to learn or that they have lab experiences with.</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Cost optimization is the ability to deliver business value at the lowest price point. To understand this domain, it will help to understand the Cost Optimization pillar of the AWS Well-Architected Framework. Whenever architecting AWS solutions, it’s important to look at how you can minimize cost across storage, compute, database, and network resources. Domain 4 is broken into four task statements stated on the slide.</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For example, through monitoring, you might discover that your EC2 instances are underutilized. This gives you an opportunity to right size the instance for the application and workload or scale in. By doing so, you would be reducing your EC2 instance charges from that point forward. The following month, you might turn on Amazon S3 Intelligent-Tiering to take advantage of the correct storage classes based on your access patterns. Knowing where to look for cost-optimization opportunities and knowing how to optimize cost help you make the most appropriate architectural decisions. </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following are some big-idea topics and questions related to the fourth domain: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For compute solutions, with EC2 instances, choose the most appropriate instance type and size. With Lambda, you can optimize by writing functions that consume less resources and are more efficient for runtime. For containers, you can save by having smaller, more lightweight containers, and choose the appropriate compute platform for your containers.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Understand the cost management tools, such as AWS Cost Explorer, AWS Cost and Usage Reports, and AWS Budgets. Know how to configure tags to be used with cost reporting tools.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For storage solutions, know the different automated methods for switching between Amazon S3 storage classes. Understand different scaling strategies, such as Amazon EC2 Auto Scaling and hibernation. Take advantage of the appropriate storage tiers. You can optimize for cost by choosing the appropriate Amazon EBS volume types and sizes and by managing the lifecycle snapshots for Amazon EBS volumes or database backups.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For database solutions, choose the right database for your use case. Know how to take advantage of caching instead of always scaling up and out.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For networking solutions, know how the services work, their use cases, and the cost implications. After meeting the requirements, consider which design is the most cost-optimized. For example, how can you minimize your virtual private cloud (VPC) cost? How can you minimize cost for NAT gateways in a development VPC? How can you configure your network routes to minimize data-transfer costs? </a:t>
            </a:r>
          </a:p>
        </p:txBody>
      </p:sp>
    </p:spTree>
    <p:extLst>
      <p:ext uri="{BB962C8B-B14F-4D97-AF65-F5344CB8AC3E}">
        <p14:creationId xmlns:p14="http://schemas.microsoft.com/office/powerpoint/2010/main" val="298187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7568957E-9C9B-5FA9-8866-61AA7B060939}"/>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13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section describes the resources related to the certification exam.</a:t>
            </a:r>
          </a:p>
        </p:txBody>
      </p:sp>
    </p:spTree>
    <p:extLst>
      <p:ext uri="{BB962C8B-B14F-4D97-AF65-F5344CB8AC3E}">
        <p14:creationId xmlns:p14="http://schemas.microsoft.com/office/powerpoint/2010/main" val="2220719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|The suggested presentation of this module is to open the AWS Solutions Architect – Associate Certification page and navigate with students to the online resource related to the slides presented in this section. Encourage students to go to the same pages and bookmark the primary resources so that they can conveniently find them later. </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rPr>
              <a:t>The two webpages linked on this screen are your starting points for learning about AWS Certifications and the AWS Certified Solutions Architect exam. This section will highlight key resources that you will find linked from these webpages. It is a good idea to bookmark these webpages as your starting points.</a:t>
            </a:r>
          </a:p>
        </p:txBody>
      </p:sp>
    </p:spTree>
    <p:extLst>
      <p:ext uri="{BB962C8B-B14F-4D97-AF65-F5344CB8AC3E}">
        <p14:creationId xmlns:p14="http://schemas.microsoft.com/office/powerpoint/2010/main" val="2021558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15</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|Navigate to the main page for </a:t>
            </a:r>
            <a:r>
              <a:rPr lang="en-US" b="0" i="0" kern="1200" dirty="0">
                <a:solidFill>
                  <a:schemeClr val="tx1"/>
                </a:solidFill>
                <a:effectLst/>
                <a:latin typeface="Calibri" panose="020F0502020204030204" pitchFamily="34" charset="0"/>
                <a:ea typeface="+mn-ea"/>
                <a:cs typeface="+mn-cs"/>
              </a:rPr>
              <a:t>AWS Certified Solutions Architect – Associate page (linked on the Certification overview slide) and demonstrate where to access each of these resources. Students will be able to schedule an exam from the main page as well. </a:t>
            </a:r>
            <a:r>
              <a:rPr lang="en-US" dirty="0">
                <a:latin typeface="Calibri" panose="020F0502020204030204" pitchFamily="34" charset="0"/>
              </a:rPr>
              <a:t>Direct links are provided in the course resources.</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dirty="0">
                <a:latin typeface="Calibri" panose="020F0502020204030204" pitchFamily="34" charset="0"/>
              </a:rPr>
              <a:t>|Resources on this list are free for students to access.</a:t>
            </a:r>
          </a:p>
          <a:p>
            <a:r>
              <a:rPr lang="en-US" dirty="0">
                <a:latin typeface="Calibri" panose="020F0502020204030204" pitchFamily="34" charset="0"/>
              </a:rPr>
              <a:t>| </a:t>
            </a:r>
            <a:br>
              <a:rPr lang="en-US" dirty="0">
                <a:latin typeface="Calibri" panose="020F0502020204030204" pitchFamily="34" charset="0"/>
              </a:rPr>
            </a:br>
            <a:r>
              <a:rPr lang="en-US" dirty="0">
                <a:latin typeface="Calibri" panose="020F0502020204030204" pitchFamily="34" charset="0"/>
              </a:rPr>
              <a:t>|The 20 practice questions in the Exam Prep Official Practice Question Set are different from the 10 sample questions in the PDF. Encourage students to benefit from all the free questions available to them.</a:t>
            </a:r>
          </a:p>
          <a:p>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dirty="0">
                <a:latin typeface="Calibri" panose="020F0502020204030204" pitchFamily="34" charset="0"/>
              </a:rPr>
              <a:t>|As you open the webinar link, show students to the language and time zone the webinar is offered in.</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p>
          <a:p>
            <a:r>
              <a:rPr lang="en-US" b="0" kern="1200" dirty="0">
                <a:solidFill>
                  <a:schemeClr val="tx1"/>
                </a:solidFill>
                <a:effectLst/>
                <a:latin typeface="Calibri" panose="020F0502020204030204" pitchFamily="34" charset="0"/>
                <a:ea typeface="+mn-ea"/>
                <a:cs typeface="+mn-cs"/>
              </a:rPr>
              <a:t>These free resources will help you prepare for the certification exam. </a:t>
            </a:r>
            <a:r>
              <a:rPr lang="en-US" b="0" dirty="0">
                <a:latin typeface="Calibri" panose="020F0502020204030204" pitchFamily="34" charset="0"/>
              </a:rPr>
              <a:t>All the resources listed on this page are linked from the AWS Certified Solutions Architect – Associate Certification web page listed on the previous slide. </a:t>
            </a:r>
            <a:r>
              <a:rPr lang="en-US" b="0" kern="1200" dirty="0">
                <a:solidFill>
                  <a:schemeClr val="tx1"/>
                </a:solidFill>
                <a:effectLst/>
                <a:latin typeface="Calibri" panose="020F0502020204030204" pitchFamily="34" charset="0"/>
                <a:ea typeface="+mn-ea"/>
                <a:cs typeface="+mn-cs"/>
              </a:rPr>
              <a:t>Download the exam guide and the sample questions. </a:t>
            </a:r>
            <a:r>
              <a:rPr lang="en-US" dirty="0">
                <a:latin typeface="Calibri" panose="020F0502020204030204" pitchFamily="34" charset="0"/>
              </a:rPr>
              <a:t>Scroll down to the Prepare for your exam section on that same page for links to the webinar, digital course, and online practice test. </a:t>
            </a:r>
          </a:p>
        </p:txBody>
      </p:sp>
    </p:spTree>
    <p:extLst>
      <p:ext uri="{BB962C8B-B14F-4D97-AF65-F5344CB8AC3E}">
        <p14:creationId xmlns:p14="http://schemas.microsoft.com/office/powerpoint/2010/main" val="9302306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16</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|Students will need to s</a:t>
            </a:r>
            <a:r>
              <a:rPr lang="en-US" b="0" i="0" kern="1200" dirty="0">
                <a:solidFill>
                  <a:schemeClr val="tx1"/>
                </a:solidFill>
                <a:effectLst/>
                <a:latin typeface="Calibri" panose="020F0502020204030204" pitchFamily="34" charset="0"/>
                <a:ea typeface="+mn-ea"/>
                <a:cs typeface="+mn-cs"/>
              </a:rPr>
              <a:t>ubscribe to AWS Skill Builder for access to additional practice materials to help them prepare for the exam. </a:t>
            </a:r>
          </a:p>
          <a:p>
            <a:pPr marL="0" marR="0" lvl="0" indent="0" defTabSz="914400" rtl="0" eaLnBrk="1" fontAlgn="auto" latinLnBrk="0" hangingPunct="1">
              <a:buClrTx/>
              <a:buSzTx/>
              <a:buFontTx/>
              <a:buNone/>
              <a:tabLst/>
              <a:defRPr/>
            </a:pPr>
            <a:r>
              <a:rPr lang="en-US" dirty="0">
                <a:latin typeface="Calibri" panose="020F0502020204030204" pitchFamily="34" charset="0"/>
              </a:rPr>
              <a:t>|Watch the video on the AWS Cloud Quest Solutions Architect webpage to demo what this gamification resource is about.</a:t>
            </a:r>
          </a:p>
          <a:p>
            <a:pPr marL="0" marR="0" lvl="0" indent="0" defTabSz="914400" rtl="0" eaLnBrk="1" fontAlgn="auto" latinLnBrk="0" hangingPunct="1">
              <a:buClrTx/>
              <a:buSzTx/>
              <a:buFontTx/>
              <a:buNone/>
              <a:tabLst/>
              <a:defRPr/>
            </a:pPr>
            <a:r>
              <a:rPr lang="en-US" dirty="0">
                <a:latin typeface="Calibri" panose="020F0502020204030204" pitchFamily="34" charset="0"/>
              </a:rPr>
              <a:t>|Also explain that additional training is available on the AWS Training webpage using the link provided in the resource page.</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base" latinLnBrk="0" hangingPunct="1">
              <a:buClrTx/>
              <a:buSzTx/>
              <a:buFontTx/>
              <a:buNone/>
              <a:tabLst/>
              <a:defRPr/>
            </a:pPr>
            <a:r>
              <a:rPr lang="en-US" b="0" kern="1200" dirty="0">
                <a:solidFill>
                  <a:schemeClr val="tx1"/>
                </a:solidFill>
                <a:effectLst/>
                <a:latin typeface="Calibri" panose="020F0502020204030204" pitchFamily="34" charset="0"/>
                <a:ea typeface="+mn-ea"/>
                <a:cs typeface="+mn-cs"/>
              </a:rPr>
              <a:t>The following subscription-based resources will help you prepare for the certification exam:</a:t>
            </a:r>
            <a:endParaRPr lang="en-US" b="1" kern="1200" dirty="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b="1" kern="1200" dirty="0">
                <a:solidFill>
                  <a:schemeClr val="tx1"/>
                </a:solidFill>
                <a:effectLst/>
                <a:latin typeface="Calibri" panose="020F0502020204030204" pitchFamily="34" charset="0"/>
                <a:ea typeface="+mn-ea"/>
                <a:cs typeface="+mn-cs"/>
              </a:rPr>
              <a:t>AWS Certification Official Practice Exam: </a:t>
            </a:r>
            <a:r>
              <a:rPr lang="en-US" b="0" kern="1200" dirty="0">
                <a:solidFill>
                  <a:schemeClr val="tx1"/>
                </a:solidFill>
                <a:effectLst/>
                <a:latin typeface="Calibri" panose="020F0502020204030204" pitchFamily="34" charset="0"/>
                <a:ea typeface="+mn-ea"/>
                <a:cs typeface="+mn-cs"/>
              </a:rPr>
              <a:t>The </a:t>
            </a:r>
            <a:r>
              <a:rPr lang="en-US" b="0" i="0" kern="1200" dirty="0">
                <a:solidFill>
                  <a:schemeClr val="tx1"/>
                </a:solidFill>
                <a:effectLst/>
                <a:latin typeface="Calibri" panose="020F0502020204030204" pitchFamily="34" charset="0"/>
                <a:ea typeface="+mn-ea"/>
                <a:cs typeface="+mn-cs"/>
              </a:rPr>
              <a:t>AWS Certified Solutions Architect - Associate (SAA-C03 - English) includes 65 questions and has a time limit of 130 minutes. This full-length practice exam aligns with the SAA-C03 version of the exam and </a:t>
            </a:r>
            <a:r>
              <a:rPr lang="en-US" i="0" u="none" strike="noStrike" kern="1200" dirty="0">
                <a:solidFill>
                  <a:schemeClr val="tx1"/>
                </a:solidFill>
                <a:effectLst/>
                <a:latin typeface="Calibri" panose="020F0502020204030204" pitchFamily="34" charset="0"/>
                <a:ea typeface="+mn-ea"/>
                <a:cs typeface="+mn-cs"/>
              </a:rPr>
              <a:t>exam guide. </a:t>
            </a:r>
            <a:r>
              <a:rPr lang="en-US" b="0" i="0" kern="1200" dirty="0">
                <a:solidFill>
                  <a:schemeClr val="tx1"/>
                </a:solidFill>
                <a:effectLst/>
                <a:latin typeface="Calibri" panose="020F0502020204030204" pitchFamily="34" charset="0"/>
                <a:ea typeface="+mn-ea"/>
                <a:cs typeface="+mn-cs"/>
              </a:rPr>
              <a:t>This practice exam has the same style, depth, rigor, and scoring as the actual exam and can help you gauge your knowledge and preparedness for the exam. </a:t>
            </a:r>
          </a:p>
          <a:p>
            <a:pPr marL="171450" indent="-171450">
              <a:buFont typeface="Arial" panose="020B0604020202020204" pitchFamily="34" charset="0"/>
              <a:buChar char="•"/>
            </a:pPr>
            <a:r>
              <a:rPr lang="en-US" b="1" i="0" kern="1200" dirty="0">
                <a:solidFill>
                  <a:schemeClr val="tx1"/>
                </a:solidFill>
                <a:effectLst/>
                <a:latin typeface="Calibri" panose="020F0502020204030204" pitchFamily="34" charset="0"/>
                <a:ea typeface="+mn-ea"/>
                <a:cs typeface="+mn-cs"/>
              </a:rPr>
              <a:t>Enhanced digital training</a:t>
            </a:r>
            <a:r>
              <a:rPr lang="en-US" b="0" i="0" kern="1200" dirty="0">
                <a:solidFill>
                  <a:schemeClr val="tx1"/>
                </a:solidFill>
                <a:effectLst/>
                <a:latin typeface="Calibri" panose="020F0502020204030204" pitchFamily="34" charset="0"/>
                <a:ea typeface="+mn-ea"/>
                <a:cs typeface="+mn-cs"/>
              </a:rPr>
              <a:t>: This digital course includes practice materials like videos, hands-on exercises (builder labs), additional practice questions, and access to the Official Practice Exam.</a:t>
            </a:r>
          </a:p>
          <a:p>
            <a:pPr marL="171450" indent="-171450">
              <a:buFont typeface="Arial" panose="020B0604020202020204" pitchFamily="34" charset="0"/>
              <a:buChar char="•"/>
            </a:pPr>
            <a:r>
              <a:rPr lang="en-US" b="1" i="0" kern="1200" dirty="0">
                <a:solidFill>
                  <a:schemeClr val="tx1"/>
                </a:solidFill>
                <a:effectLst/>
                <a:latin typeface="Calibri" panose="020F0502020204030204" pitchFamily="34" charset="0"/>
                <a:ea typeface="+mn-ea"/>
                <a:cs typeface="+mn-cs"/>
              </a:rPr>
              <a:t>AWS Cloud Quest</a:t>
            </a:r>
            <a:r>
              <a:rPr lang="en-US" b="0" i="0" kern="1200" dirty="0">
                <a:solidFill>
                  <a:schemeClr val="tx1"/>
                </a:solidFill>
                <a:effectLst/>
                <a:latin typeface="Calibri" panose="020F0502020204030204" pitchFamily="34" charset="0"/>
                <a:ea typeface="+mn-ea"/>
                <a:cs typeface="+mn-cs"/>
              </a:rPr>
              <a:t>: AWS Cloud Quest is a role-based learning game that helps you build practical AWS skills through exercises and hands-on activities using AWS services. Within AWS Cloud Quest, there are roles you can choose from several technical domains. After starting AWS Cloud Quest, choose the Solutions Architect role to explore solution-building assignments that cover a broad range of AWS services curated by AWS experts. As the city’s solution architect, you will implement solutions based on a broad set of AWS services. You will build solutions that scale network connectivity, secure data, and manage resources using the AWS Well-Architected Framework.</a:t>
            </a:r>
          </a:p>
          <a:p>
            <a:pPr marL="171450" indent="-171450">
              <a:buFont typeface="Arial" panose="020B0604020202020204" pitchFamily="34" charset="0"/>
              <a:buChar char="•"/>
            </a:pPr>
            <a:endParaRPr lang="en-US" b="0" i="0" kern="1200" dirty="0">
              <a:solidFill>
                <a:schemeClr val="tx1"/>
              </a:solidFill>
              <a:effectLst/>
              <a:latin typeface="Calibri" panose="020F0502020204030204" pitchFamily="34" charset="0"/>
              <a:ea typeface="+mn-ea"/>
              <a:cs typeface="+mn-cs"/>
            </a:endParaRPr>
          </a:p>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For more information, see the content resources page of your online course.</a:t>
            </a:r>
          </a:p>
        </p:txBody>
      </p:sp>
    </p:spTree>
    <p:extLst>
      <p:ext uri="{BB962C8B-B14F-4D97-AF65-F5344CB8AC3E}">
        <p14:creationId xmlns:p14="http://schemas.microsoft.com/office/powerpoint/2010/main" val="4215477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AA6607B9-7F16-40DC-4D21-64398DB7BB0C}"/>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17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section describes the resources related to learning more about the concepts and services needed in solutions architecting. These are resources that will support your learning to prepare for the exam but are also resources that you will use as you gain experience or take on a role as a cloud architect.</a:t>
            </a:r>
          </a:p>
        </p:txBody>
      </p:sp>
    </p:spTree>
    <p:extLst>
      <p:ext uri="{BB962C8B-B14F-4D97-AF65-F5344CB8AC3E}">
        <p14:creationId xmlns:p14="http://schemas.microsoft.com/office/powerpoint/2010/main" val="27725385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|Navigate to the Well-Architected Framework main page and show the framework overview section along with the six pillars.</a:t>
            </a:r>
          </a:p>
          <a:p>
            <a:r>
              <a:rPr lang="en-US" dirty="0">
                <a:latin typeface="Calibri" panose="020F0502020204030204" pitchFamily="34" charset="0"/>
              </a:rPr>
              <a:t>|</a:t>
            </a:r>
          </a:p>
          <a:p>
            <a:r>
              <a:rPr lang="en-US" dirty="0">
                <a:latin typeface="Calibri" panose="020F0502020204030204" pitchFamily="34" charset="0"/>
              </a:rPr>
              <a:t>|An extension would be to show the </a:t>
            </a:r>
            <a:r>
              <a:rPr lang="en-US" b="0" i="0" kern="1200" dirty="0">
                <a:solidFill>
                  <a:schemeClr val="tx1"/>
                </a:solidFill>
                <a:effectLst/>
                <a:latin typeface="Calibri" panose="020F0502020204030204" pitchFamily="34" charset="0"/>
                <a:ea typeface="+mn-ea"/>
                <a:cs typeface="+mn-cs"/>
              </a:rPr>
              <a:t>AWS Well-Architected Framework Lens. The AWS Well-Architected Framework Lens extends the guidance offered by AWS Well-Architected to specific industry and technology domains. These include machine learning (ML), data analytics, serverless, high performance computing (HPC), Internet of Things (IoT), SAP, streaming media, the games industry, hybrid networking, and financial services. To fully evaluate workloads, use applicable lenses together with the AWS Well-Architected Framework and its six pillars.</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solidFill>
                <a:schemeClr val="tx1"/>
              </a:solidFill>
              <a:latin typeface="Calibri" panose="020F0502020204030204" pitchFamily="34" charset="0"/>
              <a:ea typeface="Amazon Ember" panose="020B0603020204020204" pitchFamily="34" charset="0"/>
              <a:cs typeface="Amazon Ember" panose="020B060302020402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Throughout this course, you have learned about using the Well-Architected Framework to apply best practices to your architectures. To prepare for the AWS Certified Solutions Architect - Associate exam, focus on reading </a:t>
            </a:r>
            <a:r>
              <a:rPr lang="en-US" dirty="0">
                <a:latin typeface="Calibri" panose="020F0502020204030204" pitchFamily="34" charset="0"/>
                <a:ea typeface="Amazon Ember Light" panose="020B0403020204020204" pitchFamily="34" charset="0"/>
                <a:cs typeface="Amazon Ember Light" panose="020B0403020204020204" pitchFamily="34" charset="0"/>
              </a:rPr>
              <a:t>the whitepaper for the AWS Well-Architected Framework and for each of the pillars. Give particular focus to Security, Reliability, Cost Optimization, and Performance Efficiency. For more information, see the content resources page of your online course.</a:t>
            </a:r>
          </a:p>
        </p:txBody>
      </p:sp>
    </p:spTree>
    <p:extLst>
      <p:ext uri="{BB962C8B-B14F-4D97-AF65-F5344CB8AC3E}">
        <p14:creationId xmlns:p14="http://schemas.microsoft.com/office/powerpoint/2010/main" val="3993884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19</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b="0" dirty="0">
                <a:latin typeface="Calibri" panose="020F0502020204030204" pitchFamily="34" charset="0"/>
              </a:rPr>
              <a:t>You might want to open each of these links and have the students do the same while you are on this slide. The remaining slides discuss items that can be reached from each of these hubs, although most also have direct links that you might suggest students bookmark. </a:t>
            </a:r>
          </a:p>
          <a:p>
            <a:pPr marL="0" marR="0" lvl="0" indent="0" defTabSz="914400" rtl="0" eaLnBrk="1" fontAlgn="auto" latinLnBrk="0" hangingPunct="1">
              <a:buClrTx/>
              <a:buSzTx/>
              <a:buFontTx/>
              <a:buNone/>
              <a:tabLst/>
              <a:defRPr/>
            </a:pPr>
            <a:r>
              <a:rPr lang="en-US" dirty="0">
                <a:latin typeface="Calibri" panose="020F0502020204030204" pitchFamily="34" charset="0"/>
              </a:rPr>
              <a:t>|</a:t>
            </a:r>
            <a:endParaRPr lang="en-US" b="1" dirty="0">
              <a:latin typeface="Calibri" panose="020F0502020204030204" pitchFamily="34" charset="0"/>
            </a:endParaRPr>
          </a:p>
          <a:p>
            <a:r>
              <a:rPr lang="en-US" b="1" dirty="0">
                <a:latin typeface="Calibri" panose="020F0502020204030204" pitchFamily="34" charset="0"/>
              </a:rPr>
              <a:t>|Student notes</a:t>
            </a:r>
          </a:p>
          <a:p>
            <a:r>
              <a:rPr lang="en-US" dirty="0">
                <a:latin typeface="Calibri" panose="020F0502020204030204" pitchFamily="34" charset="0"/>
              </a:rPr>
              <a:t>Each of these hub pages bring together a variety of resource links. Frequently, you will find different pathways that lead to some of the same resources. For example, individual videos from the series listed on the AWS Architecture Center page often appear on pages dedicated to a specific technology category. Additionally, relevant sections of the Well-Architected Framework are linked from a variety of guides. The remaining slides in this section highlight some of the resources available from these hubs that might be helpful when preparing for the certification exam. </a:t>
            </a:r>
          </a:p>
          <a:p>
            <a:endParaRPr lang="en-US" dirty="0">
              <a:latin typeface="Calibri" panose="020F0502020204030204" pitchFamily="34" charset="0"/>
            </a:endParaRPr>
          </a:p>
          <a:p>
            <a:r>
              <a:rPr lang="en-US" dirty="0">
                <a:latin typeface="Calibri" panose="020F0502020204030204" pitchFamily="34" charset="0"/>
              </a:rPr>
              <a:t>Beyond that, these are resources you will want to bookmark and come back to as you start to build AWS solutions and as you continue to deepen your knowledge of cloud architecting.</a:t>
            </a:r>
          </a:p>
        </p:txBody>
      </p:sp>
    </p:spTree>
    <p:extLst>
      <p:ext uri="{BB962C8B-B14F-4D97-AF65-F5344CB8AC3E}">
        <p14:creationId xmlns:p14="http://schemas.microsoft.com/office/powerpoint/2010/main" val="23057229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|Navigate to an example of each of the items and highlight the available resources. Direct links to the reference architectures, white papers, and Quick Starts are included in the course resources. However, it might be helpful to guide the students to get there from the architecture webpage, so they only have to bookmark one link. </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a typeface="Amazon Ember Light" panose="020B0403020204020204" pitchFamily="34" charset="0"/>
              <a:cs typeface="Amazon Ember Light" panose="020B0403020204020204" pitchFamily="34" charset="0"/>
              <a:hlinkClick r:id="rId3"/>
            </a:endParaRPr>
          </a:p>
          <a:p>
            <a:r>
              <a:rPr lang="en-US" b="0" i="0" kern="1200" dirty="0">
                <a:solidFill>
                  <a:schemeClr val="tx1"/>
                </a:solidFill>
                <a:effectLst/>
                <a:latin typeface="Calibri" panose="020F0502020204030204" pitchFamily="34" charset="0"/>
                <a:ea typeface="+mn-ea"/>
                <a:cs typeface="+mn-cs"/>
              </a:rPr>
              <a:t>Three useful categories of resources found through the architecture center are best practices, video series, and libraries. As you explore each of these, you will find items cross-referenced across categories and sections (for example, a best practice page might include a video from one of the video series and a link to a diagram from the reference architecture library). </a:t>
            </a:r>
          </a:p>
          <a:p>
            <a:endParaRPr lang="en-US" b="0" i="0" kern="1200" dirty="0">
              <a:solidFill>
                <a:schemeClr val="tx1"/>
              </a:solidFill>
              <a:effectLst/>
              <a:latin typeface="Calibri" panose="020F0502020204030204" pitchFamily="34" charset="0"/>
              <a:ea typeface="+mn-ea"/>
              <a:cs typeface="+mn-cs"/>
            </a:endParaRPr>
          </a:p>
          <a:p>
            <a:r>
              <a:rPr lang="en-US" b="1" i="0" kern="1200" dirty="0">
                <a:solidFill>
                  <a:schemeClr val="tx1"/>
                </a:solidFill>
                <a:effectLst/>
                <a:latin typeface="Calibri" panose="020F0502020204030204" pitchFamily="34" charset="0"/>
                <a:ea typeface="+mn-ea"/>
                <a:cs typeface="+mn-cs"/>
              </a:rPr>
              <a:t>Best practices: </a:t>
            </a:r>
            <a:r>
              <a:rPr lang="en-US" b="0" i="0" kern="1200" dirty="0">
                <a:solidFill>
                  <a:schemeClr val="tx1"/>
                </a:solidFill>
                <a:effectLst/>
                <a:latin typeface="Calibri" panose="020F0502020204030204" pitchFamily="34" charset="0"/>
                <a:ea typeface="+mn-ea"/>
                <a:cs typeface="+mn-cs"/>
              </a:rPr>
              <a:t>Select a technology category from the top menu to find the related best practices. Review the following project steps: get started, learn and design, build and test, deploy, and audit and optimize. For certification preparation, the most relevant resources are mostly in the get started and learn and design sections. </a:t>
            </a:r>
          </a:p>
          <a:p>
            <a:endParaRPr lang="en-US" b="0" i="0" kern="1200" dirty="0">
              <a:solidFill>
                <a:schemeClr val="tx1"/>
              </a:solidFill>
              <a:effectLst/>
              <a:latin typeface="Calibri" panose="020F0502020204030204" pitchFamily="34" charset="0"/>
              <a:ea typeface="+mn-ea"/>
              <a:cs typeface="+mn-cs"/>
            </a:endParaRPr>
          </a:p>
          <a:p>
            <a:r>
              <a:rPr lang="en-US" b="1" i="0" kern="1200" dirty="0">
                <a:solidFill>
                  <a:schemeClr val="tx1"/>
                </a:solidFill>
                <a:effectLst/>
                <a:latin typeface="Calibri" panose="020F0502020204030204" pitchFamily="34" charset="0"/>
                <a:ea typeface="+mn-ea"/>
                <a:cs typeface="+mn-cs"/>
              </a:rPr>
              <a:t>Video series: </a:t>
            </a:r>
            <a:r>
              <a:rPr lang="en-US" b="0" i="0" kern="1200" dirty="0">
                <a:solidFill>
                  <a:schemeClr val="tx1"/>
                </a:solidFill>
                <a:effectLst/>
                <a:latin typeface="Calibri" panose="020F0502020204030204" pitchFamily="34" charset="0"/>
                <a:ea typeface="+mn-ea"/>
                <a:cs typeface="+mn-cs"/>
              </a:rPr>
              <a:t>Select a video series from the top menu and then use the available filters to find videos of interest for that series.</a:t>
            </a:r>
          </a:p>
          <a:p>
            <a:endParaRPr lang="en-US" b="0" i="0" kern="1200" dirty="0">
              <a:solidFill>
                <a:schemeClr val="tx1"/>
              </a:solidFill>
              <a:effectLst/>
              <a:latin typeface="Calibri" panose="020F0502020204030204" pitchFamily="34" charset="0"/>
              <a:ea typeface="+mn-ea"/>
              <a:cs typeface="+mn-cs"/>
            </a:endParaRPr>
          </a:p>
          <a:p>
            <a:r>
              <a:rPr lang="en-US" b="1" i="0" kern="1200" dirty="0">
                <a:solidFill>
                  <a:schemeClr val="tx1"/>
                </a:solidFill>
                <a:effectLst/>
                <a:latin typeface="Calibri" panose="020F0502020204030204" pitchFamily="34" charset="0"/>
                <a:ea typeface="+mn-ea"/>
                <a:cs typeface="+mn-cs"/>
              </a:rPr>
              <a:t>Libraries: </a:t>
            </a:r>
            <a:r>
              <a:rPr lang="en-US" b="0" i="0" kern="1200" dirty="0">
                <a:solidFill>
                  <a:schemeClr val="tx1"/>
                </a:solidFill>
                <a:effectLst/>
                <a:latin typeface="Calibri" panose="020F0502020204030204" pitchFamily="34" charset="0"/>
                <a:ea typeface="+mn-ea"/>
                <a:cs typeface="+mn-cs"/>
              </a:rPr>
              <a:t>Select a library and then use available filters to find resources of interest. For the purpose of learning more to prepare for the certification exam, the most relevant options are the reference architectures and whitepapers. Some Quick Start resources might also be helpful.</a:t>
            </a:r>
            <a:endParaRPr lang="en-US" b="1" i="0" kern="1200" dirty="0">
              <a:solidFill>
                <a:schemeClr val="tx1"/>
              </a:solidFill>
              <a:effectLst/>
              <a:latin typeface="Calibri" panose="020F0502020204030204" pitchFamily="34" charset="0"/>
              <a:ea typeface="+mn-ea"/>
              <a:cs typeface="+mn-cs"/>
            </a:endParaRP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Quick Starts are automated reference deployments built by AWS solutions architects and AWS Partners. Quick Starts use CloudFormation templates to </a:t>
            </a:r>
            <a:r>
              <a:rPr lang="en-US" kern="1200" dirty="0">
                <a:solidFill>
                  <a:schemeClr val="tx1"/>
                </a:solidFill>
                <a:effectLst/>
                <a:latin typeface="Calibri" panose="020F0502020204030204" pitchFamily="34" charset="0"/>
                <a:ea typeface="+mn-ea"/>
                <a:cs typeface="+mn-cs"/>
              </a:rPr>
              <a:t>reduce hundreds of manual procedures into a few steps, so you can build your production environment quickly and start to use it immediately.</a:t>
            </a:r>
          </a:p>
          <a:p>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Each Quick Start includes the following:</a:t>
            </a:r>
          </a:p>
          <a:p>
            <a:pPr marL="17145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A reference architecture for the deployment</a:t>
            </a:r>
          </a:p>
          <a:p>
            <a:pPr marL="17145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An AWS CloudFormation template that automates the deployment </a:t>
            </a:r>
          </a:p>
          <a:p>
            <a:pPr marL="17145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An implementation guide that discusses the architecture and provides step-by-step deployment instructions</a:t>
            </a:r>
          </a:p>
          <a:p>
            <a:pPr marL="0" indent="0">
              <a:buFont typeface="Arial" panose="020B0604020202020204" pitchFamily="34" charset="0"/>
              <a:buNone/>
            </a:pPr>
            <a:endParaRPr lang="en-US" kern="1200" dirty="0">
              <a:solidFill>
                <a:schemeClr val="tx1"/>
              </a:solidFill>
              <a:effectLst/>
              <a:latin typeface="Calibri" panose="020F0502020204030204" pitchFamily="34" charset="0"/>
              <a:ea typeface="+mn-ea"/>
              <a:cs typeface="+mn-cs"/>
            </a:endParaRPr>
          </a:p>
          <a:p>
            <a:pPr marL="0" indent="0">
              <a:buFont typeface="Arial" panose="020B0604020202020204" pitchFamily="34" charset="0"/>
              <a:buNone/>
            </a:pPr>
            <a:r>
              <a:rPr lang="en-US" kern="1200" dirty="0">
                <a:solidFill>
                  <a:schemeClr val="tx1"/>
                </a:solidFill>
                <a:effectLst/>
                <a:latin typeface="Calibri" panose="020F0502020204030204" pitchFamily="34" charset="0"/>
                <a:ea typeface="+mn-ea"/>
                <a:cs typeface="+mn-cs"/>
              </a:rPr>
              <a:t>Some AWS Quick Starts will explain the benefits of the solution provided, while others might provide connections to the Well-Architected Framework.</a:t>
            </a:r>
          </a:p>
          <a:p>
            <a:pPr marL="0" indent="0">
              <a:buFont typeface="Arial" panose="020B0604020202020204" pitchFamily="34" charset="0"/>
              <a:buNone/>
            </a:pPr>
            <a:endParaRPr lang="en-US" kern="1200" dirty="0">
              <a:solidFill>
                <a:schemeClr val="tx1"/>
              </a:solidFill>
              <a:effectLst/>
              <a:latin typeface="Calibri" panose="020F0502020204030204" pitchFamily="34" charset="0"/>
              <a:ea typeface="+mn-ea"/>
              <a:cs typeface="+mn-cs"/>
            </a:endParaRPr>
          </a:p>
          <a:p>
            <a:pPr marL="0" indent="0">
              <a:buFont typeface="Arial" panose="020B0604020202020204" pitchFamily="34" charset="0"/>
              <a:buNone/>
            </a:pPr>
            <a:r>
              <a:rPr lang="en-US" kern="1200" dirty="0">
                <a:solidFill>
                  <a:schemeClr val="tx1"/>
                </a:solidFill>
                <a:effectLst/>
                <a:latin typeface="Calibri" panose="020F0502020204030204" pitchFamily="34" charset="0"/>
                <a:ea typeface="+mn-ea"/>
                <a:cs typeface="+mn-cs"/>
              </a:rPr>
              <a:t>Even if you aren't ready to deploy a solution, the reference architectures and implementation guides might be helpful for understanding how to architect AWS solutions for a given use case. </a:t>
            </a:r>
          </a:p>
        </p:txBody>
      </p:sp>
    </p:spTree>
    <p:extLst>
      <p:ext uri="{BB962C8B-B14F-4D97-AF65-F5344CB8AC3E}">
        <p14:creationId xmlns:p14="http://schemas.microsoft.com/office/powerpoint/2010/main" val="27516662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21</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|Navigate to the </a:t>
            </a:r>
            <a:r>
              <a:rPr lang="en-US" i="1" dirty="0">
                <a:latin typeface="Calibri" panose="020F0502020204030204" pitchFamily="34" charset="0"/>
              </a:rPr>
              <a:t>This is My Architecture</a:t>
            </a:r>
            <a:r>
              <a:rPr lang="en-US" dirty="0">
                <a:latin typeface="Calibri" panose="020F0502020204030204" pitchFamily="34" charset="0"/>
              </a:rPr>
              <a:t> video series and the </a:t>
            </a:r>
            <a:r>
              <a:rPr lang="en-US" i="1" dirty="0">
                <a:latin typeface="Calibri" panose="020F0502020204030204" pitchFamily="34" charset="0"/>
              </a:rPr>
              <a:t>Back to Basics</a:t>
            </a:r>
            <a:r>
              <a:rPr lang="en-US" dirty="0">
                <a:latin typeface="Calibri" panose="020F0502020204030204" pitchFamily="34" charset="0"/>
              </a:rPr>
              <a:t> video series using the links in the resource page. Search for the two videos shown on the slide; the titles are also in the student notes. Compare the perspective and purpose of each migration-related video.</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a typeface="Amazon Ember Light" panose="020B0403020204020204" pitchFamily="34" charset="0"/>
              <a:cs typeface="Amazon Ember Light" panose="020B0403020204020204" pitchFamily="34" charset="0"/>
              <a:hlinkClick r:id="rId3"/>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a:t>
            </a:r>
            <a:r>
              <a:rPr lang="en-US" i="1" dirty="0">
                <a:latin typeface="Calibri" panose="020F0502020204030204" pitchFamily="34" charset="0"/>
              </a:rPr>
              <a:t>This is My Architecture </a:t>
            </a:r>
            <a:r>
              <a:rPr lang="en-US" dirty="0">
                <a:latin typeface="Calibri" panose="020F0502020204030204" pitchFamily="34" charset="0"/>
              </a:rPr>
              <a:t>video series and the </a:t>
            </a:r>
            <a:r>
              <a:rPr lang="en-US" i="1" dirty="0">
                <a:latin typeface="Calibri" panose="020F0502020204030204" pitchFamily="34" charset="0"/>
              </a:rPr>
              <a:t>Back to Basics</a:t>
            </a:r>
            <a:r>
              <a:rPr lang="en-US" dirty="0">
                <a:latin typeface="Calibri" panose="020F0502020204030204" pitchFamily="34" charset="0"/>
              </a:rPr>
              <a:t> video series are beneficial for learning more about how AWS services are applied and the types of problems they solve. </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b="1" i="1" dirty="0">
                <a:latin typeface="Calibri" panose="020F0502020204030204" pitchFamily="34" charset="0"/>
              </a:rPr>
              <a:t>This is My Architecture</a:t>
            </a:r>
            <a:r>
              <a:rPr lang="en-US" b="1" dirty="0">
                <a:latin typeface="Calibri" panose="020F0502020204030204" pitchFamily="34" charset="0"/>
              </a:rPr>
              <a:t>: </a:t>
            </a:r>
            <a:r>
              <a:rPr lang="en-US" dirty="0">
                <a:latin typeface="Calibri" panose="020F0502020204030204" pitchFamily="34" charset="0"/>
              </a:rPr>
              <a:t>This video series can help you learn about the innovative cloud architectures that AWS Partners and customers have built. An example of this collection is “</a:t>
            </a:r>
            <a:r>
              <a:rPr lang="en-US" b="1" i="0" kern="1200" dirty="0" err="1">
                <a:solidFill>
                  <a:schemeClr val="tx1"/>
                </a:solidFill>
                <a:effectLst/>
                <a:latin typeface="Calibri" panose="020F0502020204030204" pitchFamily="34" charset="0"/>
                <a:ea typeface="+mn-ea"/>
                <a:cs typeface="+mn-cs"/>
              </a:rPr>
              <a:t>Talabat</a:t>
            </a:r>
            <a:r>
              <a:rPr lang="en-US" b="1" i="0" kern="1200" dirty="0">
                <a:solidFill>
                  <a:schemeClr val="tx1"/>
                </a:solidFill>
                <a:effectLst/>
                <a:latin typeface="Calibri" panose="020F0502020204030204" pitchFamily="34" charset="0"/>
                <a:ea typeface="+mn-ea"/>
                <a:cs typeface="+mn-cs"/>
              </a:rPr>
              <a:t>: Applying the Right Strategies for a Successful Migration:” </a:t>
            </a:r>
            <a:r>
              <a:rPr lang="en-US" b="0" i="0" kern="1200" dirty="0">
                <a:solidFill>
                  <a:schemeClr val="tx1"/>
                </a:solidFill>
                <a:effectLst/>
                <a:latin typeface="Calibri" panose="020F0502020204030204" pitchFamily="34" charset="0"/>
                <a:ea typeface="+mn-ea"/>
                <a:cs typeface="+mn-cs"/>
              </a:rPr>
              <a:t>Join Moe from AWS as he walks through </a:t>
            </a:r>
            <a:r>
              <a:rPr lang="en-US" b="0" i="0" kern="1200" dirty="0" err="1">
                <a:solidFill>
                  <a:schemeClr val="tx1"/>
                </a:solidFill>
                <a:effectLst/>
                <a:latin typeface="Calibri" panose="020F0502020204030204" pitchFamily="34" charset="0"/>
                <a:ea typeface="+mn-ea"/>
                <a:cs typeface="+mn-cs"/>
              </a:rPr>
              <a:t>Talabat's</a:t>
            </a:r>
            <a:r>
              <a:rPr lang="en-US" b="0" i="0" kern="1200" dirty="0">
                <a:solidFill>
                  <a:schemeClr val="tx1"/>
                </a:solidFill>
                <a:effectLst/>
                <a:latin typeface="Calibri" panose="020F0502020204030204" pitchFamily="34" charset="0"/>
                <a:ea typeface="+mn-ea"/>
                <a:cs typeface="+mn-cs"/>
              </a:rPr>
              <a:t> architecture and explains the different migration strategies in </a:t>
            </a:r>
            <a:r>
              <a:rPr lang="en-US" b="0" i="0" kern="1200" dirty="0" err="1">
                <a:solidFill>
                  <a:schemeClr val="tx1"/>
                </a:solidFill>
                <a:effectLst/>
                <a:latin typeface="Calibri" panose="020F0502020204030204" pitchFamily="34" charset="0"/>
                <a:ea typeface="+mn-ea"/>
                <a:cs typeface="+mn-cs"/>
              </a:rPr>
              <a:t>Talabat's</a:t>
            </a:r>
            <a:r>
              <a:rPr lang="en-US" b="0" i="0" kern="1200" dirty="0">
                <a:solidFill>
                  <a:schemeClr val="tx1"/>
                </a:solidFill>
                <a:effectLst/>
                <a:latin typeface="Calibri" panose="020F0502020204030204" pitchFamily="34" charset="0"/>
                <a:ea typeface="+mn-ea"/>
                <a:cs typeface="+mn-cs"/>
              </a:rPr>
              <a:t> migration journey from bare-metal data center to AWS. </a:t>
            </a:r>
            <a:r>
              <a:rPr lang="en-US" b="0" i="0" kern="1200" dirty="0" err="1">
                <a:solidFill>
                  <a:schemeClr val="tx1"/>
                </a:solidFill>
                <a:effectLst/>
                <a:latin typeface="Calibri" panose="020F0502020204030204" pitchFamily="34" charset="0"/>
                <a:ea typeface="+mn-ea"/>
                <a:cs typeface="+mn-cs"/>
              </a:rPr>
              <a:t>Talabat</a:t>
            </a:r>
            <a:r>
              <a:rPr lang="en-US" b="0" i="0" kern="1200" dirty="0">
                <a:solidFill>
                  <a:schemeClr val="tx1"/>
                </a:solidFill>
                <a:effectLst/>
                <a:latin typeface="Calibri" panose="020F0502020204030204" pitchFamily="34" charset="0"/>
                <a:ea typeface="+mn-ea"/>
                <a:cs typeface="+mn-cs"/>
              </a:rPr>
              <a:t> has chosen lift-and-shift, re-platforming, and re-architecting migration strategies based on the application and database complexity to deliver a successful phased migration journey.</a:t>
            </a:r>
          </a:p>
          <a:p>
            <a:pPr marL="0" marR="0" lvl="0" indent="0" defTabSz="914400" rtl="0" eaLnBrk="1" fontAlgn="auto" latinLnBrk="0" hangingPunct="1">
              <a:buClrTx/>
              <a:buSzTx/>
              <a:buFont typeface="Arial" panose="020B0604020202020204" pitchFamily="34" charset="0"/>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 typeface="Arial" panose="020B0604020202020204" pitchFamily="34" charset="0"/>
              <a:buNone/>
              <a:tabLst/>
              <a:defRPr/>
            </a:pPr>
            <a:r>
              <a:rPr lang="en-US" b="1" i="1" dirty="0">
                <a:latin typeface="Calibri" panose="020F0502020204030204" pitchFamily="34" charset="0"/>
              </a:rPr>
              <a:t>Back to Basics</a:t>
            </a:r>
            <a:r>
              <a:rPr lang="en-US" dirty="0">
                <a:latin typeface="Calibri" panose="020F0502020204030204" pitchFamily="34" charset="0"/>
              </a:rPr>
              <a:t>: This video series </a:t>
            </a:r>
            <a:r>
              <a:rPr lang="en-US" b="0" i="0" kern="1200" dirty="0">
                <a:solidFill>
                  <a:schemeClr val="tx1"/>
                </a:solidFill>
                <a:effectLst/>
                <a:latin typeface="Calibri" panose="020F0502020204030204" pitchFamily="34" charset="0"/>
                <a:ea typeface="+mn-ea"/>
                <a:cs typeface="+mn-cs"/>
              </a:rPr>
              <a:t>explains and examines basic cloud architecture pattern best practices. Each episode is hosted by an AWS Solutions Architect and focuses on a specific architectural building block independent of a specific cloud solution. </a:t>
            </a:r>
            <a:r>
              <a:rPr lang="en-US" dirty="0">
                <a:latin typeface="Calibri" panose="020F0502020204030204" pitchFamily="34" charset="0"/>
              </a:rPr>
              <a:t>An example of this collection is “</a:t>
            </a:r>
            <a:r>
              <a:rPr lang="en-US" b="1" i="0" kern="1200" dirty="0">
                <a:solidFill>
                  <a:schemeClr val="tx1"/>
                </a:solidFill>
                <a:effectLst/>
                <a:latin typeface="Calibri" panose="020F0502020204030204" pitchFamily="34" charset="0"/>
                <a:ea typeface="+mn-ea"/>
                <a:cs typeface="+mn-cs"/>
              </a:rPr>
              <a:t>Back to Basics: Migrating Your Database to Managed Database Services on AWS”</a:t>
            </a:r>
            <a:r>
              <a:rPr lang="en-US" b="0" i="0" kern="1200" dirty="0">
                <a:solidFill>
                  <a:schemeClr val="tx1"/>
                </a:solidFill>
                <a:effectLst/>
                <a:latin typeface="Calibri" panose="020F0502020204030204" pitchFamily="34" charset="0"/>
                <a:ea typeface="+mn-ea"/>
                <a:cs typeface="+mn-cs"/>
              </a:rPr>
              <a:t>. If you manage applications or databases, you will likely have to deal with database migrations from time to time. This migration could be initiated by a project to modernize an application or to meet business growth requiring a modern database. Join Pranjali as she shares a solution pattern to migrate and modernize your database services.</a:t>
            </a:r>
          </a:p>
        </p:txBody>
      </p:sp>
    </p:spTree>
    <p:extLst>
      <p:ext uri="{BB962C8B-B14F-4D97-AF65-F5344CB8AC3E}">
        <p14:creationId xmlns:p14="http://schemas.microsoft.com/office/powerpoint/2010/main" val="3887963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22</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|Navigate to the AWS documentation using the link in the resource page or the earlier slide. Show the </a:t>
            </a:r>
            <a:r>
              <a:rPr lang="en-US" b="0" i="0" kern="1200" dirty="0">
                <a:solidFill>
                  <a:schemeClr val="tx1"/>
                </a:solidFill>
                <a:effectLst/>
                <a:latin typeface="Calibri" panose="020F0502020204030204" pitchFamily="34" charset="0"/>
                <a:ea typeface="+mn-ea"/>
                <a:cs typeface="+mn-cs"/>
              </a:rPr>
              <a:t>Product guides and references section where students can search for all products directly or by product category.</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dirty="0">
                <a:latin typeface="Calibri" panose="020F0502020204030204" pitchFamily="34" charset="0"/>
              </a:rPr>
              <a:t>|Suggest opening a guide that has been referenced earlier in the course, such as the </a:t>
            </a:r>
            <a:r>
              <a:rPr lang="en-US" i="1" dirty="0">
                <a:latin typeface="Calibri" panose="020F0502020204030204" pitchFamily="34" charset="0"/>
              </a:rPr>
              <a:t>AWS Glue User Guide</a:t>
            </a:r>
            <a:r>
              <a:rPr lang="en-US" dirty="0">
                <a:latin typeface="Calibri" panose="020F0502020204030204" pitchFamily="34" charset="0"/>
              </a:rPr>
              <a:t>. (Type Glue into the search box in the </a:t>
            </a:r>
            <a:r>
              <a:rPr lang="en-US" b="0" i="0" kern="1200" dirty="0">
                <a:solidFill>
                  <a:schemeClr val="tx1"/>
                </a:solidFill>
                <a:effectLst/>
                <a:latin typeface="Calibri" panose="020F0502020204030204" pitchFamily="34" charset="0"/>
                <a:ea typeface="+mn-ea"/>
                <a:cs typeface="+mn-cs"/>
              </a:rPr>
              <a:t>Product guides and references section</a:t>
            </a:r>
            <a:r>
              <a:rPr lang="en-US" dirty="0">
                <a:latin typeface="Calibri" panose="020F0502020204030204" pitchFamily="34" charset="0"/>
              </a:rPr>
              <a:t>, choose AWS Glue from the search results, then choose What is AWS Glue to open the guide.) Show students the “Getting Started” part of the user guide and expand some of the topics to show the clear steps that are helpful. Also point out the other related sections on the left bar. </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AWS Documentation is the source of truth for AWS services and features. You can find user guides, developer guides, API references, tutorials and projects, SDKs and toolkits, and various other general resources </a:t>
            </a:r>
            <a:r>
              <a:rPr lang="en-US" b="0" i="0" kern="1200" dirty="0">
                <a:solidFill>
                  <a:schemeClr val="tx1"/>
                </a:solidFill>
                <a:effectLst/>
                <a:latin typeface="Calibri" panose="020F0502020204030204" pitchFamily="34" charset="0"/>
                <a:ea typeface="+mn-ea"/>
                <a:cs typeface="+mn-cs"/>
              </a:rPr>
              <a:t>within the </a:t>
            </a:r>
            <a:r>
              <a:rPr lang="en-US" dirty="0">
                <a:latin typeface="Calibri" panose="020F0502020204030204" pitchFamily="34" charset="0"/>
              </a:rPr>
              <a:t>AWS Documentation. </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Light" panose="020B0403020204020204" pitchFamily="34" charset="0"/>
                <a:cs typeface="Amazon Ember Light" panose="020B0403020204020204" pitchFamily="34" charset="0"/>
              </a:rPr>
              <a:t>Some services have both user guides and developer guides. Both can be helpful for learning about the service. Most guides include a What is, How it works, and Getting started section. The </a:t>
            </a:r>
            <a:r>
              <a:rPr lang="en-US" i="1" dirty="0">
                <a:latin typeface="Calibri" panose="020F0502020204030204" pitchFamily="34" charset="0"/>
                <a:ea typeface="Amazon Ember Light" panose="020B0403020204020204" pitchFamily="34" charset="0"/>
                <a:cs typeface="Amazon Ember Light" panose="020B0403020204020204" pitchFamily="34" charset="0"/>
              </a:rPr>
              <a:t>Getting started </a:t>
            </a:r>
            <a:r>
              <a:rPr lang="en-US" dirty="0">
                <a:latin typeface="Calibri" panose="020F0502020204030204" pitchFamily="34" charset="0"/>
                <a:ea typeface="Amazon Ember Light" panose="020B0403020204020204" pitchFamily="34" charset="0"/>
                <a:cs typeface="Amazon Ember Light" panose="020B0403020204020204" pitchFamily="34" charset="0"/>
              </a:rPr>
              <a:t>section topics have step-by-step tutorials that can help familiarize you with the services.</a:t>
            </a:r>
          </a:p>
        </p:txBody>
      </p:sp>
    </p:spTree>
    <p:extLst>
      <p:ext uri="{BB962C8B-B14F-4D97-AF65-F5344CB8AC3E}">
        <p14:creationId xmlns:p14="http://schemas.microsoft.com/office/powerpoint/2010/main" val="4003648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|Navigate to the AWS FAQs page using the link in the resource page. Choose one topic or service and look for relevant resources in each of the three sections explained in the students notes. One example is exploring artificial intelligence and machine learning (AI/ML) concepts and services, as shown on the slide.</a:t>
            </a:r>
          </a:p>
          <a:p>
            <a:r>
              <a:rPr lang="en-US" dirty="0">
                <a:latin typeface="Calibri" panose="020F0502020204030204" pitchFamily="34" charset="0"/>
              </a:rPr>
              <a:t>|</a:t>
            </a:r>
          </a:p>
          <a:p>
            <a:r>
              <a:rPr lang="en-US" b="1" dirty="0">
                <a:latin typeface="Calibri" panose="020F0502020204030204" pitchFamily="34" charset="0"/>
              </a:rPr>
              <a:t>|Student notes</a:t>
            </a:r>
          </a:p>
          <a:p>
            <a:pPr rtl="0"/>
            <a:r>
              <a:rPr lang="en-US" b="0" i="0" u="none" strike="noStrike" kern="1200" dirty="0">
                <a:solidFill>
                  <a:schemeClr val="tx1"/>
                </a:solidFill>
                <a:effectLst/>
                <a:latin typeface="Calibri" panose="020F0502020204030204" pitchFamily="34" charset="0"/>
                <a:ea typeface="+mn-ea"/>
                <a:cs typeface="+mn-cs"/>
              </a:rPr>
              <a:t>Reviewing frequently asked questions can be helpful as you learn more cloud architecting concepts and services. The AWS FAQs page consists of the following three sections: </a:t>
            </a:r>
          </a:p>
          <a:p>
            <a:pPr marL="171450" indent="-171450" rtl="0">
              <a:buFont typeface="Arial" panose="020B0604020202020204" pitchFamily="34" charset="0"/>
              <a:buChar char="•"/>
            </a:pPr>
            <a:r>
              <a:rPr lang="en-US" b="1" i="0" u="none" strike="noStrike" kern="1200" dirty="0">
                <a:solidFill>
                  <a:schemeClr val="tx1"/>
                </a:solidFill>
                <a:effectLst/>
                <a:latin typeface="Calibri" panose="020F0502020204030204" pitchFamily="34" charset="0"/>
                <a:ea typeface="+mn-ea"/>
                <a:cs typeface="+mn-cs"/>
              </a:rPr>
              <a:t>Product-related FAQs</a:t>
            </a:r>
            <a:r>
              <a:rPr lang="en-US" b="0" i="0" u="none" strike="noStrike" kern="1200" dirty="0">
                <a:solidFill>
                  <a:schemeClr val="tx1"/>
                </a:solidFill>
                <a:effectLst/>
                <a:latin typeface="Calibri" panose="020F0502020204030204" pitchFamily="34" charset="0"/>
                <a:ea typeface="+mn-ea"/>
                <a:cs typeface="+mn-cs"/>
              </a:rPr>
              <a:t>:</a:t>
            </a:r>
            <a:r>
              <a:rPr lang="en-US" b="0" i="0" kern="1200" dirty="0">
                <a:solidFill>
                  <a:schemeClr val="tx1"/>
                </a:solidFill>
                <a:effectLst/>
                <a:latin typeface="Calibri" panose="020F0502020204030204" pitchFamily="34" charset="0"/>
                <a:ea typeface="+mn-ea"/>
                <a:cs typeface="+mn-cs"/>
              </a:rPr>
              <a:t> Browse through these FAQs to find answers to commonly raised questions for each product. You will see product categories, such as artificial intelligence or machine learning, with AWS products under each category. </a:t>
            </a:r>
            <a:endParaRPr lang="en-US" b="0" i="0" u="none" strike="noStrike" kern="1200" dirty="0">
              <a:solidFill>
                <a:schemeClr val="tx1"/>
              </a:solidFill>
              <a:effectLst/>
              <a:latin typeface="Calibri" panose="020F0502020204030204" pitchFamily="34" charset="0"/>
              <a:ea typeface="+mn-ea"/>
              <a:cs typeface="+mn-cs"/>
            </a:endParaRPr>
          </a:p>
          <a:p>
            <a:pPr marL="171450" indent="-171450" rtl="0">
              <a:buFont typeface="Arial" panose="020B0604020202020204" pitchFamily="34" charset="0"/>
              <a:buChar char="•"/>
            </a:pPr>
            <a:r>
              <a:rPr lang="en-US" b="1" i="0" u="none" strike="noStrike" kern="1200" dirty="0">
                <a:solidFill>
                  <a:schemeClr val="tx1"/>
                </a:solidFill>
                <a:effectLst/>
                <a:latin typeface="Calibri" panose="020F0502020204030204" pitchFamily="34" charset="0"/>
                <a:ea typeface="+mn-ea"/>
                <a:cs typeface="+mn-cs"/>
              </a:rPr>
              <a:t>Cloud computing concepts FAQs</a:t>
            </a:r>
            <a:r>
              <a:rPr lang="en-US" b="0" i="0" u="none" strike="noStrike" kern="1200" dirty="0">
                <a:solidFill>
                  <a:schemeClr val="tx1"/>
                </a:solidFill>
                <a:effectLst/>
                <a:latin typeface="Calibri" panose="020F0502020204030204" pitchFamily="34" charset="0"/>
                <a:ea typeface="+mn-ea"/>
                <a:cs typeface="+mn-cs"/>
              </a:rPr>
              <a:t>: This</a:t>
            </a:r>
            <a:r>
              <a:rPr lang="en-US" b="0" i="0" kern="1200" dirty="0">
                <a:solidFill>
                  <a:schemeClr val="tx1"/>
                </a:solidFill>
                <a:effectLst/>
                <a:latin typeface="Calibri" panose="020F0502020204030204" pitchFamily="34" charset="0"/>
                <a:ea typeface="+mn-ea"/>
                <a:cs typeface="+mn-cs"/>
              </a:rPr>
              <a:t> is the centralized place where you can browse or search for informative articles about cloud computing. You will find straightforward information about broad topics, such as "What is data science?" and "What is machine learning?“ These articles are intended to help you level up your understanding of frequently asked cloud computing topics. </a:t>
            </a:r>
          </a:p>
          <a:p>
            <a:pPr marL="171450" marR="0" lvl="0" indent="-171450" defTabSz="914400" rtl="0" eaLnBrk="1" fontAlgn="auto" latinLnBrk="0" hangingPunct="1">
              <a:buClrTx/>
              <a:buSzTx/>
              <a:buFont typeface="Arial" panose="020B0604020202020204" pitchFamily="34" charset="0"/>
              <a:buChar char="•"/>
              <a:tabLst/>
              <a:defRPr/>
            </a:pPr>
            <a:r>
              <a:rPr lang="en-US" b="1" i="0" u="none" strike="noStrike" kern="1200" dirty="0">
                <a:solidFill>
                  <a:schemeClr val="tx1"/>
                </a:solidFill>
                <a:effectLst/>
                <a:latin typeface="Calibri" panose="020F0502020204030204" pitchFamily="34" charset="0"/>
                <a:ea typeface="+mn-ea"/>
                <a:cs typeface="+mn-cs"/>
              </a:rPr>
              <a:t>Cloud comparison tool FAQs</a:t>
            </a:r>
            <a:r>
              <a:rPr lang="en-US" b="0" i="0" u="none" strike="noStrike" kern="1200" dirty="0">
                <a:solidFill>
                  <a:schemeClr val="tx1"/>
                </a:solidFill>
                <a:effectLst/>
                <a:latin typeface="Calibri" panose="020F0502020204030204" pitchFamily="34" charset="0"/>
                <a:ea typeface="+mn-ea"/>
                <a:cs typeface="+mn-cs"/>
              </a:rPr>
              <a:t>: This section</a:t>
            </a:r>
            <a:r>
              <a:rPr lang="en-US" b="0" i="0" kern="1200" dirty="0">
                <a:solidFill>
                  <a:schemeClr val="tx1"/>
                </a:solidFill>
                <a:effectLst/>
                <a:latin typeface="Calibri" panose="020F0502020204030204" pitchFamily="34" charset="0"/>
                <a:ea typeface="+mn-ea"/>
                <a:cs typeface="+mn-cs"/>
              </a:rPr>
              <a:t> features content that helps readers understand common use cases for when to use one cloud solution or another. Compare and contrast cloud solutions and learn the nuances of different use cases that work best for your situation.</a:t>
            </a:r>
            <a:endParaRPr lang="en-US" dirty="0">
              <a:latin typeface="Calibri" panose="020F0502020204030204" pitchFamily="34" charset="0"/>
            </a:endParaRPr>
          </a:p>
        </p:txBody>
      </p:sp>
    </p:spTree>
    <p:extLst>
      <p:ext uri="{BB962C8B-B14F-4D97-AF65-F5344CB8AC3E}">
        <p14:creationId xmlns:p14="http://schemas.microsoft.com/office/powerpoint/2010/main" val="31396302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|Navigate to the AWS Getting Started page using the link in the resource page. Show students a hands-on tutorial and an AWS Decision guide of your choice.</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b="0" i="0" u="none" strike="noStrike" kern="1200" dirty="0">
                <a:solidFill>
                  <a:schemeClr val="tx1"/>
                </a:solidFill>
                <a:effectLst/>
                <a:latin typeface="Calibri" panose="020F0502020204030204" pitchFamily="34" charset="0"/>
                <a:ea typeface="+mn-ea"/>
                <a:cs typeface="+mn-cs"/>
              </a:rPr>
              <a:t>More resources that are helpful on your solutions architecting journey are located on the Getting Started with AWS webpage. </a:t>
            </a:r>
            <a:r>
              <a:rPr lang="en-US" dirty="0">
                <a:latin typeface="Calibri" panose="020F0502020204030204" pitchFamily="34" charset="0"/>
              </a:rPr>
              <a:t>Use the top menu to find links to many of the other resources described in this section, in addition to available training. Particularly useful for ramping up or preparing for the Solutions Architect – Associate exam are the hands-on tutorials and AWS Decision Guides:  </a:t>
            </a:r>
          </a:p>
          <a:p>
            <a:pPr marL="171450" marR="0" lvl="0" indent="-171450" defTabSz="914400" rtl="0" eaLnBrk="1" fontAlgn="auto" latinLnBrk="0" hangingPunct="1">
              <a:buClrTx/>
              <a:buSzTx/>
              <a:buFont typeface="Arial" panose="020B0604020202020204" pitchFamily="34" charset="0"/>
              <a:buChar char="•"/>
              <a:tabLst/>
              <a:defRPr/>
            </a:pPr>
            <a:r>
              <a:rPr lang="en-US" b="1" i="0" u="none" strike="noStrike" kern="1200" dirty="0">
                <a:solidFill>
                  <a:schemeClr val="tx1"/>
                </a:solidFill>
                <a:effectLst/>
                <a:latin typeface="Calibri" panose="020F0502020204030204" pitchFamily="34" charset="0"/>
                <a:ea typeface="+mn-ea"/>
                <a:cs typeface="+mn-cs"/>
              </a:rPr>
              <a:t>Hands-on Tutorials </a:t>
            </a:r>
            <a:r>
              <a:rPr lang="en-US" b="0" i="0" u="none" strike="noStrike" kern="1200" dirty="0">
                <a:solidFill>
                  <a:schemeClr val="tx1"/>
                </a:solidFill>
                <a:effectLst/>
                <a:latin typeface="Calibri" panose="020F0502020204030204" pitchFamily="34" charset="0"/>
                <a:ea typeface="+mn-ea"/>
                <a:cs typeface="+mn-cs"/>
              </a:rPr>
              <a:t>include</a:t>
            </a:r>
            <a:r>
              <a:rPr lang="en-US" b="1" i="0" u="none" strike="noStrike" kern="1200" dirty="0">
                <a:solidFill>
                  <a:schemeClr val="tx1"/>
                </a:solidFill>
                <a:effectLst/>
                <a:latin typeface="Calibri" panose="020F0502020204030204" pitchFamily="34" charset="0"/>
                <a:ea typeface="+mn-ea"/>
                <a:cs typeface="+mn-cs"/>
              </a:rPr>
              <a:t> </a:t>
            </a:r>
            <a:r>
              <a:rPr lang="en-US" dirty="0">
                <a:latin typeface="Calibri" panose="020F0502020204030204" pitchFamily="34" charset="0"/>
              </a:rPr>
              <a:t>getting started guides, how-to guides, and tutorials. Hands-on practice with the service will help you gain experience with the services and put course topics in new context. </a:t>
            </a:r>
          </a:p>
          <a:p>
            <a:pPr marL="171450" marR="0" lvl="0" indent="-171450" defTabSz="914400" rtl="0" eaLnBrk="1" fontAlgn="auto" latinLnBrk="0" hangingPunct="1">
              <a:buClrTx/>
              <a:buSzTx/>
              <a:buFont typeface="Arial" panose="020B0604020202020204" pitchFamily="34" charset="0"/>
              <a:buChar char="•"/>
              <a:tabLst/>
              <a:defRPr/>
            </a:pPr>
            <a:r>
              <a:rPr lang="en-US" b="1" i="0" kern="1200" dirty="0">
                <a:solidFill>
                  <a:schemeClr val="tx1"/>
                </a:solidFill>
                <a:effectLst/>
                <a:latin typeface="Calibri" panose="020F0502020204030204" pitchFamily="34" charset="0"/>
                <a:ea typeface="+mn-ea"/>
                <a:cs typeface="+mn-cs"/>
              </a:rPr>
              <a:t>AWS Decision guides</a:t>
            </a:r>
            <a:r>
              <a:rPr lang="en-US" b="0" i="0" kern="1200" dirty="0">
                <a:solidFill>
                  <a:schemeClr val="tx1"/>
                </a:solidFill>
                <a:effectLst/>
                <a:latin typeface="Calibri" panose="020F0502020204030204" pitchFamily="34" charset="0"/>
                <a:ea typeface="+mn-ea"/>
                <a:cs typeface="+mn-cs"/>
              </a:rPr>
              <a:t> help you choose the services that might be right for you and your use cases. The Decision guides cover topics such as analytics, containers, development strategy, storage, application integration, databases, and machine learning (ML). Reviewing the factors that guide service choices will be helpful in preparing you for the kinds of scenarios that might be included on the exam. In particular, the Choose section of each guide provides a quick summary of services and distinguishing characteristics for when to choose each.</a:t>
            </a:r>
          </a:p>
        </p:txBody>
      </p:sp>
    </p:spTree>
    <p:extLst>
      <p:ext uri="{BB962C8B-B14F-4D97-AF65-F5344CB8AC3E}">
        <p14:creationId xmlns:p14="http://schemas.microsoft.com/office/powerpoint/2010/main" val="674086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25</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|Navigate to the AWS Builder Labs page using the link in the resource page. Scroll down to the “</a:t>
            </a:r>
            <a:r>
              <a:rPr lang="en-US" b="0" i="0" kern="1200" dirty="0">
                <a:solidFill>
                  <a:schemeClr val="tx1"/>
                </a:solidFill>
                <a:effectLst/>
                <a:latin typeface="Calibri" panose="020F0502020204030204" pitchFamily="34" charset="0"/>
                <a:ea typeface="+mn-ea"/>
                <a:cs typeface="+mn-cs"/>
              </a:rPr>
              <a:t>Featured labs in AWS Skill Builder” section and select a self-paced lab to show students. The link will direct you to AWS Skill Builder.</a:t>
            </a:r>
          </a:p>
          <a:p>
            <a:r>
              <a:rPr lang="en-US" dirty="0">
                <a:latin typeface="Calibri" panose="020F0502020204030204" pitchFamily="34" charset="0"/>
              </a:rPr>
              <a:t>|</a:t>
            </a:r>
          </a:p>
          <a:p>
            <a:r>
              <a:rPr lang="en-US" b="1" dirty="0">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Practice AWS Cloud skills in a live sandbox environment with AWS Builder Labs. Self-paced guided labs are interactive exercises with step-by-step instructions to help you learn cloud skills.</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When logged in AWS Skill Builder, use the course catalog and filter for Training Category: Self-Paced Lab.</a:t>
            </a:r>
          </a:p>
        </p:txBody>
      </p:sp>
    </p:spTree>
    <p:extLst>
      <p:ext uri="{BB962C8B-B14F-4D97-AF65-F5344CB8AC3E}">
        <p14:creationId xmlns:p14="http://schemas.microsoft.com/office/powerpoint/2010/main" val="40279403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26</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|Navigate to the AWS Ramp-Up Guides webpage and show the options for ramping up by role and solution. Choose Browse by Role, then choose Download the guide under the Solutions Architect role. Highlight the estimated duration and type of each resource. Show the dollar sign on the left of some resources, which indicates that there is a cost associated with the resource.  </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Each Ramp-Up Guide is the compilation of the most salient learning resources from our classrooms, digital curricula, video library, and AWS lab environment that relate to the preparing for a Solutions Architect Role. This guide is not intended to be consumed entirely. Different sections tackle different objectives. Some resources will be less relevant to you today. The guide will help you decide where you want to start your learning journey, and which step should be your next.</a:t>
            </a:r>
            <a:endParaRPr lang="en-US" b="1" dirty="0">
              <a:latin typeface="Calibri" panose="020F0502020204030204" pitchFamily="34" charset="0"/>
            </a:endParaRPr>
          </a:p>
        </p:txBody>
      </p:sp>
    </p:spTree>
    <p:extLst>
      <p:ext uri="{BB962C8B-B14F-4D97-AF65-F5344CB8AC3E}">
        <p14:creationId xmlns:p14="http://schemas.microsoft.com/office/powerpoint/2010/main" val="29538265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65EA953B-406A-0E51-E9F0-E966A26492B8}"/>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lvl="0"/>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lvl="0"/>
              <a:t>27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section summarizes what you have learned and brings the module to a close.</a:t>
            </a:r>
          </a:p>
        </p:txBody>
      </p:sp>
    </p:spTree>
    <p:extLst>
      <p:ext uri="{BB962C8B-B14F-4D97-AF65-F5344CB8AC3E}">
        <p14:creationId xmlns:p14="http://schemas.microsoft.com/office/powerpoint/2010/main" val="12117748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D51BA7C6-54F6-9B83-7A00-75AA79F8B567}"/>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28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27982660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D8F67FB9-B54C-D87B-F329-BFE186CABCD7}"/>
              </a:ext>
            </a:extLst>
          </p:cNvPr>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29</a:t>
            </a:fld>
            <a:r>
              <a:rPr lang="en-US" b="1" dirty="0">
                <a:latin typeface="Calibri" panose="020F0502020204030204" pitchFamily="34" charset="0"/>
              </a:rPr>
              <a:t> </a:t>
            </a:r>
          </a:p>
          <a:p>
            <a:pPr lvl="0"/>
            <a:r>
              <a:rPr lang="en-US" b="1" dirty="0">
                <a:latin typeface="Calibri" panose="020F0502020204030204" pitchFamily="34" charset="0"/>
              </a:rPr>
              <a:t>|Instructor notes</a:t>
            </a:r>
          </a:p>
          <a:p>
            <a:pPr lvl="0"/>
            <a:r>
              <a:rPr lang="en-US" dirty="0">
                <a:latin typeface="Calibri" panose="020F0502020204030204" pitchFamily="34" charset="0"/>
              </a:rPr>
              <a:t>|</a:t>
            </a:r>
          </a:p>
          <a:p>
            <a:pPr lvl="0"/>
            <a:r>
              <a:rPr lang="en-US" b="1" dirty="0">
                <a:latin typeface="Calibri" panose="020F0502020204030204" pitchFamily="34" charset="0"/>
              </a:rPr>
              <a:t>|Student notes</a:t>
            </a:r>
          </a:p>
          <a:p>
            <a:pPr lvl="0"/>
            <a:r>
              <a:rPr lang="en-US" dirty="0">
                <a:latin typeface="Calibri" panose="020F0502020204030204" pitchFamily="34" charset="0"/>
              </a:rPr>
              <a:t>That concludes this module. The Content Resources page of your course includes links to additional resources that are related to this module.</a:t>
            </a:r>
          </a:p>
        </p:txBody>
      </p:sp>
    </p:spTree>
    <p:extLst>
      <p:ext uri="{BB962C8B-B14F-4D97-AF65-F5344CB8AC3E}">
        <p14:creationId xmlns:p14="http://schemas.microsoft.com/office/powerpoint/2010/main" val="35068125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12.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12.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46.xml"/><Relationship Id="rId4" Type="http://schemas.openxmlformats.org/officeDocument/2006/relationships/image" Target="../media/image12.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2.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12.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54.xml"/><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1051560"/>
            <a:ext cx="11375136"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5500255" cy="175564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Course Title</a:t>
            </a:r>
          </a:p>
        </p:txBody>
      </p:sp>
      <p:pic>
        <p:nvPicPr>
          <p:cNvPr id="4" name="Copyright2">
            <a:extLst>
              <a:ext uri="{FF2B5EF4-FFF2-40B4-BE49-F238E27FC236}">
                <a16:creationId xmlns:a16="http://schemas.microsoft.com/office/drawing/2014/main" id="{A2C3C3E5-7849-41DF-885A-361FFB68A8B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extLst>
      <p:ext uri="{BB962C8B-B14F-4D97-AF65-F5344CB8AC3E}">
        <p14:creationId xmlns:p14="http://schemas.microsoft.com/office/powerpoint/2010/main" val="2019056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03472"/>
            <a:ext cx="8946292"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Course Title</a:t>
            </a:r>
          </a:p>
        </p:txBody>
      </p:sp>
      <p:pic>
        <p:nvPicPr>
          <p:cNvPr id="4" name="Copyright2">
            <a:extLst>
              <a:ext uri="{FF2B5EF4-FFF2-40B4-BE49-F238E27FC236}">
                <a16:creationId xmlns:a16="http://schemas.microsoft.com/office/drawing/2014/main" id="{D92B13EB-841E-4A00-B345-D5601EDE06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1008254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6456405"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Module Title</a:t>
            </a:r>
          </a:p>
        </p:txBody>
      </p:sp>
      <p:pic>
        <p:nvPicPr>
          <p:cNvPr id="6" name="Copyright2">
            <a:extLst>
              <a:ext uri="{FF2B5EF4-FFF2-40B4-BE49-F238E27FC236}">
                <a16:creationId xmlns:a16="http://schemas.microsoft.com/office/drawing/2014/main" id="{0D082EC7-0F32-4BFC-8B4A-CF754ECE018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151752" y="6446520"/>
            <a:ext cx="4610100" cy="311150"/>
          </a:xfrm>
          <a:prstGeom prst="rect">
            <a:avLst/>
          </a:prstGeom>
        </p:spPr>
      </p:pic>
    </p:spTree>
    <p:extLst>
      <p:ext uri="{BB962C8B-B14F-4D97-AF65-F5344CB8AC3E}">
        <p14:creationId xmlns:p14="http://schemas.microsoft.com/office/powerpoint/2010/main" val="1362655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Slide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11375136"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11375136"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Module Title</a:t>
            </a:r>
          </a:p>
        </p:txBody>
      </p:sp>
      <p:pic>
        <p:nvPicPr>
          <p:cNvPr id="6" name="Copyright1">
            <a:extLst>
              <a:ext uri="{FF2B5EF4-FFF2-40B4-BE49-F238E27FC236}">
                <a16:creationId xmlns:a16="http://schemas.microsoft.com/office/drawing/2014/main" id="{778EE4E8-00C6-48DD-8835-1470B6038F0A}"/>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custDataLst>
      <p:tags r:id="rId1"/>
    </p:custDataLst>
    <p:extLst>
      <p:ext uri="{BB962C8B-B14F-4D97-AF65-F5344CB8AC3E}">
        <p14:creationId xmlns:p14="http://schemas.microsoft.com/office/powerpoint/2010/main" val="3911347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232F3E"/>
                </a:solidFill>
                <a:latin typeface="+mn-lt"/>
              </a:defRPr>
            </a:lvl1pPr>
          </a:lstStyle>
          <a:p>
            <a:fld id="{4037B1B0-0345-4E15-985A-6BECCDBE474F}" type="slidenum">
              <a:rPr lang="en-US" smtClean="0"/>
              <a:pPr/>
              <a:t>‹#›</a:t>
            </a:fld>
            <a:endParaRPr lang="en-US"/>
          </a:p>
        </p:txBody>
      </p:sp>
      <p:sp>
        <p:nvSpPr>
          <p:cNvPr id="2" name="Modul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chor="ctr" anchorCtr="0">
            <a:noAutofit/>
          </a:bodyPr>
          <a:lstStyle>
            <a:lvl1pPr marL="0" indent="0">
              <a:spcBef>
                <a:spcPts val="0"/>
              </a:spcBef>
              <a:spcAft>
                <a:spcPts val="0"/>
              </a:spcAft>
              <a:buNone/>
              <a:defRPr sz="2000">
                <a:solidFill>
                  <a:schemeClr val="bg1"/>
                </a:solidFill>
                <a:latin typeface="+mn-lt"/>
              </a:defRPr>
            </a:lvl1pPr>
          </a:lstStyle>
          <a:p>
            <a:pPr lvl="0"/>
            <a:r>
              <a:rPr lang="en-US"/>
              <a:t>Enter Module Title</a:t>
            </a:r>
          </a:p>
        </p:txBody>
      </p:sp>
      <p:sp>
        <p:nvSpPr>
          <p:cNvPr id="4" name="Section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spcBef>
                <a:spcPts val="0"/>
              </a:spcBef>
              <a:spcAft>
                <a:spcPts val="0"/>
              </a:spcAft>
              <a:defRPr>
                <a:solidFill>
                  <a:schemeClr val="bg1"/>
                </a:solidFill>
                <a:latin typeface="Amazon Ember Display Heavy"/>
              </a:defRPr>
            </a:lvl1pPr>
          </a:lstStyle>
          <a:p>
            <a:r>
              <a:rPr lang="en-US"/>
              <a:t>Enter section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spcBef>
                <a:spcPts val="0"/>
              </a:spcBef>
              <a:spcAft>
                <a:spcPts val="600"/>
              </a:spcAft>
              <a:buNone/>
              <a:defRPr>
                <a:solidFill>
                  <a:schemeClr val="bg1"/>
                </a:solidFill>
                <a:latin typeface="+mn-lt"/>
              </a:defRPr>
            </a:lvl1pPr>
          </a:lstStyle>
          <a:p>
            <a:pPr lvl="0"/>
            <a:r>
              <a:rPr lang="en-US"/>
              <a:t>Enter topic list</a:t>
            </a:r>
          </a:p>
        </p:txBody>
      </p:sp>
      <p:pic>
        <p:nvPicPr>
          <p:cNvPr id="7" name="Copyright1">
            <a:extLst>
              <a:ext uri="{FF2B5EF4-FFF2-40B4-BE49-F238E27FC236}">
                <a16:creationId xmlns:a16="http://schemas.microsoft.com/office/drawing/2014/main" id="{90A2DFBB-3003-4080-87A9-825455A89862}"/>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19"/>
            <a:ext cx="4610100" cy="311150"/>
          </a:xfrm>
          <a:prstGeom prst="rect">
            <a:avLst/>
          </a:prstGeom>
        </p:spPr>
      </p:pic>
    </p:spTree>
    <p:extLst>
      <p:ext uri="{BB962C8B-B14F-4D97-AF65-F5344CB8AC3E}">
        <p14:creationId xmlns:p14="http://schemas.microsoft.com/office/powerpoint/2010/main" val="2476574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1709738"/>
            <a:ext cx="11472013" cy="3609846"/>
          </a:xfrm>
        </p:spPr>
        <p:txBody>
          <a:bodyPr anchor="ctr">
            <a:normAutofit/>
          </a:bodyPr>
          <a:lstStyle>
            <a:lvl1pPr>
              <a:spcBef>
                <a:spcPts val="0"/>
              </a:spcBef>
              <a:spcAft>
                <a:spcPts val="0"/>
              </a:spcAft>
              <a:defRPr sz="4000">
                <a:solidFill>
                  <a:schemeClr val="bg1"/>
                </a:solidFill>
                <a:latin typeface="Amazon Ember Display Heavy"/>
              </a:defRPr>
            </a:lvl1pPr>
          </a:lstStyle>
          <a:p>
            <a:r>
              <a:rPr lang="en-US"/>
              <a:t>“Enter quote”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11472013" cy="770066"/>
          </a:xfrm>
        </p:spPr>
        <p:txBody>
          <a:bodyPr/>
          <a:lstStyle>
            <a:lvl1pPr marL="0" indent="0">
              <a:spcBef>
                <a:spcPts val="0"/>
              </a:spcBef>
              <a:spcAft>
                <a:spcPts val="0"/>
              </a:spcAft>
              <a:buNone/>
              <a:defRPr sz="2800">
                <a:solidFill>
                  <a:schemeClr val="bg1"/>
                </a:solidFill>
              </a:defRPr>
            </a:lvl1pPr>
          </a:lstStyle>
          <a:p>
            <a:r>
              <a:rPr lang="en-US"/>
              <a:t>Attribution</a:t>
            </a:r>
          </a:p>
        </p:txBody>
      </p:sp>
      <p:pic>
        <p:nvPicPr>
          <p:cNvPr id="6" name="Copyright2">
            <a:extLst>
              <a:ext uri="{FF2B5EF4-FFF2-40B4-BE49-F238E27FC236}">
                <a16:creationId xmlns:a16="http://schemas.microsoft.com/office/drawing/2014/main" id="{7D4186D3-C2B3-4D1D-8DF1-801C1A413D21}"/>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242660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defRPr sz="3600">
                <a:solidFill>
                  <a:srgbClr val="F1F3F3"/>
                </a:solidFill>
                <a:latin typeface="Amazon Ember Display Heavy"/>
              </a:defRPr>
            </a:lvl1pPr>
          </a:lstStyle>
          <a:p>
            <a:r>
              <a:rPr lang="en-US"/>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pic>
        <p:nvPicPr>
          <p:cNvPr id="6" name="Copyright1">
            <a:extLst>
              <a:ext uri="{FF2B5EF4-FFF2-40B4-BE49-F238E27FC236}">
                <a16:creationId xmlns:a16="http://schemas.microsoft.com/office/drawing/2014/main" id="{0BBBF875-E0E3-4837-9CCC-88E0DAFE277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46520"/>
            <a:ext cx="4610100" cy="311150"/>
          </a:xfrm>
          <a:prstGeom prst="rect">
            <a:avLst/>
          </a:prstGeom>
        </p:spPr>
      </p:pic>
    </p:spTree>
    <p:custDataLst>
      <p:tags r:id="rId1"/>
    </p:custDataLst>
    <p:extLst>
      <p:ext uri="{BB962C8B-B14F-4D97-AF65-F5344CB8AC3E}">
        <p14:creationId xmlns:p14="http://schemas.microsoft.com/office/powerpoint/2010/main" val="530938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E52B1449-9D22-45E9-8E29-DD9653749C2D}"/>
              </a:ext>
            </a:extLst>
          </p:cNvPr>
          <p:cNvSpPr>
            <a:spLocks noGrp="1"/>
          </p:cNvSpPr>
          <p:nvPr>
            <p:ph type="title" idx="1" hasCustomPrompt="1"/>
          </p:nvPr>
        </p:nvSpPr>
        <p:spPr>
          <a:xfrm>
            <a:off x="457200" y="1256247"/>
            <a:ext cx="7998031" cy="4049824"/>
          </a:xfrm>
        </p:spPr>
        <p:txBody>
          <a:bodyPr anchor="ctr">
            <a:noAutofit/>
          </a:bodyPr>
          <a:lstStyle>
            <a:lvl1pPr>
              <a:lnSpc>
                <a:spcPct val="100000"/>
              </a:lnSpc>
              <a:spcBef>
                <a:spcPts val="0"/>
              </a:spcBef>
              <a:defRPr sz="4400">
                <a:solidFill>
                  <a:schemeClr val="bg1"/>
                </a:solidFill>
                <a:latin typeface="Amazon Ember Display Heavy"/>
              </a:defRPr>
            </a:lvl1pPr>
          </a:lstStyle>
          <a:p>
            <a:r>
              <a:rPr lang="en-US"/>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lang="en-US" b="0" cap="none" spc="0" baseline="0">
                <a:ln>
                  <a:noFill/>
                </a:ln>
                <a:solidFill>
                  <a:schemeClr val="bg1"/>
                </a:solidFill>
                <a:effectLst/>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a:solidFill>
                  <a:srgbClr val="F1F3F3"/>
                </a:solidFill>
              </a:rPr>
              <a:t>Type: Corrections, feedback, or other questions? </a:t>
            </a:r>
            <a:br>
              <a:rPr lang="en-US" sz="1800">
                <a:solidFill>
                  <a:srgbClr val="F1F3F3"/>
                </a:solidFill>
              </a:rPr>
            </a:br>
            <a:r>
              <a:rPr lang="en-US" sz="1800">
                <a:solidFill>
                  <a:srgbClr val="F1F3F3"/>
                </a:solidFill>
              </a:rPr>
              <a:t>Contact us at https://support.aws.amazon.com/#/contacts/aws-academy.</a:t>
            </a:r>
          </a:p>
        </p:txBody>
      </p:sp>
      <p:pic>
        <p:nvPicPr>
          <p:cNvPr id="6" name="Copyright1">
            <a:extLst>
              <a:ext uri="{FF2B5EF4-FFF2-40B4-BE49-F238E27FC236}">
                <a16:creationId xmlns:a16="http://schemas.microsoft.com/office/drawing/2014/main" id="{872813F7-982A-459F-982C-723833FAAEA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custDataLst>
      <p:tags r:id="rId1"/>
    </p:custDataLst>
    <p:extLst>
      <p:ext uri="{BB962C8B-B14F-4D97-AF65-F5344CB8AC3E}">
        <p14:creationId xmlns:p14="http://schemas.microsoft.com/office/powerpoint/2010/main" val="1907164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lnSpc>
                <a:spcPct val="90000"/>
              </a:lnSpc>
              <a:spcAft>
                <a:spcPts val="0"/>
              </a:spcAft>
              <a:defRPr>
                <a:solidFill>
                  <a:srgbClr val="232F3E"/>
                </a:solidFill>
                <a:latin typeface="Amazon Ember Display Heavy"/>
              </a:defRPr>
            </a:lvl1pPr>
          </a:lstStyle>
          <a:p>
            <a:r>
              <a:rPr lang="en-US"/>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rm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655485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and code</a:t>
            </a:r>
          </a:p>
        </p:txBody>
      </p:sp>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defTabSz="228600">
              <a:lnSpc>
                <a:spcPct val="100000"/>
              </a:lnSpc>
              <a:spcBef>
                <a:spcPts val="0"/>
              </a:spcBef>
              <a:spcAft>
                <a:spcPts val="0"/>
              </a:spcAft>
              <a:buNone/>
              <a:defRPr sz="1600">
                <a:solidFill>
                  <a:srgbClr val="232F3E"/>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Tree>
    <p:custDataLst>
      <p:tags r:id="rId1"/>
    </p:custDataLst>
    <p:extLst>
      <p:ext uri="{BB962C8B-B14F-4D97-AF65-F5344CB8AC3E}">
        <p14:creationId xmlns:p14="http://schemas.microsoft.com/office/powerpoint/2010/main" val="2757959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a:t>Click icon to add image</a:t>
            </a:r>
          </a:p>
        </p:txBody>
      </p:sp>
    </p:spTree>
    <p:custDataLst>
      <p:tags r:id="rId1"/>
    </p:custDataLst>
    <p:extLst>
      <p:ext uri="{BB962C8B-B14F-4D97-AF65-F5344CB8AC3E}">
        <p14:creationId xmlns:p14="http://schemas.microsoft.com/office/powerpoint/2010/main" val="430591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a:defRPr>
            </a:lvl1pPr>
          </a:lstStyle>
          <a:p>
            <a:r>
              <a:rPr lang="en-US"/>
              <a:t>Title, header, text, and picture</a:t>
            </a:r>
          </a:p>
        </p:txBody>
      </p:sp>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a:t>Click icon to add image</a:t>
            </a:r>
          </a:p>
        </p:txBody>
      </p:sp>
    </p:spTree>
    <p:custDataLst>
      <p:tags r:id="rId1"/>
    </p:custDataLst>
    <p:extLst>
      <p:ext uri="{BB962C8B-B14F-4D97-AF65-F5344CB8AC3E}">
        <p14:creationId xmlns:p14="http://schemas.microsoft.com/office/powerpoint/2010/main" val="18727513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rmAutofit/>
          </a:bodyPr>
          <a:lstStyle>
            <a:lvl1pPr>
              <a:lnSpc>
                <a:spcPct val="100000"/>
              </a:lnSpc>
              <a:spcAft>
                <a:spcPts val="1200"/>
              </a:spcAft>
              <a:defRPr sz="3200">
                <a:solidFill>
                  <a:srgbClr val="232F3E"/>
                </a:solidFill>
              </a:defRPr>
            </a:lvl1pPr>
            <a:lvl2pPr marL="457200" indent="-228600">
              <a:lnSpc>
                <a:spcPct val="100000"/>
              </a:lnSpc>
              <a:spcAft>
                <a:spcPts val="1200"/>
              </a:spcAft>
              <a:defRPr sz="2800">
                <a:solidFill>
                  <a:srgbClr val="232F3E"/>
                </a:solidFill>
              </a:defRPr>
            </a:lvl2pPr>
            <a:lvl3pPr marL="684213" indent="-228600">
              <a:lnSpc>
                <a:spcPct val="100000"/>
              </a:lnSpc>
              <a:spcAft>
                <a:spcPts val="1200"/>
              </a:spcAft>
              <a:defRPr sz="2400">
                <a:solidFill>
                  <a:srgbClr val="232F3E"/>
                </a:solidFill>
              </a:defRPr>
            </a:lvl3pPr>
            <a:lvl4pPr marL="914400" indent="-228600">
              <a:lnSpc>
                <a:spcPct val="100000"/>
              </a:lnSpc>
              <a:spcAft>
                <a:spcPts val="1200"/>
              </a:spcAft>
              <a:defRPr sz="2000">
                <a:solidFill>
                  <a:srgbClr val="232F3E"/>
                </a:solidFill>
              </a:defRPr>
            </a:lvl4pPr>
            <a:lvl5pPr marL="1144588" indent="-228600">
              <a:lnSpc>
                <a:spcPct val="100000"/>
              </a:lnSpc>
              <a:spcAft>
                <a:spcPts val="1200"/>
              </a:spcAft>
              <a:defRPr sz="20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97968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a:p>
        </p:txBody>
      </p:sp>
      <p:sp>
        <p:nvSpPr>
          <p:cNvPr id="11"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latin typeface="Amazon Ember Display Heavy" panose="04020705040A02060702" pitchFamily="82" charset="0"/>
              </a:rPr>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45720" bIns="45720">
            <a:normAutofit/>
          </a:bodyPr>
          <a:lstStyle>
            <a:lvl1pPr marL="0" indent="0">
              <a:lnSpc>
                <a:spcPct val="100000"/>
              </a:lnSpc>
              <a:spcBef>
                <a:spcPts val="0"/>
              </a:spcBef>
              <a:spcAft>
                <a:spcPts val="300"/>
              </a:spcAft>
              <a:buNone/>
              <a:defRPr sz="2400">
                <a:solidFill>
                  <a:srgbClr val="232F3E"/>
                </a:solidFill>
                <a:latin typeface="Amazon Ember Display"/>
              </a:defRPr>
            </a:lvl1pPr>
            <a:lvl2pPr marL="457200" indent="0">
              <a:buNone/>
              <a:defRPr/>
            </a:lvl2pPr>
          </a:lstStyle>
          <a:p>
            <a:pPr lvl="0"/>
            <a:r>
              <a:rPr lang="en-US"/>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defRPr>
            </a:lvl1pPr>
          </a:lstStyle>
          <a:p>
            <a:r>
              <a:rPr lang="en-US"/>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defRPr>
            </a:lvl1pPr>
          </a:lstStyle>
          <a:p>
            <a:r>
              <a:rPr lang="en-US"/>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defRPr>
            </a:lvl1pPr>
          </a:lstStyle>
          <a:p>
            <a:r>
              <a:rPr lang="en-US"/>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a:t>Enter benefit description</a:t>
            </a:r>
          </a:p>
        </p:txBody>
      </p:sp>
    </p:spTree>
    <p:custDataLst>
      <p:tags r:id="rId1"/>
    </p:custDataLst>
    <p:extLst>
      <p:ext uri="{BB962C8B-B14F-4D97-AF65-F5344CB8AC3E}">
        <p14:creationId xmlns:p14="http://schemas.microsoft.com/office/powerpoint/2010/main" val="4036126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510145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Narrow, and Wi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narrow left, and wide right columns</a:t>
            </a:r>
          </a:p>
        </p:txBody>
      </p:sp>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a:t>Add content text or Click to add image</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416050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2 code columns</a:t>
            </a:r>
          </a:p>
        </p:txBody>
      </p:sp>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Tree>
    <p:custDataLst>
      <p:tags r:id="rId1"/>
    </p:custDataLst>
    <p:extLst>
      <p:ext uri="{BB962C8B-B14F-4D97-AF65-F5344CB8AC3E}">
        <p14:creationId xmlns:p14="http://schemas.microsoft.com/office/powerpoint/2010/main" val="25111226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header, and 2 text columns</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5492041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2 headers, and 2 text columns</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56692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2" name="Body1 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1053311"/>
            <a:ext cx="5669280" cy="440329"/>
          </a:xfrm>
          <a:solidFill>
            <a:schemeClr val="accent1"/>
          </a:solid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0604464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eader, Content, Full Height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defRPr>
            </a:lvl1pPr>
          </a:lstStyle>
          <a:p>
            <a:r>
              <a:rPr lang="en-US"/>
              <a:t>Click icon to add image</a:t>
            </a:r>
          </a:p>
        </p:txBody>
      </p:sp>
    </p:spTree>
    <p:custDataLst>
      <p:tags r:id="rId1"/>
    </p:custDataLst>
    <p:extLst>
      <p:ext uri="{BB962C8B-B14F-4D97-AF65-F5344CB8AC3E}">
        <p14:creationId xmlns:p14="http://schemas.microsoft.com/office/powerpoint/2010/main" val="14714621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38144"/>
            <a:ext cx="56692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3438144"/>
            <a:ext cx="5669280" cy="440329"/>
          </a:xfrm>
          <a:solidFill>
            <a:schemeClr val="accent1"/>
          </a:solid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40077099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3 text columns</a:t>
            </a:r>
          </a:p>
        </p:txBody>
      </p:sp>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9053633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8083296" y="1591056"/>
            <a:ext cx="3749040" cy="4843688"/>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787892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3 Lg Pics, and 3 Headers">
    <p:bg>
      <p:bgPr>
        <a:solidFill>
          <a:schemeClr val="bg1"/>
        </a:solidFill>
        <a:effectLst/>
      </p:bgPr>
    </p:bg>
    <p:spTree>
      <p:nvGrpSpPr>
        <p:cNvPr id="1" name=""/>
        <p:cNvGrpSpPr/>
        <p:nvPr/>
      </p:nvGrpSpPr>
      <p:grpSpPr>
        <a:xfrm>
          <a:off x="0" y="0"/>
          <a:ext cx="0" cy="0"/>
          <a:chOff x="0" y="0"/>
          <a:chExt cx="0" cy="0"/>
        </a:xfrm>
      </p:grpSpPr>
      <p:pic>
        <p:nvPicPr>
          <p:cNvPr id="96"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Amazon Ember Display"/>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083296"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Tree>
    <p:custDataLst>
      <p:tags r:id="rId1"/>
    </p:custDataLst>
    <p:extLst>
      <p:ext uri="{BB962C8B-B14F-4D97-AF65-F5344CB8AC3E}">
        <p14:creationId xmlns:p14="http://schemas.microsoft.com/office/powerpoint/2010/main" val="13611155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Tree>
    <p:custDataLst>
      <p:tags r:id="rId1"/>
    </p:custDataLst>
    <p:extLst>
      <p:ext uri="{BB962C8B-B14F-4D97-AF65-F5344CB8AC3E}">
        <p14:creationId xmlns:p14="http://schemas.microsoft.com/office/powerpoint/2010/main" val="1357235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header, 3 picture, and 3 labels</a:t>
            </a:r>
          </a:p>
        </p:txBody>
      </p:sp>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spcAft>
                <a:spcPts val="0"/>
              </a:spcAft>
              <a:buNone/>
              <a:defRPr>
                <a:solidFill>
                  <a:srgbClr val="232F3E"/>
                </a:solidFill>
                <a:latin typeface="+mn-lt"/>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Tree>
    <p:custDataLst>
      <p:tags r:id="rId1"/>
    </p:custDataLst>
    <p:extLst>
      <p:ext uri="{BB962C8B-B14F-4D97-AF65-F5344CB8AC3E}">
        <p14:creationId xmlns:p14="http://schemas.microsoft.com/office/powerpoint/2010/main" val="12005508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3 pictures, and 3 text columns</a:t>
            </a:r>
          </a:p>
        </p:txBody>
      </p:sp>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8453960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a:defRPr>
            </a:lvl1pPr>
          </a:lstStyle>
          <a:p>
            <a:r>
              <a:rPr lang="en-US"/>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a:t>Click icon to add image</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a:t>Click icon to add image</a:t>
            </a:r>
          </a:p>
        </p:txBody>
      </p:sp>
      <p:sp>
        <p:nvSpPr>
          <p:cNvPr id="14" name="Content Head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101583"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167679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3 images, and 3 text</a:t>
            </a:r>
          </a:p>
        </p:txBody>
      </p:sp>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anchor="t">
            <a:noAutofit/>
          </a:bodyPr>
          <a:lstStyle>
            <a:lvl1pPr marL="0" indent="0" algn="ctr">
              <a:buNone/>
              <a:defRPr sz="1800">
                <a:solidFill>
                  <a:srgbClr val="232F3E"/>
                </a:solidFill>
              </a:defRPr>
            </a:lvl1pPr>
          </a:lstStyle>
          <a:p>
            <a:r>
              <a:rPr lang="en-US"/>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anchor="t">
            <a:noAutofit/>
          </a:bodyPr>
          <a:lstStyle>
            <a:lvl1pPr marL="0" indent="0" algn="ctr">
              <a:buNone/>
              <a:defRPr sz="1800">
                <a:solidFill>
                  <a:srgbClr val="232F3E"/>
                </a:solidFill>
              </a:defRPr>
            </a:lvl1pPr>
          </a:lstStyle>
          <a:p>
            <a:r>
              <a:rPr lang="en-US"/>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anchor="t">
            <a:noAutofit/>
          </a:bodyPr>
          <a:lstStyle>
            <a:lvl1pPr marL="0" indent="0" algn="ctr">
              <a:buNone/>
              <a:defRPr sz="1800">
                <a:solidFill>
                  <a:srgbClr val="232F3E"/>
                </a:solidFill>
              </a:defRPr>
            </a:lvl1pPr>
          </a:lstStyle>
          <a:p>
            <a:r>
              <a:rPr lang="en-US"/>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Tree>
    <p:custDataLst>
      <p:tags r:id="rId1"/>
    </p:custDataLst>
    <p:extLst>
      <p:ext uri="{BB962C8B-B14F-4D97-AF65-F5344CB8AC3E}">
        <p14:creationId xmlns:p14="http://schemas.microsoft.com/office/powerpoint/2010/main" val="8970105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Acronym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1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Acronym Slide</a:t>
            </a:r>
          </a:p>
        </p:txBody>
      </p:sp>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0"/>
              </a:spcBef>
              <a:spcAft>
                <a:spcPts val="300"/>
              </a:spcAft>
              <a:buFont typeface="Amazon Ember Display"/>
              <a:buNone/>
              <a:defRPr lang="en-US" sz="2000" kern="1200" dirty="0">
                <a:solidFill>
                  <a:srgbClr val="232F3E"/>
                </a:solidFill>
                <a:latin typeface="Amazon Ember Display"/>
                <a:ea typeface="+mn-ea"/>
                <a:cs typeface="+mn-cs"/>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
        <p:nvSpPr>
          <p:cNvPr id="14"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Tree>
    <p:custDataLst>
      <p:tags r:id="rId1"/>
    </p:custDataLst>
    <p:extLst>
      <p:ext uri="{BB962C8B-B14F-4D97-AF65-F5344CB8AC3E}">
        <p14:creationId xmlns:p14="http://schemas.microsoft.com/office/powerpoint/2010/main" val="7194471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8"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6 images, and 6 text boxes</a:t>
            </a:r>
          </a:p>
        </p:txBody>
      </p:sp>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wrap="square" anchor="t">
            <a:noAutofit/>
          </a:bodyPr>
          <a:lstStyle>
            <a:lvl1pPr marL="0" indent="0" algn="ctr">
              <a:buNone/>
              <a:defRPr sz="1800">
                <a:solidFill>
                  <a:srgbClr val="232F3E"/>
                </a:solidFill>
              </a:defRPr>
            </a:lvl1pPr>
          </a:lstStyle>
          <a:p>
            <a:r>
              <a:rPr lang="en-US"/>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4"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wrap="square" anchor="t">
            <a:noAutofit/>
          </a:bodyPr>
          <a:lstStyle>
            <a:lvl1pPr marL="0" indent="0" algn="ctr">
              <a:buNone/>
              <a:defRPr sz="1800">
                <a:solidFill>
                  <a:srgbClr val="232F3E"/>
                </a:solidFill>
              </a:defRPr>
            </a:lvl1pPr>
          </a:lstStyle>
          <a:p>
            <a:r>
              <a:rPr lang="en-US"/>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4"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wrap="square" anchor="t">
            <a:noAutofit/>
          </a:bodyPr>
          <a:lstStyle>
            <a:lvl1pPr marL="0" indent="0" algn="ctr">
              <a:buNone/>
              <a:defRPr sz="1800">
                <a:solidFill>
                  <a:srgbClr val="232F3E"/>
                </a:solidFill>
              </a:defRPr>
            </a:lvl1pPr>
          </a:lstStyle>
          <a:p>
            <a:r>
              <a:rPr lang="en-US"/>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4"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05152" y="1238846"/>
            <a:ext cx="1554480" cy="1554480"/>
          </a:xfrm>
        </p:spPr>
        <p:txBody>
          <a:bodyPr wrap="square" anchor="t">
            <a:noAutofit/>
          </a:bodyPr>
          <a:lstStyle>
            <a:lvl1pPr marL="0" indent="0" algn="ctr">
              <a:buNone/>
              <a:defRPr sz="1800">
                <a:solidFill>
                  <a:srgbClr val="232F3E"/>
                </a:solidFill>
              </a:defRPr>
            </a:lvl1pPr>
          </a:lstStyle>
          <a:p>
            <a:r>
              <a:rPr lang="en-US"/>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05152" y="3008944"/>
            <a:ext cx="1554480" cy="1554480"/>
          </a:xfrm>
        </p:spPr>
        <p:txBody>
          <a:bodyPr wrap="square" anchor="t">
            <a:noAutofit/>
          </a:bodyPr>
          <a:lstStyle>
            <a:lvl1pPr marL="0" indent="0" algn="ctr">
              <a:buNone/>
              <a:defRPr sz="1800">
                <a:solidFill>
                  <a:srgbClr val="232F3E"/>
                </a:solidFill>
              </a:defRPr>
            </a:lvl1pPr>
          </a:lstStyle>
          <a:p>
            <a:r>
              <a:rPr lang="en-US"/>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05152" y="4776114"/>
            <a:ext cx="1554480" cy="1554480"/>
          </a:xfrm>
        </p:spPr>
        <p:txBody>
          <a:bodyPr wrap="square" anchor="t">
            <a:noAutofit/>
          </a:bodyPr>
          <a:lstStyle>
            <a:lvl1pPr marL="0" indent="0" algn="ctr">
              <a:buNone/>
              <a:defRPr sz="1800">
                <a:solidFill>
                  <a:srgbClr val="232F3E"/>
                </a:solidFill>
              </a:defRPr>
            </a:lvl1pPr>
          </a:lstStyle>
          <a:p>
            <a:r>
              <a:rPr lang="en-US"/>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Tree>
    <p:custDataLst>
      <p:tags r:id="rId1"/>
    </p:custDataLst>
    <p:extLst>
      <p:ext uri="{BB962C8B-B14F-4D97-AF65-F5344CB8AC3E}">
        <p14:creationId xmlns:p14="http://schemas.microsoft.com/office/powerpoint/2010/main" val="16262370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6"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4 content columns</a:t>
            </a:r>
          </a:p>
        </p:txBody>
      </p:sp>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type="body"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type="body"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type="body"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type="body"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5340455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5288911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Title, Header, 4 Lg Pic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7"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header, 4 large pictures, and 4 labels</a:t>
            </a:r>
          </a:p>
        </p:txBody>
      </p:sp>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3">
            <a:extLst>
              <a:ext uri="{28A0092B-C50C-407E-A947-70E740481C1C}">
                <a14:useLocalDpi xmlns:a14="http://schemas.microsoft.com/office/drawing/2010/main" val="0"/>
              </a:ext>
            </a:extLst>
          </a:blip>
          <a:srcRect/>
          <a:stretch/>
        </p:blipFill>
        <p:spPr>
          <a:xfrm>
            <a:off x="365760" y="1037751"/>
            <a:ext cx="11466576" cy="45719"/>
          </a:xfrm>
          <a:prstGeom prst="rect">
            <a:avLst/>
          </a:prstGeom>
        </p:spPr>
      </p:pic>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rmAutofit/>
          </a:bodyPr>
          <a:lstStyle>
            <a:lvl1pPr marL="0" indent="0">
              <a:lnSpc>
                <a:spcPct val="100000"/>
              </a:lnSpc>
              <a:spcBef>
                <a:spcPts val="0"/>
              </a:spcBef>
              <a:spcAft>
                <a:spcPts val="0"/>
              </a:spcAft>
              <a:buNone/>
              <a:defRPr sz="28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38603" y="2269331"/>
            <a:ext cx="2286000" cy="2286000"/>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37251" y="2269331"/>
            <a:ext cx="2286000" cy="2286000"/>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35899" y="2269331"/>
            <a:ext cx="2286000" cy="2286000"/>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a:t>Enter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334547" y="2269331"/>
            <a:ext cx="2286000" cy="2286000"/>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a:t>Enter text</a:t>
            </a:r>
          </a:p>
        </p:txBody>
      </p:sp>
    </p:spTree>
    <p:custDataLst>
      <p:tags r:id="rId1"/>
    </p:custDataLst>
    <p:extLst>
      <p:ext uri="{BB962C8B-B14F-4D97-AF65-F5344CB8AC3E}">
        <p14:creationId xmlns:p14="http://schemas.microsoft.com/office/powerpoint/2010/main" val="11689697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a:t>Add content text</a:t>
            </a:r>
          </a:p>
          <a:p>
            <a:pPr lvl="1"/>
            <a:r>
              <a:rPr lang="en-US"/>
              <a:t>Second level</a:t>
            </a:r>
          </a:p>
          <a:p>
            <a:pPr lvl="2"/>
            <a:r>
              <a:rPr lang="en-US"/>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1360"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a:t>Add content text</a:t>
            </a:r>
          </a:p>
          <a:p>
            <a:pPr lvl="1"/>
            <a:r>
              <a:rPr lang="en-US"/>
              <a:t>Second level</a:t>
            </a:r>
          </a:p>
          <a:p>
            <a:pPr lvl="2"/>
            <a:r>
              <a:rPr lang="en-US"/>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14" name="Content 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63057"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a:t>Add content text</a:t>
            </a:r>
          </a:p>
          <a:p>
            <a:pPr lvl="1"/>
            <a:r>
              <a:rPr lang="en-US"/>
              <a:t>Second level</a:t>
            </a:r>
          </a:p>
          <a:p>
            <a:pPr lvl="2"/>
            <a:r>
              <a:rPr lang="en-US"/>
              <a:t>Third level</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15" name="Content Header Right">
            <a:extLst>
              <a:ext uri="{FF2B5EF4-FFF2-40B4-BE49-F238E27FC236}">
                <a16:creationId xmlns:a16="http://schemas.microsoft.com/office/drawing/2014/main" id="{B17A76EF-1D7E-4BB9-BAFA-8EAA0807E356}"/>
              </a:ext>
            </a:extLst>
          </p:cNvPr>
          <p:cNvSpPr>
            <a:spLocks noGrp="1"/>
          </p:cNvSpPr>
          <p:nvPr>
            <p:ph type="subTitle" idx="15" hasCustomPrompt="1"/>
          </p:nvPr>
        </p:nvSpPr>
        <p:spPr>
          <a:xfrm>
            <a:off x="9043416"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a:t>Add content text</a:t>
            </a:r>
          </a:p>
          <a:p>
            <a:pPr lvl="1"/>
            <a:r>
              <a:rPr lang="en-US"/>
              <a:t>Second level</a:t>
            </a:r>
          </a:p>
          <a:p>
            <a:pPr lvl="2"/>
            <a:r>
              <a:rPr lang="en-US"/>
              <a:t>Third level</a:t>
            </a:r>
          </a:p>
        </p:txBody>
      </p:sp>
    </p:spTree>
    <p:custDataLst>
      <p:tags r:id="rId1"/>
    </p:custDataLst>
    <p:extLst>
      <p:ext uri="{BB962C8B-B14F-4D97-AF65-F5344CB8AC3E}">
        <p14:creationId xmlns:p14="http://schemas.microsoft.com/office/powerpoint/2010/main" val="40522694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6"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defRPr>
            </a:lvl1pPr>
          </a:lstStyle>
          <a:p>
            <a:r>
              <a:rPr lang="en-US"/>
              <a:t>Click icon to add image</a:t>
            </a:r>
          </a:p>
        </p:txBody>
      </p:sp>
      <p:sp>
        <p:nvSpPr>
          <p:cNvPr id="12" name="Content Header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65760"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defRPr>
            </a:lvl1pPr>
          </a:lstStyle>
          <a:p>
            <a:r>
              <a:rPr lang="en-US"/>
              <a:t>Click icon to add image</a:t>
            </a:r>
          </a:p>
        </p:txBody>
      </p:sp>
      <p:sp>
        <p:nvSpPr>
          <p:cNvPr id="13" name="Content Header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58312"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defRPr>
            </a:lvl1pPr>
          </a:lstStyle>
          <a:p>
            <a:r>
              <a:rPr lang="en-US"/>
              <a:t>Click icon to add image</a:t>
            </a:r>
          </a:p>
        </p:txBody>
      </p:sp>
      <p:sp>
        <p:nvSpPr>
          <p:cNvPr id="14" name="Content Header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50864"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defRPr>
            </a:lvl1pPr>
          </a:lstStyle>
          <a:p>
            <a:r>
              <a:rPr lang="en-US"/>
              <a:t>Click icon to add image</a:t>
            </a:r>
          </a:p>
        </p:txBody>
      </p:sp>
      <p:sp>
        <p:nvSpPr>
          <p:cNvPr id="15" name="Content Header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43416"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a:t>Enter text</a:t>
            </a:r>
          </a:p>
        </p:txBody>
      </p:sp>
    </p:spTree>
    <p:custDataLst>
      <p:tags r:id="rId1"/>
    </p:custDataLst>
    <p:extLst>
      <p:ext uri="{BB962C8B-B14F-4D97-AF65-F5344CB8AC3E}">
        <p14:creationId xmlns:p14="http://schemas.microsoft.com/office/powerpoint/2010/main" val="2324034718"/>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pic>
        <p:nvPicPr>
          <p:cNvPr id="96"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defRPr>
            </a:lvl1pPr>
          </a:lstStyle>
          <a:p>
            <a:r>
              <a:rPr lang="en-US"/>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58312"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defRPr>
            </a:lvl1pPr>
          </a:lstStyle>
          <a:p>
            <a:r>
              <a:rPr lang="en-US"/>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50864"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defRPr>
            </a:lvl1pPr>
          </a:lstStyle>
          <a:p>
            <a:r>
              <a:rPr lang="en-US"/>
              <a:t>Click icon to add image</a:t>
            </a:r>
          </a:p>
        </p:txBody>
      </p:sp>
      <p:sp>
        <p:nvSpPr>
          <p:cNvPr id="15" name="Header Right">
            <a:extLst>
              <a:ext uri="{FF2B5EF4-FFF2-40B4-BE49-F238E27FC236}">
                <a16:creationId xmlns:a16="http://schemas.microsoft.com/office/drawing/2014/main" id="{B17A76EF-1D7E-4BB9-BAFA-8EAA0807E356}"/>
              </a:ext>
            </a:extLst>
          </p:cNvPr>
          <p:cNvSpPr>
            <a:spLocks noGrp="1"/>
          </p:cNvSpPr>
          <p:nvPr>
            <p:ph type="body" idx="15" hasCustomPrompt="1"/>
          </p:nvPr>
        </p:nvSpPr>
        <p:spPr>
          <a:xfrm>
            <a:off x="9043416"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Tree>
    <p:custDataLst>
      <p:tags r:id="rId1"/>
    </p:custDataLst>
    <p:extLst>
      <p:ext uri="{BB962C8B-B14F-4D97-AF65-F5344CB8AC3E}">
        <p14:creationId xmlns:p14="http://schemas.microsoft.com/office/powerpoint/2010/main" val="14934369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8"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defRPr>
            </a:lvl1pPr>
          </a:lstStyle>
          <a:p>
            <a:r>
              <a:rPr lang="en-US"/>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defRPr>
            </a:lvl1pPr>
          </a:lstStyle>
          <a:p>
            <a:r>
              <a:rPr lang="en-US"/>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defRPr>
            </a:lvl1pPr>
          </a:lstStyle>
          <a:p>
            <a:r>
              <a:rPr lang="en-US"/>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defRPr>
            </a:lvl1pPr>
          </a:lstStyle>
          <a:p>
            <a:r>
              <a:rPr lang="en-US"/>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defRPr>
            </a:lvl1pPr>
          </a:lstStyle>
          <a:p>
            <a:r>
              <a:rPr lang="en-US"/>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defRPr>
            </a:lvl1pPr>
          </a:lstStyle>
          <a:p>
            <a:r>
              <a:rPr lang="en-US"/>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Tree>
    <p:custDataLst>
      <p:tags r:id="rId1"/>
    </p:custDataLst>
    <p:extLst>
      <p:ext uri="{BB962C8B-B14F-4D97-AF65-F5344CB8AC3E}">
        <p14:creationId xmlns:p14="http://schemas.microsoft.com/office/powerpoint/2010/main" val="2959284018"/>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8 pictures</a:t>
            </a:r>
          </a:p>
        </p:txBody>
      </p:sp>
      <p:sp>
        <p:nvSpPr>
          <p:cNvPr id="22" name="Picture 1">
            <a:extLst>
              <a:ext uri="{FF2B5EF4-FFF2-40B4-BE49-F238E27FC236}">
                <a16:creationId xmlns:a16="http://schemas.microsoft.com/office/drawing/2014/main" id="{01E0569B-0304-4CF2-95FE-74EEAC9AEC38}"/>
              </a:ext>
              <a:ext uri="{C183D7F6-B498-43B3-948B-1728B52AA6E4}">
                <adec:decorative xmlns:adec="http://schemas.microsoft.com/office/drawing/2017/decorative" val="1"/>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23" name="Picture 2">
            <a:extLst>
              <a:ext uri="{FF2B5EF4-FFF2-40B4-BE49-F238E27FC236}">
                <a16:creationId xmlns:a16="http://schemas.microsoft.com/office/drawing/2014/main" id="{4E39BCC2-7E6B-49A6-88A7-4389D0876599}"/>
              </a:ext>
              <a:ext uri="{C183D7F6-B498-43B3-948B-1728B52AA6E4}">
                <adec:decorative xmlns:adec="http://schemas.microsoft.com/office/drawing/2017/decorative" val="1"/>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24" name="Picture 3">
            <a:extLst>
              <a:ext uri="{FF2B5EF4-FFF2-40B4-BE49-F238E27FC236}">
                <a16:creationId xmlns:a16="http://schemas.microsoft.com/office/drawing/2014/main" id="{292A7B23-5883-4A03-AA9E-D7887267A0B5}"/>
              </a:ext>
              <a:ext uri="{C183D7F6-B498-43B3-948B-1728B52AA6E4}">
                <adec:decorative xmlns:adec="http://schemas.microsoft.com/office/drawing/2017/decorative" val="1"/>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25" name="Picture 4">
            <a:extLst>
              <a:ext uri="{FF2B5EF4-FFF2-40B4-BE49-F238E27FC236}">
                <a16:creationId xmlns:a16="http://schemas.microsoft.com/office/drawing/2014/main" id="{871FBC72-3D16-49CE-BD02-AD416196D37A}"/>
              </a:ext>
              <a:ext uri="{C183D7F6-B498-43B3-948B-1728B52AA6E4}">
                <adec:decorative xmlns:adec="http://schemas.microsoft.com/office/drawing/2017/decorative" val="1"/>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26" name="Picture 5">
            <a:extLst>
              <a:ext uri="{FF2B5EF4-FFF2-40B4-BE49-F238E27FC236}">
                <a16:creationId xmlns:a16="http://schemas.microsoft.com/office/drawing/2014/main" id="{CCC335E7-FA18-44DB-ACBC-F2DABE9FB384}"/>
              </a:ext>
              <a:ext uri="{C183D7F6-B498-43B3-948B-1728B52AA6E4}">
                <adec:decorative xmlns:adec="http://schemas.microsoft.com/office/drawing/2017/decorative" val="1"/>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27" name="Picture 6">
            <a:extLst>
              <a:ext uri="{FF2B5EF4-FFF2-40B4-BE49-F238E27FC236}">
                <a16:creationId xmlns:a16="http://schemas.microsoft.com/office/drawing/2014/main" id="{BB740650-61A2-4FDC-8700-54D96F01FF5A}"/>
              </a:ext>
              <a:ext uri="{C183D7F6-B498-43B3-948B-1728B52AA6E4}">
                <adec:decorative xmlns:adec="http://schemas.microsoft.com/office/drawing/2017/decorative" val="1"/>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28" name="Picture 7">
            <a:extLst>
              <a:ext uri="{FF2B5EF4-FFF2-40B4-BE49-F238E27FC236}">
                <a16:creationId xmlns:a16="http://schemas.microsoft.com/office/drawing/2014/main" id="{CA951A10-B648-4F4E-87FD-97FD8FEB4106}"/>
              </a:ext>
              <a:ext uri="{C183D7F6-B498-43B3-948B-1728B52AA6E4}">
                <adec:decorative xmlns:adec="http://schemas.microsoft.com/office/drawing/2017/decorative" val="1"/>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
        <p:nvSpPr>
          <p:cNvPr id="29" name="Picture 8">
            <a:extLst>
              <a:ext uri="{FF2B5EF4-FFF2-40B4-BE49-F238E27FC236}">
                <a16:creationId xmlns:a16="http://schemas.microsoft.com/office/drawing/2014/main" id="{1F4C4007-9EA0-4D1F-938D-A38B105119E9}"/>
              </a:ext>
              <a:ext uri="{C183D7F6-B498-43B3-948B-1728B52AA6E4}">
                <adec:decorative xmlns:adec="http://schemas.microsoft.com/office/drawing/2017/decorative" val="1"/>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defRPr>
            </a:lvl1pPr>
          </a:lstStyle>
          <a:p>
            <a:r>
              <a:rPr lang="en-US"/>
              <a:t>Click icon to add image</a:t>
            </a:r>
          </a:p>
        </p:txBody>
      </p:sp>
    </p:spTree>
    <p:custDataLst>
      <p:tags r:id="rId1"/>
    </p:custDataLst>
    <p:extLst>
      <p:ext uri="{BB962C8B-B14F-4D97-AF65-F5344CB8AC3E}">
        <p14:creationId xmlns:p14="http://schemas.microsoft.com/office/powerpoint/2010/main" val="33057314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mn-lt"/>
              </a:defRPr>
            </a:lvl1pPr>
          </a:lstStyle>
          <a:p>
            <a:r>
              <a:rPr lang="en-US"/>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Tree>
    <p:custDataLst>
      <p:tags r:id="rId1"/>
    </p:custDataLst>
    <p:extLst>
      <p:ext uri="{BB962C8B-B14F-4D97-AF65-F5344CB8AC3E}">
        <p14:creationId xmlns:p14="http://schemas.microsoft.com/office/powerpoint/2010/main" val="3855488940"/>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pic>
        <p:nvPicPr>
          <p:cNvPr id="94"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10"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defRPr>
            </a:lvl1pPr>
          </a:lstStyle>
          <a:p>
            <a:r>
              <a:rPr lang="en-US"/>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defRPr>
            </a:lvl1pPr>
          </a:lstStyle>
          <a:p>
            <a:r>
              <a:rPr lang="en-US"/>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defRPr>
            </a:lvl1pPr>
          </a:lstStyle>
          <a:p>
            <a:r>
              <a:rPr lang="en-US"/>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defRPr>
            </a:lvl1pPr>
          </a:lstStyle>
          <a:p>
            <a:r>
              <a:rPr lang="en-US"/>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defRPr>
            </a:lvl1pPr>
          </a:lstStyle>
          <a:p>
            <a:r>
              <a:rPr lang="en-US"/>
              <a:t>Click icon to add image</a:t>
            </a:r>
          </a:p>
        </p:txBody>
      </p:sp>
      <p:sp>
        <p:nvSpPr>
          <p:cNvPr id="16" name="Header Bottom Left">
            <a:extLst>
              <a:ext uri="{FF2B5EF4-FFF2-40B4-BE49-F238E27FC236}">
                <a16:creationId xmlns:a16="http://schemas.microsoft.com/office/drawing/2014/main" id="{E8024806-5459-4580-AA84-DFE98F18A5A3}"/>
              </a:ext>
              <a:ext uri="{C183D7F6-B498-43B3-948B-1728B52AA6E4}">
                <adec:decorative xmlns:adec="http://schemas.microsoft.com/office/drawing/2017/decorative" val="0"/>
              </a:ext>
            </a:extLst>
          </p:cNvPr>
          <p:cNvSpPr>
            <a:spLocks noGrp="1"/>
          </p:cNvSpPr>
          <p:nvPr>
            <p:ph type="body" idx="16" hasCustomPrompt="1"/>
          </p:nvPr>
        </p:nvSpPr>
        <p:spPr>
          <a:xfrm>
            <a:off x="388620"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defRPr>
            </a:lvl1pPr>
          </a:lstStyle>
          <a:p>
            <a:r>
              <a:rPr lang="en-US"/>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defRPr>
            </a:lvl1pPr>
          </a:lstStyle>
          <a:p>
            <a:r>
              <a:rPr lang="en-US"/>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9" hasCustomPrompt="1"/>
          </p:nvPr>
        </p:nvSpPr>
        <p:spPr>
          <a:xfrm>
            <a:off x="9592056" y="3814574"/>
            <a:ext cx="1645920" cy="1648911"/>
          </a:xfrm>
        </p:spPr>
        <p:txBody>
          <a:bodyPr anchor="t">
            <a:noAutofit/>
          </a:bodyPr>
          <a:lstStyle>
            <a:lvl1pPr marL="0" indent="0" algn="ctr">
              <a:buNone/>
              <a:defRPr sz="2000">
                <a:solidFill>
                  <a:srgbClr val="232F3E"/>
                </a:solidFill>
              </a:defRPr>
            </a:lvl1pPr>
          </a:lstStyle>
          <a:p>
            <a:r>
              <a:rPr lang="en-US"/>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11"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Tree>
    <p:custDataLst>
      <p:tags r:id="rId1"/>
    </p:custDataLst>
    <p:extLst>
      <p:ext uri="{BB962C8B-B14F-4D97-AF65-F5344CB8AC3E}">
        <p14:creationId xmlns:p14="http://schemas.microsoft.com/office/powerpoint/2010/main" val="4105636450"/>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only layout</a:t>
            </a:r>
          </a:p>
        </p:txBody>
      </p:sp>
    </p:spTree>
    <p:custDataLst>
      <p:tags r:id="rId1"/>
    </p:custDataLst>
    <p:extLst>
      <p:ext uri="{BB962C8B-B14F-4D97-AF65-F5344CB8AC3E}">
        <p14:creationId xmlns:p14="http://schemas.microsoft.com/office/powerpoint/2010/main" val="37540964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only blank layout</a:t>
            </a:r>
          </a:p>
        </p:txBody>
      </p:sp>
    </p:spTree>
    <p:custDataLst>
      <p:tags r:id="rId1"/>
    </p:custDataLst>
    <p:extLst>
      <p:ext uri="{BB962C8B-B14F-4D97-AF65-F5344CB8AC3E}">
        <p14:creationId xmlns:p14="http://schemas.microsoft.com/office/powerpoint/2010/main" val="11085926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299526"/>
            <a:ext cx="11466576" cy="289591"/>
          </a:xfrm>
        </p:spPr>
        <p:txBody>
          <a:bodyPr>
            <a:noAutofit/>
          </a:bodyPr>
          <a:lstStyle>
            <a:lvl1pPr>
              <a:defRPr sz="1600">
                <a:solidFill>
                  <a:srgbClr val="232F3E"/>
                </a:solidFill>
                <a:latin typeface="Amazon Ember Display Heavy"/>
              </a:defRPr>
            </a:lvl1pPr>
          </a:lstStyle>
          <a:p>
            <a:r>
              <a:rPr lang="en-US"/>
              <a:t>Architecture layout</a:t>
            </a:r>
          </a:p>
        </p:txBody>
      </p:sp>
    </p:spTree>
    <p:custDataLst>
      <p:tags r:id="rId1"/>
    </p:custDataLst>
    <p:extLst>
      <p:ext uri="{BB962C8B-B14F-4D97-AF65-F5344CB8AC3E}">
        <p14:creationId xmlns:p14="http://schemas.microsoft.com/office/powerpoint/2010/main" val="18352100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a:t>Full Image layout</a:t>
            </a:r>
          </a:p>
        </p:txBody>
      </p:sp>
      <p:sp>
        <p:nvSpPr>
          <p:cNvPr id="22" name="Picture">
            <a:extLst>
              <a:ext uri="{FF2B5EF4-FFF2-40B4-BE49-F238E27FC236}">
                <a16:creationId xmlns:a16="http://schemas.microsoft.com/office/drawing/2014/main" id="{3725AF1B-6140-4505-81CD-922F8227415C}"/>
              </a:ext>
              <a:ext uri="{C183D7F6-B498-43B3-948B-1728B52AA6E4}">
                <adec:decorative xmlns:adec="http://schemas.microsoft.com/office/drawing/2017/decorative" val="1"/>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a:t>Click icon to add image</a:t>
            </a:r>
          </a:p>
        </p:txBody>
      </p:sp>
    </p:spTree>
    <p:custDataLst>
      <p:tags r:id="rId1"/>
    </p:custDataLst>
    <p:extLst>
      <p:ext uri="{BB962C8B-B14F-4D97-AF65-F5344CB8AC3E}">
        <p14:creationId xmlns:p14="http://schemas.microsoft.com/office/powerpoint/2010/main" val="41601351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17"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chemeClr val="bg1"/>
                </a:solidFill>
                <a:latin typeface="Amazon Ember Display Heavy"/>
              </a:defRPr>
            </a:lvl1pPr>
          </a:lstStyle>
          <a:p>
            <a:r>
              <a:rPr lang="en-US"/>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t>
            </a:r>
            <a:br>
              <a:rPr lang="en-US"/>
            </a:br>
            <a:r>
              <a:rPr lang="en-US"/>
              <a:t>4 responses can only have 1 correct response</a:t>
            </a:r>
            <a:br>
              <a:rPr lang="en-US"/>
            </a:br>
            <a:r>
              <a:rPr lang="en-US"/>
              <a:t>5 responses must have 2 correct responses</a:t>
            </a:r>
            <a:br>
              <a:rPr lang="en-US"/>
            </a:br>
            <a:r>
              <a:rPr lang="en-US"/>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3" name="Fifth Resp #">
            <a:extLst>
              <a:ext uri="{FF2B5EF4-FFF2-40B4-BE49-F238E27FC236}">
                <a16:creationId xmlns:a16="http://schemas.microsoft.com/office/drawing/2014/main" id="{B6D2D170-961D-4140-B087-C6CFDF7BBD75}"/>
              </a:ext>
            </a:extLst>
          </p:cNvPr>
          <p:cNvSpPr>
            <a:spLocks noGrp="1"/>
          </p:cNvSpPr>
          <p:nvPr>
            <p:ph type="body" idx="13" hasCustomPrompt="1"/>
          </p:nvPr>
        </p:nvSpPr>
        <p:spPr>
          <a:xfrm>
            <a:off x="4526280" y="472744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pic>
        <p:nvPicPr>
          <p:cNvPr id="20" name="Copyright1">
            <a:extLst>
              <a:ext uri="{FF2B5EF4-FFF2-40B4-BE49-F238E27FC236}">
                <a16:creationId xmlns:a16="http://schemas.microsoft.com/office/drawing/2014/main" id="{49A00690-0DF5-4330-B89B-2C9BBCBD218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5520531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KC-Vert-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16"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a:t>Question and Responses – Option 2</a:t>
            </a:r>
          </a:p>
        </p:txBody>
      </p:sp>
      <p:sp>
        <p:nvSpPr>
          <p:cNvPr id="2" name="Question">
            <a:extLst>
              <a:ext uri="{FF2B5EF4-FFF2-40B4-BE49-F238E27FC236}">
                <a16:creationId xmlns:a16="http://schemas.microsoft.com/office/drawing/2014/main" id="{93617314-864D-45CC-8F94-CE423E6637F9}"/>
              </a:ext>
            </a:extLst>
          </p:cNvPr>
          <p:cNvSpPr>
            <a:spLocks noGrp="1"/>
          </p:cNvSpPr>
          <p:nvPr>
            <p:ph type="body" idx="2" hasCustomPrompt="1"/>
          </p:nvPr>
        </p:nvSpPr>
        <p:spPr>
          <a:xfrm>
            <a:off x="365760" y="1039813"/>
            <a:ext cx="4162425" cy="5407025"/>
          </a:xfrm>
        </p:spPr>
        <p:txBody>
          <a:bodyPr>
            <a:normAutofit/>
          </a:bodyPr>
          <a:lstStyle>
            <a:lvl1pPr marL="0" indent="0" algn="l">
              <a:lnSpc>
                <a:spcPct val="100000"/>
              </a:lnSpc>
              <a:buNone/>
              <a:defRPr sz="2400">
                <a:solidFill>
                  <a:srgbClr val="232F3E"/>
                </a:solidFill>
              </a:defRPr>
            </a:lvl1pPr>
            <a:lvl2pPr algn="l">
              <a:defRPr sz="2000"/>
            </a:lvl2pPr>
            <a:lvl3pPr algn="l">
              <a:defRPr sz="1800"/>
            </a:lvl3pPr>
            <a:lvl4pPr algn="l">
              <a:defRPr sz="1600"/>
            </a:lvl4pPr>
            <a:lvl5pPr algn="l">
              <a:defRPr sz="1600"/>
            </a:lvl5pPr>
          </a:lstStyle>
          <a:p>
            <a:pPr lvl="0"/>
            <a:r>
              <a:rPr lang="en-US"/>
              <a:t>Enter question –</a:t>
            </a:r>
            <a:br>
              <a:rPr lang="en-US"/>
            </a:br>
            <a:r>
              <a:rPr lang="en-US"/>
              <a:t>4 responses can only have 1 correct response</a:t>
            </a:r>
            <a:br>
              <a:rPr lang="en-US"/>
            </a:br>
            <a:r>
              <a:rPr lang="en-US"/>
              <a:t>5 responses must have 2 correct responses</a:t>
            </a:r>
            <a:br>
              <a:rPr lang="en-US"/>
            </a:br>
            <a:r>
              <a:rPr lang="en-US"/>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26280" y="472744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3" name="Fifth Resp Text">
            <a:extLst>
              <a:ext uri="{FF2B5EF4-FFF2-40B4-BE49-F238E27FC236}">
                <a16:creationId xmlns:a16="http://schemas.microsoft.com/office/drawing/2014/main" id="{B428E384-92E9-495A-9CAE-E33E3164F939}"/>
              </a:ext>
            </a:extLst>
          </p:cNvPr>
          <p:cNvSpPr>
            <a:spLocks noGrp="1"/>
          </p:cNvSpPr>
          <p:nvPr>
            <p:ph type="body" idx="13" hasCustomPrompt="1"/>
          </p:nvPr>
        </p:nvSpPr>
        <p:spPr>
          <a:xfrm>
            <a:off x="5431536" y="472744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4" name="Sixth Resp #">
            <a:extLst>
              <a:ext uri="{FF2B5EF4-FFF2-40B4-BE49-F238E27FC236}">
                <a16:creationId xmlns:a16="http://schemas.microsoft.com/office/drawing/2014/main" id="{DC41B7B5-B438-4885-90AE-758ABF2CA9F9}"/>
              </a:ext>
            </a:extLst>
          </p:cNvPr>
          <p:cNvSpPr>
            <a:spLocks noGrp="1"/>
          </p:cNvSpPr>
          <p:nvPr>
            <p:ph type="body" idx="14" hasCustomPrompt="1"/>
          </p:nvPr>
        </p:nvSpPr>
        <p:spPr>
          <a:xfrm>
            <a:off x="4526280" y="556869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5" name="Sixth Resp Text">
            <a:extLst>
              <a:ext uri="{FF2B5EF4-FFF2-40B4-BE49-F238E27FC236}">
                <a16:creationId xmlns:a16="http://schemas.microsoft.com/office/drawing/2014/main" id="{09F72B28-4CF6-4FD1-BA4A-5A98215324E2}"/>
              </a:ext>
            </a:extLst>
          </p:cNvPr>
          <p:cNvSpPr>
            <a:spLocks noGrp="1"/>
          </p:cNvSpPr>
          <p:nvPr>
            <p:ph type="body" idx="15" hasCustomPrompt="1"/>
          </p:nvPr>
        </p:nvSpPr>
        <p:spPr>
          <a:xfrm>
            <a:off x="5431536" y="556869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31006954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reserve="1">
  <p:cSld name="KC-Vertic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chemeClr val="bg1"/>
                </a:solidFill>
                <a:latin typeface="Amazon Ember Display Heavy"/>
              </a:defRPr>
            </a:lvl1pPr>
          </a:lstStyle>
          <a:p>
            <a:r>
              <a:rPr lang="en-US"/>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11111"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420597"/>
            <a:ext cx="6723145" cy="4955378"/>
          </a:xfrm>
          <a:noFill/>
        </p:spPr>
        <p:txBody>
          <a:bodyPr lIns="91440" tIns="91440" rIns="182880" bIns="0" anchor="t"/>
          <a:lstStyle>
            <a:lvl1pPr marL="0" indent="0" algn="l">
              <a:lnSpc>
                <a:spcPct val="9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pic>
        <p:nvPicPr>
          <p:cNvPr id="7" name="Copyright1">
            <a:extLst>
              <a:ext uri="{FF2B5EF4-FFF2-40B4-BE49-F238E27FC236}">
                <a16:creationId xmlns:a16="http://schemas.microsoft.com/office/drawing/2014/main" id="{005D2766-8051-4525-B84F-5BD0A1EA30C0}"/>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1063874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reserve="1">
  <p:cSld name="KC-Vert-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07808"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1536" y="1417320"/>
            <a:ext cx="6720840" cy="4955378"/>
          </a:xfrm>
          <a:noFill/>
        </p:spPr>
        <p:txBody>
          <a:bodyPr lIns="91440" tIns="91440" rIns="182880" bIns="0" anchor="t"/>
          <a:lstStyle>
            <a:lvl1pPr marL="0" indent="0" algn="l">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24237928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A-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chemeClr val="bg1"/>
                </a:solidFill>
                <a:latin typeface="Amazon Ember Display Heavy"/>
              </a:defRPr>
            </a:lvl1pPr>
          </a:lstStyle>
          <a:p>
            <a:r>
              <a:rPr lang="en-US"/>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pic>
        <p:nvPicPr>
          <p:cNvPr id="13" name="Copyright1">
            <a:extLst>
              <a:ext uri="{FF2B5EF4-FFF2-40B4-BE49-F238E27FC236}">
                <a16:creationId xmlns:a16="http://schemas.microsoft.com/office/drawing/2014/main" id="{D612BC5C-D183-4F43-9348-CEF078622BC7}"/>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2024632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A-Horz-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rgbClr val="232F3E"/>
                </a:solidFill>
                <a:latin typeface="Amazon Ember Display Heavy"/>
              </a:defRPr>
            </a:lvl1pPr>
          </a:lstStyle>
          <a:p>
            <a:r>
              <a:rPr lang="en-US"/>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Tree>
    <p:custDataLst>
      <p:tags r:id="rId1"/>
    </p:custDataLst>
    <p:extLst>
      <p:ext uri="{BB962C8B-B14F-4D97-AF65-F5344CB8AC3E}">
        <p14:creationId xmlns:p14="http://schemas.microsoft.com/office/powerpoint/2010/main" val="3422097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55445" cy="498849"/>
          </a:xfrm>
        </p:spPr>
        <p:txBody>
          <a:bodyPr/>
          <a:lstStyle>
            <a:lvl1pPr>
              <a:defRPr>
                <a:solidFill>
                  <a:schemeClr val="bg1"/>
                </a:solidFill>
                <a:latin typeface="Amazon Ember Display Heavy"/>
              </a:defRPr>
            </a:lvl1pPr>
          </a:lstStyle>
          <a:p>
            <a:r>
              <a:rPr lang="en-US"/>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7" y="697780"/>
            <a:ext cx="11855445" cy="1328883"/>
          </a:xfrm>
          <a:noFill/>
        </p:spPr>
        <p:txBody>
          <a:bodyPr lIns="91440" tIns="0" rIns="91440" bIns="0">
            <a:normAutofit/>
          </a:bodyPr>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37865" cy="317500"/>
          </a:xfrm>
          <a:noFill/>
          <a:ln>
            <a:noFill/>
          </a:ln>
        </p:spPr>
        <p:txBody>
          <a:bodyPr lIns="91440" rIns="91440">
            <a:noAutofit/>
          </a:bodyPr>
          <a:lstStyle>
            <a:lvl1pPr marL="0" indent="0" algn="l">
              <a:lnSpc>
                <a:spcPct val="100000"/>
              </a:lnSpc>
              <a:spcAft>
                <a:spcPts val="0"/>
              </a:spcAft>
              <a:buNone/>
              <a:defRPr sz="1800">
                <a:solidFill>
                  <a:schemeClr val="bg1"/>
                </a:solidFill>
              </a:defRPr>
            </a:lvl1pPr>
          </a:lstStyle>
          <a:p>
            <a:pPr lvl="0"/>
            <a:r>
              <a:rPr lang="en-US"/>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pic>
        <p:nvPicPr>
          <p:cNvPr id="20" name="Copyright1">
            <a:extLst>
              <a:ext uri="{FF2B5EF4-FFF2-40B4-BE49-F238E27FC236}">
                <a16:creationId xmlns:a16="http://schemas.microsoft.com/office/drawing/2014/main" id="{2B452CCE-D69C-498E-9B48-C533DB88BC99}"/>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3081756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KC-Horz-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25947" cy="498849"/>
          </a:xfrm>
        </p:spPr>
        <p:txBody>
          <a:bodyPr/>
          <a:lstStyle>
            <a:lvl1pPr>
              <a:defRPr>
                <a:solidFill>
                  <a:srgbClr val="232F3E"/>
                </a:solidFill>
                <a:latin typeface="Amazon Ember Display Heavy"/>
              </a:defRPr>
            </a:lvl1pPr>
          </a:lstStyle>
          <a:p>
            <a:r>
              <a:rPr lang="en-US"/>
              <a:t>Question and Responses – Option 2</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825948" cy="1328883"/>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57678" cy="317500"/>
          </a:xfrm>
          <a:noFill/>
          <a:ln>
            <a:noFill/>
          </a:ln>
        </p:spPr>
        <p:txBody>
          <a:bodyPr lIns="91440" rIns="0">
            <a:noAutofit/>
          </a:bodyPr>
          <a:lstStyle>
            <a:lvl1pPr marL="0" indent="0" algn="l">
              <a:lnSpc>
                <a:spcPct val="100000"/>
              </a:lnSpc>
              <a:spcAft>
                <a:spcPts val="0"/>
              </a:spcAft>
              <a:buNone/>
              <a:defRPr sz="1800">
                <a:solidFill>
                  <a:schemeClr val="bg1"/>
                </a:solidFill>
              </a:defRPr>
            </a:lvl1pPr>
          </a:lstStyle>
          <a:p>
            <a:pPr lvl="0"/>
            <a:r>
              <a:rPr lang="en-US"/>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5652178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x" preserve="1">
  <p:cSld name="KC-Horizont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chemeClr val="bg1"/>
                </a:solidFill>
                <a:latin typeface="Amazon Ember Display Heavy"/>
              </a:defRPr>
            </a:lvl1pPr>
          </a:lstStyle>
          <a:p>
            <a:r>
              <a:rPr lang="en-US"/>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771597" cy="1405081"/>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pic>
        <p:nvPicPr>
          <p:cNvPr id="7" name="Copyright1">
            <a:extLst>
              <a:ext uri="{FF2B5EF4-FFF2-40B4-BE49-F238E27FC236}">
                <a16:creationId xmlns:a16="http://schemas.microsoft.com/office/drawing/2014/main" id="{2E0A46E6-23DB-43F3-BD7E-C4579838F24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5486467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reserve="1">
  <p:cSld name="KC-Horz-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rgbClr val="232F3E"/>
                </a:solidFill>
                <a:latin typeface="Amazon Ember Display Heavy"/>
              </a:defRPr>
            </a:lvl1pPr>
          </a:lstStyle>
          <a:p>
            <a:r>
              <a:rPr lang="en-US"/>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1"/>
            <a:ext cx="11771597" cy="1345520"/>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30316351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vertical text layout (international) </a:t>
            </a:r>
          </a:p>
        </p:txBody>
      </p:sp>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3194976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1FDB7DAC-24E1-411C-8D5F-3A7FDF188C1D}"/>
              </a:ext>
            </a:extLst>
          </p:cNvPr>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Vertical title and text layout (international) </a:t>
            </a:r>
          </a:p>
        </p:txBody>
      </p:sp>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75211530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rgbClr val="33006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AA8AAC-8C22-4F3B-BDB0-E5CB0C9C0F7E}"/>
              </a:ext>
            </a:extLst>
          </p:cNvPr>
          <p:cNvSpPr txBox="1"/>
          <p:nvPr userDrawn="1"/>
        </p:nvSpPr>
        <p:spPr>
          <a:xfrm>
            <a:off x="495300" y="1074510"/>
            <a:ext cx="11201400" cy="4708981"/>
          </a:xfrm>
          <a:prstGeom prst="rect">
            <a:avLst/>
          </a:prstGeom>
          <a:noFill/>
        </p:spPr>
        <p:txBody>
          <a:bodyPr wrap="square" rtlCol="0">
            <a:spAutoFit/>
          </a:bodyPr>
          <a:lstStyle/>
          <a:p>
            <a:r>
              <a:rPr lang="en-US" sz="6000" b="1">
                <a:solidFill>
                  <a:schemeClr val="bg1"/>
                </a:solidFill>
              </a:rPr>
              <a:t>Don’t use this layout</a:t>
            </a:r>
          </a:p>
          <a:p>
            <a:endParaRPr lang="en-US" sz="6000">
              <a:solidFill>
                <a:schemeClr val="bg1"/>
              </a:solidFill>
            </a:endParaRPr>
          </a:p>
          <a:p>
            <a:r>
              <a:rPr lang="en-US" sz="6000">
                <a:solidFill>
                  <a:schemeClr val="bg1"/>
                </a:solidFill>
              </a:rPr>
              <a:t>Layouts that appear after this one in the slide master are specific to Academy.</a:t>
            </a:r>
          </a:p>
        </p:txBody>
      </p:sp>
    </p:spTree>
    <p:extLst>
      <p:ext uri="{BB962C8B-B14F-4D97-AF65-F5344CB8AC3E}">
        <p14:creationId xmlns:p14="http://schemas.microsoft.com/office/powerpoint/2010/main" val="42130865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opic Introduction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rmAutofit/>
          </a:bodyPr>
          <a:lstStyle>
            <a:lvl1pPr algn="ctr">
              <a:defRPr sz="3600">
                <a:solidFill>
                  <a:schemeClr val="bg1"/>
                </a:solidFill>
                <a:latin typeface="Amazon Ember Display Heavy"/>
              </a:defRPr>
            </a:lvl1pPr>
          </a:lstStyle>
          <a:p>
            <a:r>
              <a:rPr lang="en-US"/>
              <a:t>Type title here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rm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pic>
        <p:nvPicPr>
          <p:cNvPr id="7" name="Copyright1">
            <a:extLst>
              <a:ext uri="{FF2B5EF4-FFF2-40B4-BE49-F238E27FC236}">
                <a16:creationId xmlns:a16="http://schemas.microsoft.com/office/drawing/2014/main" id="{844CFF04-049D-40C7-9082-60C6CF7684A8}"/>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68531"/>
            <a:ext cx="4610100" cy="267127"/>
          </a:xfrm>
          <a:prstGeom prst="rect">
            <a:avLst/>
          </a:prstGeom>
        </p:spPr>
      </p:pic>
    </p:spTree>
    <p:custDataLst>
      <p:tags r:id="rId1"/>
    </p:custDataLst>
    <p:extLst>
      <p:ext uri="{BB962C8B-B14F-4D97-AF65-F5344CB8AC3E}">
        <p14:creationId xmlns:p14="http://schemas.microsoft.com/office/powerpoint/2010/main" val="8115162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cademyQuestion">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0" y="185995"/>
            <a:ext cx="12192000" cy="535531"/>
          </a:xfrm>
        </p:spPr>
        <p:txBody>
          <a:bodyPr wrap="square" lIns="182880" rIns="182880">
            <a:spAutoFit/>
          </a:bodyPr>
          <a:lstStyle>
            <a:lvl1pPr>
              <a:lnSpc>
                <a:spcPct val="90000"/>
              </a:lnSpc>
              <a:spcAft>
                <a:spcPts val="0"/>
              </a:spcAft>
              <a:defRPr sz="3200">
                <a:solidFill>
                  <a:srgbClr val="232F3E"/>
                </a:solidFill>
                <a:latin typeface="Amazon Ember Display Heavy"/>
              </a:defRPr>
            </a:lvl1pPr>
          </a:lstStyle>
          <a:p>
            <a:r>
              <a:rPr lang="en-US"/>
              <a:t>Title and text column</a:t>
            </a:r>
          </a:p>
        </p:txBody>
      </p:sp>
      <p:sp>
        <p:nvSpPr>
          <p:cNvPr id="7" name="Text Placeholder 6">
            <a:extLst>
              <a:ext uri="{FF2B5EF4-FFF2-40B4-BE49-F238E27FC236}">
                <a16:creationId xmlns:a16="http://schemas.microsoft.com/office/drawing/2014/main" id="{4F12F17D-55AD-4982-8FE2-C0E80D143499}"/>
              </a:ext>
            </a:extLst>
          </p:cNvPr>
          <p:cNvSpPr>
            <a:spLocks noGrp="1"/>
          </p:cNvSpPr>
          <p:nvPr>
            <p:ph type="body" sz="quarter" idx="98" hasCustomPrompt="1"/>
          </p:nvPr>
        </p:nvSpPr>
        <p:spPr>
          <a:xfrm>
            <a:off x="0" y="721526"/>
            <a:ext cx="12192000" cy="1463040"/>
          </a:xfrm>
          <a:solidFill>
            <a:schemeClr val="accent1"/>
          </a:solidFill>
        </p:spPr>
        <p:txBody>
          <a:bodyPr lIns="182880" tIns="91440" rIns="182880" bIns="91440">
            <a:noAutofit/>
          </a:bodyPr>
          <a:lstStyle>
            <a:lvl1pPr marL="0" indent="0">
              <a:lnSpc>
                <a:spcPct val="100000"/>
              </a:lnSpc>
              <a:spcAft>
                <a:spcPts val="600"/>
              </a:spcAft>
              <a:buNone/>
              <a:defRPr sz="160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Enter question text here</a:t>
            </a:r>
          </a:p>
        </p:txBody>
      </p:sp>
    </p:spTree>
    <p:custDataLst>
      <p:tags r:id="rId1"/>
    </p:custDataLst>
    <p:extLst>
      <p:ext uri="{BB962C8B-B14F-4D97-AF65-F5344CB8AC3E}">
        <p14:creationId xmlns:p14="http://schemas.microsoft.com/office/powerpoint/2010/main" val="42819598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3.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2">
            <a:lum/>
          </a:blip>
          <a:srcRect/>
          <a:stretch>
            <a:fillRect/>
          </a:stretch>
        </a:blipFill>
        <a:effectLst/>
      </p:bgPr>
    </p:bg>
    <p:spTree>
      <p:nvGrpSpPr>
        <p:cNvPr id="1" name=""/>
        <p:cNvGrpSpPr/>
        <p:nvPr/>
      </p:nvGrpSpPr>
      <p:grpSpPr>
        <a:xfrm>
          <a:off x="0" y="0"/>
          <a:ext cx="0" cy="0"/>
          <a:chOff x="0" y="0"/>
          <a:chExt cx="0" cy="0"/>
        </a:xfrm>
      </p:grpSpPr>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t>Click to edit Master title style</a:t>
            </a:r>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Edit Master text styles</a:t>
            </a:r>
          </a:p>
          <a:p>
            <a:pPr marL="457200" lvl="1" indent="-230188" defTabSz="228600">
              <a:lnSpc>
                <a:spcPct val="100000"/>
              </a:lnSpc>
              <a:spcAft>
                <a:spcPts val="600"/>
              </a:spcAft>
              <a:buFont typeface="Amazon Ember Display"/>
            </a:pPr>
            <a:r>
              <a:rPr lang="en-US"/>
              <a:t>Second level</a:t>
            </a:r>
          </a:p>
          <a:p>
            <a:pPr marL="685800" lvl="2" indent="-230188" defTabSz="228600">
              <a:lnSpc>
                <a:spcPct val="100000"/>
              </a:lnSpc>
              <a:spcAft>
                <a:spcPts val="600"/>
              </a:spcAft>
              <a:buFont typeface="Amazon Ember Display"/>
            </a:pPr>
            <a:r>
              <a:rPr lang="en-US"/>
              <a:t>Third level</a:t>
            </a:r>
          </a:p>
          <a:p>
            <a:pPr marL="914400" lvl="3" indent="-230188" defTabSz="228600">
              <a:lnSpc>
                <a:spcPct val="100000"/>
              </a:lnSpc>
              <a:spcAft>
                <a:spcPts val="600"/>
              </a:spcAft>
              <a:buFont typeface="Amazon Ember Display"/>
            </a:pPr>
            <a:r>
              <a:rPr lang="en-US"/>
              <a:t>Fourth level</a:t>
            </a:r>
          </a:p>
          <a:p>
            <a:pPr marL="1143000" lvl="4" indent="-230188" defTabSz="228600">
              <a:lnSpc>
                <a:spcPct val="100000"/>
              </a:lnSpc>
              <a:spcAft>
                <a:spcPts val="600"/>
              </a:spcAft>
              <a:buFont typeface="Amazon Ember Display"/>
            </a:pPr>
            <a:r>
              <a:rPr lang="en-US"/>
              <a:t>Fifth level</a:t>
            </a:r>
          </a:p>
        </p:txBody>
      </p:sp>
      <p:pic>
        <p:nvPicPr>
          <p:cNvPr id="98"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243599" y="6445721"/>
            <a:ext cx="366979" cy="219456"/>
          </a:xfrm>
          <a:prstGeom prst="rect">
            <a:avLst/>
          </a:prstGeom>
        </p:spPr>
      </p:pic>
      <p:pic>
        <p:nvPicPr>
          <p:cNvPr id="6" name="Copyright1">
            <a:extLst>
              <a:ext uri="{FF2B5EF4-FFF2-40B4-BE49-F238E27FC236}">
                <a16:creationId xmlns:a16="http://schemas.microsoft.com/office/drawing/2014/main" id="{C320C759-D5D0-424F-9E65-06BA1C6E83D1}"/>
              </a:ext>
              <a:ext uri="{C183D7F6-B498-43B3-948B-1728B52AA6E4}">
                <adec:decorative xmlns:adec="http://schemas.microsoft.com/office/drawing/2017/decorative" val="1"/>
              </a:ext>
            </a:extLst>
          </p:cNvPr>
          <p:cNvPicPr>
            <a:picLocks/>
          </p:cNvPicPr>
          <p:nvPr userDrawn="1"/>
        </p:nvPicPr>
        <p:blipFill>
          <a:blip r:embed="rId65">
            <a:extLst>
              <a:ext uri="{28A0092B-C50C-407E-A947-70E740481C1C}">
                <a14:useLocalDpi xmlns:a14="http://schemas.microsoft.com/office/drawing/2010/main" val="0"/>
              </a:ext>
            </a:extLst>
          </a:blip>
          <a:stretch>
            <a:fillRect/>
          </a:stretch>
        </p:blipFill>
        <p:spPr>
          <a:xfrm>
            <a:off x="3787140" y="6468531"/>
            <a:ext cx="4610100" cy="267127"/>
          </a:xfrm>
          <a:prstGeom prst="rect">
            <a:avLst/>
          </a:prstGeom>
        </p:spPr>
      </p:pic>
    </p:spTree>
    <p:extLst>
      <p:ext uri="{BB962C8B-B14F-4D97-AF65-F5344CB8AC3E}">
        <p14:creationId xmlns:p14="http://schemas.microsoft.com/office/powerpoint/2010/main" val="26882139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9.xml"/><Relationship Id="rId1" Type="http://schemas.openxmlformats.org/officeDocument/2006/relationships/tags" Target="../tags/tag5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5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9.xml"/><Relationship Id="rId1" Type="http://schemas.openxmlformats.org/officeDocument/2006/relationships/tags" Target="../tags/tag6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9.xml"/><Relationship Id="rId1" Type="http://schemas.openxmlformats.org/officeDocument/2006/relationships/tags" Target="../tags/tag6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62.xml"/></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svg"/><Relationship Id="rId3" Type="http://schemas.openxmlformats.org/officeDocument/2006/relationships/notesSlide" Target="../notesSlides/notesSlide8.xml"/><Relationship Id="rId7" Type="http://schemas.openxmlformats.org/officeDocument/2006/relationships/image" Target="../media/image27.svg"/><Relationship Id="rId12" Type="http://schemas.openxmlformats.org/officeDocument/2006/relationships/image" Target="../media/image32.png"/><Relationship Id="rId2" Type="http://schemas.openxmlformats.org/officeDocument/2006/relationships/slideLayout" Target="../slideLayouts/slideLayout36.xml"/><Relationship Id="rId1" Type="http://schemas.openxmlformats.org/officeDocument/2006/relationships/tags" Target="../tags/tag63.xml"/><Relationship Id="rId6" Type="http://schemas.openxmlformats.org/officeDocument/2006/relationships/image" Target="../media/image26.png"/><Relationship Id="rId11" Type="http://schemas.openxmlformats.org/officeDocument/2006/relationships/image" Target="../media/image31.svg"/><Relationship Id="rId5" Type="http://schemas.openxmlformats.org/officeDocument/2006/relationships/image" Target="../media/image25.sv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sv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6.xml"/><Relationship Id="rId1" Type="http://schemas.openxmlformats.org/officeDocument/2006/relationships/tags" Target="../tags/tag6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6.xml"/><Relationship Id="rId1" Type="http://schemas.openxmlformats.org/officeDocument/2006/relationships/tags" Target="../tags/tag6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6.xml"/><Relationship Id="rId1" Type="http://schemas.openxmlformats.org/officeDocument/2006/relationships/tags" Target="../tags/tag6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6.xml"/><Relationship Id="rId1" Type="http://schemas.openxmlformats.org/officeDocument/2006/relationships/tags" Target="../tags/tag6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6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tags" Target="../tags/tag69.xml"/><Relationship Id="rId5" Type="http://schemas.openxmlformats.org/officeDocument/2006/relationships/hyperlink" Target="https://aws.amazon.com/certification/certified-solutions-architect-associate/" TargetMode="External"/><Relationship Id="rId4" Type="http://schemas.openxmlformats.org/officeDocument/2006/relationships/hyperlink" Target="https://aws.amazon.com/certification/"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7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2.xml"/><Relationship Id="rId1" Type="http://schemas.openxmlformats.org/officeDocument/2006/relationships/tags" Target="../tags/tag7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7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9.xml"/><Relationship Id="rId1" Type="http://schemas.openxmlformats.org/officeDocument/2006/relationships/tags" Target="../tags/tag73.xml"/><Relationship Id="rId5" Type="http://schemas.openxmlformats.org/officeDocument/2006/relationships/image" Target="../media/image38.sv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hyperlink" Target="https://aws.amazon.com/training/digital/aws-builder-labs/" TargetMode="External"/><Relationship Id="rId3" Type="http://schemas.openxmlformats.org/officeDocument/2006/relationships/notesSlide" Target="../notesSlides/notesSlide19.xml"/><Relationship Id="rId7" Type="http://schemas.openxmlformats.org/officeDocument/2006/relationships/hyperlink" Target="https://aws.amazon.com/getting-started/" TargetMode="External"/><Relationship Id="rId2" Type="http://schemas.openxmlformats.org/officeDocument/2006/relationships/slideLayout" Target="../slideLayouts/slideLayout9.xml"/><Relationship Id="rId1" Type="http://schemas.openxmlformats.org/officeDocument/2006/relationships/tags" Target="../tags/tag74.xml"/><Relationship Id="rId6" Type="http://schemas.openxmlformats.org/officeDocument/2006/relationships/hyperlink" Target="https://aws.amazon.com/faqs/" TargetMode="External"/><Relationship Id="rId5" Type="http://schemas.openxmlformats.org/officeDocument/2006/relationships/hyperlink" Target="https://docs.aws.amazon.com/" TargetMode="External"/><Relationship Id="rId4" Type="http://schemas.openxmlformats.org/officeDocument/2006/relationships/hyperlink" Target="https://aws.amazon.com/architecture/" TargetMode="External"/><Relationship Id="rId9" Type="http://schemas.openxmlformats.org/officeDocument/2006/relationships/hyperlink" Target="https://aws.amazon.com/training/ramp-up-guides/" TargetMode="Externa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3.xml"/><Relationship Id="rId1" Type="http://schemas.openxmlformats.org/officeDocument/2006/relationships/tags" Target="../tags/tag7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hyperlink" Target="https://aws.amazon.com/architecture/back-to-basics/" TargetMode="External"/><Relationship Id="rId2" Type="http://schemas.openxmlformats.org/officeDocument/2006/relationships/slideLayout" Target="../slideLayouts/slideLayout21.xml"/><Relationship Id="rId1" Type="http://schemas.openxmlformats.org/officeDocument/2006/relationships/tags" Target="../tags/tag76.xml"/><Relationship Id="rId6" Type="http://schemas.openxmlformats.org/officeDocument/2006/relationships/image" Target="../media/image40.png"/><Relationship Id="rId5" Type="http://schemas.openxmlformats.org/officeDocument/2006/relationships/hyperlink" Target="https://aws.amazon.com/architecture/this-is-my-architecture/" TargetMode="Externa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77.xml"/><Relationship Id="rId5" Type="http://schemas.openxmlformats.org/officeDocument/2006/relationships/image" Target="../media/image42.sv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3.xml"/><Relationship Id="rId1" Type="http://schemas.openxmlformats.org/officeDocument/2006/relationships/tags" Target="../tags/tag7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9.xml"/><Relationship Id="rId1" Type="http://schemas.openxmlformats.org/officeDocument/2006/relationships/tags" Target="../tags/tag79.xml"/><Relationship Id="rId5" Type="http://schemas.openxmlformats.org/officeDocument/2006/relationships/hyperlink" Target="https://aws.amazon.com/getting-started/decision-guides/" TargetMode="External"/><Relationship Id="rId4" Type="http://schemas.openxmlformats.org/officeDocument/2006/relationships/hyperlink" Target="https://aws.amazon.com/getting-started/hands-on" TargetMode="Externa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tags" Target="../tags/tag80.xml"/><Relationship Id="rId5" Type="http://schemas.openxmlformats.org/officeDocument/2006/relationships/image" Target="../media/image44.sv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tags" Target="../tags/tag81.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hyperlink" Target="https://d1.awsstatic.com/training-and-certification/ramp-up_guides/Ramp-Up_Guide_Architect.pdf" TargetMode="Externa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8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9.xml"/><Relationship Id="rId1" Type="http://schemas.openxmlformats.org/officeDocument/2006/relationships/tags" Target="../tags/tag8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8.xml"/><Relationship Id="rId1" Type="http://schemas.openxmlformats.org/officeDocument/2006/relationships/tags" Target="../tags/tag84.xml"/><Relationship Id="rId4" Type="http://schemas.openxmlformats.org/officeDocument/2006/relationships/hyperlink" Target="https://support.aws.amazon.com/#/contacts/aws-acade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2765EEF9-29F2-4F67-81A6-21307EFDF68D}"/>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prstClr val="whit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white"/>
              </a:solidFill>
              <a:effectLst/>
              <a:uLnTx/>
              <a:uFillTx/>
              <a:latin typeface="Amazon Ember Display"/>
              <a:ea typeface="+mn-ea"/>
              <a:cs typeface="+mn-cs"/>
            </a:endParaRPr>
          </a:p>
        </p:txBody>
      </p:sp>
      <p:sp>
        <p:nvSpPr>
          <p:cNvPr id="12" name="Title">
            <a:extLst>
              <a:ext uri="{FF2B5EF4-FFF2-40B4-BE49-F238E27FC236}">
                <a16:creationId xmlns:a16="http://schemas.microsoft.com/office/drawing/2014/main" id="{C341766F-F436-46E9-A30C-DB5888AD0AA7}"/>
              </a:ext>
            </a:extLst>
          </p:cNvPr>
          <p:cNvSpPr>
            <a:spLocks noGrp="1"/>
          </p:cNvSpPr>
          <p:nvPr>
            <p:ph type="title" idx="1"/>
          </p:nvPr>
        </p:nvSpPr>
        <p:spPr/>
        <p:txBody>
          <a:bodyPr/>
          <a:lstStyle/>
          <a:p>
            <a:r>
              <a:rPr lang="en-US" sz="5400"/>
              <a:t>Bridging to Certification</a:t>
            </a:r>
            <a:endParaRPr lang="en-US"/>
          </a:p>
        </p:txBody>
      </p:sp>
      <p:sp>
        <p:nvSpPr>
          <p:cNvPr id="7" name="Text Placeholder 6">
            <a:extLst>
              <a:ext uri="{FF2B5EF4-FFF2-40B4-BE49-F238E27FC236}">
                <a16:creationId xmlns:a16="http://schemas.microsoft.com/office/drawing/2014/main" id="{2CAF2D29-2980-4EDA-AF88-15884666C42C}"/>
              </a:ext>
            </a:extLst>
          </p:cNvPr>
          <p:cNvSpPr>
            <a:spLocks noGrp="1"/>
          </p:cNvSpPr>
          <p:nvPr>
            <p:ph type="body" idx="2"/>
          </p:nvPr>
        </p:nvSpPr>
        <p:spPr/>
        <p:txBody>
          <a:bodyPr/>
          <a:lstStyle/>
          <a:p>
            <a:r>
              <a:rPr lang="en-US"/>
              <a:t>AWS Academy Cloud Architecting</a:t>
            </a:r>
          </a:p>
        </p:txBody>
      </p:sp>
    </p:spTree>
    <p:custDataLst>
      <p:tags r:id="rId1"/>
    </p:custDataLst>
    <p:extLst>
      <p:ext uri="{BB962C8B-B14F-4D97-AF65-F5344CB8AC3E}">
        <p14:creationId xmlns:p14="http://schemas.microsoft.com/office/powerpoint/2010/main" val="129366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A542E85F-89AA-4CF8-81DD-B47083528F54}"/>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232F3E"/>
              </a:solidFill>
              <a:effectLst/>
              <a:uLnTx/>
              <a:uFillTx/>
              <a:latin typeface="Amazon Ember Display"/>
              <a:ea typeface="+mn-ea"/>
              <a:cs typeface="+mn-cs"/>
            </a:endParaRPr>
          </a:p>
        </p:txBody>
      </p:sp>
      <p:sp>
        <p:nvSpPr>
          <p:cNvPr id="5" name="Title">
            <a:extLst>
              <a:ext uri="{FF2B5EF4-FFF2-40B4-BE49-F238E27FC236}">
                <a16:creationId xmlns:a16="http://schemas.microsoft.com/office/drawing/2014/main" id="{7421A085-7841-4A79-873C-DC2174EB8422}"/>
              </a:ext>
            </a:extLst>
          </p:cNvPr>
          <p:cNvSpPr>
            <a:spLocks noGrp="1"/>
          </p:cNvSpPr>
          <p:nvPr>
            <p:ph type="title" idx="1"/>
          </p:nvPr>
        </p:nvSpPr>
        <p:spPr/>
        <p:txBody>
          <a:bodyPr/>
          <a:lstStyle/>
          <a:p>
            <a:r>
              <a:rPr lang="en-US"/>
              <a:t>Introduction</a:t>
            </a:r>
          </a:p>
        </p:txBody>
      </p:sp>
      <p:sp>
        <p:nvSpPr>
          <p:cNvPr id="6" name="Subtitle 5">
            <a:extLst>
              <a:ext uri="{FF2B5EF4-FFF2-40B4-BE49-F238E27FC236}">
                <a16:creationId xmlns:a16="http://schemas.microsoft.com/office/drawing/2014/main" id="{EDD260CC-B2D2-4009-876B-1B98CE0DE56A}"/>
              </a:ext>
            </a:extLst>
          </p:cNvPr>
          <p:cNvSpPr>
            <a:spLocks noGrp="1"/>
          </p:cNvSpPr>
          <p:nvPr>
            <p:ph type="subTitle" idx="2"/>
          </p:nvPr>
        </p:nvSpPr>
        <p:spPr/>
        <p:txBody>
          <a:bodyPr/>
          <a:lstStyle/>
          <a:p>
            <a:r>
              <a:rPr lang="en-US"/>
              <a:t>Bridging to Certification</a:t>
            </a:r>
          </a:p>
        </p:txBody>
      </p:sp>
    </p:spTree>
    <p:custDataLst>
      <p:tags r:id="rId1"/>
    </p:custDataLst>
    <p:extLst>
      <p:ext uri="{BB962C8B-B14F-4D97-AF65-F5344CB8AC3E}">
        <p14:creationId xmlns:p14="http://schemas.microsoft.com/office/powerpoint/2010/main" val="1645169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AFA1575B-E7DC-49AE-B5D0-D53AA2F0C641}"/>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0176A1-BCF0-4712-97A6-6B495F55390B}"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srgbClr val="232F3E"/>
              </a:solidFill>
              <a:effectLst/>
              <a:uLnTx/>
              <a:uFillTx/>
              <a:latin typeface="Amazon Ember Display"/>
              <a:ea typeface="+mn-ea"/>
              <a:cs typeface="+mn-cs"/>
            </a:endParaRPr>
          </a:p>
        </p:txBody>
      </p:sp>
      <p:sp>
        <p:nvSpPr>
          <p:cNvPr id="3" name="Title"/>
          <p:cNvSpPr>
            <a:spLocks noGrp="1"/>
          </p:cNvSpPr>
          <p:nvPr>
            <p:ph type="title" idx="1"/>
          </p:nvPr>
        </p:nvSpPr>
        <p:spPr/>
        <p:txBody>
          <a:bodyPr/>
          <a:lstStyle/>
          <a:p>
            <a:r>
              <a:rPr lang="en-US"/>
              <a:t>Module objectives</a:t>
            </a:r>
          </a:p>
        </p:txBody>
      </p:sp>
      <p:sp>
        <p:nvSpPr>
          <p:cNvPr id="9" name="Text Placeholder 8">
            <a:extLst>
              <a:ext uri="{FF2B5EF4-FFF2-40B4-BE49-F238E27FC236}">
                <a16:creationId xmlns:a16="http://schemas.microsoft.com/office/drawing/2014/main" id="{84FD8CD7-012B-416E-A14C-109F47002A88}"/>
              </a:ext>
            </a:extLst>
          </p:cNvPr>
          <p:cNvSpPr>
            <a:spLocks noGrp="1"/>
          </p:cNvSpPr>
          <p:nvPr>
            <p:ph type="body" idx="3"/>
          </p:nvPr>
        </p:nvSpPr>
        <p:spPr/>
        <p:txBody>
          <a:bodyPr>
            <a:normAutofit/>
          </a:bodyPr>
          <a:lstStyle/>
          <a:p>
            <a:pPr marL="0" indent="0">
              <a:buNone/>
            </a:pPr>
            <a:r>
              <a:rPr lang="en-US" dirty="0"/>
              <a:t>This module prepares you to do the following:</a:t>
            </a:r>
          </a:p>
          <a:p>
            <a:pPr lvl="1"/>
            <a:r>
              <a:rPr lang="en-US" dirty="0"/>
              <a:t>Identify how to prepare for the AWS Certified Solutions Architect – Associate exam.</a:t>
            </a:r>
          </a:p>
          <a:p>
            <a:pPr lvl="1"/>
            <a:r>
              <a:rPr lang="en-US" dirty="0"/>
              <a:t>Find resources to prepare for the exam.</a:t>
            </a:r>
          </a:p>
        </p:txBody>
      </p:sp>
    </p:spTree>
    <p:custDataLst>
      <p:tags r:id="rId1"/>
    </p:custDataLst>
    <p:extLst>
      <p:ext uri="{BB962C8B-B14F-4D97-AF65-F5344CB8AC3E}">
        <p14:creationId xmlns:p14="http://schemas.microsoft.com/office/powerpoint/2010/main" val="3772832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A2C7B7C-C229-4646-B006-2BC6AB472627}"/>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A45F79CE-079F-4BFD-925E-607AD716FC59}"/>
              </a:ext>
            </a:extLst>
          </p:cNvPr>
          <p:cNvSpPr>
            <a:spLocks noGrp="1"/>
          </p:cNvSpPr>
          <p:nvPr>
            <p:ph type="title" idx="1"/>
          </p:nvPr>
        </p:nvSpPr>
        <p:spPr/>
        <p:txBody>
          <a:bodyPr/>
          <a:lstStyle/>
          <a:p>
            <a:r>
              <a:rPr lang="en-US"/>
              <a:t>Module overview</a:t>
            </a:r>
          </a:p>
        </p:txBody>
      </p:sp>
      <p:sp>
        <p:nvSpPr>
          <p:cNvPr id="4" name="Content Placeholder 3">
            <a:extLst>
              <a:ext uri="{FF2B5EF4-FFF2-40B4-BE49-F238E27FC236}">
                <a16:creationId xmlns:a16="http://schemas.microsoft.com/office/drawing/2014/main" id="{48435877-AC79-4C4D-89E7-4809753FFE97}"/>
              </a:ext>
            </a:extLst>
          </p:cNvPr>
          <p:cNvSpPr>
            <a:spLocks noGrp="1"/>
          </p:cNvSpPr>
          <p:nvPr>
            <p:ph idx="2"/>
          </p:nvPr>
        </p:nvSpPr>
        <p:spPr/>
        <p:txBody>
          <a:bodyPr/>
          <a:lstStyle/>
          <a:p>
            <a:pPr marL="0" indent="0">
              <a:buNone/>
            </a:pPr>
            <a:r>
              <a:rPr lang="en-US" b="1" dirty="0"/>
              <a:t>Presentation sections </a:t>
            </a:r>
          </a:p>
          <a:p>
            <a:pPr lvl="1"/>
            <a:r>
              <a:rPr lang="en-US" dirty="0"/>
              <a:t>Solutions Architect – Associate certification domains</a:t>
            </a:r>
          </a:p>
          <a:p>
            <a:pPr lvl="1"/>
            <a:r>
              <a:rPr lang="en-US" dirty="0"/>
              <a:t>Solutions Architect – Associate certification exam resources</a:t>
            </a:r>
          </a:p>
          <a:p>
            <a:pPr lvl="1"/>
            <a:r>
              <a:rPr lang="en-US" dirty="0"/>
              <a:t>Additional resources</a:t>
            </a:r>
          </a:p>
          <a:p>
            <a:pPr lvl="1"/>
            <a:endParaRPr lang="en-US" dirty="0"/>
          </a:p>
        </p:txBody>
      </p:sp>
    </p:spTree>
    <p:custDataLst>
      <p:tags r:id="rId1"/>
    </p:custDataLst>
    <p:extLst>
      <p:ext uri="{BB962C8B-B14F-4D97-AF65-F5344CB8AC3E}">
        <p14:creationId xmlns:p14="http://schemas.microsoft.com/office/powerpoint/2010/main" val="3664396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BB693DF-CB91-4592-81A3-766F27046B50}"/>
              </a:ext>
            </a:extLst>
          </p:cNvPr>
          <p:cNvSpPr>
            <a:spLocks noGrp="1"/>
          </p:cNvSpPr>
          <p:nvPr>
            <p:ph type="sldNum" idx="97"/>
          </p:nvPr>
        </p:nvSpPr>
        <p:spPr/>
        <p:txBody>
          <a:bodyPr/>
          <a:lstStyle/>
          <a:p>
            <a:fld id="{4037B1B0-0345-4E15-985A-6BECCDBE474F}" type="slidenum">
              <a:rPr lang="en-US" smtClean="0"/>
              <a:pPr/>
              <a:t>5</a:t>
            </a:fld>
            <a:endParaRPr lang="en-US"/>
          </a:p>
        </p:txBody>
      </p:sp>
      <p:sp>
        <p:nvSpPr>
          <p:cNvPr id="10" name="Title">
            <a:extLst>
              <a:ext uri="{FF2B5EF4-FFF2-40B4-BE49-F238E27FC236}">
                <a16:creationId xmlns:a16="http://schemas.microsoft.com/office/drawing/2014/main" id="{4339642E-B994-419C-A100-1FF4003CA81C}"/>
              </a:ext>
            </a:extLst>
          </p:cNvPr>
          <p:cNvSpPr>
            <a:spLocks noGrp="1"/>
          </p:cNvSpPr>
          <p:nvPr>
            <p:ph type="title" idx="1"/>
          </p:nvPr>
        </p:nvSpPr>
        <p:spPr/>
        <p:txBody>
          <a:bodyPr/>
          <a:lstStyle/>
          <a:p>
            <a:r>
              <a:rPr lang="en-US"/>
              <a:t>About AWS Certification exams</a:t>
            </a:r>
          </a:p>
        </p:txBody>
      </p:sp>
      <p:sp>
        <p:nvSpPr>
          <p:cNvPr id="13" name="Text Placeholder 12">
            <a:extLst>
              <a:ext uri="{FF2B5EF4-FFF2-40B4-BE49-F238E27FC236}">
                <a16:creationId xmlns:a16="http://schemas.microsoft.com/office/drawing/2014/main" id="{E929F57F-4586-45AA-990B-B8A7E908CCF9}"/>
              </a:ext>
            </a:extLst>
          </p:cNvPr>
          <p:cNvSpPr>
            <a:spLocks noGrp="1"/>
          </p:cNvSpPr>
          <p:nvPr>
            <p:ph type="body" idx="12"/>
          </p:nvPr>
        </p:nvSpPr>
        <p:spPr/>
        <p:txBody>
          <a:bodyPr/>
          <a:lstStyle/>
          <a:p>
            <a:r>
              <a:rPr lang="en-US" dirty="0"/>
              <a:t>Exam content</a:t>
            </a:r>
          </a:p>
        </p:txBody>
      </p:sp>
      <p:sp>
        <p:nvSpPr>
          <p:cNvPr id="11" name="Content Placeholder 10">
            <a:extLst>
              <a:ext uri="{FF2B5EF4-FFF2-40B4-BE49-F238E27FC236}">
                <a16:creationId xmlns:a16="http://schemas.microsoft.com/office/drawing/2014/main" id="{6CF24951-B1FE-4FBE-94D4-2A794446629F}"/>
              </a:ext>
            </a:extLst>
          </p:cNvPr>
          <p:cNvSpPr>
            <a:spLocks noGrp="1"/>
          </p:cNvSpPr>
          <p:nvPr>
            <p:ph idx="2"/>
          </p:nvPr>
        </p:nvSpPr>
        <p:spPr/>
        <p:txBody>
          <a:bodyPr/>
          <a:lstStyle/>
          <a:p>
            <a:r>
              <a:rPr lang="en-US"/>
              <a:t>Content is divided into domains and task statements. </a:t>
            </a:r>
          </a:p>
          <a:p>
            <a:r>
              <a:rPr lang="en-US"/>
              <a:t>Each domain is weighted.</a:t>
            </a:r>
          </a:p>
          <a:p>
            <a:r>
              <a:rPr lang="en-US"/>
              <a:t>Questions include multiple choice and multiple response types.</a:t>
            </a:r>
          </a:p>
          <a:p>
            <a:endParaRPr lang="en-US"/>
          </a:p>
        </p:txBody>
      </p:sp>
      <p:sp>
        <p:nvSpPr>
          <p:cNvPr id="14" name="Text Placeholder 13">
            <a:extLst>
              <a:ext uri="{FF2B5EF4-FFF2-40B4-BE49-F238E27FC236}">
                <a16:creationId xmlns:a16="http://schemas.microsoft.com/office/drawing/2014/main" id="{65CF0C1D-D01C-4CE2-AC2A-89040B718A97}"/>
              </a:ext>
            </a:extLst>
          </p:cNvPr>
          <p:cNvSpPr>
            <a:spLocks noGrp="1"/>
          </p:cNvSpPr>
          <p:nvPr>
            <p:ph type="body" idx="13"/>
          </p:nvPr>
        </p:nvSpPr>
        <p:spPr/>
        <p:txBody>
          <a:bodyPr/>
          <a:lstStyle/>
          <a:p>
            <a:r>
              <a:rPr lang="en-US"/>
              <a:t>Exam scoring</a:t>
            </a:r>
          </a:p>
        </p:txBody>
      </p:sp>
      <p:sp>
        <p:nvSpPr>
          <p:cNvPr id="12" name="Content Placeholder 11">
            <a:extLst>
              <a:ext uri="{FF2B5EF4-FFF2-40B4-BE49-F238E27FC236}">
                <a16:creationId xmlns:a16="http://schemas.microsoft.com/office/drawing/2014/main" id="{08EFDE2A-BF4D-48F3-BD77-70E9CE254275}"/>
              </a:ext>
            </a:extLst>
          </p:cNvPr>
          <p:cNvSpPr>
            <a:spLocks noGrp="1"/>
          </p:cNvSpPr>
          <p:nvPr>
            <p:ph idx="3"/>
          </p:nvPr>
        </p:nvSpPr>
        <p:spPr/>
        <p:txBody>
          <a:bodyPr/>
          <a:lstStyle/>
          <a:p>
            <a:r>
              <a:rPr lang="en-US"/>
              <a:t>Exams have a pass or fail designation.</a:t>
            </a:r>
          </a:p>
          <a:p>
            <a:r>
              <a:rPr lang="en-US"/>
              <a:t>Unanswered questions are scored as incorrect.</a:t>
            </a:r>
          </a:p>
          <a:p>
            <a:r>
              <a:rPr lang="en-US"/>
              <a:t>Each exam includes some unscored questions that do not affect your score.</a:t>
            </a:r>
          </a:p>
          <a:p>
            <a:endParaRPr lang="en-US"/>
          </a:p>
        </p:txBody>
      </p:sp>
    </p:spTree>
    <p:custDataLst>
      <p:tags r:id="rId1"/>
    </p:custDataLst>
    <p:extLst>
      <p:ext uri="{BB962C8B-B14F-4D97-AF65-F5344CB8AC3E}">
        <p14:creationId xmlns:p14="http://schemas.microsoft.com/office/powerpoint/2010/main" val="3708876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BDF1B52-9CF2-4A69-A4B6-DEF9397F520F}"/>
              </a:ext>
            </a:extLst>
          </p:cNvPr>
          <p:cNvSpPr>
            <a:spLocks noGrp="1"/>
          </p:cNvSpPr>
          <p:nvPr>
            <p:ph type="sldNum" idx="97"/>
          </p:nvPr>
        </p:nvSpPr>
        <p:spPr/>
        <p:txBody>
          <a:bodyPr/>
          <a:lstStyle/>
          <a:p>
            <a:fld id="{4037B1B0-0345-4E15-985A-6BECCDBE474F}" type="slidenum">
              <a:rPr lang="en-US" smtClean="0"/>
              <a:pPr/>
              <a:t>6</a:t>
            </a:fld>
            <a:endParaRPr lang="en-US"/>
          </a:p>
        </p:txBody>
      </p:sp>
      <p:sp>
        <p:nvSpPr>
          <p:cNvPr id="3" name="Title">
            <a:extLst>
              <a:ext uri="{FF2B5EF4-FFF2-40B4-BE49-F238E27FC236}">
                <a16:creationId xmlns:a16="http://schemas.microsoft.com/office/drawing/2014/main" id="{DF3A2F0E-22B9-43A0-89F0-8C2C73D83E26}"/>
              </a:ext>
            </a:extLst>
          </p:cNvPr>
          <p:cNvSpPr>
            <a:spLocks noGrp="1"/>
          </p:cNvSpPr>
          <p:nvPr>
            <p:ph type="title" idx="1"/>
          </p:nvPr>
        </p:nvSpPr>
        <p:spPr/>
        <p:txBody>
          <a:bodyPr>
            <a:normAutofit fontScale="90000"/>
          </a:bodyPr>
          <a:lstStyle/>
          <a:p>
            <a:r>
              <a:rPr lang="en-US"/>
              <a:t>About the Solutions Architect – Associate Certification</a:t>
            </a:r>
          </a:p>
        </p:txBody>
      </p:sp>
      <p:sp>
        <p:nvSpPr>
          <p:cNvPr id="4" name="Text Placeholder 3">
            <a:extLst>
              <a:ext uri="{FF2B5EF4-FFF2-40B4-BE49-F238E27FC236}">
                <a16:creationId xmlns:a16="http://schemas.microsoft.com/office/drawing/2014/main" id="{6F028B79-5349-4A39-9C82-08BC3EDD8DE4}"/>
              </a:ext>
            </a:extLst>
          </p:cNvPr>
          <p:cNvSpPr>
            <a:spLocks noGrp="1"/>
          </p:cNvSpPr>
          <p:nvPr>
            <p:ph type="body" idx="12"/>
          </p:nvPr>
        </p:nvSpPr>
        <p:spPr>
          <a:xfrm>
            <a:off x="365760" y="1053311"/>
            <a:ext cx="4402183" cy="440329"/>
          </a:xfrm>
        </p:spPr>
        <p:txBody>
          <a:bodyPr/>
          <a:lstStyle/>
          <a:p>
            <a:r>
              <a:rPr lang="en-US" sz="2000" dirty="0"/>
              <a:t>Recommended candidate for exam</a:t>
            </a:r>
          </a:p>
        </p:txBody>
      </p:sp>
      <p:sp>
        <p:nvSpPr>
          <p:cNvPr id="5" name="Content Placeholder 4">
            <a:extLst>
              <a:ext uri="{FF2B5EF4-FFF2-40B4-BE49-F238E27FC236}">
                <a16:creationId xmlns:a16="http://schemas.microsoft.com/office/drawing/2014/main" id="{07BB77A9-58B1-4D40-82C2-E25837374216}"/>
              </a:ext>
            </a:extLst>
          </p:cNvPr>
          <p:cNvSpPr>
            <a:spLocks noGrp="1"/>
          </p:cNvSpPr>
          <p:nvPr>
            <p:ph idx="2"/>
          </p:nvPr>
        </p:nvSpPr>
        <p:spPr>
          <a:xfrm>
            <a:off x="365760" y="1563624"/>
            <a:ext cx="4402183" cy="4873752"/>
          </a:xfrm>
        </p:spPr>
        <p:txBody>
          <a:bodyPr/>
          <a:lstStyle/>
          <a:p>
            <a:r>
              <a:rPr lang="en-US" sz="2400" dirty="0"/>
              <a:t>Performs a solutions architect role</a:t>
            </a:r>
          </a:p>
          <a:p>
            <a:r>
              <a:rPr lang="en-US" sz="2400" dirty="0"/>
              <a:t>Has at least 1 year of hands-on experience designing cloud solutions that use AWS services.</a:t>
            </a:r>
          </a:p>
        </p:txBody>
      </p:sp>
      <p:sp>
        <p:nvSpPr>
          <p:cNvPr id="6" name="Text Placeholder 5">
            <a:extLst>
              <a:ext uri="{FF2B5EF4-FFF2-40B4-BE49-F238E27FC236}">
                <a16:creationId xmlns:a16="http://schemas.microsoft.com/office/drawing/2014/main" id="{5C260569-8D9B-4C07-A0E6-6EA32D47E147}"/>
              </a:ext>
            </a:extLst>
          </p:cNvPr>
          <p:cNvSpPr>
            <a:spLocks noGrp="1"/>
          </p:cNvSpPr>
          <p:nvPr>
            <p:ph type="body" idx="13"/>
          </p:nvPr>
        </p:nvSpPr>
        <p:spPr>
          <a:xfrm>
            <a:off x="5192486" y="1053311"/>
            <a:ext cx="6639850" cy="440329"/>
          </a:xfrm>
        </p:spPr>
        <p:txBody>
          <a:bodyPr/>
          <a:lstStyle/>
          <a:p>
            <a:r>
              <a:rPr lang="en-US" sz="2000" dirty="0"/>
              <a:t>Knowledge and skills validated by the exam</a:t>
            </a:r>
          </a:p>
        </p:txBody>
      </p:sp>
      <p:sp>
        <p:nvSpPr>
          <p:cNvPr id="7" name="Content Placeholder 6">
            <a:extLst>
              <a:ext uri="{FF2B5EF4-FFF2-40B4-BE49-F238E27FC236}">
                <a16:creationId xmlns:a16="http://schemas.microsoft.com/office/drawing/2014/main" id="{86B5C56B-3658-4788-BCAE-C613E8D4361B}"/>
              </a:ext>
            </a:extLst>
          </p:cNvPr>
          <p:cNvSpPr>
            <a:spLocks noGrp="1"/>
          </p:cNvSpPr>
          <p:nvPr>
            <p:ph idx="3"/>
          </p:nvPr>
        </p:nvSpPr>
        <p:spPr>
          <a:xfrm>
            <a:off x="5186391" y="1563624"/>
            <a:ext cx="6639850" cy="4873752"/>
          </a:xfrm>
        </p:spPr>
        <p:txBody>
          <a:bodyPr/>
          <a:lstStyle/>
          <a:p>
            <a:r>
              <a:rPr lang="en-US" sz="2400"/>
              <a:t>Ability to design solutions based on the AWS Well-Architected Framework</a:t>
            </a:r>
          </a:p>
          <a:p>
            <a:r>
              <a:rPr lang="en-US" sz="2400"/>
              <a:t>Ability to complete the following tasks: </a:t>
            </a:r>
          </a:p>
          <a:p>
            <a:pPr marL="400050" lvl="1" indent="-171450">
              <a:buFont typeface="Arial" panose="020B0604020202020204" pitchFamily="34" charset="0"/>
              <a:buChar char="•"/>
            </a:pPr>
            <a:r>
              <a:rPr lang="en-US" sz="2000"/>
              <a:t>Design solutions that incorporate AWS services to meet current business requirements and future projected needs.</a:t>
            </a:r>
          </a:p>
          <a:p>
            <a:pPr marL="400050" lvl="1" indent="-171450">
              <a:buFont typeface="Arial" panose="020B0604020202020204" pitchFamily="34" charset="0"/>
              <a:buChar char="•"/>
            </a:pPr>
            <a:r>
              <a:rPr lang="en-US" sz="2000"/>
              <a:t>Design architectures that are secure, resilient, high-performing, and cost-optimized.</a:t>
            </a:r>
          </a:p>
          <a:p>
            <a:pPr marL="400050" lvl="1" indent="-171450">
              <a:buFont typeface="Arial" panose="020B0604020202020204" pitchFamily="34" charset="0"/>
              <a:buChar char="•"/>
            </a:pPr>
            <a:r>
              <a:rPr lang="en-US" sz="2000"/>
              <a:t>Review existing solutions and determine improvements.</a:t>
            </a:r>
          </a:p>
        </p:txBody>
      </p:sp>
    </p:spTree>
    <p:custDataLst>
      <p:tags r:id="rId1"/>
    </p:custDataLst>
    <p:extLst>
      <p:ext uri="{BB962C8B-B14F-4D97-AF65-F5344CB8AC3E}">
        <p14:creationId xmlns:p14="http://schemas.microsoft.com/office/powerpoint/2010/main" val="1542073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a:t>Solutions Architect – Associate Certification domains and task statements</a:t>
            </a:r>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a:t>Bridging to Certification</a:t>
            </a:r>
          </a:p>
        </p:txBody>
      </p:sp>
    </p:spTree>
    <p:custDataLst>
      <p:tags r:id="rId1"/>
    </p:custDataLst>
    <p:extLst>
      <p:ext uri="{BB962C8B-B14F-4D97-AF65-F5344CB8AC3E}">
        <p14:creationId xmlns:p14="http://schemas.microsoft.com/office/powerpoint/2010/main" val="4221413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75CCF8D-0E6D-421B-8A11-6476B357FE01}"/>
              </a:ext>
            </a:extLst>
          </p:cNvPr>
          <p:cNvSpPr>
            <a:spLocks noGrp="1"/>
          </p:cNvSpPr>
          <p:nvPr>
            <p:ph type="sldNum" idx="97"/>
          </p:nvPr>
        </p:nvSpPr>
        <p:spPr/>
        <p:txBody>
          <a:bodyPr/>
          <a:lstStyle/>
          <a:p>
            <a:fld id="{4037B1B0-0345-4E15-985A-6BECCDBE474F}" type="slidenum">
              <a:rPr lang="en-US" smtClean="0"/>
              <a:pPr/>
              <a:t>8</a:t>
            </a:fld>
            <a:endParaRPr lang="en-US"/>
          </a:p>
        </p:txBody>
      </p:sp>
      <p:sp>
        <p:nvSpPr>
          <p:cNvPr id="3" name="Title">
            <a:extLst>
              <a:ext uri="{FF2B5EF4-FFF2-40B4-BE49-F238E27FC236}">
                <a16:creationId xmlns:a16="http://schemas.microsoft.com/office/drawing/2014/main" id="{B693E0EF-9970-426F-847D-64634D92A206}"/>
              </a:ext>
            </a:extLst>
          </p:cNvPr>
          <p:cNvSpPr>
            <a:spLocks noGrp="1"/>
          </p:cNvSpPr>
          <p:nvPr>
            <p:ph type="title" idx="1"/>
          </p:nvPr>
        </p:nvSpPr>
        <p:spPr/>
        <p:txBody>
          <a:bodyPr>
            <a:normAutofit/>
          </a:bodyPr>
          <a:lstStyle/>
          <a:p>
            <a:r>
              <a:rPr lang="en-US"/>
              <a:t>Solutions Architect – Associate content domains</a:t>
            </a:r>
          </a:p>
        </p:txBody>
      </p:sp>
      <p:pic>
        <p:nvPicPr>
          <p:cNvPr id="19" name="Picture Placeholder 18">
            <a:extLst>
              <a:ext uri="{FF2B5EF4-FFF2-40B4-BE49-F238E27FC236}">
                <a16:creationId xmlns:a16="http://schemas.microsoft.com/office/drawing/2014/main" id="{D351052A-9A78-4EA9-9B25-003E5C6F90F0}"/>
              </a:ext>
              <a:ext uri="{C183D7F6-B498-43B3-948B-1728B52AA6E4}">
                <adec:decorative xmlns:adec="http://schemas.microsoft.com/office/drawing/2017/decorative" val="1"/>
              </a:ext>
            </a:extLst>
          </p:cNvPr>
          <p:cNvPicPr>
            <a:picLocks noGrp="1" noChangeAspect="1"/>
          </p:cNvPicPr>
          <p:nvPr>
            <p:ph type="pic" idx="2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p:pic>
      <p:grpSp>
        <p:nvGrpSpPr>
          <p:cNvPr id="26" name="Group 25">
            <a:extLst>
              <a:ext uri="{FF2B5EF4-FFF2-40B4-BE49-F238E27FC236}">
                <a16:creationId xmlns:a16="http://schemas.microsoft.com/office/drawing/2014/main" id="{E7E8A866-46DA-462A-B18D-D804611987CB}"/>
              </a:ext>
            </a:extLst>
          </p:cNvPr>
          <p:cNvGrpSpPr/>
          <p:nvPr/>
        </p:nvGrpSpPr>
        <p:grpSpPr>
          <a:xfrm>
            <a:off x="1802484" y="1879171"/>
            <a:ext cx="683861" cy="595423"/>
            <a:chOff x="1802484" y="1879171"/>
            <a:chExt cx="683861" cy="595423"/>
          </a:xfrm>
        </p:grpSpPr>
        <p:sp>
          <p:nvSpPr>
            <p:cNvPr id="24" name="Oval 23">
              <a:extLst>
                <a:ext uri="{FF2B5EF4-FFF2-40B4-BE49-F238E27FC236}">
                  <a16:creationId xmlns:a16="http://schemas.microsoft.com/office/drawing/2014/main" id="{505B2DA3-A4CE-4AFB-8EEE-559391D66533}"/>
                </a:ext>
              </a:extLst>
            </p:cNvPr>
            <p:cNvSpPr/>
            <p:nvPr/>
          </p:nvSpPr>
          <p:spPr>
            <a:xfrm>
              <a:off x="1802484" y="1888740"/>
              <a:ext cx="622572" cy="5858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Placeholder 20">
              <a:extLst>
                <a:ext uri="{FF2B5EF4-FFF2-40B4-BE49-F238E27FC236}">
                  <a16:creationId xmlns:a16="http://schemas.microsoft.com/office/drawing/2014/main" id="{270B85F5-4A95-47A1-99F0-2B527A1F495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63620" t="52185" r="10217" b="22935"/>
            <a:stretch/>
          </p:blipFill>
          <p:spPr>
            <a:xfrm>
              <a:off x="1860230" y="1879171"/>
              <a:ext cx="626115" cy="595423"/>
            </a:xfrm>
            <a:prstGeom prst="ellipse">
              <a:avLst/>
            </a:prstGeom>
          </p:spPr>
        </p:pic>
      </p:grpSp>
      <p:sp>
        <p:nvSpPr>
          <p:cNvPr id="5" name="Text Placeholder 4">
            <a:extLst>
              <a:ext uri="{FF2B5EF4-FFF2-40B4-BE49-F238E27FC236}">
                <a16:creationId xmlns:a16="http://schemas.microsoft.com/office/drawing/2014/main" id="{6C895D10-FFB0-462B-8E04-23260D99EE34}"/>
              </a:ext>
            </a:extLst>
          </p:cNvPr>
          <p:cNvSpPr>
            <a:spLocks noGrp="1"/>
          </p:cNvSpPr>
          <p:nvPr>
            <p:ph type="body" idx="12"/>
          </p:nvPr>
        </p:nvSpPr>
        <p:spPr/>
        <p:txBody>
          <a:bodyPr/>
          <a:lstStyle/>
          <a:p>
            <a:r>
              <a:rPr lang="en-US" sz="2400"/>
              <a:t>Domain 1 (30%)</a:t>
            </a:r>
          </a:p>
        </p:txBody>
      </p:sp>
      <p:sp>
        <p:nvSpPr>
          <p:cNvPr id="6" name="Text Placeholder 5">
            <a:extLst>
              <a:ext uri="{FF2B5EF4-FFF2-40B4-BE49-F238E27FC236}">
                <a16:creationId xmlns:a16="http://schemas.microsoft.com/office/drawing/2014/main" id="{26CF5DBA-A382-460E-B3B2-AF3C7E50BA13}"/>
              </a:ext>
            </a:extLst>
          </p:cNvPr>
          <p:cNvSpPr>
            <a:spLocks noGrp="1"/>
          </p:cNvSpPr>
          <p:nvPr>
            <p:ph type="body" idx="2"/>
          </p:nvPr>
        </p:nvSpPr>
        <p:spPr/>
        <p:txBody>
          <a:bodyPr/>
          <a:lstStyle/>
          <a:p>
            <a:r>
              <a:rPr lang="en-US" sz="2800"/>
              <a:t>Design Secure Architectures</a:t>
            </a:r>
          </a:p>
        </p:txBody>
      </p:sp>
      <p:pic>
        <p:nvPicPr>
          <p:cNvPr id="17" name="Picture Placeholder 16">
            <a:extLst>
              <a:ext uri="{FF2B5EF4-FFF2-40B4-BE49-F238E27FC236}">
                <a16:creationId xmlns:a16="http://schemas.microsoft.com/office/drawing/2014/main" id="{C5637FC7-C124-436B-8A2D-B0A15070ADE4}"/>
              </a:ext>
              <a:ext uri="{C183D7F6-B498-43B3-948B-1728B52AA6E4}">
                <adec:decorative xmlns:adec="http://schemas.microsoft.com/office/drawing/2017/decorative" val="1"/>
              </a:ext>
            </a:extLst>
          </p:cNvPr>
          <p:cNvPicPr>
            <a:picLocks noGrp="1" noChangeAspect="1"/>
          </p:cNvPicPr>
          <p:nvPr>
            <p:ph type="pic" idx="23"/>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p:pic>
      <p:sp>
        <p:nvSpPr>
          <p:cNvPr id="8" name="Text Placeholder 7">
            <a:extLst>
              <a:ext uri="{FF2B5EF4-FFF2-40B4-BE49-F238E27FC236}">
                <a16:creationId xmlns:a16="http://schemas.microsoft.com/office/drawing/2014/main" id="{A5DA50E7-D975-4502-A9AD-B7B612FC2B08}"/>
              </a:ext>
            </a:extLst>
          </p:cNvPr>
          <p:cNvSpPr>
            <a:spLocks noGrp="1"/>
          </p:cNvSpPr>
          <p:nvPr>
            <p:ph type="body" idx="13"/>
          </p:nvPr>
        </p:nvSpPr>
        <p:spPr/>
        <p:txBody>
          <a:bodyPr/>
          <a:lstStyle/>
          <a:p>
            <a:r>
              <a:rPr lang="en-US" sz="2400"/>
              <a:t>Domain 2  (26%)</a:t>
            </a:r>
          </a:p>
        </p:txBody>
      </p:sp>
      <p:sp>
        <p:nvSpPr>
          <p:cNvPr id="9" name="Text Placeholder 8">
            <a:extLst>
              <a:ext uri="{FF2B5EF4-FFF2-40B4-BE49-F238E27FC236}">
                <a16:creationId xmlns:a16="http://schemas.microsoft.com/office/drawing/2014/main" id="{E867CBED-5F6F-4D5F-BBDE-9DA965CE3924}"/>
              </a:ext>
            </a:extLst>
          </p:cNvPr>
          <p:cNvSpPr>
            <a:spLocks noGrp="1"/>
          </p:cNvSpPr>
          <p:nvPr>
            <p:ph type="body" idx="3"/>
          </p:nvPr>
        </p:nvSpPr>
        <p:spPr/>
        <p:txBody>
          <a:bodyPr/>
          <a:lstStyle/>
          <a:p>
            <a:r>
              <a:rPr lang="en-US" sz="2800"/>
              <a:t>Design Resilient Architectures</a:t>
            </a:r>
          </a:p>
        </p:txBody>
      </p:sp>
      <p:pic>
        <p:nvPicPr>
          <p:cNvPr id="30" name="Picture Placeholder 29">
            <a:extLst>
              <a:ext uri="{FF2B5EF4-FFF2-40B4-BE49-F238E27FC236}">
                <a16:creationId xmlns:a16="http://schemas.microsoft.com/office/drawing/2014/main" id="{F595A556-0385-46FC-9867-D408559FDEAB}"/>
              </a:ext>
              <a:ext uri="{C183D7F6-B498-43B3-948B-1728B52AA6E4}">
                <adec:decorative xmlns:adec="http://schemas.microsoft.com/office/drawing/2017/decorative" val="1"/>
              </a:ext>
            </a:extLst>
          </p:cNvPr>
          <p:cNvPicPr>
            <a:picLocks noGrp="1" noChangeAspect="1"/>
          </p:cNvPicPr>
          <p:nvPr>
            <p:ph type="pic" idx="24"/>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p:pic>
      <p:sp>
        <p:nvSpPr>
          <p:cNvPr id="11" name="Text Placeholder 10">
            <a:extLst>
              <a:ext uri="{FF2B5EF4-FFF2-40B4-BE49-F238E27FC236}">
                <a16:creationId xmlns:a16="http://schemas.microsoft.com/office/drawing/2014/main" id="{FD0CC817-9E0F-4800-B0A2-2C14529A42CB}"/>
              </a:ext>
            </a:extLst>
          </p:cNvPr>
          <p:cNvSpPr>
            <a:spLocks noGrp="1"/>
          </p:cNvSpPr>
          <p:nvPr>
            <p:ph type="body" idx="14"/>
          </p:nvPr>
        </p:nvSpPr>
        <p:spPr/>
        <p:txBody>
          <a:bodyPr/>
          <a:lstStyle/>
          <a:p>
            <a:r>
              <a:rPr lang="en-US" sz="2400"/>
              <a:t>Domain 3 (24%)</a:t>
            </a:r>
          </a:p>
        </p:txBody>
      </p:sp>
      <p:sp>
        <p:nvSpPr>
          <p:cNvPr id="12" name="Text Placeholder 11">
            <a:extLst>
              <a:ext uri="{FF2B5EF4-FFF2-40B4-BE49-F238E27FC236}">
                <a16:creationId xmlns:a16="http://schemas.microsoft.com/office/drawing/2014/main" id="{F8B6BA82-67B2-40BF-BE1D-6717BE2196FE}"/>
              </a:ext>
            </a:extLst>
          </p:cNvPr>
          <p:cNvSpPr>
            <a:spLocks noGrp="1"/>
          </p:cNvSpPr>
          <p:nvPr>
            <p:ph type="body" idx="4"/>
          </p:nvPr>
        </p:nvSpPr>
        <p:spPr/>
        <p:txBody>
          <a:bodyPr/>
          <a:lstStyle/>
          <a:p>
            <a:r>
              <a:rPr lang="en-US" sz="2800"/>
              <a:t>Design High-Performing Architectures</a:t>
            </a:r>
          </a:p>
        </p:txBody>
      </p:sp>
      <p:pic>
        <p:nvPicPr>
          <p:cNvPr id="28" name="Picture Placeholder 27">
            <a:extLst>
              <a:ext uri="{FF2B5EF4-FFF2-40B4-BE49-F238E27FC236}">
                <a16:creationId xmlns:a16="http://schemas.microsoft.com/office/drawing/2014/main" id="{9F7D5854-4348-4C8A-9D46-24F4AE00CEFA}"/>
              </a:ext>
              <a:ext uri="{C183D7F6-B498-43B3-948B-1728B52AA6E4}">
                <adec:decorative xmlns:adec="http://schemas.microsoft.com/office/drawing/2017/decorative" val="1"/>
              </a:ext>
            </a:extLst>
          </p:cNvPr>
          <p:cNvPicPr>
            <a:picLocks noGrp="1" noChangeAspect="1"/>
          </p:cNvPicPr>
          <p:nvPr>
            <p:ph type="pic" idx="25"/>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p:pic>
      <p:sp>
        <p:nvSpPr>
          <p:cNvPr id="14" name="Text Placeholder 13">
            <a:extLst>
              <a:ext uri="{FF2B5EF4-FFF2-40B4-BE49-F238E27FC236}">
                <a16:creationId xmlns:a16="http://schemas.microsoft.com/office/drawing/2014/main" id="{34B97B2D-8380-42FE-8BCA-BD42E581B7A5}"/>
              </a:ext>
            </a:extLst>
          </p:cNvPr>
          <p:cNvSpPr>
            <a:spLocks noGrp="1"/>
          </p:cNvSpPr>
          <p:nvPr>
            <p:ph type="body" idx="15"/>
          </p:nvPr>
        </p:nvSpPr>
        <p:spPr/>
        <p:txBody>
          <a:bodyPr/>
          <a:lstStyle/>
          <a:p>
            <a:r>
              <a:rPr lang="en-US" sz="2400"/>
              <a:t>Domain 4  (20%)</a:t>
            </a:r>
          </a:p>
        </p:txBody>
      </p:sp>
      <p:sp>
        <p:nvSpPr>
          <p:cNvPr id="15" name="Text Placeholder 14">
            <a:extLst>
              <a:ext uri="{FF2B5EF4-FFF2-40B4-BE49-F238E27FC236}">
                <a16:creationId xmlns:a16="http://schemas.microsoft.com/office/drawing/2014/main" id="{2F6F6C4E-0D32-4F4E-9958-CEE7253D56E6}"/>
              </a:ext>
            </a:extLst>
          </p:cNvPr>
          <p:cNvSpPr>
            <a:spLocks noGrp="1"/>
          </p:cNvSpPr>
          <p:nvPr>
            <p:ph type="body" idx="5"/>
          </p:nvPr>
        </p:nvSpPr>
        <p:spPr/>
        <p:txBody>
          <a:bodyPr/>
          <a:lstStyle/>
          <a:p>
            <a:r>
              <a:rPr lang="en-US" sz="2800"/>
              <a:t>Design Cost-Optimized Architectures</a:t>
            </a:r>
          </a:p>
        </p:txBody>
      </p:sp>
    </p:spTree>
    <p:custDataLst>
      <p:tags r:id="rId1"/>
    </p:custDataLst>
    <p:extLst>
      <p:ext uri="{BB962C8B-B14F-4D97-AF65-F5344CB8AC3E}">
        <p14:creationId xmlns:p14="http://schemas.microsoft.com/office/powerpoint/2010/main" val="649750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8038E5D-466A-4C60-8943-5726962A4D0C}"/>
              </a:ext>
            </a:extLst>
          </p:cNvPr>
          <p:cNvSpPr>
            <a:spLocks noGrp="1"/>
          </p:cNvSpPr>
          <p:nvPr>
            <p:ph type="sldNum" idx="97"/>
          </p:nvPr>
        </p:nvSpPr>
        <p:spPr/>
        <p:txBody>
          <a:bodyPr/>
          <a:lstStyle/>
          <a:p>
            <a:fld id="{4037B1B0-0345-4E15-985A-6BECCDBE474F}" type="slidenum">
              <a:rPr lang="en-US" smtClean="0"/>
              <a:pPr/>
              <a:t>9</a:t>
            </a:fld>
            <a:endParaRPr lang="en-US"/>
          </a:p>
        </p:txBody>
      </p:sp>
      <p:sp>
        <p:nvSpPr>
          <p:cNvPr id="3" name="Title">
            <a:extLst>
              <a:ext uri="{FF2B5EF4-FFF2-40B4-BE49-F238E27FC236}">
                <a16:creationId xmlns:a16="http://schemas.microsoft.com/office/drawing/2014/main" id="{D3D38F95-2EEE-4C38-B2F1-1C2540228F05}"/>
              </a:ext>
            </a:extLst>
          </p:cNvPr>
          <p:cNvSpPr>
            <a:spLocks noGrp="1"/>
          </p:cNvSpPr>
          <p:nvPr>
            <p:ph type="title" idx="1"/>
          </p:nvPr>
        </p:nvSpPr>
        <p:spPr/>
        <p:txBody>
          <a:bodyPr/>
          <a:lstStyle/>
          <a:p>
            <a:r>
              <a:rPr lang="en-US"/>
              <a:t>Certification content domain 1 task statements</a:t>
            </a:r>
          </a:p>
        </p:txBody>
      </p:sp>
      <p:sp>
        <p:nvSpPr>
          <p:cNvPr id="4" name="Content Placeholder 3">
            <a:extLst>
              <a:ext uri="{FF2B5EF4-FFF2-40B4-BE49-F238E27FC236}">
                <a16:creationId xmlns:a16="http://schemas.microsoft.com/office/drawing/2014/main" id="{AC0AAC66-8A26-42B8-8CC0-6B297AE5D859}"/>
              </a:ext>
            </a:extLst>
          </p:cNvPr>
          <p:cNvSpPr>
            <a:spLocks noGrp="1"/>
          </p:cNvSpPr>
          <p:nvPr>
            <p:ph idx="2"/>
          </p:nvPr>
        </p:nvSpPr>
        <p:spPr>
          <a:xfrm>
            <a:off x="365760" y="1097280"/>
            <a:ext cx="2743200" cy="5330952"/>
          </a:xfrm>
          <a:solidFill>
            <a:schemeClr val="accent1"/>
          </a:solidFill>
        </p:spPr>
        <p:txBody>
          <a:bodyPr/>
          <a:lstStyle/>
          <a:p>
            <a:pPr marL="0" indent="0">
              <a:buNone/>
            </a:pPr>
            <a:r>
              <a:rPr lang="en-US" sz="2800">
                <a:solidFill>
                  <a:schemeClr val="bg1"/>
                </a:solidFill>
              </a:rPr>
              <a:t>Design Secure Architectures  (30%)</a:t>
            </a:r>
          </a:p>
        </p:txBody>
      </p:sp>
      <p:sp>
        <p:nvSpPr>
          <p:cNvPr id="5" name="Content Placeholder 4">
            <a:extLst>
              <a:ext uri="{FF2B5EF4-FFF2-40B4-BE49-F238E27FC236}">
                <a16:creationId xmlns:a16="http://schemas.microsoft.com/office/drawing/2014/main" id="{C29EB370-4877-4057-835E-3C1F6F4E0884}"/>
              </a:ext>
            </a:extLst>
          </p:cNvPr>
          <p:cNvSpPr>
            <a:spLocks noGrp="1"/>
          </p:cNvSpPr>
          <p:nvPr>
            <p:ph idx="3"/>
          </p:nvPr>
        </p:nvSpPr>
        <p:spPr>
          <a:xfrm>
            <a:off x="3314700" y="1097280"/>
            <a:ext cx="8595360" cy="5330952"/>
          </a:xfrm>
        </p:spPr>
        <p:txBody>
          <a:bodyPr/>
          <a:lstStyle/>
          <a:p>
            <a:pPr marL="0" indent="0">
              <a:buNone/>
            </a:pPr>
            <a:r>
              <a:rPr lang="en-US" sz="2800"/>
              <a:t>1.1: Design secure access to AWS resources. </a:t>
            </a:r>
          </a:p>
          <a:p>
            <a:pPr marL="0" indent="0">
              <a:buNone/>
            </a:pPr>
            <a:r>
              <a:rPr lang="en-US" sz="2800"/>
              <a:t>1.2: Design secure workloads and applications.</a:t>
            </a:r>
          </a:p>
          <a:p>
            <a:pPr marL="0" indent="0">
              <a:buNone/>
            </a:pPr>
            <a:r>
              <a:rPr lang="en-US" sz="2800"/>
              <a:t>1.3: Determine appropriate data security controls.</a:t>
            </a:r>
          </a:p>
          <a:p>
            <a:pPr marL="0" indent="0">
              <a:buNone/>
            </a:pPr>
            <a:endParaRPr lang="en-US" sz="3200"/>
          </a:p>
        </p:txBody>
      </p:sp>
    </p:spTree>
    <p:custDataLst>
      <p:tags r:id="rId1"/>
    </p:custDataLst>
    <p:extLst>
      <p:ext uri="{BB962C8B-B14F-4D97-AF65-F5344CB8AC3E}">
        <p14:creationId xmlns:p14="http://schemas.microsoft.com/office/powerpoint/2010/main" val="3485625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7433988-CA9D-4C72-8516-693E85905B67}"/>
              </a:ext>
            </a:extLst>
          </p:cNvPr>
          <p:cNvSpPr>
            <a:spLocks noGrp="1"/>
          </p:cNvSpPr>
          <p:nvPr>
            <p:ph type="sldNum" idx="97"/>
          </p:nvPr>
        </p:nvSpPr>
        <p:spPr/>
        <p:txBody>
          <a:bodyPr/>
          <a:lstStyle/>
          <a:p>
            <a:fld id="{4037B1B0-0345-4E15-985A-6BECCDBE474F}" type="slidenum">
              <a:rPr lang="en-US" smtClean="0"/>
              <a:pPr/>
              <a:t>10</a:t>
            </a:fld>
            <a:endParaRPr lang="en-US"/>
          </a:p>
        </p:txBody>
      </p:sp>
      <p:sp>
        <p:nvSpPr>
          <p:cNvPr id="3" name="Title">
            <a:extLst>
              <a:ext uri="{FF2B5EF4-FFF2-40B4-BE49-F238E27FC236}">
                <a16:creationId xmlns:a16="http://schemas.microsoft.com/office/drawing/2014/main" id="{573077DA-9CF7-440B-B47A-4C543E747B8A}"/>
              </a:ext>
            </a:extLst>
          </p:cNvPr>
          <p:cNvSpPr>
            <a:spLocks noGrp="1"/>
          </p:cNvSpPr>
          <p:nvPr>
            <p:ph type="title" idx="1"/>
          </p:nvPr>
        </p:nvSpPr>
        <p:spPr/>
        <p:txBody>
          <a:bodyPr/>
          <a:lstStyle/>
          <a:p>
            <a:r>
              <a:rPr lang="en-US"/>
              <a:t>Certification content domain 2 task statements</a:t>
            </a:r>
          </a:p>
        </p:txBody>
      </p:sp>
      <p:sp>
        <p:nvSpPr>
          <p:cNvPr id="4" name="Content Placeholder 3">
            <a:extLst>
              <a:ext uri="{FF2B5EF4-FFF2-40B4-BE49-F238E27FC236}">
                <a16:creationId xmlns:a16="http://schemas.microsoft.com/office/drawing/2014/main" id="{2D12756C-2539-459E-B016-B6A4F928F728}"/>
              </a:ext>
            </a:extLst>
          </p:cNvPr>
          <p:cNvSpPr>
            <a:spLocks noGrp="1"/>
          </p:cNvSpPr>
          <p:nvPr>
            <p:ph idx="2"/>
          </p:nvPr>
        </p:nvSpPr>
        <p:spPr>
          <a:xfrm>
            <a:off x="365760" y="1097280"/>
            <a:ext cx="2743200" cy="5330952"/>
          </a:xfrm>
          <a:solidFill>
            <a:schemeClr val="accent1"/>
          </a:solidFill>
        </p:spPr>
        <p:txBody>
          <a:bodyPr/>
          <a:lstStyle/>
          <a:p>
            <a:pPr marL="0" indent="0">
              <a:buNone/>
            </a:pPr>
            <a:r>
              <a:rPr lang="en-US" sz="2800">
                <a:solidFill>
                  <a:schemeClr val="bg1"/>
                </a:solidFill>
              </a:rPr>
              <a:t>Design Resilient Architectures (26%) </a:t>
            </a:r>
          </a:p>
          <a:p>
            <a:pPr marL="0" indent="0">
              <a:buNone/>
            </a:pPr>
            <a:endParaRPr lang="en-US" sz="2800"/>
          </a:p>
          <a:p>
            <a:endParaRPr lang="en-US" sz="2800"/>
          </a:p>
        </p:txBody>
      </p:sp>
      <p:sp>
        <p:nvSpPr>
          <p:cNvPr id="5" name="Content Placeholder 4">
            <a:extLst>
              <a:ext uri="{FF2B5EF4-FFF2-40B4-BE49-F238E27FC236}">
                <a16:creationId xmlns:a16="http://schemas.microsoft.com/office/drawing/2014/main" id="{7B2619C5-CBDD-4BD0-AFFD-68FBA7550C11}"/>
              </a:ext>
            </a:extLst>
          </p:cNvPr>
          <p:cNvSpPr>
            <a:spLocks noGrp="1"/>
          </p:cNvSpPr>
          <p:nvPr>
            <p:ph idx="3"/>
          </p:nvPr>
        </p:nvSpPr>
        <p:spPr>
          <a:xfrm>
            <a:off x="3319272" y="1097280"/>
            <a:ext cx="8503920" cy="5330952"/>
          </a:xfrm>
        </p:spPr>
        <p:txBody>
          <a:bodyPr/>
          <a:lstStyle/>
          <a:p>
            <a:pPr marL="0" indent="0">
              <a:buNone/>
            </a:pPr>
            <a:r>
              <a:rPr lang="en-US" sz="2800"/>
              <a:t>2.1: Design scalable and loosely coupled architectures.</a:t>
            </a:r>
          </a:p>
          <a:p>
            <a:pPr marL="0" indent="0">
              <a:buNone/>
            </a:pPr>
            <a:r>
              <a:rPr lang="en-US" sz="2800"/>
              <a:t>2.2: Design highly available and/or fault-tolerant architectures.</a:t>
            </a:r>
          </a:p>
          <a:p>
            <a:endParaRPr lang="en-US" sz="2800"/>
          </a:p>
        </p:txBody>
      </p:sp>
    </p:spTree>
    <p:custDataLst>
      <p:tags r:id="rId1"/>
    </p:custDataLst>
    <p:extLst>
      <p:ext uri="{BB962C8B-B14F-4D97-AF65-F5344CB8AC3E}">
        <p14:creationId xmlns:p14="http://schemas.microsoft.com/office/powerpoint/2010/main" val="2453190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7433988-CA9D-4C72-8516-693E85905B67}"/>
              </a:ext>
            </a:extLst>
          </p:cNvPr>
          <p:cNvSpPr>
            <a:spLocks noGrp="1"/>
          </p:cNvSpPr>
          <p:nvPr>
            <p:ph type="sldNum" idx="97"/>
          </p:nvPr>
        </p:nvSpPr>
        <p:spPr/>
        <p:txBody>
          <a:bodyPr/>
          <a:lstStyle/>
          <a:p>
            <a:fld id="{4037B1B0-0345-4E15-985A-6BECCDBE474F}" type="slidenum">
              <a:rPr lang="en-US" smtClean="0"/>
              <a:pPr/>
              <a:t>11</a:t>
            </a:fld>
            <a:endParaRPr lang="en-US"/>
          </a:p>
        </p:txBody>
      </p:sp>
      <p:sp>
        <p:nvSpPr>
          <p:cNvPr id="3" name="Title">
            <a:extLst>
              <a:ext uri="{FF2B5EF4-FFF2-40B4-BE49-F238E27FC236}">
                <a16:creationId xmlns:a16="http://schemas.microsoft.com/office/drawing/2014/main" id="{573077DA-9CF7-440B-B47A-4C543E747B8A}"/>
              </a:ext>
            </a:extLst>
          </p:cNvPr>
          <p:cNvSpPr>
            <a:spLocks noGrp="1"/>
          </p:cNvSpPr>
          <p:nvPr>
            <p:ph type="title" idx="1"/>
          </p:nvPr>
        </p:nvSpPr>
        <p:spPr/>
        <p:txBody>
          <a:bodyPr/>
          <a:lstStyle/>
          <a:p>
            <a:r>
              <a:rPr lang="en-US"/>
              <a:t>Certification content domain 3 task statements</a:t>
            </a:r>
          </a:p>
        </p:txBody>
      </p:sp>
      <p:sp>
        <p:nvSpPr>
          <p:cNvPr id="4" name="Content Placeholder 3">
            <a:extLst>
              <a:ext uri="{FF2B5EF4-FFF2-40B4-BE49-F238E27FC236}">
                <a16:creationId xmlns:a16="http://schemas.microsoft.com/office/drawing/2014/main" id="{2D12756C-2539-459E-B016-B6A4F928F728}"/>
              </a:ext>
            </a:extLst>
          </p:cNvPr>
          <p:cNvSpPr>
            <a:spLocks noGrp="1"/>
          </p:cNvSpPr>
          <p:nvPr>
            <p:ph idx="2"/>
          </p:nvPr>
        </p:nvSpPr>
        <p:spPr>
          <a:xfrm>
            <a:off x="365760" y="1097280"/>
            <a:ext cx="2743200" cy="5330952"/>
          </a:xfrm>
          <a:solidFill>
            <a:schemeClr val="accent1"/>
          </a:solidFill>
        </p:spPr>
        <p:txBody>
          <a:bodyPr/>
          <a:lstStyle/>
          <a:p>
            <a:pPr marL="0" indent="0">
              <a:buNone/>
            </a:pPr>
            <a:r>
              <a:rPr lang="en-US" sz="2800">
                <a:solidFill>
                  <a:schemeClr val="bg1"/>
                </a:solidFill>
              </a:rPr>
              <a:t>Design High-Performing Architectures (24%)</a:t>
            </a:r>
          </a:p>
          <a:p>
            <a:pPr marL="0" indent="0">
              <a:buNone/>
            </a:pPr>
            <a:endParaRPr lang="en-US" sz="2800"/>
          </a:p>
          <a:p>
            <a:endParaRPr lang="en-US" sz="2800"/>
          </a:p>
        </p:txBody>
      </p:sp>
      <p:sp>
        <p:nvSpPr>
          <p:cNvPr id="5" name="Content Placeholder 4">
            <a:extLst>
              <a:ext uri="{FF2B5EF4-FFF2-40B4-BE49-F238E27FC236}">
                <a16:creationId xmlns:a16="http://schemas.microsoft.com/office/drawing/2014/main" id="{7B2619C5-CBDD-4BD0-AFFD-68FBA7550C11}"/>
              </a:ext>
            </a:extLst>
          </p:cNvPr>
          <p:cNvSpPr>
            <a:spLocks noGrp="1"/>
          </p:cNvSpPr>
          <p:nvPr>
            <p:ph idx="3"/>
          </p:nvPr>
        </p:nvSpPr>
        <p:spPr>
          <a:xfrm>
            <a:off x="3319272" y="1097280"/>
            <a:ext cx="8503920" cy="5330952"/>
          </a:xfrm>
        </p:spPr>
        <p:txBody>
          <a:bodyPr/>
          <a:lstStyle/>
          <a:p>
            <a:pPr marL="0" indent="0">
              <a:buNone/>
            </a:pPr>
            <a:r>
              <a:rPr lang="en-US" sz="2800"/>
              <a:t>3.1: Determine high-performing and/or scalable storage solutions.</a:t>
            </a:r>
          </a:p>
          <a:p>
            <a:pPr marL="0" indent="0">
              <a:buNone/>
            </a:pPr>
            <a:r>
              <a:rPr lang="en-US" sz="2800"/>
              <a:t>3.2: Design high-performing and elastic compute solutions. </a:t>
            </a:r>
          </a:p>
          <a:p>
            <a:pPr marL="0" indent="0">
              <a:buNone/>
            </a:pPr>
            <a:r>
              <a:rPr lang="en-US" sz="2800"/>
              <a:t>3.3: Determine high-performing database solutions.</a:t>
            </a:r>
          </a:p>
          <a:p>
            <a:pPr marL="0" indent="0">
              <a:buNone/>
            </a:pPr>
            <a:r>
              <a:rPr lang="en-US" sz="2800"/>
              <a:t>3.4: Determine high-performing and/or scalable network architectures.</a:t>
            </a:r>
          </a:p>
          <a:p>
            <a:pPr marL="0" indent="0">
              <a:buNone/>
            </a:pPr>
            <a:r>
              <a:rPr lang="en-US" sz="2800"/>
              <a:t>3.5: Determine high-performing data ingestion and transformation solutions. </a:t>
            </a:r>
          </a:p>
          <a:p>
            <a:endParaRPr lang="en-US" sz="2800"/>
          </a:p>
        </p:txBody>
      </p:sp>
    </p:spTree>
    <p:custDataLst>
      <p:tags r:id="rId1"/>
    </p:custDataLst>
    <p:extLst>
      <p:ext uri="{BB962C8B-B14F-4D97-AF65-F5344CB8AC3E}">
        <p14:creationId xmlns:p14="http://schemas.microsoft.com/office/powerpoint/2010/main" val="1615234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7433988-CA9D-4C72-8516-693E85905B67}"/>
              </a:ext>
            </a:extLst>
          </p:cNvPr>
          <p:cNvSpPr>
            <a:spLocks noGrp="1"/>
          </p:cNvSpPr>
          <p:nvPr>
            <p:ph type="sldNum" idx="97"/>
          </p:nvPr>
        </p:nvSpPr>
        <p:spPr/>
        <p:txBody>
          <a:bodyPr/>
          <a:lstStyle/>
          <a:p>
            <a:fld id="{4037B1B0-0345-4E15-985A-6BECCDBE474F}" type="slidenum">
              <a:rPr lang="en-US" smtClean="0"/>
              <a:pPr/>
              <a:t>12</a:t>
            </a:fld>
            <a:endParaRPr lang="en-US"/>
          </a:p>
        </p:txBody>
      </p:sp>
      <p:sp>
        <p:nvSpPr>
          <p:cNvPr id="3" name="Title">
            <a:extLst>
              <a:ext uri="{FF2B5EF4-FFF2-40B4-BE49-F238E27FC236}">
                <a16:creationId xmlns:a16="http://schemas.microsoft.com/office/drawing/2014/main" id="{573077DA-9CF7-440B-B47A-4C543E747B8A}"/>
              </a:ext>
            </a:extLst>
          </p:cNvPr>
          <p:cNvSpPr>
            <a:spLocks noGrp="1"/>
          </p:cNvSpPr>
          <p:nvPr>
            <p:ph type="title" idx="1"/>
          </p:nvPr>
        </p:nvSpPr>
        <p:spPr/>
        <p:txBody>
          <a:bodyPr/>
          <a:lstStyle/>
          <a:p>
            <a:r>
              <a:rPr lang="en-US"/>
              <a:t>Certification content domain 4 task statements</a:t>
            </a:r>
          </a:p>
        </p:txBody>
      </p:sp>
      <p:sp>
        <p:nvSpPr>
          <p:cNvPr id="4" name="Content Placeholder 3">
            <a:extLst>
              <a:ext uri="{FF2B5EF4-FFF2-40B4-BE49-F238E27FC236}">
                <a16:creationId xmlns:a16="http://schemas.microsoft.com/office/drawing/2014/main" id="{2D12756C-2539-459E-B016-B6A4F928F728}"/>
              </a:ext>
            </a:extLst>
          </p:cNvPr>
          <p:cNvSpPr>
            <a:spLocks noGrp="1"/>
          </p:cNvSpPr>
          <p:nvPr>
            <p:ph idx="2"/>
          </p:nvPr>
        </p:nvSpPr>
        <p:spPr>
          <a:xfrm>
            <a:off x="365760" y="1097280"/>
            <a:ext cx="2743200" cy="5330952"/>
          </a:xfrm>
          <a:solidFill>
            <a:schemeClr val="accent1"/>
          </a:solidFill>
        </p:spPr>
        <p:txBody>
          <a:bodyPr/>
          <a:lstStyle/>
          <a:p>
            <a:pPr marL="0" indent="0">
              <a:buNone/>
            </a:pPr>
            <a:r>
              <a:rPr lang="en-US" sz="2800">
                <a:solidFill>
                  <a:schemeClr val="bg1"/>
                </a:solidFill>
              </a:rPr>
              <a:t>Design Cost-Optimized Architectures (20% )</a:t>
            </a:r>
            <a:endParaRPr lang="en-US" sz="2800"/>
          </a:p>
          <a:p>
            <a:endParaRPr lang="en-US" sz="2800"/>
          </a:p>
        </p:txBody>
      </p:sp>
      <p:sp>
        <p:nvSpPr>
          <p:cNvPr id="5" name="Content Placeholder 4">
            <a:extLst>
              <a:ext uri="{FF2B5EF4-FFF2-40B4-BE49-F238E27FC236}">
                <a16:creationId xmlns:a16="http://schemas.microsoft.com/office/drawing/2014/main" id="{7B2619C5-CBDD-4BD0-AFFD-68FBA7550C11}"/>
              </a:ext>
            </a:extLst>
          </p:cNvPr>
          <p:cNvSpPr>
            <a:spLocks noGrp="1"/>
          </p:cNvSpPr>
          <p:nvPr>
            <p:ph idx="3"/>
          </p:nvPr>
        </p:nvSpPr>
        <p:spPr>
          <a:xfrm>
            <a:off x="3319272" y="1097280"/>
            <a:ext cx="8503920" cy="5330952"/>
          </a:xfrm>
        </p:spPr>
        <p:txBody>
          <a:bodyPr/>
          <a:lstStyle/>
          <a:p>
            <a:pPr marL="0" indent="0">
              <a:buNone/>
            </a:pPr>
            <a:r>
              <a:rPr lang="en-US" sz="2800"/>
              <a:t>4.1: Design cost-optimized storage solutions.</a:t>
            </a:r>
          </a:p>
          <a:p>
            <a:pPr marL="0" indent="0">
              <a:buNone/>
            </a:pPr>
            <a:r>
              <a:rPr lang="en-US" sz="2800"/>
              <a:t>4.2: Design cost-optimized compute solutions.</a:t>
            </a:r>
          </a:p>
          <a:p>
            <a:pPr marL="0" indent="0">
              <a:buNone/>
            </a:pPr>
            <a:r>
              <a:rPr lang="en-US" sz="2800"/>
              <a:t>4.3: Design cost-optimized database solutions.</a:t>
            </a:r>
          </a:p>
          <a:p>
            <a:pPr marL="0" indent="0">
              <a:buNone/>
            </a:pPr>
            <a:r>
              <a:rPr lang="en-US" sz="2800"/>
              <a:t>4.4: Design cost-optimized network architectures.</a:t>
            </a:r>
          </a:p>
          <a:p>
            <a:pPr marL="0" indent="0">
              <a:buNone/>
            </a:pPr>
            <a:endParaRPr lang="en-US" sz="2800"/>
          </a:p>
        </p:txBody>
      </p:sp>
    </p:spTree>
    <p:custDataLst>
      <p:tags r:id="rId1"/>
    </p:custDataLst>
    <p:extLst>
      <p:ext uri="{BB962C8B-B14F-4D97-AF65-F5344CB8AC3E}">
        <p14:creationId xmlns:p14="http://schemas.microsoft.com/office/powerpoint/2010/main" val="4226153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a:t>Solutions Architect – Associate Certification exam preparation resources</a:t>
            </a:r>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a:t>Bridging to Certification</a:t>
            </a:r>
          </a:p>
        </p:txBody>
      </p:sp>
    </p:spTree>
    <p:custDataLst>
      <p:tags r:id="rId1"/>
    </p:custDataLst>
    <p:extLst>
      <p:ext uri="{BB962C8B-B14F-4D97-AF65-F5344CB8AC3E}">
        <p14:creationId xmlns:p14="http://schemas.microsoft.com/office/powerpoint/2010/main" val="2111020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5AAD308-5DEC-476B-8A2D-3474BDAF950F}"/>
              </a:ext>
            </a:extLst>
          </p:cNvPr>
          <p:cNvSpPr>
            <a:spLocks noGrp="1"/>
          </p:cNvSpPr>
          <p:nvPr>
            <p:ph type="sldNum" idx="97"/>
          </p:nvPr>
        </p:nvSpPr>
        <p:spPr/>
        <p:txBody>
          <a:bodyPr/>
          <a:lstStyle/>
          <a:p>
            <a:fld id="{4037B1B0-0345-4E15-985A-6BECCDBE474F}" type="slidenum">
              <a:rPr lang="en-US" smtClean="0"/>
              <a:pPr/>
              <a:t>14</a:t>
            </a:fld>
            <a:endParaRPr lang="en-US"/>
          </a:p>
        </p:txBody>
      </p:sp>
      <p:sp>
        <p:nvSpPr>
          <p:cNvPr id="5" name="Title">
            <a:extLst>
              <a:ext uri="{FF2B5EF4-FFF2-40B4-BE49-F238E27FC236}">
                <a16:creationId xmlns:a16="http://schemas.microsoft.com/office/drawing/2014/main" id="{6C2DDA23-0269-4EC7-8AEC-98AA4BE552F6}"/>
              </a:ext>
            </a:extLst>
          </p:cNvPr>
          <p:cNvSpPr>
            <a:spLocks noGrp="1"/>
          </p:cNvSpPr>
          <p:nvPr>
            <p:ph type="title" idx="1"/>
          </p:nvPr>
        </p:nvSpPr>
        <p:spPr/>
        <p:txBody>
          <a:bodyPr/>
          <a:lstStyle/>
          <a:p>
            <a:r>
              <a:rPr lang="en-US"/>
              <a:t>AWS Certification resources</a:t>
            </a:r>
          </a:p>
        </p:txBody>
      </p:sp>
      <p:graphicFrame>
        <p:nvGraphicFramePr>
          <p:cNvPr id="8" name="Content Placeholder 7">
            <a:extLst>
              <a:ext uri="{FF2B5EF4-FFF2-40B4-BE49-F238E27FC236}">
                <a16:creationId xmlns:a16="http://schemas.microsoft.com/office/drawing/2014/main" id="{71B57405-E3E2-4DDE-B8E6-77F8AF052517}"/>
              </a:ext>
            </a:extLst>
          </p:cNvPr>
          <p:cNvGraphicFramePr>
            <a:graphicFrameLocks noGrp="1"/>
          </p:cNvGraphicFramePr>
          <p:nvPr>
            <p:ph idx="2"/>
            <p:extLst>
              <p:ext uri="{D42A27DB-BD31-4B8C-83A1-F6EECF244321}">
                <p14:modId xmlns:p14="http://schemas.microsoft.com/office/powerpoint/2010/main" val="2087136549"/>
              </p:ext>
            </p:extLst>
          </p:nvPr>
        </p:nvGraphicFramePr>
        <p:xfrm>
          <a:off x="365125" y="1096963"/>
          <a:ext cx="11466514" cy="2712720"/>
        </p:xfrm>
        <a:graphic>
          <a:graphicData uri="http://schemas.openxmlformats.org/drawingml/2006/table">
            <a:tbl>
              <a:tblPr firstRow="1" bandRow="1">
                <a:tableStyleId>{5C22544A-7EE6-4342-B048-85BDC9FD1C3A}</a:tableStyleId>
              </a:tblPr>
              <a:tblGrid>
                <a:gridCol w="4729389">
                  <a:extLst>
                    <a:ext uri="{9D8B030D-6E8A-4147-A177-3AD203B41FA5}">
                      <a16:colId xmlns:a16="http://schemas.microsoft.com/office/drawing/2014/main" val="1482528108"/>
                    </a:ext>
                  </a:extLst>
                </a:gridCol>
                <a:gridCol w="6737125">
                  <a:extLst>
                    <a:ext uri="{9D8B030D-6E8A-4147-A177-3AD203B41FA5}">
                      <a16:colId xmlns:a16="http://schemas.microsoft.com/office/drawing/2014/main" val="3991530213"/>
                    </a:ext>
                  </a:extLst>
                </a:gridCol>
              </a:tblGrid>
              <a:tr h="370840">
                <a:tc>
                  <a:txBody>
                    <a:bodyPr/>
                    <a:lstStyle/>
                    <a:p>
                      <a:r>
                        <a:rPr lang="en-US" sz="2000"/>
                        <a:t>Webpage address</a:t>
                      </a:r>
                    </a:p>
                  </a:txBody>
                  <a:tcPr/>
                </a:tc>
                <a:tc>
                  <a:txBody>
                    <a:bodyPr/>
                    <a:lstStyle/>
                    <a:p>
                      <a:r>
                        <a:rPr lang="en-US" sz="2000"/>
                        <a:t>Description</a:t>
                      </a:r>
                    </a:p>
                  </a:txBody>
                  <a:tcPr/>
                </a:tc>
                <a:extLst>
                  <a:ext uri="{0D108BD9-81ED-4DB2-BD59-A6C34878D82A}">
                    <a16:rowId xmlns:a16="http://schemas.microsoft.com/office/drawing/2014/main" val="456471080"/>
                  </a:ext>
                </a:extLst>
              </a:tr>
              <a:tr h="370840">
                <a:tc>
                  <a:txBody>
                    <a:bodyPr/>
                    <a:lstStyle/>
                    <a:p>
                      <a:r>
                        <a:rPr lang="en-US" sz="2000" dirty="0">
                          <a:hlinkClick r:id="rId4"/>
                        </a:rPr>
                        <a:t>https://aws.amazon.com/certification</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t>AWS Certification overview: Includes links to resources and information about each certification</a:t>
                      </a:r>
                    </a:p>
                  </a:txBody>
                  <a:tcPr/>
                </a:tc>
                <a:extLst>
                  <a:ext uri="{0D108BD9-81ED-4DB2-BD59-A6C34878D82A}">
                    <a16:rowId xmlns:a16="http://schemas.microsoft.com/office/drawing/2014/main" val="28068336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hlinkClick r:id="rId5"/>
                        </a:rPr>
                        <a:t>https://aws.amazon.com/certification/certified-solutions-architect-associate</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AWS Certified Solutions Architect – Associate Certification: Includes details about the Solutions Architect – Associate exam with links to exam guide, sample questions, and available training</a:t>
                      </a:r>
                    </a:p>
                    <a:p>
                      <a:endParaRPr lang="en-US" sz="2000" dirty="0"/>
                    </a:p>
                  </a:txBody>
                  <a:tcPr/>
                </a:tc>
                <a:extLst>
                  <a:ext uri="{0D108BD9-81ED-4DB2-BD59-A6C34878D82A}">
                    <a16:rowId xmlns:a16="http://schemas.microsoft.com/office/drawing/2014/main" val="445565223"/>
                  </a:ext>
                </a:extLst>
              </a:tr>
            </a:tbl>
          </a:graphicData>
        </a:graphic>
      </p:graphicFrame>
    </p:spTree>
    <p:custDataLst>
      <p:tags r:id="rId1"/>
    </p:custDataLst>
    <p:extLst>
      <p:ext uri="{BB962C8B-B14F-4D97-AF65-F5344CB8AC3E}">
        <p14:creationId xmlns:p14="http://schemas.microsoft.com/office/powerpoint/2010/main" val="4058722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5AAD308-5DEC-476B-8A2D-3474BDAF950F}"/>
              </a:ext>
            </a:extLst>
          </p:cNvPr>
          <p:cNvSpPr>
            <a:spLocks noGrp="1"/>
          </p:cNvSpPr>
          <p:nvPr>
            <p:ph type="sldNum" idx="97"/>
          </p:nvPr>
        </p:nvSpPr>
        <p:spPr/>
        <p:txBody>
          <a:bodyPr/>
          <a:lstStyle/>
          <a:p>
            <a:fld id="{4037B1B0-0345-4E15-985A-6BECCDBE474F}" type="slidenum">
              <a:rPr lang="en-US" smtClean="0"/>
              <a:pPr/>
              <a:t>15</a:t>
            </a:fld>
            <a:endParaRPr lang="en-US"/>
          </a:p>
        </p:txBody>
      </p:sp>
      <p:sp>
        <p:nvSpPr>
          <p:cNvPr id="5" name="Title">
            <a:extLst>
              <a:ext uri="{FF2B5EF4-FFF2-40B4-BE49-F238E27FC236}">
                <a16:creationId xmlns:a16="http://schemas.microsoft.com/office/drawing/2014/main" id="{6C2DDA23-0269-4EC7-8AEC-98AA4BE552F6}"/>
              </a:ext>
            </a:extLst>
          </p:cNvPr>
          <p:cNvSpPr>
            <a:spLocks noGrp="1"/>
          </p:cNvSpPr>
          <p:nvPr>
            <p:ph type="title" idx="1"/>
          </p:nvPr>
        </p:nvSpPr>
        <p:spPr/>
        <p:txBody>
          <a:bodyPr>
            <a:normAutofit/>
          </a:bodyPr>
          <a:lstStyle/>
          <a:p>
            <a:r>
              <a:rPr lang="en-US"/>
              <a:t>Free exam readiness resources</a:t>
            </a:r>
          </a:p>
        </p:txBody>
      </p:sp>
      <p:graphicFrame>
        <p:nvGraphicFramePr>
          <p:cNvPr id="8" name="Content Placeholder 7">
            <a:extLst>
              <a:ext uri="{FF2B5EF4-FFF2-40B4-BE49-F238E27FC236}">
                <a16:creationId xmlns:a16="http://schemas.microsoft.com/office/drawing/2014/main" id="{71B57405-E3E2-4DDE-B8E6-77F8AF052517}"/>
              </a:ext>
            </a:extLst>
          </p:cNvPr>
          <p:cNvGraphicFramePr>
            <a:graphicFrameLocks noGrp="1"/>
          </p:cNvGraphicFramePr>
          <p:nvPr>
            <p:ph idx="2"/>
            <p:extLst>
              <p:ext uri="{D42A27DB-BD31-4B8C-83A1-F6EECF244321}">
                <p14:modId xmlns:p14="http://schemas.microsoft.com/office/powerpoint/2010/main" val="2740663733"/>
              </p:ext>
            </p:extLst>
          </p:nvPr>
        </p:nvGraphicFramePr>
        <p:xfrm>
          <a:off x="365125" y="1096963"/>
          <a:ext cx="11466514" cy="5217160"/>
        </p:xfrm>
        <a:graphic>
          <a:graphicData uri="http://schemas.openxmlformats.org/drawingml/2006/table">
            <a:tbl>
              <a:tblPr firstRow="1" bandRow="1">
                <a:tableStyleId>{5C22544A-7EE6-4342-B048-85BDC9FD1C3A}</a:tableStyleId>
              </a:tblPr>
              <a:tblGrid>
                <a:gridCol w="3685381">
                  <a:extLst>
                    <a:ext uri="{9D8B030D-6E8A-4147-A177-3AD203B41FA5}">
                      <a16:colId xmlns:a16="http://schemas.microsoft.com/office/drawing/2014/main" val="1482528108"/>
                    </a:ext>
                  </a:extLst>
                </a:gridCol>
                <a:gridCol w="7781133">
                  <a:extLst>
                    <a:ext uri="{9D8B030D-6E8A-4147-A177-3AD203B41FA5}">
                      <a16:colId xmlns:a16="http://schemas.microsoft.com/office/drawing/2014/main" val="3991530213"/>
                    </a:ext>
                  </a:extLst>
                </a:gridCol>
              </a:tblGrid>
              <a:tr h="370840">
                <a:tc>
                  <a:txBody>
                    <a:bodyPr/>
                    <a:lstStyle/>
                    <a:p>
                      <a:r>
                        <a:rPr lang="en-US"/>
                        <a:t>Title</a:t>
                      </a:r>
                    </a:p>
                  </a:txBody>
                  <a:tcPr/>
                </a:tc>
                <a:tc>
                  <a:txBody>
                    <a:bodyPr/>
                    <a:lstStyle/>
                    <a:p>
                      <a:r>
                        <a:rPr lang="en-US"/>
                        <a:t>Description</a:t>
                      </a:r>
                    </a:p>
                  </a:txBody>
                  <a:tcPr/>
                </a:tc>
                <a:extLst>
                  <a:ext uri="{0D108BD9-81ED-4DB2-BD59-A6C34878D82A}">
                    <a16:rowId xmlns:a16="http://schemas.microsoft.com/office/drawing/2014/main" val="456471080"/>
                  </a:ext>
                </a:extLst>
              </a:tr>
              <a:tr h="370840">
                <a:tc>
                  <a:txBody>
                    <a:bodyPr/>
                    <a:lstStyle/>
                    <a:p>
                      <a:r>
                        <a:rPr lang="en-US"/>
                        <a:t>Exam Guide</a:t>
                      </a:r>
                    </a:p>
                  </a:txBody>
                  <a:tcPr/>
                </a:tc>
                <a:tc>
                  <a:txBody>
                    <a:bodyPr/>
                    <a:lstStyle/>
                    <a:p>
                      <a:pPr marL="285750" indent="-285750">
                        <a:buFont typeface="Arial" panose="020B0604020202020204" pitchFamily="34" charset="0"/>
                        <a:buChar char="•"/>
                      </a:pPr>
                      <a:r>
                        <a:rPr lang="en-US" sz="1600"/>
                        <a:t>PDF document that explains the test and the certification domains in detail</a:t>
                      </a:r>
                    </a:p>
                    <a:p>
                      <a:pPr marL="285750" indent="-285750">
                        <a:buFont typeface="Arial" panose="020B0604020202020204" pitchFamily="34" charset="0"/>
                        <a:buChar char="•"/>
                      </a:pPr>
                      <a:r>
                        <a:rPr lang="en-US" sz="1600"/>
                        <a:t>Appendix includes technologies and concepts that might appear on the exam, and in-scope and out-of-scope AWS services and features</a:t>
                      </a:r>
                    </a:p>
                  </a:txBody>
                  <a:tcPr/>
                </a:tc>
                <a:extLst>
                  <a:ext uri="{0D108BD9-81ED-4DB2-BD59-A6C34878D82A}">
                    <a16:rowId xmlns:a16="http://schemas.microsoft.com/office/drawing/2014/main" val="28068336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Sample questions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t>PDF document with ten questions that </a:t>
                      </a:r>
                      <a:r>
                        <a:rPr lang="en-US" sz="1600" b="0" i="0" kern="1200">
                          <a:solidFill>
                            <a:schemeClr val="tx1"/>
                          </a:solidFill>
                          <a:effectLst/>
                          <a:latin typeface="+mn-lt"/>
                          <a:ea typeface="+mn-ea"/>
                          <a:cs typeface="+mn-cs"/>
                        </a:rPr>
                        <a:t>demonstrate the format of the questions used on the exam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i="0" kern="1200">
                          <a:solidFill>
                            <a:schemeClr val="tx1"/>
                          </a:solidFill>
                          <a:effectLst/>
                          <a:latin typeface="+mn-lt"/>
                          <a:ea typeface="+mn-ea"/>
                          <a:cs typeface="+mn-cs"/>
                        </a:rPr>
                        <a:t>Includes rationales for the correct answers</a:t>
                      </a:r>
                      <a:endParaRPr lang="en-US" sz="1600"/>
                    </a:p>
                  </a:txBody>
                  <a:tcPr/>
                </a:tc>
                <a:extLst>
                  <a:ext uri="{0D108BD9-81ED-4DB2-BD59-A6C34878D82A}">
                    <a16:rowId xmlns:a16="http://schemas.microsoft.com/office/drawing/2014/main" val="445565223"/>
                  </a:ext>
                </a:extLst>
              </a:tr>
              <a:tr h="489322">
                <a:tc>
                  <a:txBody>
                    <a:bodyPr/>
                    <a:lstStyle/>
                    <a:p>
                      <a:r>
                        <a:rPr lang="en-US" b="0"/>
                        <a:t>AWS Certified Solutions Architect – Associate webinar</a:t>
                      </a:r>
                    </a:p>
                  </a:txBody>
                  <a:tcPr/>
                </a:tc>
                <a:tc>
                  <a:txBody>
                    <a:bodyPr/>
                    <a:lstStyle/>
                    <a:p>
                      <a:pPr marL="285750" indent="-285750">
                        <a:buFont typeface="Arial" panose="020B0604020202020204" pitchFamily="34" charset="0"/>
                        <a:buChar char="•"/>
                      </a:pPr>
                      <a:r>
                        <a:rPr lang="en-US" sz="1600"/>
                        <a:t>3-hour virtual event that </a:t>
                      </a:r>
                      <a:r>
                        <a:rPr lang="en-US" sz="1600" b="0" i="0" kern="1200">
                          <a:solidFill>
                            <a:schemeClr val="tx1"/>
                          </a:solidFill>
                          <a:effectLst/>
                          <a:latin typeface="+mn-lt"/>
                          <a:ea typeface="+mn-ea"/>
                          <a:cs typeface="+mn-cs"/>
                        </a:rPr>
                        <a:t>explores topic areas and how they map to architecting on AWS and to specific areas of study</a:t>
                      </a:r>
                    </a:p>
                    <a:p>
                      <a:pPr marL="285750" indent="-285750">
                        <a:buFont typeface="Arial" panose="020B0604020202020204" pitchFamily="34" charset="0"/>
                        <a:buChar char="•"/>
                      </a:pPr>
                      <a:r>
                        <a:rPr lang="en-US" sz="1600" b="0" i="0" kern="1200">
                          <a:solidFill>
                            <a:schemeClr val="tx1"/>
                          </a:solidFill>
                          <a:effectLst/>
                          <a:latin typeface="+mn-lt"/>
                          <a:ea typeface="+mn-ea"/>
                          <a:cs typeface="+mn-cs"/>
                        </a:rPr>
                        <a:t>Requires registration</a:t>
                      </a:r>
                      <a:endParaRPr lang="en-US" sz="1600"/>
                    </a:p>
                  </a:txBody>
                  <a:tcPr/>
                </a:tc>
                <a:extLst>
                  <a:ext uri="{0D108BD9-81ED-4DB2-BD59-A6C34878D82A}">
                    <a16:rowId xmlns:a16="http://schemas.microsoft.com/office/drawing/2014/main" val="3927057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Exam Prep Standard Course: AWS Certified Solutions Architect – Associate </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t>Digital training course that </a:t>
                      </a:r>
                      <a:r>
                        <a:rPr lang="en-US" sz="1600" b="0" i="0" kern="1200">
                          <a:solidFill>
                            <a:schemeClr val="tx1"/>
                          </a:solidFill>
                          <a:effectLst/>
                          <a:latin typeface="+mn-lt"/>
                          <a:ea typeface="+mn-ea"/>
                          <a:cs typeface="+mn-cs"/>
                        </a:rPr>
                        <a:t>walks you through each of the domains, explaining what you should know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i="0" kern="1200">
                          <a:solidFill>
                            <a:schemeClr val="tx1"/>
                          </a:solidFill>
                          <a:effectLst/>
                          <a:latin typeface="+mn-lt"/>
                          <a:ea typeface="+mn-ea"/>
                          <a:cs typeface="+mn-cs"/>
                        </a:rPr>
                        <a:t>Includes reviews of exam-style questions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t>Requires an AWS Skill Builder account</a:t>
                      </a:r>
                      <a:endParaRPr lang="en-US" sz="1600" b="0" i="0" kern="1200">
                        <a:solidFill>
                          <a:schemeClr val="tx1"/>
                        </a:solidFill>
                        <a:effectLst/>
                        <a:latin typeface="+mn-lt"/>
                        <a:ea typeface="+mn-ea"/>
                        <a:cs typeface="+mn-cs"/>
                      </a:endParaRPr>
                    </a:p>
                  </a:txBody>
                  <a:tcPr/>
                </a:tc>
                <a:extLst>
                  <a:ext uri="{0D108BD9-81ED-4DB2-BD59-A6C34878D82A}">
                    <a16:rowId xmlns:a16="http://schemas.microsoft.com/office/drawing/2014/main" val="28959734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Exam Prep Official Practice Question Set: AWS Certified Solutions Architect - Associate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a:txBody>
                  <a:tcPr/>
                </a:tc>
                <a:tc>
                  <a:txBody>
                    <a:bodyPr/>
                    <a:lstStyle/>
                    <a:p>
                      <a:pPr marL="285750" indent="-285750">
                        <a:buFont typeface="Arial" panose="020B0604020202020204" pitchFamily="34" charset="0"/>
                        <a:buChar char="•"/>
                      </a:pPr>
                      <a:r>
                        <a:rPr lang="en-US" sz="1600" b="0" kern="1200" dirty="0">
                          <a:solidFill>
                            <a:schemeClr val="tx1"/>
                          </a:solidFill>
                          <a:effectLst/>
                          <a:latin typeface="+mn-lt"/>
                          <a:ea typeface="+mn-ea"/>
                          <a:cs typeface="+mn-cs"/>
                        </a:rPr>
                        <a:t>20 exam-style questions delivered online in a format similar to the certification exam</a:t>
                      </a:r>
                    </a:p>
                    <a:p>
                      <a:pPr marL="285750" indent="-285750">
                        <a:buFont typeface="Arial" panose="020B0604020202020204" pitchFamily="34" charset="0"/>
                        <a:buChar char="•"/>
                      </a:pPr>
                      <a:r>
                        <a:rPr lang="en-US" sz="1600" b="0" kern="1200" dirty="0">
                          <a:solidFill>
                            <a:schemeClr val="tx1"/>
                          </a:solidFill>
                          <a:effectLst/>
                          <a:latin typeface="+mn-lt"/>
                          <a:ea typeface="+mn-ea"/>
                          <a:cs typeface="+mn-cs"/>
                        </a:rPr>
                        <a:t>Includes detailed feedback and recommended resources to help you prepare for your exam</a:t>
                      </a:r>
                    </a:p>
                    <a:p>
                      <a:pPr marL="285750" indent="-285750">
                        <a:buFont typeface="Arial" panose="020B0604020202020204" pitchFamily="34" charset="0"/>
                        <a:buChar char="•"/>
                      </a:pPr>
                      <a:r>
                        <a:rPr lang="en-US" sz="1600" dirty="0"/>
                        <a:t>Requires an AWS Skill Builder account</a:t>
                      </a:r>
                      <a:endParaRPr lang="en-US" sz="1600" b="0" dirty="0"/>
                    </a:p>
                  </a:txBody>
                  <a:tcPr/>
                </a:tc>
                <a:extLst>
                  <a:ext uri="{0D108BD9-81ED-4DB2-BD59-A6C34878D82A}">
                    <a16:rowId xmlns:a16="http://schemas.microsoft.com/office/drawing/2014/main" val="4055969079"/>
                  </a:ext>
                </a:extLst>
              </a:tr>
            </a:tbl>
          </a:graphicData>
        </a:graphic>
      </p:graphicFrame>
    </p:spTree>
    <p:custDataLst>
      <p:tags r:id="rId1"/>
    </p:custDataLst>
    <p:extLst>
      <p:ext uri="{BB962C8B-B14F-4D97-AF65-F5344CB8AC3E}">
        <p14:creationId xmlns:p14="http://schemas.microsoft.com/office/powerpoint/2010/main" val="1159728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B25F9BA-4E05-4CA1-BA35-877C8B3050AB}"/>
              </a:ext>
            </a:extLst>
          </p:cNvPr>
          <p:cNvSpPr>
            <a:spLocks noGrp="1"/>
          </p:cNvSpPr>
          <p:nvPr>
            <p:ph type="sldNum" idx="97"/>
          </p:nvPr>
        </p:nvSpPr>
        <p:spPr/>
        <p:txBody>
          <a:bodyPr/>
          <a:lstStyle/>
          <a:p>
            <a:fld id="{4037B1B0-0345-4E15-985A-6BECCDBE474F}" type="slidenum">
              <a:rPr lang="en-US" smtClean="0"/>
              <a:pPr/>
              <a:t>16</a:t>
            </a:fld>
            <a:endParaRPr lang="en-US"/>
          </a:p>
        </p:txBody>
      </p:sp>
      <p:sp>
        <p:nvSpPr>
          <p:cNvPr id="3" name="Title">
            <a:extLst>
              <a:ext uri="{FF2B5EF4-FFF2-40B4-BE49-F238E27FC236}">
                <a16:creationId xmlns:a16="http://schemas.microsoft.com/office/drawing/2014/main" id="{45D0F084-4738-4015-A264-3CBBD660B96E}"/>
              </a:ext>
            </a:extLst>
          </p:cNvPr>
          <p:cNvSpPr>
            <a:spLocks noGrp="1"/>
          </p:cNvSpPr>
          <p:nvPr>
            <p:ph type="title" idx="1"/>
          </p:nvPr>
        </p:nvSpPr>
        <p:spPr/>
        <p:txBody>
          <a:bodyPr>
            <a:normAutofit fontScale="90000"/>
          </a:bodyPr>
          <a:lstStyle/>
          <a:p>
            <a:r>
              <a:rPr lang="en-US"/>
              <a:t>Exam readiness with an AWS Skill Builder subscription</a:t>
            </a:r>
          </a:p>
        </p:txBody>
      </p:sp>
      <p:pic>
        <p:nvPicPr>
          <p:cNvPr id="11" name="Content Placeholder 10" descr="Enhanced digital training. Requires subscription.&#10;">
            <a:extLst>
              <a:ext uri="{FF2B5EF4-FFF2-40B4-BE49-F238E27FC236}">
                <a16:creationId xmlns:a16="http://schemas.microsoft.com/office/drawing/2014/main" id="{17A0C1CD-CF0D-4583-83AF-8C53ABB3F80A}"/>
              </a:ext>
              <a:ext uri="{C183D7F6-B498-43B3-948B-1728B52AA6E4}">
                <adec:decorative xmlns:adec="http://schemas.microsoft.com/office/drawing/2017/decorative" val="0"/>
              </a:ext>
            </a:extLst>
          </p:cNvPr>
          <p:cNvPicPr>
            <a:picLocks noGrp="1"/>
          </p:cNvPicPr>
          <p:nvPr>
            <p:ph idx="3"/>
          </p:nvPr>
        </p:nvPicPr>
        <p:blipFill rotWithShape="1">
          <a:blip r:embed="rId4"/>
          <a:srcRect l="2374" t="610" r="2374" b="2438"/>
          <a:stretch/>
        </p:blipFill>
        <p:spPr>
          <a:xfrm>
            <a:off x="4375352" y="1328738"/>
            <a:ext cx="3447288" cy="4754880"/>
          </a:xfrm>
          <a:prstGeom prst="rect">
            <a:avLst/>
          </a:prstGeom>
          <a:solidFill>
            <a:srgbClr val="FFFFFF">
              <a:shade val="85000"/>
            </a:srgbClr>
          </a:solidFill>
          <a:ln w="12700" cap="sq">
            <a:solidFill>
              <a:srgbClr val="232F3E"/>
            </a:solidFill>
            <a:miter lim="800000"/>
          </a:ln>
          <a:effectLst>
            <a:outerShdw blurRad="63500" dist="53881" dir="2700016" rotWithShape="0">
              <a:srgbClr val="232F3E">
                <a:alpha val="25000"/>
              </a:srgbClr>
            </a:outerShdw>
          </a:effectLst>
          <a:scene3d>
            <a:camera prst="orthographicFront"/>
            <a:lightRig rig="twoPt" dir="t">
              <a:rot lat="0" lon="0" rev="7200000"/>
            </a:lightRig>
          </a:scene3d>
          <a:sp3d>
            <a:bevelT w="25400" h="19050"/>
            <a:contourClr>
              <a:srgbClr val="FFFFFF"/>
            </a:contourClr>
          </a:sp3d>
        </p:spPr>
      </p:pic>
      <p:pic>
        <p:nvPicPr>
          <p:cNvPr id="12" name="Content Placeholder 11" descr="AWS Cloud Quest: Solutions Architect. Requires subscription. ">
            <a:extLst>
              <a:ext uri="{FF2B5EF4-FFF2-40B4-BE49-F238E27FC236}">
                <a16:creationId xmlns:a16="http://schemas.microsoft.com/office/drawing/2014/main" id="{CF5EF317-4F10-4201-B459-202EE8F60EC6}"/>
              </a:ext>
              <a:ext uri="{C183D7F6-B498-43B3-948B-1728B52AA6E4}">
                <adec:decorative xmlns:adec="http://schemas.microsoft.com/office/drawing/2017/decorative" val="0"/>
              </a:ext>
            </a:extLst>
          </p:cNvPr>
          <p:cNvPicPr>
            <a:picLocks noGrp="1"/>
          </p:cNvPicPr>
          <p:nvPr>
            <p:ph idx="4"/>
          </p:nvPr>
        </p:nvPicPr>
        <p:blipFill>
          <a:blip r:embed="rId5"/>
          <a:stretch>
            <a:fillRect/>
          </a:stretch>
        </p:blipFill>
        <p:spPr>
          <a:xfrm>
            <a:off x="8152606" y="1328738"/>
            <a:ext cx="3447288" cy="4754880"/>
          </a:xfrm>
          <a:prstGeom prst="rect">
            <a:avLst/>
          </a:prstGeom>
          <a:solidFill>
            <a:srgbClr val="FFFFFF">
              <a:shade val="85000"/>
            </a:srgbClr>
          </a:solidFill>
          <a:ln w="12700" cap="sq">
            <a:solidFill>
              <a:srgbClr val="232F3E"/>
            </a:solidFill>
            <a:miter lim="800000"/>
          </a:ln>
          <a:effectLst>
            <a:outerShdw blurRad="63500" dist="53881" dir="2700016" rotWithShape="0">
              <a:srgbClr val="232F3E">
                <a:alpha val="25000"/>
              </a:srgbClr>
            </a:outerShdw>
          </a:effectLst>
          <a:scene3d>
            <a:camera prst="orthographicFront"/>
            <a:lightRig rig="twoPt" dir="t">
              <a:rot lat="0" lon="0" rev="7200000"/>
            </a:lightRig>
          </a:scene3d>
          <a:sp3d>
            <a:bevelT w="25400" h="19050"/>
            <a:contourClr>
              <a:srgbClr val="FFFFFF"/>
            </a:contourClr>
          </a:sp3d>
        </p:spPr>
      </p:pic>
      <p:pic>
        <p:nvPicPr>
          <p:cNvPr id="9" name="Content Placeholder 9" descr="Official practice exam. Requires subscription.">
            <a:extLst>
              <a:ext uri="{FF2B5EF4-FFF2-40B4-BE49-F238E27FC236}">
                <a16:creationId xmlns:a16="http://schemas.microsoft.com/office/drawing/2014/main" id="{56E2B317-4BBF-44AF-9036-6B8B0A616316}"/>
              </a:ext>
              <a:ext uri="{C183D7F6-B498-43B3-948B-1728B52AA6E4}">
                <adec:decorative xmlns:adec="http://schemas.microsoft.com/office/drawing/2017/decorative" val="0"/>
              </a:ext>
            </a:extLst>
          </p:cNvPr>
          <p:cNvPicPr>
            <a:picLocks noGrp="1"/>
          </p:cNvPicPr>
          <p:nvPr>
            <p:ph idx="2"/>
          </p:nvPr>
        </p:nvPicPr>
        <p:blipFill rotWithShape="1">
          <a:blip r:embed="rId6"/>
          <a:srcRect l="2313" t="2147" r="3145" b="2187"/>
          <a:stretch/>
        </p:blipFill>
        <p:spPr>
          <a:xfrm>
            <a:off x="592106" y="1328738"/>
            <a:ext cx="3447288" cy="4754880"/>
          </a:xfrm>
          <a:prstGeom prst="rect">
            <a:avLst/>
          </a:prstGeom>
          <a:solidFill>
            <a:srgbClr val="FFFFFF">
              <a:shade val="85000"/>
            </a:srgbClr>
          </a:solidFill>
          <a:ln w="12700" cap="sq">
            <a:solidFill>
              <a:srgbClr val="232F3E"/>
            </a:solidFill>
            <a:miter lim="800000"/>
          </a:ln>
          <a:effectLst>
            <a:outerShdw blurRad="63500" dist="53881" dir="2700016" rotWithShape="0">
              <a:srgbClr val="232F3E">
                <a:alpha val="25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extLst>
      <p:ext uri="{BB962C8B-B14F-4D97-AF65-F5344CB8AC3E}">
        <p14:creationId xmlns:p14="http://schemas.microsoft.com/office/powerpoint/2010/main" val="3363660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a:t>Additional resources</a:t>
            </a:r>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a:t>Bridging to Certification</a:t>
            </a:r>
          </a:p>
        </p:txBody>
      </p:sp>
    </p:spTree>
    <p:custDataLst>
      <p:tags r:id="rId1"/>
    </p:custDataLst>
    <p:extLst>
      <p:ext uri="{BB962C8B-B14F-4D97-AF65-F5344CB8AC3E}">
        <p14:creationId xmlns:p14="http://schemas.microsoft.com/office/powerpoint/2010/main" val="2901452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92C8090-1C8E-4AAA-BA65-42A2208787F2}"/>
              </a:ext>
            </a:extLst>
          </p:cNvPr>
          <p:cNvSpPr>
            <a:spLocks noGrp="1"/>
          </p:cNvSpPr>
          <p:nvPr>
            <p:ph type="sldNum" idx="97"/>
          </p:nvPr>
        </p:nvSpPr>
        <p:spPr/>
        <p:txBody>
          <a:bodyPr/>
          <a:lstStyle/>
          <a:p>
            <a:fld id="{4037B1B0-0345-4E15-985A-6BECCDBE474F}" type="slidenum">
              <a:rPr lang="en-US" smtClean="0"/>
              <a:pPr/>
              <a:t>18</a:t>
            </a:fld>
            <a:endParaRPr lang="en-US"/>
          </a:p>
        </p:txBody>
      </p:sp>
      <p:sp>
        <p:nvSpPr>
          <p:cNvPr id="3" name="Title">
            <a:extLst>
              <a:ext uri="{FF2B5EF4-FFF2-40B4-BE49-F238E27FC236}">
                <a16:creationId xmlns:a16="http://schemas.microsoft.com/office/drawing/2014/main" id="{DB464DDB-FFAD-45F9-819D-57C5E2E1B114}"/>
              </a:ext>
            </a:extLst>
          </p:cNvPr>
          <p:cNvSpPr>
            <a:spLocks noGrp="1"/>
          </p:cNvSpPr>
          <p:nvPr>
            <p:ph type="title" idx="1"/>
          </p:nvPr>
        </p:nvSpPr>
        <p:spPr/>
        <p:txBody>
          <a:bodyPr/>
          <a:lstStyle/>
          <a:p>
            <a:r>
              <a:rPr lang="en-US"/>
              <a:t>AWS Well-Architected Framework</a:t>
            </a:r>
          </a:p>
        </p:txBody>
      </p:sp>
      <p:pic>
        <p:nvPicPr>
          <p:cNvPr id="6" name="Content Placeholder 5">
            <a:extLst>
              <a:ext uri="{FF2B5EF4-FFF2-40B4-BE49-F238E27FC236}">
                <a16:creationId xmlns:a16="http://schemas.microsoft.com/office/drawing/2014/main" id="{0D5BBF52-2FE0-4435-B6FA-141F8FCFF85B}"/>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1690" y="1450068"/>
            <a:ext cx="11466513" cy="4624615"/>
          </a:xfrm>
        </p:spPr>
      </p:pic>
    </p:spTree>
    <p:custDataLst>
      <p:tags r:id="rId1"/>
    </p:custDataLst>
    <p:extLst>
      <p:ext uri="{BB962C8B-B14F-4D97-AF65-F5344CB8AC3E}">
        <p14:creationId xmlns:p14="http://schemas.microsoft.com/office/powerpoint/2010/main" val="1844115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F379E227-9668-43A9-BFCD-A98658E1F860}"/>
              </a:ext>
            </a:extLst>
          </p:cNvPr>
          <p:cNvSpPr>
            <a:spLocks noGrp="1"/>
          </p:cNvSpPr>
          <p:nvPr>
            <p:ph type="sldNum" idx="97"/>
          </p:nvPr>
        </p:nvSpPr>
        <p:spPr/>
        <p:txBody>
          <a:bodyPr/>
          <a:lstStyle/>
          <a:p>
            <a:fld id="{4037B1B0-0345-4E15-985A-6BECCDBE474F}" type="slidenum">
              <a:rPr lang="en-US" smtClean="0"/>
              <a:pPr/>
              <a:t>19</a:t>
            </a:fld>
            <a:endParaRPr lang="en-US"/>
          </a:p>
        </p:txBody>
      </p:sp>
      <p:sp>
        <p:nvSpPr>
          <p:cNvPr id="3" name="Title">
            <a:extLst>
              <a:ext uri="{FF2B5EF4-FFF2-40B4-BE49-F238E27FC236}">
                <a16:creationId xmlns:a16="http://schemas.microsoft.com/office/drawing/2014/main" id="{2DBF0050-62B2-409D-8878-3C58C8C6C986}"/>
              </a:ext>
            </a:extLst>
          </p:cNvPr>
          <p:cNvSpPr>
            <a:spLocks noGrp="1"/>
          </p:cNvSpPr>
          <p:nvPr>
            <p:ph type="title" idx="1"/>
          </p:nvPr>
        </p:nvSpPr>
        <p:spPr/>
        <p:txBody>
          <a:bodyPr>
            <a:normAutofit/>
          </a:bodyPr>
          <a:lstStyle/>
          <a:p>
            <a:r>
              <a:rPr lang="en-US"/>
              <a:t>Centralized hubs for finding AWS resources</a:t>
            </a:r>
          </a:p>
        </p:txBody>
      </p:sp>
      <p:graphicFrame>
        <p:nvGraphicFramePr>
          <p:cNvPr id="5" name="Content Placeholder 4">
            <a:extLst>
              <a:ext uri="{FF2B5EF4-FFF2-40B4-BE49-F238E27FC236}">
                <a16:creationId xmlns:a16="http://schemas.microsoft.com/office/drawing/2014/main" id="{A99430AF-925A-4B73-8214-FEC5C484B8DF}"/>
              </a:ext>
            </a:extLst>
          </p:cNvPr>
          <p:cNvGraphicFramePr>
            <a:graphicFrameLocks noGrp="1"/>
          </p:cNvGraphicFramePr>
          <p:nvPr>
            <p:ph idx="2"/>
            <p:extLst>
              <p:ext uri="{D42A27DB-BD31-4B8C-83A1-F6EECF244321}">
                <p14:modId xmlns:p14="http://schemas.microsoft.com/office/powerpoint/2010/main" val="1182391142"/>
              </p:ext>
            </p:extLst>
          </p:nvPr>
        </p:nvGraphicFramePr>
        <p:xfrm>
          <a:off x="365125" y="1096963"/>
          <a:ext cx="11466514" cy="5065298"/>
        </p:xfrm>
        <a:graphic>
          <a:graphicData uri="http://schemas.openxmlformats.org/drawingml/2006/table">
            <a:tbl>
              <a:tblPr firstRow="1" bandRow="1">
                <a:tableStyleId>{5C22544A-7EE6-4342-B048-85BDC9FD1C3A}</a:tableStyleId>
              </a:tblPr>
              <a:tblGrid>
                <a:gridCol w="3676523">
                  <a:extLst>
                    <a:ext uri="{9D8B030D-6E8A-4147-A177-3AD203B41FA5}">
                      <a16:colId xmlns:a16="http://schemas.microsoft.com/office/drawing/2014/main" val="522917128"/>
                    </a:ext>
                  </a:extLst>
                </a:gridCol>
                <a:gridCol w="7789991">
                  <a:extLst>
                    <a:ext uri="{9D8B030D-6E8A-4147-A177-3AD203B41FA5}">
                      <a16:colId xmlns:a16="http://schemas.microsoft.com/office/drawing/2014/main" val="3137620665"/>
                    </a:ext>
                  </a:extLst>
                </a:gridCol>
              </a:tblGrid>
              <a:tr h="370840">
                <a:tc>
                  <a:txBody>
                    <a:bodyPr/>
                    <a:lstStyle/>
                    <a:p>
                      <a:r>
                        <a:rPr lang="en-US" sz="2400"/>
                        <a:t>Description</a:t>
                      </a:r>
                    </a:p>
                  </a:txBody>
                  <a:tcPr/>
                </a:tc>
                <a:tc>
                  <a:txBody>
                    <a:bodyPr/>
                    <a:lstStyle/>
                    <a:p>
                      <a:r>
                        <a:rPr lang="en-US" sz="2400"/>
                        <a:t>Webpage</a:t>
                      </a:r>
                    </a:p>
                  </a:txBody>
                  <a:tcPr/>
                </a:tc>
                <a:extLst>
                  <a:ext uri="{0D108BD9-81ED-4DB2-BD59-A6C34878D82A}">
                    <a16:rowId xmlns:a16="http://schemas.microsoft.com/office/drawing/2014/main" val="4178118871"/>
                  </a:ext>
                </a:extLst>
              </a:tr>
              <a:tr h="493298">
                <a:tc>
                  <a:txBody>
                    <a:bodyPr/>
                    <a:lstStyle/>
                    <a:p>
                      <a:r>
                        <a:rPr lang="en-US" sz="2400"/>
                        <a:t>AWS Architecture Center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hlinkClick r:id="rId4"/>
                        </a:rPr>
                        <a:t>https://aws.amazon.com/architecture</a:t>
                      </a:r>
                      <a:endParaRPr lang="en-US" sz="2400" dirty="0"/>
                    </a:p>
                  </a:txBody>
                  <a:tcPr/>
                </a:tc>
                <a:extLst>
                  <a:ext uri="{0D108BD9-81ED-4DB2-BD59-A6C34878D82A}">
                    <a16:rowId xmlns:a16="http://schemas.microsoft.com/office/drawing/2014/main" val="693083272"/>
                  </a:ext>
                </a:extLst>
              </a:tr>
              <a:tr h="370840">
                <a:tc>
                  <a:txBody>
                    <a:bodyPr/>
                    <a:lstStyle/>
                    <a:p>
                      <a:r>
                        <a:rPr lang="en-US" sz="2400" dirty="0"/>
                        <a:t>AWS Documentation (services)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hlinkClick r:id="rId5"/>
                        </a:rPr>
                        <a:t>https://docs.aws.amazon.com</a:t>
                      </a:r>
                      <a:endParaRPr lang="en-US" sz="2400" dirty="0"/>
                    </a:p>
                  </a:txBody>
                  <a:tcPr/>
                </a:tc>
                <a:extLst>
                  <a:ext uri="{0D108BD9-81ED-4DB2-BD59-A6C34878D82A}">
                    <a16:rowId xmlns:a16="http://schemas.microsoft.com/office/drawing/2014/main" val="1981571479"/>
                  </a:ext>
                </a:extLst>
              </a:tr>
              <a:tr h="557490">
                <a:tc>
                  <a:txBody>
                    <a:bodyPr/>
                    <a:lstStyle/>
                    <a:p>
                      <a:r>
                        <a:rPr lang="en-US" sz="2400"/>
                        <a:t>AWS Frequently asked questions (FAQs)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hlinkClick r:id="rId6"/>
                        </a:rPr>
                        <a:t>https://aws.amazon.com/faqs</a:t>
                      </a:r>
                      <a:endParaRPr lang="en-US" sz="2400" dirty="0"/>
                    </a:p>
                  </a:txBody>
                  <a:tcPr/>
                </a:tc>
                <a:extLst>
                  <a:ext uri="{0D108BD9-81ED-4DB2-BD59-A6C34878D82A}">
                    <a16:rowId xmlns:a16="http://schemas.microsoft.com/office/drawing/2014/main" val="449877123"/>
                  </a:ext>
                </a:extLst>
              </a:tr>
              <a:tr h="370840">
                <a:tc>
                  <a:txBody>
                    <a:bodyPr/>
                    <a:lstStyle/>
                    <a:p>
                      <a:r>
                        <a:rPr lang="en-US" sz="2400" dirty="0"/>
                        <a:t>Getting Started Resource Center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hlinkClick r:id="rId7"/>
                        </a:rPr>
                        <a:t>https://aws.amazon.com/getting-started</a:t>
                      </a:r>
                      <a:endParaRPr lang="en-US" sz="2400" dirty="0"/>
                    </a:p>
                  </a:txBody>
                  <a:tcPr/>
                </a:tc>
                <a:extLst>
                  <a:ext uri="{0D108BD9-81ED-4DB2-BD59-A6C34878D82A}">
                    <a16:rowId xmlns:a16="http://schemas.microsoft.com/office/drawing/2014/main" val="340769300"/>
                  </a:ext>
                </a:extLst>
              </a:tr>
              <a:tr h="370840">
                <a:tc>
                  <a:txBody>
                    <a:bodyPr/>
                    <a:lstStyle/>
                    <a:p>
                      <a:r>
                        <a:rPr lang="en-US" sz="2400" dirty="0"/>
                        <a:t>AWS Builder Labs (Subscription-based hands-on labs)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hlinkClick r:id="rId8"/>
                        </a:rPr>
                        <a:t>https://aws.amazon.com/training/digital/aws-builder-labs</a:t>
                      </a:r>
                      <a:r>
                        <a:rPr lang="en-US" sz="2400" dirty="0"/>
                        <a:t> </a:t>
                      </a:r>
                    </a:p>
                  </a:txBody>
                  <a:tcPr/>
                </a:tc>
                <a:extLst>
                  <a:ext uri="{0D108BD9-81ED-4DB2-BD59-A6C34878D82A}">
                    <a16:rowId xmlns:a16="http://schemas.microsoft.com/office/drawing/2014/main" val="2831104687"/>
                  </a:ext>
                </a:extLst>
              </a:tr>
              <a:tr h="370840">
                <a:tc>
                  <a:txBody>
                    <a:bodyPr/>
                    <a:lstStyle/>
                    <a:p>
                      <a:r>
                        <a:rPr lang="en-US" sz="2400"/>
                        <a:t>AWS Ramp-Up Guides</a:t>
                      </a:r>
                    </a:p>
                  </a:txBody>
                  <a:tcPr/>
                </a:tc>
                <a:tc>
                  <a:txBody>
                    <a:bodyPr/>
                    <a:lstStyle/>
                    <a:p>
                      <a:r>
                        <a:rPr lang="en-US" sz="2400" dirty="0">
                          <a:hlinkClick r:id="rId9"/>
                        </a:rPr>
                        <a:t>https://aws.amazon.com/training/ramp-up-guides</a:t>
                      </a:r>
                      <a:r>
                        <a:rPr lang="en-US" sz="2400" dirty="0"/>
                        <a:t> </a:t>
                      </a:r>
                    </a:p>
                  </a:txBody>
                  <a:tcPr/>
                </a:tc>
                <a:extLst>
                  <a:ext uri="{0D108BD9-81ED-4DB2-BD59-A6C34878D82A}">
                    <a16:rowId xmlns:a16="http://schemas.microsoft.com/office/drawing/2014/main" val="1360901658"/>
                  </a:ext>
                </a:extLst>
              </a:tr>
            </a:tbl>
          </a:graphicData>
        </a:graphic>
      </p:graphicFrame>
    </p:spTree>
    <p:custDataLst>
      <p:tags r:id="rId1"/>
    </p:custDataLst>
    <p:extLst>
      <p:ext uri="{BB962C8B-B14F-4D97-AF65-F5344CB8AC3E}">
        <p14:creationId xmlns:p14="http://schemas.microsoft.com/office/powerpoint/2010/main" val="94066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9DF1A7DD-C06B-49BB-8F03-F7AA21531108}"/>
              </a:ext>
            </a:extLst>
          </p:cNvPr>
          <p:cNvSpPr>
            <a:spLocks noGrp="1"/>
          </p:cNvSpPr>
          <p:nvPr>
            <p:ph type="sldNum" idx="97"/>
          </p:nvPr>
        </p:nvSpPr>
        <p:spPr/>
        <p:txBody>
          <a:bodyPr/>
          <a:lstStyle/>
          <a:p>
            <a:fld id="{4037B1B0-0345-4E15-985A-6BECCDBE474F}" type="slidenum">
              <a:rPr lang="en-US" smtClean="0"/>
              <a:pPr/>
              <a:t>20</a:t>
            </a:fld>
            <a:endParaRPr lang="en-US"/>
          </a:p>
        </p:txBody>
      </p:sp>
      <p:sp>
        <p:nvSpPr>
          <p:cNvPr id="5" name="Title">
            <a:extLst>
              <a:ext uri="{FF2B5EF4-FFF2-40B4-BE49-F238E27FC236}">
                <a16:creationId xmlns:a16="http://schemas.microsoft.com/office/drawing/2014/main" id="{EFD3B3DC-7C8B-43C4-94E2-9E2AD61DCB6B}"/>
              </a:ext>
            </a:extLst>
          </p:cNvPr>
          <p:cNvSpPr>
            <a:spLocks noGrp="1"/>
          </p:cNvSpPr>
          <p:nvPr>
            <p:ph type="title" idx="1"/>
          </p:nvPr>
        </p:nvSpPr>
        <p:spPr/>
        <p:txBody>
          <a:bodyPr/>
          <a:lstStyle/>
          <a:p>
            <a:r>
              <a:rPr lang="en-US"/>
              <a:t>Architecture Center resource categories</a:t>
            </a:r>
          </a:p>
        </p:txBody>
      </p:sp>
      <p:sp>
        <p:nvSpPr>
          <p:cNvPr id="9" name="Text Placeholder 8">
            <a:extLst>
              <a:ext uri="{FF2B5EF4-FFF2-40B4-BE49-F238E27FC236}">
                <a16:creationId xmlns:a16="http://schemas.microsoft.com/office/drawing/2014/main" id="{B5D769E2-298F-4966-953F-A19B30E8359A}"/>
              </a:ext>
            </a:extLst>
          </p:cNvPr>
          <p:cNvSpPr>
            <a:spLocks noGrp="1"/>
          </p:cNvSpPr>
          <p:nvPr>
            <p:ph type="body" idx="12"/>
          </p:nvPr>
        </p:nvSpPr>
        <p:spPr/>
        <p:txBody>
          <a:bodyPr/>
          <a:lstStyle/>
          <a:p>
            <a:r>
              <a:rPr lang="en-US"/>
              <a:t>Best practices</a:t>
            </a:r>
          </a:p>
        </p:txBody>
      </p:sp>
      <p:sp>
        <p:nvSpPr>
          <p:cNvPr id="6" name="Text Placeholder 5">
            <a:extLst>
              <a:ext uri="{FF2B5EF4-FFF2-40B4-BE49-F238E27FC236}">
                <a16:creationId xmlns:a16="http://schemas.microsoft.com/office/drawing/2014/main" id="{709422A0-E524-448C-9CF5-B1BCAD36BE7D}"/>
              </a:ext>
            </a:extLst>
          </p:cNvPr>
          <p:cNvSpPr>
            <a:spLocks noGrp="1"/>
          </p:cNvSpPr>
          <p:nvPr>
            <p:ph type="body" idx="2"/>
          </p:nvPr>
        </p:nvSpPr>
        <p:spPr/>
        <p:txBody>
          <a:bodyPr/>
          <a:lstStyle/>
          <a:p>
            <a:r>
              <a:rPr lang="en-US"/>
              <a:t>Organized by technology category</a:t>
            </a:r>
          </a:p>
          <a:p>
            <a:r>
              <a:rPr lang="en-US"/>
              <a:t>Presented in the context of a project's lifecycle steps</a:t>
            </a:r>
          </a:p>
          <a:p>
            <a:endParaRPr lang="en-US"/>
          </a:p>
        </p:txBody>
      </p:sp>
      <p:sp>
        <p:nvSpPr>
          <p:cNvPr id="10" name="Text Placeholder 9">
            <a:extLst>
              <a:ext uri="{FF2B5EF4-FFF2-40B4-BE49-F238E27FC236}">
                <a16:creationId xmlns:a16="http://schemas.microsoft.com/office/drawing/2014/main" id="{8B2323CD-35FE-406A-B76C-58EBFF7350AA}"/>
              </a:ext>
            </a:extLst>
          </p:cNvPr>
          <p:cNvSpPr>
            <a:spLocks noGrp="1"/>
          </p:cNvSpPr>
          <p:nvPr>
            <p:ph type="body" idx="13"/>
          </p:nvPr>
        </p:nvSpPr>
        <p:spPr/>
        <p:txBody>
          <a:bodyPr/>
          <a:lstStyle/>
          <a:p>
            <a:r>
              <a:rPr lang="en-US"/>
              <a:t>Video series</a:t>
            </a:r>
          </a:p>
        </p:txBody>
      </p:sp>
      <p:sp>
        <p:nvSpPr>
          <p:cNvPr id="7" name="Text Placeholder 6">
            <a:extLst>
              <a:ext uri="{FF2B5EF4-FFF2-40B4-BE49-F238E27FC236}">
                <a16:creationId xmlns:a16="http://schemas.microsoft.com/office/drawing/2014/main" id="{C48DB53F-670E-40E1-979E-06CCD61F995D}"/>
              </a:ext>
            </a:extLst>
          </p:cNvPr>
          <p:cNvSpPr>
            <a:spLocks noGrp="1"/>
          </p:cNvSpPr>
          <p:nvPr>
            <p:ph type="body" idx="3"/>
          </p:nvPr>
        </p:nvSpPr>
        <p:spPr/>
        <p:txBody>
          <a:bodyPr/>
          <a:lstStyle/>
          <a:p>
            <a:r>
              <a:rPr lang="en-US"/>
              <a:t>Focused on practical use cases </a:t>
            </a:r>
          </a:p>
          <a:p>
            <a:r>
              <a:rPr lang="en-US"/>
              <a:t>Presented by AWS Solutions Architects, AWS Partners, and customers</a:t>
            </a:r>
          </a:p>
        </p:txBody>
      </p:sp>
      <p:sp>
        <p:nvSpPr>
          <p:cNvPr id="11" name="Text Placeholder 10">
            <a:extLst>
              <a:ext uri="{FF2B5EF4-FFF2-40B4-BE49-F238E27FC236}">
                <a16:creationId xmlns:a16="http://schemas.microsoft.com/office/drawing/2014/main" id="{C2EFD95B-D1BD-4774-95B1-110927F3F18C}"/>
              </a:ext>
            </a:extLst>
          </p:cNvPr>
          <p:cNvSpPr>
            <a:spLocks noGrp="1"/>
          </p:cNvSpPr>
          <p:nvPr>
            <p:ph type="body" idx="14"/>
          </p:nvPr>
        </p:nvSpPr>
        <p:spPr/>
        <p:txBody>
          <a:bodyPr/>
          <a:lstStyle/>
          <a:p>
            <a:r>
              <a:rPr lang="en-US"/>
              <a:t>Libraries</a:t>
            </a:r>
          </a:p>
        </p:txBody>
      </p:sp>
      <p:sp>
        <p:nvSpPr>
          <p:cNvPr id="8" name="Text Placeholder 7">
            <a:extLst>
              <a:ext uri="{FF2B5EF4-FFF2-40B4-BE49-F238E27FC236}">
                <a16:creationId xmlns:a16="http://schemas.microsoft.com/office/drawing/2014/main" id="{AB8AC159-32AB-49C9-95D5-241AF6627FC1}"/>
              </a:ext>
            </a:extLst>
          </p:cNvPr>
          <p:cNvSpPr>
            <a:spLocks noGrp="1"/>
          </p:cNvSpPr>
          <p:nvPr>
            <p:ph type="body" idx="4"/>
          </p:nvPr>
        </p:nvSpPr>
        <p:spPr/>
        <p:txBody>
          <a:bodyPr/>
          <a:lstStyle/>
          <a:p>
            <a:r>
              <a:rPr lang="en-US"/>
              <a:t>Organized into searchable and filterable collections </a:t>
            </a:r>
          </a:p>
          <a:p>
            <a:r>
              <a:rPr lang="en-US"/>
              <a:t>Includes the following:</a:t>
            </a:r>
          </a:p>
          <a:p>
            <a:pPr lvl="1"/>
            <a:r>
              <a:rPr lang="en-US" sz="2800"/>
              <a:t>Reference architectures</a:t>
            </a:r>
          </a:p>
          <a:p>
            <a:pPr lvl="1"/>
            <a:r>
              <a:rPr lang="en-US" sz="2800"/>
              <a:t>Whitepapers</a:t>
            </a:r>
          </a:p>
          <a:p>
            <a:pPr lvl="1"/>
            <a:r>
              <a:rPr lang="en-US" sz="2800"/>
              <a:t>Quick Starts</a:t>
            </a:r>
          </a:p>
        </p:txBody>
      </p:sp>
    </p:spTree>
    <p:custDataLst>
      <p:tags r:id="rId1"/>
    </p:custDataLst>
    <p:extLst>
      <p:ext uri="{BB962C8B-B14F-4D97-AF65-F5344CB8AC3E}">
        <p14:creationId xmlns:p14="http://schemas.microsoft.com/office/powerpoint/2010/main" val="2495277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9553793-3CEC-4CDF-9BAC-260802D6F55E}"/>
              </a:ext>
            </a:extLst>
          </p:cNvPr>
          <p:cNvSpPr>
            <a:spLocks noGrp="1"/>
          </p:cNvSpPr>
          <p:nvPr>
            <p:ph type="sldNum" idx="97"/>
          </p:nvPr>
        </p:nvSpPr>
        <p:spPr/>
        <p:txBody>
          <a:bodyPr/>
          <a:lstStyle/>
          <a:p>
            <a:fld id="{4037B1B0-0345-4E15-985A-6BECCDBE474F}" type="slidenum">
              <a:rPr lang="en-US" smtClean="0"/>
              <a:pPr/>
              <a:t>21</a:t>
            </a:fld>
            <a:endParaRPr lang="en-US"/>
          </a:p>
        </p:txBody>
      </p:sp>
      <p:sp>
        <p:nvSpPr>
          <p:cNvPr id="3" name="Title">
            <a:extLst>
              <a:ext uri="{FF2B5EF4-FFF2-40B4-BE49-F238E27FC236}">
                <a16:creationId xmlns:a16="http://schemas.microsoft.com/office/drawing/2014/main" id="{1C9C4AE8-3B06-49AE-A1D7-2BCBA12F7003}"/>
              </a:ext>
            </a:extLst>
          </p:cNvPr>
          <p:cNvSpPr>
            <a:spLocks noGrp="1"/>
          </p:cNvSpPr>
          <p:nvPr>
            <p:ph type="title" idx="1"/>
          </p:nvPr>
        </p:nvSpPr>
        <p:spPr/>
        <p:txBody>
          <a:bodyPr/>
          <a:lstStyle/>
          <a:p>
            <a:r>
              <a:rPr lang="en-US"/>
              <a:t>Suggested AWS Video Series for architecting</a:t>
            </a:r>
          </a:p>
        </p:txBody>
      </p:sp>
      <p:pic>
        <p:nvPicPr>
          <p:cNvPr id="14" name="Picture 13">
            <a:extLst>
              <a:ext uri="{FF2B5EF4-FFF2-40B4-BE49-F238E27FC236}">
                <a16:creationId xmlns:a16="http://schemas.microsoft.com/office/drawing/2014/main" id="{D5DD2293-49F1-41D7-873B-F0D91785670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225700" y="1356223"/>
            <a:ext cx="1949400" cy="2286000"/>
          </a:xfrm>
          <a:prstGeom prst="rect">
            <a:avLst/>
          </a:prstGeom>
          <a:ln w="12700">
            <a:solidFill>
              <a:srgbClr val="232F3E"/>
            </a:solidFill>
          </a:ln>
          <a:effectLst>
            <a:outerShdw blurRad="63500" dist="53881" dir="2700016" rotWithShape="0">
              <a:scrgbClr r="0" g="0" b="0">
                <a:alpha val="25000"/>
              </a:scrgbClr>
            </a:outerShdw>
          </a:effectLst>
        </p:spPr>
      </p:pic>
      <p:sp>
        <p:nvSpPr>
          <p:cNvPr id="5" name="Text Placeholder 4">
            <a:extLst>
              <a:ext uri="{FF2B5EF4-FFF2-40B4-BE49-F238E27FC236}">
                <a16:creationId xmlns:a16="http://schemas.microsoft.com/office/drawing/2014/main" id="{1217C45F-5801-40A4-85CB-72D05BFA6BE4}"/>
              </a:ext>
            </a:extLst>
          </p:cNvPr>
          <p:cNvSpPr>
            <a:spLocks noGrp="1"/>
          </p:cNvSpPr>
          <p:nvPr>
            <p:ph type="body" idx="12"/>
          </p:nvPr>
        </p:nvSpPr>
        <p:spPr>
          <a:xfrm>
            <a:off x="365760" y="3837040"/>
            <a:ext cx="5669280" cy="355361"/>
          </a:xfrm>
        </p:spPr>
        <p:txBody>
          <a:bodyPr/>
          <a:lstStyle/>
          <a:p>
            <a:r>
              <a:rPr lang="en-US" i="1"/>
              <a:t>This is My Architecture</a:t>
            </a:r>
            <a:endParaRPr lang="en-US"/>
          </a:p>
        </p:txBody>
      </p:sp>
      <p:sp>
        <p:nvSpPr>
          <p:cNvPr id="6" name="Content Placeholder 5">
            <a:extLst>
              <a:ext uri="{FF2B5EF4-FFF2-40B4-BE49-F238E27FC236}">
                <a16:creationId xmlns:a16="http://schemas.microsoft.com/office/drawing/2014/main" id="{ADB0819A-C200-424C-8355-679C575062E2}"/>
              </a:ext>
            </a:extLst>
          </p:cNvPr>
          <p:cNvSpPr>
            <a:spLocks noGrp="1"/>
          </p:cNvSpPr>
          <p:nvPr>
            <p:ph idx="3"/>
          </p:nvPr>
        </p:nvSpPr>
        <p:spPr>
          <a:xfrm>
            <a:off x="365760" y="4234289"/>
            <a:ext cx="5669280" cy="1856863"/>
          </a:xfrm>
        </p:spPr>
        <p:txBody>
          <a:bodyPr/>
          <a:lstStyle/>
          <a:p>
            <a:pPr marL="0" indent="0">
              <a:buNone/>
            </a:pPr>
            <a:r>
              <a:rPr lang="en-US" sz="2400" dirty="0"/>
              <a:t>AWS Cloud customers and partners explain elements of their specific architectural solutions.</a:t>
            </a:r>
          </a:p>
          <a:p>
            <a:pPr marL="0" indent="0">
              <a:buNone/>
            </a:pPr>
            <a:r>
              <a:rPr lang="en-US" sz="2400" dirty="0">
                <a:hlinkClick r:id="rId5"/>
              </a:rPr>
              <a:t>https://aws.amazon.com/architecture/this-is-my-architecture</a:t>
            </a:r>
            <a:r>
              <a:rPr lang="en-US" sz="2400" dirty="0"/>
              <a:t> </a:t>
            </a:r>
          </a:p>
        </p:txBody>
      </p:sp>
      <p:pic>
        <p:nvPicPr>
          <p:cNvPr id="17" name="Picture 16">
            <a:extLst>
              <a:ext uri="{FF2B5EF4-FFF2-40B4-BE49-F238E27FC236}">
                <a16:creationId xmlns:a16="http://schemas.microsoft.com/office/drawing/2014/main" id="{03E6FDEB-DC0C-4E7A-8CA8-378E7C6F9A86}"/>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016971" y="1356223"/>
            <a:ext cx="1961450" cy="2286000"/>
          </a:xfrm>
          <a:prstGeom prst="rect">
            <a:avLst/>
          </a:prstGeom>
          <a:ln w="12700">
            <a:solidFill>
              <a:srgbClr val="232F3E"/>
            </a:solidFill>
          </a:ln>
          <a:effectLst>
            <a:outerShdw blurRad="63500" dist="53881" dir="2700016" rotWithShape="0">
              <a:scrgbClr r="0" g="0" b="0">
                <a:alpha val="25000"/>
              </a:scrgbClr>
            </a:outerShdw>
          </a:effectLst>
        </p:spPr>
      </p:pic>
      <p:sp>
        <p:nvSpPr>
          <p:cNvPr id="8" name="Text Placeholder 7">
            <a:extLst>
              <a:ext uri="{FF2B5EF4-FFF2-40B4-BE49-F238E27FC236}">
                <a16:creationId xmlns:a16="http://schemas.microsoft.com/office/drawing/2014/main" id="{A53FD30B-3107-400F-9C9A-5ABE471872E4}"/>
              </a:ext>
            </a:extLst>
          </p:cNvPr>
          <p:cNvSpPr>
            <a:spLocks noGrp="1"/>
          </p:cNvSpPr>
          <p:nvPr>
            <p:ph type="body" idx="13"/>
          </p:nvPr>
        </p:nvSpPr>
        <p:spPr>
          <a:xfrm>
            <a:off x="6163056" y="3837040"/>
            <a:ext cx="5669280" cy="355361"/>
          </a:xfrm>
        </p:spPr>
        <p:txBody>
          <a:bodyPr/>
          <a:lstStyle/>
          <a:p>
            <a:r>
              <a:rPr lang="en-US" i="1"/>
              <a:t>Back to Basics</a:t>
            </a:r>
            <a:endParaRPr lang="en-US"/>
          </a:p>
        </p:txBody>
      </p:sp>
      <p:sp>
        <p:nvSpPr>
          <p:cNvPr id="9" name="Content Placeholder 8">
            <a:extLst>
              <a:ext uri="{FF2B5EF4-FFF2-40B4-BE49-F238E27FC236}">
                <a16:creationId xmlns:a16="http://schemas.microsoft.com/office/drawing/2014/main" id="{7E8516AA-BE04-4083-AF1F-C8A220D306FB}"/>
              </a:ext>
            </a:extLst>
          </p:cNvPr>
          <p:cNvSpPr>
            <a:spLocks noGrp="1"/>
          </p:cNvSpPr>
          <p:nvPr>
            <p:ph idx="4"/>
          </p:nvPr>
        </p:nvSpPr>
        <p:spPr>
          <a:xfrm>
            <a:off x="6163056" y="4234289"/>
            <a:ext cx="5669280" cy="1856863"/>
          </a:xfrm>
        </p:spPr>
        <p:txBody>
          <a:bodyPr/>
          <a:lstStyle/>
          <a:p>
            <a:pPr marL="0" indent="0">
              <a:buNone/>
            </a:pPr>
            <a:r>
              <a:rPr lang="en-US" sz="2400" dirty="0"/>
              <a:t>AWS SAs explain a specific architectural building block independent of a particular cloud solution.</a:t>
            </a:r>
          </a:p>
          <a:p>
            <a:pPr marL="0" indent="0">
              <a:buNone/>
            </a:pPr>
            <a:r>
              <a:rPr lang="en-US" sz="2400" dirty="0">
                <a:hlinkClick r:id="rId7"/>
              </a:rPr>
              <a:t>https://aws.amazon.com/architecture/back-to-basics</a:t>
            </a:r>
            <a:r>
              <a:rPr lang="en-US" sz="2400" dirty="0"/>
              <a:t> </a:t>
            </a:r>
          </a:p>
        </p:txBody>
      </p:sp>
    </p:spTree>
    <p:custDataLst>
      <p:tags r:id="rId1"/>
    </p:custDataLst>
    <p:extLst>
      <p:ext uri="{BB962C8B-B14F-4D97-AF65-F5344CB8AC3E}">
        <p14:creationId xmlns:p14="http://schemas.microsoft.com/office/powerpoint/2010/main" val="2000870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EB3D5E1-2C8B-4948-AED8-6F005AEE3CED}"/>
              </a:ext>
            </a:extLst>
          </p:cNvPr>
          <p:cNvSpPr>
            <a:spLocks noGrp="1"/>
          </p:cNvSpPr>
          <p:nvPr>
            <p:ph type="sldNum" idx="97"/>
          </p:nvPr>
        </p:nvSpPr>
        <p:spPr/>
        <p:txBody>
          <a:bodyPr/>
          <a:lstStyle/>
          <a:p>
            <a:fld id="{4037B1B0-0345-4E15-985A-6BECCDBE474F}" type="slidenum">
              <a:rPr lang="en-US" smtClean="0"/>
              <a:pPr/>
              <a:t>22</a:t>
            </a:fld>
            <a:endParaRPr lang="en-US"/>
          </a:p>
        </p:txBody>
      </p:sp>
      <p:sp>
        <p:nvSpPr>
          <p:cNvPr id="3" name="Title">
            <a:extLst>
              <a:ext uri="{FF2B5EF4-FFF2-40B4-BE49-F238E27FC236}">
                <a16:creationId xmlns:a16="http://schemas.microsoft.com/office/drawing/2014/main" id="{7298A416-B10D-41EF-BCCA-F7B7656E3F0F}"/>
              </a:ext>
            </a:extLst>
          </p:cNvPr>
          <p:cNvSpPr>
            <a:spLocks noGrp="1"/>
          </p:cNvSpPr>
          <p:nvPr>
            <p:ph type="title" idx="1"/>
          </p:nvPr>
        </p:nvSpPr>
        <p:spPr/>
        <p:txBody>
          <a:bodyPr>
            <a:normAutofit fontScale="90000"/>
          </a:bodyPr>
          <a:lstStyle/>
          <a:p>
            <a:r>
              <a:rPr lang="en-US"/>
              <a:t>AWS service documentation at docs.aws.amazon.com</a:t>
            </a:r>
          </a:p>
        </p:txBody>
      </p:sp>
      <p:sp>
        <p:nvSpPr>
          <p:cNvPr id="8" name="Text Placeholder 7">
            <a:extLst>
              <a:ext uri="{FF2B5EF4-FFF2-40B4-BE49-F238E27FC236}">
                <a16:creationId xmlns:a16="http://schemas.microsoft.com/office/drawing/2014/main" id="{57A8F7AD-0B92-4534-9F32-8F13FD0949F1}"/>
              </a:ext>
            </a:extLst>
          </p:cNvPr>
          <p:cNvSpPr>
            <a:spLocks noGrp="1"/>
          </p:cNvSpPr>
          <p:nvPr>
            <p:ph type="body" idx="12"/>
          </p:nvPr>
        </p:nvSpPr>
        <p:spPr/>
        <p:txBody>
          <a:bodyPr/>
          <a:lstStyle/>
          <a:p>
            <a:r>
              <a:rPr lang="en-US"/>
              <a:t>Select a service from the Product guides and references section</a:t>
            </a:r>
          </a:p>
        </p:txBody>
      </p:sp>
      <p:sp>
        <p:nvSpPr>
          <p:cNvPr id="4" name="Content Placeholder 3">
            <a:extLst>
              <a:ext uri="{FF2B5EF4-FFF2-40B4-BE49-F238E27FC236}">
                <a16:creationId xmlns:a16="http://schemas.microsoft.com/office/drawing/2014/main" id="{8864EB56-6E47-4FCA-B6D5-AD606C3761F4}"/>
              </a:ext>
            </a:extLst>
          </p:cNvPr>
          <p:cNvSpPr>
            <a:spLocks noGrp="1"/>
          </p:cNvSpPr>
          <p:nvPr>
            <p:ph idx="2"/>
          </p:nvPr>
        </p:nvSpPr>
        <p:spPr/>
        <p:txBody>
          <a:bodyPr>
            <a:normAutofit/>
          </a:bodyPr>
          <a:lstStyle/>
          <a:p>
            <a:r>
              <a:rPr lang="en-US" sz="3200" dirty="0"/>
              <a:t>User guides, developer guides, and best practices are good sources for certification exam preparation. </a:t>
            </a:r>
          </a:p>
          <a:p>
            <a:r>
              <a:rPr lang="en-US" sz="3200" dirty="0"/>
              <a:t>Helpful sections in these resources include the following: </a:t>
            </a:r>
          </a:p>
          <a:p>
            <a:pPr lvl="2"/>
            <a:r>
              <a:rPr lang="en-US" sz="2800" dirty="0"/>
              <a:t>What is</a:t>
            </a:r>
          </a:p>
          <a:p>
            <a:pPr lvl="2"/>
            <a:r>
              <a:rPr lang="en-US" sz="2800" dirty="0"/>
              <a:t>How it works</a:t>
            </a:r>
          </a:p>
          <a:p>
            <a:pPr lvl="2"/>
            <a:r>
              <a:rPr lang="en-US" sz="2800" dirty="0"/>
              <a:t>Getting started</a:t>
            </a:r>
            <a:endParaRPr lang="en-US" sz="2400" dirty="0"/>
          </a:p>
        </p:txBody>
      </p:sp>
      <p:pic>
        <p:nvPicPr>
          <p:cNvPr id="16" name="Graphic 48">
            <a:extLst>
              <a:ext uri="{FF2B5EF4-FFF2-40B4-BE49-F238E27FC236}">
                <a16:creationId xmlns:a16="http://schemas.microsoft.com/office/drawing/2014/main" id="{AFB8770E-5E51-4788-B795-18165EDA75B1}"/>
              </a:ext>
              <a:ext uri="{C183D7F6-B498-43B3-948B-1728B52AA6E4}">
                <adec:decorative xmlns:adec="http://schemas.microsoft.com/office/drawing/2017/decorative" val="1"/>
              </a:ext>
            </a:extLst>
          </p:cNvPr>
          <p:cNvPicPr>
            <a:picLocks noGrp="1" noChangeAspect="1"/>
          </p:cNvPicPr>
          <p:nvPr>
            <p:ph type="pic" idx="2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8497888" y="2276475"/>
            <a:ext cx="2971800" cy="2971800"/>
          </a:xfrm>
          <a:prstGeom prst="rect">
            <a:avLst/>
          </a:prstGeom>
        </p:spPr>
      </p:pic>
    </p:spTree>
    <p:custDataLst>
      <p:tags r:id="rId1"/>
    </p:custDataLst>
    <p:extLst>
      <p:ext uri="{BB962C8B-B14F-4D97-AF65-F5344CB8AC3E}">
        <p14:creationId xmlns:p14="http://schemas.microsoft.com/office/powerpoint/2010/main" val="3123760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E92B6403-716B-4C52-8D36-32C54AE18218}"/>
              </a:ext>
            </a:extLst>
          </p:cNvPr>
          <p:cNvSpPr>
            <a:spLocks noGrp="1"/>
          </p:cNvSpPr>
          <p:nvPr>
            <p:ph type="sldNum" idx="97"/>
          </p:nvPr>
        </p:nvSpPr>
        <p:spPr/>
        <p:txBody>
          <a:bodyPr/>
          <a:lstStyle/>
          <a:p>
            <a:fld id="{4037B1B0-0345-4E15-985A-6BECCDBE474F}" type="slidenum">
              <a:rPr lang="en-US" smtClean="0"/>
              <a:pPr/>
              <a:t>23</a:t>
            </a:fld>
            <a:endParaRPr lang="en-US"/>
          </a:p>
        </p:txBody>
      </p:sp>
      <p:sp>
        <p:nvSpPr>
          <p:cNvPr id="3" name="Title">
            <a:extLst>
              <a:ext uri="{FF2B5EF4-FFF2-40B4-BE49-F238E27FC236}">
                <a16:creationId xmlns:a16="http://schemas.microsoft.com/office/drawing/2014/main" id="{1CB81F6F-6EE5-4559-871D-53C16BDBC0ED}"/>
              </a:ext>
            </a:extLst>
          </p:cNvPr>
          <p:cNvSpPr>
            <a:spLocks noGrp="1"/>
          </p:cNvSpPr>
          <p:nvPr>
            <p:ph type="title" idx="1"/>
          </p:nvPr>
        </p:nvSpPr>
        <p:spPr/>
        <p:txBody>
          <a:bodyPr/>
          <a:lstStyle/>
          <a:p>
            <a:r>
              <a:rPr lang="en-US"/>
              <a:t>AWS FAQ resources</a:t>
            </a:r>
          </a:p>
        </p:txBody>
      </p:sp>
      <p:sp>
        <p:nvSpPr>
          <p:cNvPr id="4" name="Text Placeholder 3">
            <a:extLst>
              <a:ext uri="{FF2B5EF4-FFF2-40B4-BE49-F238E27FC236}">
                <a16:creationId xmlns:a16="http://schemas.microsoft.com/office/drawing/2014/main" id="{2479ABCE-0EFF-4136-A6B2-1B1564DBEA16}"/>
              </a:ext>
            </a:extLst>
          </p:cNvPr>
          <p:cNvSpPr>
            <a:spLocks noGrp="1"/>
          </p:cNvSpPr>
          <p:nvPr>
            <p:ph type="body" idx="12"/>
          </p:nvPr>
        </p:nvSpPr>
        <p:spPr/>
        <p:txBody>
          <a:bodyPr/>
          <a:lstStyle/>
          <a:p>
            <a:r>
              <a:rPr lang="en-US" sz="2000"/>
              <a:t>Product-related</a:t>
            </a:r>
          </a:p>
        </p:txBody>
      </p:sp>
      <p:sp>
        <p:nvSpPr>
          <p:cNvPr id="5" name="Text Placeholder 4">
            <a:extLst>
              <a:ext uri="{FF2B5EF4-FFF2-40B4-BE49-F238E27FC236}">
                <a16:creationId xmlns:a16="http://schemas.microsoft.com/office/drawing/2014/main" id="{D9D76E87-429C-414D-88CE-55907DE0600C}"/>
              </a:ext>
            </a:extLst>
          </p:cNvPr>
          <p:cNvSpPr>
            <a:spLocks noGrp="1"/>
          </p:cNvSpPr>
          <p:nvPr>
            <p:ph type="body" idx="2"/>
          </p:nvPr>
        </p:nvSpPr>
        <p:spPr/>
        <p:txBody>
          <a:bodyPr/>
          <a:lstStyle/>
          <a:p>
            <a:r>
              <a:rPr lang="en-US" sz="2400"/>
              <a:t>Select a product to navigate to its product page FAQ.</a:t>
            </a:r>
          </a:p>
          <a:p>
            <a:r>
              <a:rPr lang="en-US" sz="2400"/>
              <a:t>Examples include the following:</a:t>
            </a:r>
          </a:p>
          <a:p>
            <a:pPr lvl="1"/>
            <a:r>
              <a:rPr lang="en-US"/>
              <a:t>Amazon EC2 Auto Scaling FAQ</a:t>
            </a:r>
          </a:p>
          <a:p>
            <a:pPr lvl="1"/>
            <a:r>
              <a:rPr lang="en-US"/>
              <a:t>Amazon S3 FAQ</a:t>
            </a:r>
          </a:p>
          <a:p>
            <a:endParaRPr lang="en-US" sz="2400"/>
          </a:p>
        </p:txBody>
      </p:sp>
      <p:sp>
        <p:nvSpPr>
          <p:cNvPr id="6" name="Text Placeholder 5">
            <a:extLst>
              <a:ext uri="{FF2B5EF4-FFF2-40B4-BE49-F238E27FC236}">
                <a16:creationId xmlns:a16="http://schemas.microsoft.com/office/drawing/2014/main" id="{C1764FDB-76A3-40AF-AE0D-036A32BA2397}"/>
              </a:ext>
            </a:extLst>
          </p:cNvPr>
          <p:cNvSpPr>
            <a:spLocks noGrp="1"/>
          </p:cNvSpPr>
          <p:nvPr>
            <p:ph type="body" idx="13"/>
          </p:nvPr>
        </p:nvSpPr>
        <p:spPr/>
        <p:txBody>
          <a:bodyPr/>
          <a:lstStyle/>
          <a:p>
            <a:r>
              <a:rPr lang="en-US" sz="2000"/>
              <a:t>Cloud computing concepts</a:t>
            </a:r>
          </a:p>
        </p:txBody>
      </p:sp>
      <p:sp>
        <p:nvSpPr>
          <p:cNvPr id="7" name="Text Placeholder 6">
            <a:extLst>
              <a:ext uri="{FF2B5EF4-FFF2-40B4-BE49-F238E27FC236}">
                <a16:creationId xmlns:a16="http://schemas.microsoft.com/office/drawing/2014/main" id="{E03615F5-6A6D-4FCA-A102-26D9F19B78A5}"/>
              </a:ext>
            </a:extLst>
          </p:cNvPr>
          <p:cNvSpPr>
            <a:spLocks noGrp="1"/>
          </p:cNvSpPr>
          <p:nvPr>
            <p:ph type="body" idx="3"/>
          </p:nvPr>
        </p:nvSpPr>
        <p:spPr/>
        <p:txBody>
          <a:bodyPr/>
          <a:lstStyle/>
          <a:p>
            <a:r>
              <a:rPr lang="en-US" sz="2400"/>
              <a:t>Choose a question or follow the link to the Cloud Computing </a:t>
            </a:r>
            <a:r>
              <a:rPr lang="en-US" sz="2400" dirty="0"/>
              <a:t>Concepts Hub </a:t>
            </a:r>
            <a:r>
              <a:rPr lang="en-US" sz="2400"/>
              <a:t>to search for questions by topic.</a:t>
            </a:r>
          </a:p>
          <a:p>
            <a:r>
              <a:rPr lang="en-US" sz="2400"/>
              <a:t>Examples include the following:</a:t>
            </a:r>
          </a:p>
          <a:p>
            <a:pPr lvl="1"/>
            <a:r>
              <a:rPr lang="en-US"/>
              <a:t>What is machine learning</a:t>
            </a:r>
            <a:r>
              <a:rPr lang="en-US" dirty="0"/>
              <a:t> (ML)?</a:t>
            </a:r>
            <a:endParaRPr lang="en-US"/>
          </a:p>
          <a:p>
            <a:pPr lvl="1"/>
            <a:r>
              <a:rPr lang="en-US"/>
              <a:t>What is </a:t>
            </a:r>
            <a:r>
              <a:rPr lang="en-US" dirty="0"/>
              <a:t>Data Mining</a:t>
            </a:r>
            <a:r>
              <a:rPr lang="en-US"/>
              <a:t>?</a:t>
            </a:r>
          </a:p>
          <a:p>
            <a:endParaRPr lang="en-US" sz="2400"/>
          </a:p>
          <a:p>
            <a:endParaRPr lang="en-US" sz="2400"/>
          </a:p>
        </p:txBody>
      </p:sp>
      <p:sp>
        <p:nvSpPr>
          <p:cNvPr id="8" name="Text Placeholder 7">
            <a:extLst>
              <a:ext uri="{FF2B5EF4-FFF2-40B4-BE49-F238E27FC236}">
                <a16:creationId xmlns:a16="http://schemas.microsoft.com/office/drawing/2014/main" id="{57FDBC73-E010-413E-A362-7FDE6ED0A5B7}"/>
              </a:ext>
            </a:extLst>
          </p:cNvPr>
          <p:cNvSpPr>
            <a:spLocks noGrp="1"/>
          </p:cNvSpPr>
          <p:nvPr>
            <p:ph type="body" idx="14"/>
          </p:nvPr>
        </p:nvSpPr>
        <p:spPr/>
        <p:txBody>
          <a:bodyPr/>
          <a:lstStyle/>
          <a:p>
            <a:r>
              <a:rPr lang="en-US" sz="2000"/>
              <a:t>Cloud comparison tool</a:t>
            </a:r>
          </a:p>
        </p:txBody>
      </p:sp>
      <p:sp>
        <p:nvSpPr>
          <p:cNvPr id="9" name="Text Placeholder 8">
            <a:extLst>
              <a:ext uri="{FF2B5EF4-FFF2-40B4-BE49-F238E27FC236}">
                <a16:creationId xmlns:a16="http://schemas.microsoft.com/office/drawing/2014/main" id="{D6B7289C-EDE4-4A6A-A9E8-03FB992BE846}"/>
              </a:ext>
            </a:extLst>
          </p:cNvPr>
          <p:cNvSpPr>
            <a:spLocks noGrp="1"/>
          </p:cNvSpPr>
          <p:nvPr>
            <p:ph type="body" idx="4"/>
          </p:nvPr>
        </p:nvSpPr>
        <p:spPr/>
        <p:txBody>
          <a:bodyPr/>
          <a:lstStyle/>
          <a:p>
            <a:r>
              <a:rPr lang="en-US" sz="2400"/>
              <a:t>Choose a topic or follow the link to the Cloud Comparison tool to search for comparisons by topic</a:t>
            </a:r>
            <a:r>
              <a:rPr lang="en-US" sz="2400" dirty="0"/>
              <a:t>.</a:t>
            </a:r>
            <a:endParaRPr lang="en-US" sz="2400"/>
          </a:p>
          <a:p>
            <a:r>
              <a:rPr lang="en-US" sz="2400"/>
              <a:t>Examples</a:t>
            </a:r>
            <a:r>
              <a:rPr lang="en-US" sz="2400" dirty="0"/>
              <a:t> include the following:</a:t>
            </a:r>
            <a:endParaRPr lang="en-US" sz="2400"/>
          </a:p>
          <a:p>
            <a:pPr lvl="1"/>
            <a:r>
              <a:rPr lang="en-US"/>
              <a:t>ETL vs. ELT</a:t>
            </a:r>
          </a:p>
          <a:p>
            <a:pPr lvl="1"/>
            <a:r>
              <a:rPr lang="en-US"/>
              <a:t>Artificial Intelligence vs Machine Learning</a:t>
            </a:r>
          </a:p>
          <a:p>
            <a:endParaRPr lang="en-US" sz="2400"/>
          </a:p>
        </p:txBody>
      </p:sp>
    </p:spTree>
    <p:custDataLst>
      <p:tags r:id="rId1"/>
    </p:custDataLst>
    <p:extLst>
      <p:ext uri="{BB962C8B-B14F-4D97-AF65-F5344CB8AC3E}">
        <p14:creationId xmlns:p14="http://schemas.microsoft.com/office/powerpoint/2010/main" val="612405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EB3D5E1-2C8B-4948-AED8-6F005AEE3CED}"/>
              </a:ext>
            </a:extLst>
          </p:cNvPr>
          <p:cNvSpPr>
            <a:spLocks noGrp="1"/>
          </p:cNvSpPr>
          <p:nvPr>
            <p:ph type="sldNum" idx="97"/>
          </p:nvPr>
        </p:nvSpPr>
        <p:spPr/>
        <p:txBody>
          <a:bodyPr/>
          <a:lstStyle/>
          <a:p>
            <a:fld id="{4037B1B0-0345-4E15-985A-6BECCDBE474F}" type="slidenum">
              <a:rPr lang="en-US" smtClean="0"/>
              <a:pPr/>
              <a:t>24</a:t>
            </a:fld>
            <a:endParaRPr lang="en-US"/>
          </a:p>
        </p:txBody>
      </p:sp>
      <p:sp>
        <p:nvSpPr>
          <p:cNvPr id="3" name="Title">
            <a:extLst>
              <a:ext uri="{FF2B5EF4-FFF2-40B4-BE49-F238E27FC236}">
                <a16:creationId xmlns:a16="http://schemas.microsoft.com/office/drawing/2014/main" id="{7298A416-B10D-41EF-BCCA-F7B7656E3F0F}"/>
              </a:ext>
            </a:extLst>
          </p:cNvPr>
          <p:cNvSpPr>
            <a:spLocks noGrp="1"/>
          </p:cNvSpPr>
          <p:nvPr>
            <p:ph type="title" idx="1"/>
          </p:nvPr>
        </p:nvSpPr>
        <p:spPr/>
        <p:txBody>
          <a:bodyPr/>
          <a:lstStyle/>
          <a:p>
            <a:r>
              <a:rPr lang="en-US"/>
              <a:t>Getting Started Resource Center links</a:t>
            </a:r>
          </a:p>
        </p:txBody>
      </p:sp>
      <p:sp>
        <p:nvSpPr>
          <p:cNvPr id="6" name="Text Placeholder 5">
            <a:extLst>
              <a:ext uri="{FF2B5EF4-FFF2-40B4-BE49-F238E27FC236}">
                <a16:creationId xmlns:a16="http://schemas.microsoft.com/office/drawing/2014/main" id="{A23A740A-D707-4771-92A7-2D5A8AE0B485}"/>
              </a:ext>
            </a:extLst>
          </p:cNvPr>
          <p:cNvSpPr>
            <a:spLocks noGrp="1"/>
          </p:cNvSpPr>
          <p:nvPr>
            <p:ph type="body" idx="12"/>
          </p:nvPr>
        </p:nvSpPr>
        <p:spPr/>
        <p:txBody>
          <a:bodyPr/>
          <a:lstStyle/>
          <a:p>
            <a:r>
              <a:rPr lang="en-US"/>
              <a:t>Hands-on Tutorials</a:t>
            </a:r>
          </a:p>
        </p:txBody>
      </p:sp>
      <p:sp>
        <p:nvSpPr>
          <p:cNvPr id="4" name="Content Placeholder 3">
            <a:extLst>
              <a:ext uri="{FF2B5EF4-FFF2-40B4-BE49-F238E27FC236}">
                <a16:creationId xmlns:a16="http://schemas.microsoft.com/office/drawing/2014/main" id="{8864EB56-6E47-4FCA-B6D5-AD606C3761F4}"/>
              </a:ext>
            </a:extLst>
          </p:cNvPr>
          <p:cNvSpPr>
            <a:spLocks noGrp="1"/>
          </p:cNvSpPr>
          <p:nvPr>
            <p:ph idx="2"/>
          </p:nvPr>
        </p:nvSpPr>
        <p:spPr/>
        <p:txBody>
          <a:bodyPr/>
          <a:lstStyle/>
          <a:p>
            <a:r>
              <a:rPr lang="en-US" dirty="0"/>
              <a:t>Filter by technology category and tutorial type (Getting Started guides, How-To guides, and tutorials).</a:t>
            </a:r>
          </a:p>
          <a:p>
            <a:r>
              <a:rPr lang="en-US" dirty="0"/>
              <a:t>Available directly at </a:t>
            </a:r>
            <a:r>
              <a:rPr lang="en-US" dirty="0">
                <a:hlinkClick r:id="rId4"/>
              </a:rPr>
              <a:t>https://aws.amazon.com/getting-started/hands-on</a:t>
            </a:r>
            <a:r>
              <a:rPr lang="en-US" dirty="0"/>
              <a:t> </a:t>
            </a:r>
          </a:p>
          <a:p>
            <a:endParaRPr lang="en-US" dirty="0"/>
          </a:p>
          <a:p>
            <a:pPr marL="0" indent="0">
              <a:buNone/>
            </a:pPr>
            <a:endParaRPr lang="en-US" dirty="0"/>
          </a:p>
          <a:p>
            <a:pPr lvl="1"/>
            <a:endParaRPr lang="en-US" dirty="0"/>
          </a:p>
        </p:txBody>
      </p:sp>
      <p:sp>
        <p:nvSpPr>
          <p:cNvPr id="7" name="Text Placeholder 6">
            <a:extLst>
              <a:ext uri="{FF2B5EF4-FFF2-40B4-BE49-F238E27FC236}">
                <a16:creationId xmlns:a16="http://schemas.microsoft.com/office/drawing/2014/main" id="{041D8328-D7DC-44C2-AF9F-71E2ED61931B}"/>
              </a:ext>
            </a:extLst>
          </p:cNvPr>
          <p:cNvSpPr>
            <a:spLocks noGrp="1"/>
          </p:cNvSpPr>
          <p:nvPr>
            <p:ph type="body" idx="13"/>
          </p:nvPr>
        </p:nvSpPr>
        <p:spPr/>
        <p:txBody>
          <a:bodyPr/>
          <a:lstStyle/>
          <a:p>
            <a:r>
              <a:rPr lang="en-US" dirty="0"/>
              <a:t>Decision guides</a:t>
            </a:r>
          </a:p>
        </p:txBody>
      </p:sp>
      <p:sp>
        <p:nvSpPr>
          <p:cNvPr id="5" name="Content Placeholder 4">
            <a:extLst>
              <a:ext uri="{FF2B5EF4-FFF2-40B4-BE49-F238E27FC236}">
                <a16:creationId xmlns:a16="http://schemas.microsoft.com/office/drawing/2014/main" id="{D2C9B64A-5498-45AE-AA63-53050592D8B7}"/>
              </a:ext>
            </a:extLst>
          </p:cNvPr>
          <p:cNvSpPr>
            <a:spLocks noGrp="1"/>
          </p:cNvSpPr>
          <p:nvPr>
            <p:ph idx="3"/>
          </p:nvPr>
        </p:nvSpPr>
        <p:spPr/>
        <p:txBody>
          <a:bodyPr/>
          <a:lstStyle/>
          <a:p>
            <a:r>
              <a:rPr lang="en-US" dirty="0"/>
              <a:t>Select a technology category to read the related guide.</a:t>
            </a:r>
          </a:p>
          <a:p>
            <a:r>
              <a:rPr lang="en-US" dirty="0"/>
              <a:t>Available directly at </a:t>
            </a:r>
            <a:r>
              <a:rPr lang="en-US" dirty="0">
                <a:hlinkClick r:id="rId5"/>
              </a:rPr>
              <a:t>https://aws.amazon.com/getting-started/decision-guides</a:t>
            </a:r>
            <a:r>
              <a:rPr lang="en-US" dirty="0"/>
              <a:t> </a:t>
            </a:r>
          </a:p>
          <a:p>
            <a:endParaRPr lang="en-US" dirty="0"/>
          </a:p>
          <a:p>
            <a:endParaRPr lang="en-US" dirty="0"/>
          </a:p>
        </p:txBody>
      </p:sp>
    </p:spTree>
    <p:custDataLst>
      <p:tags r:id="rId1"/>
    </p:custDataLst>
    <p:extLst>
      <p:ext uri="{BB962C8B-B14F-4D97-AF65-F5344CB8AC3E}">
        <p14:creationId xmlns:p14="http://schemas.microsoft.com/office/powerpoint/2010/main" val="1646409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EB3D5E1-2C8B-4948-AED8-6F005AEE3CED}"/>
              </a:ext>
            </a:extLst>
          </p:cNvPr>
          <p:cNvSpPr>
            <a:spLocks noGrp="1"/>
          </p:cNvSpPr>
          <p:nvPr>
            <p:ph type="sldNum" idx="97"/>
          </p:nvPr>
        </p:nvSpPr>
        <p:spPr/>
        <p:txBody>
          <a:bodyPr/>
          <a:lstStyle/>
          <a:p>
            <a:fld id="{4037B1B0-0345-4E15-985A-6BECCDBE474F}" type="slidenum">
              <a:rPr lang="en-US" smtClean="0"/>
              <a:pPr/>
              <a:t>25</a:t>
            </a:fld>
            <a:endParaRPr lang="en-US"/>
          </a:p>
        </p:txBody>
      </p:sp>
      <p:sp>
        <p:nvSpPr>
          <p:cNvPr id="3" name="Title">
            <a:extLst>
              <a:ext uri="{FF2B5EF4-FFF2-40B4-BE49-F238E27FC236}">
                <a16:creationId xmlns:a16="http://schemas.microsoft.com/office/drawing/2014/main" id="{7298A416-B10D-41EF-BCCA-F7B7656E3F0F}"/>
              </a:ext>
            </a:extLst>
          </p:cNvPr>
          <p:cNvSpPr>
            <a:spLocks noGrp="1"/>
          </p:cNvSpPr>
          <p:nvPr>
            <p:ph type="title" idx="1"/>
          </p:nvPr>
        </p:nvSpPr>
        <p:spPr/>
        <p:txBody>
          <a:bodyPr/>
          <a:lstStyle/>
          <a:p>
            <a:r>
              <a:rPr lang="en-US"/>
              <a:t>AWS Builder Labs</a:t>
            </a:r>
          </a:p>
        </p:txBody>
      </p:sp>
      <p:sp>
        <p:nvSpPr>
          <p:cNvPr id="7" name="Content Placeholder 6">
            <a:extLst>
              <a:ext uri="{FF2B5EF4-FFF2-40B4-BE49-F238E27FC236}">
                <a16:creationId xmlns:a16="http://schemas.microsoft.com/office/drawing/2014/main" id="{668D76AD-38F5-4C9D-91C1-A3AC2584F4F0}"/>
              </a:ext>
            </a:extLst>
          </p:cNvPr>
          <p:cNvSpPr>
            <a:spLocks noGrp="1"/>
          </p:cNvSpPr>
          <p:nvPr>
            <p:ph type="body" idx="12"/>
          </p:nvPr>
        </p:nvSpPr>
        <p:spPr/>
        <p:txBody>
          <a:bodyPr/>
          <a:lstStyle/>
          <a:p>
            <a:r>
              <a:rPr lang="en-US" dirty="0"/>
              <a:t>Browse the catalog of self-paced labs available.</a:t>
            </a:r>
          </a:p>
        </p:txBody>
      </p:sp>
      <p:sp>
        <p:nvSpPr>
          <p:cNvPr id="4" name="Content Placeholder 3">
            <a:extLst>
              <a:ext uri="{FF2B5EF4-FFF2-40B4-BE49-F238E27FC236}">
                <a16:creationId xmlns:a16="http://schemas.microsoft.com/office/drawing/2014/main" id="{8864EB56-6E47-4FCA-B6D5-AD606C3761F4}"/>
              </a:ext>
            </a:extLst>
          </p:cNvPr>
          <p:cNvSpPr>
            <a:spLocks noGrp="1"/>
          </p:cNvSpPr>
          <p:nvPr>
            <p:ph idx="2"/>
          </p:nvPr>
        </p:nvSpPr>
        <p:spPr/>
        <p:txBody>
          <a:bodyPr/>
          <a:lstStyle/>
          <a:p>
            <a:r>
              <a:rPr lang="en-US" dirty="0"/>
              <a:t>Self-paced labs run in an AWS environment similar to the labs in the course. </a:t>
            </a:r>
          </a:p>
          <a:p>
            <a:r>
              <a:rPr lang="en-US" dirty="0"/>
              <a:t>Labs require a Skill Builder subscription.</a:t>
            </a:r>
          </a:p>
          <a:p>
            <a:pPr lvl="1"/>
            <a:endParaRPr lang="en-US" dirty="0"/>
          </a:p>
        </p:txBody>
      </p:sp>
      <p:pic>
        <p:nvPicPr>
          <p:cNvPr id="16" name="Graphic 92">
            <a:extLst>
              <a:ext uri="{FF2B5EF4-FFF2-40B4-BE49-F238E27FC236}">
                <a16:creationId xmlns:a16="http://schemas.microsoft.com/office/drawing/2014/main" id="{53CD7A07-82DE-4FE6-9C4D-B00BF0280268}"/>
              </a:ext>
              <a:ext uri="{C183D7F6-B498-43B3-948B-1728B52AA6E4}">
                <adec:decorative xmlns:adec="http://schemas.microsoft.com/office/drawing/2017/decorative" val="1"/>
              </a:ext>
            </a:extLst>
          </p:cNvPr>
          <p:cNvPicPr>
            <a:picLocks noGrp="1" noChangeAspect="1"/>
          </p:cNvPicPr>
          <p:nvPr>
            <p:ph type="pic" idx="2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prstGeom prst="rect">
            <a:avLst/>
          </a:prstGeom>
        </p:spPr>
      </p:pic>
    </p:spTree>
    <p:custDataLst>
      <p:tags r:id="rId1"/>
    </p:custDataLst>
    <p:extLst>
      <p:ext uri="{BB962C8B-B14F-4D97-AF65-F5344CB8AC3E}">
        <p14:creationId xmlns:p14="http://schemas.microsoft.com/office/powerpoint/2010/main" val="2642912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F1670D5-B215-48B3-9EBD-1F4A726CDB75}"/>
              </a:ext>
            </a:extLst>
          </p:cNvPr>
          <p:cNvSpPr>
            <a:spLocks noGrp="1"/>
          </p:cNvSpPr>
          <p:nvPr>
            <p:ph type="sldNum" idx="97"/>
          </p:nvPr>
        </p:nvSpPr>
        <p:spPr/>
        <p:txBody>
          <a:bodyPr/>
          <a:lstStyle/>
          <a:p>
            <a:fld id="{4037B1B0-0345-4E15-985A-6BECCDBE474F}" type="slidenum">
              <a:rPr lang="en-US" smtClean="0"/>
              <a:pPr/>
              <a:t>26</a:t>
            </a:fld>
            <a:endParaRPr lang="en-US"/>
          </a:p>
        </p:txBody>
      </p:sp>
      <p:sp>
        <p:nvSpPr>
          <p:cNvPr id="3" name="Title">
            <a:extLst>
              <a:ext uri="{FF2B5EF4-FFF2-40B4-BE49-F238E27FC236}">
                <a16:creationId xmlns:a16="http://schemas.microsoft.com/office/drawing/2014/main" id="{EBD650A5-D108-4F47-8E91-A312326D2E57}"/>
              </a:ext>
            </a:extLst>
          </p:cNvPr>
          <p:cNvSpPr>
            <a:spLocks noGrp="1"/>
          </p:cNvSpPr>
          <p:nvPr>
            <p:ph type="title" idx="1"/>
          </p:nvPr>
        </p:nvSpPr>
        <p:spPr/>
        <p:txBody>
          <a:bodyPr/>
          <a:lstStyle/>
          <a:p>
            <a:r>
              <a:rPr lang="en-US" dirty="0"/>
              <a:t>AWS Ramp-Up Guides</a:t>
            </a:r>
          </a:p>
        </p:txBody>
      </p:sp>
      <p:sp>
        <p:nvSpPr>
          <p:cNvPr id="4" name="Text Placeholder 3">
            <a:extLst>
              <a:ext uri="{FF2B5EF4-FFF2-40B4-BE49-F238E27FC236}">
                <a16:creationId xmlns:a16="http://schemas.microsoft.com/office/drawing/2014/main" id="{B6F0E3E9-A287-4F82-8751-D7FCE3F36C37}"/>
              </a:ext>
            </a:extLst>
          </p:cNvPr>
          <p:cNvSpPr>
            <a:spLocks noGrp="1"/>
          </p:cNvSpPr>
          <p:nvPr>
            <p:ph type="body" idx="12"/>
          </p:nvPr>
        </p:nvSpPr>
        <p:spPr/>
        <p:txBody>
          <a:bodyPr/>
          <a:lstStyle/>
          <a:p>
            <a:r>
              <a:rPr lang="en-US" dirty="0"/>
              <a:t>Explore the following guides by role, solution, or industry area.</a:t>
            </a:r>
          </a:p>
        </p:txBody>
      </p:sp>
      <p:sp>
        <p:nvSpPr>
          <p:cNvPr id="5" name="Content Placeholder 4">
            <a:extLst>
              <a:ext uri="{FF2B5EF4-FFF2-40B4-BE49-F238E27FC236}">
                <a16:creationId xmlns:a16="http://schemas.microsoft.com/office/drawing/2014/main" id="{13B432F2-6742-425C-BC66-2050C6A94ACF}"/>
              </a:ext>
            </a:extLst>
          </p:cNvPr>
          <p:cNvSpPr>
            <a:spLocks noGrp="1"/>
          </p:cNvSpPr>
          <p:nvPr>
            <p:ph idx="2"/>
          </p:nvPr>
        </p:nvSpPr>
        <p:spPr>
          <a:xfrm>
            <a:off x="365760" y="1563624"/>
            <a:ext cx="8132826" cy="4873752"/>
          </a:xfrm>
        </p:spPr>
        <p:txBody>
          <a:bodyPr>
            <a:normAutofit/>
          </a:bodyPr>
          <a:lstStyle/>
          <a:p>
            <a:r>
              <a:rPr lang="en-US" dirty="0"/>
              <a:t>Downloadable guides with curated links from AWS classroom and digital curricula, video library, and AWS Builder Labs</a:t>
            </a:r>
          </a:p>
          <a:p>
            <a:r>
              <a:rPr lang="en-US" dirty="0"/>
              <a:t>The Solutions Architect Ramp-Up Guide which includes specific resources from many of the resource types highlighted in this module.</a:t>
            </a:r>
          </a:p>
          <a:p>
            <a:pPr lvl="1"/>
            <a:r>
              <a:rPr lang="en-US" dirty="0"/>
              <a:t>To access the Solutions Architect Ramp-Up Guide see </a:t>
            </a:r>
            <a:br>
              <a:rPr lang="en-US" dirty="0"/>
            </a:br>
            <a:r>
              <a:rPr lang="en-US" dirty="0">
                <a:hlinkClick r:id="rId4"/>
              </a:rPr>
              <a:t>https://d1.awsstatic.com/training-and-certification/ramp-up_guides/Ramp-Up_Guide_Architect.pdf</a:t>
            </a:r>
            <a:r>
              <a:rPr lang="en-US" dirty="0"/>
              <a:t> </a:t>
            </a:r>
          </a:p>
        </p:txBody>
      </p:sp>
      <p:pic>
        <p:nvPicPr>
          <p:cNvPr id="7" name="Graphic 31">
            <a:extLst>
              <a:ext uri="{FF2B5EF4-FFF2-40B4-BE49-F238E27FC236}">
                <a16:creationId xmlns:a16="http://schemas.microsoft.com/office/drawing/2014/main" id="{EE4F1CAE-B111-D315-ED0B-FAE8BCD70562}"/>
              </a:ext>
              <a:ext uri="{C183D7F6-B498-43B3-948B-1728B52AA6E4}">
                <adec:decorative xmlns:adec="http://schemas.microsoft.com/office/drawing/2017/decorative" val="1"/>
              </a:ext>
            </a:extLst>
          </p:cNvPr>
          <p:cNvPicPr>
            <a:picLocks noGrp="1" noChangeAspect="1"/>
          </p:cNvPicPr>
          <p:nvPr>
            <p:ph type="pic" idx="22"/>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prstGeom prst="rect">
            <a:avLst/>
          </a:prstGeom>
        </p:spPr>
      </p:pic>
    </p:spTree>
    <p:custDataLst>
      <p:tags r:id="rId1"/>
    </p:custDataLst>
    <p:extLst>
      <p:ext uri="{BB962C8B-B14F-4D97-AF65-F5344CB8AC3E}">
        <p14:creationId xmlns:p14="http://schemas.microsoft.com/office/powerpoint/2010/main" val="1671117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466D712-C9A8-46A0-B884-5E631A8FEB20}"/>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0CB2CE2B-6503-4A42-A26B-2A0DCBE429FE}"/>
              </a:ext>
            </a:extLst>
          </p:cNvPr>
          <p:cNvSpPr>
            <a:spLocks noGrp="1"/>
          </p:cNvSpPr>
          <p:nvPr>
            <p:ph type="title" idx="1"/>
          </p:nvPr>
        </p:nvSpPr>
        <p:spPr/>
        <p:txBody>
          <a:bodyPr/>
          <a:lstStyle/>
          <a:p>
            <a:r>
              <a:rPr lang="en-US"/>
              <a:t>Module wrap-up</a:t>
            </a:r>
          </a:p>
        </p:txBody>
      </p:sp>
      <p:sp>
        <p:nvSpPr>
          <p:cNvPr id="4" name="Subtitle 3">
            <a:extLst>
              <a:ext uri="{FF2B5EF4-FFF2-40B4-BE49-F238E27FC236}">
                <a16:creationId xmlns:a16="http://schemas.microsoft.com/office/drawing/2014/main" id="{5E5B7028-94BF-44DD-A6A8-83AC8452CF4D}"/>
              </a:ext>
            </a:extLst>
          </p:cNvPr>
          <p:cNvSpPr>
            <a:spLocks noGrp="1"/>
          </p:cNvSpPr>
          <p:nvPr>
            <p:ph type="subTitle" idx="2"/>
          </p:nvPr>
        </p:nvSpPr>
        <p:spPr/>
        <p:txBody>
          <a:bodyPr/>
          <a:lstStyle/>
          <a:p>
            <a:r>
              <a:rPr lang="en-US"/>
              <a:t>Bridging to Certification</a:t>
            </a:r>
          </a:p>
        </p:txBody>
      </p:sp>
    </p:spTree>
    <p:custDataLst>
      <p:tags r:id="rId1"/>
    </p:custDataLst>
    <p:extLst>
      <p:ext uri="{BB962C8B-B14F-4D97-AF65-F5344CB8AC3E}">
        <p14:creationId xmlns:p14="http://schemas.microsoft.com/office/powerpoint/2010/main" val="3789136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B977DED-1D58-41D1-B7D1-CD7547E004DA}"/>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BB1EAD8F-C490-41B0-BAA6-7B6D3A342EAD}"/>
              </a:ext>
            </a:extLst>
          </p:cNvPr>
          <p:cNvSpPr>
            <a:spLocks noGrp="1"/>
          </p:cNvSpPr>
          <p:nvPr>
            <p:ph type="title" idx="1"/>
          </p:nvPr>
        </p:nvSpPr>
        <p:spPr/>
        <p:txBody>
          <a:bodyPr/>
          <a:lstStyle/>
          <a:p>
            <a:r>
              <a:rPr lang="en-US"/>
              <a:t>Module summary</a:t>
            </a:r>
          </a:p>
        </p:txBody>
      </p:sp>
      <p:sp>
        <p:nvSpPr>
          <p:cNvPr id="4" name="Content Placeholder 3">
            <a:extLst>
              <a:ext uri="{FF2B5EF4-FFF2-40B4-BE49-F238E27FC236}">
                <a16:creationId xmlns:a16="http://schemas.microsoft.com/office/drawing/2014/main" id="{CC88BFF3-185D-4536-92AC-28642BDA4378}"/>
              </a:ext>
            </a:extLst>
          </p:cNvPr>
          <p:cNvSpPr>
            <a:spLocks noGrp="1"/>
          </p:cNvSpPr>
          <p:nvPr>
            <p:ph idx="2"/>
          </p:nvPr>
        </p:nvSpPr>
        <p:spPr/>
        <p:txBody>
          <a:bodyPr/>
          <a:lstStyle/>
          <a:p>
            <a:pPr marL="0" indent="0">
              <a:buNone/>
            </a:pPr>
            <a:r>
              <a:rPr lang="en-US" dirty="0"/>
              <a:t>This module prepared you to do the following: </a:t>
            </a:r>
          </a:p>
          <a:p>
            <a:pPr lvl="1"/>
            <a:r>
              <a:rPr lang="en-US" dirty="0"/>
              <a:t>Identify how to prepare for the AWS Certified Solutions Architect – Associate exam.</a:t>
            </a:r>
          </a:p>
          <a:p>
            <a:pPr lvl="1"/>
            <a:r>
              <a:rPr lang="en-US" dirty="0"/>
              <a:t>Find resources to prepare for the exam.</a:t>
            </a:r>
          </a:p>
          <a:p>
            <a:pPr marL="0" indent="0">
              <a:buNone/>
            </a:pPr>
            <a:endParaRPr lang="en-US" sz="2400" dirty="0"/>
          </a:p>
        </p:txBody>
      </p:sp>
    </p:spTree>
    <p:custDataLst>
      <p:tags r:id="rId1"/>
    </p:custDataLst>
    <p:extLst>
      <p:ext uri="{BB962C8B-B14F-4D97-AF65-F5344CB8AC3E}">
        <p14:creationId xmlns:p14="http://schemas.microsoft.com/office/powerpoint/2010/main" val="998737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FC7CDECE-42DD-444A-A391-59FC4FA195B0}"/>
              </a:ext>
            </a:extLst>
          </p:cNvPr>
          <p:cNvSpPr>
            <a:spLocks noGrp="1"/>
          </p:cNvSpPr>
          <p:nvPr>
            <p:ph type="sldNum" idx="97"/>
          </p:nvPr>
        </p:nvSpPr>
        <p:spPr/>
        <p:txBody>
          <a:bodyPr/>
          <a:lstStyle/>
          <a:p>
            <a:fld id="{4037B1B0-0345-4E15-985A-6BECCDBE474F}" type="slidenum">
              <a:rPr lang="en-US" smtClean="0"/>
              <a:pPr/>
              <a:t>29</a:t>
            </a:fld>
            <a:endParaRPr lang="en-US"/>
          </a:p>
        </p:txBody>
      </p:sp>
      <p:sp>
        <p:nvSpPr>
          <p:cNvPr id="3" name="Title">
            <a:extLst>
              <a:ext uri="{FF2B5EF4-FFF2-40B4-BE49-F238E27FC236}">
                <a16:creationId xmlns:a16="http://schemas.microsoft.com/office/drawing/2014/main" id="{86DE125D-EF16-4D55-911F-84B4B633C221}"/>
              </a:ext>
            </a:extLst>
          </p:cNvPr>
          <p:cNvSpPr>
            <a:spLocks noGrp="1"/>
          </p:cNvSpPr>
          <p:nvPr>
            <p:ph type="title" idx="1"/>
          </p:nvPr>
        </p:nvSpPr>
        <p:spPr/>
        <p:txBody>
          <a:bodyPr/>
          <a:lstStyle/>
          <a:p>
            <a:r>
              <a:rPr lang="en-US"/>
              <a:t>Thank you</a:t>
            </a:r>
          </a:p>
        </p:txBody>
      </p:sp>
      <p:sp>
        <p:nvSpPr>
          <p:cNvPr id="8" name="Text Placeholder 11">
            <a:extLst>
              <a:ext uri="{FF2B5EF4-FFF2-40B4-BE49-F238E27FC236}">
                <a16:creationId xmlns:a16="http://schemas.microsoft.com/office/drawing/2014/main" id="{42F1ACF1-06C6-4DA7-8E1C-319A1D6E0048}"/>
              </a:ext>
            </a:extLst>
          </p:cNvPr>
          <p:cNvSpPr>
            <a:spLocks noGrp="1"/>
          </p:cNvSpPr>
          <p:nvPr>
            <p:ph type="body" idx="2"/>
          </p:nvPr>
        </p:nvSpPr>
        <p:spPr/>
        <p:txBody>
          <a:bodyPr/>
          <a:lstStyle>
            <a:lvl1pPr marL="0" indent="0">
              <a:lnSpc>
                <a:spcPct val="100000"/>
              </a:lnSpc>
              <a:spcBef>
                <a:spcPts val="0"/>
              </a:spcBef>
              <a:spcAft>
                <a:spcPts val="0"/>
              </a:spcAft>
              <a:buClrTx/>
              <a:buSzTx/>
              <a:buFontTx/>
              <a:buNone/>
              <a:tabLst/>
              <a:defRPr sz="1800">
                <a:solidFill>
                  <a:schemeClr val="bg2"/>
                </a:solidFill>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r>
              <a:rPr lang="en-US" dirty="0">
                <a:solidFill>
                  <a:schemeClr val="bg1"/>
                </a:solidFill>
              </a:rPr>
              <a:t>Corrections, feedback, or other questions?</a:t>
            </a:r>
          </a:p>
          <a:p>
            <a:r>
              <a:rPr lang="en-US" dirty="0">
                <a:solidFill>
                  <a:schemeClr val="bg1"/>
                </a:solidFill>
              </a:rPr>
              <a:t>Contact us at </a:t>
            </a:r>
            <a:r>
              <a:rPr lang="en-US" dirty="0">
                <a:solidFill>
                  <a:schemeClr val="bg1"/>
                </a:solidFill>
                <a:hlinkClick r:id="rId4">
                  <a:extLst>
                    <a:ext uri="{A12FA001-AC4F-418D-AE19-62706E023703}">
                      <ahyp:hlinkClr xmlns:ahyp="http://schemas.microsoft.com/office/drawing/2018/hyperlinkcolor" val="tx"/>
                    </a:ext>
                  </a:extLst>
                </a:hlinkClick>
              </a:rPr>
              <a:t>https://support.aws.amazon.com/#/contacts/aws-academy</a:t>
            </a:r>
            <a:r>
              <a:rPr lang="en-US" dirty="0">
                <a:solidFill>
                  <a:schemeClr val="bg1"/>
                </a:solidFill>
              </a:rPr>
              <a:t>.</a:t>
            </a:r>
          </a:p>
        </p:txBody>
      </p:sp>
    </p:spTree>
    <p:custDataLst>
      <p:tags r:id="rId1"/>
    </p:custDataLst>
    <p:extLst>
      <p:ext uri="{BB962C8B-B14F-4D97-AF65-F5344CB8AC3E}">
        <p14:creationId xmlns:p14="http://schemas.microsoft.com/office/powerpoint/2010/main" val="361896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NEBRAND EVO (2022-Q4) COLORSET 3" val="hwhSl2nC"/>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neBrand EVO (2022-Q4) ColorSet 3">
  <a:themeElements>
    <a:clrScheme name="OneBrand Evo Set 3">
      <a:dk1>
        <a:sysClr val="windowText" lastClr="000000"/>
      </a:dk1>
      <a:lt1>
        <a:sysClr val="window" lastClr="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4 (2022-Q4).potx" id="{CECD8FAD-F029-48AF-B3C8-C6C68F5F2640}" vid="{A1F5EB9E-5EAA-4239-ADDD-DA0BB31B89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6485</Words>
  <Application>Microsoft Office PowerPoint</Application>
  <PresentationFormat>Widescreen</PresentationFormat>
  <Paragraphs>469</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Amazon Ember</vt:lpstr>
      <vt:lpstr>Amazon Ember display</vt:lpstr>
      <vt:lpstr>Amazon Ember display</vt:lpstr>
      <vt:lpstr>Amazon Ember Display Heavy</vt:lpstr>
      <vt:lpstr>Amazon Ember Heavy</vt:lpstr>
      <vt:lpstr>Amazon Ember Light</vt:lpstr>
      <vt:lpstr>Arial</vt:lpstr>
      <vt:lpstr>Calibri</vt:lpstr>
      <vt:lpstr>Lucida Console</vt:lpstr>
      <vt:lpstr>OneBrand EVO (2022-Q4) ColorSet 3</vt:lpstr>
      <vt:lpstr>Bridging to Certification</vt:lpstr>
      <vt:lpstr>Introduction</vt:lpstr>
      <vt:lpstr>Module objectives</vt:lpstr>
      <vt:lpstr>Module overview</vt:lpstr>
      <vt:lpstr>About AWS Certification exams</vt:lpstr>
      <vt:lpstr>About the Solutions Architect – Associate Certification</vt:lpstr>
      <vt:lpstr>Solutions Architect – Associate Certification domains and task statements</vt:lpstr>
      <vt:lpstr>Solutions Architect – Associate content domains</vt:lpstr>
      <vt:lpstr>Certification content domain 1 task statements</vt:lpstr>
      <vt:lpstr>Certification content domain 2 task statements</vt:lpstr>
      <vt:lpstr>Certification content domain 3 task statements</vt:lpstr>
      <vt:lpstr>Certification content domain 4 task statements</vt:lpstr>
      <vt:lpstr>Solutions Architect – Associate Certification exam preparation resources</vt:lpstr>
      <vt:lpstr>AWS Certification resources</vt:lpstr>
      <vt:lpstr>Free exam readiness resources</vt:lpstr>
      <vt:lpstr>Exam readiness with an AWS Skill Builder subscription</vt:lpstr>
      <vt:lpstr>Additional resources</vt:lpstr>
      <vt:lpstr>AWS Well-Architected Framework</vt:lpstr>
      <vt:lpstr>Centralized hubs for finding AWS resources</vt:lpstr>
      <vt:lpstr>Architecture Center resource categories</vt:lpstr>
      <vt:lpstr>Suggested AWS Video Series for architecting</vt:lpstr>
      <vt:lpstr>AWS service documentation at docs.aws.amazon.com</vt:lpstr>
      <vt:lpstr>AWS FAQ resources</vt:lpstr>
      <vt:lpstr>Getting Started Resource Center links</vt:lpstr>
      <vt:lpstr>AWS Builder Labs</vt:lpstr>
      <vt:lpstr>AWS Ramp-Up Guides</vt:lpstr>
      <vt:lpstr>Module wrap-up</vt:lpstr>
      <vt:lpstr>Module 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2024-02-28T21:32:01Z</dcterms:created>
  <dcterms:modified xsi:type="dcterms:W3CDTF">2024-02-28T21:32:04Z</dcterms:modified>
</cp:coreProperties>
</file>
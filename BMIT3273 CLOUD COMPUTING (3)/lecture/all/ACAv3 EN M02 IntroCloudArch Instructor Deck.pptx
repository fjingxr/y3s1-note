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ags/tag56.xml" ContentType="application/vnd.openxmlformats-officedocument.presentationml.tags+xml"/>
  <Override PartName="/ppt/notesSlides/notesSlide1.xml" ContentType="application/vnd.openxmlformats-officedocument.presentationml.notesSlide+xml"/>
  <Override PartName="/ppt/tags/tag57.xml" ContentType="application/vnd.openxmlformats-officedocument.presentationml.tags+xml"/>
  <Override PartName="/ppt/notesSlides/notesSlide2.xml" ContentType="application/vnd.openxmlformats-officedocument.presentationml.notesSlide+xml"/>
  <Override PartName="/ppt/tags/tag58.xml" ContentType="application/vnd.openxmlformats-officedocument.presentationml.tags+xml"/>
  <Override PartName="/ppt/notesSlides/notesSlide3.xml" ContentType="application/vnd.openxmlformats-officedocument.presentationml.notesSlide+xml"/>
  <Override PartName="/ppt/tags/tag59.xml" ContentType="application/vnd.openxmlformats-officedocument.presentationml.tags+xml"/>
  <Override PartName="/ppt/notesSlides/notesSlide4.xml" ContentType="application/vnd.openxmlformats-officedocument.presentationml.notesSlide+xml"/>
  <Override PartName="/ppt/tags/tag60.xml" ContentType="application/vnd.openxmlformats-officedocument.presentationml.tags+xml"/>
  <Override PartName="/ppt/notesSlides/notesSlide5.xml" ContentType="application/vnd.openxmlformats-officedocument.presentationml.notesSlide+xml"/>
  <Override PartName="/ppt/tags/tag61.xml" ContentType="application/vnd.openxmlformats-officedocument.presentationml.tags+xml"/>
  <Override PartName="/ppt/notesSlides/notesSlide6.xml" ContentType="application/vnd.openxmlformats-officedocument.presentationml.notesSlide+xml"/>
  <Override PartName="/ppt/tags/tag62.xml" ContentType="application/vnd.openxmlformats-officedocument.presentationml.tags+xml"/>
  <Override PartName="/ppt/notesSlides/notesSlide7.xml" ContentType="application/vnd.openxmlformats-officedocument.presentationml.notesSlide+xml"/>
  <Override PartName="/ppt/tags/tag63.xml" ContentType="application/vnd.openxmlformats-officedocument.presentationml.tags+xml"/>
  <Override PartName="/ppt/notesSlides/notesSlide8.xml" ContentType="application/vnd.openxmlformats-officedocument.presentationml.notesSlide+xml"/>
  <Override PartName="/ppt/tags/tag64.xml" ContentType="application/vnd.openxmlformats-officedocument.presentationml.tags+xml"/>
  <Override PartName="/ppt/notesSlides/notesSlide9.xml" ContentType="application/vnd.openxmlformats-officedocument.presentationml.notesSlide+xml"/>
  <Override PartName="/ppt/tags/tag65.xml" ContentType="application/vnd.openxmlformats-officedocument.presentationml.tags+xml"/>
  <Override PartName="/ppt/notesSlides/notesSlide10.xml" ContentType="application/vnd.openxmlformats-officedocument.presentationml.notesSlide+xml"/>
  <Override PartName="/ppt/tags/tag66.xml" ContentType="application/vnd.openxmlformats-officedocument.presentationml.tags+xml"/>
  <Override PartName="/ppt/notesSlides/notesSlide11.xml" ContentType="application/vnd.openxmlformats-officedocument.presentationml.notesSlide+xml"/>
  <Override PartName="/ppt/tags/tag67.xml" ContentType="application/vnd.openxmlformats-officedocument.presentationml.tags+xml"/>
  <Override PartName="/ppt/notesSlides/notesSlide12.xml" ContentType="application/vnd.openxmlformats-officedocument.presentationml.notesSlide+xml"/>
  <Override PartName="/ppt/tags/tag68.xml" ContentType="application/vnd.openxmlformats-officedocument.presentationml.tags+xml"/>
  <Override PartName="/ppt/notesSlides/notesSlide13.xml" ContentType="application/vnd.openxmlformats-officedocument.presentationml.notesSlide+xml"/>
  <Override PartName="/ppt/tags/tag69.xml" ContentType="application/vnd.openxmlformats-officedocument.presentationml.tags+xml"/>
  <Override PartName="/ppt/notesSlides/notesSlide14.xml" ContentType="application/vnd.openxmlformats-officedocument.presentationml.notesSlide+xml"/>
  <Override PartName="/ppt/tags/tag70.xml" ContentType="application/vnd.openxmlformats-officedocument.presentationml.tags+xml"/>
  <Override PartName="/ppt/notesSlides/notesSlide15.xml" ContentType="application/vnd.openxmlformats-officedocument.presentationml.notesSlide+xml"/>
  <Override PartName="/ppt/tags/tag71.xml" ContentType="application/vnd.openxmlformats-officedocument.presentationml.tags+xml"/>
  <Override PartName="/ppt/notesSlides/notesSlide16.xml" ContentType="application/vnd.openxmlformats-officedocument.presentationml.notesSlide+xml"/>
  <Override PartName="/ppt/tags/tag72.xml" ContentType="application/vnd.openxmlformats-officedocument.presentationml.tags+xml"/>
  <Override PartName="/ppt/notesSlides/notesSlide17.xml" ContentType="application/vnd.openxmlformats-officedocument.presentationml.notesSlide+xml"/>
  <Override PartName="/ppt/tags/tag73.xml" ContentType="application/vnd.openxmlformats-officedocument.presentationml.tags+xml"/>
  <Override PartName="/ppt/notesSlides/notesSlide18.xml" ContentType="application/vnd.openxmlformats-officedocument.presentationml.notesSlide+xml"/>
  <Override PartName="/ppt/tags/tag74.xml" ContentType="application/vnd.openxmlformats-officedocument.presentationml.tags+xml"/>
  <Override PartName="/ppt/notesSlides/notesSlide19.xml" ContentType="application/vnd.openxmlformats-officedocument.presentationml.notesSlide+xml"/>
  <Override PartName="/ppt/tags/tag75.xml" ContentType="application/vnd.openxmlformats-officedocument.presentationml.tags+xml"/>
  <Override PartName="/ppt/notesSlides/notesSlide20.xml" ContentType="application/vnd.openxmlformats-officedocument.presentationml.notesSlide+xml"/>
  <Override PartName="/ppt/tags/tag76.xml" ContentType="application/vnd.openxmlformats-officedocument.presentationml.tags+xml"/>
  <Override PartName="/ppt/notesSlides/notesSlide21.xml" ContentType="application/vnd.openxmlformats-officedocument.presentationml.notesSlide+xml"/>
  <Override PartName="/ppt/tags/tag77.xml" ContentType="application/vnd.openxmlformats-officedocument.presentationml.tags+xml"/>
  <Override PartName="/ppt/notesSlides/notesSlide22.xml" ContentType="application/vnd.openxmlformats-officedocument.presentationml.notesSlide+xml"/>
  <Override PartName="/ppt/tags/tag78.xml" ContentType="application/vnd.openxmlformats-officedocument.presentationml.tags+xml"/>
  <Override PartName="/ppt/notesSlides/notesSlide23.xml" ContentType="application/vnd.openxmlformats-officedocument.presentationml.notesSlide+xml"/>
  <Override PartName="/ppt/tags/tag79.xml" ContentType="application/vnd.openxmlformats-officedocument.presentationml.tags+xml"/>
  <Override PartName="/ppt/notesSlides/notesSlide24.xml" ContentType="application/vnd.openxmlformats-officedocument.presentationml.notesSlide+xml"/>
  <Override PartName="/ppt/tags/tag80.xml" ContentType="application/vnd.openxmlformats-officedocument.presentationml.tags+xml"/>
  <Override PartName="/ppt/notesSlides/notesSlide25.xml" ContentType="application/vnd.openxmlformats-officedocument.presentationml.notesSlide+xml"/>
  <Override PartName="/ppt/tags/tag81.xml" ContentType="application/vnd.openxmlformats-officedocument.presentationml.tags+xml"/>
  <Override PartName="/ppt/notesSlides/notesSlide26.xml" ContentType="application/vnd.openxmlformats-officedocument.presentationml.notesSlide+xml"/>
  <Override PartName="/ppt/tags/tag82.xml" ContentType="application/vnd.openxmlformats-officedocument.presentationml.tags+xml"/>
  <Override PartName="/ppt/notesSlides/notesSlide27.xml" ContentType="application/vnd.openxmlformats-officedocument.presentationml.notesSlide+xml"/>
  <Override PartName="/ppt/tags/tag83.xml" ContentType="application/vnd.openxmlformats-officedocument.presentationml.tags+xml"/>
  <Override PartName="/ppt/notesSlides/notesSlide28.xml" ContentType="application/vnd.openxmlformats-officedocument.presentationml.notesSlide+xml"/>
  <Override PartName="/ppt/tags/tag84.xml" ContentType="application/vnd.openxmlformats-officedocument.presentationml.tags+xml"/>
  <Override PartName="/ppt/notesSlides/notesSlide29.xml" ContentType="application/vnd.openxmlformats-officedocument.presentationml.notesSlide+xml"/>
  <Override PartName="/ppt/tags/tag85.xml" ContentType="application/vnd.openxmlformats-officedocument.presentationml.tags+xml"/>
  <Override PartName="/ppt/notesSlides/notesSlide30.xml" ContentType="application/vnd.openxmlformats-officedocument.presentationml.notesSlide+xml"/>
  <Override PartName="/ppt/tags/tag86.xml" ContentType="application/vnd.openxmlformats-officedocument.presentationml.tags+xml"/>
  <Override PartName="/ppt/notesSlides/notesSlide31.xml" ContentType="application/vnd.openxmlformats-officedocument.presentationml.notesSlide+xml"/>
  <Override PartName="/ppt/tags/tag87.xml" ContentType="application/vnd.openxmlformats-officedocument.presentationml.tags+xml"/>
  <Override PartName="/ppt/notesSlides/notesSlide32.xml" ContentType="application/vnd.openxmlformats-officedocument.presentationml.notesSlide+xml"/>
  <Override PartName="/ppt/tags/tag88.xml" ContentType="application/vnd.openxmlformats-officedocument.presentationml.tags+xml"/>
  <Override PartName="/ppt/notesSlides/notesSlide33.xml" ContentType="application/vnd.openxmlformats-officedocument.presentationml.notesSlide+xml"/>
  <Override PartName="/ppt/tags/tag89.xml" ContentType="application/vnd.openxmlformats-officedocument.presentationml.tags+xml"/>
  <Override PartName="/ppt/notesSlides/notesSlide34.xml" ContentType="application/vnd.openxmlformats-officedocument.presentationml.notesSlide+xml"/>
  <Override PartName="/ppt/tags/tag90.xml" ContentType="application/vnd.openxmlformats-officedocument.presentationml.tags+xml"/>
  <Override PartName="/ppt/notesSlides/notesSlide35.xml" ContentType="application/vnd.openxmlformats-officedocument.presentationml.notesSlide+xml"/>
  <Override PartName="/ppt/tags/tag91.xml" ContentType="application/vnd.openxmlformats-officedocument.presentationml.tags+xml"/>
  <Override PartName="/ppt/notesSlides/notesSlide36.xml" ContentType="application/vnd.openxmlformats-officedocument.presentationml.notesSlide+xml"/>
  <Override PartName="/ppt/tags/tag92.xml" ContentType="application/vnd.openxmlformats-officedocument.presentationml.tags+xml"/>
  <Override PartName="/ppt/notesSlides/notesSlide37.xml" ContentType="application/vnd.openxmlformats-officedocument.presentationml.notesSlide+xml"/>
  <Override PartName="/ppt/tags/tag93.xml" ContentType="application/vnd.openxmlformats-officedocument.presentationml.tags+xml"/>
  <Override PartName="/ppt/notesSlides/notesSlide38.xml" ContentType="application/vnd.openxmlformats-officedocument.presentationml.notesSlide+xml"/>
  <Override PartName="/ppt/tags/tag94.xml" ContentType="application/vnd.openxmlformats-officedocument.presentationml.tags+xml"/>
  <Override PartName="/ppt/notesSlides/notesSlide39.xml" ContentType="application/vnd.openxmlformats-officedocument.presentationml.notesSlide+xml"/>
  <Override PartName="/ppt/tags/tag95.xml" ContentType="application/vnd.openxmlformats-officedocument.presentationml.tags+xml"/>
  <Override PartName="/ppt/notesSlides/notesSlide40.xml" ContentType="application/vnd.openxmlformats-officedocument.presentationml.notesSlide+xml"/>
  <Override PartName="/ppt/tags/tag96.xml" ContentType="application/vnd.openxmlformats-officedocument.presentationml.tags+xml"/>
  <Override PartName="/ppt/notesSlides/notesSlide41.xml" ContentType="application/vnd.openxmlformats-officedocument.presentationml.notesSlide+xml"/>
  <Override PartName="/ppt/tags/tag97.xml" ContentType="application/vnd.openxmlformats-officedocument.presentationml.tags+xml"/>
  <Override PartName="/ppt/notesSlides/notesSlide42.xml" ContentType="application/vnd.openxmlformats-officedocument.presentationml.notesSlide+xml"/>
  <Override PartName="/ppt/tags/tag98.xml" ContentType="application/vnd.openxmlformats-officedocument.presentationml.tags+xml"/>
  <Override PartName="/ppt/notesSlides/notesSlide43.xml" ContentType="application/vnd.openxmlformats-officedocument.presentationml.notesSlide+xml"/>
  <Override PartName="/ppt/tags/tag99.xml" ContentType="application/vnd.openxmlformats-officedocument.presentationml.tags+xml"/>
  <Override PartName="/ppt/notesSlides/notesSlide44.xml" ContentType="application/vnd.openxmlformats-officedocument.presentationml.notesSlide+xml"/>
  <Override PartName="/ppt/tags/tag100.xml" ContentType="application/vnd.openxmlformats-officedocument.presentationml.tags+xml"/>
  <Override PartName="/ppt/notesSlides/notesSlide45.xml" ContentType="application/vnd.openxmlformats-officedocument.presentationml.notesSlide+xml"/>
  <Override PartName="/ppt/tags/tag101.xml" ContentType="application/vnd.openxmlformats-officedocument.presentationml.tags+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4258" r:id="rId1"/>
  </p:sldMasterIdLst>
  <p:notesMasterIdLst>
    <p:notesMasterId r:id="rId48"/>
  </p:notesMasterIdLst>
  <p:sldIdLst>
    <p:sldId id="430" r:id="rId2"/>
    <p:sldId id="1883" r:id="rId3"/>
    <p:sldId id="1884" r:id="rId4"/>
    <p:sldId id="1749" r:id="rId5"/>
    <p:sldId id="1873" r:id="rId6"/>
    <p:sldId id="431" r:id="rId7"/>
    <p:sldId id="354" r:id="rId8"/>
    <p:sldId id="900" r:id="rId9"/>
    <p:sldId id="1885" r:id="rId10"/>
    <p:sldId id="617" r:id="rId11"/>
    <p:sldId id="890" r:id="rId12"/>
    <p:sldId id="937" r:id="rId13"/>
    <p:sldId id="332" r:id="rId14"/>
    <p:sldId id="334" r:id="rId15"/>
    <p:sldId id="335" r:id="rId16"/>
    <p:sldId id="336" r:id="rId17"/>
    <p:sldId id="337" r:id="rId18"/>
    <p:sldId id="1591" r:id="rId19"/>
    <p:sldId id="1886" r:id="rId20"/>
    <p:sldId id="889" r:id="rId21"/>
    <p:sldId id="616" r:id="rId22"/>
    <p:sldId id="901" r:id="rId23"/>
    <p:sldId id="263" r:id="rId24"/>
    <p:sldId id="265" r:id="rId25"/>
    <p:sldId id="1888" r:id="rId26"/>
    <p:sldId id="902" r:id="rId27"/>
    <p:sldId id="267" r:id="rId28"/>
    <p:sldId id="903" r:id="rId29"/>
    <p:sldId id="904" r:id="rId30"/>
    <p:sldId id="271" r:id="rId31"/>
    <p:sldId id="905" r:id="rId32"/>
    <p:sldId id="273" r:id="rId33"/>
    <p:sldId id="906" r:id="rId34"/>
    <p:sldId id="898" r:id="rId35"/>
    <p:sldId id="884" r:id="rId36"/>
    <p:sldId id="312" r:id="rId37"/>
    <p:sldId id="344" r:id="rId38"/>
    <p:sldId id="341" r:id="rId39"/>
    <p:sldId id="907" r:id="rId40"/>
    <p:sldId id="340" r:id="rId41"/>
    <p:sldId id="346" r:id="rId42"/>
    <p:sldId id="895" r:id="rId43"/>
    <p:sldId id="883" r:id="rId44"/>
    <p:sldId id="345" r:id="rId45"/>
    <p:sldId id="1887" r:id="rId46"/>
    <p:sldId id="1678" r:id="rId47"/>
  </p:sldIdLst>
  <p:sldSz cx="12192000" cy="6858000"/>
  <p:notesSz cx="7772400" cy="10058400"/>
  <p:embeddedFontLst>
    <p:embeddedFont>
      <p:font typeface="Amazon Ember" panose="020B0603020204020204" pitchFamily="34" charset="0"/>
      <p:regular r:id="rId49"/>
      <p:bold r:id="rId50"/>
      <p:italic r:id="rId51"/>
      <p:boldItalic r:id="rId52"/>
    </p:embeddedFont>
    <p:embeddedFont>
      <p:font typeface="Amazon Ember Display" panose="020F0603020204020204" pitchFamily="34" charset="0"/>
      <p:regular r:id="rId53"/>
      <p:bold r:id="rId54"/>
      <p:italic r:id="rId55"/>
      <p:boldItalic r:id="rId56"/>
    </p:embeddedFont>
    <p:embeddedFont>
      <p:font typeface="Amazon Ember Display" panose="020F0603020204020204" pitchFamily="34" charset="0"/>
      <p:regular r:id="rId53"/>
      <p:bold r:id="rId54"/>
      <p:italic r:id="rId55"/>
      <p:boldItalic r:id="rId56"/>
    </p:embeddedFont>
    <p:embeddedFont>
      <p:font typeface="Amazon Ember Display Heavy" panose="020F0803020204020204" pitchFamily="34" charset="0"/>
      <p:bold r:id="rId57"/>
    </p:embeddedFont>
    <p:embeddedFont>
      <p:font typeface="Amazon Ember Heavy" panose="020B0803020204020204" pitchFamily="34" charset="0"/>
      <p:bold r:id="rId58"/>
      <p:boldItalic r:id="rId59"/>
    </p:embeddedFont>
    <p:embeddedFont>
      <p:font typeface="Calibri" panose="020F0502020204030204" pitchFamily="34" charset="0"/>
      <p:regular r:id="rId60"/>
      <p:bold r:id="rId61"/>
      <p:italic r:id="rId62"/>
      <p:boldItalic r:id="rId63"/>
    </p:embeddedFont>
    <p:embeddedFont>
      <p:font typeface="Lucida Console" panose="020B0609040504020204" pitchFamily="49" charset="0"/>
      <p:regular r:id="rId64"/>
    </p:embeddedFont>
    <p:embeddedFont>
      <p:font typeface="Verdana" panose="020B0604030504040204" pitchFamily="34" charset="0"/>
      <p:regular r:id="rId65"/>
      <p:bold r:id="rId66"/>
      <p:italic r:id="rId67"/>
      <p:boldItalic r:id="rId68"/>
    </p:embeddedFont>
  </p:embeddedFontLst>
  <p:custDataLst>
    <p:tags r:id="rId6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2: Introducing Cloud Architecting" id="{DFCA85C4-D661-4A27-A797-E822F2A90384}">
          <p14:sldIdLst>
            <p14:sldId id="430"/>
          </p14:sldIdLst>
        </p14:section>
        <p14:section name="Introduction" id="{66D4F835-1DB1-424C-8D00-5EBB350E75ED}">
          <p14:sldIdLst>
            <p14:sldId id="1883"/>
            <p14:sldId id="1884"/>
            <p14:sldId id="1749"/>
            <p14:sldId id="1873"/>
          </p14:sldIdLst>
        </p14:section>
        <p14:section name="Cloud Architecting?" id="{664659ED-A618-4D68-B4E6-CF0052C66849}">
          <p14:sldIdLst>
            <p14:sldId id="431"/>
            <p14:sldId id="354"/>
            <p14:sldId id="900"/>
            <p14:sldId id="1885"/>
            <p14:sldId id="617"/>
          </p14:sldIdLst>
        </p14:section>
        <p14:section name="AWS Well-Architected Framework" id="{4348AC58-E524-4A14-B9E4-DFC03DBA8420}">
          <p14:sldIdLst>
            <p14:sldId id="890"/>
            <p14:sldId id="937"/>
            <p14:sldId id="332"/>
            <p14:sldId id="334"/>
            <p14:sldId id="335"/>
            <p14:sldId id="336"/>
            <p14:sldId id="337"/>
            <p14:sldId id="1591"/>
            <p14:sldId id="1886"/>
            <p14:sldId id="889"/>
          </p14:sldIdLst>
        </p14:section>
        <p14:section name="Best practices for building solutions on AWS" id="{89262F33-0CCB-4F26-89B4-DAB0DD4E8324}">
          <p14:sldIdLst>
            <p14:sldId id="616"/>
            <p14:sldId id="901"/>
            <p14:sldId id="263"/>
            <p14:sldId id="265"/>
            <p14:sldId id="1888"/>
            <p14:sldId id="902"/>
            <p14:sldId id="267"/>
            <p14:sldId id="903"/>
            <p14:sldId id="904"/>
            <p14:sldId id="271"/>
            <p14:sldId id="905"/>
            <p14:sldId id="273"/>
            <p14:sldId id="906"/>
            <p14:sldId id="898"/>
          </p14:sldIdLst>
        </p14:section>
        <p14:section name="AWS Global Infrastructure" id="{262735A4-DF69-4674-AAFE-5F50A2B1A895}">
          <p14:sldIdLst>
            <p14:sldId id="884"/>
            <p14:sldId id="312"/>
            <p14:sldId id="344"/>
            <p14:sldId id="341"/>
            <p14:sldId id="907"/>
            <p14:sldId id="340"/>
            <p14:sldId id="346"/>
            <p14:sldId id="895"/>
          </p14:sldIdLst>
        </p14:section>
        <p14:section name="Module wrap-up" id="{718FCF10-013A-491F-9DBC-008003EF5CDE}">
          <p14:sldIdLst>
            <p14:sldId id="883"/>
            <p14:sldId id="345"/>
            <p14:sldId id="1887"/>
            <p14:sldId id="167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4BAB"/>
    <a:srgbClr val="C9208A"/>
    <a:srgbClr val="005276"/>
    <a:srgbClr val="1C9971"/>
    <a:srgbClr val="007FAA"/>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09" autoAdjust="0"/>
    <p:restoredTop sz="52832" autoAdjust="0"/>
  </p:normalViewPr>
  <p:slideViewPr>
    <p:cSldViewPr snapToGrid="0">
      <p:cViewPr varScale="1">
        <p:scale>
          <a:sx n="49" d="100"/>
          <a:sy n="49" d="100"/>
        </p:scale>
        <p:origin x="2088" y="48"/>
      </p:cViewPr>
      <p:guideLst/>
    </p:cSldViewPr>
  </p:slideViewPr>
  <p:notesTextViewPr>
    <p:cViewPr>
      <p:scale>
        <a:sx n="125" d="100"/>
        <a:sy n="125" d="100"/>
      </p:scale>
      <p:origin x="0" y="0"/>
    </p:cViewPr>
  </p:notesTextViewPr>
  <p:sorterViewPr>
    <p:cViewPr>
      <p:scale>
        <a:sx n="100" d="100"/>
        <a:sy n="100" d="100"/>
      </p:scale>
      <p:origin x="0" y="-11742"/>
    </p:cViewPr>
  </p:sorterViewPr>
  <p:notesViewPr>
    <p:cSldViewPr snapToGrid="0">
      <p:cViewPr varScale="1">
        <p:scale>
          <a:sx n="66" d="100"/>
          <a:sy n="66" d="100"/>
        </p:scale>
        <p:origin x="2866" y="5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font" Target="fonts/font15.fntdata"/><Relationship Id="rId68" Type="http://schemas.openxmlformats.org/officeDocument/2006/relationships/font" Target="fonts/font20.fntdata"/><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61"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font" Target="fonts/font3.fntdata"/><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35000"/>
            <a:ext cx="5486400" cy="3086822"/>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7500" y="3810000"/>
            <a:ext cx="7112000" cy="5588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5890323"/>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0"/>
      </a:spcBef>
      <a:spcAft>
        <a:spcPts val="0"/>
      </a:spcAft>
      <a:defRPr sz="1200" kern="1200">
        <a:solidFill>
          <a:schemeClr val="tx1"/>
        </a:solidFill>
        <a:latin typeface="+mn-lt"/>
        <a:ea typeface="+mn-ea"/>
        <a:cs typeface="+mn-cs"/>
      </a:defRPr>
    </a:lvl1pPr>
    <a:lvl2pPr marL="457200" algn="l" defTabSz="914400" rtl="0" eaLnBrk="1" latinLnBrk="0" hangingPunct="1">
      <a:spcBef>
        <a:spcPts val="0"/>
      </a:spcBef>
      <a:spcAft>
        <a:spcPts val="0"/>
      </a:spcAft>
      <a:defRPr sz="1200" kern="1200">
        <a:solidFill>
          <a:schemeClr val="tx1"/>
        </a:solidFill>
        <a:latin typeface="+mn-lt"/>
        <a:ea typeface="+mn-ea"/>
        <a:cs typeface="+mn-cs"/>
      </a:defRPr>
    </a:lvl2pPr>
    <a:lvl3pPr marL="914400" algn="l" defTabSz="914400" rtl="0" eaLnBrk="1" latinLnBrk="0" hangingPunct="1">
      <a:spcBef>
        <a:spcPts val="0"/>
      </a:spcBef>
      <a:spcAft>
        <a:spcPts val="0"/>
      </a:spcAft>
      <a:defRPr sz="1200" kern="1200">
        <a:solidFill>
          <a:schemeClr val="tx1"/>
        </a:solidFill>
        <a:latin typeface="+mn-lt"/>
        <a:ea typeface="+mn-ea"/>
        <a:cs typeface="+mn-cs"/>
      </a:defRPr>
    </a:lvl3pPr>
    <a:lvl4pPr marL="1371600" algn="l" defTabSz="914400" rtl="0" eaLnBrk="1" latinLnBrk="0" hangingPunct="1">
      <a:spcBef>
        <a:spcPts val="0"/>
      </a:spcBef>
      <a:spcAft>
        <a:spcPts val="0"/>
      </a:spcAft>
      <a:defRPr sz="1200" kern="1200">
        <a:solidFill>
          <a:schemeClr val="tx1"/>
        </a:solidFill>
        <a:latin typeface="+mn-lt"/>
        <a:ea typeface="+mn-ea"/>
        <a:cs typeface="+mn-cs"/>
      </a:defRPr>
    </a:lvl4pPr>
    <a:lvl5pPr marL="1828800" algn="l" defTabSz="914400" rtl="0" eaLnBrk="1" latinLnBrk="0" hangingPunct="1">
      <a:spcBef>
        <a:spcPts val="0"/>
      </a:spcBef>
      <a:spcAft>
        <a:spcPts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mod="1">
    <p:ext uri="{620B2872-D7B9-4A21-9093-7833F8D536E1}">
      <p15:sldGuideLst xmlns:p15="http://schemas.microsoft.com/office/powerpoint/2012/main">
        <p15:guide id="1" orient="horz" pos="3168" userDrawn="1">
          <p15:clr>
            <a:srgbClr val="F26B43"/>
          </p15:clr>
        </p15:guide>
        <p15:guide id="2" pos="244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Instructor notes</a:t>
            </a:r>
          </a:p>
          <a:p>
            <a:pPr marL="0" indent="0">
              <a:buNone/>
            </a:pPr>
            <a:r>
              <a:rPr lang="en-US" dirty="0">
                <a:latin typeface="Calibri" panose="020F0502020204030204" pitchFamily="34" charset="0"/>
              </a:rPr>
              <a:t>|</a:t>
            </a:r>
          </a:p>
          <a:p>
            <a:pPr marL="0" indent="0">
              <a:buNone/>
            </a:pPr>
            <a:r>
              <a:rPr lang="en-US" b="1" dirty="0">
                <a:latin typeface="Calibri" panose="020F0502020204030204" pitchFamily="34" charset="0"/>
              </a:rPr>
              <a:t>|Student notes</a:t>
            </a:r>
          </a:p>
          <a:p>
            <a:pPr marL="0" indent="0">
              <a:buNone/>
            </a:pPr>
            <a:r>
              <a:rPr lang="en-US" dirty="0">
                <a:latin typeface="Calibri" panose="020F0502020204030204" pitchFamily="34" charset="0"/>
              </a:rPr>
              <a:t>Welcome to the Introducing Cloud Architecting module. This module introduces you to the best practices for cloud architectures and how to design and evaluate architectures using the AWS Well-Architected Framework.</a:t>
            </a:r>
          </a:p>
        </p:txBody>
      </p:sp>
    </p:spTree>
    <p:extLst>
      <p:ext uri="{BB962C8B-B14F-4D97-AF65-F5344CB8AC3E}">
        <p14:creationId xmlns:p14="http://schemas.microsoft.com/office/powerpoint/2010/main" val="1736860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a:latin typeface="Calibri" panose="020F0502020204030204" pitchFamily="34" charset="0"/>
              </a:rPr>
              <a:t>|</a:t>
            </a:r>
            <a:r>
              <a:rPr lang="en-US" b="1" dirty="0">
                <a:latin typeface="Calibri" panose="020F0502020204030204" pitchFamily="34" charset="0"/>
              </a:rPr>
              <a:t>Instructor notes</a:t>
            </a:r>
            <a:endParaRPr lang="en-US" b="0"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introduction section describes the content of this module.</a:t>
            </a:r>
          </a:p>
        </p:txBody>
      </p:sp>
    </p:spTree>
    <p:extLst>
      <p:ext uri="{BB962C8B-B14F-4D97-AF65-F5344CB8AC3E}">
        <p14:creationId xmlns:p14="http://schemas.microsoft.com/office/powerpoint/2010/main" val="1739719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0" dirty="0">
                <a:latin typeface="Calibri" panose="020F0502020204030204" pitchFamily="34" charset="0"/>
              </a:rPr>
              <a:t>|This module is an introduction to cloud architecting. Over the course of the module, students learn about cloud architecting. The module includes a discussion of design trade-offs and best practices for cloud architecting. These trade-offs and best practices should be considered with every design decision and should be the foundation for the remaining modules. </a:t>
            </a:r>
          </a:p>
          <a:p>
            <a:r>
              <a:rPr lang="en-US" b="0" dirty="0">
                <a:latin typeface="Calibri" panose="020F0502020204030204" pitchFamily="34" charset="0"/>
              </a:rPr>
              <a:t>|</a:t>
            </a:r>
          </a:p>
          <a:p>
            <a:pPr marL="0" marR="0" lvl="0" indent="0" defTabSz="914400" rtl="0" eaLnBrk="1" fontAlgn="auto" latinLnBrk="0" hangingPunct="1">
              <a:buClrTx/>
              <a:buSzTx/>
              <a:buFontTx/>
              <a:buNone/>
              <a:tabLst/>
              <a:defRPr/>
            </a:pPr>
            <a:r>
              <a:rPr lang="en-US" dirty="0">
                <a:latin typeface="Calibri" panose="020F0502020204030204" pitchFamily="34" charset="0"/>
              </a:rPr>
              <a:t>|The discussion in this module includes best practices for building solutions on Amazon Web Services (AWS). There is a section on the AWS Global Infrastructure to help students make informed decisions about the AWS Regions and Availability Zones they can choose when deploying resources. Understanding these concepts will be important in the following modules. </a:t>
            </a:r>
          </a:p>
          <a:p>
            <a:r>
              <a:rPr lang="en-US" b="0" dirty="0">
                <a:latin typeface="Calibri" panose="020F0502020204030204" pitchFamily="34" charset="0"/>
              </a:rPr>
              <a:t>|</a:t>
            </a:r>
          </a:p>
          <a:p>
            <a:r>
              <a:rPr lang="en-US" b="0" dirty="0">
                <a:latin typeface="Calibri" panose="020F0502020204030204" pitchFamily="34" charset="0"/>
              </a:rPr>
              <a:t>|A cloud architect is responsible for understanding the AWS Well-Architected Framework and applying it to designs and implementations. Focus on introducing the AWS Well-Architected Framework as the application of best practices because each pillar will be discussed in the following modules. </a:t>
            </a: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921444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|This module has an introduction, content sections, and a wrap-up.</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The objectives of this module are presented across multiple sections. The module wraps up with a 10-question knowledge check delivered in the online course.</a:t>
            </a:r>
          </a:p>
        </p:txBody>
      </p:sp>
    </p:spTree>
    <p:extLst>
      <p:ext uri="{BB962C8B-B14F-4D97-AF65-F5344CB8AC3E}">
        <p14:creationId xmlns:p14="http://schemas.microsoft.com/office/powerpoint/2010/main" val="3411071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0" dirty="0">
                <a:latin typeface="Calibri" panose="020F0502020204030204" pitchFamily="34" charset="0"/>
              </a:rPr>
              <a:t>|This slide presents key overarching design considerations that are foundational to cloud architects. Emphasize how a cloud architect must always start with the business case and work backward to choose the best components for that use case. Also, remind students that design decisions will probably evolve over time to optimize cost and performance as needs change or are better understood.</a:t>
            </a:r>
          </a:p>
          <a:p>
            <a:r>
              <a:rPr lang="en-US" dirty="0">
                <a:latin typeface="Calibri" panose="020F0502020204030204" pitchFamily="34" charset="0"/>
              </a:rPr>
              <a:t>|</a:t>
            </a:r>
          </a:p>
          <a:p>
            <a:r>
              <a:rPr lang="en-US" b="1" dirty="0">
                <a:latin typeface="Calibri" panose="020F0502020204030204" pitchFamily="34" charset="0"/>
              </a:rPr>
              <a:t>|Student notes</a:t>
            </a:r>
          </a:p>
          <a:p>
            <a:r>
              <a:rPr lang="en-US" b="0" dirty="0">
                <a:latin typeface="Calibri" panose="020F0502020204030204" pitchFamily="34" charset="0"/>
              </a:rPr>
              <a:t>This slide asks you to take the perspective of a cloud architect. Review these considerations as you progress through this module, remembering that the cloud architect should work backward from the business need to design the best architecture for a specific use case.</a:t>
            </a:r>
            <a:endParaRPr lang="en-US" dirty="0">
              <a:latin typeface="Calibri" panose="020F0502020204030204" pitchFamily="34" charset="0"/>
            </a:endParaRPr>
          </a:p>
        </p:txBody>
      </p:sp>
    </p:spTree>
    <p:extLst>
      <p:ext uri="{BB962C8B-B14F-4D97-AF65-F5344CB8AC3E}">
        <p14:creationId xmlns:p14="http://schemas.microsoft.com/office/powerpoint/2010/main" val="3723504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6</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section introduces cloud architecting.</a:t>
            </a:r>
          </a:p>
        </p:txBody>
      </p:sp>
    </p:spTree>
    <p:extLst>
      <p:ext uri="{BB962C8B-B14F-4D97-AF65-F5344CB8AC3E}">
        <p14:creationId xmlns:p14="http://schemas.microsoft.com/office/powerpoint/2010/main" val="1890654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|This slide describes the history of how AWS came to be. Focus on how the solutions were internal services that were highly available, scalable, and reliable. These concepts will be discussed in subsequent modules. </a:t>
            </a:r>
          </a:p>
          <a:p>
            <a:r>
              <a:rPr lang="en-US" dirty="0">
                <a:latin typeface="Calibri" panose="020F0502020204030204" pitchFamily="34" charset="0"/>
              </a:rPr>
              <a:t>|</a:t>
            </a:r>
          </a:p>
          <a:p>
            <a:r>
              <a:rPr lang="en-US" dirty="0">
                <a:latin typeface="Calibri" panose="020F0502020204030204" pitchFamily="34" charset="0"/>
              </a:rPr>
              <a:t>|This slide introduces some terms that should be reviewed from the AWS Academy Cloud Foundations course. If necessary, review the terms highly available, scalable, and reliable.</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To understand what cloud architecting is and why it’s important, first consider an example of what software development is like in its absence. Around 2000, when Amazon was trying to solve a problem, they looked to cloud computing as a solution. Amazon was trying to build an ecommerce service for third-party sellers to build their own online shopping sites on top of the Amazon ecommerce engine. </a:t>
            </a:r>
          </a:p>
          <a:p>
            <a:endParaRPr lang="en-US" dirty="0">
              <a:latin typeface="Calibri" panose="020F0502020204030204" pitchFamily="34" charset="0"/>
            </a:endParaRPr>
          </a:p>
          <a:p>
            <a:r>
              <a:rPr lang="en-US" dirty="0">
                <a:latin typeface="Calibri" panose="020F0502020204030204" pitchFamily="34" charset="0"/>
              </a:rPr>
              <a:t>The company was struggling to make its new shopping website highly available and scalable. In the beginning, the Amazon ecommerce tools, applications, and architectures were built without proper planning. The various services were difficult to separate to make a centralized development platform. Development time was long, and projects were complicated. </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The solution to this problem was to create a set of well-documented APIs to organize the development environment.</a:t>
            </a:r>
          </a:p>
          <a:p>
            <a:endParaRPr lang="en-US" dirty="0">
              <a:latin typeface="Calibri" panose="020F0502020204030204" pitchFamily="34" charset="0"/>
            </a:endParaRPr>
          </a:p>
          <a:p>
            <a:r>
              <a:rPr lang="en-US" dirty="0">
                <a:latin typeface="Calibri" panose="020F0502020204030204" pitchFamily="34" charset="0"/>
              </a:rPr>
              <a:t>However, Amazon still struggled to build applications quickly. As the company grew and more software engineers were hired, the following complications happened: </a:t>
            </a:r>
          </a:p>
          <a:p>
            <a:pPr marL="171450" indent="-171450">
              <a:buFont typeface="Arial" panose="020B0604020202020204" pitchFamily="34" charset="0"/>
              <a:buChar char="•"/>
            </a:pPr>
            <a:r>
              <a:rPr lang="en-US" dirty="0">
                <a:latin typeface="Calibri" panose="020F0502020204030204" pitchFamily="34" charset="0"/>
              </a:rPr>
              <a:t>It took 3 months to build just the database, compute, and storage components when the entire project that was expected to take 3 months.</a:t>
            </a:r>
          </a:p>
          <a:p>
            <a:pPr marL="171450" indent="-171450">
              <a:buFont typeface="Arial" panose="020B0604020202020204" pitchFamily="34" charset="0"/>
              <a:buChar char="•"/>
            </a:pPr>
            <a:r>
              <a:rPr lang="en-US" dirty="0">
                <a:latin typeface="Calibri" panose="020F0502020204030204" pitchFamily="34" charset="0"/>
              </a:rPr>
              <a:t>Each team built their own resources without planning for scalability or reusability.</a:t>
            </a:r>
          </a:p>
          <a:p>
            <a:pPr marL="171450" indent="-171450">
              <a:buFont typeface="Arial" panose="020B0604020202020204" pitchFamily="34" charset="0"/>
              <a:buChar char="•"/>
            </a:pPr>
            <a:endParaRPr lang="en-US" dirty="0">
              <a:latin typeface="Calibri" panose="020F0502020204030204" pitchFamily="34" charset="0"/>
            </a:endParaRPr>
          </a:p>
          <a:p>
            <a:pPr marL="0" indent="0">
              <a:buFont typeface="Arial" panose="020B0604020202020204" pitchFamily="34" charset="0"/>
              <a:buNone/>
            </a:pPr>
            <a:r>
              <a:rPr lang="en-US" dirty="0">
                <a:latin typeface="Calibri" panose="020F0502020204030204" pitchFamily="34" charset="0"/>
              </a:rPr>
              <a:t>The solution was to build internal services to create highly available, scalable, and reliable architectures on top of the Amazon infrastructure. In 2006, Amazon started selling these services as Amazon Web Services (AWS). They started with Amazon Simple Queue Service (Amazon SQS), and then Amazon Simple Storage Service (Amazon S3) and Amazon Elastic Compute Cloud (Amazon EC2).</a:t>
            </a:r>
          </a:p>
        </p:txBody>
      </p:sp>
    </p:spTree>
    <p:extLst>
      <p:ext uri="{BB962C8B-B14F-4D97-AF65-F5344CB8AC3E}">
        <p14:creationId xmlns:p14="http://schemas.microsoft.com/office/powerpoint/2010/main" val="2584596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8</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0" dirty="0">
                <a:latin typeface="Calibri" panose="020F0502020204030204" pitchFamily="34" charset="0"/>
              </a:rPr>
              <a:t>|This slide tells a story about how cloud architecture development is like building a house. Focus on the comparisons between the process for constructing a physical building and the cloud architecting process. The students should come away with an understanding that the architecture design is critical to building solutions that support current and future needs.</a:t>
            </a:r>
          </a:p>
          <a:p>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What is cloud architecture? Cloud architecture is the practice of applying cloud characteristics to a solution that uses cloud services and features to meet an organization’s technical needs and business use cases.</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Creating technology solutions is a lot like constructing a physical building.</a:t>
            </a:r>
            <a:r>
              <a:rPr lang="en-US" baseline="0" dirty="0">
                <a:solidFill>
                  <a:srgbClr val="000000"/>
                </a:solidFill>
                <a:latin typeface="Calibri" panose="020F0502020204030204" pitchFamily="34" charset="0"/>
              </a:rPr>
              <a:t> </a:t>
            </a:r>
            <a:r>
              <a:rPr lang="en-US" dirty="0">
                <a:solidFill>
                  <a:srgbClr val="000000"/>
                </a:solidFill>
                <a:latin typeface="Calibri" panose="020F0502020204030204" pitchFamily="34" charset="0"/>
              </a:rPr>
              <a:t>If the foundation is not solid, it can cause structural problems that undermine the integrity and function of the building. To create a solid building, t</a:t>
            </a:r>
            <a:r>
              <a:rPr lang="en-US" dirty="0">
                <a:latin typeface="Calibri" panose="020F0502020204030204" pitchFamily="34" charset="0"/>
              </a:rPr>
              <a:t>he customer outlines the building needs and requirements. The architect creates a design and blueprints to meet the requirements. Then, the building crew turns the blueprints into a physical structure. </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In cloud architecture, the customer or decision maker also outlines business goals and requirements. The cloud architect designs a solution that is like a blueprint for a building. Then, the delivery team works to implement the solution. </a:t>
            </a:r>
          </a:p>
          <a:p>
            <a:pPr marL="0" indent="0">
              <a:buFont typeface="Arial" panose="020B0604020202020204" pitchFamily="34" charset="0"/>
              <a:buNone/>
            </a:pPr>
            <a:endParaRPr lang="en-US" dirty="0">
              <a:latin typeface="Calibri" panose="020F0502020204030204" pitchFamily="34" charset="0"/>
            </a:endParaRPr>
          </a:p>
          <a:p>
            <a:pPr marL="0" indent="0">
              <a:buFont typeface="Arial" panose="020B0604020202020204" pitchFamily="34" charset="0"/>
              <a:buNone/>
            </a:pPr>
            <a:r>
              <a:rPr lang="en-US" dirty="0">
                <a:latin typeface="Calibri" panose="020F0502020204030204" pitchFamily="34" charset="0"/>
              </a:rPr>
              <a:t>Having well-architected systems increases the likelihood that the technology deliverables will help meet business goals.</a:t>
            </a:r>
          </a:p>
        </p:txBody>
      </p:sp>
    </p:spTree>
    <p:extLst>
      <p:ext uri="{BB962C8B-B14F-4D97-AF65-F5344CB8AC3E}">
        <p14:creationId xmlns:p14="http://schemas.microsoft.com/office/powerpoint/2010/main" val="4227745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9</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|The discussion for this slide should help students understand their role as a cloud architect. Consider continuing the analogy of constructing a physical building that was presented on the previous slide.  </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The role of a cloud architect is as follows:</a:t>
            </a:r>
          </a:p>
          <a:p>
            <a:pPr marL="171450" indent="-171450">
              <a:buFont typeface="Arial" panose="020B0604020202020204" pitchFamily="34" charset="0"/>
              <a:buChar char="•"/>
            </a:pPr>
            <a:r>
              <a:rPr lang="en-US" dirty="0">
                <a:latin typeface="Calibri" panose="020F0502020204030204" pitchFamily="34" charset="0"/>
              </a:rPr>
              <a:t>Engage with decision makers to identify the business goals and the capabilities that need improvement. </a:t>
            </a:r>
          </a:p>
          <a:p>
            <a:pPr marL="171450" indent="-171450">
              <a:buFont typeface="Arial" panose="020B0604020202020204" pitchFamily="34" charset="0"/>
              <a:buChar char="•"/>
            </a:pPr>
            <a:r>
              <a:rPr lang="en-US" dirty="0">
                <a:latin typeface="Calibri" panose="020F0502020204030204" pitchFamily="34" charset="0"/>
              </a:rPr>
              <a:t>Ensure alignment between the technology deliverables of a solution and the business goals.</a:t>
            </a:r>
          </a:p>
          <a:p>
            <a:pPr marL="171450" indent="-171450">
              <a:buFont typeface="Arial" panose="020B0604020202020204" pitchFamily="34" charset="0"/>
              <a:buChar char="•"/>
            </a:pPr>
            <a:r>
              <a:rPr lang="en-US" dirty="0">
                <a:latin typeface="Calibri" panose="020F0502020204030204" pitchFamily="34" charset="0"/>
              </a:rPr>
              <a:t>Work with the delivery teams that are implementing the solution to ensure that the technology features are appropriate. </a:t>
            </a:r>
          </a:p>
          <a:p>
            <a:pPr>
              <a:defRPr/>
            </a:pPr>
            <a:endParaRPr lang="en-US" kern="1200" dirty="0">
              <a:solidFill>
                <a:srgbClr val="000000"/>
              </a:solidFill>
              <a:effectLst/>
              <a:latin typeface="Calibri" panose="020F0502020204030204" pitchFamily="34" charset="0"/>
              <a:ea typeface="+mn-ea"/>
              <a:cs typeface="+mn-cs"/>
            </a:endParaRPr>
          </a:p>
          <a:p>
            <a:pPr>
              <a:defRPr/>
            </a:pPr>
            <a:r>
              <a:rPr lang="en-US" kern="1200" dirty="0">
                <a:solidFill>
                  <a:srgbClr val="000000"/>
                </a:solidFill>
                <a:effectLst/>
                <a:latin typeface="Calibri" panose="020F0502020204030204" pitchFamily="34" charset="0"/>
                <a:ea typeface="+mn-ea"/>
                <a:cs typeface="+mn-cs"/>
              </a:rPr>
              <a:t>Cloud architects are responsible for managing an organization’s cloud computing architecture. They have in-depth knowledge of the architectural principles and services used to do the following: </a:t>
            </a:r>
          </a:p>
          <a:p>
            <a:pPr marL="171450" indent="-171450">
              <a:buFont typeface="Arial" panose="020B0604020202020204" pitchFamily="34" charset="0"/>
              <a:buChar char="•"/>
              <a:defRPr/>
            </a:pPr>
            <a:r>
              <a:rPr lang="en-US" dirty="0">
                <a:solidFill>
                  <a:srgbClr val="000000"/>
                </a:solidFill>
                <a:latin typeface="Calibri" panose="020F0502020204030204" pitchFamily="34" charset="0"/>
              </a:rPr>
              <a:t>D</a:t>
            </a:r>
            <a:r>
              <a:rPr lang="en-US" kern="1200" dirty="0">
                <a:solidFill>
                  <a:srgbClr val="000000"/>
                </a:solidFill>
                <a:effectLst/>
                <a:latin typeface="Calibri" panose="020F0502020204030204" pitchFamily="34" charset="0"/>
                <a:ea typeface="+mn-ea"/>
                <a:cs typeface="+mn-cs"/>
              </a:rPr>
              <a:t>evelop the technical cloud strategy based on business needs.</a:t>
            </a:r>
          </a:p>
          <a:p>
            <a:pPr marL="171450" indent="-171450">
              <a:buFont typeface="Arial" panose="020B0604020202020204" pitchFamily="34" charset="0"/>
              <a:buChar char="•"/>
              <a:defRPr/>
            </a:pPr>
            <a:r>
              <a:rPr lang="en-US" dirty="0">
                <a:solidFill>
                  <a:srgbClr val="000000"/>
                </a:solidFill>
                <a:latin typeface="Calibri" panose="020F0502020204030204" pitchFamily="34" charset="0"/>
              </a:rPr>
              <a:t>A</a:t>
            </a:r>
            <a:r>
              <a:rPr lang="en-US" kern="1200" dirty="0">
                <a:solidFill>
                  <a:srgbClr val="000000"/>
                </a:solidFill>
                <a:effectLst/>
                <a:latin typeface="Calibri" panose="020F0502020204030204" pitchFamily="34" charset="0"/>
                <a:ea typeface="+mn-ea"/>
                <a:cs typeface="+mn-cs"/>
              </a:rPr>
              <a:t>ssist with cloud migration efforts.</a:t>
            </a:r>
          </a:p>
          <a:p>
            <a:pPr marL="171450" indent="-171450">
              <a:buFont typeface="Arial" panose="020B0604020202020204" pitchFamily="34" charset="0"/>
              <a:buChar char="•"/>
              <a:defRPr/>
            </a:pPr>
            <a:r>
              <a:rPr lang="en-US" dirty="0">
                <a:solidFill>
                  <a:srgbClr val="000000"/>
                </a:solidFill>
                <a:latin typeface="Calibri" panose="020F0502020204030204" pitchFamily="34" charset="0"/>
              </a:rPr>
              <a:t>R</a:t>
            </a:r>
            <a:r>
              <a:rPr lang="en-US" kern="1200" dirty="0">
                <a:solidFill>
                  <a:srgbClr val="000000"/>
                </a:solidFill>
                <a:effectLst/>
                <a:latin typeface="Calibri" panose="020F0502020204030204" pitchFamily="34" charset="0"/>
                <a:ea typeface="+mn-ea"/>
                <a:cs typeface="+mn-cs"/>
              </a:rPr>
              <a:t>eview workload requirements.</a:t>
            </a:r>
          </a:p>
          <a:p>
            <a:pPr marL="171450" indent="-171450">
              <a:buFont typeface="Arial" panose="020B0604020202020204" pitchFamily="34" charset="0"/>
              <a:buChar char="•"/>
              <a:defRPr/>
            </a:pPr>
            <a:r>
              <a:rPr lang="en-US" dirty="0">
                <a:solidFill>
                  <a:srgbClr val="000000"/>
                </a:solidFill>
                <a:latin typeface="Calibri" panose="020F0502020204030204" pitchFamily="34" charset="0"/>
              </a:rPr>
              <a:t>P</a:t>
            </a:r>
            <a:r>
              <a:rPr lang="en-US" kern="1200" dirty="0">
                <a:solidFill>
                  <a:srgbClr val="000000"/>
                </a:solidFill>
                <a:effectLst/>
                <a:latin typeface="Calibri" panose="020F0502020204030204" pitchFamily="34" charset="0"/>
                <a:ea typeface="+mn-ea"/>
                <a:cs typeface="+mn-cs"/>
              </a:rPr>
              <a:t>rovide guidance about how to address high-risk issues.</a:t>
            </a:r>
          </a:p>
          <a:p>
            <a:pPr marL="0" indent="0">
              <a:buFont typeface="Arial" panose="020B0604020202020204" pitchFamily="34" charset="0"/>
              <a:buNone/>
            </a:pPr>
            <a:endParaRPr lang="en-US" dirty="0">
              <a:latin typeface="Calibri" panose="020F0502020204030204" pitchFamily="34" charset="0"/>
            </a:endParaRPr>
          </a:p>
          <a:p>
            <a:pPr marL="0" indent="0">
              <a:buFont typeface="Arial" panose="020B0604020202020204" pitchFamily="34" charset="0"/>
              <a:buNone/>
            </a:pPr>
            <a:r>
              <a:rPr lang="en-US" dirty="0">
                <a:latin typeface="Calibri" panose="020F0502020204030204" pitchFamily="34" charset="0"/>
              </a:rPr>
              <a:t>Cloud architects work to implement the AWS Well-Architected Framework.</a:t>
            </a:r>
          </a:p>
        </p:txBody>
      </p:sp>
    </p:spTree>
    <p:extLst>
      <p:ext uri="{BB962C8B-B14F-4D97-AF65-F5344CB8AC3E}">
        <p14:creationId xmlns:p14="http://schemas.microsoft.com/office/powerpoint/2010/main" val="890679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10</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|The student version doesn't have any notes for this slide.</a:t>
            </a:r>
            <a:endParaRPr lang="en-US" b="0"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3077572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11</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dirty="0">
                <a:latin typeface="Calibri" panose="020F0502020204030204" pitchFamily="34" charset="0"/>
              </a:rPr>
              <a:t>This section introduces the AWS Well-Architected Framework.</a:t>
            </a:r>
          </a:p>
        </p:txBody>
      </p:sp>
    </p:spTree>
    <p:extLst>
      <p:ext uri="{BB962C8B-B14F-4D97-AF65-F5344CB8AC3E}">
        <p14:creationId xmlns:p14="http://schemas.microsoft.com/office/powerpoint/2010/main" val="4154119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12 of module 2:</a:t>
            </a:r>
          </a:p>
          <a:p>
            <a:pPr marL="0" indent="0">
              <a:buNone/>
            </a:pPr>
            <a:r>
              <a:rPr lang="en-US" b="1" dirty="0">
                <a:latin typeface="Calibri" panose="020F0502020204030204" pitchFamily="34" charset="0"/>
              </a:rPr>
              <a:t>|Instructor notes</a:t>
            </a:r>
          </a:p>
          <a:p>
            <a:pPr marL="0" indent="0">
              <a:buNone/>
            </a:pPr>
            <a:r>
              <a:rPr lang="en-US" b="0" dirty="0">
                <a:latin typeface="Calibri" panose="020F0502020204030204" pitchFamily="34" charset="0"/>
              </a:rPr>
              <a:t>|This section reviews the six pillars of the AWS Well-Architected Framework. Each pillar has its own whitepaper that details design principles and best practices related to that pillar. </a:t>
            </a:r>
          </a:p>
          <a:p>
            <a:pPr marL="0" indent="0">
              <a:buNone/>
            </a:pPr>
            <a:r>
              <a:rPr lang="en-US" b="0" dirty="0">
                <a:latin typeface="Calibri" panose="020F0502020204030204" pitchFamily="34" charset="0"/>
              </a:rPr>
              <a:t>|</a:t>
            </a:r>
          </a:p>
          <a:p>
            <a:pPr marL="0" indent="0">
              <a:buNone/>
            </a:pPr>
            <a:r>
              <a:rPr lang="en-US" b="0" dirty="0">
                <a:latin typeface="Calibri" panose="020F0502020204030204" pitchFamily="34" charset="0"/>
              </a:rPr>
              <a:t>|Most modules in this course include a section that highlights best practices from selected pillars of the AWS Well-Architected Framework as they relate to the material presented in that module. There are two exceptions. The module on security focuses on content related to the Security pillar. The Building Decoupled Architectures module focuses on the Reliability pillar best practices for workload architectures. </a:t>
            </a:r>
          </a:p>
          <a:p>
            <a:pPr marL="0" indent="0">
              <a:buNone/>
            </a:pPr>
            <a:r>
              <a:rPr lang="en-US" b="0" dirty="0">
                <a:latin typeface="Calibri" panose="020F0502020204030204" pitchFamily="34" charset="0"/>
              </a:rPr>
              <a:t>|</a:t>
            </a:r>
          </a:p>
          <a:p>
            <a:pPr marL="0" indent="0">
              <a:buNone/>
            </a:pPr>
            <a:r>
              <a:rPr lang="en-US" b="0" dirty="0">
                <a:latin typeface="Calibri" panose="020F0502020204030204" pitchFamily="34" charset="0"/>
              </a:rPr>
              <a:t>|You can use the sections of each module that focus on the pillars of the AWS Well-Architected Framework for reinforcement of the content presented in each module. Students can also use these sections to practice using the framework when selecting services and features for their architectures. </a:t>
            </a:r>
          </a:p>
          <a:p>
            <a:pPr marL="0" indent="0">
              <a:buNone/>
            </a:pPr>
            <a:r>
              <a:rPr lang="en-US" b="0" dirty="0">
                <a:latin typeface="Calibri" panose="020F0502020204030204" pitchFamily="34" charset="0"/>
              </a:rPr>
              <a:t>|</a:t>
            </a:r>
          </a:p>
          <a:p>
            <a:pPr marL="0" indent="0">
              <a:buNone/>
            </a:pPr>
            <a:r>
              <a:rPr lang="en-US" b="0" dirty="0">
                <a:latin typeface="Calibri" panose="020F0502020204030204" pitchFamily="34" charset="0"/>
              </a:rPr>
              <a:t>|Consider reviewing each of the pillar whitepapers during this section. For more information, see the AWS Well-Architected Framework on the content resources page of your online course.</a:t>
            </a:r>
          </a:p>
          <a:p>
            <a:pPr marL="0" indent="0">
              <a:buNone/>
            </a:pPr>
            <a:r>
              <a:rPr lang="en-US" b="0" dirty="0">
                <a:latin typeface="Calibri" panose="020F0502020204030204" pitchFamily="34" charset="0"/>
              </a:rPr>
              <a:t>|</a:t>
            </a:r>
          </a:p>
          <a:p>
            <a:pPr marL="0" indent="0">
              <a:buNone/>
            </a:pPr>
            <a:r>
              <a:rPr lang="en-US" b="1" dirty="0">
                <a:latin typeface="Calibri" panose="020F0502020204030204" pitchFamily="34" charset="0"/>
              </a:rPr>
              <a:t>|Student notes</a:t>
            </a:r>
          </a:p>
          <a:p>
            <a:pPr marL="0" indent="0">
              <a:buNone/>
            </a:pPr>
            <a:r>
              <a:rPr lang="en-US" b="0" dirty="0">
                <a:latin typeface="Calibri" panose="020F0502020204030204" pitchFamily="34" charset="0"/>
              </a:rPr>
              <a:t>The AWS Well-Architected Framework is a guide that provides a consistent approach to evaluate cloud architectures. It also provides guidance to help implement designs. It documents a set of foundational questions and best practices you can use to understand if a specific architecture aligns well with cloud best practices. AWS developed this framework after reviewing thousands of customer architectures on AWS.</a:t>
            </a:r>
          </a:p>
          <a:p>
            <a:pPr marL="0" indent="0">
              <a:buNone/>
            </a:pPr>
            <a:endParaRPr lang="en-US" b="0" dirty="0">
              <a:latin typeface="Calibri" panose="020F0502020204030204" pitchFamily="34" charset="0"/>
            </a:endParaRPr>
          </a:p>
          <a:p>
            <a:pPr marL="0" indent="0">
              <a:buNone/>
            </a:pPr>
            <a:r>
              <a:rPr lang="en-US" b="0" dirty="0">
                <a:latin typeface="Calibri" panose="020F0502020204030204" pitchFamily="34" charset="0"/>
              </a:rPr>
              <a:t>The AWS Well-Architected Framework is organized into six pillars: Operational Excellence, Security, Reliability, Performance Efficiency, Cost Optimization, and Sustainability.</a:t>
            </a:r>
          </a:p>
          <a:p>
            <a:pPr marL="0" indent="0">
              <a:buNone/>
            </a:pPr>
            <a:endParaRPr lang="en-US" b="0" dirty="0">
              <a:latin typeface="Calibri" panose="020F0502020204030204" pitchFamily="34" charset="0"/>
            </a:endParaRPr>
          </a:p>
          <a:p>
            <a:pPr marL="0" indent="0">
              <a:buNone/>
            </a:pPr>
            <a:r>
              <a:rPr lang="en-US" b="0" dirty="0">
                <a:latin typeface="Calibri" panose="020F0502020204030204" pitchFamily="34" charset="0"/>
              </a:rPr>
              <a:t>You revisit the pillars of the AWS Well-Architected Framework in each of the modules of this course. For more information, see the AWS Well-Architected Framework on the content resources page of your online course.</a:t>
            </a:r>
            <a:endParaRPr lang="en-US" b="0"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36108756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kern="1200" dirty="0">
                <a:solidFill>
                  <a:schemeClr val="tx1"/>
                </a:solidFill>
                <a:effectLst/>
                <a:latin typeface="Calibri" panose="020F0502020204030204" pitchFamily="34" charset="0"/>
                <a:ea typeface="+mn-ea"/>
                <a:cs typeface="+mn-cs"/>
              </a:rPr>
              <a:t>The Operational Excellence pillar addresses the ability to run systems and gain insight into their operations to deliver business value. It also addresses the ability to continuously improve supporting processes and procedures. </a:t>
            </a:r>
          </a:p>
          <a:p>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When you design a workload for operations, you must be aware of how it will be deployed, updated, and operated. Implement engineering practices that align with defect reductions and quick, safe fixes. Make observation possible with logging, instrumentation, and business and technical metrics so you can gain insight into what is happening inside your architecture.</a:t>
            </a:r>
          </a:p>
          <a:p>
            <a:r>
              <a:rPr lang="en-US" kern="1200" dirty="0">
                <a:solidFill>
                  <a:schemeClr val="tx1"/>
                </a:solidFill>
                <a:effectLst/>
                <a:latin typeface="Calibri" panose="020F0502020204030204" pitchFamily="34" charset="0"/>
                <a:ea typeface="+mn-ea"/>
                <a:cs typeface="+mn-cs"/>
              </a:rPr>
              <a:t> </a:t>
            </a:r>
          </a:p>
          <a:p>
            <a:r>
              <a:rPr lang="en-US" kern="1200" dirty="0">
                <a:solidFill>
                  <a:schemeClr val="tx1"/>
                </a:solidFill>
                <a:effectLst/>
                <a:latin typeface="Calibri" panose="020F0502020204030204" pitchFamily="34" charset="0"/>
                <a:ea typeface="+mn-ea"/>
                <a:cs typeface="+mn-cs"/>
              </a:rPr>
              <a:t>In AWS, you can view your entire workload (applications, infrastructure, policies, governance, and operations) as code. You can define and update all part of your workload using code. This means you can apply the same engineering discipline that you use for application code to every element of your stack.</a:t>
            </a:r>
            <a:r>
              <a:rPr lang="en-US" b="0" i="0" dirty="0">
                <a:solidFill>
                  <a:srgbClr val="444444"/>
                </a:solidFill>
                <a:effectLst/>
                <a:latin typeface="Calibri" panose="020F0502020204030204" pitchFamily="34" charset="0"/>
              </a:rPr>
              <a:t> It is recommended that you invest in implementing operations activities as code to maximize productivity, minimize error rates, and set up automated responses. </a:t>
            </a:r>
          </a:p>
          <a:p>
            <a:endParaRPr lang="en-US" b="0" i="0" kern="1200" dirty="0">
              <a:solidFill>
                <a:srgbClr val="444444"/>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For more information, see the Operational Excellence pillar on the content resources page of your online course.</a:t>
            </a:r>
          </a:p>
        </p:txBody>
      </p:sp>
    </p:spTree>
    <p:extLst>
      <p:ext uri="{BB962C8B-B14F-4D97-AF65-F5344CB8AC3E}">
        <p14:creationId xmlns:p14="http://schemas.microsoft.com/office/powerpoint/2010/main" val="30440145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kern="1200" dirty="0">
                <a:solidFill>
                  <a:schemeClr val="tx1"/>
                </a:solidFill>
                <a:effectLst/>
                <a:latin typeface="Calibri" panose="020F0502020204030204" pitchFamily="34" charset="0"/>
                <a:ea typeface="+mn-ea"/>
                <a:cs typeface="+mn-cs"/>
              </a:rPr>
              <a:t>The Security pillar addresses the ability to protect information, systems, and assets while delivering business value through risk assessments and mitigation strategies. </a:t>
            </a:r>
          </a:p>
          <a:p>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Your architecture will present a much stronger security presence</a:t>
            </a:r>
            <a:r>
              <a:rPr lang="en-US" kern="1200" baseline="0" dirty="0">
                <a:solidFill>
                  <a:schemeClr val="tx1"/>
                </a:solidFill>
                <a:effectLst/>
                <a:latin typeface="Calibri" panose="020F0502020204030204" pitchFamily="34" charset="0"/>
                <a:ea typeface="+mn-ea"/>
                <a:cs typeface="+mn-cs"/>
              </a:rPr>
              <a:t> if you implement </a:t>
            </a:r>
            <a:r>
              <a:rPr lang="en-US" kern="1200" dirty="0">
                <a:solidFill>
                  <a:schemeClr val="tx1"/>
                </a:solidFill>
                <a:effectLst/>
                <a:latin typeface="Calibri" panose="020F0502020204030204" pitchFamily="34" charset="0"/>
                <a:ea typeface="+mn-ea"/>
                <a:cs typeface="+mn-cs"/>
              </a:rPr>
              <a:t>a strong identity foundation, use and maintain traceability, apply security at all layers, automate security best practices, and protect data in transit and at rest. Implementing these security principles helps you prepare for security events. </a:t>
            </a:r>
          </a:p>
          <a:p>
            <a:endParaRPr lang="en-US"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For more information, see the Security pillar on the content resources page of your online course.</a:t>
            </a:r>
          </a:p>
        </p:txBody>
      </p:sp>
    </p:spTree>
    <p:extLst>
      <p:ext uri="{BB962C8B-B14F-4D97-AF65-F5344CB8AC3E}">
        <p14:creationId xmlns:p14="http://schemas.microsoft.com/office/powerpoint/2010/main" val="1040131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The Reliability pillar addresses the ability of a system to recover from infrastructure or service disruptions and dynamically acquire computing resources to meet demand. It also addresses the ability of a system to mitigate disruptions, such as misconfigurations or transient network issues. </a:t>
            </a:r>
          </a:p>
          <a:p>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It can be difficult to ensure</a:t>
            </a:r>
            <a:r>
              <a:rPr lang="en-US" kern="1200" baseline="0" dirty="0">
                <a:solidFill>
                  <a:schemeClr val="tx1"/>
                </a:solidFill>
                <a:effectLst/>
                <a:latin typeface="Calibri" panose="020F0502020204030204" pitchFamily="34" charset="0"/>
                <a:ea typeface="+mn-ea"/>
                <a:cs typeface="+mn-cs"/>
              </a:rPr>
              <a:t> r</a:t>
            </a:r>
            <a:r>
              <a:rPr lang="en-US" kern="1200" dirty="0">
                <a:solidFill>
                  <a:schemeClr val="tx1"/>
                </a:solidFill>
                <a:effectLst/>
                <a:latin typeface="Calibri" panose="020F0502020204030204" pitchFamily="34" charset="0"/>
                <a:ea typeface="+mn-ea"/>
                <a:cs typeface="+mn-cs"/>
              </a:rPr>
              <a:t>eliability in a traditional environment. Issues arise from single points of failure, lack of automation, and lack of elasticity. By applying the best practices outlined in the Reliability pillar, you can prevent many of these issues. The Reliability pillar helps you and your customers have a properly designed architecture with respect to high availability, fault tolerance, and overall redundancy.</a:t>
            </a:r>
          </a:p>
          <a:p>
            <a:endParaRPr lang="en-US"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For more information, see the Reliability pillar on the content resources page of your online course.</a:t>
            </a:r>
          </a:p>
        </p:txBody>
      </p:sp>
    </p:spTree>
    <p:extLst>
      <p:ext uri="{BB962C8B-B14F-4D97-AF65-F5344CB8AC3E}">
        <p14:creationId xmlns:p14="http://schemas.microsoft.com/office/powerpoint/2010/main" val="3277249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16</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When you consider performance, you want to maximize your performance by using computation resources efficiently. You also want to maintain that efficiency as the demand changes.</a:t>
            </a:r>
          </a:p>
          <a:p>
            <a:r>
              <a:rPr lang="en-US" kern="1200" dirty="0">
                <a:solidFill>
                  <a:schemeClr val="tx1"/>
                </a:solidFill>
                <a:effectLst/>
                <a:latin typeface="Calibri" panose="020F0502020204030204" pitchFamily="34" charset="0"/>
                <a:ea typeface="+mn-ea"/>
                <a:cs typeface="+mn-cs"/>
              </a:rPr>
              <a:t> </a:t>
            </a:r>
          </a:p>
          <a:p>
            <a:r>
              <a:rPr lang="en-US" kern="1200" dirty="0">
                <a:solidFill>
                  <a:schemeClr val="tx1"/>
                </a:solidFill>
                <a:effectLst/>
                <a:latin typeface="Calibri" panose="020F0502020204030204" pitchFamily="34" charset="0"/>
                <a:ea typeface="+mn-ea"/>
                <a:cs typeface="+mn-cs"/>
              </a:rPr>
              <a:t>It is also important to democratize advanced technologies. In situations where technology is difficult to implement yourself,</a:t>
            </a:r>
            <a:r>
              <a:rPr lang="en-US" kern="1200" baseline="0" dirty="0">
                <a:solidFill>
                  <a:schemeClr val="tx1"/>
                </a:solidFill>
                <a:effectLst/>
                <a:latin typeface="Calibri" panose="020F0502020204030204" pitchFamily="34" charset="0"/>
                <a:ea typeface="+mn-ea"/>
                <a:cs typeface="+mn-cs"/>
              </a:rPr>
              <a:t> consider using a vendor. By implementing the technology for you, the vendor handles the complexity and the knowledge, freeing your team to focus on more value-added work.</a:t>
            </a:r>
            <a:endParaRPr lang="en-US" kern="1200" dirty="0">
              <a:solidFill>
                <a:schemeClr val="tx1"/>
              </a:solidFill>
              <a:effectLst/>
              <a:latin typeface="Calibri" panose="020F0502020204030204" pitchFamily="34" charset="0"/>
              <a:ea typeface="+mn-ea"/>
              <a:cs typeface="+mn-cs"/>
            </a:endParaRPr>
          </a:p>
          <a:p>
            <a:endParaRPr lang="en-US" kern="1200" dirty="0">
              <a:solidFill>
                <a:schemeClr val="tx1"/>
              </a:solidFill>
              <a:effectLst/>
              <a:latin typeface="Calibri" panose="020F0502020204030204" pitchFamily="34" charset="0"/>
              <a:ea typeface="+mn-ea"/>
              <a:cs typeface="+mn-cs"/>
            </a:endParaRPr>
          </a:p>
          <a:p>
            <a:r>
              <a:rPr lang="en-US" i="1" kern="1200" dirty="0">
                <a:solidFill>
                  <a:schemeClr val="tx1"/>
                </a:solidFill>
                <a:effectLst/>
                <a:latin typeface="Calibri" panose="020F0502020204030204" pitchFamily="34" charset="0"/>
                <a:ea typeface="+mn-ea"/>
                <a:cs typeface="+mn-cs"/>
              </a:rPr>
              <a:t>Mechanical sympathy </a:t>
            </a:r>
            <a:r>
              <a:rPr lang="en-US" kern="1200" dirty="0">
                <a:solidFill>
                  <a:schemeClr val="tx1"/>
                </a:solidFill>
                <a:effectLst/>
                <a:latin typeface="Calibri" panose="020F0502020204030204" pitchFamily="34" charset="0"/>
                <a:ea typeface="+mn-ea"/>
                <a:cs typeface="+mn-cs"/>
              </a:rPr>
              <a:t>is when you use a tool or system with an understanding of how it operates best. Use the technology approach that aligns best to what you are trying to achieve. For example, consider data access patterns when you select database or storage approaches.</a:t>
            </a:r>
          </a:p>
          <a:p>
            <a:endParaRPr lang="en-US"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For more information, see the Performance Efficiency pillar on the content resources page of your online course.</a:t>
            </a:r>
          </a:p>
        </p:txBody>
      </p:sp>
    </p:spTree>
    <p:extLst>
      <p:ext uri="{BB962C8B-B14F-4D97-AF65-F5344CB8AC3E}">
        <p14:creationId xmlns:p14="http://schemas.microsoft.com/office/powerpoint/2010/main" val="2058109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kern="1200" dirty="0">
                <a:solidFill>
                  <a:schemeClr val="tx1"/>
                </a:solidFill>
                <a:effectLst/>
                <a:latin typeface="Calibri" panose="020F0502020204030204" pitchFamily="34" charset="0"/>
                <a:ea typeface="+mn-ea"/>
                <a:cs typeface="+mn-cs"/>
              </a:rPr>
              <a:t>Cost optimization is an ongoing requirement of any good architectural design. The process is iterative, and it should be refined and improved throughout your production lifetime. Understanding how efficient your current architecture is in relation to your goals can remove unneeded expense. </a:t>
            </a:r>
          </a:p>
          <a:p>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Adopt the right consumption model for your use case. You might want to adopt a model where you pay only for the resources you use. Consider using managed services because they operate at cloud scale, and they can offer a lower cost per transaction or service. </a:t>
            </a:r>
          </a:p>
          <a:p>
            <a:endParaRPr lang="en-US"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For more information, see the Cost Optimization pillar on the content resources page of your online course.</a:t>
            </a:r>
          </a:p>
        </p:txBody>
      </p:sp>
    </p:spTree>
    <p:extLst>
      <p:ext uri="{BB962C8B-B14F-4D97-AF65-F5344CB8AC3E}">
        <p14:creationId xmlns:p14="http://schemas.microsoft.com/office/powerpoint/2010/main" val="9591236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18</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The Sustainability pillar addresses the ability to build architectures that maximize efficiency and reduce waste. </a:t>
            </a:r>
            <a:r>
              <a:rPr lang="en-US" b="0" i="0" dirty="0">
                <a:solidFill>
                  <a:srgbClr val="16191F"/>
                </a:solidFill>
                <a:effectLst/>
                <a:latin typeface="Calibri" panose="020F0502020204030204" pitchFamily="34" charset="0"/>
              </a:rPr>
              <a:t>The discipline of sustainability addresses the long-term environmental, economic, and societal impact of your business activities. You should u</a:t>
            </a:r>
            <a:r>
              <a:rPr lang="en-US" dirty="0">
                <a:latin typeface="Calibri" panose="020F0502020204030204" pitchFamily="34" charset="0"/>
              </a:rPr>
              <a:t>nderstand the impact of your workloads and work to reduce the downstream impact. </a:t>
            </a:r>
            <a:br>
              <a:rPr lang="en-US" dirty="0">
                <a:latin typeface="Calibri" panose="020F0502020204030204" pitchFamily="34" charset="0"/>
              </a:rPr>
            </a:br>
            <a:br>
              <a:rPr lang="en-US" dirty="0">
                <a:latin typeface="Calibri" panose="020F0502020204030204" pitchFamily="34" charset="0"/>
              </a:rPr>
            </a:br>
            <a:r>
              <a:rPr lang="en-US" dirty="0">
                <a:latin typeface="Calibri" panose="020F0502020204030204" pitchFamily="34" charset="0"/>
              </a:rPr>
              <a:t>Sustainability in the cloud is a continuous effort. It focuses primarily on energy reduction and efficiency across all components of a workload by achieving the maximum benefit from the resources provisioned and minimizing the total resources required. This effort can include the initial selection of an efficient programming language, adoption of modern algorithms, and use of efficient data storage techniques. It can also include deploying to correctly sized and efficient compute infrastructure and minimizing requirements for high-powered end-user hardware. </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For more information, see the Sustainability pillar on the content resources page of your online course.</a:t>
            </a:r>
          </a:p>
        </p:txBody>
      </p:sp>
    </p:spTree>
    <p:extLst>
      <p:ext uri="{BB962C8B-B14F-4D97-AF65-F5344CB8AC3E}">
        <p14:creationId xmlns:p14="http://schemas.microsoft.com/office/powerpoint/2010/main" val="29072492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a:latin typeface="Calibri" panose="020F0502020204030204" pitchFamily="34" charset="0"/>
              </a:rPr>
              <a:t>|</a:t>
            </a:r>
            <a:r>
              <a:rPr lang="en-US" b="1" dirty="0">
                <a:latin typeface="Calibri" panose="020F0502020204030204" pitchFamily="34" charset="0"/>
              </a:rPr>
              <a:t>Instructor notes</a:t>
            </a:r>
          </a:p>
          <a:p>
            <a:r>
              <a:rPr lang="en-US" b="0" dirty="0">
                <a:latin typeface="Calibri" panose="020F0502020204030204" pitchFamily="34" charset="0"/>
              </a:rPr>
              <a:t>|The AWS Well-Architected Tool is accessible through the AWS Management Console. This tool helps you apply best practices from the AWS Well-Architected Framework in a consistent way. It is intended for those</a:t>
            </a:r>
            <a:r>
              <a:rPr lang="en-US" b="0" i="0" dirty="0">
                <a:solidFill>
                  <a:srgbClr val="16191F"/>
                </a:solidFill>
                <a:effectLst/>
                <a:latin typeface="Calibri" panose="020F0502020204030204" pitchFamily="34" charset="0"/>
              </a:rPr>
              <a:t> involved in technical product development, such as chief technology officers (CTOs), architects, developers, and operations team members.</a:t>
            </a:r>
          </a:p>
          <a:p>
            <a:r>
              <a:rPr lang="en-US" b="0" dirty="0">
                <a:latin typeface="Calibri" panose="020F0502020204030204" pitchFamily="34" charset="0"/>
              </a:rPr>
              <a:t>|</a:t>
            </a:r>
          </a:p>
          <a:p>
            <a:r>
              <a:rPr lang="en-US" b="0" dirty="0">
                <a:latin typeface="Calibri" panose="020F0502020204030204" pitchFamily="34" charset="0"/>
              </a:rPr>
              <a:t>|Consider completing a brief demo of the AWS WA Tool. The user guide includes a step-by-step tutorial you can use to demo the tool. For more information, see the </a:t>
            </a:r>
            <a:r>
              <a:rPr lang="en-US" b="0" i="1" dirty="0">
                <a:latin typeface="Calibri" panose="020F0502020204030204" pitchFamily="34" charset="0"/>
              </a:rPr>
              <a:t>AWS Well-Architected Tool User Guide </a:t>
            </a:r>
            <a:r>
              <a:rPr lang="en-US" b="0" dirty="0">
                <a:latin typeface="Calibri" panose="020F0502020204030204" pitchFamily="34" charset="0"/>
              </a:rPr>
              <a:t>on the content resources page of your online course. </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If you want help designing a well-architected solution, you can use t</a:t>
            </a:r>
            <a:r>
              <a:rPr lang="en-US" kern="1200" dirty="0">
                <a:solidFill>
                  <a:schemeClr val="tx1"/>
                </a:solidFill>
                <a:effectLst/>
                <a:latin typeface="Calibri" panose="020F0502020204030204" pitchFamily="34" charset="0"/>
                <a:ea typeface="+mn-ea"/>
                <a:cs typeface="+mn-cs"/>
              </a:rPr>
              <a:t>he AWS Well-Architected Tool. The AWS WA Tool is a self-service tool that provides you with on-demand access to current AWS best practices. These best practices can help you build secure, high-performing, resilient, and efficient application infrastructure on AWS. </a:t>
            </a:r>
          </a:p>
          <a:p>
            <a:endParaRPr lang="en-US" kern="1200" dirty="0">
              <a:solidFill>
                <a:schemeClr val="tx1"/>
              </a:solidFill>
              <a:effectLst/>
              <a:latin typeface="Calibri" panose="020F0502020204030204" pitchFamily="34" charset="0"/>
              <a:ea typeface="+mn-ea"/>
              <a:cs typeface="+mn-cs"/>
            </a:endParaRPr>
          </a:p>
          <a:p>
            <a:r>
              <a:rPr lang="en-US" dirty="0">
                <a:latin typeface="Calibri" panose="020F0502020204030204" pitchFamily="34" charset="0"/>
              </a:rPr>
              <a:t>The AWS WA Tool helps you review the state of your workloads and compare them to the latest AWS architectural best practices. It gives you access to knowledge and best practices used by AWS architects when you need it. </a:t>
            </a:r>
          </a:p>
          <a:p>
            <a:endParaRPr lang="en-US" dirty="0">
              <a:latin typeface="Calibri" panose="020F0502020204030204" pitchFamily="34" charset="0"/>
            </a:endParaRPr>
          </a:p>
          <a:p>
            <a:r>
              <a:rPr lang="en-US" dirty="0">
                <a:latin typeface="Calibri" panose="020F0502020204030204" pitchFamily="34" charset="0"/>
              </a:rPr>
              <a:t>The AWS WA Tool is available in the AWS Management Console. You define your workload and answer a series of questions in the areas of operational excellence, security, reliability, performance efficiency, and cost optimization. The AWS WA Tool then delivers an action plan with step-by-step guidance on how to improve your workload for the cloud.</a:t>
            </a:r>
          </a:p>
          <a:p>
            <a:endParaRPr lang="en-US" dirty="0">
              <a:latin typeface="Calibri" panose="020F0502020204030204" pitchFamily="34" charset="0"/>
            </a:endParaRPr>
          </a:p>
          <a:p>
            <a:pPr defTabSz="457200">
              <a:defRPr/>
            </a:pPr>
            <a:r>
              <a:rPr lang="en-US" dirty="0">
                <a:latin typeface="Calibri" panose="020F0502020204030204" pitchFamily="34" charset="0"/>
              </a:rPr>
              <a:t>The AWS WA Tool provides a consistent process for you to review and measure your cloud architectures. </a:t>
            </a:r>
            <a:r>
              <a:rPr lang="en-US" b="0" i="0" kern="1200" dirty="0">
                <a:solidFill>
                  <a:srgbClr val="000000"/>
                </a:solidFill>
                <a:latin typeface="Calibri" panose="020F0502020204030204" pitchFamily="34" charset="0"/>
                <a:ea typeface="+mn-ea"/>
                <a:cs typeface="+mn-cs"/>
              </a:rPr>
              <a:t>With the tool, you can gather data and get recommendations to do the following:</a:t>
            </a:r>
          </a:p>
          <a:p>
            <a:pPr marL="171450" marR="0" lvl="0" indent="-171450" defTabSz="457200" rtl="0" eaLnBrk="1" fontAlgn="auto" latinLnBrk="0" hangingPunct="1">
              <a:buClrTx/>
              <a:buSzTx/>
              <a:buFont typeface="Arial" panose="020B0604020202020204" pitchFamily="34" charset="0"/>
              <a:buChar char="•"/>
              <a:tabLst/>
              <a:defRPr/>
            </a:pPr>
            <a:r>
              <a:rPr lang="en-US" b="0" i="0" kern="1200" dirty="0">
                <a:solidFill>
                  <a:srgbClr val="000000"/>
                </a:solidFill>
                <a:latin typeface="Calibri" panose="020F0502020204030204" pitchFamily="34" charset="0"/>
                <a:ea typeface="+mn-ea"/>
                <a:cs typeface="+mn-cs"/>
              </a:rPr>
              <a:t>Minimize system failures and operational costs.</a:t>
            </a:r>
          </a:p>
          <a:p>
            <a:pPr marL="171450" marR="0" lvl="0" indent="-171450" defTabSz="457200" rtl="0" eaLnBrk="1" fontAlgn="auto" latinLnBrk="0" hangingPunct="1">
              <a:buClrTx/>
              <a:buSzTx/>
              <a:buFont typeface="Arial" panose="020B0604020202020204" pitchFamily="34" charset="0"/>
              <a:buChar char="•"/>
              <a:tabLst/>
              <a:defRPr/>
            </a:pPr>
            <a:r>
              <a:rPr lang="en-US" b="0" i="0" kern="1200" dirty="0">
                <a:solidFill>
                  <a:srgbClr val="000000"/>
                </a:solidFill>
                <a:latin typeface="Calibri" panose="020F0502020204030204" pitchFamily="34" charset="0"/>
                <a:ea typeface="+mn-ea"/>
                <a:cs typeface="+mn-cs"/>
              </a:rPr>
              <a:t>Dive deep into business and infrastructure processes.</a:t>
            </a:r>
          </a:p>
          <a:p>
            <a:pPr marL="171450" marR="0" lvl="0" indent="-171450" defTabSz="457200" rtl="0" eaLnBrk="1" fontAlgn="auto" latinLnBrk="0" hangingPunct="1">
              <a:buClrTx/>
              <a:buSzTx/>
              <a:buFont typeface="Arial" panose="020B0604020202020204" pitchFamily="34" charset="0"/>
              <a:buChar char="•"/>
              <a:tabLst/>
              <a:defRPr/>
            </a:pPr>
            <a:r>
              <a:rPr lang="en-US" b="0" i="0" kern="1200" dirty="0">
                <a:solidFill>
                  <a:srgbClr val="000000"/>
                </a:solidFill>
                <a:latin typeface="Calibri" panose="020F0502020204030204" pitchFamily="34" charset="0"/>
                <a:ea typeface="+mn-ea"/>
                <a:cs typeface="+mn-cs"/>
              </a:rPr>
              <a:t>Provide best practice guidance.</a:t>
            </a:r>
          </a:p>
          <a:p>
            <a:pPr marL="171450" marR="0" lvl="0" indent="-171450" defTabSz="457200" rtl="0" eaLnBrk="1" fontAlgn="auto" latinLnBrk="0" hangingPunct="1">
              <a:buClrTx/>
              <a:buSzTx/>
              <a:buFont typeface="Arial" panose="020B0604020202020204" pitchFamily="34" charset="0"/>
              <a:buChar char="•"/>
              <a:tabLst/>
              <a:defRPr/>
            </a:pPr>
            <a:r>
              <a:rPr lang="en-US" b="0" i="0" kern="1200" dirty="0">
                <a:solidFill>
                  <a:srgbClr val="000000"/>
                </a:solidFill>
                <a:latin typeface="Calibri" panose="020F0502020204030204" pitchFamily="34" charset="0"/>
                <a:ea typeface="+mn-ea"/>
                <a:cs typeface="+mn-cs"/>
              </a:rPr>
              <a:t>Deliver on the cloud computing value proposition.</a:t>
            </a:r>
          </a:p>
          <a:p>
            <a:endParaRPr lang="en-US" dirty="0">
              <a:latin typeface="Calibri" panose="020F0502020204030204" pitchFamily="34" charset="0"/>
            </a:endParaRPr>
          </a:p>
          <a:p>
            <a:r>
              <a:rPr lang="en-US" dirty="0">
                <a:latin typeface="Calibri" panose="020F0502020204030204" pitchFamily="34" charset="0"/>
              </a:rPr>
              <a:t>You can use the results the tool provides to identify next steps for improvement, drive architectural decisions, and bring architecture considerations into your corporate governance process.</a:t>
            </a:r>
          </a:p>
          <a:p>
            <a:endParaRPr lang="en-US" dirty="0">
              <a:latin typeface="Calibri" panose="020F0502020204030204" pitchFamily="34" charset="0"/>
            </a:endParaRPr>
          </a:p>
          <a:p>
            <a:r>
              <a:rPr lang="en-US" dirty="0">
                <a:latin typeface="Calibri" panose="020F0502020204030204" pitchFamily="34" charset="0"/>
              </a:rPr>
              <a:t>For more information, see the </a:t>
            </a:r>
            <a:r>
              <a:rPr lang="en-US" i="1" dirty="0">
                <a:latin typeface="Calibri" panose="020F0502020204030204" pitchFamily="34" charset="0"/>
              </a:rPr>
              <a:t>AWS Well-Architected Tool User Guide </a:t>
            </a:r>
            <a:r>
              <a:rPr lang="en-US" dirty="0">
                <a:latin typeface="Calibri" panose="020F0502020204030204" pitchFamily="34" charset="0"/>
              </a:rPr>
              <a:t>on the content resources page of your online course.</a:t>
            </a:r>
          </a:p>
        </p:txBody>
      </p:sp>
    </p:spTree>
    <p:extLst>
      <p:ext uri="{BB962C8B-B14F-4D97-AF65-F5344CB8AC3E}">
        <p14:creationId xmlns:p14="http://schemas.microsoft.com/office/powerpoint/2010/main" val="20826122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20</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|The student version doesn't have any notes for this slide.</a:t>
            </a:r>
            <a:endParaRPr lang="en-US" b="0"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26731267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21</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dirty="0">
                <a:latin typeface="Calibri" panose="020F0502020204030204" pitchFamily="34" charset="0"/>
              </a:rPr>
              <a:t>This section introduces the best </a:t>
            </a:r>
            <a:r>
              <a:rPr lang="en-US" i="0" dirty="0">
                <a:latin typeface="Calibri" panose="020F0502020204030204" pitchFamily="34" charset="0"/>
              </a:rPr>
              <a:t>practices for building solutions on AWS.</a:t>
            </a:r>
          </a:p>
        </p:txBody>
      </p:sp>
    </p:spTree>
    <p:extLst>
      <p:ext uri="{BB962C8B-B14F-4D97-AF65-F5344CB8AC3E}">
        <p14:creationId xmlns:p14="http://schemas.microsoft.com/office/powerpoint/2010/main" val="38292506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22</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0" dirty="0">
                <a:latin typeface="Calibri" panose="020F0502020204030204" pitchFamily="34" charset="0"/>
              </a:rPr>
              <a:t>|This section focuses on the best practices for designing and building cloud architectures. Use the design trade-offs as a talking point for each of the best practices to follow. </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pPr lvl="0"/>
            <a:r>
              <a:rPr lang="en-US" kern="1200" dirty="0">
                <a:solidFill>
                  <a:schemeClr val="tx1"/>
                </a:solidFill>
                <a:effectLst/>
                <a:latin typeface="Calibri" panose="020F0502020204030204" pitchFamily="34" charset="0"/>
                <a:ea typeface="+mn-ea"/>
                <a:cs typeface="+mn-cs"/>
              </a:rPr>
              <a:t>As you design a solution, think carefully about trade-offs so you can select an optimal approach. For example, you might trade consistency, durability, and space for time and latency to deliver higher performance. Or you might prioritize speed to market over cost.</a:t>
            </a:r>
          </a:p>
          <a:p>
            <a:pPr lvl="0"/>
            <a:endParaRPr lang="en-US" kern="1200" dirty="0">
              <a:solidFill>
                <a:schemeClr val="tx1"/>
              </a:solidFill>
              <a:effectLst/>
              <a:latin typeface="Calibri" panose="020F0502020204030204" pitchFamily="34" charset="0"/>
              <a:ea typeface="+mn-ea"/>
              <a:cs typeface="+mn-cs"/>
            </a:endParaRPr>
          </a:p>
          <a:p>
            <a:pPr lvl="0"/>
            <a:r>
              <a:rPr lang="en-US" kern="1200" dirty="0">
                <a:solidFill>
                  <a:schemeClr val="tx1"/>
                </a:solidFill>
                <a:effectLst/>
                <a:latin typeface="Calibri" panose="020F0502020204030204" pitchFamily="34" charset="0"/>
                <a:ea typeface="+mn-ea"/>
                <a:cs typeface="+mn-cs"/>
              </a:rPr>
              <a:t>Trade-offs can increase the cost and complexity of your architecture, so your design decisions should be based on empirical data. For example, you might need to perform load testing to ensure that a measurable benefit is obtained in performance. Or you might need to perform benchmarking to achieve the most cost-optimal workload over time. When you evaluate performance-related improvements, consider how your architecture design choices will impact customers and workload efficiencies. </a:t>
            </a:r>
          </a:p>
          <a:p>
            <a:pPr lvl="0"/>
            <a:endParaRPr lang="en-US" kern="1200" dirty="0">
              <a:solidFill>
                <a:schemeClr val="tx1"/>
              </a:solidFill>
              <a:effectLst/>
              <a:latin typeface="Calibri" panose="020F0502020204030204" pitchFamily="34" charset="0"/>
              <a:ea typeface="+mn-ea"/>
              <a:cs typeface="+mn-cs"/>
            </a:endParaRPr>
          </a:p>
          <a:p>
            <a:pPr lvl="0"/>
            <a:r>
              <a:rPr lang="en-US" kern="1200" dirty="0">
                <a:solidFill>
                  <a:schemeClr val="tx1"/>
                </a:solidFill>
                <a:effectLst/>
                <a:latin typeface="Calibri" panose="020F0502020204030204" pitchFamily="34" charset="0"/>
                <a:ea typeface="+mn-ea"/>
                <a:cs typeface="+mn-cs"/>
              </a:rPr>
              <a:t>In this section, you learn about best practices for designing solutions on AWS. You also learn about anti-patterns (or bad solution designs) to avoid.</a:t>
            </a:r>
          </a:p>
        </p:txBody>
      </p:sp>
    </p:spTree>
    <p:extLst>
      <p:ext uri="{BB962C8B-B14F-4D97-AF65-F5344CB8AC3E}">
        <p14:creationId xmlns:p14="http://schemas.microsoft.com/office/powerpoint/2010/main" val="33503925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0" i="0" dirty="0">
                <a:solidFill>
                  <a:srgbClr val="333333"/>
                </a:solidFill>
                <a:effectLst/>
                <a:latin typeface="Calibri" panose="020F0502020204030204" pitchFamily="34" charset="0"/>
              </a:rPr>
              <a:t>|Cloud solutions architects should build with consideration of the future. This means that solutions need to cater to current scale requirements and the anticipated growth of the solution. When a solution scales, many architects experience added complexity to the overall architecture in terms of its manageability, performance, security, and so on. By architecting your solution or application to scale reliably, you can avoid the introduction of additional complexity, degraded performance, or reduced security because of scaling.</a:t>
            </a:r>
          </a:p>
          <a:p>
            <a:r>
              <a:rPr lang="en-US" b="0" i="0" dirty="0">
                <a:solidFill>
                  <a:srgbClr val="333333"/>
                </a:solidFill>
                <a:effectLst/>
                <a:latin typeface="Calibri" panose="020F0502020204030204" pitchFamily="34" charset="0"/>
              </a:rPr>
              <a:t>|</a:t>
            </a:r>
          </a:p>
          <a:p>
            <a:pPr marL="0" marR="0" lvl="0" indent="0" defTabSz="914400" rtl="0" eaLnBrk="1" fontAlgn="auto" latinLnBrk="0" hangingPunct="1">
              <a:buClrTx/>
              <a:buSzTx/>
              <a:buFontTx/>
              <a:buNone/>
              <a:tabLst/>
              <a:defRPr/>
            </a:pPr>
            <a:r>
              <a:rPr lang="en-US" b="0" i="0" dirty="0">
                <a:solidFill>
                  <a:srgbClr val="16191F"/>
                </a:solidFill>
                <a:effectLst/>
                <a:latin typeface="Calibri" panose="020F0502020204030204" pitchFamily="34" charset="0"/>
              </a:rPr>
              <a:t>|This architecture is a good example of Amazon EC2 Auto Scaling. When you use Amazon EC2 Auto Scaling, your applications gain better fault tolerance, availability, and cost management.</a:t>
            </a:r>
            <a:endParaRPr lang="en-US" b="0" i="0" dirty="0">
              <a:solidFill>
                <a:srgbClr val="333333"/>
              </a:solidFill>
              <a:effectLst/>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When you run your workloads on the AWS Cloud, you can scale your infrastructure quickly and proactively. Make sure that you implement scalability at every layer of your infrastructure. By implementing scalability, you can improve your design to anticipate the need for more capacity and deliver it before it's too late.</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For example, you can use a monitoring solution like Amazon CloudWatch to detect whether the total load across your fleet of servers has reached a specified threshold. You can define this threshold to be </a:t>
            </a:r>
            <a:r>
              <a:rPr lang="en-US" i="1" dirty="0">
                <a:latin typeface="Calibri" panose="020F0502020204030204" pitchFamily="34" charset="0"/>
                <a:ea typeface="Amazon Ember" panose="020B0603020204020204" pitchFamily="34" charset="0"/>
                <a:cs typeface="Amazon Ember" panose="020B0603020204020204" pitchFamily="34" charset="0"/>
              </a:rPr>
              <a:t>Stayed above 60% CPU utilization for longer than 5 minutes</a:t>
            </a:r>
            <a:r>
              <a:rPr lang="en-US" dirty="0">
                <a:latin typeface="Calibri" panose="020F0502020204030204" pitchFamily="34" charset="0"/>
                <a:ea typeface="Amazon Ember" panose="020B0603020204020204" pitchFamily="34" charset="0"/>
                <a:cs typeface="Amazon Ember" panose="020B0603020204020204" pitchFamily="34" charset="0"/>
              </a:rPr>
              <a:t> or anything related to the use of resources. With CloudWatch, you can also design custom metrics based on specific applications that can invoke the resource scaling that is required.</a:t>
            </a:r>
          </a:p>
          <a:p>
            <a:br>
              <a:rPr lang="en-US" dirty="0">
                <a:latin typeface="Calibri" panose="020F0502020204030204" pitchFamily="34" charset="0"/>
                <a:ea typeface="Amazon Ember" panose="020B0603020204020204" pitchFamily="34" charset="0"/>
                <a:cs typeface="Amazon Ember" panose="020B0603020204020204" pitchFamily="34" charset="0"/>
              </a:rPr>
            </a:br>
            <a:r>
              <a:rPr lang="en-US" dirty="0">
                <a:latin typeface="Calibri" panose="020F0502020204030204" pitchFamily="34" charset="0"/>
                <a:ea typeface="Amazon Ember" panose="020B0603020204020204" pitchFamily="34" charset="0"/>
                <a:cs typeface="Amazon Ember" panose="020B0603020204020204" pitchFamily="34" charset="0"/>
              </a:rPr>
              <a:t>When an alarm is invoked, Amazon EC2 Auto Scaling immediately launches a new instance. That instance is then ready before capacity is reached, which provides a seamless experience for users.</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Ideally, you should also design your system to </a:t>
            </a:r>
            <a:r>
              <a:rPr lang="en-US" i="0" dirty="0">
                <a:latin typeface="Calibri" panose="020F0502020204030204" pitchFamily="34" charset="0"/>
                <a:ea typeface="Amazon Ember" panose="020B0603020204020204" pitchFamily="34" charset="0"/>
                <a:cs typeface="Amazon Ember" panose="020B0603020204020204" pitchFamily="34" charset="0"/>
              </a:rPr>
              <a:t>be elastic. W</a:t>
            </a:r>
            <a:r>
              <a:rPr lang="en-US" dirty="0">
                <a:latin typeface="Calibri" panose="020F0502020204030204" pitchFamily="34" charset="0"/>
                <a:ea typeface="Amazon Ember" panose="020B0603020204020204" pitchFamily="34" charset="0"/>
                <a:cs typeface="Amazon Ember" panose="020B0603020204020204" pitchFamily="34" charset="0"/>
              </a:rPr>
              <a:t>hen demand drops off, you're not running (and paying for) instances that you no longer need.</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ea typeface="Amazon Ember" panose="020B0603020204020204" pitchFamily="34" charset="0"/>
                <a:cs typeface="Amazon Ember" panose="020B0603020204020204" pitchFamily="34" charset="0"/>
              </a:rPr>
              <a:t>To understand the importance of scalability, consider where scaling is done reactively and manually.</a:t>
            </a:r>
            <a:r>
              <a:rPr lang="en-US" baseline="0" dirty="0">
                <a:latin typeface="Calibri" panose="020F0502020204030204" pitchFamily="34" charset="0"/>
                <a:ea typeface="Amazon Ember" panose="020B0603020204020204" pitchFamily="34" charset="0"/>
                <a:cs typeface="Amazon Ember" panose="020B0603020204020204" pitchFamily="34" charset="0"/>
              </a:rPr>
              <a:t> When </a:t>
            </a:r>
            <a:r>
              <a:rPr lang="en-US" dirty="0">
                <a:latin typeface="Calibri" panose="020F0502020204030204" pitchFamily="34" charset="0"/>
                <a:ea typeface="Amazon Ember" panose="020B0603020204020204" pitchFamily="34" charset="0"/>
                <a:cs typeface="Amazon Ember" panose="020B0603020204020204" pitchFamily="34" charset="0"/>
              </a:rPr>
              <a:t>application servers reach full capacity, users are prevented from accessing the application.</a:t>
            </a:r>
            <a:r>
              <a:rPr lang="en-US" baseline="0" dirty="0">
                <a:latin typeface="Calibri" panose="020F0502020204030204" pitchFamily="34" charset="0"/>
                <a:ea typeface="Amazon Ember" panose="020B0603020204020204" pitchFamily="34" charset="0"/>
                <a:cs typeface="Amazon Ember" panose="020B0603020204020204" pitchFamily="34" charset="0"/>
              </a:rPr>
              <a:t> </a:t>
            </a:r>
            <a:r>
              <a:rPr lang="en-US" dirty="0">
                <a:latin typeface="Calibri" panose="020F0502020204030204" pitchFamily="34" charset="0"/>
                <a:ea typeface="Amazon Ember" panose="020B0603020204020204" pitchFamily="34" charset="0"/>
                <a:cs typeface="Amazon Ember" panose="020B0603020204020204" pitchFamily="34" charset="0"/>
              </a:rPr>
              <a:t>Administrators then manually launch one or more new instances to manage the load. Unfortunately, it takes a few minutes for an instance to become available for use after it’s launched.</a:t>
            </a:r>
            <a:r>
              <a:rPr lang="en-US" baseline="0" dirty="0">
                <a:latin typeface="Calibri" panose="020F0502020204030204" pitchFamily="34" charset="0"/>
                <a:ea typeface="Amazon Ember" panose="020B0603020204020204" pitchFamily="34" charset="0"/>
                <a:cs typeface="Amazon Ember" panose="020B0603020204020204" pitchFamily="34" charset="0"/>
              </a:rPr>
              <a:t> That increases the </a:t>
            </a:r>
            <a:r>
              <a:rPr lang="en-US" dirty="0">
                <a:latin typeface="Calibri" panose="020F0502020204030204" pitchFamily="34" charset="0"/>
                <a:ea typeface="Amazon Ember" panose="020B0603020204020204" pitchFamily="34" charset="0"/>
                <a:cs typeface="Amazon Ember" panose="020B0603020204020204" pitchFamily="34" charset="0"/>
              </a:rPr>
              <a:t>time users can’t access the application.</a:t>
            </a:r>
          </a:p>
        </p:txBody>
      </p:sp>
    </p:spTree>
    <p:extLst>
      <p:ext uri="{BB962C8B-B14F-4D97-AF65-F5344CB8AC3E}">
        <p14:creationId xmlns:p14="http://schemas.microsoft.com/office/powerpoint/2010/main" val="12821557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0" dirty="0">
                <a:latin typeface="Calibri" panose="020F0502020204030204" pitchFamily="34" charset="0"/>
              </a:rPr>
              <a:t>|Automation is a best practice for provisioning, stopping, and configuring cloud resources. This diagram shows how automation can be used to respond to a server failure. The diagram reads from left to right as follows: </a:t>
            </a:r>
          </a:p>
          <a:p>
            <a:pPr marL="228600" indent="-228600">
              <a:buAutoNum type="arabicPeriod"/>
            </a:pPr>
            <a:r>
              <a:rPr lang="en-US" b="0" dirty="0">
                <a:latin typeface="Calibri" panose="020F0502020204030204" pitchFamily="34" charset="0"/>
              </a:rPr>
              <a:t>|Application server crashes.</a:t>
            </a:r>
          </a:p>
          <a:p>
            <a:pPr marL="228600" indent="-228600">
              <a:buAutoNum type="arabicPeriod"/>
            </a:pPr>
            <a:r>
              <a:rPr lang="en-US" b="0" dirty="0">
                <a:latin typeface="Calibri" panose="020F0502020204030204" pitchFamily="34" charset="0"/>
              </a:rPr>
              <a:t>|Amazon CloudWatch automatically detects the unhealthy instance.</a:t>
            </a:r>
          </a:p>
          <a:p>
            <a:pPr marL="228600" indent="-228600">
              <a:buAutoNum type="arabicPeriod"/>
            </a:pPr>
            <a:r>
              <a:rPr lang="en-US" b="0" dirty="0">
                <a:latin typeface="Calibri" panose="020F0502020204030204" pitchFamily="34" charset="0"/>
              </a:rPr>
              <a:t>|Amazon EC2 Auto Scaling automatically launches and configures an identical server.</a:t>
            </a:r>
          </a:p>
          <a:p>
            <a:pPr marL="228600" indent="-228600">
              <a:buAutoNum type="arabicPeriod"/>
            </a:pPr>
            <a:r>
              <a:rPr lang="en-US" b="0" dirty="0">
                <a:latin typeface="Calibri" panose="020F0502020204030204" pitchFamily="34" charset="0"/>
              </a:rPr>
              <a:t>|An alarm notifies the administrator.</a:t>
            </a:r>
          </a:p>
          <a:p>
            <a:pPr marL="228600" indent="-228600">
              <a:buAutoNum type="arabicPeriod"/>
            </a:pPr>
            <a:r>
              <a:rPr lang="en-US" b="0" dirty="0">
                <a:latin typeface="Calibri" panose="020F0502020204030204" pitchFamily="34" charset="0"/>
              </a:rPr>
              <a:t>|CloudWatch automatically logs the action to a change management solution.</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AWS offers built-in monitoring and automation tools at virtually every layer of your infrastructure. Take advantage of these tools to ensure that your infrastructure can respond quickly to changes. </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Without built-in monitoring and automation tools, you must manually detect and respond to any failures. If an application server fails, you must detect it and manually notify the administrator. The administrator must manually launch and configure the new server. </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Tools like CloudWatch and Amazon EC2 Auto Scaling can detect unhealthy resources and automate the launch of replacement resources. You can also be notified when resource allocations change.</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ea typeface="Amazon Ember" panose="020B0603020204020204" pitchFamily="34" charset="0"/>
                <a:cs typeface="Amazon Ember" panose="020B0603020204020204" pitchFamily="34" charset="0"/>
              </a:rPr>
              <a:t>In this example, when the application server crashes, CloudWatch automatically detects the failure. CloudWatch automatically launches and configures a new servers and notifies the administrator. The change is logged to a change management solution for tracking.</a:t>
            </a:r>
          </a:p>
        </p:txBody>
      </p:sp>
    </p:spTree>
    <p:extLst>
      <p:ext uri="{BB962C8B-B14F-4D97-AF65-F5344CB8AC3E}">
        <p14:creationId xmlns:p14="http://schemas.microsoft.com/office/powerpoint/2010/main" val="9938709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0" i="0" dirty="0">
                <a:solidFill>
                  <a:srgbClr val="333333"/>
                </a:solidFill>
                <a:effectLst/>
                <a:latin typeface="Calibri" panose="020F0502020204030204" pitchFamily="34" charset="0"/>
              </a:rPr>
              <a:t>|Discuss that, traditionally, system administrators used a combination of scripts and manual processes to set up infrastructure environments. This process was complex and time-consuming. You can use infrastructure as code (IaC) to automatically set up your environment in minutes and manage it more efficiently. </a:t>
            </a:r>
          </a:p>
          <a:p>
            <a:endParaRPr lang="en-US" b="0" i="0" dirty="0">
              <a:solidFill>
                <a:srgbClr val="333333"/>
              </a:solidFill>
              <a:effectLst/>
              <a:latin typeface="Calibri" panose="020F0502020204030204" pitchFamily="34" charset="0"/>
            </a:endParaRPr>
          </a:p>
          <a:p>
            <a:r>
              <a:rPr lang="en-US" b="0" i="0" dirty="0">
                <a:solidFill>
                  <a:srgbClr val="333333"/>
                </a:solidFill>
                <a:effectLst/>
                <a:latin typeface="Calibri" panose="020F0502020204030204" pitchFamily="34" charset="0"/>
              </a:rPr>
              <a:t>|For more information, review </a:t>
            </a:r>
            <a:r>
              <a:rPr lang="en-US" b="0" i="1" dirty="0">
                <a:solidFill>
                  <a:srgbClr val="333333"/>
                </a:solidFill>
                <a:effectLst/>
                <a:latin typeface="Calibri" panose="020F0502020204030204" pitchFamily="34" charset="0"/>
              </a:rPr>
              <a:t>What Is Infrastructure as Code?</a:t>
            </a:r>
            <a:r>
              <a:rPr lang="en-US" b="0" i="0" dirty="0">
                <a:solidFill>
                  <a:srgbClr val="333333"/>
                </a:solidFill>
                <a:effectLst/>
                <a:latin typeface="Calibri" panose="020F0502020204030204" pitchFamily="34" charset="0"/>
              </a:rPr>
              <a:t> on the content resources page of your online course.</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b="0" i="0" dirty="0">
                <a:solidFill>
                  <a:srgbClr val="333333"/>
                </a:solidFill>
                <a:effectLst/>
                <a:latin typeface="Calibri" panose="020F0502020204030204" pitchFamily="34" charset="0"/>
              </a:rPr>
              <a:t>Automation is a key goal across any computing environment. Infrastructure as code (IaC) is used for infrastructure automation to create environments. The most common use of IaC is in software development to build, test, and deploy applications.</a:t>
            </a:r>
          </a:p>
          <a:p>
            <a:endParaRPr lang="en-US" b="0" i="0" dirty="0">
              <a:solidFill>
                <a:srgbClr val="333333"/>
              </a:solidFill>
              <a:effectLst/>
              <a:latin typeface="Calibri" panose="020F0502020204030204" pitchFamily="34" charset="0"/>
            </a:endParaRPr>
          </a:p>
          <a:p>
            <a:r>
              <a:rPr lang="en-US" b="0" i="0" dirty="0">
                <a:solidFill>
                  <a:srgbClr val="333333"/>
                </a:solidFill>
                <a:effectLst/>
                <a:latin typeface="Calibri" panose="020F0502020204030204" pitchFamily="34" charset="0"/>
              </a:rPr>
              <a:t>Rapidly deploy duplicate environments. Using a single template, identical environments can be deployed. IaC removes the repetitive manual steps and checklists that were needed in the past.</a:t>
            </a:r>
          </a:p>
          <a:p>
            <a:endParaRPr lang="en-US" b="0" i="0" dirty="0">
              <a:solidFill>
                <a:srgbClr val="333333"/>
              </a:solidFill>
              <a:effectLst/>
              <a:latin typeface="Calibri" panose="020F0502020204030204" pitchFamily="34" charset="0"/>
            </a:endParaRPr>
          </a:p>
          <a:p>
            <a:r>
              <a:rPr lang="en-US" b="0" i="0" dirty="0">
                <a:solidFill>
                  <a:srgbClr val="333333"/>
                </a:solidFill>
                <a:effectLst/>
                <a:latin typeface="Calibri" panose="020F0502020204030204" pitchFamily="34" charset="0"/>
              </a:rPr>
              <a:t>Reduce configuration errors from manual configuration. Manual configuration is error-prone because of human involvement. IaC reduces errors and streamlines error checking. If there are errors because of IaC code updates, you can quickly fix the situation by rolling the codebase to the last known stable configuration files. It’s also possible to roll back environments using previous versions of IaC configuration files for other reasons, such as the deployment of older application versions.</a:t>
            </a:r>
          </a:p>
          <a:p>
            <a:endParaRPr lang="en-US" b="0" i="0" dirty="0">
              <a:solidFill>
                <a:srgbClr val="333333"/>
              </a:solidFill>
              <a:effectLst/>
              <a:latin typeface="Calibri" panose="020F0502020204030204" pitchFamily="34" charset="0"/>
            </a:endParaRPr>
          </a:p>
          <a:p>
            <a:r>
              <a:rPr lang="en-US" b="0" i="0" dirty="0">
                <a:solidFill>
                  <a:srgbClr val="333333"/>
                </a:solidFill>
                <a:effectLst/>
                <a:latin typeface="Calibri" panose="020F0502020204030204" pitchFamily="34" charset="0"/>
              </a:rPr>
              <a:t>Propagate changes consistently to all stacks with IaC. Make a change to the template and push those changes to all stacks. This makes it possible for a change to be deployed consistently. </a:t>
            </a:r>
            <a:endParaRPr lang="en-US" b="1" i="0" dirty="0">
              <a:solidFill>
                <a:srgbClr val="333333"/>
              </a:solidFill>
              <a:effectLst/>
              <a:latin typeface="Calibri" panose="020F0502020204030204" pitchFamily="34" charset="0"/>
            </a:endParaRPr>
          </a:p>
          <a:p>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b="0" i="0" dirty="0">
                <a:solidFill>
                  <a:srgbClr val="333333"/>
                </a:solidFill>
                <a:effectLst/>
                <a:latin typeface="Calibri" panose="020F0502020204030204" pitchFamily="34" charset="0"/>
              </a:rPr>
              <a:t>For more information, review </a:t>
            </a:r>
            <a:r>
              <a:rPr lang="en-US" b="0" i="1" dirty="0">
                <a:solidFill>
                  <a:srgbClr val="333333"/>
                </a:solidFill>
                <a:effectLst/>
                <a:latin typeface="Calibri" panose="020F0502020204030204" pitchFamily="34" charset="0"/>
              </a:rPr>
              <a:t>What Is Infrastructure as Code? </a:t>
            </a:r>
            <a:r>
              <a:rPr lang="en-US" b="0" i="0" dirty="0">
                <a:solidFill>
                  <a:srgbClr val="333333"/>
                </a:solidFill>
                <a:effectLst/>
                <a:latin typeface="Calibri" panose="020F0502020204030204" pitchFamily="34" charset="0"/>
              </a:rPr>
              <a:t>on the content resources page of your online course.</a:t>
            </a:r>
          </a:p>
        </p:txBody>
      </p:sp>
    </p:spTree>
    <p:extLst>
      <p:ext uri="{BB962C8B-B14F-4D97-AF65-F5344CB8AC3E}">
        <p14:creationId xmlns:p14="http://schemas.microsoft.com/office/powerpoint/2010/main" val="16426733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26</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0" dirty="0">
                <a:latin typeface="Calibri" panose="020F0502020204030204" pitchFamily="34" charset="0"/>
              </a:rPr>
              <a:t>|Ask students what happens when they don’t treat resources as disposable. This is considered the anti-pattern.</a:t>
            </a:r>
          </a:p>
          <a:p>
            <a:endParaRPr lang="en-US" b="0" dirty="0">
              <a:latin typeface="Calibri" panose="020F0502020204030204" pitchFamily="34" charset="0"/>
            </a:endParaRPr>
          </a:p>
          <a:p>
            <a:r>
              <a:rPr lang="en-US" b="0" dirty="0">
                <a:latin typeface="Calibri" panose="020F0502020204030204" pitchFamily="34" charset="0"/>
              </a:rPr>
              <a:t>|Some examples include:</a:t>
            </a:r>
          </a:p>
          <a:p>
            <a:pPr marL="171450" indent="-171450">
              <a:buFont typeface="Arial" panose="020B0604020202020204" pitchFamily="34" charset="0"/>
              <a:buChar char="•"/>
            </a:pPr>
            <a:r>
              <a:rPr lang="en-US" dirty="0">
                <a:latin typeface="Calibri" panose="020F0502020204030204" pitchFamily="34" charset="0"/>
              </a:rPr>
              <a:t>|Over time, different servers end up with different configurations.</a:t>
            </a:r>
          </a:p>
          <a:p>
            <a:pPr marL="171450" indent="-171450">
              <a:buFont typeface="Arial" panose="020B0604020202020204" pitchFamily="34" charset="0"/>
              <a:buChar char="•"/>
            </a:pPr>
            <a:r>
              <a:rPr lang="en-US" dirty="0">
                <a:latin typeface="Calibri" panose="020F0502020204030204" pitchFamily="34" charset="0"/>
              </a:rPr>
              <a:t>|Resources run when they’re not needed.</a:t>
            </a:r>
          </a:p>
          <a:p>
            <a:pPr marL="171450" indent="-171450">
              <a:buFont typeface="Arial" panose="020B0604020202020204" pitchFamily="34" charset="0"/>
              <a:buChar char="•"/>
            </a:pPr>
            <a:r>
              <a:rPr lang="en-US" dirty="0">
                <a:latin typeface="Calibri" panose="020F0502020204030204" pitchFamily="34" charset="0"/>
              </a:rPr>
              <a:t>|Hardcoded IP addresses prevent flexibility.</a:t>
            </a:r>
          </a:p>
          <a:p>
            <a:pPr marL="171450" indent="-171450">
              <a:buFont typeface="Arial" panose="020B0604020202020204" pitchFamily="34" charset="0"/>
              <a:buChar char="•"/>
            </a:pPr>
            <a:r>
              <a:rPr lang="en-US" dirty="0">
                <a:latin typeface="Calibri" panose="020F0502020204030204" pitchFamily="34" charset="0"/>
              </a:rPr>
              <a:t>|It can be difficult or inconvenient to test new updates on hardware that’s in use.</a:t>
            </a:r>
            <a:endParaRPr lang="en-US" b="0"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The best practice of treating resources as disposable refers to the idea of thinking about your infrastructure as software instead of hardware. </a:t>
            </a:r>
          </a:p>
          <a:p>
            <a:r>
              <a:rPr lang="en-US" dirty="0">
                <a:latin typeface="Calibri" panose="020F0502020204030204" pitchFamily="34" charset="0"/>
                <a:ea typeface="Amazon Ember" panose="020B0603020204020204" pitchFamily="34" charset="0"/>
                <a:cs typeface="Amazon Ember" panose="020B0603020204020204" pitchFamily="34" charset="0"/>
              </a:rPr>
              <a:t> </a:t>
            </a:r>
          </a:p>
          <a:p>
            <a:r>
              <a:rPr lang="en-US" b="0" i="0" u="none" strike="noStrike" kern="1200" dirty="0">
                <a:solidFill>
                  <a:schemeClr val="tx1"/>
                </a:solidFill>
                <a:effectLst/>
                <a:latin typeface="Calibri" panose="020F0502020204030204" pitchFamily="34" charset="0"/>
                <a:ea typeface="Amazon Ember" panose="020B0603020204020204" pitchFamily="34" charset="0"/>
                <a:cs typeface="Amazon Ember" panose="020B0603020204020204" pitchFamily="34" charset="0"/>
              </a:rPr>
              <a:t>With hardware, you can buy more components than you need so that you are prepared for spikes in usage. However, doing this is expensive and inflexible—it’s difficult to upgrade because of the sunk cost. </a:t>
            </a:r>
            <a:endParaRPr lang="en-US" dirty="0">
              <a:latin typeface="Calibri" panose="020F0502020204030204" pitchFamily="34" charset="0"/>
              <a:ea typeface="Amazon Ember" panose="020B0603020204020204" pitchFamily="34" charset="0"/>
              <a:cs typeface="Amazon Ember" panose="020B0603020204020204" pitchFamily="34" charset="0"/>
            </a:endParaRPr>
          </a:p>
          <a:p>
            <a:endParaRPr lang="en-US" dirty="0">
              <a:latin typeface="Calibri" panose="020F0502020204030204" pitchFamily="34" charset="0"/>
              <a:ea typeface="Amazon Ember" panose="020B0603020204020204" pitchFamily="34" charset="0"/>
              <a:cs typeface="Amazon Ember" panose="020B060302020402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Instead, when you treat your resources as disposable, migrating between instances or other discrete resources is fairly straightforward. You can quickly respond to changes in capacity needs, upgrade applications, and manage the underlying software.</a:t>
            </a:r>
          </a:p>
        </p:txBody>
      </p:sp>
    </p:spTree>
    <p:extLst>
      <p:ext uri="{BB962C8B-B14F-4D97-AF65-F5344CB8AC3E}">
        <p14:creationId xmlns:p14="http://schemas.microsoft.com/office/powerpoint/2010/main" val="38467720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22841288-F22C-E39A-D538-851095E23460}"/>
              </a:ext>
            </a:extLst>
          </p:cNvPr>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27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pPr lvl="0"/>
            <a:r>
              <a:rPr lang="en-US" dirty="0">
                <a:latin typeface="Calibri" panose="020F0502020204030204" pitchFamily="34" charset="0"/>
              </a:rPr>
              <a:t>Traditional infrastructures have chains of tightly integrated servers, each with a specific purpose. The problem is that when one of those components or layers goes down, the disruption to the system can be fatal. It also impedes scaling. If you add or remove servers at one layer, you must also connect every server on each connecting layer. </a:t>
            </a:r>
          </a:p>
          <a:p>
            <a:endParaRPr lang="en-US" dirty="0">
              <a:latin typeface="Calibri" panose="020F0502020204030204" pitchFamily="34" charset="0"/>
            </a:endParaRPr>
          </a:p>
          <a:p>
            <a:pPr lvl="0"/>
            <a:r>
              <a:rPr lang="en-US" dirty="0">
                <a:latin typeface="Calibri" panose="020F0502020204030204" pitchFamily="34" charset="0"/>
              </a:rPr>
              <a:t>With loose coupling, you use managed solutions as intermediaries between the layers of your system. With this design, the intermediary automatically handles both failures and the scaling of components or layers. </a:t>
            </a:r>
          </a:p>
          <a:p>
            <a:pPr lvl="0"/>
            <a:endParaRPr lang="en-US" dirty="0">
              <a:latin typeface="Calibri" panose="020F0502020204030204" pitchFamily="34" charset="0"/>
            </a:endParaRPr>
          </a:p>
          <a:p>
            <a:pPr lvl="0"/>
            <a:r>
              <a:rPr lang="en-US" dirty="0">
                <a:latin typeface="Calibri" panose="020F0502020204030204" pitchFamily="34" charset="0"/>
              </a:rPr>
              <a:t>The example on the left shows a load balancer. Here, it’s an Elastic Load Balancing (ELB) load balancer that routes requests between the web servers and the application servers. If one application server goes down, the load balancer will automatically start directing all traffic to the two healthy servers.</a:t>
            </a:r>
          </a:p>
          <a:p>
            <a:endParaRPr lang="en-US" dirty="0">
              <a:latin typeface="Calibri" panose="020F0502020204030204" pitchFamily="34" charset="0"/>
            </a:endParaRPr>
          </a:p>
          <a:p>
            <a:r>
              <a:rPr lang="en-US" dirty="0">
                <a:latin typeface="Calibri" panose="020F0502020204030204" pitchFamily="34" charset="0"/>
              </a:rPr>
              <a:t>Two primary solutions for decoupling your components are load balancers and message queues.</a:t>
            </a:r>
          </a:p>
          <a:p>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The example on the right illustrates a collection of web and application servers that are tightly coupled. If one application server goes down, it will cause an error because the web servers try and fail to connect to it.</a:t>
            </a:r>
          </a:p>
        </p:txBody>
      </p:sp>
    </p:spTree>
    <p:extLst>
      <p:ext uri="{BB962C8B-B14F-4D97-AF65-F5344CB8AC3E}">
        <p14:creationId xmlns:p14="http://schemas.microsoft.com/office/powerpoint/2010/main" val="15048085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28</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0" dirty="0">
                <a:latin typeface="Calibri" panose="020F0502020204030204" pitchFamily="34" charset="0"/>
              </a:rPr>
              <a:t>|Ask the students what might happen if they design only for servers. </a:t>
            </a:r>
          </a:p>
          <a:p>
            <a:r>
              <a:rPr lang="en-US" b="0" dirty="0">
                <a:latin typeface="Calibri" panose="020F0502020204030204" pitchFamily="34" charset="0"/>
              </a:rPr>
              <a:t>|</a:t>
            </a:r>
          </a:p>
          <a:p>
            <a:r>
              <a:rPr lang="en-US" b="0" dirty="0">
                <a:latin typeface="Calibri" panose="020F0502020204030204" pitchFamily="34" charset="0"/>
              </a:rPr>
              <a:t>|Some example of possible anti-patterns include:</a:t>
            </a:r>
          </a:p>
          <a:p>
            <a:pPr marL="171450" indent="-171450">
              <a:buFont typeface="Arial" panose="020B0604020202020204" pitchFamily="34" charset="0"/>
              <a:buChar char="•"/>
            </a:pPr>
            <a:r>
              <a:rPr lang="en-US" dirty="0">
                <a:latin typeface="Calibri" panose="020F0502020204030204" pitchFamily="34" charset="0"/>
              </a:rPr>
              <a:t>|Simple applications run on persistent servers.</a:t>
            </a:r>
          </a:p>
          <a:p>
            <a:pPr marL="171450" indent="-171450">
              <a:buFont typeface="Arial" panose="020B0604020202020204" pitchFamily="34" charset="0"/>
              <a:buChar char="•"/>
            </a:pPr>
            <a:r>
              <a:rPr lang="en-US" dirty="0">
                <a:latin typeface="Calibri" panose="020F0502020204030204" pitchFamily="34" charset="0"/>
              </a:rPr>
              <a:t>|Applications communicate directly with one another.</a:t>
            </a:r>
          </a:p>
          <a:p>
            <a:pPr marL="171450" indent="-171450">
              <a:buFont typeface="Arial" panose="020B0604020202020204" pitchFamily="34" charset="0"/>
              <a:buChar char="•"/>
            </a:pPr>
            <a:r>
              <a:rPr lang="en-US" dirty="0">
                <a:latin typeface="Calibri" panose="020F0502020204030204" pitchFamily="34" charset="0"/>
              </a:rPr>
              <a:t>|Static web assets are stored locally on instances.</a:t>
            </a:r>
          </a:p>
          <a:p>
            <a:pPr marL="171450" indent="-171450">
              <a:buFont typeface="Arial" panose="020B0604020202020204" pitchFamily="34" charset="0"/>
              <a:buChar char="•"/>
            </a:pPr>
            <a:r>
              <a:rPr lang="en-US" dirty="0">
                <a:latin typeface="Calibri" panose="020F0502020204030204" pitchFamily="34" charset="0"/>
              </a:rPr>
              <a:t>|Backend servers handle user authentication and user state storage.</a:t>
            </a:r>
            <a:endParaRPr lang="en-US" b="0"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The next best practice is to design services, not servers. Although Amazon EC2 offers tremendous flexibility for designing and setting up your solution, it shouldn’t always be the first (or only) solution you use for every need. Sometimes, containers or a serverless solution might be more appropriate. Therefore, it’s important to consider what your needs are and which solution is appropriate.</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With AWS serverless solutions and managed services, you don’t need to provision, configure, and manage an entire EC2 instance. </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Managed solutions that have a lower profile and are more performant can replace server-based solutions at a lower cost. A few examples are AWS Lambda, Amazon SQS, Amazon DynamoDB, ELB, Amazon Simple Email Service (Amazon SES), and Amazon Cognito.</a:t>
            </a:r>
          </a:p>
        </p:txBody>
      </p:sp>
    </p:spTree>
    <p:extLst>
      <p:ext uri="{BB962C8B-B14F-4D97-AF65-F5344CB8AC3E}">
        <p14:creationId xmlns:p14="http://schemas.microsoft.com/office/powerpoint/2010/main" val="8256020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29</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0" dirty="0">
                <a:latin typeface="Calibri" panose="020F0502020204030204" pitchFamily="34" charset="0"/>
              </a:rPr>
              <a:t>|AWS has a large collection of purpose-built database options for diverse data models. It can be difficult to know which database solution will be best for your workload. </a:t>
            </a:r>
          </a:p>
          <a:p>
            <a:r>
              <a:rPr lang="en-US" b="0" dirty="0">
                <a:latin typeface="Calibri" panose="020F0502020204030204" pitchFamily="34" charset="0"/>
              </a:rPr>
              <a:t>|</a:t>
            </a:r>
          </a:p>
          <a:p>
            <a:r>
              <a:rPr lang="en-US" b="0" dirty="0">
                <a:latin typeface="Calibri" panose="020F0502020204030204" pitchFamily="34" charset="0"/>
              </a:rPr>
              <a:t>|For more information, see </a:t>
            </a:r>
            <a:r>
              <a:rPr lang="en-US" b="0" i="1" dirty="0">
                <a:latin typeface="Calibri" panose="020F0502020204030204" pitchFamily="34" charset="0"/>
              </a:rPr>
              <a:t>Choosing an AWS Database Service</a:t>
            </a:r>
            <a:r>
              <a:rPr lang="en-US" b="0" dirty="0">
                <a:latin typeface="Calibri" panose="020F0502020204030204" pitchFamily="34" charset="0"/>
              </a:rPr>
              <a:t> on the content resources page of your online course.</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It is important that you choose the right database solution. In traditional data centers and on-premises environments, limits on available hardware and licenses can constrain your choice of a data store solution. AWS recommends that you choose a data store based on your needs for your application environment.</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For more information, see </a:t>
            </a:r>
            <a:r>
              <a:rPr lang="en-US" b="0" i="1" dirty="0">
                <a:latin typeface="Calibri" panose="020F0502020204030204" pitchFamily="34" charset="0"/>
              </a:rPr>
              <a:t>Choosing an AWS Database Service </a:t>
            </a:r>
            <a:r>
              <a:rPr lang="en-US" dirty="0">
                <a:latin typeface="Calibri" panose="020F0502020204030204" pitchFamily="34" charset="0"/>
                <a:ea typeface="Amazon Ember" panose="020B0603020204020204" pitchFamily="34" charset="0"/>
                <a:cs typeface="Amazon Ember" panose="020B0603020204020204" pitchFamily="34" charset="0"/>
              </a:rPr>
              <a:t>on the content resources page of your online course.</a:t>
            </a:r>
          </a:p>
        </p:txBody>
      </p:sp>
    </p:spTree>
    <p:extLst>
      <p:ext uri="{BB962C8B-B14F-4D97-AF65-F5344CB8AC3E}">
        <p14:creationId xmlns:p14="http://schemas.microsoft.com/office/powerpoint/2010/main" val="1911568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30</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b="0" dirty="0">
                <a:latin typeface="Calibri" panose="020F0502020204030204" pitchFamily="34" charset="0"/>
              </a:rPr>
              <a:t>|Show or describe the anti-pattern of a </a:t>
            </a:r>
            <a:r>
              <a:rPr lang="en-US" dirty="0">
                <a:latin typeface="Calibri" panose="020F0502020204030204" pitchFamily="34" charset="0"/>
                <a:ea typeface="Amazon Ember" panose="020B0603020204020204" pitchFamily="34" charset="0"/>
                <a:cs typeface="Amazon Ember" panose="020B0603020204020204" pitchFamily="34" charset="0"/>
              </a:rPr>
              <a:t>simple system with two application servers connected to a single database server. The database server represents a single point of failure and should be avoided. When it goes down, the application servers also go down. </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ea typeface="Amazon Ember" panose="020B0603020204020204" pitchFamily="34" charset="0"/>
                <a:cs typeface="Amazon Ember" panose="020B0603020204020204" pitchFamily="34" charset="0"/>
              </a:rPr>
              <a:t>Where possible, eliminate single points of failure from your architecture. This doesn't mean you must always duplicate every component. Depending on your downtime service-level</a:t>
            </a:r>
            <a:r>
              <a:rPr lang="en-US" baseline="0" dirty="0">
                <a:latin typeface="Calibri" panose="020F0502020204030204" pitchFamily="34" charset="0"/>
                <a:ea typeface="Amazon Ember" panose="020B0603020204020204" pitchFamily="34" charset="0"/>
                <a:cs typeface="Amazon Ember" panose="020B0603020204020204" pitchFamily="34" charset="0"/>
              </a:rPr>
              <a:t> agreements (</a:t>
            </a:r>
            <a:r>
              <a:rPr lang="en-US" dirty="0">
                <a:latin typeface="Calibri" panose="020F0502020204030204" pitchFamily="34" charset="0"/>
                <a:ea typeface="Amazon Ember" panose="020B0603020204020204" pitchFamily="34" charset="0"/>
                <a:cs typeface="Amazon Ember" panose="020B0603020204020204" pitchFamily="34" charset="0"/>
              </a:rPr>
              <a:t>SLAs), you can use automated solutions that only launch components when needed. You can also use a managed service, so AWS automatically replaces malfunctioning underlying hardware for you.</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If two application servers are connected to a single database server, the database server represents a single point of failure and should be avoided. When it goes down, the application servers also go down. Application servers should continue to function even if the underlying physical hardware fails, is removed, or is replaced.</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A common way to avoid single points of failure is to create a secondary (standby) database server and replicate the data. This way, if the main database server goes offline, the secondary server can pick up the load. </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In this example, when the main database goes offline, the application servers automatically send their requests to the secondary database. This example also exemplifies the best practice to treat resources as disposable, and design your applications to support changes in hardware.</a:t>
            </a:r>
          </a:p>
        </p:txBody>
      </p:sp>
    </p:spTree>
    <p:extLst>
      <p:ext uri="{BB962C8B-B14F-4D97-AF65-F5344CB8AC3E}">
        <p14:creationId xmlns:p14="http://schemas.microsoft.com/office/powerpoint/2010/main" val="5261069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31</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0" dirty="0">
                <a:latin typeface="Calibri" panose="020F0502020204030204" pitchFamily="34" charset="0"/>
              </a:rPr>
              <a:t>|Ask the students to define fixed expense and variable expense. </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baseline="0" dirty="0">
                <a:latin typeface="Calibri" panose="020F0502020204030204" pitchFamily="34" charset="0"/>
                <a:ea typeface="Amazon Ember" panose="020B0603020204020204" pitchFamily="34" charset="0"/>
                <a:cs typeface="Amazon Ember" panose="020B0603020204020204" pitchFamily="34" charset="0"/>
              </a:rPr>
              <a:t>With cloud computing, you can trade fixed expenses for variable expense. </a:t>
            </a:r>
            <a:r>
              <a:rPr lang="en-US" i="0" kern="1200" dirty="0">
                <a:solidFill>
                  <a:schemeClr val="tx1"/>
                </a:solidFill>
                <a:effectLst/>
                <a:latin typeface="Calibri" panose="020F0502020204030204" pitchFamily="34" charset="0"/>
                <a:ea typeface="+mn-ea"/>
                <a:cs typeface="+mn-cs"/>
              </a:rPr>
              <a:t>Fixed expenses</a:t>
            </a:r>
            <a:r>
              <a:rPr lang="en-US" kern="1200" dirty="0">
                <a:solidFill>
                  <a:schemeClr val="tx1"/>
                </a:solidFill>
                <a:effectLst/>
                <a:latin typeface="Calibri" panose="020F0502020204030204" pitchFamily="34" charset="0"/>
                <a:ea typeface="+mn-ea"/>
                <a:cs typeface="+mn-cs"/>
              </a:rPr>
              <a:t> are funds </a:t>
            </a:r>
            <a:r>
              <a:rPr lang="en-US" u="none" kern="1200" dirty="0">
                <a:solidFill>
                  <a:schemeClr val="tx1"/>
                </a:solidFill>
                <a:effectLst/>
                <a:latin typeface="Calibri" panose="020F0502020204030204" pitchFamily="34" charset="0"/>
                <a:ea typeface="+mn-ea"/>
                <a:cs typeface="+mn-cs"/>
              </a:rPr>
              <a:t>a company uses </a:t>
            </a:r>
            <a:r>
              <a:rPr lang="en-US" kern="1200" dirty="0">
                <a:solidFill>
                  <a:schemeClr val="tx1"/>
                </a:solidFill>
                <a:effectLst/>
                <a:latin typeface="Calibri" panose="020F0502020204030204" pitchFamily="34" charset="0"/>
                <a:ea typeface="+mn-ea"/>
                <a:cs typeface="+mn-cs"/>
              </a:rPr>
              <a:t>to acquire, upgrade, and maintain physical assets, such as property, industrial buildings, or equipment. Under this model, you pay for the servers in the data center, whether they are active or not. </a:t>
            </a:r>
          </a:p>
          <a:p>
            <a:pPr marL="0" marR="0" lvl="0" indent="0" defTabSz="914400" rtl="0" eaLnBrk="1" fontAlgn="auto" latinLnBrk="0" hangingPunct="1">
              <a:buClrTx/>
              <a:buSzTx/>
              <a:buFontTx/>
              <a:buNone/>
              <a:tabLst/>
              <a:defRPr/>
            </a:pPr>
            <a:endParaRPr lang="en-US" kern="1200" baseline="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aseline="0" dirty="0">
                <a:latin typeface="Calibri" panose="020F0502020204030204" pitchFamily="34" charset="0"/>
                <a:ea typeface="Amazon Ember" panose="020B0603020204020204" pitchFamily="34" charset="0"/>
                <a:cs typeface="Amazon Ember" panose="020B0603020204020204" pitchFamily="34" charset="0"/>
              </a:rPr>
              <a:t>By contrast, AWS services use a </a:t>
            </a:r>
            <a:r>
              <a:rPr lang="en-US" i="1" baseline="0" dirty="0">
                <a:latin typeface="Calibri" panose="020F0502020204030204" pitchFamily="34" charset="0"/>
                <a:ea typeface="Amazon Ember" panose="020B0603020204020204" pitchFamily="34" charset="0"/>
                <a:cs typeface="Amazon Ember" panose="020B0603020204020204" pitchFamily="34" charset="0"/>
              </a:rPr>
              <a:t>variable expense </a:t>
            </a:r>
            <a:r>
              <a:rPr lang="en-US" baseline="0" dirty="0">
                <a:latin typeface="Calibri" panose="020F0502020204030204" pitchFamily="34" charset="0"/>
                <a:ea typeface="Amazon Ember" panose="020B0603020204020204" pitchFamily="34" charset="0"/>
                <a:cs typeface="Amazon Ember" panose="020B0603020204020204" pitchFamily="34" charset="0"/>
              </a:rPr>
              <a:t>cost model, which means </a:t>
            </a:r>
            <a:r>
              <a:rPr lang="en-US" dirty="0">
                <a:latin typeface="Calibri" panose="020F0502020204030204" pitchFamily="34" charset="0"/>
                <a:ea typeface="Amazon Ember" panose="020B0603020204020204" pitchFamily="34" charset="0"/>
                <a:cs typeface="Amazon Ember" panose="020B0603020204020204" pitchFamily="34" charset="0"/>
              </a:rPr>
              <a:t>you pay only for the individual services you need for as long as you use them.</a:t>
            </a:r>
            <a:r>
              <a:rPr lang="en-US" baseline="0" dirty="0">
                <a:latin typeface="Calibri" panose="020F0502020204030204" pitchFamily="34" charset="0"/>
                <a:ea typeface="Amazon Ember" panose="020B0603020204020204" pitchFamily="34" charset="0"/>
                <a:cs typeface="Amazon Ember" panose="020B0603020204020204" pitchFamily="34" charset="0"/>
              </a:rPr>
              <a:t> </a:t>
            </a:r>
            <a:r>
              <a:rPr lang="en-US" dirty="0">
                <a:latin typeface="Calibri" panose="020F0502020204030204" pitchFamily="34" charset="0"/>
                <a:ea typeface="Amazon Ember" panose="020B0603020204020204" pitchFamily="34" charset="0"/>
                <a:cs typeface="Amazon Ember" panose="020B0603020204020204" pitchFamily="34" charset="0"/>
              </a:rPr>
              <a:t>In each service, you can optimize for cost. Many services offer different pricing tiers, models, or configurations.</a:t>
            </a:r>
          </a:p>
          <a:p>
            <a:pPr marL="0" marR="0" lvl="0" indent="0" defTabSz="914400" rtl="0" eaLnBrk="1" fontAlgn="auto" latinLnBrk="0" hangingPunct="1">
              <a:buClrTx/>
              <a:buSzTx/>
              <a:buFontTx/>
              <a:buNone/>
              <a:tabLst/>
              <a:defRPr/>
            </a:pPr>
            <a:endParaRPr lang="en-US" dirty="0">
              <a:latin typeface="Calibri" panose="020F0502020204030204" pitchFamily="34" charset="0"/>
              <a:ea typeface="Amazon Ember" panose="020B0603020204020204" pitchFamily="34" charset="0"/>
              <a:cs typeface="Amazon Ember" panose="020B060302020402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ea typeface="Amazon Ember" panose="020B0603020204020204" pitchFamily="34" charset="0"/>
                <a:cs typeface="Amazon Ember" panose="020B0603020204020204" pitchFamily="34" charset="0"/>
              </a:rPr>
              <a:t>Remember, it can be very expensive to replicate an on-premises data center setup of servers running 24/7 in the cloud. Therefore, the best way to build a cost effective infrastructure is to only provision the resources you need and stop services when they are not in use. </a:t>
            </a:r>
          </a:p>
        </p:txBody>
      </p:sp>
    </p:spTree>
    <p:extLst>
      <p:ext uri="{BB962C8B-B14F-4D97-AF65-F5344CB8AC3E}">
        <p14:creationId xmlns:p14="http://schemas.microsoft.com/office/powerpoint/2010/main" val="12425580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3D4EAD35-303D-9E31-58A6-FB0C685933AD}"/>
              </a:ext>
            </a:extLst>
          </p:cNvPr>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32</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|Ask students to define caching. Discuss the anti-pattern when no caching service is used. </a:t>
            </a:r>
          </a:p>
          <a:p>
            <a:r>
              <a:rPr lang="en-US" dirty="0">
                <a:latin typeface="Calibri" panose="020F0502020204030204" pitchFamily="34" charset="0"/>
              </a:rPr>
              <a:t>|</a:t>
            </a:r>
          </a:p>
          <a:p>
            <a:r>
              <a:rPr lang="en-US" dirty="0">
                <a:latin typeface="Calibri" panose="020F0502020204030204" pitchFamily="34" charset="0"/>
              </a:rPr>
              <a:t>|</a:t>
            </a:r>
            <a:r>
              <a:rPr lang="en-US" b="1" dirty="0">
                <a:latin typeface="Calibri" panose="020F0502020204030204" pitchFamily="34" charset="0"/>
              </a:rPr>
              <a:t>Anti-pattern: </a:t>
            </a:r>
            <a:r>
              <a:rPr lang="en-US" dirty="0">
                <a:latin typeface="Calibri" panose="020F0502020204030204" pitchFamily="34" charset="0"/>
              </a:rPr>
              <a:t>When no caching service is used, each user request goes directly to the Amazon Simple Storage Service (Amazon S3) bucket. This creates requests that each take the same amount of time to complete and cost the same amount. </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Caching is a technique to make future requests faster and reduce network throughput by temporarily storing data in an intermediary location between the requester and the permanent storage. The primary purpose of a cache is to increase the performance of data retrieval by reducing the need to access the underlying slower storage layer. Future requests for cached data are served faster than requests that access the data’s primary storage location. With caching, you can efficiently reuse previously retrieved or computed data.</a:t>
            </a:r>
          </a:p>
          <a:p>
            <a:endParaRPr lang="en-US" dirty="0">
              <a:latin typeface="Calibri" panose="020F0502020204030204" pitchFamily="34" charset="0"/>
            </a:endParaRPr>
          </a:p>
          <a:p>
            <a:pPr lvl="0"/>
            <a:r>
              <a:rPr lang="en-US" dirty="0">
                <a:latin typeface="Calibri" panose="020F0502020204030204" pitchFamily="34" charset="0"/>
              </a:rPr>
              <a:t>In the example, the infrastructure uses Amazon CloudFront in front of Amazon S3 to provide caching. In this scenario, the initial request checks for the file in CloudFront. If it is not found, CloudFront requests the file from Amazon S3. CloudFront then stores a copy of the file at an edge location close to the user and sends a copy to the user who made the request. </a:t>
            </a:r>
          </a:p>
          <a:p>
            <a:pPr lvl="0"/>
            <a:endParaRPr lang="en-US" dirty="0">
              <a:latin typeface="Calibri" panose="020F0502020204030204" pitchFamily="34" charset="0"/>
            </a:endParaRPr>
          </a:p>
          <a:p>
            <a:pPr lvl="0"/>
            <a:r>
              <a:rPr lang="en-US" dirty="0">
                <a:latin typeface="Calibri" panose="020F0502020204030204" pitchFamily="34" charset="0"/>
              </a:rPr>
              <a:t>Subsequent requests for the file are retrieved from the (now closer) edge location in CloudFront instead of Amazon S3. The second, third, and nth requests are at a lower latency and cost. After the first request, you no longer pay to transfer the file out of Amazon S3.</a:t>
            </a:r>
          </a:p>
        </p:txBody>
      </p:sp>
    </p:spTree>
    <p:extLst>
      <p:ext uri="{BB962C8B-B14F-4D97-AF65-F5344CB8AC3E}">
        <p14:creationId xmlns:p14="http://schemas.microsoft.com/office/powerpoint/2010/main" val="5186122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0" dirty="0">
                <a:latin typeface="Calibri" panose="020F0502020204030204" pitchFamily="34" charset="0"/>
              </a:rPr>
              <a:t>|Security is the top priority at AWS. </a:t>
            </a:r>
            <a:r>
              <a:rPr lang="en-US" b="0" i="0" dirty="0">
                <a:solidFill>
                  <a:srgbClr val="232F3E"/>
                </a:solidFill>
                <a:effectLst/>
                <a:latin typeface="Calibri" panose="020F0502020204030204" pitchFamily="34" charset="0"/>
              </a:rPr>
              <a:t>AWS is architected to be the most secure global cloud infrastructure on which to build, migrate, and manage applications and workloads. It is important that students understand how to build security into every layer of the infrastructure. </a:t>
            </a:r>
          </a:p>
          <a:p>
            <a:r>
              <a:rPr lang="en-US" b="0" i="0" dirty="0">
                <a:solidFill>
                  <a:srgbClr val="232F3E"/>
                </a:solidFill>
                <a:effectLst/>
                <a:latin typeface="Calibri" panose="020F0502020204030204" pitchFamily="34" charset="0"/>
              </a:rPr>
              <a:t>|</a:t>
            </a:r>
          </a:p>
          <a:p>
            <a:r>
              <a:rPr lang="en-US" b="0" i="0" dirty="0">
                <a:solidFill>
                  <a:srgbClr val="232F3E"/>
                </a:solidFill>
                <a:effectLst/>
                <a:latin typeface="Calibri" panose="020F0502020204030204" pitchFamily="34" charset="0"/>
              </a:rPr>
              <a:t>|For more information, see AWS Cloud Security on the content resources page of your online course.</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Security isn’t only about getting through the outer boundary of your infrastructure. It also involves ensuring that your individual environments and their components are secured from each other.</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For example, in Amazon EC2, you can create security groups that you can use to determine which ports on your instances can send and receive traffic. Security groups can also determine where that traffic can come from or go to. </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r>
              <a:rPr lang="en-US" dirty="0">
                <a:latin typeface="Calibri" panose="020F0502020204030204" pitchFamily="34" charset="0"/>
                <a:ea typeface="Amazon Ember" panose="020B0603020204020204" pitchFamily="34" charset="0"/>
                <a:cs typeface="Amazon Ember" panose="020B0603020204020204" pitchFamily="34" charset="0"/>
              </a:rPr>
              <a:t>You can use security groups to reduce the probability that a security threat on one instance will spread to every other instance in your environment. You should take similar precautions with other services. Specific ways to implement this best practice are discussed throughout the course.</a:t>
            </a:r>
          </a:p>
          <a:p>
            <a:endParaRPr lang="en-US" dirty="0">
              <a:latin typeface="Calibri" panose="020F0502020204030204" pitchFamily="34" charset="0"/>
              <a:ea typeface="Amazon Ember" panose="020B0603020204020204" pitchFamily="34" charset="0"/>
              <a:cs typeface="Amazon Ember" panose="020B0603020204020204" pitchFamily="34" charset="0"/>
            </a:endParaRPr>
          </a:p>
          <a:p>
            <a:pPr marL="0" marR="0" lvl="0" indent="0" defTabSz="914400" rtl="0" eaLnBrk="1" fontAlgn="auto" latinLnBrk="0" hangingPunct="1">
              <a:buClrTx/>
              <a:buSzTx/>
              <a:buFontTx/>
              <a:buNone/>
              <a:tabLst/>
              <a:defRPr/>
            </a:pPr>
            <a:r>
              <a:rPr lang="en-US" b="0" i="0" dirty="0">
                <a:solidFill>
                  <a:srgbClr val="232F3E"/>
                </a:solidFill>
                <a:effectLst/>
                <a:latin typeface="Calibri" panose="020F0502020204030204" pitchFamily="34" charset="0"/>
              </a:rPr>
              <a:t>For more information, see AWS Cloud Security on the content resources page of your online course.</a:t>
            </a:r>
          </a:p>
        </p:txBody>
      </p:sp>
    </p:spTree>
    <p:extLst>
      <p:ext uri="{BB962C8B-B14F-4D97-AF65-F5344CB8AC3E}">
        <p14:creationId xmlns:p14="http://schemas.microsoft.com/office/powerpoint/2010/main" val="19753256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1" dirty="0">
                <a:latin typeface="Calibri" panose="020F0502020204030204" pitchFamily="34" charset="0"/>
              </a:rPr>
              <a:t>|</a:t>
            </a:r>
            <a:r>
              <a:rPr lang="en-US" dirty="0">
                <a:latin typeface="Calibri" panose="020F0502020204030204" pitchFamily="34" charset="0"/>
              </a:rPr>
              <a:t>The student version doesn't have any notes for this slide.</a:t>
            </a:r>
            <a:endParaRPr lang="en-US" b="1"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18415001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dirty="0">
                <a:latin typeface="Calibri" panose="020F0502020204030204" pitchFamily="34" charset="0"/>
              </a:rPr>
              <a:t>This section introduces the AWS Global Infrastructure.</a:t>
            </a:r>
          </a:p>
        </p:txBody>
      </p:sp>
    </p:spTree>
    <p:extLst>
      <p:ext uri="{BB962C8B-B14F-4D97-AF65-F5344CB8AC3E}">
        <p14:creationId xmlns:p14="http://schemas.microsoft.com/office/powerpoint/2010/main" val="5876581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36</a:t>
            </a:fld>
            <a:r>
              <a:rPr lang="en-US" b="1" dirty="0">
                <a:latin typeface="Calibri" panose="020F0502020204030204" pitchFamily="34" charset="0"/>
              </a:rPr>
              <a:t> </a:t>
            </a:r>
          </a:p>
          <a:p>
            <a:r>
              <a:rPr lang="en-US" b="1" dirty="0">
                <a:latin typeface="Calibri" panose="020F0502020204030204" pitchFamily="34" charset="0"/>
              </a:rPr>
              <a:t>|Instructor notes</a:t>
            </a:r>
          </a:p>
          <a:p>
            <a:pPr>
              <a:defRPr/>
            </a:pPr>
            <a:r>
              <a:rPr lang="en-US" b="0" i="0" dirty="0">
                <a:effectLst/>
                <a:latin typeface="Calibri" panose="020F0502020204030204" pitchFamily="34" charset="0"/>
              </a:rPr>
              <a:t>|AWS has the largest global infrastructure footprint of any provider, and this footprint is constantly increasing at a significant rate.</a:t>
            </a:r>
            <a:r>
              <a:rPr lang="en-US" b="0" dirty="0">
                <a:latin typeface="Calibri" panose="020F0502020204030204" pitchFamily="34" charset="0"/>
              </a:rPr>
              <a:t> Review the AWS Global Infrastructure page for updated figures for Regions, Availability Zones, and points of presence (PoPs). </a:t>
            </a:r>
            <a:r>
              <a:rPr lang="en-US" dirty="0">
                <a:latin typeface="Calibri" panose="020F0502020204030204" pitchFamily="34" charset="0"/>
              </a:rPr>
              <a:t>For more information, see AWS Global Infrastructure on the content resources page of your online course.</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b="0" i="0" dirty="0">
                <a:effectLst/>
                <a:latin typeface="Calibri" panose="020F0502020204030204" pitchFamily="34" charset="0"/>
              </a:rPr>
              <a:t>The AWS Global Cloud Infrastructure is a secure, extensive, and reliable cloud platform, offering more than 200 fully featured services from data centers globally. </a:t>
            </a:r>
            <a:r>
              <a:rPr lang="en-US" i="0" kern="1200" dirty="0">
                <a:effectLst/>
                <a:latin typeface="Calibri" panose="020F0502020204030204" pitchFamily="34" charset="0"/>
                <a:ea typeface="+mn-ea"/>
                <a:cs typeface="+mn-cs"/>
              </a:rPr>
              <a:t>The AWS Cloud infrastructure </a:t>
            </a:r>
            <a:r>
              <a:rPr lang="en-US" b="0" i="0" dirty="0">
                <a:effectLst/>
                <a:latin typeface="Calibri" panose="020F0502020204030204" pitchFamily="34" charset="0"/>
              </a:rPr>
              <a:t>spans 102 Availability Zones in 32 geographic regions around the world. This gives you the ability to launch highly available, scalable, and flexible architectures near your customers for lower latency and increased performance. </a:t>
            </a:r>
          </a:p>
          <a:p>
            <a:endParaRPr lang="en-US" b="0" i="0" dirty="0">
              <a:effectLst/>
              <a:latin typeface="Calibri" panose="020F0502020204030204" pitchFamily="34" charset="0"/>
            </a:endParaRPr>
          </a:p>
          <a:p>
            <a:r>
              <a:rPr lang="en-US" b="0" i="0" dirty="0">
                <a:effectLst/>
                <a:latin typeface="Calibri" panose="020F0502020204030204" pitchFamily="34" charset="0"/>
              </a:rPr>
              <a:t>As you design and build architectures, you need to consider which region to deploy them. </a:t>
            </a:r>
            <a:r>
              <a:rPr lang="en-US" i="0" kern="1200" dirty="0">
                <a:effectLst/>
                <a:latin typeface="Calibri" panose="020F0502020204030204" pitchFamily="34" charset="0"/>
                <a:ea typeface="+mn-ea"/>
                <a:cs typeface="+mn-cs"/>
              </a:rPr>
              <a:t>An </a:t>
            </a:r>
            <a:r>
              <a:rPr lang="en-US" b="0" i="0" kern="1200" dirty="0">
                <a:effectLst/>
                <a:latin typeface="Calibri" panose="020F0502020204030204" pitchFamily="34" charset="0"/>
                <a:ea typeface="+mn-ea"/>
                <a:cs typeface="+mn-cs"/>
              </a:rPr>
              <a:t>AWS Region </a:t>
            </a:r>
            <a:r>
              <a:rPr lang="en-US" i="0" kern="1200" dirty="0">
                <a:effectLst/>
                <a:latin typeface="Calibri" panose="020F0502020204030204" pitchFamily="34" charset="0"/>
                <a:ea typeface="+mn-ea"/>
                <a:cs typeface="+mn-cs"/>
              </a:rPr>
              <a:t>is a physical geographical location with two or </a:t>
            </a:r>
            <a:r>
              <a:rPr lang="en-US" b="0" i="0" kern="1200" dirty="0">
                <a:effectLst/>
                <a:latin typeface="Calibri" panose="020F0502020204030204" pitchFamily="34" charset="0"/>
                <a:ea typeface="+mn-ea"/>
                <a:cs typeface="+mn-cs"/>
              </a:rPr>
              <a:t>more Availability Zones</a:t>
            </a:r>
            <a:r>
              <a:rPr lang="en-US" i="0" kern="1200" dirty="0">
                <a:effectLst/>
                <a:latin typeface="Calibri" panose="020F0502020204030204" pitchFamily="34" charset="0"/>
                <a:ea typeface="+mn-ea"/>
                <a:cs typeface="+mn-cs"/>
              </a:rPr>
              <a:t>. Availability Zones, in turn, consist of one or more </a:t>
            </a:r>
            <a:r>
              <a:rPr lang="en-US" b="0" i="0" kern="1200" dirty="0">
                <a:effectLst/>
                <a:latin typeface="Calibri" panose="020F0502020204030204" pitchFamily="34" charset="0"/>
                <a:ea typeface="+mn-ea"/>
                <a:cs typeface="+mn-cs"/>
              </a:rPr>
              <a:t>data centers</a:t>
            </a:r>
            <a:r>
              <a:rPr lang="en-US" i="0" kern="1200" dirty="0">
                <a:effectLst/>
                <a:latin typeface="Calibri" panose="020F0502020204030204" pitchFamily="34" charset="0"/>
                <a:ea typeface="+mn-ea"/>
                <a:cs typeface="+mn-cs"/>
              </a:rPr>
              <a:t>. Your decisions should be based on the business requirements and the needs of the workload. </a:t>
            </a:r>
          </a:p>
          <a:p>
            <a:endParaRPr lang="en-US" i="0" kern="1200" dirty="0">
              <a:effectLst/>
              <a:latin typeface="Calibri" panose="020F0502020204030204" pitchFamily="34" charset="0"/>
              <a:ea typeface="+mn-ea"/>
              <a:cs typeface="+mn-cs"/>
            </a:endParaRPr>
          </a:p>
          <a:p>
            <a:r>
              <a:rPr lang="en-US" i="0" kern="1200" dirty="0">
                <a:effectLst/>
                <a:latin typeface="Calibri" panose="020F0502020204030204" pitchFamily="34" charset="0"/>
                <a:ea typeface="+mn-ea"/>
                <a:cs typeface="+mn-cs"/>
              </a:rPr>
              <a:t>For example, if low latency is a requirement for your workload, you should consider using AWS points of presence (PoPs) or regional edge caches. The AWS </a:t>
            </a:r>
            <a:r>
              <a:rPr lang="en-US" b="0" i="0" dirty="0">
                <a:effectLst/>
                <a:latin typeface="Calibri" panose="020F0502020204030204" pitchFamily="34" charset="0"/>
              </a:rPr>
              <a:t>PoP network sits at the edge of the network to reduce latency. Using these edge locations keeps your popular data close to your customers. </a:t>
            </a:r>
            <a:endParaRPr lang="en-US" i="0" kern="1200" dirty="0">
              <a:effectLst/>
              <a:latin typeface="Calibri" panose="020F0502020204030204" pitchFamily="34" charset="0"/>
              <a:ea typeface="+mn-ea"/>
              <a:cs typeface="+mn-cs"/>
            </a:endParaRPr>
          </a:p>
          <a:p>
            <a:pPr>
              <a:defRPr/>
            </a:pPr>
            <a:endParaRPr lang="en-US" dirty="0">
              <a:latin typeface="Calibri" panose="020F0502020204030204" pitchFamily="34" charset="0"/>
            </a:endParaRPr>
          </a:p>
          <a:p>
            <a:pPr>
              <a:defRPr/>
            </a:pPr>
            <a:r>
              <a:rPr lang="en-US" dirty="0">
                <a:latin typeface="Calibri" panose="020F0502020204030204" pitchFamily="34" charset="0"/>
              </a:rPr>
              <a:t>In this section, you learn about the AWS infrastructure, including Regions, availability zones, AWS Local Zones, AWS data centers, and AWS PoPs. </a:t>
            </a:r>
          </a:p>
          <a:p>
            <a:pPr>
              <a:defRPr/>
            </a:pPr>
            <a:endParaRPr lang="en-US" dirty="0">
              <a:latin typeface="Calibri" panose="020F0502020204030204" pitchFamily="34" charset="0"/>
            </a:endParaRPr>
          </a:p>
          <a:p>
            <a:pPr>
              <a:defRPr/>
            </a:pPr>
            <a:r>
              <a:rPr lang="en-US" dirty="0">
                <a:latin typeface="Calibri" panose="020F0502020204030204" pitchFamily="34" charset="0"/>
              </a:rPr>
              <a:t>For more information about infrastructure on AWS, see AWS Global Infrastructure on the content resources page of your online course.</a:t>
            </a:r>
          </a:p>
        </p:txBody>
      </p:sp>
    </p:spTree>
    <p:extLst>
      <p:ext uri="{BB962C8B-B14F-4D97-AF65-F5344CB8AC3E}">
        <p14:creationId xmlns:p14="http://schemas.microsoft.com/office/powerpoint/2010/main" val="20453093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A6F58FA9-6AEE-C3CB-C030-C1D4F063D32E}"/>
              </a:ext>
            </a:extLst>
          </p:cNvPr>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37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A Region is a physical geographical location with two or more Availability Zones. Availability Zones, in turn, consist of one or more data centers.</a:t>
            </a:r>
          </a:p>
          <a:p>
            <a:endParaRPr lang="en-US" dirty="0">
              <a:latin typeface="Calibri" panose="020F0502020204030204" pitchFamily="34" charset="0"/>
            </a:endParaRPr>
          </a:p>
          <a:p>
            <a:r>
              <a:rPr lang="en-US" dirty="0">
                <a:latin typeface="Calibri" panose="020F0502020204030204" pitchFamily="34" charset="0"/>
              </a:rPr>
              <a:t>Regions are connected to multiple internet service providers (ISPs). Regions are also connected to a private global network backbone, which provides lower cost and more consistent cross-Region network latency when compared with the public internet.</a:t>
            </a:r>
          </a:p>
          <a:p>
            <a:endParaRPr lang="en-US" dirty="0">
              <a:latin typeface="Calibri" panose="020F0502020204030204" pitchFamily="34" charset="0"/>
            </a:endParaRPr>
          </a:p>
          <a:p>
            <a:r>
              <a:rPr lang="en-US" dirty="0">
                <a:latin typeface="Calibri" panose="020F0502020204030204" pitchFamily="34" charset="0"/>
              </a:rPr>
              <a:t>Regions that were introduced before March 20, 2019, are enabled by default. Regions that were introduced after March 20, 2019—such as Asia Pacific (Hong Kong) and Middle East (Bahrain)—are disabled by default. You must enable these Regions before you can use them. You can use the AWS Management Console to enable or disable a Region. </a:t>
            </a:r>
          </a:p>
          <a:p>
            <a:endParaRPr lang="en-US" dirty="0">
              <a:latin typeface="Calibri" panose="020F0502020204030204" pitchFamily="34" charset="0"/>
            </a:endParaRPr>
          </a:p>
          <a:p>
            <a:pPr lvl="0"/>
            <a:r>
              <a:rPr lang="en-US" dirty="0">
                <a:latin typeface="Calibri" panose="020F0502020204030204" pitchFamily="34" charset="0"/>
              </a:rPr>
              <a:t>Some Regions have restricted access. The isolated AWS GovCloud (US) Regions are designed to make it possible for US government agencies and customers to move sensitive workloads into the cloud by addressing their specific regulatory and compliance requirements. </a:t>
            </a:r>
          </a:p>
          <a:p>
            <a:pPr lvl="0"/>
            <a:endParaRPr lang="en-US" dirty="0">
              <a:latin typeface="Calibri" panose="020F0502020204030204" pitchFamily="34" charset="0"/>
            </a:endParaRPr>
          </a:p>
          <a:p>
            <a:r>
              <a:rPr lang="en-US" dirty="0">
                <a:latin typeface="Calibri" panose="020F0502020204030204" pitchFamily="34" charset="0"/>
              </a:rPr>
              <a:t>To achieve fault tolerance and stability, Regions are isolated from one another. Resources in one Region are not automatically replicated to other Regions. When you store data in a specific Region, it is not replicated outside that Region. It is your responsibility to replicate data across Regions if your business needs require it. AWS provides information about the country and—where applicable—the state where each Region resides. You are responsible for selecting the Region where you should store data based on your compliance and network latency requirements.</a:t>
            </a:r>
          </a:p>
          <a:p>
            <a:endParaRPr lang="en-US" dirty="0">
              <a:latin typeface="Calibri" panose="020F0502020204030204" pitchFamily="34" charset="0"/>
            </a:endParaRPr>
          </a:p>
          <a:p>
            <a:r>
              <a:rPr lang="en-US" dirty="0">
                <a:latin typeface="Calibri" panose="020F0502020204030204" pitchFamily="34" charset="0"/>
              </a:rPr>
              <a:t>AWS products and services are available by Region, so you might not have access to all Regions available for a given service.</a:t>
            </a:r>
          </a:p>
        </p:txBody>
      </p:sp>
    </p:spTree>
    <p:extLst>
      <p:ext uri="{BB962C8B-B14F-4D97-AF65-F5344CB8AC3E}">
        <p14:creationId xmlns:p14="http://schemas.microsoft.com/office/powerpoint/2010/main" val="24188168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38</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Each Region consists of two or more isolated locations that called Availability Zones. </a:t>
            </a:r>
            <a:r>
              <a:rPr lang="en-US" kern="1200" dirty="0">
                <a:solidFill>
                  <a:schemeClr val="tx1"/>
                </a:solidFill>
                <a:effectLst/>
                <a:latin typeface="Calibri" panose="020F0502020204030204" pitchFamily="34" charset="0"/>
                <a:ea typeface="+mn-ea"/>
                <a:cs typeface="+mn-cs"/>
              </a:rPr>
              <a:t>Each Availability Zone comprises one or more data centers, with some Availability Zones having as many as six data centers. However, no data center can be a part of two Availability Zones.</a:t>
            </a:r>
          </a:p>
          <a:p>
            <a:r>
              <a:rPr lang="en-US" kern="1200" dirty="0">
                <a:solidFill>
                  <a:schemeClr val="tx1"/>
                </a:solidFill>
                <a:effectLst/>
                <a:latin typeface="Calibri" panose="020F0502020204030204" pitchFamily="34" charset="0"/>
                <a:ea typeface="+mn-ea"/>
                <a:cs typeface="+mn-cs"/>
              </a:rPr>
              <a:t> </a:t>
            </a:r>
          </a:p>
          <a:p>
            <a:r>
              <a:rPr lang="en-US" kern="1200" dirty="0">
                <a:solidFill>
                  <a:schemeClr val="tx1"/>
                </a:solidFill>
                <a:effectLst/>
                <a:latin typeface="Calibri" panose="020F0502020204030204" pitchFamily="34" charset="0"/>
                <a:ea typeface="+mn-ea"/>
                <a:cs typeface="+mn-cs"/>
              </a:rPr>
              <a:t>Each Availability Zone is designed as an independent failure zone. This means that Availability Zones are physically separated in a typical metropolitan Region. They are also located in lower-risk floodplains (specific flood-zone categorization varies by Region). Availability Zones have a discrete, uninterruptible power supply and on-site backup generation facilities. In addition, they are each fed by different grids from independent utilities to further reduce single points of failure. Availability Zones are all redundantly connected to multiple tier-1 transit providers.</a:t>
            </a:r>
          </a:p>
          <a:p>
            <a:r>
              <a:rPr lang="en-US" kern="1200" dirty="0">
                <a:solidFill>
                  <a:schemeClr val="tx1"/>
                </a:solidFill>
                <a:effectLst/>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A</a:t>
            </a:r>
            <a:r>
              <a:rPr lang="en-US" dirty="0">
                <a:latin typeface="Calibri" panose="020F0502020204030204" pitchFamily="34" charset="0"/>
              </a:rPr>
              <a:t>n Availability Zone is the most granular level of specification that you can make for certain services, such as Amazon EC2.</a:t>
            </a:r>
            <a:r>
              <a:rPr lang="en-US" kern="1200" dirty="0">
                <a:solidFill>
                  <a:schemeClr val="tx1"/>
                </a:solidFill>
                <a:effectLst/>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endParaRPr lang="en-US"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You are responsible for selecting the Availability Zones where your systems will reside. Systems can span multiple Availability Zones. You should design your systems to survive temporary or prolonged failure of an Availability Zone if a disaster occurs. Distributing applications across multiple Availability Zones means they can remain resilient in most failure situations, including natural disasters or system failures.</a:t>
            </a:r>
            <a:endParaRPr lang="en-US" b="1" u="sng" dirty="0">
              <a:latin typeface="Calibri" panose="020F0502020204030204" pitchFamily="34" charset="0"/>
            </a:endParaRPr>
          </a:p>
        </p:txBody>
      </p:sp>
    </p:spTree>
    <p:extLst>
      <p:ext uri="{BB962C8B-B14F-4D97-AF65-F5344CB8AC3E}">
        <p14:creationId xmlns:p14="http://schemas.microsoft.com/office/powerpoint/2010/main" val="16488674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DED2F3A7-1AFF-1750-6F28-18748E91B1EA}"/>
              </a:ext>
            </a:extLst>
          </p:cNvPr>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39</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|For more information, see AWS Local Zones on the content resources page of your online course.</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Local Zones are a type of AWS infrastructure deployment. They place AWS compute, storage, database, and other select services closer to large population, industry, and IT centers where no Regions exist today. With Local Zones, you can run latency-sensitive portions of applications closer to end users and resources in a specific geography. You can use Local Zones to deliver single-digit millisecond latency for use cases such as media and entertainment content creation, real-time gaming, reservoir simulations, electronic design automation, and machine learning (ML).</a:t>
            </a:r>
          </a:p>
          <a:p>
            <a:endParaRPr lang="en-US" dirty="0">
              <a:latin typeface="Calibri" panose="020F0502020204030204" pitchFamily="34" charset="0"/>
            </a:endParaRPr>
          </a:p>
          <a:p>
            <a:r>
              <a:rPr lang="en-US" dirty="0">
                <a:latin typeface="Calibri" panose="020F0502020204030204" pitchFamily="34" charset="0"/>
              </a:rPr>
              <a:t>Each Local Zone location is an extension of a Region. You can run latency-sensitive applications in a Local Zone by using AWS services such as Amazon EC2, Amazon Virtual Private Cloud (Amazon VPC), Amazon Elastic Block Store (Amazon EBS), Amazon FSx, and ELB in geographic proximity to end users. Local Zones provide a high-bandwidth, secure connection between local workloads and workloads that run in the Region. With Local Zones you can seamlessly connect back to your other workloads that are running in AWS. You can connect to the full range of in-Region services through the same APIs and toolsets.</a:t>
            </a:r>
          </a:p>
          <a:p>
            <a:endParaRPr lang="en-US" dirty="0">
              <a:latin typeface="Calibri" panose="020F0502020204030204" pitchFamily="34" charset="0"/>
            </a:endParaRPr>
          </a:p>
          <a:p>
            <a:r>
              <a:rPr lang="en-US" dirty="0">
                <a:latin typeface="Calibri" panose="020F0502020204030204" pitchFamily="34" charset="0"/>
              </a:rPr>
              <a:t>Local Zones are managed and supported by AWS, and they provide you with all the elasticity, scalability, and security benefits of the cloud. With Local Zones, you can build and deploy latency-sensitive applications closer to your end users by using a consistent set of AWS services. You can also scale up or scale down, and you pay only for the resources you use.</a:t>
            </a:r>
          </a:p>
          <a:p>
            <a:endParaRPr lang="en-US" dirty="0">
              <a:latin typeface="Calibri" panose="020F0502020204030204" pitchFamily="34" charset="0"/>
            </a:endParaRPr>
          </a:p>
          <a:p>
            <a:r>
              <a:rPr lang="en-US" dirty="0">
                <a:latin typeface="Calibri" panose="020F0502020204030204" pitchFamily="34" charset="0"/>
              </a:rPr>
              <a:t>For more information, see AWS Local Zones on the content resources page of your online course.</a:t>
            </a:r>
          </a:p>
        </p:txBody>
      </p:sp>
    </p:spTree>
    <p:extLst>
      <p:ext uri="{BB962C8B-B14F-4D97-AF65-F5344CB8AC3E}">
        <p14:creationId xmlns:p14="http://schemas.microsoft.com/office/powerpoint/2010/main" val="21705177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40</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The foundation for the AWS infrastructure is the data centers. </a:t>
            </a:r>
            <a:r>
              <a:rPr lang="en-US" dirty="0">
                <a:latin typeface="Calibri" panose="020F0502020204030204" pitchFamily="34" charset="0"/>
              </a:rPr>
              <a:t>You do not specify a data center for the deployment of resources. However, a </a:t>
            </a:r>
            <a:r>
              <a:rPr lang="en-US" kern="1200" dirty="0">
                <a:solidFill>
                  <a:schemeClr val="tx1"/>
                </a:solidFill>
                <a:effectLst/>
                <a:latin typeface="Calibri" panose="020F0502020204030204" pitchFamily="34" charset="0"/>
                <a:ea typeface="+mn-ea"/>
                <a:cs typeface="+mn-cs"/>
              </a:rPr>
              <a:t>data center is the location where the actual data resides. </a:t>
            </a:r>
            <a:r>
              <a:rPr lang="en-US" b="0" i="0" kern="1200" dirty="0">
                <a:solidFill>
                  <a:schemeClr val="tx1"/>
                </a:solidFill>
                <a:effectLst/>
                <a:latin typeface="Calibri" panose="020F0502020204030204" pitchFamily="34" charset="0"/>
                <a:ea typeface="+mn-ea"/>
                <a:cs typeface="+mn-cs"/>
              </a:rPr>
              <a:t>Amazon operates state-of-the-art, highly</a:t>
            </a:r>
            <a:r>
              <a:rPr lang="en-US" b="0" i="0" kern="1200" baseline="0" dirty="0">
                <a:solidFill>
                  <a:schemeClr val="tx1"/>
                </a:solidFill>
                <a:effectLst/>
                <a:latin typeface="Calibri" panose="020F0502020204030204" pitchFamily="34" charset="0"/>
                <a:ea typeface="+mn-ea"/>
                <a:cs typeface="+mn-cs"/>
              </a:rPr>
              <a:t> </a:t>
            </a:r>
            <a:r>
              <a:rPr lang="en-US" b="0" i="0" kern="1200" dirty="0">
                <a:solidFill>
                  <a:schemeClr val="tx1"/>
                </a:solidFill>
                <a:effectLst/>
                <a:latin typeface="Calibri" panose="020F0502020204030204" pitchFamily="34" charset="0"/>
                <a:ea typeface="+mn-ea"/>
                <a:cs typeface="+mn-cs"/>
              </a:rPr>
              <a:t>available data centers. Though rare, failures that affect the availability of instances in the same location can occur. If you host all your instances in a single location that is affected by such a failure, none of your instances will be available.</a:t>
            </a:r>
            <a:endParaRPr lang="en-US" kern="1200" dirty="0">
              <a:solidFill>
                <a:schemeClr val="tx1"/>
              </a:solidFill>
              <a:effectLst/>
              <a:latin typeface="Calibri" panose="020F0502020204030204" pitchFamily="34" charset="0"/>
              <a:ea typeface="+mn-ea"/>
              <a:cs typeface="+mn-cs"/>
            </a:endParaRPr>
          </a:p>
          <a:p>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All data centers are online and serving customers.</a:t>
            </a:r>
            <a:r>
              <a:rPr lang="en-US" kern="1200" baseline="0" dirty="0">
                <a:solidFill>
                  <a:schemeClr val="tx1"/>
                </a:solidFill>
                <a:effectLst/>
                <a:latin typeface="Calibri" panose="020F0502020204030204" pitchFamily="34" charset="0"/>
                <a:ea typeface="+mn-ea"/>
                <a:cs typeface="+mn-cs"/>
              </a:rPr>
              <a:t> I</a:t>
            </a:r>
            <a:r>
              <a:rPr lang="en-US" kern="1200" dirty="0">
                <a:solidFill>
                  <a:schemeClr val="tx1"/>
                </a:solidFill>
                <a:effectLst/>
                <a:latin typeface="Calibri" panose="020F0502020204030204" pitchFamily="34" charset="0"/>
                <a:ea typeface="+mn-ea"/>
                <a:cs typeface="+mn-cs"/>
              </a:rPr>
              <a:t>n case of failure, automated processes move customer data traffic away from the affected area. Core applications are deployed in an N+1 configuration. In the event of a data center failure, there is sufficient capacity for traffic to be load balanced to the remaining sites.</a:t>
            </a:r>
          </a:p>
          <a:p>
            <a:r>
              <a:rPr lang="en-US" kern="1200" dirty="0">
                <a:solidFill>
                  <a:schemeClr val="tx1"/>
                </a:solidFill>
                <a:effectLst/>
                <a:latin typeface="Calibri" panose="020F0502020204030204" pitchFamily="34" charset="0"/>
                <a:ea typeface="+mn-ea"/>
                <a:cs typeface="+mn-cs"/>
              </a:rPr>
              <a:t> </a:t>
            </a:r>
          </a:p>
          <a:p>
            <a:r>
              <a:rPr lang="en-US" kern="1200" dirty="0">
                <a:solidFill>
                  <a:schemeClr val="tx1"/>
                </a:solidFill>
                <a:effectLst/>
                <a:latin typeface="Calibri" panose="020F0502020204030204" pitchFamily="34" charset="0"/>
                <a:ea typeface="+mn-ea"/>
                <a:cs typeface="+mn-cs"/>
              </a:rPr>
              <a:t>AWS uses custom network equipment sourced from multiple original device manufacturers (ODMs). ODMs design and manufacture products based on specifications from another company. The other company then rebrands the products for sale.</a:t>
            </a:r>
          </a:p>
        </p:txBody>
      </p:sp>
    </p:spTree>
    <p:extLst>
      <p:ext uri="{BB962C8B-B14F-4D97-AF65-F5344CB8AC3E}">
        <p14:creationId xmlns:p14="http://schemas.microsoft.com/office/powerpoint/2010/main" val="17832713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41</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b="0" dirty="0">
                <a:latin typeface="Calibri" panose="020F0502020204030204" pitchFamily="34" charset="0"/>
              </a:rPr>
              <a:t>|Compare and contrast the types of AWS PoPs. </a:t>
            </a:r>
            <a:r>
              <a:rPr lang="en-US" kern="1200" dirty="0">
                <a:solidFill>
                  <a:schemeClr val="tx1"/>
                </a:solidFill>
                <a:effectLst/>
                <a:latin typeface="Calibri" panose="020F0502020204030204" pitchFamily="34" charset="0"/>
                <a:ea typeface="+mn-ea"/>
                <a:cs typeface="+mn-cs"/>
              </a:rPr>
              <a:t>For more information, see </a:t>
            </a:r>
            <a:r>
              <a:rPr lang="en-US" i="1" kern="1200" dirty="0">
                <a:solidFill>
                  <a:schemeClr val="tx1"/>
                </a:solidFill>
                <a:effectLst/>
                <a:latin typeface="Calibri" panose="020F0502020204030204" pitchFamily="34" charset="0"/>
                <a:ea typeface="+mn-ea"/>
                <a:cs typeface="+mn-cs"/>
              </a:rPr>
              <a:t>Points of Presence </a:t>
            </a:r>
            <a:r>
              <a:rPr lang="en-US" kern="1200" dirty="0">
                <a:solidFill>
                  <a:schemeClr val="tx1"/>
                </a:solidFill>
                <a:effectLst/>
                <a:latin typeface="Calibri" panose="020F0502020204030204" pitchFamily="34" charset="0"/>
                <a:ea typeface="+mn-ea"/>
                <a:cs typeface="+mn-cs"/>
              </a:rPr>
              <a:t>on the content resources page of your online course.</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b="0" i="0" kern="1200" dirty="0">
                <a:solidFill>
                  <a:schemeClr val="tx1"/>
                </a:solidFill>
                <a:effectLst/>
                <a:latin typeface="Calibri" panose="020F0502020204030204" pitchFamily="34" charset="0"/>
                <a:ea typeface="+mn-ea"/>
                <a:cs typeface="+mn-cs"/>
              </a:rPr>
              <a:t>To deliver content to end users with lower latency, CloudFront uses a global network that includes more than 410 PoPs. The PoPs are comprised of 400 edge locations and 13 regional mid-tier caches. These PoPs are the initial destination for a CloudFront request. </a:t>
            </a:r>
          </a:p>
          <a:p>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The edge locations make sure that popular content can be served quickly to customers. Regional edge caches bring more of your content closer to customers even if it is not popular enough to stay at an edge location. This helps reduce latency for customers. Regional edge caches increase </a:t>
            </a:r>
            <a:r>
              <a:rPr lang="en-US" dirty="0">
                <a:latin typeface="Calibri" panose="020F0502020204030204" pitchFamily="34" charset="0"/>
              </a:rPr>
              <a:t>efficiency and are transparent to the end user.</a:t>
            </a:r>
            <a:br>
              <a:rPr lang="en-US" b="0" i="0" kern="1200" dirty="0">
                <a:solidFill>
                  <a:schemeClr val="tx1"/>
                </a:solidFill>
                <a:effectLst/>
                <a:latin typeface="Calibri" panose="020F0502020204030204" pitchFamily="34" charset="0"/>
                <a:ea typeface="+mn-ea"/>
                <a:cs typeface="+mn-cs"/>
              </a:rPr>
            </a:br>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Edge locations are located in North America, Europe, Asia, Australia, South America, the Middle East, Africa, and China. Edge locations support AWS services like Amazon Route 53, AWS Global Accelerator, and CloudFront.</a:t>
            </a:r>
          </a:p>
          <a:p>
            <a:r>
              <a:rPr lang="en-US" kern="1200" dirty="0">
                <a:solidFill>
                  <a:schemeClr val="tx1"/>
                </a:solidFill>
                <a:effectLst/>
                <a:latin typeface="Calibri" panose="020F0502020204030204" pitchFamily="34" charset="0"/>
                <a:ea typeface="+mn-ea"/>
                <a:cs typeface="+mn-cs"/>
              </a:rPr>
              <a:t> </a:t>
            </a:r>
          </a:p>
          <a:p>
            <a:r>
              <a:rPr lang="en-US" kern="1200" dirty="0">
                <a:solidFill>
                  <a:schemeClr val="tx1"/>
                </a:solidFill>
                <a:effectLst/>
                <a:latin typeface="Calibri" panose="020F0502020204030204" pitchFamily="34" charset="0"/>
                <a:ea typeface="+mn-ea"/>
                <a:cs typeface="+mn-cs"/>
              </a:rPr>
              <a:t>Regional edge caches are used by default with CloudFront. They are used when you have content that is not accessed frequently enough to remain in an edge location. Regional edge caches absorb this content and provide an alternative to fetching the content from the origin server.</a:t>
            </a:r>
          </a:p>
          <a:p>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For more information, see </a:t>
            </a:r>
            <a:r>
              <a:rPr lang="en-US" i="1" kern="1200" dirty="0">
                <a:solidFill>
                  <a:schemeClr val="tx1"/>
                </a:solidFill>
                <a:effectLst/>
                <a:latin typeface="Calibri" panose="020F0502020204030204" pitchFamily="34" charset="0"/>
                <a:ea typeface="+mn-ea"/>
                <a:cs typeface="+mn-cs"/>
              </a:rPr>
              <a:t>Points of Presence </a:t>
            </a:r>
            <a:r>
              <a:rPr lang="en-US" kern="1200" dirty="0">
                <a:solidFill>
                  <a:schemeClr val="tx1"/>
                </a:solidFill>
                <a:effectLst/>
                <a:latin typeface="Calibri" panose="020F0502020204030204" pitchFamily="34" charset="0"/>
                <a:ea typeface="+mn-ea"/>
                <a:cs typeface="+mn-cs"/>
              </a:rPr>
              <a:t>on the content resources page of your online course.</a:t>
            </a:r>
          </a:p>
        </p:txBody>
      </p:sp>
    </p:spTree>
    <p:extLst>
      <p:ext uri="{BB962C8B-B14F-4D97-AF65-F5344CB8AC3E}">
        <p14:creationId xmlns:p14="http://schemas.microsoft.com/office/powerpoint/2010/main" val="42564555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42</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1" dirty="0">
                <a:latin typeface="Calibri" panose="020F0502020204030204" pitchFamily="34" charset="0"/>
              </a:rPr>
              <a:t>|</a:t>
            </a:r>
            <a:r>
              <a:rPr lang="en-US" dirty="0">
                <a:latin typeface="Calibri" panose="020F0502020204030204" pitchFamily="34" charset="0"/>
              </a:rPr>
              <a:t>The student version doesn't have any notes for this slide.</a:t>
            </a:r>
            <a:endParaRPr lang="en-US" b="1"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13936061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dirty="0">
                <a:latin typeface="Calibri" panose="020F0502020204030204" pitchFamily="34" charset="0"/>
              </a:rPr>
              <a:t>It’s now time to review the module and wrap up with a knowledge check.</a:t>
            </a:r>
          </a:p>
        </p:txBody>
      </p:sp>
    </p:spTree>
    <p:extLst>
      <p:ext uri="{BB962C8B-B14F-4D97-AF65-F5344CB8AC3E}">
        <p14:creationId xmlns:p14="http://schemas.microsoft.com/office/powerpoint/2010/main" val="2235408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44</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|The student version doesn't have any notes for this slide.</a:t>
            </a:r>
            <a:endParaRPr lang="en-US" b="1"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p:txBody>
      </p:sp>
    </p:spTree>
    <p:extLst>
      <p:ext uri="{BB962C8B-B14F-4D97-AF65-F5344CB8AC3E}">
        <p14:creationId xmlns:p14="http://schemas.microsoft.com/office/powerpoint/2010/main" val="16511220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Use your online course to access the knowledge check for this module.</a:t>
            </a:r>
          </a:p>
        </p:txBody>
      </p:sp>
    </p:spTree>
    <p:extLst>
      <p:ext uri="{BB962C8B-B14F-4D97-AF65-F5344CB8AC3E}">
        <p14:creationId xmlns:p14="http://schemas.microsoft.com/office/powerpoint/2010/main" val="35205616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46</a:t>
            </a:fld>
            <a:r>
              <a:rPr lang="en-US" b="1" dirty="0">
                <a:latin typeface="Calibri" panose="020F0502020204030204" pitchFamily="34" charset="0"/>
              </a:rPr>
              <a:t> </a:t>
            </a:r>
          </a:p>
          <a:p>
            <a:pPr marL="0" marR="0" lvl="0" indent="0" defTabSz="914400" rtl="0" eaLnBrk="1" fontAlgn="auto" latinLnBrk="0" hangingPunct="1">
              <a:buClrTx/>
              <a:buSzTx/>
              <a:buFontTx/>
              <a:buNone/>
              <a:tabLst/>
              <a:defRPr/>
            </a:pPr>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pPr marL="0" marR="0" lvl="0" indent="0" defTabSz="914400" rtl="0" eaLnBrk="1" fontAlgn="auto" latinLnBrk="0" hangingPunct="1">
              <a:buClrTx/>
              <a:buSzTx/>
              <a:buFontTx/>
              <a:buNone/>
              <a:tabLst/>
              <a:defRPr/>
            </a:pPr>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That concludes this module. The content resources page of your course includes links to additional resources that are related to this module.</a:t>
            </a:r>
          </a:p>
        </p:txBody>
      </p:sp>
    </p:spTree>
    <p:extLst>
      <p:ext uri="{BB962C8B-B14F-4D97-AF65-F5344CB8AC3E}">
        <p14:creationId xmlns:p14="http://schemas.microsoft.com/office/powerpoint/2010/main" val="35068125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17.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17.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1.xml"/><Relationship Id="rId1" Type="http://schemas.openxmlformats.org/officeDocument/2006/relationships/tags" Target="../tags/tag45.xml"/><Relationship Id="rId4" Type="http://schemas.openxmlformats.org/officeDocument/2006/relationships/image" Target="../media/image17.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1.xml"/><Relationship Id="rId1" Type="http://schemas.openxmlformats.org/officeDocument/2006/relationships/tags" Target="../tags/tag47.xml"/><Relationship Id="rId4" Type="http://schemas.openxmlformats.org/officeDocument/2006/relationships/image" Target="../media/image17.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48.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17.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1051560"/>
            <a:ext cx="11375136"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2772920"/>
            <a:ext cx="5500255" cy="175564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A2C3C3E5-7849-41DF-885A-361FFB68A8BE}"/>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extLst>
      <p:ext uri="{BB962C8B-B14F-4D97-AF65-F5344CB8AC3E}">
        <p14:creationId xmlns:p14="http://schemas.microsoft.com/office/powerpoint/2010/main" val="3460319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03472"/>
            <a:ext cx="8946292"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4224832"/>
            <a:ext cx="8946292"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D92B13EB-841E-4A00-B345-D5601EDE0664}"/>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283696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6456405"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5040376"/>
            <a:ext cx="6456405"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2">
            <a:extLst>
              <a:ext uri="{FF2B5EF4-FFF2-40B4-BE49-F238E27FC236}">
                <a16:creationId xmlns:a16="http://schemas.microsoft.com/office/drawing/2014/main" id="{0D082EC7-0F32-4BFC-8B4A-CF754ECE0188}"/>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151752" y="6446520"/>
            <a:ext cx="4610100" cy="311150"/>
          </a:xfrm>
          <a:prstGeom prst="rect">
            <a:avLst/>
          </a:prstGeom>
        </p:spPr>
      </p:pic>
    </p:spTree>
    <p:extLst>
      <p:ext uri="{BB962C8B-B14F-4D97-AF65-F5344CB8AC3E}">
        <p14:creationId xmlns:p14="http://schemas.microsoft.com/office/powerpoint/2010/main" val="2242025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Slide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11375136"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subTitle" idx="2" hasCustomPrompt="1"/>
          </p:nvPr>
        </p:nvSpPr>
        <p:spPr>
          <a:xfrm>
            <a:off x="457200" y="5040376"/>
            <a:ext cx="11375136"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1">
            <a:extLst>
              <a:ext uri="{FF2B5EF4-FFF2-40B4-BE49-F238E27FC236}">
                <a16:creationId xmlns:a16="http://schemas.microsoft.com/office/drawing/2014/main" id="{778EE4E8-00C6-48DD-8835-1470B6038F0A}"/>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custDataLst>
      <p:tags r:id="rId1"/>
    </p:custDataLst>
    <p:extLst>
      <p:ext uri="{BB962C8B-B14F-4D97-AF65-F5344CB8AC3E}">
        <p14:creationId xmlns:p14="http://schemas.microsoft.com/office/powerpoint/2010/main" val="148626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Module Out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ABD6F48-2C14-445B-9FF5-34BB44186A53}"/>
              </a:ext>
            </a:extLst>
          </p:cNvPr>
          <p:cNvSpPr>
            <a:spLocks noGrp="1"/>
          </p:cNvSpPr>
          <p:nvPr>
            <p:ph type="sldNum" idx="97"/>
          </p:nvPr>
        </p:nvSpPr>
        <p:spPr>
          <a:xfrm>
            <a:off x="11347704" y="6446520"/>
            <a:ext cx="484632" cy="228600"/>
          </a:xfrm>
        </p:spPr>
        <p:txBody>
          <a:bodyPr/>
          <a:lstStyle>
            <a:lvl1pPr>
              <a:defRPr>
                <a:solidFill>
                  <a:srgbClr val="232F3E"/>
                </a:solidFill>
                <a:latin typeface="+mn-lt"/>
              </a:defRPr>
            </a:lvl1pPr>
          </a:lstStyle>
          <a:p>
            <a:fld id="{4037B1B0-0345-4E15-985A-6BECCDBE474F}" type="slidenum">
              <a:rPr lang="en-US" smtClean="0"/>
              <a:pPr/>
              <a:t>‹#›</a:t>
            </a:fld>
            <a:endParaRPr lang="en-US" dirty="0"/>
          </a:p>
        </p:txBody>
      </p:sp>
      <p:sp>
        <p:nvSpPr>
          <p:cNvPr id="2" name="Modul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chor="ctr" anchorCtr="0">
            <a:noAutofit/>
          </a:bodyPr>
          <a:lstStyle>
            <a:lvl1pPr marL="0" indent="0">
              <a:spcBef>
                <a:spcPts val="0"/>
              </a:spcBef>
              <a:spcAft>
                <a:spcPts val="0"/>
              </a:spcAft>
              <a:buNone/>
              <a:defRPr sz="2000">
                <a:solidFill>
                  <a:schemeClr val="bg1"/>
                </a:solidFill>
                <a:latin typeface="+mn-lt"/>
              </a:defRPr>
            </a:lvl1pPr>
          </a:lstStyle>
          <a:p>
            <a:pPr lvl="0"/>
            <a:r>
              <a:rPr lang="en-US" dirty="0"/>
              <a:t>Enter Module Title</a:t>
            </a:r>
          </a:p>
        </p:txBody>
      </p:sp>
      <p:sp>
        <p:nvSpPr>
          <p:cNvPr id="4" name="Section Title">
            <a:extLst>
              <a:ext uri="{FF2B5EF4-FFF2-40B4-BE49-F238E27FC236}">
                <a16:creationId xmlns:a16="http://schemas.microsoft.com/office/drawing/2014/main" id="{44A0A5D8-940C-44D0-9D06-4C68FEF7413D}"/>
              </a:ext>
            </a:extLst>
          </p:cNvPr>
          <p:cNvSpPr>
            <a:spLocks noGrp="1"/>
          </p:cNvSpPr>
          <p:nvPr>
            <p:ph type="title" idx="1" hasCustomPrompt="1"/>
          </p:nvPr>
        </p:nvSpPr>
        <p:spPr>
          <a:xfrm>
            <a:off x="365760" y="1541983"/>
            <a:ext cx="8547012" cy="1188720"/>
          </a:xfrm>
        </p:spPr>
        <p:txBody>
          <a:bodyPr/>
          <a:lstStyle>
            <a:lvl1pPr>
              <a:spcBef>
                <a:spcPts val="0"/>
              </a:spcBef>
              <a:spcAft>
                <a:spcPts val="0"/>
              </a:spcAft>
              <a:defRPr>
                <a:solidFill>
                  <a:schemeClr val="bg1"/>
                </a:solidFill>
                <a:latin typeface="Amazon Ember Display Heavy"/>
              </a:defRPr>
            </a:lvl1pPr>
          </a:lstStyle>
          <a:p>
            <a:r>
              <a:rPr lang="en-US" dirty="0"/>
              <a:t>Enter section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914400" y="2743200"/>
            <a:ext cx="7998372" cy="3657600"/>
          </a:xfrm>
        </p:spPr>
        <p:txBody>
          <a:bodyPr/>
          <a:lstStyle>
            <a:lvl1pPr marL="0" indent="0">
              <a:spcBef>
                <a:spcPts val="0"/>
              </a:spcBef>
              <a:spcAft>
                <a:spcPts val="600"/>
              </a:spcAft>
              <a:buNone/>
              <a:defRPr>
                <a:solidFill>
                  <a:schemeClr val="bg1"/>
                </a:solidFill>
                <a:latin typeface="+mn-lt"/>
              </a:defRPr>
            </a:lvl1pPr>
          </a:lstStyle>
          <a:p>
            <a:pPr lvl="0"/>
            <a:r>
              <a:rPr lang="en-US" dirty="0"/>
              <a:t>Enter topic list</a:t>
            </a:r>
          </a:p>
        </p:txBody>
      </p:sp>
      <p:pic>
        <p:nvPicPr>
          <p:cNvPr id="7" name="Copyright1">
            <a:extLst>
              <a:ext uri="{FF2B5EF4-FFF2-40B4-BE49-F238E27FC236}">
                <a16:creationId xmlns:a16="http://schemas.microsoft.com/office/drawing/2014/main" id="{90A2DFBB-3003-4080-87A9-825455A89862}"/>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68530"/>
            <a:ext cx="4610100" cy="267127"/>
          </a:xfrm>
          <a:prstGeom prst="rect">
            <a:avLst/>
          </a:prstGeom>
        </p:spPr>
      </p:pic>
    </p:spTree>
    <p:extLst>
      <p:ext uri="{BB962C8B-B14F-4D97-AF65-F5344CB8AC3E}">
        <p14:creationId xmlns:p14="http://schemas.microsoft.com/office/powerpoint/2010/main" val="526271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1709738"/>
            <a:ext cx="11472013" cy="3609846"/>
          </a:xfrm>
        </p:spPr>
        <p:txBody>
          <a:bodyPr anchor="ctr">
            <a:normAutofit/>
          </a:bodyPr>
          <a:lstStyle>
            <a:lvl1pPr>
              <a:spcBef>
                <a:spcPts val="0"/>
              </a:spcBef>
              <a:spcAft>
                <a:spcPts val="0"/>
              </a:spcAft>
              <a:defRPr sz="4000">
                <a:solidFill>
                  <a:schemeClr val="bg1"/>
                </a:solidFill>
                <a:latin typeface="Amazon Ember Display Heavy"/>
              </a:defRPr>
            </a:lvl1pPr>
          </a:lstStyle>
          <a:p>
            <a:r>
              <a:rPr lang="en-US" dirty="0"/>
              <a:t>“Enter quote”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365760" y="5319584"/>
            <a:ext cx="11472013" cy="770066"/>
          </a:xfrm>
        </p:spPr>
        <p:txBody>
          <a:bodyPr/>
          <a:lstStyle>
            <a:lvl1pPr marL="0" indent="0">
              <a:spcBef>
                <a:spcPts val="0"/>
              </a:spcBef>
              <a:spcAft>
                <a:spcPts val="0"/>
              </a:spcAft>
              <a:buNone/>
              <a:defRPr sz="2800">
                <a:solidFill>
                  <a:schemeClr val="bg1"/>
                </a:solidFill>
              </a:defRPr>
            </a:lvl1pPr>
          </a:lstStyle>
          <a:p>
            <a:r>
              <a:rPr lang="en-US" dirty="0"/>
              <a:t>Attribution</a:t>
            </a:r>
          </a:p>
        </p:txBody>
      </p:sp>
      <p:pic>
        <p:nvPicPr>
          <p:cNvPr id="6" name="Copyright2">
            <a:extLst>
              <a:ext uri="{FF2B5EF4-FFF2-40B4-BE49-F238E27FC236}">
                <a16:creationId xmlns:a16="http://schemas.microsoft.com/office/drawing/2014/main" id="{7D4186D3-C2B3-4D1D-8DF1-801C1A413D21}"/>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extLst>
      <p:ext uri="{BB962C8B-B14F-4D97-AF65-F5344CB8AC3E}">
        <p14:creationId xmlns:p14="http://schemas.microsoft.com/office/powerpoint/2010/main" val="121861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opic Introdu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content</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6" name="Copyright1">
            <a:extLst>
              <a:ext uri="{FF2B5EF4-FFF2-40B4-BE49-F238E27FC236}">
                <a16:creationId xmlns:a16="http://schemas.microsoft.com/office/drawing/2014/main" id="{0BBBF875-E0E3-4837-9CCC-88E0DAFE277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68531"/>
            <a:ext cx="4610100" cy="267127"/>
          </a:xfrm>
          <a:prstGeom prst="rect">
            <a:avLst/>
          </a:prstGeom>
        </p:spPr>
      </p:pic>
    </p:spTree>
    <p:custDataLst>
      <p:tags r:id="rId1"/>
    </p:custDataLst>
    <p:extLst>
      <p:ext uri="{BB962C8B-B14F-4D97-AF65-F5344CB8AC3E}">
        <p14:creationId xmlns:p14="http://schemas.microsoft.com/office/powerpoint/2010/main" val="2526479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E52B1449-9D22-45E9-8E29-DD9653749C2D}"/>
              </a:ext>
            </a:extLst>
          </p:cNvPr>
          <p:cNvSpPr>
            <a:spLocks noGrp="1"/>
          </p:cNvSpPr>
          <p:nvPr>
            <p:ph type="title" idx="1" hasCustomPrompt="1"/>
          </p:nvPr>
        </p:nvSpPr>
        <p:spPr>
          <a:xfrm>
            <a:off x="457200" y="1256247"/>
            <a:ext cx="7998031" cy="4049824"/>
          </a:xfrm>
        </p:spPr>
        <p:txBody>
          <a:bodyPr anchor="ctr">
            <a:noAutofit/>
          </a:bodyPr>
          <a:lstStyle>
            <a:lvl1pPr>
              <a:lnSpc>
                <a:spcPct val="100000"/>
              </a:lnSpc>
              <a:spcBef>
                <a:spcPts val="0"/>
              </a:spcBef>
              <a:defRPr sz="4400">
                <a:solidFill>
                  <a:schemeClr val="bg1"/>
                </a:solidFill>
                <a:latin typeface="Amazon Ember Display Heavy"/>
              </a:defRPr>
            </a:lvl1pPr>
          </a:lstStyle>
          <a:p>
            <a:r>
              <a:rPr lang="en-US" dirty="0"/>
              <a:t>Thank you text</a:t>
            </a:r>
          </a:p>
        </p:txBody>
      </p:sp>
      <p:sp>
        <p:nvSpPr>
          <p:cNvPr id="2" name="Corrections text">
            <a:extLst>
              <a:ext uri="{FF2B5EF4-FFF2-40B4-BE49-F238E27FC236}">
                <a16:creationId xmlns:a16="http://schemas.microsoft.com/office/drawing/2014/main" id="{6A373FD5-C6D5-4BB3-B1C2-AF88C1A95E05}"/>
              </a:ext>
            </a:extLst>
          </p:cNvPr>
          <p:cNvSpPr>
            <a:spLocks noGrp="1"/>
          </p:cNvSpPr>
          <p:nvPr>
            <p:ph type="body" idx="2" hasCustomPrompt="1"/>
          </p:nvPr>
        </p:nvSpPr>
        <p:spPr>
          <a:xfrm>
            <a:off x="457200" y="5305425"/>
            <a:ext cx="7997825" cy="1141413"/>
          </a:xfrm>
        </p:spPr>
        <p:txBody>
          <a:bodyPr>
            <a:noAutofit/>
          </a:bodyPr>
          <a:lstStyle>
            <a:lvl1pPr marL="0" indent="0">
              <a:lnSpc>
                <a:spcPct val="100000"/>
              </a:lnSpc>
              <a:spcBef>
                <a:spcPts val="0"/>
              </a:spcBef>
              <a:spcAft>
                <a:spcPts val="0"/>
              </a:spcAft>
              <a:buClrTx/>
              <a:buSzTx/>
              <a:buFontTx/>
              <a:buNone/>
              <a:tabLst/>
              <a:defRPr lang="en-US" b="0" cap="none" spc="0" baseline="0">
                <a:ln>
                  <a:noFill/>
                </a:ln>
                <a:solidFill>
                  <a:schemeClr val="bg1"/>
                </a:solidFill>
                <a:effectLst/>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pPr marL="0" indent="0">
              <a:lnSpc>
                <a:spcPct val="100000"/>
              </a:lnSpc>
              <a:spcBef>
                <a:spcPts val="0"/>
              </a:spcBef>
              <a:spcAft>
                <a:spcPts val="0"/>
              </a:spcAft>
              <a:buClrTx/>
              <a:buSzTx/>
              <a:buFontTx/>
              <a:buNone/>
              <a:tabLst/>
              <a:defRPr/>
            </a:pPr>
            <a:r>
              <a:rPr lang="en-US" sz="1800" dirty="0">
                <a:solidFill>
                  <a:srgbClr val="F1F3F3"/>
                </a:solidFill>
              </a:rPr>
              <a:t>Type: Corrections, feedback, or other questions? </a:t>
            </a:r>
            <a:br>
              <a:rPr lang="en-US" sz="1800" dirty="0">
                <a:solidFill>
                  <a:srgbClr val="F1F3F3"/>
                </a:solidFill>
              </a:rPr>
            </a:br>
            <a:r>
              <a:rPr lang="en-US" sz="1800" dirty="0">
                <a:solidFill>
                  <a:srgbClr val="F1F3F3"/>
                </a:solidFill>
              </a:rPr>
              <a:t>Contact us at https://support.aws.amazon.com/#/contacts/aws-academy.</a:t>
            </a:r>
          </a:p>
        </p:txBody>
      </p:sp>
      <p:pic>
        <p:nvPicPr>
          <p:cNvPr id="6" name="Copyright1">
            <a:extLst>
              <a:ext uri="{FF2B5EF4-FFF2-40B4-BE49-F238E27FC236}">
                <a16:creationId xmlns:a16="http://schemas.microsoft.com/office/drawing/2014/main" id="{872813F7-982A-459F-982C-723833FAAEAB}"/>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custDataLst>
      <p:tags r:id="rId1"/>
    </p:custDataLst>
    <p:extLst>
      <p:ext uri="{BB962C8B-B14F-4D97-AF65-F5344CB8AC3E}">
        <p14:creationId xmlns:p14="http://schemas.microsoft.com/office/powerpoint/2010/main" val="4183191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lnSpc>
                <a:spcPct val="90000"/>
              </a:lnSpc>
              <a:spcAft>
                <a:spcPts val="0"/>
              </a:spcAft>
              <a:defRPr>
                <a:solidFill>
                  <a:srgbClr val="232F3E"/>
                </a:solidFill>
                <a:latin typeface="Amazon Ember Display Heavy"/>
              </a:defRPr>
            </a:lvl1pPr>
          </a:lstStyle>
          <a:p>
            <a:r>
              <a:rPr lang="en-US" dirty="0"/>
              <a:t>Title and text column</a:t>
            </a:r>
          </a:p>
        </p:txBody>
      </p:sp>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rm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65017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and code</a:t>
            </a:r>
          </a:p>
        </p:txBody>
      </p:sp>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11466576" cy="5330952"/>
          </a:xfrm>
        </p:spPr>
        <p:txBody>
          <a:bodyPr>
            <a:noAutofit/>
          </a:bodyPr>
          <a:lstStyle>
            <a:lvl1pPr marL="0" indent="0" defTabSz="228600">
              <a:lnSpc>
                <a:spcPct val="100000"/>
              </a:lnSpc>
              <a:spcBef>
                <a:spcPts val="0"/>
              </a:spcBef>
              <a:spcAft>
                <a:spcPts val="0"/>
              </a:spcAft>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160625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418244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310634-6D6F-45BA-96BC-E6E4225BB2B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2712" y="301752"/>
            <a:ext cx="11466576" cy="731318"/>
          </a:xfrm>
        </p:spPr>
        <p:txBody>
          <a:bodyPr/>
          <a:lstStyle>
            <a:lvl1pPr>
              <a:defRPr>
                <a:solidFill>
                  <a:srgbClr val="232F3E"/>
                </a:solidFill>
                <a:latin typeface="Amazon Ember Display Heavy"/>
              </a:defRPr>
            </a:lvl1pPr>
          </a:lstStyle>
          <a:p>
            <a:r>
              <a:rPr lang="en-US" dirty="0"/>
              <a:t>Title, header, text, and picture</a:t>
            </a:r>
          </a:p>
        </p:txBody>
      </p:sp>
      <p:sp>
        <p:nvSpPr>
          <p:cNvPr id="12" name="Content 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7644384" cy="487375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072378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Service Introduction Option 1">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6567437-E18D-4274-8EB3-54B9DE902BBD}"/>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 name="Divider H">
              <a:extLst>
                <a:ext uri="{FF2B5EF4-FFF2-40B4-BE49-F238E27FC236}">
                  <a16:creationId xmlns:a16="http://schemas.microsoft.com/office/drawing/2014/main" id="{50B9701F-77A8-41C6-92EB-864571F194D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11" name="Divider V">
              <a:extLst>
                <a:ext uri="{FF2B5EF4-FFF2-40B4-BE49-F238E27FC236}">
                  <a16:creationId xmlns:a16="http://schemas.microsoft.com/office/drawing/2014/main" id="{39B7DF57-C231-4CAA-9959-A12A3D224023}"/>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845B9C66-42EC-414D-A8B0-97B2C6F572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Service introduction slide – Option 1</a:t>
            </a:r>
          </a:p>
        </p:txBody>
      </p:sp>
      <p:sp>
        <p:nvSpPr>
          <p:cNvPr id="3" name="Service Image">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5EE453FC-29B3-4823-BA8D-E5D7343F2858}"/>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dirty="0"/>
              <a:t>Enter service name</a:t>
            </a:r>
          </a:p>
        </p:txBody>
      </p:sp>
      <p:sp>
        <p:nvSpPr>
          <p:cNvPr id="2" name="Content">
            <a:extLst>
              <a:ext uri="{FF2B5EF4-FFF2-40B4-BE49-F238E27FC236}">
                <a16:creationId xmlns:a16="http://schemas.microsoft.com/office/drawing/2014/main" id="{951E617C-D9F7-4098-883E-6A048DBCF862}"/>
              </a:ext>
            </a:extLst>
          </p:cNvPr>
          <p:cNvSpPr>
            <a:spLocks noGrp="1"/>
          </p:cNvSpPr>
          <p:nvPr>
            <p:ph idx="2" hasCustomPrompt="1"/>
          </p:nvPr>
        </p:nvSpPr>
        <p:spPr>
          <a:xfrm>
            <a:off x="3118104" y="1097280"/>
            <a:ext cx="8714232" cy="5330952"/>
          </a:xfrm>
        </p:spPr>
        <p:txBody>
          <a:bodyPr anchor="ctr">
            <a:normAutofit/>
          </a:bodyPr>
          <a:lstStyle>
            <a:lvl1pPr>
              <a:lnSpc>
                <a:spcPct val="100000"/>
              </a:lnSpc>
              <a:spcAft>
                <a:spcPts val="1200"/>
              </a:spcAft>
              <a:defRPr sz="3200">
                <a:solidFill>
                  <a:srgbClr val="232F3E"/>
                </a:solidFill>
              </a:defRPr>
            </a:lvl1pPr>
            <a:lvl2pPr marL="457200" indent="-228600">
              <a:lnSpc>
                <a:spcPct val="100000"/>
              </a:lnSpc>
              <a:spcAft>
                <a:spcPts val="1200"/>
              </a:spcAft>
              <a:defRPr sz="2800">
                <a:solidFill>
                  <a:srgbClr val="232F3E"/>
                </a:solidFill>
              </a:defRPr>
            </a:lvl2pPr>
            <a:lvl3pPr marL="684213" indent="-228600">
              <a:lnSpc>
                <a:spcPct val="100000"/>
              </a:lnSpc>
              <a:spcAft>
                <a:spcPts val="1200"/>
              </a:spcAft>
              <a:defRPr sz="2400">
                <a:solidFill>
                  <a:srgbClr val="232F3E"/>
                </a:solidFill>
              </a:defRPr>
            </a:lvl3pPr>
            <a:lvl4pPr marL="914400" indent="-228600">
              <a:lnSpc>
                <a:spcPct val="100000"/>
              </a:lnSpc>
              <a:spcAft>
                <a:spcPts val="1200"/>
              </a:spcAft>
              <a:defRPr sz="2000">
                <a:solidFill>
                  <a:srgbClr val="232F3E"/>
                </a:solidFill>
              </a:defRPr>
            </a:lvl4pPr>
            <a:lvl5pPr marL="1144588" indent="-228600">
              <a:lnSpc>
                <a:spcPct val="100000"/>
              </a:lnSpc>
              <a:spcAft>
                <a:spcPts val="1200"/>
              </a:spcAft>
              <a:defRPr sz="20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2322782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rvice Introduction Option 2">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47407828-5EAD-4B51-9E63-A3BCA2C02C10}"/>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6" name="Divider H">
              <a:extLst>
                <a:ext uri="{FF2B5EF4-FFF2-40B4-BE49-F238E27FC236}">
                  <a16:creationId xmlns:a16="http://schemas.microsoft.com/office/drawing/2014/main" id="{86EB8EF7-E12A-4724-8CD0-BCD419CC1D7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Divider V">
              <a:extLst>
                <a:ext uri="{FF2B5EF4-FFF2-40B4-BE49-F238E27FC236}">
                  <a16:creationId xmlns:a16="http://schemas.microsoft.com/office/drawing/2014/main" id="{A98871DD-BA51-4D2E-B73C-B53E0040D847}"/>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11"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latin typeface="Amazon Ember Display Heavy" panose="04020705040A02060702" pitchFamily="82" charset="0"/>
              </a:rPr>
              <a:t>Service introduction slide – Option 2</a:t>
            </a:r>
          </a:p>
        </p:txBody>
      </p:sp>
      <p:sp>
        <p:nvSpPr>
          <p:cNvPr id="3" name="Service image">
            <a:extLst>
              <a:ext uri="{FF2B5EF4-FFF2-40B4-BE49-F238E27FC236}">
                <a16:creationId xmlns:a16="http://schemas.microsoft.com/office/drawing/2014/main" id="{A8750EE2-55D6-4668-9C14-21FA8D6643EA}"/>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ED5D782A-3E94-4C16-BD1E-13F939926C06}"/>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dirty="0"/>
              <a:t>Enter service name</a:t>
            </a:r>
          </a:p>
        </p:txBody>
      </p:sp>
      <p:sp>
        <p:nvSpPr>
          <p:cNvPr id="2" name="Service description">
            <a:extLst>
              <a:ext uri="{FF2B5EF4-FFF2-40B4-BE49-F238E27FC236}">
                <a16:creationId xmlns:a16="http://schemas.microsoft.com/office/drawing/2014/main" id="{125C2183-0325-4A52-BF1F-38F8AAFA8B4A}"/>
              </a:ext>
            </a:extLst>
          </p:cNvPr>
          <p:cNvSpPr>
            <a:spLocks noGrp="1"/>
          </p:cNvSpPr>
          <p:nvPr>
            <p:ph type="body" idx="2" hasCustomPrompt="1"/>
          </p:nvPr>
        </p:nvSpPr>
        <p:spPr>
          <a:xfrm>
            <a:off x="3118104" y="1097280"/>
            <a:ext cx="8714232" cy="1655064"/>
          </a:xfrm>
        </p:spPr>
        <p:txBody>
          <a:bodyPr tIns="45720" bIns="45720">
            <a:normAutofit/>
          </a:bodyPr>
          <a:lstStyle>
            <a:lvl1pPr marL="0" indent="0">
              <a:lnSpc>
                <a:spcPct val="100000"/>
              </a:lnSpc>
              <a:spcBef>
                <a:spcPts val="0"/>
              </a:spcBef>
              <a:spcAft>
                <a:spcPts val="300"/>
              </a:spcAft>
              <a:buNone/>
              <a:defRPr sz="2400">
                <a:solidFill>
                  <a:srgbClr val="232F3E"/>
                </a:solidFill>
                <a:latin typeface="Amazon Ember Display"/>
              </a:defRPr>
            </a:lvl1pPr>
            <a:lvl2pPr marL="457200" indent="0">
              <a:buNone/>
              <a:defRPr/>
            </a:lvl2pPr>
          </a:lstStyle>
          <a:p>
            <a:pPr lvl="0"/>
            <a:r>
              <a:rPr lang="en-US" dirty="0"/>
              <a:t>Enter service description from our website.</a:t>
            </a:r>
          </a:p>
        </p:txBody>
      </p:sp>
      <p:sp>
        <p:nvSpPr>
          <p:cNvPr id="8" name="Service Benefit 1">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8" hasCustomPrompt="1"/>
          </p:nvPr>
        </p:nvSpPr>
        <p:spPr>
          <a:xfrm>
            <a:off x="3483864"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5" name="Benefit 1 Description">
            <a:extLst>
              <a:ext uri="{FF2B5EF4-FFF2-40B4-BE49-F238E27FC236}">
                <a16:creationId xmlns:a16="http://schemas.microsoft.com/office/drawing/2014/main" id="{CEBB69C5-28A4-4F99-A9FE-572F9D53CF4E}"/>
              </a:ext>
            </a:extLst>
          </p:cNvPr>
          <p:cNvSpPr>
            <a:spLocks noGrp="1"/>
          </p:cNvSpPr>
          <p:nvPr>
            <p:ph type="body" idx="5" hasCustomPrompt="1"/>
          </p:nvPr>
        </p:nvSpPr>
        <p:spPr>
          <a:xfrm>
            <a:off x="3118104"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9" name="Service Benefit 2">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9" hasCustomPrompt="1"/>
          </p:nvPr>
        </p:nvSpPr>
        <p:spPr>
          <a:xfrm>
            <a:off x="6473952"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6" name="Benefit 2 Description">
            <a:extLst>
              <a:ext uri="{FF2B5EF4-FFF2-40B4-BE49-F238E27FC236}">
                <a16:creationId xmlns:a16="http://schemas.microsoft.com/office/drawing/2014/main" id="{04C41CFA-9BF9-474A-89A9-E22790A538E2}"/>
              </a:ext>
            </a:extLst>
          </p:cNvPr>
          <p:cNvSpPr>
            <a:spLocks noGrp="1"/>
          </p:cNvSpPr>
          <p:nvPr>
            <p:ph type="body" idx="6" hasCustomPrompt="1"/>
          </p:nvPr>
        </p:nvSpPr>
        <p:spPr>
          <a:xfrm>
            <a:off x="6108192"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10" name="Service Benefit 3">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10" hasCustomPrompt="1"/>
          </p:nvPr>
        </p:nvSpPr>
        <p:spPr>
          <a:xfrm>
            <a:off x="9454896"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7" name="Benefit 3 Description">
            <a:extLst>
              <a:ext uri="{FF2B5EF4-FFF2-40B4-BE49-F238E27FC236}">
                <a16:creationId xmlns:a16="http://schemas.microsoft.com/office/drawing/2014/main" id="{CF01F87A-DBEF-4657-8500-6A751FF3BC24}"/>
              </a:ext>
            </a:extLst>
          </p:cNvPr>
          <p:cNvSpPr>
            <a:spLocks noGrp="1"/>
          </p:cNvSpPr>
          <p:nvPr>
            <p:ph type="body" idx="7" hasCustomPrompt="1"/>
          </p:nvPr>
        </p:nvSpPr>
        <p:spPr>
          <a:xfrm>
            <a:off x="9089136"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Tree>
    <p:custDataLst>
      <p:tags r:id="rId1"/>
    </p:custDataLst>
    <p:extLst>
      <p:ext uri="{BB962C8B-B14F-4D97-AF65-F5344CB8AC3E}">
        <p14:creationId xmlns:p14="http://schemas.microsoft.com/office/powerpoint/2010/main" val="3548114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content columns</a:t>
            </a:r>
          </a:p>
        </p:txBody>
      </p:sp>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5205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Narrow, and Wi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narrow left, and wide right columns</a:t>
            </a:r>
          </a:p>
        </p:txBody>
      </p:sp>
      <p:pic>
        <p:nvPicPr>
          <p:cNvPr id="99" name="Divider">
            <a:extLst>
              <a:ext uri="{FF2B5EF4-FFF2-40B4-BE49-F238E27FC236}">
                <a16:creationId xmlns:a16="http://schemas.microsoft.com/office/drawing/2014/main" id="{436CF646-2D71-47F1-8550-51446EDEB81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657600"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4187952" y="1097280"/>
            <a:ext cx="7644384"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 or Click to add image</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97191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1314593-B97F-4159-BF1C-7D08727B798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code columns</a:t>
            </a:r>
          </a:p>
        </p:txBody>
      </p:sp>
      <p:pic>
        <p:nvPicPr>
          <p:cNvPr id="99" name="Divider">
            <a:extLst>
              <a:ext uri="{FF2B5EF4-FFF2-40B4-BE49-F238E27FC236}">
                <a16:creationId xmlns:a16="http://schemas.microsoft.com/office/drawing/2014/main" id="{25E540B6-8F1E-4977-BD60-59FB7D23F4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Left">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42090080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Header,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and 2 text columns</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939533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Header, Content, Full Height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3F8E55C-0C56-481E-96C0-45506B8577F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content, and full height picture</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1" y="1051560"/>
            <a:ext cx="5669279"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EEA0232A-1E36-4B66-8855-7774205AD335}"/>
              </a:ext>
            </a:extLst>
          </p:cNvPr>
          <p:cNvSpPr>
            <a:spLocks noGrp="1"/>
          </p:cNvSpPr>
          <p:nvPr>
            <p:ph idx="2" hasCustomPrompt="1"/>
          </p:nvPr>
        </p:nvSpPr>
        <p:spPr>
          <a:xfrm>
            <a:off x="365760" y="1554480"/>
            <a:ext cx="5669280" cy="488174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type="pic" idx="22" hasCustomPrompt="1"/>
          </p:nvPr>
        </p:nvSpPr>
        <p:spPr>
          <a:xfrm>
            <a:off x="6163056" y="1046819"/>
            <a:ext cx="5669280" cy="5398103"/>
          </a:xfrm>
        </p:spPr>
        <p:txBody>
          <a:bodyPr anchor="t">
            <a:noAutofit/>
          </a:bodyPr>
          <a:lstStyle>
            <a:lvl1pPr marL="0" indent="0" algn="ctr">
              <a:buNone/>
              <a:defRPr sz="28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3688026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2BB9B5CB-6BB1-45BC-9AA7-38BB668B8A3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pictures, 2 headers, and 2 text columns</a:t>
            </a:r>
          </a:p>
        </p:txBody>
      </p:sp>
      <p:sp>
        <p:nvSpPr>
          <p:cNvPr id="22" name="Picture Left">
            <a:extLst>
              <a:ext uri="{FF2B5EF4-FFF2-40B4-BE49-F238E27FC236}">
                <a16:creationId xmlns:a16="http://schemas.microsoft.com/office/drawing/2014/main" id="{D20A7D1A-2EBE-48DA-AE10-ADAE1FC9C413}"/>
              </a:ext>
              <a:ext uri="{C183D7F6-B498-43B3-948B-1728B52AA6E4}">
                <adec:decorative xmlns:adec="http://schemas.microsoft.com/office/drawing/2017/decorative" val="1"/>
              </a:ext>
            </a:extLst>
          </p:cNvPr>
          <p:cNvSpPr>
            <a:spLocks noGrp="1"/>
          </p:cNvSpPr>
          <p:nvPr>
            <p:ph type="pic" idx="22" hasCustomPrompt="1"/>
          </p:nvPr>
        </p:nvSpPr>
        <p:spPr>
          <a:xfrm>
            <a:off x="205740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38144"/>
            <a:ext cx="56692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Left">
            <a:extLst>
              <a:ext uri="{FF2B5EF4-FFF2-40B4-BE49-F238E27FC236}">
                <a16:creationId xmlns:a16="http://schemas.microsoft.com/office/drawing/2014/main" id="{5ACBD598-6775-4223-B2AB-B169A112E3FF}"/>
              </a:ext>
            </a:extLst>
          </p:cNvPr>
          <p:cNvSpPr>
            <a:spLocks noGrp="1"/>
          </p:cNvSpPr>
          <p:nvPr>
            <p:ph idx="3" hasCustomPrompt="1"/>
          </p:nvPr>
        </p:nvSpPr>
        <p:spPr>
          <a:xfrm>
            <a:off x="365760"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Right">
            <a:extLst>
              <a:ext uri="{FF2B5EF4-FFF2-40B4-BE49-F238E27FC236}">
                <a16:creationId xmlns:a16="http://schemas.microsoft.com/office/drawing/2014/main" id="{0FC9A3C9-76CB-45ED-925D-DF04C6D528DC}"/>
              </a:ext>
              <a:ext uri="{C183D7F6-B498-43B3-948B-1728B52AA6E4}">
                <adec:decorative xmlns:adec="http://schemas.microsoft.com/office/drawing/2017/decorative" val="1"/>
              </a:ext>
            </a:extLst>
          </p:cNvPr>
          <p:cNvSpPr>
            <a:spLocks noGrp="1"/>
          </p:cNvSpPr>
          <p:nvPr>
            <p:ph type="pic" idx="23" hasCustomPrompt="1"/>
          </p:nvPr>
        </p:nvSpPr>
        <p:spPr>
          <a:xfrm>
            <a:off x="7891272"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3438144"/>
            <a:ext cx="5669280" cy="440329"/>
          </a:xfrm>
          <a:solidFill>
            <a:schemeClr val="accent1"/>
          </a:solid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7F5B85B9-BABC-44F6-B2AE-99F02670D702}"/>
              </a:ext>
            </a:extLst>
          </p:cNvPr>
          <p:cNvSpPr>
            <a:spLocks noGrp="1"/>
          </p:cNvSpPr>
          <p:nvPr>
            <p:ph idx="4" hasCustomPrompt="1"/>
          </p:nvPr>
        </p:nvSpPr>
        <p:spPr>
          <a:xfrm>
            <a:off x="6163056"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832667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 and 3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62D2B2A-D218-4356-AEF2-F7FF405939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3 text columns</a:t>
            </a:r>
          </a:p>
        </p:txBody>
      </p:sp>
      <p:pic>
        <p:nvPicPr>
          <p:cNvPr id="99" name="Divider">
            <a:extLst>
              <a:ext uri="{FF2B5EF4-FFF2-40B4-BE49-F238E27FC236}">
                <a16:creationId xmlns:a16="http://schemas.microsoft.com/office/drawing/2014/main" id="{7EE2A4FF-27FC-4124-82F8-941EBFCC0E4F}"/>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Middle">
            <a:extLst>
              <a:ext uri="{FF2B5EF4-FFF2-40B4-BE49-F238E27FC236}">
                <a16:creationId xmlns:a16="http://schemas.microsoft.com/office/drawing/2014/main" id="{951E617C-D9F7-4098-883E-6A048DBCF862}"/>
              </a:ext>
            </a:extLst>
          </p:cNvPr>
          <p:cNvSpPr>
            <a:spLocks noGrp="1"/>
          </p:cNvSpPr>
          <p:nvPr>
            <p:ph idx="3" hasCustomPrompt="1"/>
          </p:nvPr>
        </p:nvSpPr>
        <p:spPr>
          <a:xfrm>
            <a:off x="4224528"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Right">
            <a:extLst>
              <a:ext uri="{FF2B5EF4-FFF2-40B4-BE49-F238E27FC236}">
                <a16:creationId xmlns:a16="http://schemas.microsoft.com/office/drawing/2014/main" id="{A8A7CEA5-195D-4DB0-B5A3-06CEEA93C108}"/>
              </a:ext>
            </a:extLst>
          </p:cNvPr>
          <p:cNvSpPr>
            <a:spLocks noGrp="1"/>
          </p:cNvSpPr>
          <p:nvPr>
            <p:ph idx="4" hasCustomPrompt="1"/>
          </p:nvPr>
        </p:nvSpPr>
        <p:spPr>
          <a:xfrm>
            <a:off x="8083296"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47102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 3 Header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472F160-9C3B-4BD6-99BB-267BDD7DD31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headers, and 3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374904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1053311"/>
            <a:ext cx="374904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8083296" y="1053311"/>
            <a:ext cx="374904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8083296" y="1591056"/>
            <a:ext cx="3749040" cy="4843688"/>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5302598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3 Lg Pics, and 3 Headers">
    <p:bg>
      <p:bgPr>
        <a:solidFill>
          <a:schemeClr val="bg1"/>
        </a:solidFill>
        <a:effectLst/>
      </p:bgPr>
    </p:bg>
    <p:spTree>
      <p:nvGrpSpPr>
        <p:cNvPr id="1" name=""/>
        <p:cNvGrpSpPr/>
        <p:nvPr/>
      </p:nvGrpSpPr>
      <p:grpSpPr>
        <a:xfrm>
          <a:off x="0" y="0"/>
          <a:ext cx="0" cy="0"/>
          <a:chOff x="0" y="0"/>
          <a:chExt cx="0" cy="0"/>
        </a:xfrm>
      </p:grpSpPr>
      <p:pic>
        <p:nvPicPr>
          <p:cNvPr id="96" name="Divider">
            <a:extLst>
              <a:ext uri="{FF2B5EF4-FFF2-40B4-BE49-F238E27FC236}">
                <a16:creationId xmlns:a16="http://schemas.microsoft.com/office/drawing/2014/main" id="{07A34186-F2DF-4A02-80D8-2DCF8944E228}"/>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large pictures, and 3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22" hasCustomPrompt="1"/>
          </p:nvPr>
        </p:nvSpPr>
        <p:spPr>
          <a:xfrm>
            <a:off x="1097280"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663440"/>
            <a:ext cx="3749040" cy="440329"/>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Amazon Ember Display"/>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4956048"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4663440"/>
            <a:ext cx="3749040" cy="440329"/>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24" hasCustomPrompt="1"/>
          </p:nvPr>
        </p:nvSpPr>
        <p:spPr>
          <a:xfrm>
            <a:off x="8814816"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083296" y="4663440"/>
            <a:ext cx="3749040" cy="440329"/>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27175455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le, 3 Picture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 and 3 text columns</a:t>
            </a:r>
          </a:p>
        </p:txBody>
      </p:sp>
      <p:pic>
        <p:nvPicPr>
          <p:cNvPr id="99" name="Divider">
            <a:extLst>
              <a:ext uri="{FF2B5EF4-FFF2-40B4-BE49-F238E27FC236}">
                <a16:creationId xmlns:a16="http://schemas.microsoft.com/office/drawing/2014/main" id="{6FD66F17-7724-455C-B925-81DD7A5F769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34278680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Header, 3 Pictures, and 3 Text Label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3 picture, and 3 labels</a:t>
            </a:r>
          </a:p>
        </p:txBody>
      </p:sp>
      <p:pic>
        <p:nvPicPr>
          <p:cNvPr id="99" name="Divider">
            <a:extLst>
              <a:ext uri="{FF2B5EF4-FFF2-40B4-BE49-F238E27FC236}">
                <a16:creationId xmlns:a16="http://schemas.microsoft.com/office/drawing/2014/main" id="{ED3BCD03-2F61-469D-A4B4-1B61BB21D3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Description">
            <a:extLst>
              <a:ext uri="{FF2B5EF4-FFF2-40B4-BE49-F238E27FC236}">
                <a16:creationId xmlns:a16="http://schemas.microsoft.com/office/drawing/2014/main" id="{125C2183-0325-4A52-BF1F-38F8AAFA8B4A}"/>
              </a:ext>
            </a:extLst>
          </p:cNvPr>
          <p:cNvSpPr>
            <a:spLocks noGrp="1"/>
          </p:cNvSpPr>
          <p:nvPr>
            <p:ph type="body" idx="2"/>
          </p:nvPr>
        </p:nvSpPr>
        <p:spPr>
          <a:xfrm>
            <a:off x="365125" y="1084263"/>
            <a:ext cx="11466576" cy="1158011"/>
          </a:xfrm>
        </p:spPr>
        <p:txBody>
          <a:bodyPr/>
          <a:lstStyle>
            <a:lvl1pPr marL="0" indent="0">
              <a:spcAft>
                <a:spcPts val="0"/>
              </a:spcAft>
              <a:buNone/>
              <a:defRPr>
                <a:solidFill>
                  <a:srgbClr val="232F3E"/>
                </a:solidFill>
                <a:latin typeface="+mn-lt"/>
              </a:defRPr>
            </a:lvl1pPr>
            <a:lvl2pPr marL="457200" indent="0">
              <a:buNone/>
              <a:defRPr/>
            </a:lvl2pPr>
          </a:lstStyle>
          <a:p>
            <a:pPr lvl="0"/>
            <a:r>
              <a:rPr lang="en-US"/>
              <a:t>Edit Master text styles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24426408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3 Pic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pictures, and 3 text columns</a:t>
            </a:r>
          </a:p>
        </p:txBody>
      </p:sp>
      <p:pic>
        <p:nvPicPr>
          <p:cNvPr id="99" name="Divider">
            <a:extLst>
              <a:ext uri="{FF2B5EF4-FFF2-40B4-BE49-F238E27FC236}">
                <a16:creationId xmlns:a16="http://schemas.microsoft.com/office/drawing/2014/main" id="{F8C81323-B9A7-416C-ADF9-5BE9CC234E8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3" hasCustomPrompt="1"/>
          </p:nvPr>
        </p:nvSpPr>
        <p:spPr>
          <a:xfrm>
            <a:off x="4956048"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644662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3 Pics, 3 Headers, and 3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747EDC26-917A-4143-823B-A7407C3FC37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1" y="301752"/>
            <a:ext cx="11466576" cy="731318"/>
          </a:xfrm>
        </p:spPr>
        <p:txBody>
          <a:bodyPr/>
          <a:lstStyle>
            <a:lvl1pPr>
              <a:defRPr>
                <a:solidFill>
                  <a:srgbClr val="232F3E"/>
                </a:solidFill>
                <a:latin typeface="Amazon Ember Display Heavy"/>
              </a:defRPr>
            </a:lvl1pPr>
          </a:lstStyle>
          <a:p>
            <a:r>
              <a:rPr lang="en-US" dirty="0"/>
              <a:t>Title, 3 pictures , 3 headers,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29000"/>
            <a:ext cx="374904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3429000"/>
            <a:ext cx="374904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4" name="Content Head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101583" y="3429000"/>
            <a:ext cx="374904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289100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Title, 3 images, and 3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images, and 3 text</a:t>
            </a:r>
          </a:p>
        </p:txBody>
      </p:sp>
      <p:pic>
        <p:nvPicPr>
          <p:cNvPr id="99" name="Divider">
            <a:extLst>
              <a:ext uri="{FF2B5EF4-FFF2-40B4-BE49-F238E27FC236}">
                <a16:creationId xmlns:a16="http://schemas.microsoft.com/office/drawing/2014/main" id="{4A7FD274-6B14-4547-8F81-35EB1030AF5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2" name="Conten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3" y="1147406"/>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3" name="Conten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3" y="291750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4" name="Conten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3" y="468467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10009680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Acronym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Acronym Slide</a:t>
            </a:r>
          </a:p>
        </p:txBody>
      </p:sp>
      <p:pic>
        <p:nvPicPr>
          <p:cNvPr id="99" name="Divider">
            <a:extLst>
              <a:ext uri="{FF2B5EF4-FFF2-40B4-BE49-F238E27FC236}">
                <a16:creationId xmlns:a16="http://schemas.microsoft.com/office/drawing/2014/main" id="{E75453ED-071C-4C2B-B7E5-A670D111A54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8" name="Acronym Left Top">
            <a:extLst>
              <a:ext uri="{FF2B5EF4-FFF2-40B4-BE49-F238E27FC236}">
                <a16:creationId xmlns:a16="http://schemas.microsoft.com/office/drawing/2014/main" id="{BFBAFEAE-54DC-4352-A240-FBA7A523B7F4}"/>
              </a:ext>
            </a:extLst>
          </p:cNvPr>
          <p:cNvSpPr>
            <a:spLocks noGrp="1"/>
          </p:cNvSpPr>
          <p:nvPr>
            <p:ph type="body" idx="8" hasCustomPrompt="1"/>
          </p:nvPr>
        </p:nvSpPr>
        <p:spPr>
          <a:xfrm>
            <a:off x="353060"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2" name="Content Lef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94163" y="1096963"/>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233363" indent="0">
              <a:lnSpc>
                <a:spcPct val="100000"/>
              </a:lnSpc>
              <a:spcBef>
                <a:spcPts val="300"/>
              </a:spcBef>
              <a:spcAft>
                <a:spcPts val="600"/>
              </a:spcAft>
              <a:buNone/>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9" name="Acronym Left Middle">
            <a:extLst>
              <a:ext uri="{FF2B5EF4-FFF2-40B4-BE49-F238E27FC236}">
                <a16:creationId xmlns:a16="http://schemas.microsoft.com/office/drawing/2014/main" id="{DF521447-4E72-4F87-B8F3-0A9998B3AC50}"/>
              </a:ext>
            </a:extLst>
          </p:cNvPr>
          <p:cNvSpPr>
            <a:spLocks noGrp="1"/>
          </p:cNvSpPr>
          <p:nvPr>
            <p:ph type="body" idx="9" hasCustomPrompt="1"/>
          </p:nvPr>
        </p:nvSpPr>
        <p:spPr>
          <a:xfrm>
            <a:off x="353060"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3" name="Content Lef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94163"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0" name="Acronym Left Bottom">
            <a:extLst>
              <a:ext uri="{FF2B5EF4-FFF2-40B4-BE49-F238E27FC236}">
                <a16:creationId xmlns:a16="http://schemas.microsoft.com/office/drawing/2014/main" id="{1A869D27-DAC1-4525-9F52-0E454C69A2CC}"/>
              </a:ext>
            </a:extLst>
          </p:cNvPr>
          <p:cNvSpPr>
            <a:spLocks noGrp="1"/>
          </p:cNvSpPr>
          <p:nvPr>
            <p:ph type="body" idx="10" hasCustomPrompt="1"/>
          </p:nvPr>
        </p:nvSpPr>
        <p:spPr>
          <a:xfrm>
            <a:off x="353060"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4" name="Content Lef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94163"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1" name="Acronym Right Top">
            <a:extLst>
              <a:ext uri="{FF2B5EF4-FFF2-40B4-BE49-F238E27FC236}">
                <a16:creationId xmlns:a16="http://schemas.microsoft.com/office/drawing/2014/main" id="{9837C0E6-DDD2-4E65-9314-88432234A7B2}"/>
              </a:ext>
            </a:extLst>
          </p:cNvPr>
          <p:cNvSpPr>
            <a:spLocks noGrp="1"/>
          </p:cNvSpPr>
          <p:nvPr>
            <p:ph type="body" idx="11" hasCustomPrompt="1"/>
          </p:nvPr>
        </p:nvSpPr>
        <p:spPr>
          <a:xfrm>
            <a:off x="6162412"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5" name="Content Right Top">
            <a:extLst>
              <a:ext uri="{FF2B5EF4-FFF2-40B4-BE49-F238E27FC236}">
                <a16:creationId xmlns:a16="http://schemas.microsoft.com/office/drawing/2014/main" id="{90BB8441-20A6-4797-B4CD-C5446F55BFC4}"/>
              </a:ext>
            </a:extLst>
          </p:cNvPr>
          <p:cNvSpPr>
            <a:spLocks noGrp="1"/>
          </p:cNvSpPr>
          <p:nvPr>
            <p:ph type="body" idx="5" hasCustomPrompt="1"/>
          </p:nvPr>
        </p:nvSpPr>
        <p:spPr>
          <a:xfrm>
            <a:off x="7991878" y="1096963"/>
            <a:ext cx="3840480" cy="1737360"/>
          </a:xfrm>
        </p:spPr>
        <p:txBody>
          <a:bodyPr anchor="ctr">
            <a:noAutofit/>
          </a:bodyPr>
          <a:lstStyle>
            <a:lvl1pPr marL="0" indent="0" algn="l" defTabSz="914400" rtl="0" eaLnBrk="1" latinLnBrk="0" hangingPunct="1">
              <a:lnSpc>
                <a:spcPct val="100000"/>
              </a:lnSpc>
              <a:spcBef>
                <a:spcPts val="0"/>
              </a:spcBef>
              <a:spcAft>
                <a:spcPts val="300"/>
              </a:spcAft>
              <a:buFont typeface="Amazon Ember Display"/>
              <a:buNone/>
              <a:defRPr lang="en-US" sz="2000" kern="1200" dirty="0">
                <a:solidFill>
                  <a:srgbClr val="232F3E"/>
                </a:solidFill>
                <a:latin typeface="Amazon Ember Display"/>
                <a:ea typeface="+mn-ea"/>
                <a:cs typeface="+mn-cs"/>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4" name="Acronym Right Middle">
            <a:extLst>
              <a:ext uri="{FF2B5EF4-FFF2-40B4-BE49-F238E27FC236}">
                <a16:creationId xmlns:a16="http://schemas.microsoft.com/office/drawing/2014/main" id="{92570328-F506-4FC2-AE2B-53186B9CA0BF}"/>
              </a:ext>
            </a:extLst>
          </p:cNvPr>
          <p:cNvSpPr>
            <a:spLocks noGrp="1"/>
          </p:cNvSpPr>
          <p:nvPr>
            <p:ph type="body" idx="12" hasCustomPrompt="1"/>
          </p:nvPr>
        </p:nvSpPr>
        <p:spPr>
          <a:xfrm>
            <a:off x="6162412"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6" name="Content Right Middle">
            <a:extLst>
              <a:ext uri="{FF2B5EF4-FFF2-40B4-BE49-F238E27FC236}">
                <a16:creationId xmlns:a16="http://schemas.microsoft.com/office/drawing/2014/main" id="{0FAE0B8A-BC98-4464-9C65-3A47B0A5EACB}"/>
              </a:ext>
            </a:extLst>
          </p:cNvPr>
          <p:cNvSpPr>
            <a:spLocks noGrp="1"/>
          </p:cNvSpPr>
          <p:nvPr>
            <p:ph type="body" idx="6" hasCustomPrompt="1"/>
          </p:nvPr>
        </p:nvSpPr>
        <p:spPr>
          <a:xfrm>
            <a:off x="7991878"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3" name="Acronym Right Bottom">
            <a:extLst>
              <a:ext uri="{FF2B5EF4-FFF2-40B4-BE49-F238E27FC236}">
                <a16:creationId xmlns:a16="http://schemas.microsoft.com/office/drawing/2014/main" id="{724B4804-F3F3-4B62-A0EC-A77D95C244CD}"/>
              </a:ext>
            </a:extLst>
          </p:cNvPr>
          <p:cNvSpPr>
            <a:spLocks noGrp="1"/>
          </p:cNvSpPr>
          <p:nvPr>
            <p:ph type="body" idx="13" hasCustomPrompt="1"/>
          </p:nvPr>
        </p:nvSpPr>
        <p:spPr>
          <a:xfrm>
            <a:off x="6162412"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7" name="Content Right Bottom">
            <a:extLst>
              <a:ext uri="{FF2B5EF4-FFF2-40B4-BE49-F238E27FC236}">
                <a16:creationId xmlns:a16="http://schemas.microsoft.com/office/drawing/2014/main" id="{30387F87-E08F-4DED-BCEC-437402769732}"/>
              </a:ext>
            </a:extLst>
          </p:cNvPr>
          <p:cNvSpPr>
            <a:spLocks noGrp="1"/>
          </p:cNvSpPr>
          <p:nvPr>
            <p:ph type="body" idx="7" hasCustomPrompt="1"/>
          </p:nvPr>
        </p:nvSpPr>
        <p:spPr>
          <a:xfrm>
            <a:off x="7991878"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Tree>
    <p:custDataLst>
      <p:tags r:id="rId1"/>
    </p:custDataLst>
    <p:extLst>
      <p:ext uri="{BB962C8B-B14F-4D97-AF65-F5344CB8AC3E}">
        <p14:creationId xmlns:p14="http://schemas.microsoft.com/office/powerpoint/2010/main" val="6257010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6 images, and 6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6 images, and 6 text boxes</a:t>
            </a:r>
          </a:p>
        </p:txBody>
      </p:sp>
      <p:pic>
        <p:nvPicPr>
          <p:cNvPr id="99" name="Divider">
            <a:extLst>
              <a:ext uri="{FF2B5EF4-FFF2-40B4-BE49-F238E27FC236}">
                <a16:creationId xmlns:a16="http://schemas.microsoft.com/office/drawing/2014/main" id="{D8CEDAC6-2953-4473-BCFC-2357BFF2845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2" name="Content L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4"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L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3" name="Content L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4"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L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4" name="Content L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4"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5" name="Picture R Top">
            <a:extLst>
              <a:ext uri="{FF2B5EF4-FFF2-40B4-BE49-F238E27FC236}">
                <a16:creationId xmlns:a16="http://schemas.microsoft.com/office/drawing/2014/main" id="{2537EBA4-2DD0-426E-A66E-7F0CC3C9A863}"/>
              </a:ext>
              <a:ext uri="{C183D7F6-B498-43B3-948B-1728B52AA6E4}">
                <adec:decorative xmlns:adec="http://schemas.microsoft.com/office/drawing/2017/decorative" val="1"/>
              </a:ext>
            </a:extLst>
          </p:cNvPr>
          <p:cNvSpPr>
            <a:spLocks noGrp="1"/>
          </p:cNvSpPr>
          <p:nvPr>
            <p:ph type="pic" idx="25" hasCustomPrompt="1"/>
          </p:nvPr>
        </p:nvSpPr>
        <p:spPr>
          <a:xfrm>
            <a:off x="6205152"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5" name="Content R Top">
            <a:extLst>
              <a:ext uri="{FF2B5EF4-FFF2-40B4-BE49-F238E27FC236}">
                <a16:creationId xmlns:a16="http://schemas.microsoft.com/office/drawing/2014/main" id="{3124324C-4E3B-473E-85DD-0988B7B4CD52}"/>
              </a:ext>
            </a:extLst>
          </p:cNvPr>
          <p:cNvSpPr>
            <a:spLocks noGrp="1"/>
          </p:cNvSpPr>
          <p:nvPr>
            <p:ph type="body" idx="5" hasCustomPrompt="1"/>
          </p:nvPr>
        </p:nvSpPr>
        <p:spPr>
          <a:xfrm>
            <a:off x="7884436"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6" name="Picture R Middle">
            <a:extLst>
              <a:ext uri="{FF2B5EF4-FFF2-40B4-BE49-F238E27FC236}">
                <a16:creationId xmlns:a16="http://schemas.microsoft.com/office/drawing/2014/main" id="{C2DF48EF-CB9B-4DEC-A978-BD4C5E8A371A}"/>
              </a:ext>
              <a:ext uri="{C183D7F6-B498-43B3-948B-1728B52AA6E4}">
                <adec:decorative xmlns:adec="http://schemas.microsoft.com/office/drawing/2017/decorative" val="1"/>
              </a:ext>
            </a:extLst>
          </p:cNvPr>
          <p:cNvSpPr>
            <a:spLocks noGrp="1"/>
          </p:cNvSpPr>
          <p:nvPr>
            <p:ph type="pic" idx="26" hasCustomPrompt="1"/>
          </p:nvPr>
        </p:nvSpPr>
        <p:spPr>
          <a:xfrm>
            <a:off x="6205152"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6" name="Content R Middle">
            <a:extLst>
              <a:ext uri="{FF2B5EF4-FFF2-40B4-BE49-F238E27FC236}">
                <a16:creationId xmlns:a16="http://schemas.microsoft.com/office/drawing/2014/main" id="{823555B5-F2D8-4708-8578-06784CA9E686}"/>
              </a:ext>
            </a:extLst>
          </p:cNvPr>
          <p:cNvSpPr>
            <a:spLocks noGrp="1"/>
          </p:cNvSpPr>
          <p:nvPr>
            <p:ph type="body" idx="6" hasCustomPrompt="1"/>
          </p:nvPr>
        </p:nvSpPr>
        <p:spPr>
          <a:xfrm>
            <a:off x="7884436"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7" name="Picture R Bottom">
            <a:extLst>
              <a:ext uri="{FF2B5EF4-FFF2-40B4-BE49-F238E27FC236}">
                <a16:creationId xmlns:a16="http://schemas.microsoft.com/office/drawing/2014/main" id="{F1E0B4C9-22CB-4378-B9DD-C97CC3CC37D3}"/>
              </a:ext>
              <a:ext uri="{C183D7F6-B498-43B3-948B-1728B52AA6E4}">
                <adec:decorative xmlns:adec="http://schemas.microsoft.com/office/drawing/2017/decorative" val="1"/>
              </a:ext>
            </a:extLst>
          </p:cNvPr>
          <p:cNvSpPr>
            <a:spLocks noGrp="1"/>
          </p:cNvSpPr>
          <p:nvPr>
            <p:ph type="pic" idx="27" hasCustomPrompt="1"/>
          </p:nvPr>
        </p:nvSpPr>
        <p:spPr>
          <a:xfrm>
            <a:off x="6205152"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7" name="Content R Bottom">
            <a:extLst>
              <a:ext uri="{FF2B5EF4-FFF2-40B4-BE49-F238E27FC236}">
                <a16:creationId xmlns:a16="http://schemas.microsoft.com/office/drawing/2014/main" id="{B8A01145-54CF-4ED7-86C7-2C5968A8E4E9}"/>
              </a:ext>
            </a:extLst>
          </p:cNvPr>
          <p:cNvSpPr>
            <a:spLocks noGrp="1"/>
          </p:cNvSpPr>
          <p:nvPr>
            <p:ph type="body" idx="7" hasCustomPrompt="1"/>
          </p:nvPr>
        </p:nvSpPr>
        <p:spPr>
          <a:xfrm>
            <a:off x="7884436"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35320743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5FE023F-03C4-484F-A300-E408B4FEB8E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4 content columns</a:t>
            </a:r>
          </a:p>
        </p:txBody>
      </p:sp>
      <p:pic>
        <p:nvPicPr>
          <p:cNvPr id="99" name="Divider">
            <a:extLst>
              <a:ext uri="{FF2B5EF4-FFF2-40B4-BE49-F238E27FC236}">
                <a16:creationId xmlns:a16="http://schemas.microsoft.com/office/drawing/2014/main" id="{DA5B3212-A91F-4308-A973-316F80A6A0B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type="body" idx="2" hasCustomPrompt="1"/>
          </p:nvPr>
        </p:nvSpPr>
        <p:spPr>
          <a:xfrm>
            <a:off x="365760"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Center Left">
            <a:extLst>
              <a:ext uri="{FF2B5EF4-FFF2-40B4-BE49-F238E27FC236}">
                <a16:creationId xmlns:a16="http://schemas.microsoft.com/office/drawing/2014/main" id="{951E617C-D9F7-4098-883E-6A048DBCF862}"/>
              </a:ext>
            </a:extLst>
          </p:cNvPr>
          <p:cNvSpPr>
            <a:spLocks noGrp="1"/>
          </p:cNvSpPr>
          <p:nvPr>
            <p:ph type="body" idx="3" hasCustomPrompt="1"/>
          </p:nvPr>
        </p:nvSpPr>
        <p:spPr>
          <a:xfrm>
            <a:off x="3258312"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Center Right">
            <a:extLst>
              <a:ext uri="{FF2B5EF4-FFF2-40B4-BE49-F238E27FC236}">
                <a16:creationId xmlns:a16="http://schemas.microsoft.com/office/drawing/2014/main" id="{A8A7CEA5-195D-4DB0-B5A3-06CEEA93C108}"/>
              </a:ext>
            </a:extLst>
          </p:cNvPr>
          <p:cNvSpPr>
            <a:spLocks noGrp="1"/>
          </p:cNvSpPr>
          <p:nvPr>
            <p:ph type="body" idx="4" hasCustomPrompt="1"/>
          </p:nvPr>
        </p:nvSpPr>
        <p:spPr>
          <a:xfrm>
            <a:off x="6150864"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Right">
            <a:extLst>
              <a:ext uri="{FF2B5EF4-FFF2-40B4-BE49-F238E27FC236}">
                <a16:creationId xmlns:a16="http://schemas.microsoft.com/office/drawing/2014/main" id="{BC11431A-8924-465C-98E0-6E4655C69AA7}"/>
              </a:ext>
            </a:extLst>
          </p:cNvPr>
          <p:cNvSpPr>
            <a:spLocks noGrp="1"/>
          </p:cNvSpPr>
          <p:nvPr>
            <p:ph type="body" idx="5" hasCustomPrompt="1"/>
          </p:nvPr>
        </p:nvSpPr>
        <p:spPr>
          <a:xfrm>
            <a:off x="9043416"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3985460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reserve="1">
  <p:cSld name="Title, 4 Header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01112C1-CB8D-4535-B2A1-5048E573106F}"/>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headers, and 4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4408"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Center Left">
            <a:extLst>
              <a:ext uri="{FF2B5EF4-FFF2-40B4-BE49-F238E27FC236}">
                <a16:creationId xmlns:a16="http://schemas.microsoft.com/office/drawing/2014/main" id="{7F5B85B9-BABC-44F6-B2AE-99F02670D702}"/>
              </a:ext>
            </a:extLst>
          </p:cNvPr>
          <p:cNvSpPr>
            <a:spLocks noGrp="1"/>
          </p:cNvSpPr>
          <p:nvPr>
            <p:ph type="body" idx="3" hasCustomPrompt="1"/>
          </p:nvPr>
        </p:nvSpPr>
        <p:spPr>
          <a:xfrm>
            <a:off x="3264408"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Cent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6163056"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6163056"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5" name="Content Header Right">
            <a:extLst>
              <a:ext uri="{FF2B5EF4-FFF2-40B4-BE49-F238E27FC236}">
                <a16:creationId xmlns:a16="http://schemas.microsoft.com/office/drawing/2014/main" id="{ED932AC6-C3A8-487A-A17E-48D0C368204C}"/>
              </a:ext>
            </a:extLst>
          </p:cNvPr>
          <p:cNvSpPr>
            <a:spLocks noGrp="1"/>
          </p:cNvSpPr>
          <p:nvPr>
            <p:ph type="body" idx="15" hasCustomPrompt="1"/>
          </p:nvPr>
        </p:nvSpPr>
        <p:spPr>
          <a:xfrm>
            <a:off x="9061704"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7CF59EA0-9039-4A19-8197-DA073A0DB52B}"/>
              </a:ext>
            </a:extLst>
          </p:cNvPr>
          <p:cNvSpPr>
            <a:spLocks noGrp="1"/>
          </p:cNvSpPr>
          <p:nvPr>
            <p:ph type="body" idx="5" hasCustomPrompt="1"/>
          </p:nvPr>
        </p:nvSpPr>
        <p:spPr>
          <a:xfrm>
            <a:off x="9061704"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501295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Header, 4 Lg Pic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7"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4 large pictures, and 4 labels</a:t>
            </a:r>
          </a:p>
        </p:txBody>
      </p:sp>
      <p:pic>
        <p:nvPicPr>
          <p:cNvPr id="99" name="Divider">
            <a:extLst>
              <a:ext uri="{FF2B5EF4-FFF2-40B4-BE49-F238E27FC236}">
                <a16:creationId xmlns:a16="http://schemas.microsoft.com/office/drawing/2014/main" id="{59FB098F-E843-4BDC-8C23-7C327B2DE964}"/>
              </a:ext>
              <a:ext uri="{C183D7F6-B498-43B3-948B-1728B52AA6E4}">
                <adec:decorative xmlns:adec="http://schemas.microsoft.com/office/drawing/2017/decorative" val="1"/>
              </a:ext>
            </a:extLst>
          </p:cNvPr>
          <p:cNvPicPr preferRelativeResize="0">
            <a:picLocks/>
          </p:cNvPicPr>
          <p:nvPr/>
        </p:nvPicPr>
        <p:blipFill rotWithShape="1">
          <a:blip r:embed="rId3">
            <a:extLst>
              <a:ext uri="{28A0092B-C50C-407E-A947-70E740481C1C}">
                <a14:useLocalDpi xmlns:a14="http://schemas.microsoft.com/office/drawing/2010/main" val="0"/>
              </a:ext>
            </a:extLst>
          </a:blip>
          <a:srcRect/>
          <a:stretch/>
        </p:blipFill>
        <p:spPr>
          <a:xfrm>
            <a:off x="365760" y="1037751"/>
            <a:ext cx="11466576" cy="45719"/>
          </a:xfrm>
          <a:prstGeom prst="rect">
            <a:avLst/>
          </a:prstGeom>
        </p:spPr>
      </p:pic>
      <p:sp>
        <p:nvSpPr>
          <p:cNvPr id="2" name="Content Top">
            <a:extLst>
              <a:ext uri="{FF2B5EF4-FFF2-40B4-BE49-F238E27FC236}">
                <a16:creationId xmlns:a16="http://schemas.microsoft.com/office/drawing/2014/main" id="{CEBB69C5-28A4-4F99-A9FE-572F9D53CF4E}"/>
              </a:ext>
            </a:extLst>
          </p:cNvPr>
          <p:cNvSpPr>
            <a:spLocks noGrp="1"/>
          </p:cNvSpPr>
          <p:nvPr>
            <p:ph type="body" idx="2" hasCustomPrompt="1"/>
          </p:nvPr>
        </p:nvSpPr>
        <p:spPr>
          <a:xfrm>
            <a:off x="365760" y="1046879"/>
            <a:ext cx="11466576" cy="1099688"/>
          </a:xfrm>
          <a:noFill/>
          <a:ln>
            <a:noFill/>
          </a:ln>
        </p:spPr>
        <p:txBody>
          <a:bodyPr lIns="91440" anchor="ctr">
            <a:normAutofit/>
          </a:bodyPr>
          <a:lstStyle>
            <a:lvl1pPr marL="0" indent="0">
              <a:lnSpc>
                <a:spcPct val="100000"/>
              </a:lnSpc>
              <a:spcBef>
                <a:spcPts val="0"/>
              </a:spcBef>
              <a:spcAft>
                <a:spcPts val="0"/>
              </a:spcAft>
              <a:buNone/>
              <a:defRPr sz="28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38603"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5ACBD598-6775-4223-B2AB-B169A112E3FF}"/>
              </a:ext>
            </a:extLst>
          </p:cNvPr>
          <p:cNvSpPr>
            <a:spLocks noGrp="1"/>
          </p:cNvSpPr>
          <p:nvPr>
            <p:ph type="body" idx="3" hasCustomPrompt="1"/>
          </p:nvPr>
        </p:nvSpPr>
        <p:spPr>
          <a:xfrm>
            <a:off x="365760"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37251"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4" name="Content Center Left">
            <a:extLst>
              <a:ext uri="{FF2B5EF4-FFF2-40B4-BE49-F238E27FC236}">
                <a16:creationId xmlns:a16="http://schemas.microsoft.com/office/drawing/2014/main" id="{7F5B85B9-BABC-44F6-B2AE-99F02670D702}"/>
              </a:ext>
            </a:extLst>
          </p:cNvPr>
          <p:cNvSpPr>
            <a:spLocks noGrp="1"/>
          </p:cNvSpPr>
          <p:nvPr>
            <p:ph type="body" idx="4" hasCustomPrompt="1"/>
          </p:nvPr>
        </p:nvSpPr>
        <p:spPr>
          <a:xfrm>
            <a:off x="3264408"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35899"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5" name="Content Center Right">
            <a:extLst>
              <a:ext uri="{FF2B5EF4-FFF2-40B4-BE49-F238E27FC236}">
                <a16:creationId xmlns:a16="http://schemas.microsoft.com/office/drawing/2014/main" id="{FD28CF85-103D-4AC7-BF7A-D32715F9433A}"/>
              </a:ext>
            </a:extLst>
          </p:cNvPr>
          <p:cNvSpPr>
            <a:spLocks noGrp="1"/>
          </p:cNvSpPr>
          <p:nvPr>
            <p:ph type="body" idx="5" hasCustomPrompt="1"/>
          </p:nvPr>
        </p:nvSpPr>
        <p:spPr>
          <a:xfrm>
            <a:off x="616305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334547"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6" name="Content Right">
            <a:extLst>
              <a:ext uri="{FF2B5EF4-FFF2-40B4-BE49-F238E27FC236}">
                <a16:creationId xmlns:a16="http://schemas.microsoft.com/office/drawing/2014/main" id="{528A167E-DBEB-4BD8-B32A-B1DBF78AA248}"/>
              </a:ext>
            </a:extLst>
          </p:cNvPr>
          <p:cNvSpPr>
            <a:spLocks noGrp="1"/>
          </p:cNvSpPr>
          <p:nvPr>
            <p:ph type="body" idx="6" hasCustomPrompt="1"/>
          </p:nvPr>
        </p:nvSpPr>
        <p:spPr>
          <a:xfrm>
            <a:off x="904341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Tree>
    <p:custDataLst>
      <p:tags r:id="rId1"/>
    </p:custDataLst>
    <p:extLst>
      <p:ext uri="{BB962C8B-B14F-4D97-AF65-F5344CB8AC3E}">
        <p14:creationId xmlns:p14="http://schemas.microsoft.com/office/powerpoint/2010/main" val="16930579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4 Lg Pics, 4 Headers, and 4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B4D28540-5567-49EC-BB23-4B27A199DFB1}"/>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pictures, 4 headers, and 4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172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128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1360"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Left Center">
            <a:extLst>
              <a:ext uri="{FF2B5EF4-FFF2-40B4-BE49-F238E27FC236}">
                <a16:creationId xmlns:a16="http://schemas.microsoft.com/office/drawing/2014/main" id="{8F2CF915-F007-4E72-A31F-37CC3AA65001}"/>
              </a:ext>
            </a:extLst>
          </p:cNvPr>
          <p:cNvSpPr>
            <a:spLocks noGrp="1"/>
          </p:cNvSpPr>
          <p:nvPr>
            <p:ph type="body" idx="3" hasCustomPrompt="1"/>
          </p:nvPr>
        </p:nvSpPr>
        <p:spPr>
          <a:xfrm>
            <a:off x="32613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145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63057"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6C78D37F-DE17-4FBA-A995-39FC21020DD5}"/>
              </a:ext>
            </a:extLst>
          </p:cNvPr>
          <p:cNvSpPr>
            <a:spLocks noGrp="1"/>
          </p:cNvSpPr>
          <p:nvPr>
            <p:ph type="body" idx="4" hasCustomPrompt="1"/>
          </p:nvPr>
        </p:nvSpPr>
        <p:spPr>
          <a:xfrm>
            <a:off x="6163057"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29487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B17A76EF-1D7E-4BB9-BAFA-8EAA0807E356}"/>
              </a:ext>
            </a:extLst>
          </p:cNvPr>
          <p:cNvSpPr>
            <a:spLocks noGrp="1"/>
          </p:cNvSpPr>
          <p:nvPr>
            <p:ph type="subTitle" idx="15" hasCustomPrompt="1"/>
          </p:nvPr>
        </p:nvSpPr>
        <p:spPr>
          <a:xfrm>
            <a:off x="9043416"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27E7417F-ED15-4B52-BEED-6B9D37EE656E}"/>
              </a:ext>
            </a:extLst>
          </p:cNvPr>
          <p:cNvSpPr>
            <a:spLocks noGrp="1"/>
          </p:cNvSpPr>
          <p:nvPr>
            <p:ph type="body" idx="5" hasCustomPrompt="1"/>
          </p:nvPr>
        </p:nvSpPr>
        <p:spPr>
          <a:xfrm>
            <a:off x="9043416"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32552628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Title, 4 Sm Pics, 4 Headers, and 4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B776EBEE-87DA-49C8-A876-AA9E9DCA162E}"/>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61D9C16A-E9FD-4A2D-A4D2-A79A6CA8EB58}"/>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4 small pictures, 4 headers, and 4 text fields</a:t>
            </a:r>
          </a:p>
        </p:txBody>
      </p:sp>
      <p:sp>
        <p:nvSpPr>
          <p:cNvPr id="22" name="Picture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845820"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65760"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65760"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3" name="Picture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738372"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58312"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58312"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4" name="Picture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630924"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50864"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50864"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5" name="Picture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23476"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43416"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43416"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409866848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Title, 4 Lg Pics,and 4 Headers">
    <p:bg>
      <p:bgPr>
        <a:solidFill>
          <a:schemeClr val="bg1"/>
        </a:solidFill>
        <a:effectLst/>
      </p:bgPr>
    </p:bg>
    <p:spTree>
      <p:nvGrpSpPr>
        <p:cNvPr id="1" name=""/>
        <p:cNvGrpSpPr/>
        <p:nvPr/>
      </p:nvGrpSpPr>
      <p:grpSpPr>
        <a:xfrm>
          <a:off x="0" y="0"/>
          <a:ext cx="0" cy="0"/>
          <a:chOff x="0" y="0"/>
          <a:chExt cx="0" cy="0"/>
        </a:xfrm>
      </p:grpSpPr>
      <p:pic>
        <p:nvPicPr>
          <p:cNvPr id="96" name="Divider">
            <a:extLst>
              <a:ext uri="{FF2B5EF4-FFF2-40B4-BE49-F238E27FC236}">
                <a16:creationId xmlns:a16="http://schemas.microsoft.com/office/drawing/2014/main" id="{F6D00736-4E44-4617-83F3-B5A93F28ED8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large pictures, and 4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365760"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258312"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58312"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150864"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50864"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043416"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Right">
            <a:extLst>
              <a:ext uri="{FF2B5EF4-FFF2-40B4-BE49-F238E27FC236}">
                <a16:creationId xmlns:a16="http://schemas.microsoft.com/office/drawing/2014/main" id="{B17A76EF-1D7E-4BB9-BAFA-8EAA0807E356}"/>
              </a:ext>
            </a:extLst>
          </p:cNvPr>
          <p:cNvSpPr>
            <a:spLocks noGrp="1"/>
          </p:cNvSpPr>
          <p:nvPr>
            <p:ph type="body" idx="15" hasCustomPrompt="1"/>
          </p:nvPr>
        </p:nvSpPr>
        <p:spPr>
          <a:xfrm>
            <a:off x="9043416"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16805585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Title, 6 Pics, and 6 Text Box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5E62986-2CB5-4C74-BFA0-36B722DD63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36A79036-863F-433F-8D16-845BBBCE41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1 text box, 6 Images, and 6 text boxes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151638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83058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3" name="Picture Top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518160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3" name="Content Top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449580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4" name="Picture Top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8852916"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Top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8167116"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5" name="Picture Bottom Lef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151638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5" name="Content Bottom Lef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83058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6" name="Picture Bottom Center">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518160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Bottom Center">
            <a:extLst>
              <a:ext uri="{FF2B5EF4-FFF2-40B4-BE49-F238E27FC236}">
                <a16:creationId xmlns:a16="http://schemas.microsoft.com/office/drawing/2014/main" id="{4D93D3AB-1EE8-404D-9F8C-ED6967836914}"/>
              </a:ext>
            </a:extLst>
          </p:cNvPr>
          <p:cNvSpPr>
            <a:spLocks noGrp="1"/>
          </p:cNvSpPr>
          <p:nvPr>
            <p:ph type="body" idx="6" hasCustomPrompt="1"/>
          </p:nvPr>
        </p:nvSpPr>
        <p:spPr>
          <a:xfrm>
            <a:off x="449580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7" name="Picture Bottom Right">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8852916"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7" name="Content Bottom Right">
            <a:extLst>
              <a:ext uri="{FF2B5EF4-FFF2-40B4-BE49-F238E27FC236}">
                <a16:creationId xmlns:a16="http://schemas.microsoft.com/office/drawing/2014/main" id="{E00DC7A1-D213-4110-B8F7-671693ED3BA2}"/>
              </a:ext>
            </a:extLst>
          </p:cNvPr>
          <p:cNvSpPr>
            <a:spLocks noGrp="1"/>
          </p:cNvSpPr>
          <p:nvPr>
            <p:ph type="body" idx="7" hasCustomPrompt="1"/>
          </p:nvPr>
        </p:nvSpPr>
        <p:spPr>
          <a:xfrm>
            <a:off x="8167116"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158684019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Title and 8 pictur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6549563-E04B-4657-8321-4C6934FCD32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E705BC3-4D3C-4BF3-801C-BFF823D8CAA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8 pictures</a:t>
            </a:r>
          </a:p>
        </p:txBody>
      </p:sp>
      <p:sp>
        <p:nvSpPr>
          <p:cNvPr id="22" name="Picture 1">
            <a:extLst>
              <a:ext uri="{FF2B5EF4-FFF2-40B4-BE49-F238E27FC236}">
                <a16:creationId xmlns:a16="http://schemas.microsoft.com/office/drawing/2014/main" id="{01E0569B-0304-4CF2-95FE-74EEAC9AEC38}"/>
              </a:ext>
              <a:ext uri="{C183D7F6-B498-43B3-948B-1728B52AA6E4}">
                <adec:decorative xmlns:adec="http://schemas.microsoft.com/office/drawing/2017/decorative" val="1"/>
              </a:ext>
            </a:extLst>
          </p:cNvPr>
          <p:cNvSpPr>
            <a:spLocks noGrp="1"/>
          </p:cNvSpPr>
          <p:nvPr>
            <p:ph type="pic" idx="22" hasCustomPrompt="1"/>
          </p:nvPr>
        </p:nvSpPr>
        <p:spPr>
          <a:xfrm>
            <a:off x="640080"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3" name="Picture 2">
            <a:extLst>
              <a:ext uri="{FF2B5EF4-FFF2-40B4-BE49-F238E27FC236}">
                <a16:creationId xmlns:a16="http://schemas.microsoft.com/office/drawing/2014/main" id="{4E39BCC2-7E6B-49A6-88A7-4389D0876599}"/>
              </a:ext>
              <a:ext uri="{C183D7F6-B498-43B3-948B-1728B52AA6E4}">
                <adec:decorative xmlns:adec="http://schemas.microsoft.com/office/drawing/2017/decorative" val="1"/>
              </a:ext>
            </a:extLst>
          </p:cNvPr>
          <p:cNvSpPr>
            <a:spLocks noGrp="1"/>
          </p:cNvSpPr>
          <p:nvPr>
            <p:ph type="pic" idx="23" hasCustomPrompt="1"/>
          </p:nvPr>
        </p:nvSpPr>
        <p:spPr>
          <a:xfrm>
            <a:off x="3517392"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4" name="Picture 3">
            <a:extLst>
              <a:ext uri="{FF2B5EF4-FFF2-40B4-BE49-F238E27FC236}">
                <a16:creationId xmlns:a16="http://schemas.microsoft.com/office/drawing/2014/main" id="{292A7B23-5883-4A03-AA9E-D7887267A0B5}"/>
              </a:ext>
              <a:ext uri="{C183D7F6-B498-43B3-948B-1728B52AA6E4}">
                <adec:decorative xmlns:adec="http://schemas.microsoft.com/office/drawing/2017/decorative" val="1"/>
              </a:ext>
            </a:extLst>
          </p:cNvPr>
          <p:cNvSpPr>
            <a:spLocks noGrp="1"/>
          </p:cNvSpPr>
          <p:nvPr>
            <p:ph type="pic" idx="24" hasCustomPrompt="1"/>
          </p:nvPr>
        </p:nvSpPr>
        <p:spPr>
          <a:xfrm>
            <a:off x="6394704"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5" name="Picture 4">
            <a:extLst>
              <a:ext uri="{FF2B5EF4-FFF2-40B4-BE49-F238E27FC236}">
                <a16:creationId xmlns:a16="http://schemas.microsoft.com/office/drawing/2014/main" id="{871FBC72-3D16-49CE-BD02-AD416196D37A}"/>
              </a:ext>
              <a:ext uri="{C183D7F6-B498-43B3-948B-1728B52AA6E4}">
                <adec:decorative xmlns:adec="http://schemas.microsoft.com/office/drawing/2017/decorative" val="1"/>
              </a:ext>
            </a:extLst>
          </p:cNvPr>
          <p:cNvSpPr>
            <a:spLocks noGrp="1"/>
          </p:cNvSpPr>
          <p:nvPr>
            <p:ph type="pic" idx="25" hasCustomPrompt="1"/>
          </p:nvPr>
        </p:nvSpPr>
        <p:spPr>
          <a:xfrm>
            <a:off x="9272016"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6" name="Picture 5">
            <a:extLst>
              <a:ext uri="{FF2B5EF4-FFF2-40B4-BE49-F238E27FC236}">
                <a16:creationId xmlns:a16="http://schemas.microsoft.com/office/drawing/2014/main" id="{CCC335E7-FA18-44DB-ACBC-F2DABE9FB384}"/>
              </a:ext>
              <a:ext uri="{C183D7F6-B498-43B3-948B-1728B52AA6E4}">
                <adec:decorative xmlns:adec="http://schemas.microsoft.com/office/drawing/2017/decorative" val="1"/>
              </a:ext>
            </a:extLst>
          </p:cNvPr>
          <p:cNvSpPr>
            <a:spLocks noGrp="1"/>
          </p:cNvSpPr>
          <p:nvPr>
            <p:ph type="pic" idx="26" hasCustomPrompt="1"/>
          </p:nvPr>
        </p:nvSpPr>
        <p:spPr>
          <a:xfrm>
            <a:off x="640080"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7" name="Picture 6">
            <a:extLst>
              <a:ext uri="{FF2B5EF4-FFF2-40B4-BE49-F238E27FC236}">
                <a16:creationId xmlns:a16="http://schemas.microsoft.com/office/drawing/2014/main" id="{BB740650-61A2-4FDC-8700-54D96F01FF5A}"/>
              </a:ext>
              <a:ext uri="{C183D7F6-B498-43B3-948B-1728B52AA6E4}">
                <adec:decorative xmlns:adec="http://schemas.microsoft.com/office/drawing/2017/decorative" val="1"/>
              </a:ext>
            </a:extLst>
          </p:cNvPr>
          <p:cNvSpPr>
            <a:spLocks noGrp="1"/>
          </p:cNvSpPr>
          <p:nvPr>
            <p:ph type="pic" idx="27" hasCustomPrompt="1"/>
          </p:nvPr>
        </p:nvSpPr>
        <p:spPr>
          <a:xfrm>
            <a:off x="3517392"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8" name="Picture 7">
            <a:extLst>
              <a:ext uri="{FF2B5EF4-FFF2-40B4-BE49-F238E27FC236}">
                <a16:creationId xmlns:a16="http://schemas.microsoft.com/office/drawing/2014/main" id="{CA951A10-B648-4F4E-87FD-97FD8FEB4106}"/>
              </a:ext>
              <a:ext uri="{C183D7F6-B498-43B3-948B-1728B52AA6E4}">
                <adec:decorative xmlns:adec="http://schemas.microsoft.com/office/drawing/2017/decorative" val="1"/>
              </a:ext>
            </a:extLst>
          </p:cNvPr>
          <p:cNvSpPr>
            <a:spLocks noGrp="1"/>
          </p:cNvSpPr>
          <p:nvPr>
            <p:ph type="pic" idx="28" hasCustomPrompt="1"/>
          </p:nvPr>
        </p:nvSpPr>
        <p:spPr>
          <a:xfrm>
            <a:off x="6394704"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9" name="Picture 8">
            <a:extLst>
              <a:ext uri="{FF2B5EF4-FFF2-40B4-BE49-F238E27FC236}">
                <a16:creationId xmlns:a16="http://schemas.microsoft.com/office/drawing/2014/main" id="{1F4C4007-9EA0-4D1F-938D-A38B105119E9}"/>
              </a:ext>
              <a:ext uri="{C183D7F6-B498-43B3-948B-1728B52AA6E4}">
                <adec:decorative xmlns:adec="http://schemas.microsoft.com/office/drawing/2017/decorative" val="1"/>
              </a:ext>
            </a:extLst>
          </p:cNvPr>
          <p:cNvSpPr>
            <a:spLocks noGrp="1"/>
          </p:cNvSpPr>
          <p:nvPr>
            <p:ph type="pic" idx="29" hasCustomPrompt="1"/>
          </p:nvPr>
        </p:nvSpPr>
        <p:spPr>
          <a:xfrm>
            <a:off x="9272016"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5360166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8 Sm Pic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D6BA6E7-5899-45FE-A720-127BD53EEDD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Lst>
          </p:cNvPr>
          <p:cNvSpPr>
            <a:spLocks noGrp="1"/>
          </p:cNvSpPr>
          <p:nvPr>
            <p:ph type="body" idx="16" hasCustomPrompt="1"/>
          </p:nvPr>
        </p:nvSpPr>
        <p:spPr>
          <a:xfrm>
            <a:off x="388620"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Tree>
    <p:custDataLst>
      <p:tags r:id="rId1"/>
    </p:custDataLst>
    <p:extLst>
      <p:ext uri="{BB962C8B-B14F-4D97-AF65-F5344CB8AC3E}">
        <p14:creationId xmlns:p14="http://schemas.microsoft.com/office/powerpoint/2010/main" val="3427812452"/>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Title, 8 Sm Pics, 8 Headers, and 8 Text Columns">
    <p:bg>
      <p:bgPr>
        <a:solidFill>
          <a:schemeClr val="bg1"/>
        </a:solidFill>
        <a:effectLst/>
      </p:bgPr>
    </p:bg>
    <p:spTree>
      <p:nvGrpSpPr>
        <p:cNvPr id="1" name=""/>
        <p:cNvGrpSpPr/>
        <p:nvPr/>
      </p:nvGrpSpPr>
      <p:grpSpPr>
        <a:xfrm>
          <a:off x="0" y="0"/>
          <a:ext cx="0" cy="0"/>
          <a:chOff x="0" y="0"/>
          <a:chExt cx="0" cy="0"/>
        </a:xfrm>
      </p:grpSpPr>
      <p:pic>
        <p:nvPicPr>
          <p:cNvPr id="94" name="Divider">
            <a:extLst>
              <a:ext uri="{FF2B5EF4-FFF2-40B4-BE49-F238E27FC236}">
                <a16:creationId xmlns:a16="http://schemas.microsoft.com/office/drawing/2014/main" id="{987C7E22-9002-48C2-9498-CFDECD00E891}"/>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8 headers,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88620"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Top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65932"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Top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43244"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Top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20556"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 uri="{C183D7F6-B498-43B3-948B-1728B52AA6E4}">
                <adec:decorative xmlns:adec="http://schemas.microsoft.com/office/drawing/2017/decorative" val="0"/>
              </a:ext>
            </a:extLst>
          </p:cNvPr>
          <p:cNvSpPr>
            <a:spLocks noGrp="1"/>
          </p:cNvSpPr>
          <p:nvPr>
            <p:ph type="body" idx="16" hasCustomPrompt="1"/>
          </p:nvPr>
        </p:nvSpPr>
        <p:spPr>
          <a:xfrm>
            <a:off x="388620"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6" name="Content Bottom Left">
            <a:extLst>
              <a:ext uri="{FF2B5EF4-FFF2-40B4-BE49-F238E27FC236}">
                <a16:creationId xmlns:a16="http://schemas.microsoft.com/office/drawing/2014/main" id="{4D93D3AB-1EE8-404D-9F8C-ED6967836914}"/>
              </a:ext>
            </a:extLst>
          </p:cNvPr>
          <p:cNvSpPr>
            <a:spLocks noGrp="1"/>
          </p:cNvSpPr>
          <p:nvPr>
            <p:ph type="body" idx="6" hasCustomPrompt="1"/>
          </p:nvPr>
        </p:nvSpPr>
        <p:spPr>
          <a:xfrm>
            <a:off x="388620"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Bottom Left Center">
            <a:extLst>
              <a:ext uri="{FF2B5EF4-FFF2-40B4-BE49-F238E27FC236}">
                <a16:creationId xmlns:a16="http://schemas.microsoft.com/office/drawing/2014/main" id="{E00DC7A1-D213-4110-B8F7-671693ED3BA2}"/>
              </a:ext>
            </a:extLst>
          </p:cNvPr>
          <p:cNvSpPr>
            <a:spLocks noGrp="1"/>
          </p:cNvSpPr>
          <p:nvPr>
            <p:ph type="body" idx="7" hasCustomPrompt="1"/>
          </p:nvPr>
        </p:nvSpPr>
        <p:spPr>
          <a:xfrm>
            <a:off x="3265932"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Bottom Center Right">
            <a:extLst>
              <a:ext uri="{FF2B5EF4-FFF2-40B4-BE49-F238E27FC236}">
                <a16:creationId xmlns:a16="http://schemas.microsoft.com/office/drawing/2014/main" id="{9B368858-C97D-421E-8EFA-7300741447EE}"/>
              </a:ext>
            </a:extLst>
          </p:cNvPr>
          <p:cNvSpPr>
            <a:spLocks noGrp="1"/>
          </p:cNvSpPr>
          <p:nvPr>
            <p:ph type="body" idx="8" hasCustomPrompt="1"/>
          </p:nvPr>
        </p:nvSpPr>
        <p:spPr>
          <a:xfrm>
            <a:off x="6143244"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9" hasCustomPrompt="1"/>
          </p:nvPr>
        </p:nvSpPr>
        <p:spPr>
          <a:xfrm>
            <a:off x="9592056"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1" name="Content Bottom Right">
            <a:extLst>
              <a:ext uri="{FF2B5EF4-FFF2-40B4-BE49-F238E27FC236}">
                <a16:creationId xmlns:a16="http://schemas.microsoft.com/office/drawing/2014/main" id="{FD06B556-F6DC-4CCE-8B02-F0089954096F}"/>
              </a:ext>
            </a:extLst>
          </p:cNvPr>
          <p:cNvSpPr>
            <a:spLocks noGrp="1"/>
          </p:cNvSpPr>
          <p:nvPr>
            <p:ph type="body" idx="9" hasCustomPrompt="1"/>
          </p:nvPr>
        </p:nvSpPr>
        <p:spPr>
          <a:xfrm>
            <a:off x="9020556"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923038984"/>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x" preserve="1">
  <p:cSld name="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layout</a:t>
            </a:r>
          </a:p>
        </p:txBody>
      </p:sp>
    </p:spTree>
    <p:custDataLst>
      <p:tags r:id="rId1"/>
    </p:custDataLst>
    <p:extLst>
      <p:ext uri="{BB962C8B-B14F-4D97-AF65-F5344CB8AC3E}">
        <p14:creationId xmlns:p14="http://schemas.microsoft.com/office/powerpoint/2010/main" val="15523815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reserve="1">
  <p:cSld name="Title Only Blank">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05A6DC6-12AE-4044-A010-638B96074F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blank layout</a:t>
            </a:r>
          </a:p>
        </p:txBody>
      </p:sp>
    </p:spTree>
    <p:custDataLst>
      <p:tags r:id="rId1"/>
    </p:custDataLst>
    <p:extLst>
      <p:ext uri="{BB962C8B-B14F-4D97-AF65-F5344CB8AC3E}">
        <p14:creationId xmlns:p14="http://schemas.microsoft.com/office/powerpoint/2010/main" val="40240413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26FB18C2-E834-48CB-9414-9609DFCFF50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5D396EB3-B009-41EC-883D-783B45B4000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57831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299526"/>
            <a:ext cx="11466576" cy="289591"/>
          </a:xfrm>
        </p:spPr>
        <p:txBody>
          <a:bodyPr>
            <a:noAutofit/>
          </a:bodyPr>
          <a:lstStyle>
            <a:lvl1pPr>
              <a:defRPr sz="1600">
                <a:solidFill>
                  <a:srgbClr val="232F3E"/>
                </a:solidFill>
                <a:latin typeface="Amazon Ember Display Heavy"/>
              </a:defRPr>
            </a:lvl1pPr>
          </a:lstStyle>
          <a:p>
            <a:r>
              <a:rPr lang="en-US" dirty="0"/>
              <a:t>Architecture layout</a:t>
            </a:r>
          </a:p>
        </p:txBody>
      </p:sp>
    </p:spTree>
    <p:custDataLst>
      <p:tags r:id="rId1"/>
    </p:custDataLst>
    <p:extLst>
      <p:ext uri="{BB962C8B-B14F-4D97-AF65-F5344CB8AC3E}">
        <p14:creationId xmlns:p14="http://schemas.microsoft.com/office/powerpoint/2010/main" val="38923998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4932735-622B-4285-A776-740EAD7E422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0" y="154244"/>
            <a:ext cx="12192000" cy="289591"/>
          </a:xfrm>
        </p:spPr>
        <p:txBody>
          <a:bodyPr>
            <a:normAutofit/>
          </a:bodyPr>
          <a:lstStyle>
            <a:lvl1pPr marL="228600">
              <a:defRPr sz="1600">
                <a:solidFill>
                  <a:srgbClr val="232F3E"/>
                </a:solidFill>
                <a:latin typeface="Amazon Ember Display Heavy"/>
              </a:defRPr>
            </a:lvl1pPr>
          </a:lstStyle>
          <a:p>
            <a:r>
              <a:rPr lang="en-US" dirty="0"/>
              <a:t>Full Image layout</a:t>
            </a:r>
          </a:p>
        </p:txBody>
      </p:sp>
      <p:sp>
        <p:nvSpPr>
          <p:cNvPr id="22" name="Picture">
            <a:extLst>
              <a:ext uri="{FF2B5EF4-FFF2-40B4-BE49-F238E27FC236}">
                <a16:creationId xmlns:a16="http://schemas.microsoft.com/office/drawing/2014/main" id="{3725AF1B-6140-4505-81CD-922F8227415C}"/>
              </a:ext>
              <a:ext uri="{C183D7F6-B498-43B3-948B-1728B52AA6E4}">
                <adec:decorative xmlns:adec="http://schemas.microsoft.com/office/drawing/2017/decorative" val="1"/>
              </a:ext>
            </a:extLst>
          </p:cNvPr>
          <p:cNvSpPr>
            <a:spLocks noGrp="1"/>
          </p:cNvSpPr>
          <p:nvPr>
            <p:ph type="pic" idx="22" hasCustomPrompt="1"/>
          </p:nvPr>
        </p:nvSpPr>
        <p:spPr>
          <a:xfrm>
            <a:off x="0" y="444499"/>
            <a:ext cx="12192000" cy="5979265"/>
          </a:xfrm>
        </p:spPr>
        <p:txBody>
          <a:bodyPr anchor="ctr">
            <a:noAutofit/>
          </a:bodyPr>
          <a:lstStyle>
            <a:lvl1pPr marL="0" indent="0" algn="ctr">
              <a:buNone/>
              <a:defRPr sz="36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9597407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KC-Vertic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6D2D170-961D-4140-B087-C6CFDF7BBD75}"/>
              </a:ext>
            </a:extLst>
          </p:cNvPr>
          <p:cNvSpPr>
            <a:spLocks noGrp="1"/>
          </p:cNvSpPr>
          <p:nvPr>
            <p:ph type="body" idx="13" hasCustomPrompt="1"/>
          </p:nvPr>
        </p:nvSpPr>
        <p:spPr>
          <a:xfrm>
            <a:off x="4526280" y="472744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B428E384-92E9-495A-9CAE-E33E3164F939}"/>
              </a:ext>
            </a:extLst>
          </p:cNvPr>
          <p:cNvSpPr>
            <a:spLocks noGrp="1"/>
          </p:cNvSpPr>
          <p:nvPr>
            <p:ph type="body" idx="14" hasCustomPrompt="1"/>
          </p:nvPr>
        </p:nvSpPr>
        <p:spPr>
          <a:xfrm>
            <a:off x="5431536" y="472744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DC41B7B5-B438-4885-90AE-758ABF2CA9F9}"/>
              </a:ext>
            </a:extLst>
          </p:cNvPr>
          <p:cNvSpPr>
            <a:spLocks noGrp="1"/>
          </p:cNvSpPr>
          <p:nvPr>
            <p:ph type="body" idx="15" hasCustomPrompt="1"/>
          </p:nvPr>
        </p:nvSpPr>
        <p:spPr>
          <a:xfrm>
            <a:off x="4526280" y="556869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09F72B28-4CF6-4FD1-BA4A-5A98215324E2}"/>
              </a:ext>
            </a:extLst>
          </p:cNvPr>
          <p:cNvSpPr>
            <a:spLocks noGrp="1"/>
          </p:cNvSpPr>
          <p:nvPr>
            <p:ph type="body" idx="16" hasCustomPrompt="1"/>
          </p:nvPr>
        </p:nvSpPr>
        <p:spPr>
          <a:xfrm>
            <a:off x="5431536" y="556869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49A00690-0DF5-4330-B89B-2C9BBCBD2182}"/>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237621426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KC-Vert-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6"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93617314-864D-45CC-8F94-CE423E6637F9}"/>
              </a:ext>
            </a:extLst>
          </p:cNvPr>
          <p:cNvSpPr>
            <a:spLocks noGrp="1"/>
          </p:cNvSpPr>
          <p:nvPr>
            <p:ph type="body" idx="2" hasCustomPrompt="1"/>
          </p:nvPr>
        </p:nvSpPr>
        <p:spPr>
          <a:xfrm>
            <a:off x="365760" y="1039813"/>
            <a:ext cx="4162425" cy="5407025"/>
          </a:xfrm>
        </p:spPr>
        <p:txBody>
          <a:bodyPr>
            <a:normAutofit/>
          </a:bodyPr>
          <a:lstStyle>
            <a:lvl1pPr marL="0" indent="0" algn="l">
              <a:lnSpc>
                <a:spcPct val="100000"/>
              </a:lnSpc>
              <a:buNone/>
              <a:defRPr sz="2400">
                <a:solidFill>
                  <a:srgbClr val="232F3E"/>
                </a:solidFill>
              </a:defRPr>
            </a:lvl1pPr>
            <a:lvl2pPr algn="l">
              <a:defRPr sz="2000"/>
            </a:lvl2pPr>
            <a:lvl3pPr algn="l">
              <a:defRPr sz="1800"/>
            </a:lvl3pPr>
            <a:lvl4pPr algn="l">
              <a:defRPr sz="1600"/>
            </a:lvl4pPr>
            <a:lvl5pPr algn="l">
              <a:defRPr sz="1600"/>
            </a:lvl5pPr>
          </a:lstStyle>
          <a:p>
            <a:pPr lvl="0"/>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7" name="Fifth Resp #">
            <a:extLst>
              <a:ext uri="{FF2B5EF4-FFF2-40B4-BE49-F238E27FC236}">
                <a16:creationId xmlns:a16="http://schemas.microsoft.com/office/drawing/2014/main" id="{B6D2D170-961D-4140-B087-C6CFDF7BBD75}"/>
              </a:ext>
            </a:extLst>
          </p:cNvPr>
          <p:cNvSpPr>
            <a:spLocks noGrp="1"/>
          </p:cNvSpPr>
          <p:nvPr>
            <p:ph type="body" idx="12" hasCustomPrompt="1"/>
          </p:nvPr>
        </p:nvSpPr>
        <p:spPr>
          <a:xfrm>
            <a:off x="4526280" y="472744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3" name="Fifth Resp Text">
            <a:extLst>
              <a:ext uri="{FF2B5EF4-FFF2-40B4-BE49-F238E27FC236}">
                <a16:creationId xmlns:a16="http://schemas.microsoft.com/office/drawing/2014/main" id="{B428E384-92E9-495A-9CAE-E33E3164F939}"/>
              </a:ext>
            </a:extLst>
          </p:cNvPr>
          <p:cNvSpPr>
            <a:spLocks noGrp="1"/>
          </p:cNvSpPr>
          <p:nvPr>
            <p:ph type="body" idx="13" hasCustomPrompt="1"/>
          </p:nvPr>
        </p:nvSpPr>
        <p:spPr>
          <a:xfrm>
            <a:off x="5431536" y="472744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4" name="Sixth Resp #">
            <a:extLst>
              <a:ext uri="{FF2B5EF4-FFF2-40B4-BE49-F238E27FC236}">
                <a16:creationId xmlns:a16="http://schemas.microsoft.com/office/drawing/2014/main" id="{DC41B7B5-B438-4885-90AE-758ABF2CA9F9}"/>
              </a:ext>
            </a:extLst>
          </p:cNvPr>
          <p:cNvSpPr>
            <a:spLocks noGrp="1"/>
          </p:cNvSpPr>
          <p:nvPr>
            <p:ph type="body" idx="14" hasCustomPrompt="1"/>
          </p:nvPr>
        </p:nvSpPr>
        <p:spPr>
          <a:xfrm>
            <a:off x="4526280" y="556869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5" name="Sixth Resp Text">
            <a:extLst>
              <a:ext uri="{FF2B5EF4-FFF2-40B4-BE49-F238E27FC236}">
                <a16:creationId xmlns:a16="http://schemas.microsoft.com/office/drawing/2014/main" id="{09F72B28-4CF6-4FD1-BA4A-5A98215324E2}"/>
              </a:ext>
            </a:extLst>
          </p:cNvPr>
          <p:cNvSpPr>
            <a:spLocks noGrp="1"/>
          </p:cNvSpPr>
          <p:nvPr>
            <p:ph type="body" idx="15" hasCustomPrompt="1"/>
          </p:nvPr>
        </p:nvSpPr>
        <p:spPr>
          <a:xfrm>
            <a:off x="5431536" y="556869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19470469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x" preserve="1">
  <p:cSld name="KC-Vertic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11111"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0794" y="1420597"/>
            <a:ext cx="6723145" cy="4955378"/>
          </a:xfrm>
          <a:noFill/>
        </p:spPr>
        <p:txBody>
          <a:bodyPr lIns="91440" tIns="91440" rIns="182880" bIns="0" anchor="t"/>
          <a:lstStyle>
            <a:lvl1pPr marL="0" indent="0" algn="l">
              <a:lnSpc>
                <a:spcPct val="9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005D2766-8051-4525-B84F-5BD0A1EA30C0}"/>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0886865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reserve="1">
  <p:cSld name="KC-Vert-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19E744-E8A9-4BBA-9A46-E3C8187BE86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Answer and explanation – Option 2</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07808"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1536" y="1417320"/>
            <a:ext cx="6720840" cy="4955378"/>
          </a:xfrm>
          <a:noFill/>
        </p:spPr>
        <p:txBody>
          <a:bodyPr lIns="91440" tIns="91440" rIns="182880" bIns="0" anchor="t"/>
          <a:lstStyle>
            <a:lvl1pPr marL="0" indent="0" algn="l">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265304316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QA-Horizonta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chemeClr val="bg1"/>
                </a:solidFill>
                <a:latin typeface="Amazon Ember Display Heavy"/>
              </a:defRPr>
            </a:lvl1pPr>
          </a:lstStyle>
          <a:p>
            <a:r>
              <a:rPr lang="en-US" dirty="0"/>
              <a:t>Knowledge check</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pic>
        <p:nvPicPr>
          <p:cNvPr id="13" name="Copyright1">
            <a:extLst>
              <a:ext uri="{FF2B5EF4-FFF2-40B4-BE49-F238E27FC236}">
                <a16:creationId xmlns:a16="http://schemas.microsoft.com/office/drawing/2014/main" id="{D612BC5C-D183-4F43-9348-CEF078622BC7}"/>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18162774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A-Horz-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3A540A4D-7B1F-4055-BDC7-7451D12F0E3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rgbClr val="232F3E"/>
                </a:solidFill>
                <a:latin typeface="Amazon Ember Display Heavy"/>
              </a:defRPr>
            </a:lvl1pPr>
          </a:lstStyle>
          <a:p>
            <a:r>
              <a:rPr lang="en-US" dirty="0"/>
              <a:t>Knowledge check – Option 2</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Tree>
    <p:custDataLst>
      <p:tags r:id="rId1"/>
    </p:custDataLst>
    <p:extLst>
      <p:ext uri="{BB962C8B-B14F-4D97-AF65-F5344CB8AC3E}">
        <p14:creationId xmlns:p14="http://schemas.microsoft.com/office/powerpoint/2010/main" val="27479697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KC-Horizont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55445" cy="498849"/>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7" y="697780"/>
            <a:ext cx="11855445" cy="1328883"/>
          </a:xfrm>
          <a:noFill/>
        </p:spPr>
        <p:txBody>
          <a:bodyPr lIns="91440" tIns="0" rIns="91440" bIns="0">
            <a:normAutofit/>
          </a:bodyPr>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37865" cy="317500"/>
          </a:xfrm>
          <a:noFill/>
          <a:ln>
            <a:noFill/>
          </a:ln>
        </p:spPr>
        <p:txBody>
          <a:bodyPr lIns="91440" rIns="9144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2B452CCE-D69C-498E-9B48-C533DB88BC99}"/>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4271635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KC-Horz-Option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25947" cy="498849"/>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825948" cy="1328883"/>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57678" cy="317500"/>
          </a:xfrm>
          <a:noFill/>
          <a:ln>
            <a:noFill/>
          </a:ln>
        </p:spPr>
        <p:txBody>
          <a:bodyPr lIns="91440" rIns="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27572385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x" preserve="1">
  <p:cSld name="KC-Horizont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771597" cy="1405081"/>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2E0A46E6-23DB-43F3-BD7E-C4579838F24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3429311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x" preserve="1">
  <p:cSld name="KC-Horz-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D596AB2-A27E-4CAB-B6E0-353909D02FB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rgbClr val="232F3E"/>
                </a:solidFill>
                <a:latin typeface="Amazon Ember Display Heavy"/>
              </a:defRPr>
            </a:lvl1pPr>
          </a:lstStyle>
          <a:p>
            <a:r>
              <a:rPr lang="en-US" dirty="0"/>
              <a:t>Answer and explanation – Option 1 </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1"/>
            <a:ext cx="11771597" cy="1345520"/>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14802348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DCF8F5D-C71E-4E90-8FF1-79EC1779773B}"/>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vertical text layout (international) </a:t>
            </a:r>
          </a:p>
        </p:txBody>
      </p:sp>
      <p:pic>
        <p:nvPicPr>
          <p:cNvPr id="99" name="Divider">
            <a:extLst>
              <a:ext uri="{FF2B5EF4-FFF2-40B4-BE49-F238E27FC236}">
                <a16:creationId xmlns:a16="http://schemas.microsoft.com/office/drawing/2014/main" id="{4367E5F6-DCA7-4FF7-A05C-EEBE6326C728}"/>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1033070"/>
            <a:ext cx="11466576" cy="5389244"/>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697864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62931EA5-40B0-4775-AC8C-735FB207C77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FDB7DAC-24E1-411C-8D5F-3A7FDF188C1D}"/>
              </a:ext>
            </a:extLst>
          </p:cNvPr>
          <p:cNvSpPr>
            <a:spLocks noGrp="1"/>
          </p:cNvSpPr>
          <p:nvPr>
            <p:ph type="title" idx="1" hasCustomPrompt="1"/>
          </p:nvPr>
        </p:nvSpPr>
        <p:spPr>
          <a:xfrm rot="5400000">
            <a:off x="8202716" y="2805126"/>
            <a:ext cx="6127095" cy="1132145"/>
          </a:xfrm>
        </p:spPr>
        <p:txBody>
          <a:bodyPr/>
          <a:lstStyle>
            <a:lvl1pPr marL="0" marR="0" indent="0" algn="l" defTabSz="914400" rtl="0" eaLnBrk="1" fontAlgn="auto" latinLnBrk="0" hangingPunct="1">
              <a:spcBef>
                <a:spcPct val="0"/>
              </a:spcBef>
              <a:spcAft>
                <a:spcPts val="0"/>
              </a:spcAft>
              <a:buClrTx/>
              <a:buSzTx/>
              <a:buFontTx/>
              <a:buNone/>
              <a:tabLst/>
              <a:defRPr>
                <a:solidFill>
                  <a:srgbClr val="232F3E"/>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pic>
        <p:nvPicPr>
          <p:cNvPr id="99" name="Divider">
            <a:extLst>
              <a:ext uri="{FF2B5EF4-FFF2-40B4-BE49-F238E27FC236}">
                <a16:creationId xmlns:a16="http://schemas.microsoft.com/office/drawing/2014/main" id="{DA666032-E924-4402-8485-DDD5D20112F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7636951" y="3348031"/>
            <a:ext cx="6126480"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307649"/>
            <a:ext cx="10298328" cy="6127095"/>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0513685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rgbClr val="330066"/>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AA8AAC-8C22-4F3B-BDB0-E5CB0C9C0F7E}"/>
              </a:ext>
            </a:extLst>
          </p:cNvPr>
          <p:cNvSpPr txBox="1"/>
          <p:nvPr userDrawn="1"/>
        </p:nvSpPr>
        <p:spPr>
          <a:xfrm>
            <a:off x="495300" y="1074510"/>
            <a:ext cx="11201400" cy="4708981"/>
          </a:xfrm>
          <a:prstGeom prst="rect">
            <a:avLst/>
          </a:prstGeom>
          <a:noFill/>
        </p:spPr>
        <p:txBody>
          <a:bodyPr wrap="square" rtlCol="0">
            <a:spAutoFit/>
          </a:bodyPr>
          <a:lstStyle/>
          <a:p>
            <a:r>
              <a:rPr lang="en-US" sz="6000" b="1" dirty="0">
                <a:solidFill>
                  <a:schemeClr val="bg1"/>
                </a:solidFill>
              </a:rPr>
              <a:t>Don’t use this layout</a:t>
            </a:r>
          </a:p>
          <a:p>
            <a:endParaRPr lang="en-US" sz="6000" dirty="0">
              <a:solidFill>
                <a:schemeClr val="bg1"/>
              </a:solidFill>
            </a:endParaRPr>
          </a:p>
          <a:p>
            <a:r>
              <a:rPr lang="en-US" sz="6000" dirty="0">
                <a:solidFill>
                  <a:schemeClr val="bg1"/>
                </a:solidFill>
              </a:rPr>
              <a:t>Layouts that appear after this one in the slide master are specific to Academy.</a:t>
            </a:r>
          </a:p>
        </p:txBody>
      </p:sp>
    </p:spTree>
    <p:extLst>
      <p:ext uri="{BB962C8B-B14F-4D97-AF65-F5344CB8AC3E}">
        <p14:creationId xmlns:p14="http://schemas.microsoft.com/office/powerpoint/2010/main" val="15026345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opic Introduction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rmAutofit/>
          </a:bodyPr>
          <a:lstStyle>
            <a:lvl1pPr algn="ctr">
              <a:defRPr sz="3600">
                <a:solidFill>
                  <a:schemeClr val="bg1"/>
                </a:solidFill>
                <a:latin typeface="Amazon Ember Display Heavy"/>
              </a:defRPr>
            </a:lvl1pPr>
          </a:lstStyle>
          <a:p>
            <a:r>
              <a:rPr lang="en-US" dirty="0"/>
              <a:t>Type title here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rm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7" name="Copyright1">
            <a:extLst>
              <a:ext uri="{FF2B5EF4-FFF2-40B4-BE49-F238E27FC236}">
                <a16:creationId xmlns:a16="http://schemas.microsoft.com/office/drawing/2014/main" id="{844CFF04-049D-40C7-9082-60C6CF7684A8}"/>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68531"/>
            <a:ext cx="4610100" cy="267127"/>
          </a:xfrm>
          <a:prstGeom prst="rect">
            <a:avLst/>
          </a:prstGeom>
        </p:spPr>
      </p:pic>
    </p:spTree>
    <p:custDataLst>
      <p:tags r:id="rId1"/>
    </p:custDataLst>
    <p:extLst>
      <p:ext uri="{BB962C8B-B14F-4D97-AF65-F5344CB8AC3E}">
        <p14:creationId xmlns:p14="http://schemas.microsoft.com/office/powerpoint/2010/main" val="31910581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cademyQuestion">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0" y="185995"/>
            <a:ext cx="12192000" cy="535531"/>
          </a:xfrm>
        </p:spPr>
        <p:txBody>
          <a:bodyPr wrap="square" lIns="182880" rIns="182880">
            <a:spAutoFit/>
          </a:bodyPr>
          <a:lstStyle>
            <a:lvl1pPr>
              <a:lnSpc>
                <a:spcPct val="90000"/>
              </a:lnSpc>
              <a:spcAft>
                <a:spcPts val="0"/>
              </a:spcAft>
              <a:defRPr sz="3200">
                <a:solidFill>
                  <a:srgbClr val="232F3E"/>
                </a:solidFill>
                <a:latin typeface="Amazon Ember Display Heavy"/>
              </a:defRPr>
            </a:lvl1pPr>
          </a:lstStyle>
          <a:p>
            <a:r>
              <a:rPr lang="en-US" dirty="0"/>
              <a:t>Title and text column</a:t>
            </a:r>
          </a:p>
        </p:txBody>
      </p:sp>
      <p:sp>
        <p:nvSpPr>
          <p:cNvPr id="7" name="Text Placeholder 6">
            <a:extLst>
              <a:ext uri="{FF2B5EF4-FFF2-40B4-BE49-F238E27FC236}">
                <a16:creationId xmlns:a16="http://schemas.microsoft.com/office/drawing/2014/main" id="{4F12F17D-55AD-4982-8FE2-C0E80D143499}"/>
              </a:ext>
            </a:extLst>
          </p:cNvPr>
          <p:cNvSpPr>
            <a:spLocks noGrp="1"/>
          </p:cNvSpPr>
          <p:nvPr>
            <p:ph type="body" sz="quarter" idx="98" hasCustomPrompt="1"/>
          </p:nvPr>
        </p:nvSpPr>
        <p:spPr>
          <a:xfrm>
            <a:off x="0" y="721526"/>
            <a:ext cx="12192000" cy="1463040"/>
          </a:xfrm>
          <a:solidFill>
            <a:schemeClr val="accent1"/>
          </a:solidFill>
        </p:spPr>
        <p:txBody>
          <a:bodyPr lIns="182880" tIns="91440" rIns="182880" bIns="91440">
            <a:noAutofit/>
          </a:bodyPr>
          <a:lstStyle>
            <a:lvl1pPr marL="0" indent="0">
              <a:lnSpc>
                <a:spcPct val="100000"/>
              </a:lnSpc>
              <a:spcAft>
                <a:spcPts val="600"/>
              </a:spcAft>
              <a:buNone/>
              <a:defRPr sz="1600">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Enter question text here</a:t>
            </a:r>
          </a:p>
        </p:txBody>
      </p:sp>
    </p:spTree>
    <p:custDataLst>
      <p:tags r:id="rId1"/>
    </p:custDataLst>
    <p:extLst>
      <p:ext uri="{BB962C8B-B14F-4D97-AF65-F5344CB8AC3E}">
        <p14:creationId xmlns:p14="http://schemas.microsoft.com/office/powerpoint/2010/main" val="85658978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cSld name="1_Title Only">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layout</a:t>
            </a:r>
          </a:p>
        </p:txBody>
      </p:sp>
      <p:sp>
        <p:nvSpPr>
          <p:cNvPr id="19" name="Title Border">
            <a:extLst>
              <a:ext uri="{FF2B5EF4-FFF2-40B4-BE49-F238E27FC236}">
                <a16:creationId xmlns:a16="http://schemas.microsoft.com/office/drawing/2014/main" id="{5C923B7C-0930-466B-9A4C-4F269F22E021}"/>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162942675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2.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3.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2">
            <a:lum/>
          </a:blip>
          <a:srcRect/>
          <a:stretch>
            <a:fillRect/>
          </a:stretch>
        </a:blipFill>
        <a:effectLst/>
      </p:bgPr>
    </p:bg>
    <p:spTree>
      <p:nvGrpSpPr>
        <p:cNvPr id="1" name=""/>
        <p:cNvGrpSpPr/>
        <p:nvPr/>
      </p:nvGrpSpPr>
      <p:grpSpPr>
        <a:xfrm>
          <a:off x="0" y="0"/>
          <a:ext cx="0" cy="0"/>
          <a:chOff x="0" y="0"/>
          <a:chExt cx="0" cy="0"/>
        </a:xfrm>
      </p:grpSpPr>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dirty="0"/>
              <a:t>Click to edit Master title style</a:t>
            </a:r>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dirty="0"/>
              <a:t>Edit Master text styles</a:t>
            </a:r>
          </a:p>
          <a:p>
            <a:pPr marL="457200" lvl="1" indent="-230188" defTabSz="228600">
              <a:lnSpc>
                <a:spcPct val="100000"/>
              </a:lnSpc>
              <a:spcAft>
                <a:spcPts val="600"/>
              </a:spcAft>
              <a:buFont typeface="Amazon Ember Display"/>
            </a:pPr>
            <a:r>
              <a:rPr lang="en-US" dirty="0"/>
              <a:t>Second level</a:t>
            </a:r>
          </a:p>
          <a:p>
            <a:pPr marL="685800" lvl="2" indent="-230188" defTabSz="228600">
              <a:lnSpc>
                <a:spcPct val="100000"/>
              </a:lnSpc>
              <a:spcAft>
                <a:spcPts val="600"/>
              </a:spcAft>
              <a:buFont typeface="Amazon Ember Display"/>
            </a:pPr>
            <a:r>
              <a:rPr lang="en-US" dirty="0"/>
              <a:t>Third level</a:t>
            </a:r>
          </a:p>
          <a:p>
            <a:pPr marL="914400" lvl="3" indent="-230188" defTabSz="228600">
              <a:lnSpc>
                <a:spcPct val="100000"/>
              </a:lnSpc>
              <a:spcAft>
                <a:spcPts val="600"/>
              </a:spcAft>
              <a:buFont typeface="Amazon Ember Display"/>
            </a:pPr>
            <a:r>
              <a:rPr lang="en-US" dirty="0"/>
              <a:t>Fourth level</a:t>
            </a:r>
          </a:p>
          <a:p>
            <a:pPr marL="1143000" lvl="4" indent="-230188" defTabSz="228600">
              <a:lnSpc>
                <a:spcPct val="100000"/>
              </a:lnSpc>
              <a:spcAft>
                <a:spcPts val="600"/>
              </a:spcAft>
              <a:buFont typeface="Amazon Ember Display"/>
            </a:pPr>
            <a:r>
              <a:rPr lang="en-US" dirty="0"/>
              <a:t>Fifth level</a:t>
            </a:r>
          </a:p>
        </p:txBody>
      </p:sp>
      <p:pic>
        <p:nvPicPr>
          <p:cNvPr id="98" name="AWS Logo">
            <a:extLst>
              <a:ext uri="{FF2B5EF4-FFF2-40B4-BE49-F238E27FC236}">
                <a16:creationId xmlns:a16="http://schemas.microsoft.com/office/drawing/2014/main" id="{9E7E1626-AACF-488B-8999-ACEC2A595C0B}"/>
              </a:ext>
              <a:ext uri="{C183D7F6-B498-43B3-948B-1728B52AA6E4}">
                <adec:decorative xmlns:adec="http://schemas.microsoft.com/office/drawing/2017/decorative" val="1"/>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243599" y="6445721"/>
            <a:ext cx="366979" cy="219456"/>
          </a:xfrm>
          <a:prstGeom prst="rect">
            <a:avLst/>
          </a:prstGeom>
        </p:spPr>
      </p:pic>
      <p:pic>
        <p:nvPicPr>
          <p:cNvPr id="6" name="Copyright1">
            <a:extLst>
              <a:ext uri="{FF2B5EF4-FFF2-40B4-BE49-F238E27FC236}">
                <a16:creationId xmlns:a16="http://schemas.microsoft.com/office/drawing/2014/main" id="{C320C759-D5D0-424F-9E65-06BA1C6E83D1}"/>
              </a:ext>
              <a:ext uri="{C183D7F6-B498-43B3-948B-1728B52AA6E4}">
                <adec:decorative xmlns:adec="http://schemas.microsoft.com/office/drawing/2017/decorative" val="1"/>
              </a:ext>
            </a:extLst>
          </p:cNvPr>
          <p:cNvPicPr>
            <a:picLocks/>
          </p:cNvPicPr>
          <p:nvPr userDrawn="1"/>
        </p:nvPicPr>
        <p:blipFill>
          <a:blip r:embed="rId65">
            <a:extLst>
              <a:ext uri="{28A0092B-C50C-407E-A947-70E740481C1C}">
                <a14:useLocalDpi xmlns:a14="http://schemas.microsoft.com/office/drawing/2010/main" val="0"/>
              </a:ext>
            </a:extLst>
          </a:blip>
          <a:stretch>
            <a:fillRect/>
          </a:stretch>
        </p:blipFill>
        <p:spPr>
          <a:xfrm>
            <a:off x="3787140" y="6468531"/>
            <a:ext cx="4610100" cy="267127"/>
          </a:xfrm>
          <a:prstGeom prst="rect">
            <a:avLst/>
          </a:prstGeom>
        </p:spPr>
      </p:pic>
    </p:spTree>
    <p:extLst>
      <p:ext uri="{BB962C8B-B14F-4D97-AF65-F5344CB8AC3E}">
        <p14:creationId xmlns:p14="http://schemas.microsoft.com/office/powerpoint/2010/main" val="1510290783"/>
      </p:ext>
    </p:extLst>
  </p:cSld>
  <p:clrMap bg1="lt1" tx1="dk1" bg2="lt2" tx2="dk2" accent1="accent1" accent2="accent2" accent3="accent3" accent4="accent4" accent5="accent5" accent6="accent6" hlink="hlink" folHlink="folHlink"/>
  <p:sldLayoutIdLst>
    <p:sldLayoutId id="2147484260" r:id="rId1"/>
    <p:sldLayoutId id="2147484261" r:id="rId2"/>
    <p:sldLayoutId id="2147484262" r:id="rId3"/>
    <p:sldLayoutId id="2147484263" r:id="rId4"/>
    <p:sldLayoutId id="2147484264" r:id="rId5"/>
    <p:sldLayoutId id="2147484265" r:id="rId6"/>
    <p:sldLayoutId id="2147484319" r:id="rId7"/>
    <p:sldLayoutId id="2147484267" r:id="rId8"/>
    <p:sldLayoutId id="2147484268" r:id="rId9"/>
    <p:sldLayoutId id="2147484269" r:id="rId10"/>
    <p:sldLayoutId id="2147484270" r:id="rId11"/>
    <p:sldLayoutId id="2147484271" r:id="rId12"/>
    <p:sldLayoutId id="2147484272" r:id="rId13"/>
    <p:sldLayoutId id="2147484273" r:id="rId14"/>
    <p:sldLayoutId id="2147484274" r:id="rId15"/>
    <p:sldLayoutId id="2147484275" r:id="rId16"/>
    <p:sldLayoutId id="2147484276" r:id="rId17"/>
    <p:sldLayoutId id="2147484277" r:id="rId18"/>
    <p:sldLayoutId id="2147484279" r:id="rId19"/>
    <p:sldLayoutId id="2147484280" r:id="rId20"/>
    <p:sldLayoutId id="2147484281" r:id="rId21"/>
    <p:sldLayoutId id="2147484282" r:id="rId22"/>
    <p:sldLayoutId id="2147484283" r:id="rId23"/>
    <p:sldLayoutId id="2147484284" r:id="rId24"/>
    <p:sldLayoutId id="2147484285" r:id="rId25"/>
    <p:sldLayoutId id="2147484286" r:id="rId26"/>
    <p:sldLayoutId id="2147484287" r:id="rId27"/>
    <p:sldLayoutId id="2147484288" r:id="rId28"/>
    <p:sldLayoutId id="2147484289" r:id="rId29"/>
    <p:sldLayoutId id="2147484290" r:id="rId30"/>
    <p:sldLayoutId id="2147484291" r:id="rId31"/>
    <p:sldLayoutId id="2147484292" r:id="rId32"/>
    <p:sldLayoutId id="2147484293" r:id="rId33"/>
    <p:sldLayoutId id="2147484294" r:id="rId34"/>
    <p:sldLayoutId id="2147484295" r:id="rId35"/>
    <p:sldLayoutId id="2147484296" r:id="rId36"/>
    <p:sldLayoutId id="2147484297" r:id="rId37"/>
    <p:sldLayoutId id="2147484298" r:id="rId38"/>
    <p:sldLayoutId id="2147484299" r:id="rId39"/>
    <p:sldLayoutId id="2147484300" r:id="rId40"/>
    <p:sldLayoutId id="2147484301" r:id="rId41"/>
    <p:sldLayoutId id="2147484302" r:id="rId42"/>
    <p:sldLayoutId id="2147484303" r:id="rId43"/>
    <p:sldLayoutId id="2147484304" r:id="rId44"/>
    <p:sldLayoutId id="2147484305" r:id="rId45"/>
    <p:sldLayoutId id="2147484306" r:id="rId46"/>
    <p:sldLayoutId id="2147484307" r:id="rId47"/>
    <p:sldLayoutId id="2147484308" r:id="rId48"/>
    <p:sldLayoutId id="2147484309" r:id="rId49"/>
    <p:sldLayoutId id="2147484310" r:id="rId50"/>
    <p:sldLayoutId id="2147484311" r:id="rId51"/>
    <p:sldLayoutId id="2147484312" r:id="rId52"/>
    <p:sldLayoutId id="2147484313" r:id="rId53"/>
    <p:sldLayoutId id="2147484314" r:id="rId54"/>
    <p:sldLayoutId id="2147484315" r:id="rId55"/>
    <p:sldLayoutId id="2147484316" r:id="rId56"/>
    <p:sldLayoutId id="2147484321" r:id="rId57"/>
    <p:sldLayoutId id="2147484317" r:id="rId58"/>
    <p:sldLayoutId id="2147484320" r:id="rId59"/>
    <p:sldLayoutId id="2147484322" r:id="rId60"/>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0"/>
        </a:spcBef>
        <a:spcAft>
          <a:spcPts val="1200"/>
        </a:spcAft>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5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5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8.xml"/><Relationship Id="rId1" Type="http://schemas.openxmlformats.org/officeDocument/2006/relationships/tags" Target="../tags/tag5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5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60.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61.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notesSlide" Target="../notesSlides/notesSlide7.xml"/><Relationship Id="rId7" Type="http://schemas.openxmlformats.org/officeDocument/2006/relationships/image" Target="../media/image28.svg"/><Relationship Id="rId12" Type="http://schemas.openxmlformats.org/officeDocument/2006/relationships/image" Target="../media/image33.png"/><Relationship Id="rId2" Type="http://schemas.openxmlformats.org/officeDocument/2006/relationships/slideLayout" Target="../slideLayouts/slideLayout9.xml"/><Relationship Id="rId1" Type="http://schemas.openxmlformats.org/officeDocument/2006/relationships/tags" Target="../tags/tag62.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 Id="rId14" Type="http://schemas.openxmlformats.org/officeDocument/2006/relationships/image" Target="../media/image35.svg"/></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3" Type="http://schemas.openxmlformats.org/officeDocument/2006/relationships/notesSlide" Target="../notesSlides/notesSlide8.xml"/><Relationship Id="rId7" Type="http://schemas.openxmlformats.org/officeDocument/2006/relationships/image" Target="../media/image39.svg"/><Relationship Id="rId12" Type="http://schemas.openxmlformats.org/officeDocument/2006/relationships/image" Target="../media/image44.png"/><Relationship Id="rId2" Type="http://schemas.openxmlformats.org/officeDocument/2006/relationships/slideLayout" Target="../slideLayouts/slideLayout37.xml"/><Relationship Id="rId1" Type="http://schemas.openxmlformats.org/officeDocument/2006/relationships/tags" Target="../tags/tag63.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5" Type="http://schemas.openxmlformats.org/officeDocument/2006/relationships/image" Target="../media/image4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46.png"/></Relationships>
</file>

<file path=ppt/slides/_rels/slide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notesSlide" Target="../notesSlides/notesSlide9.xml"/><Relationship Id="rId7" Type="http://schemas.openxmlformats.org/officeDocument/2006/relationships/image" Target="../media/image39.svg"/><Relationship Id="rId2" Type="http://schemas.openxmlformats.org/officeDocument/2006/relationships/slideLayout" Target="../slideLayouts/slideLayout9.xml"/><Relationship Id="rId1" Type="http://schemas.openxmlformats.org/officeDocument/2006/relationships/tags" Target="../tags/tag64.xml"/><Relationship Id="rId6" Type="http://schemas.openxmlformats.org/officeDocument/2006/relationships/image" Target="../media/image38.png"/><Relationship Id="rId5" Type="http://schemas.openxmlformats.org/officeDocument/2006/relationships/image" Target="../media/image49.svg"/><Relationship Id="rId4" Type="http://schemas.openxmlformats.org/officeDocument/2006/relationships/image" Target="../media/image48.png"/><Relationship Id="rId9" Type="http://schemas.openxmlformats.org/officeDocument/2006/relationships/image" Target="../media/image51.sv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65.xml"/><Relationship Id="rId4" Type="http://schemas.openxmlformats.org/officeDocument/2006/relationships/image" Target="../media/image5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6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9.xml"/><Relationship Id="rId1" Type="http://schemas.openxmlformats.org/officeDocument/2006/relationships/tags" Target="../tags/tag67.xml"/><Relationship Id="rId5" Type="http://schemas.openxmlformats.org/officeDocument/2006/relationships/image" Target="../media/image54.svg"/><Relationship Id="rId4" Type="http://schemas.openxmlformats.org/officeDocument/2006/relationships/image" Target="../media/image53.png"/></Relationships>
</file>

<file path=ppt/slides/_rels/slide13.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notesSlide" Target="../notesSlides/notesSlide13.xml"/><Relationship Id="rId7" Type="http://schemas.openxmlformats.org/officeDocument/2006/relationships/image" Target="../media/image58.svg"/><Relationship Id="rId2" Type="http://schemas.openxmlformats.org/officeDocument/2006/relationships/slideLayout" Target="../slideLayouts/slideLayout24.xml"/><Relationship Id="rId1" Type="http://schemas.openxmlformats.org/officeDocument/2006/relationships/tags" Target="../tags/tag68.xml"/><Relationship Id="rId6" Type="http://schemas.openxmlformats.org/officeDocument/2006/relationships/image" Target="../media/image57.png"/><Relationship Id="rId11" Type="http://schemas.openxmlformats.org/officeDocument/2006/relationships/image" Target="../media/image62.svg"/><Relationship Id="rId5" Type="http://schemas.openxmlformats.org/officeDocument/2006/relationships/image" Target="../media/image56.sv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svg"/></Relationships>
</file>

<file path=ppt/slides/_rels/slide14.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svg"/><Relationship Id="rId3" Type="http://schemas.openxmlformats.org/officeDocument/2006/relationships/notesSlide" Target="../notesSlides/notesSlide14.xml"/><Relationship Id="rId7" Type="http://schemas.openxmlformats.org/officeDocument/2006/relationships/image" Target="../media/image66.svg"/><Relationship Id="rId12" Type="http://schemas.openxmlformats.org/officeDocument/2006/relationships/image" Target="../media/image71.png"/><Relationship Id="rId2" Type="http://schemas.openxmlformats.org/officeDocument/2006/relationships/slideLayout" Target="../slideLayouts/slideLayout9.xml"/><Relationship Id="rId1" Type="http://schemas.openxmlformats.org/officeDocument/2006/relationships/tags" Target="../tags/tag69.xml"/><Relationship Id="rId6" Type="http://schemas.openxmlformats.org/officeDocument/2006/relationships/image" Target="../media/image65.png"/><Relationship Id="rId11" Type="http://schemas.openxmlformats.org/officeDocument/2006/relationships/image" Target="../media/image70.svg"/><Relationship Id="rId5" Type="http://schemas.openxmlformats.org/officeDocument/2006/relationships/image" Target="../media/image64.sv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svg"/></Relationships>
</file>

<file path=ppt/slides/_rels/slide15.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notesSlide" Target="../notesSlides/notesSlide15.xml"/><Relationship Id="rId7" Type="http://schemas.openxmlformats.org/officeDocument/2006/relationships/image" Target="../media/image76.svg"/><Relationship Id="rId2" Type="http://schemas.openxmlformats.org/officeDocument/2006/relationships/slideLayout" Target="../slideLayouts/slideLayout24.xml"/><Relationship Id="rId1" Type="http://schemas.openxmlformats.org/officeDocument/2006/relationships/tags" Target="../tags/tag70.xml"/><Relationship Id="rId6" Type="http://schemas.openxmlformats.org/officeDocument/2006/relationships/image" Target="../media/image75.png"/><Relationship Id="rId11" Type="http://schemas.openxmlformats.org/officeDocument/2006/relationships/image" Target="../media/image80.svg"/><Relationship Id="rId5" Type="http://schemas.openxmlformats.org/officeDocument/2006/relationships/image" Target="../media/image74.sv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svg"/></Relationships>
</file>

<file path=ppt/slides/_rels/slide16.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notesSlide" Target="../notesSlides/notesSlide16.xml"/><Relationship Id="rId7" Type="http://schemas.openxmlformats.org/officeDocument/2006/relationships/image" Target="../media/image84.svg"/><Relationship Id="rId2" Type="http://schemas.openxmlformats.org/officeDocument/2006/relationships/slideLayout" Target="../slideLayouts/slideLayout24.xml"/><Relationship Id="rId1" Type="http://schemas.openxmlformats.org/officeDocument/2006/relationships/tags" Target="../tags/tag71.xml"/><Relationship Id="rId6" Type="http://schemas.openxmlformats.org/officeDocument/2006/relationships/image" Target="../media/image83.png"/><Relationship Id="rId11" Type="http://schemas.openxmlformats.org/officeDocument/2006/relationships/image" Target="../media/image88.svg"/><Relationship Id="rId5" Type="http://schemas.openxmlformats.org/officeDocument/2006/relationships/image" Target="../media/image82.sv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svg"/></Relationships>
</file>

<file path=ppt/slides/_rels/slide17.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svg"/><Relationship Id="rId3" Type="http://schemas.openxmlformats.org/officeDocument/2006/relationships/notesSlide" Target="../notesSlides/notesSlide17.xml"/><Relationship Id="rId7" Type="http://schemas.openxmlformats.org/officeDocument/2006/relationships/image" Target="../media/image92.svg"/><Relationship Id="rId12" Type="http://schemas.openxmlformats.org/officeDocument/2006/relationships/image" Target="../media/image97.png"/><Relationship Id="rId2" Type="http://schemas.openxmlformats.org/officeDocument/2006/relationships/slideLayout" Target="../slideLayouts/slideLayout9.xml"/><Relationship Id="rId1" Type="http://schemas.openxmlformats.org/officeDocument/2006/relationships/tags" Target="../tags/tag72.xml"/><Relationship Id="rId6" Type="http://schemas.openxmlformats.org/officeDocument/2006/relationships/image" Target="../media/image91.png"/><Relationship Id="rId11" Type="http://schemas.openxmlformats.org/officeDocument/2006/relationships/image" Target="../media/image96.svg"/><Relationship Id="rId5" Type="http://schemas.openxmlformats.org/officeDocument/2006/relationships/image" Target="../media/image90.sv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svg"/></Relationships>
</file>

<file path=ppt/slides/_rels/slide18.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svg"/><Relationship Id="rId3" Type="http://schemas.openxmlformats.org/officeDocument/2006/relationships/notesSlide" Target="../notesSlides/notesSlide18.xml"/><Relationship Id="rId7" Type="http://schemas.openxmlformats.org/officeDocument/2006/relationships/image" Target="../media/image102.svg"/><Relationship Id="rId12" Type="http://schemas.openxmlformats.org/officeDocument/2006/relationships/image" Target="../media/image107.png"/><Relationship Id="rId2" Type="http://schemas.openxmlformats.org/officeDocument/2006/relationships/slideLayout" Target="../slideLayouts/slideLayout9.xml"/><Relationship Id="rId1" Type="http://schemas.openxmlformats.org/officeDocument/2006/relationships/tags" Target="../tags/tag73.xml"/><Relationship Id="rId6" Type="http://schemas.openxmlformats.org/officeDocument/2006/relationships/image" Target="../media/image101.png"/><Relationship Id="rId11" Type="http://schemas.openxmlformats.org/officeDocument/2006/relationships/image" Target="../media/image106.svg"/><Relationship Id="rId5" Type="http://schemas.openxmlformats.org/officeDocument/2006/relationships/image" Target="../media/image100.sv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sv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74.xml"/><Relationship Id="rId5" Type="http://schemas.openxmlformats.org/officeDocument/2006/relationships/image" Target="../media/image110.svg"/><Relationship Id="rId4" Type="http://schemas.openxmlformats.org/officeDocument/2006/relationships/image" Target="../media/image10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75.xml"/><Relationship Id="rId4" Type="http://schemas.openxmlformats.org/officeDocument/2006/relationships/image" Target="../media/image5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7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9.xml"/><Relationship Id="rId1" Type="http://schemas.openxmlformats.org/officeDocument/2006/relationships/tags" Target="../tags/tag77.xml"/></Relationships>
</file>

<file path=ppt/slides/_rels/slide23.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notesSlide" Target="../notesSlides/notesSlide23.xml"/><Relationship Id="rId7" Type="http://schemas.openxmlformats.org/officeDocument/2006/relationships/image" Target="../media/image114.svg"/><Relationship Id="rId2" Type="http://schemas.openxmlformats.org/officeDocument/2006/relationships/slideLayout" Target="../slideLayouts/slideLayout12.xml"/><Relationship Id="rId1" Type="http://schemas.openxmlformats.org/officeDocument/2006/relationships/tags" Target="../tags/tag78.xml"/><Relationship Id="rId6" Type="http://schemas.openxmlformats.org/officeDocument/2006/relationships/image" Target="../media/image113.png"/><Relationship Id="rId11" Type="http://schemas.openxmlformats.org/officeDocument/2006/relationships/image" Target="../media/image118.svg"/><Relationship Id="rId5" Type="http://schemas.openxmlformats.org/officeDocument/2006/relationships/image" Target="../media/image112.svg"/><Relationship Id="rId10" Type="http://schemas.openxmlformats.org/officeDocument/2006/relationships/image" Target="../media/image117.png"/><Relationship Id="rId4" Type="http://schemas.openxmlformats.org/officeDocument/2006/relationships/image" Target="../media/image111.png"/><Relationship Id="rId9" Type="http://schemas.openxmlformats.org/officeDocument/2006/relationships/image" Target="../media/image116.svg"/></Relationships>
</file>

<file path=ppt/slides/_rels/slide24.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notesSlide" Target="../notesSlides/notesSlide24.xml"/><Relationship Id="rId7" Type="http://schemas.openxmlformats.org/officeDocument/2006/relationships/image" Target="../media/image121.svg"/><Relationship Id="rId2" Type="http://schemas.openxmlformats.org/officeDocument/2006/relationships/slideLayout" Target="../slideLayouts/slideLayout12.xml"/><Relationship Id="rId1" Type="http://schemas.openxmlformats.org/officeDocument/2006/relationships/tags" Target="../tags/tag79.xml"/><Relationship Id="rId6" Type="http://schemas.openxmlformats.org/officeDocument/2006/relationships/image" Target="../media/image120.png"/><Relationship Id="rId11" Type="http://schemas.openxmlformats.org/officeDocument/2006/relationships/image" Target="../media/image125.svg"/><Relationship Id="rId5" Type="http://schemas.openxmlformats.org/officeDocument/2006/relationships/image" Target="../media/image119.svg"/><Relationship Id="rId10" Type="http://schemas.openxmlformats.org/officeDocument/2006/relationships/image" Target="../media/image124.png"/><Relationship Id="rId4" Type="http://schemas.openxmlformats.org/officeDocument/2006/relationships/image" Target="../media/image115.png"/><Relationship Id="rId9" Type="http://schemas.openxmlformats.org/officeDocument/2006/relationships/image" Target="../media/image123.sv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129.svg"/><Relationship Id="rId2" Type="http://schemas.openxmlformats.org/officeDocument/2006/relationships/slideLayout" Target="../slideLayouts/slideLayout12.xml"/><Relationship Id="rId1" Type="http://schemas.openxmlformats.org/officeDocument/2006/relationships/tags" Target="../tags/tag80.xml"/><Relationship Id="rId6" Type="http://schemas.openxmlformats.org/officeDocument/2006/relationships/image" Target="../media/image128.png"/><Relationship Id="rId5" Type="http://schemas.openxmlformats.org/officeDocument/2006/relationships/image" Target="../media/image127.svg"/><Relationship Id="rId4" Type="http://schemas.openxmlformats.org/officeDocument/2006/relationships/image" Target="../media/image12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tags" Target="../tags/tag8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119.svg"/><Relationship Id="rId2" Type="http://schemas.openxmlformats.org/officeDocument/2006/relationships/slideLayout" Target="../slideLayouts/slideLayout12.xml"/><Relationship Id="rId1" Type="http://schemas.openxmlformats.org/officeDocument/2006/relationships/tags" Target="../tags/tag82.xml"/><Relationship Id="rId6" Type="http://schemas.openxmlformats.org/officeDocument/2006/relationships/image" Target="../media/image115.png"/><Relationship Id="rId5" Type="http://schemas.openxmlformats.org/officeDocument/2006/relationships/image" Target="../media/image131.svg"/><Relationship Id="rId4" Type="http://schemas.openxmlformats.org/officeDocument/2006/relationships/image" Target="../media/image130.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tags" Target="../tags/tag8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2.xml"/><Relationship Id="rId1" Type="http://schemas.openxmlformats.org/officeDocument/2006/relationships/tags" Target="../tags/tag8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openxmlformats.org/officeDocument/2006/relationships/image" Target="../media/image133.svg"/><Relationship Id="rId2" Type="http://schemas.openxmlformats.org/officeDocument/2006/relationships/slideLayout" Target="../slideLayouts/slideLayout12.xml"/><Relationship Id="rId1" Type="http://schemas.openxmlformats.org/officeDocument/2006/relationships/tags" Target="../tags/tag85.xml"/><Relationship Id="rId6" Type="http://schemas.openxmlformats.org/officeDocument/2006/relationships/image" Target="../media/image132.png"/><Relationship Id="rId5" Type="http://schemas.openxmlformats.org/officeDocument/2006/relationships/image" Target="../media/image119.svg"/><Relationship Id="rId4" Type="http://schemas.openxmlformats.org/officeDocument/2006/relationships/image" Target="../media/image11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tags" Target="../tags/tag86.xml"/></Relationships>
</file>

<file path=ppt/slides/_rels/slide32.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svg"/><Relationship Id="rId3" Type="http://schemas.openxmlformats.org/officeDocument/2006/relationships/notesSlide" Target="../notesSlides/notesSlide32.xml"/><Relationship Id="rId7" Type="http://schemas.openxmlformats.org/officeDocument/2006/relationships/image" Target="../media/image137.svg"/><Relationship Id="rId12" Type="http://schemas.openxmlformats.org/officeDocument/2006/relationships/image" Target="../media/image142.png"/><Relationship Id="rId17" Type="http://schemas.openxmlformats.org/officeDocument/2006/relationships/image" Target="../media/image147.svg"/><Relationship Id="rId2" Type="http://schemas.openxmlformats.org/officeDocument/2006/relationships/slideLayout" Target="../slideLayouts/slideLayout12.xml"/><Relationship Id="rId16" Type="http://schemas.openxmlformats.org/officeDocument/2006/relationships/image" Target="../media/image146.png"/><Relationship Id="rId1" Type="http://schemas.openxmlformats.org/officeDocument/2006/relationships/tags" Target="../tags/tag87.xml"/><Relationship Id="rId6" Type="http://schemas.openxmlformats.org/officeDocument/2006/relationships/image" Target="../media/image136.png"/><Relationship Id="rId11" Type="http://schemas.openxmlformats.org/officeDocument/2006/relationships/image" Target="../media/image141.svg"/><Relationship Id="rId5" Type="http://schemas.openxmlformats.org/officeDocument/2006/relationships/image" Target="../media/image135.svg"/><Relationship Id="rId15" Type="http://schemas.openxmlformats.org/officeDocument/2006/relationships/image" Target="../media/image145.sv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svg"/><Relationship Id="rId14" Type="http://schemas.openxmlformats.org/officeDocument/2006/relationships/image" Target="../media/image14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xml"/><Relationship Id="rId1" Type="http://schemas.openxmlformats.org/officeDocument/2006/relationships/tags" Target="../tags/tag8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ags" Target="../tags/tag89.xml"/><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9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1.xml"/><Relationship Id="rId1" Type="http://schemas.openxmlformats.org/officeDocument/2006/relationships/tags" Target="../tags/tag91.xml"/><Relationship Id="rId5" Type="http://schemas.openxmlformats.org/officeDocument/2006/relationships/image" Target="../media/image102.svg"/><Relationship Id="rId4" Type="http://schemas.openxmlformats.org/officeDocument/2006/relationships/image" Target="../media/image10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9.xml"/><Relationship Id="rId1" Type="http://schemas.openxmlformats.org/officeDocument/2006/relationships/tags" Target="../tags/tag92.xml"/><Relationship Id="rId5" Type="http://schemas.openxmlformats.org/officeDocument/2006/relationships/image" Target="../media/image137.svg"/><Relationship Id="rId4" Type="http://schemas.openxmlformats.org/officeDocument/2006/relationships/image" Target="../media/image136.png"/></Relationships>
</file>

<file path=ppt/slides/_rels/slide38.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notesSlide" Target="../notesSlides/notesSlide38.xml"/><Relationship Id="rId7" Type="http://schemas.openxmlformats.org/officeDocument/2006/relationships/image" Target="../media/image149.svg"/><Relationship Id="rId2" Type="http://schemas.openxmlformats.org/officeDocument/2006/relationships/slideLayout" Target="../slideLayouts/slideLayout9.xml"/><Relationship Id="rId1" Type="http://schemas.openxmlformats.org/officeDocument/2006/relationships/tags" Target="../tags/tag93.xml"/><Relationship Id="rId6" Type="http://schemas.openxmlformats.org/officeDocument/2006/relationships/image" Target="../media/image136.png"/><Relationship Id="rId5" Type="http://schemas.openxmlformats.org/officeDocument/2006/relationships/image" Target="../media/image148.svg"/><Relationship Id="rId4" Type="http://schemas.openxmlformats.org/officeDocument/2006/relationships/image" Target="../media/image140.png"/><Relationship Id="rId9" Type="http://schemas.openxmlformats.org/officeDocument/2006/relationships/image" Target="../media/image151.sv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9.xml"/><Relationship Id="rId1" Type="http://schemas.openxmlformats.org/officeDocument/2006/relationships/tags" Target="../tags/tag9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7" Type="http://schemas.openxmlformats.org/officeDocument/2006/relationships/image" Target="../media/image153.svg"/><Relationship Id="rId2" Type="http://schemas.openxmlformats.org/officeDocument/2006/relationships/slideLayout" Target="../slideLayouts/slideLayout9.xml"/><Relationship Id="rId1" Type="http://schemas.openxmlformats.org/officeDocument/2006/relationships/tags" Target="../tags/tag95.xml"/><Relationship Id="rId6" Type="http://schemas.openxmlformats.org/officeDocument/2006/relationships/image" Target="../media/image152.png"/><Relationship Id="rId5" Type="http://schemas.openxmlformats.org/officeDocument/2006/relationships/image" Target="../media/image151.svg"/><Relationship Id="rId4" Type="http://schemas.openxmlformats.org/officeDocument/2006/relationships/image" Target="../media/image150.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0.xml"/><Relationship Id="rId1" Type="http://schemas.openxmlformats.org/officeDocument/2006/relationships/tags" Target="../tags/tag96.xml"/><Relationship Id="rId5" Type="http://schemas.openxmlformats.org/officeDocument/2006/relationships/image" Target="../media/image155.svg"/><Relationship Id="rId4" Type="http://schemas.openxmlformats.org/officeDocument/2006/relationships/image" Target="../media/image154.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tags" Target="../tags/tag97.xml"/><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xml"/><Relationship Id="rId1" Type="http://schemas.openxmlformats.org/officeDocument/2006/relationships/tags" Target="../tags/tag98.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9.xml"/><Relationship Id="rId1" Type="http://schemas.openxmlformats.org/officeDocument/2006/relationships/tags" Target="../tags/tag99.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8.xml"/><Relationship Id="rId1" Type="http://schemas.openxmlformats.org/officeDocument/2006/relationships/tags" Target="../tags/tag100.xml"/><Relationship Id="rId4" Type="http://schemas.openxmlformats.org/officeDocument/2006/relationships/image" Target="../media/image156.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8.xml"/><Relationship Id="rId1" Type="http://schemas.openxmlformats.org/officeDocument/2006/relationships/tags" Target="../tags/tag101.xml"/><Relationship Id="rId4" Type="http://schemas.openxmlformats.org/officeDocument/2006/relationships/hyperlink" Target="https://support.aws.amazon.com/#/contacts/aws-acade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9842DC35-7C76-4690-A5EB-C6DEF33633CF}"/>
              </a:ext>
            </a:extLst>
          </p:cNvPr>
          <p:cNvSpPr>
            <a:spLocks noGrp="1"/>
          </p:cNvSpPr>
          <p:nvPr>
            <p:ph type="sldNum" idx="97"/>
          </p:nvPr>
        </p:nvSpPr>
        <p:spPr/>
        <p:txBody>
          <a:bodyPr/>
          <a:lstStyle/>
          <a:p>
            <a:fld id="{4037B1B0-0345-4E15-985A-6BECCDBE474F}" type="slidenum">
              <a:rPr lang="en-US" smtClean="0"/>
              <a:pPr/>
              <a:t>1</a:t>
            </a:fld>
            <a:endParaRPr lang="en-US" dirty="0"/>
          </a:p>
        </p:txBody>
      </p:sp>
      <p:sp>
        <p:nvSpPr>
          <p:cNvPr id="6" name="Title"/>
          <p:cNvSpPr>
            <a:spLocks noGrp="1"/>
          </p:cNvSpPr>
          <p:nvPr>
            <p:ph type="title" idx="1"/>
          </p:nvPr>
        </p:nvSpPr>
        <p:spPr>
          <a:xfrm>
            <a:off x="457200" y="1051560"/>
            <a:ext cx="10230787" cy="1673352"/>
          </a:xfrm>
        </p:spPr>
        <p:txBody>
          <a:bodyPr>
            <a:normAutofit/>
          </a:bodyPr>
          <a:lstStyle/>
          <a:p>
            <a:r>
              <a:rPr lang="en-US" dirty="0"/>
              <a:t>Introducing Cloud Architecting</a:t>
            </a:r>
          </a:p>
        </p:txBody>
      </p:sp>
      <p:sp>
        <p:nvSpPr>
          <p:cNvPr id="2" name="Text Placeholder 1">
            <a:extLst>
              <a:ext uri="{FF2B5EF4-FFF2-40B4-BE49-F238E27FC236}">
                <a16:creationId xmlns:a16="http://schemas.microsoft.com/office/drawing/2014/main" id="{E8213009-50A0-5448-BFE6-30EFBA8DB8F6}"/>
              </a:ext>
            </a:extLst>
          </p:cNvPr>
          <p:cNvSpPr>
            <a:spLocks noGrp="1"/>
          </p:cNvSpPr>
          <p:nvPr>
            <p:ph type="body" idx="2"/>
          </p:nvPr>
        </p:nvSpPr>
        <p:spPr>
          <a:xfrm>
            <a:off x="457200" y="2772920"/>
            <a:ext cx="5868649" cy="1755648"/>
          </a:xfrm>
        </p:spPr>
        <p:txBody>
          <a:bodyPr/>
          <a:lstStyle/>
          <a:p>
            <a:r>
              <a:rPr lang="en-US" dirty="0"/>
              <a:t>AWS Academy Cloud Architecting</a:t>
            </a:r>
          </a:p>
        </p:txBody>
      </p:sp>
    </p:spTree>
    <p:custDataLst>
      <p:tags r:id="rId1"/>
    </p:custDataLst>
    <p:extLst>
      <p:ext uri="{BB962C8B-B14F-4D97-AF65-F5344CB8AC3E}">
        <p14:creationId xmlns:p14="http://schemas.microsoft.com/office/powerpoint/2010/main" val="3562200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A542E85F-89AA-4CF8-81DD-B47083528F54}"/>
              </a:ext>
            </a:extLst>
          </p:cNvPr>
          <p:cNvSpPr>
            <a:spLocks noGrp="1"/>
          </p:cNvSpPr>
          <p:nvPr>
            <p:ph type="sldNum" idx="97"/>
          </p:nvPr>
        </p:nvSpPr>
        <p:spPr/>
        <p:txBody>
          <a:bodyPr/>
          <a:lstStyle/>
          <a:p>
            <a:fld id="{4037B1B0-0345-4E15-985A-6BECCDBE474F}" type="slidenum">
              <a:rPr lang="en-US" smtClean="0"/>
              <a:pPr/>
              <a:t>2</a:t>
            </a:fld>
            <a:endParaRPr lang="en-US" dirty="0"/>
          </a:p>
        </p:txBody>
      </p:sp>
      <p:sp>
        <p:nvSpPr>
          <p:cNvPr id="5" name="Title">
            <a:extLst>
              <a:ext uri="{FF2B5EF4-FFF2-40B4-BE49-F238E27FC236}">
                <a16:creationId xmlns:a16="http://schemas.microsoft.com/office/drawing/2014/main" id="{7421A085-7841-4A79-873C-DC2174EB8422}"/>
              </a:ext>
            </a:extLst>
          </p:cNvPr>
          <p:cNvSpPr>
            <a:spLocks noGrp="1"/>
          </p:cNvSpPr>
          <p:nvPr>
            <p:ph type="title" idx="1"/>
          </p:nvPr>
        </p:nvSpPr>
        <p:spPr/>
        <p:txBody>
          <a:bodyPr/>
          <a:lstStyle/>
          <a:p>
            <a:r>
              <a:rPr lang="en-US" dirty="0"/>
              <a:t>Introduction</a:t>
            </a:r>
          </a:p>
        </p:txBody>
      </p:sp>
      <p:sp>
        <p:nvSpPr>
          <p:cNvPr id="6" name="Subtitle 5">
            <a:extLst>
              <a:ext uri="{FF2B5EF4-FFF2-40B4-BE49-F238E27FC236}">
                <a16:creationId xmlns:a16="http://schemas.microsoft.com/office/drawing/2014/main" id="{EDD260CC-B2D2-4009-876B-1B98CE0DE56A}"/>
              </a:ext>
            </a:extLst>
          </p:cNvPr>
          <p:cNvSpPr>
            <a:spLocks noGrp="1"/>
          </p:cNvSpPr>
          <p:nvPr>
            <p:ph type="subTitle" idx="2"/>
          </p:nvPr>
        </p:nvSpPr>
        <p:spPr/>
        <p:txBody>
          <a:bodyPr/>
          <a:lstStyle/>
          <a:p>
            <a:r>
              <a:rPr lang="en-US" dirty="0"/>
              <a:t>Introducing Cloud Architecting</a:t>
            </a:r>
          </a:p>
        </p:txBody>
      </p:sp>
    </p:spTree>
    <p:custDataLst>
      <p:tags r:id="rId1"/>
    </p:custDataLst>
    <p:extLst>
      <p:ext uri="{BB962C8B-B14F-4D97-AF65-F5344CB8AC3E}">
        <p14:creationId xmlns:p14="http://schemas.microsoft.com/office/powerpoint/2010/main" val="3841019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AFA1575B-E7DC-49AE-B5D0-D53AA2F0C641}"/>
              </a:ext>
            </a:extLst>
          </p:cNvPr>
          <p:cNvSpPr>
            <a:spLocks noGrp="1"/>
          </p:cNvSpPr>
          <p:nvPr>
            <p:ph type="sldNum" idx="97"/>
          </p:nvPr>
        </p:nvSpPr>
        <p:spPr/>
        <p:txBody>
          <a:bodyPr/>
          <a:lstStyle/>
          <a:p>
            <a:fld id="{930176A1-BCF0-4712-97A6-6B495F55390B}" type="slidenum">
              <a:rPr lang="en-US" smtClean="0"/>
              <a:pPr/>
              <a:t>3</a:t>
            </a:fld>
            <a:endParaRPr lang="en-US" dirty="0"/>
          </a:p>
        </p:txBody>
      </p:sp>
      <p:sp>
        <p:nvSpPr>
          <p:cNvPr id="3" name="Title"/>
          <p:cNvSpPr>
            <a:spLocks noGrp="1"/>
          </p:cNvSpPr>
          <p:nvPr>
            <p:ph type="title" idx="1"/>
          </p:nvPr>
        </p:nvSpPr>
        <p:spPr/>
        <p:txBody>
          <a:bodyPr/>
          <a:lstStyle/>
          <a:p>
            <a:r>
              <a:rPr lang="en-US" dirty="0"/>
              <a:t>Module objectives</a:t>
            </a:r>
          </a:p>
        </p:txBody>
      </p:sp>
      <p:sp>
        <p:nvSpPr>
          <p:cNvPr id="9" name="Text Placeholder 8">
            <a:extLst>
              <a:ext uri="{FF2B5EF4-FFF2-40B4-BE49-F238E27FC236}">
                <a16:creationId xmlns:a16="http://schemas.microsoft.com/office/drawing/2014/main" id="{84FD8CD7-012B-416E-A14C-109F47002A88}"/>
              </a:ext>
            </a:extLst>
          </p:cNvPr>
          <p:cNvSpPr>
            <a:spLocks noGrp="1"/>
          </p:cNvSpPr>
          <p:nvPr>
            <p:ph type="body" idx="3"/>
          </p:nvPr>
        </p:nvSpPr>
        <p:spPr/>
        <p:txBody>
          <a:bodyPr>
            <a:normAutofit/>
          </a:bodyPr>
          <a:lstStyle/>
          <a:p>
            <a:pPr marL="0" indent="0">
              <a:buNone/>
            </a:pPr>
            <a:r>
              <a:rPr lang="en-US" dirty="0"/>
              <a:t>This module prepares you to do the following:</a:t>
            </a:r>
          </a:p>
          <a:p>
            <a:pPr lvl="1"/>
            <a:r>
              <a:rPr lang="en-US" dirty="0"/>
              <a:t>Define cloud architecture.</a:t>
            </a:r>
          </a:p>
          <a:p>
            <a:pPr lvl="1"/>
            <a:r>
              <a:rPr lang="en-US" dirty="0"/>
              <a:t>Describe how to design and evaluate architectures using the AWS Well-Architected Framework.</a:t>
            </a:r>
          </a:p>
          <a:p>
            <a:pPr lvl="1"/>
            <a:r>
              <a:rPr lang="en-US" dirty="0"/>
              <a:t>Explain best practices for building solutions on Amazon Web Services (AWS).</a:t>
            </a:r>
          </a:p>
          <a:p>
            <a:pPr lvl="1"/>
            <a:r>
              <a:rPr lang="en-US" dirty="0"/>
              <a:t>Describe how to make informed decisions about where to place AWS resources.</a:t>
            </a:r>
          </a:p>
        </p:txBody>
      </p:sp>
    </p:spTree>
    <p:custDataLst>
      <p:tags r:id="rId1"/>
    </p:custDataLst>
    <p:extLst>
      <p:ext uri="{BB962C8B-B14F-4D97-AF65-F5344CB8AC3E}">
        <p14:creationId xmlns:p14="http://schemas.microsoft.com/office/powerpoint/2010/main" val="3332038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A2C7B7C-C229-4646-B006-2BC6AB472627}"/>
              </a:ext>
            </a:extLst>
          </p:cNvPr>
          <p:cNvSpPr>
            <a:spLocks noGrp="1"/>
          </p:cNvSpPr>
          <p:nvPr>
            <p:ph type="sldNum" idx="97"/>
          </p:nvPr>
        </p:nvSpPr>
        <p:spPr/>
        <p:txBody>
          <a:bodyPr/>
          <a:lstStyle/>
          <a:p>
            <a:fld id="{4037B1B0-0345-4E15-985A-6BECCDBE474F}" type="slidenum">
              <a:rPr lang="en-US" smtClean="0"/>
              <a:pPr/>
              <a:t>4</a:t>
            </a:fld>
            <a:endParaRPr lang="en-US" dirty="0"/>
          </a:p>
        </p:txBody>
      </p:sp>
      <p:sp>
        <p:nvSpPr>
          <p:cNvPr id="3" name="Title">
            <a:extLst>
              <a:ext uri="{FF2B5EF4-FFF2-40B4-BE49-F238E27FC236}">
                <a16:creationId xmlns:a16="http://schemas.microsoft.com/office/drawing/2014/main" id="{A45F79CE-079F-4BFD-925E-607AD716FC59}"/>
              </a:ext>
            </a:extLst>
          </p:cNvPr>
          <p:cNvSpPr>
            <a:spLocks noGrp="1"/>
          </p:cNvSpPr>
          <p:nvPr>
            <p:ph type="title" idx="1"/>
          </p:nvPr>
        </p:nvSpPr>
        <p:spPr/>
        <p:txBody>
          <a:bodyPr/>
          <a:lstStyle/>
          <a:p>
            <a:r>
              <a:rPr lang="en-US" dirty="0"/>
              <a:t>Module overview</a:t>
            </a:r>
          </a:p>
        </p:txBody>
      </p:sp>
      <p:sp>
        <p:nvSpPr>
          <p:cNvPr id="4" name="Content Placeholder 3">
            <a:extLst>
              <a:ext uri="{FF2B5EF4-FFF2-40B4-BE49-F238E27FC236}">
                <a16:creationId xmlns:a16="http://schemas.microsoft.com/office/drawing/2014/main" id="{48435877-AC79-4C4D-89E7-4809753FFE97}"/>
              </a:ext>
            </a:extLst>
          </p:cNvPr>
          <p:cNvSpPr>
            <a:spLocks noGrp="1"/>
          </p:cNvSpPr>
          <p:nvPr>
            <p:ph idx="2"/>
          </p:nvPr>
        </p:nvSpPr>
        <p:spPr/>
        <p:txBody>
          <a:bodyPr/>
          <a:lstStyle/>
          <a:p>
            <a:pPr marL="0" indent="0">
              <a:buNone/>
            </a:pPr>
            <a:r>
              <a:rPr lang="en-US" b="1" dirty="0"/>
              <a:t>Presentation sections</a:t>
            </a:r>
          </a:p>
          <a:p>
            <a:pPr lvl="1"/>
            <a:r>
              <a:rPr lang="en-US" dirty="0"/>
              <a:t>Cloud Architecting</a:t>
            </a:r>
          </a:p>
          <a:p>
            <a:pPr lvl="1"/>
            <a:r>
              <a:rPr lang="en-US" dirty="0"/>
              <a:t>AWS Well-Architected Framework</a:t>
            </a:r>
          </a:p>
          <a:p>
            <a:pPr lvl="1"/>
            <a:r>
              <a:rPr lang="en-US" dirty="0"/>
              <a:t>Best practices for building solutions on AWS</a:t>
            </a:r>
          </a:p>
          <a:p>
            <a:pPr lvl="1"/>
            <a:r>
              <a:rPr lang="en-US" dirty="0"/>
              <a:t>AWS Global Infrastructure</a:t>
            </a:r>
          </a:p>
        </p:txBody>
      </p:sp>
      <p:sp>
        <p:nvSpPr>
          <p:cNvPr id="5" name="Content Placeholder 4">
            <a:extLst>
              <a:ext uri="{FF2B5EF4-FFF2-40B4-BE49-F238E27FC236}">
                <a16:creationId xmlns:a16="http://schemas.microsoft.com/office/drawing/2014/main" id="{FB137B56-CECC-4152-85FC-5B97BD22297E}"/>
              </a:ext>
            </a:extLst>
          </p:cNvPr>
          <p:cNvSpPr>
            <a:spLocks noGrp="1"/>
          </p:cNvSpPr>
          <p:nvPr>
            <p:ph idx="3"/>
          </p:nvPr>
        </p:nvSpPr>
        <p:spPr>
          <a:xfrm>
            <a:off x="6104354" y="1074319"/>
            <a:ext cx="5669280" cy="5330952"/>
          </a:xfrm>
        </p:spPr>
        <p:txBody>
          <a:bodyPr/>
          <a:lstStyle/>
          <a:p>
            <a:pPr marL="0" indent="0">
              <a:buNone/>
            </a:pPr>
            <a:r>
              <a:rPr lang="en-US" b="1" dirty="0"/>
              <a:t>Knowledge checks</a:t>
            </a:r>
          </a:p>
          <a:p>
            <a:pPr lvl="1"/>
            <a:r>
              <a:rPr lang="en-US" dirty="0"/>
              <a:t>10-question knowledge check</a:t>
            </a:r>
          </a:p>
        </p:txBody>
      </p:sp>
    </p:spTree>
    <p:custDataLst>
      <p:tags r:id="rId1"/>
    </p:custDataLst>
    <p:extLst>
      <p:ext uri="{BB962C8B-B14F-4D97-AF65-F5344CB8AC3E}">
        <p14:creationId xmlns:p14="http://schemas.microsoft.com/office/powerpoint/2010/main" val="3729737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57643F9-AF74-4A3C-A8B5-8A6841AD99CB}"/>
              </a:ext>
            </a:extLst>
          </p:cNvPr>
          <p:cNvSpPr>
            <a:spLocks noGrp="1"/>
          </p:cNvSpPr>
          <p:nvPr>
            <p:ph type="sldNum" idx="97"/>
          </p:nvPr>
        </p:nvSpPr>
        <p:spPr/>
        <p:txBody>
          <a:bodyPr/>
          <a:lstStyle/>
          <a:p>
            <a:fld id="{930176A1-BCF0-4712-97A6-6B495F55390B}" type="slidenum">
              <a:rPr lang="en-US" smtClean="0"/>
              <a:pPr/>
              <a:t>5</a:t>
            </a:fld>
            <a:endParaRPr lang="en-US" dirty="0"/>
          </a:p>
        </p:txBody>
      </p:sp>
      <p:sp>
        <p:nvSpPr>
          <p:cNvPr id="3" name="Title">
            <a:extLst>
              <a:ext uri="{FF2B5EF4-FFF2-40B4-BE49-F238E27FC236}">
                <a16:creationId xmlns:a16="http://schemas.microsoft.com/office/drawing/2014/main" id="{452E88D9-9979-49F6-B3DA-BAE1DD36FE32}"/>
              </a:ext>
            </a:extLst>
          </p:cNvPr>
          <p:cNvSpPr>
            <a:spLocks noGrp="1"/>
          </p:cNvSpPr>
          <p:nvPr>
            <p:ph type="title" idx="1"/>
          </p:nvPr>
        </p:nvSpPr>
        <p:spPr>
          <a:xfrm>
            <a:off x="243242" y="292099"/>
            <a:ext cx="4062057" cy="1981869"/>
          </a:xfrm>
        </p:spPr>
        <p:txBody>
          <a:bodyPr>
            <a:normAutofit fontScale="90000"/>
          </a:bodyPr>
          <a:lstStyle/>
          <a:p>
            <a:r>
              <a:rPr lang="en-US" dirty="0"/>
              <a:t>As a cloud architect designing AWS architectures:</a:t>
            </a:r>
          </a:p>
        </p:txBody>
      </p:sp>
      <p:sp>
        <p:nvSpPr>
          <p:cNvPr id="6" name="Text Placeholder 5">
            <a:extLst>
              <a:ext uri="{FF2B5EF4-FFF2-40B4-BE49-F238E27FC236}">
                <a16:creationId xmlns:a16="http://schemas.microsoft.com/office/drawing/2014/main" id="{717FCDCA-B380-4417-A52A-4C52217B205F}"/>
              </a:ext>
            </a:extLst>
          </p:cNvPr>
          <p:cNvSpPr>
            <a:spLocks noGrp="1"/>
          </p:cNvSpPr>
          <p:nvPr>
            <p:ph type="body" idx="3"/>
          </p:nvPr>
        </p:nvSpPr>
        <p:spPr/>
        <p:txBody>
          <a:bodyPr/>
          <a:lstStyle/>
          <a:p>
            <a:r>
              <a:rPr lang="en-US" dirty="0"/>
              <a:t>I need to understand the practice of applying cloud best practices to a solution that uses cloud services and features to meet an organization’s technical needs and business use cases. </a:t>
            </a:r>
          </a:p>
          <a:p>
            <a:r>
              <a:rPr lang="en-US" dirty="0"/>
              <a:t>I need to evaluate an architecture with the AWS Well-Architected Framework. </a:t>
            </a:r>
          </a:p>
          <a:p>
            <a:r>
              <a:rPr lang="en-US" dirty="0"/>
              <a:t>I need to apply best practices to building solutions on AWS. </a:t>
            </a:r>
          </a:p>
          <a:p>
            <a:endParaRPr lang="en-US" dirty="0"/>
          </a:p>
          <a:p>
            <a:endParaRPr lang="en-US" dirty="0"/>
          </a:p>
          <a:p>
            <a:pPr lvl="1"/>
            <a:endParaRPr lang="en-US" dirty="0"/>
          </a:p>
        </p:txBody>
      </p:sp>
      <p:pic>
        <p:nvPicPr>
          <p:cNvPr id="9" name="Picture 8">
            <a:extLst>
              <a:ext uri="{FF2B5EF4-FFF2-40B4-BE49-F238E27FC236}">
                <a16:creationId xmlns:a16="http://schemas.microsoft.com/office/drawing/2014/main" id="{9D5228ED-D20E-4948-9126-DB29262A6F2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38814" y="2434960"/>
            <a:ext cx="2476541" cy="3641432"/>
          </a:xfrm>
          <a:prstGeom prst="rect">
            <a:avLst/>
          </a:prstGeom>
        </p:spPr>
      </p:pic>
    </p:spTree>
    <p:custDataLst>
      <p:tags r:id="rId1"/>
    </p:custDataLst>
    <p:extLst>
      <p:ext uri="{BB962C8B-B14F-4D97-AF65-F5344CB8AC3E}">
        <p14:creationId xmlns:p14="http://schemas.microsoft.com/office/powerpoint/2010/main" val="653072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11519377-6E56-442D-95EC-3E2155806978}"/>
              </a:ext>
            </a:extLst>
          </p:cNvPr>
          <p:cNvSpPr>
            <a:spLocks noGrp="1"/>
          </p:cNvSpPr>
          <p:nvPr>
            <p:ph type="sldNum" idx="97"/>
          </p:nvPr>
        </p:nvSpPr>
        <p:spPr/>
        <p:txBody>
          <a:bodyPr/>
          <a:lstStyle/>
          <a:p>
            <a:fld id="{4037B1B0-0345-4E15-985A-6BECCDBE474F}" type="slidenum">
              <a:rPr lang="en-US" smtClean="0"/>
              <a:pPr/>
              <a:t>6</a:t>
            </a:fld>
            <a:endParaRPr lang="en-US" dirty="0"/>
          </a:p>
        </p:txBody>
      </p:sp>
      <p:sp>
        <p:nvSpPr>
          <p:cNvPr id="2" name="Title"/>
          <p:cNvSpPr>
            <a:spLocks noGrp="1"/>
          </p:cNvSpPr>
          <p:nvPr>
            <p:ph type="title" idx="1"/>
          </p:nvPr>
        </p:nvSpPr>
        <p:spPr/>
        <p:txBody>
          <a:bodyPr>
            <a:noAutofit/>
          </a:bodyPr>
          <a:lstStyle/>
          <a:p>
            <a:r>
              <a:rPr lang="en-US" dirty="0">
                <a:latin typeface="+mj-lt"/>
              </a:rPr>
              <a:t>Cloud Architecting</a:t>
            </a:r>
          </a:p>
        </p:txBody>
      </p:sp>
      <p:sp>
        <p:nvSpPr>
          <p:cNvPr id="3" name="Text Placeholder 2">
            <a:extLst>
              <a:ext uri="{FF2B5EF4-FFF2-40B4-BE49-F238E27FC236}">
                <a16:creationId xmlns:a16="http://schemas.microsoft.com/office/drawing/2014/main" id="{CD64B8E0-60AD-514D-93D6-076C58CF731E}"/>
              </a:ext>
            </a:extLst>
          </p:cNvPr>
          <p:cNvSpPr>
            <a:spLocks noGrp="1"/>
          </p:cNvSpPr>
          <p:nvPr>
            <p:ph type="subTitle" idx="2"/>
          </p:nvPr>
        </p:nvSpPr>
        <p:spPr/>
        <p:txBody>
          <a:bodyPr>
            <a:normAutofit/>
          </a:bodyPr>
          <a:lstStyle/>
          <a:p>
            <a:r>
              <a:rPr lang="en-US" dirty="0">
                <a:latin typeface="+mn-lt"/>
              </a:rPr>
              <a:t>Introducing Cloud Architecting</a:t>
            </a:r>
          </a:p>
        </p:txBody>
      </p:sp>
    </p:spTree>
    <p:custDataLst>
      <p:tags r:id="rId1"/>
    </p:custDataLst>
    <p:extLst>
      <p:ext uri="{BB962C8B-B14F-4D97-AF65-F5344CB8AC3E}">
        <p14:creationId xmlns:p14="http://schemas.microsoft.com/office/powerpoint/2010/main" val="1605421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05415103-75FB-46CC-B197-5E61193274FE}"/>
              </a:ext>
            </a:extLst>
          </p:cNvPr>
          <p:cNvSpPr>
            <a:spLocks noGrp="1"/>
          </p:cNvSpPr>
          <p:nvPr>
            <p:ph type="sldNum" idx="97"/>
          </p:nvPr>
        </p:nvSpPr>
        <p:spPr>
          <a:xfrm>
            <a:off x="11393982" y="6446520"/>
            <a:ext cx="438354" cy="228600"/>
          </a:xfrm>
        </p:spPr>
        <p:txBody>
          <a:bodyPr/>
          <a:lstStyle/>
          <a:p>
            <a:fld id="{B6A95138-A96E-2F42-A959-2EFD44FE4AB7}" type="slidenum">
              <a:rPr lang="en-US" smtClean="0"/>
              <a:t>7</a:t>
            </a:fld>
            <a:endParaRPr lang="en-US" dirty="0"/>
          </a:p>
        </p:txBody>
      </p:sp>
      <p:sp>
        <p:nvSpPr>
          <p:cNvPr id="2" name="Title">
            <a:extLst>
              <a:ext uri="{FF2B5EF4-FFF2-40B4-BE49-F238E27FC236}">
                <a16:creationId xmlns:a16="http://schemas.microsoft.com/office/drawing/2014/main" id="{12333780-451D-624F-B22F-AC4418A3F4D9}"/>
              </a:ext>
            </a:extLst>
          </p:cNvPr>
          <p:cNvSpPr>
            <a:spLocks noGrp="1"/>
          </p:cNvSpPr>
          <p:nvPr>
            <p:ph type="title" idx="1"/>
          </p:nvPr>
        </p:nvSpPr>
        <p:spPr/>
        <p:txBody>
          <a:bodyPr/>
          <a:lstStyle/>
          <a:p>
            <a:r>
              <a:rPr lang="en-US" dirty="0"/>
              <a:t>Cloud computing and AWS</a:t>
            </a:r>
          </a:p>
        </p:txBody>
      </p:sp>
      <p:grpSp>
        <p:nvGrpSpPr>
          <p:cNvPr id="3" name="Group 2">
            <a:extLst>
              <a:ext uri="{FF2B5EF4-FFF2-40B4-BE49-F238E27FC236}">
                <a16:creationId xmlns:a16="http://schemas.microsoft.com/office/drawing/2014/main" id="{C7F5016A-55AF-40D9-AD89-4FCC2275E141}"/>
              </a:ext>
              <a:ext uri="{C183D7F6-B498-43B3-948B-1728B52AA6E4}">
                <adec:decorative xmlns:adec="http://schemas.microsoft.com/office/drawing/2017/decorative" val="1"/>
              </a:ext>
            </a:extLst>
          </p:cNvPr>
          <p:cNvGrpSpPr/>
          <p:nvPr/>
        </p:nvGrpSpPr>
        <p:grpSpPr>
          <a:xfrm>
            <a:off x="321645" y="1231232"/>
            <a:ext cx="11686770" cy="4728410"/>
            <a:chOff x="321645" y="1231232"/>
            <a:chExt cx="11686770" cy="4728410"/>
          </a:xfrm>
        </p:grpSpPr>
        <p:sp>
          <p:nvSpPr>
            <p:cNvPr id="7" name="Rectangle 6">
              <a:extLst>
                <a:ext uri="{FF2B5EF4-FFF2-40B4-BE49-F238E27FC236}">
                  <a16:creationId xmlns:a16="http://schemas.microsoft.com/office/drawing/2014/main" id="{DECC7415-2ADE-45A2-9C2F-96AE40D1CFEE}"/>
                </a:ext>
                <a:ext uri="{C183D7F6-B498-43B3-948B-1728B52AA6E4}">
                  <adec:decorative xmlns:adec="http://schemas.microsoft.com/office/drawing/2017/decorative" val="1"/>
                </a:ext>
              </a:extLst>
            </p:cNvPr>
            <p:cNvSpPr/>
            <p:nvPr/>
          </p:nvSpPr>
          <p:spPr>
            <a:xfrm>
              <a:off x="321645" y="1231232"/>
              <a:ext cx="3684877" cy="472841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9FCBB7FE-520F-4B76-976C-CA0496777565}"/>
                </a:ext>
                <a:ext uri="{C183D7F6-B498-43B3-948B-1728B52AA6E4}">
                  <adec:decorative xmlns:adec="http://schemas.microsoft.com/office/drawing/2017/decorative" val="1"/>
                </a:ext>
              </a:extLst>
            </p:cNvPr>
            <p:cNvSpPr/>
            <p:nvPr/>
          </p:nvSpPr>
          <p:spPr>
            <a:xfrm>
              <a:off x="4233512" y="1231232"/>
              <a:ext cx="3684877" cy="472841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68DA363-BAA3-4731-928F-624FB0C7FCD1}"/>
                </a:ext>
                <a:ext uri="{C183D7F6-B498-43B3-948B-1728B52AA6E4}">
                  <adec:decorative xmlns:adec="http://schemas.microsoft.com/office/drawing/2017/decorative" val="1"/>
                </a:ext>
              </a:extLst>
            </p:cNvPr>
            <p:cNvSpPr/>
            <p:nvPr/>
          </p:nvSpPr>
          <p:spPr>
            <a:xfrm>
              <a:off x="8145379" y="1231232"/>
              <a:ext cx="3684877" cy="472841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000">
              <a:extLst>
                <a:ext uri="{FF2B5EF4-FFF2-40B4-BE49-F238E27FC236}">
                  <a16:creationId xmlns:a16="http://schemas.microsoft.com/office/drawing/2014/main" id="{A970C7B7-27F6-43AE-9079-33FFD656C9A9}"/>
                </a:ext>
                <a:ext uri="{C183D7F6-B498-43B3-948B-1728B52AA6E4}">
                  <adec:decorative xmlns:adec="http://schemas.microsoft.com/office/drawing/2017/decorative" val="1"/>
                </a:ext>
              </a:extLst>
            </p:cNvPr>
            <p:cNvSpPr txBox="1"/>
            <p:nvPr/>
          </p:nvSpPr>
          <p:spPr>
            <a:xfrm>
              <a:off x="924831" y="1255296"/>
              <a:ext cx="2478505" cy="400110"/>
            </a:xfrm>
            <a:prstGeom prst="rect">
              <a:avLst/>
            </a:prstGeom>
            <a:noFill/>
          </p:spPr>
          <p:txBody>
            <a:bodyPr wrap="square" rtlCol="0">
              <a:spAutoFit/>
            </a:bodyPr>
            <a:lstStyle/>
            <a:p>
              <a:pPr algn="ctr"/>
              <a:r>
                <a:rPr lang="en-US" sz="2000" b="1" dirty="0">
                  <a:solidFill>
                    <a:srgbClr val="232F3E"/>
                  </a:solidFill>
                </a:rPr>
                <a:t>2000</a:t>
              </a:r>
            </a:p>
          </p:txBody>
        </p:sp>
        <p:sp>
          <p:nvSpPr>
            <p:cNvPr id="31" name="TextBox Amazon">
              <a:extLst>
                <a:ext uri="{FF2B5EF4-FFF2-40B4-BE49-F238E27FC236}">
                  <a16:creationId xmlns:a16="http://schemas.microsoft.com/office/drawing/2014/main" id="{F5B00073-AA8E-4F12-83BE-50D1A0E794B3}"/>
                </a:ext>
                <a:ext uri="{C183D7F6-B498-43B3-948B-1728B52AA6E4}">
                  <adec:decorative xmlns:adec="http://schemas.microsoft.com/office/drawing/2017/decorative" val="1"/>
                </a:ext>
              </a:extLst>
            </p:cNvPr>
            <p:cNvSpPr txBox="1"/>
            <p:nvPr/>
          </p:nvSpPr>
          <p:spPr>
            <a:xfrm>
              <a:off x="418045" y="3850542"/>
              <a:ext cx="3492076" cy="1077218"/>
            </a:xfrm>
            <a:prstGeom prst="rect">
              <a:avLst/>
            </a:prstGeom>
            <a:noFill/>
          </p:spPr>
          <p:txBody>
            <a:bodyPr wrap="square" rtlCol="0">
              <a:spAutoFit/>
            </a:bodyPr>
            <a:lstStyle/>
            <a:p>
              <a:pPr algn="ctr"/>
              <a:r>
                <a:rPr lang="en-US" sz="1600" dirty="0">
                  <a:solidFill>
                    <a:srgbClr val="232F3E"/>
                  </a:solidFill>
                </a:rPr>
                <a:t>Amazon was challenged with building an ecommerce service to for third-party sellers to build their own shopping sites.</a:t>
              </a:r>
            </a:p>
          </p:txBody>
        </p:sp>
        <p:sp>
          <p:nvSpPr>
            <p:cNvPr id="29" name="TextBox Early2000s">
              <a:extLst>
                <a:ext uri="{FF2B5EF4-FFF2-40B4-BE49-F238E27FC236}">
                  <a16:creationId xmlns:a16="http://schemas.microsoft.com/office/drawing/2014/main" id="{99617B2B-BBB6-4E9B-AF35-AF6344D7DDEC}"/>
                </a:ext>
                <a:ext uri="{C183D7F6-B498-43B3-948B-1728B52AA6E4}">
                  <adec:decorative xmlns:adec="http://schemas.microsoft.com/office/drawing/2017/decorative" val="1"/>
                </a:ext>
              </a:extLst>
            </p:cNvPr>
            <p:cNvSpPr txBox="1"/>
            <p:nvPr/>
          </p:nvSpPr>
          <p:spPr>
            <a:xfrm>
              <a:off x="4836698" y="1255296"/>
              <a:ext cx="2478505" cy="400110"/>
            </a:xfrm>
            <a:prstGeom prst="rect">
              <a:avLst/>
            </a:prstGeom>
            <a:noFill/>
          </p:spPr>
          <p:txBody>
            <a:bodyPr wrap="square" rtlCol="0">
              <a:spAutoFit/>
            </a:bodyPr>
            <a:lstStyle/>
            <a:p>
              <a:pPr algn="ctr"/>
              <a:r>
                <a:rPr lang="en-US" sz="2000" b="1" dirty="0">
                  <a:solidFill>
                    <a:srgbClr val="232F3E"/>
                  </a:solidFill>
                </a:rPr>
                <a:t>Early 2000s</a:t>
              </a:r>
            </a:p>
          </p:txBody>
        </p:sp>
        <p:sp>
          <p:nvSpPr>
            <p:cNvPr id="32" name="TextBox Developed APIs">
              <a:extLst>
                <a:ext uri="{FF2B5EF4-FFF2-40B4-BE49-F238E27FC236}">
                  <a16:creationId xmlns:a16="http://schemas.microsoft.com/office/drawing/2014/main" id="{EF650D27-B893-4D31-8A53-0B260595A108}"/>
                </a:ext>
                <a:ext uri="{C183D7F6-B498-43B3-948B-1728B52AA6E4}">
                  <adec:decorative xmlns:adec="http://schemas.microsoft.com/office/drawing/2017/decorative" val="1"/>
                </a:ext>
              </a:extLst>
            </p:cNvPr>
            <p:cNvSpPr txBox="1"/>
            <p:nvPr/>
          </p:nvSpPr>
          <p:spPr>
            <a:xfrm>
              <a:off x="4464573" y="3295433"/>
              <a:ext cx="3222754" cy="584775"/>
            </a:xfrm>
            <a:prstGeom prst="rect">
              <a:avLst/>
            </a:prstGeom>
            <a:noFill/>
          </p:spPr>
          <p:txBody>
            <a:bodyPr wrap="square" rtlCol="0">
              <a:spAutoFit/>
            </a:bodyPr>
            <a:lstStyle/>
            <a:p>
              <a:pPr algn="ctr"/>
              <a:r>
                <a:rPr lang="en-US" sz="1600" dirty="0">
                  <a:solidFill>
                    <a:srgbClr val="232F3E"/>
                  </a:solidFill>
                </a:rPr>
                <a:t>Amazon developed well-documented APIs.</a:t>
              </a:r>
            </a:p>
          </p:txBody>
        </p:sp>
        <p:sp>
          <p:nvSpPr>
            <p:cNvPr id="34" name="TextBox Still months">
              <a:extLst>
                <a:ext uri="{FF2B5EF4-FFF2-40B4-BE49-F238E27FC236}">
                  <a16:creationId xmlns:a16="http://schemas.microsoft.com/office/drawing/2014/main" id="{CB9BCB99-2C18-440F-A042-7FF765A9D82D}"/>
                </a:ext>
                <a:ext uri="{C183D7F6-B498-43B3-948B-1728B52AA6E4}">
                  <adec:decorative xmlns:adec="http://schemas.microsoft.com/office/drawing/2017/decorative" val="1"/>
                </a:ext>
              </a:extLst>
            </p:cNvPr>
            <p:cNvSpPr txBox="1"/>
            <p:nvPr/>
          </p:nvSpPr>
          <p:spPr>
            <a:xfrm>
              <a:off x="5007279" y="4416361"/>
              <a:ext cx="2137341" cy="584775"/>
            </a:xfrm>
            <a:prstGeom prst="rect">
              <a:avLst/>
            </a:prstGeom>
            <a:noFill/>
          </p:spPr>
          <p:txBody>
            <a:bodyPr wrap="square" rtlCol="0">
              <a:spAutoFit/>
            </a:bodyPr>
            <a:lstStyle/>
            <a:p>
              <a:pPr algn="ctr"/>
              <a:r>
                <a:rPr lang="en-US" sz="1600" dirty="0">
                  <a:solidFill>
                    <a:srgbClr val="232F3E"/>
                  </a:solidFill>
                </a:rPr>
                <a:t>Projects still took months to complete.</a:t>
              </a:r>
            </a:p>
          </p:txBody>
        </p:sp>
        <p:sp>
          <p:nvSpPr>
            <p:cNvPr id="10" name="TextBox 2006">
              <a:extLst>
                <a:ext uri="{FF2B5EF4-FFF2-40B4-BE49-F238E27FC236}">
                  <a16:creationId xmlns:a16="http://schemas.microsoft.com/office/drawing/2014/main" id="{55C8A979-D3DE-4B81-B36E-E75F1F3DA3DF}"/>
                </a:ext>
                <a:ext uri="{C183D7F6-B498-43B3-948B-1728B52AA6E4}">
                  <adec:decorative xmlns:adec="http://schemas.microsoft.com/office/drawing/2017/decorative" val="1"/>
                </a:ext>
              </a:extLst>
            </p:cNvPr>
            <p:cNvSpPr txBox="1"/>
            <p:nvPr/>
          </p:nvSpPr>
          <p:spPr>
            <a:xfrm>
              <a:off x="8748565" y="1255296"/>
              <a:ext cx="2478505" cy="400110"/>
            </a:xfrm>
            <a:prstGeom prst="rect">
              <a:avLst/>
            </a:prstGeom>
            <a:noFill/>
          </p:spPr>
          <p:txBody>
            <a:bodyPr wrap="square" rtlCol="0">
              <a:spAutoFit/>
            </a:bodyPr>
            <a:lstStyle/>
            <a:p>
              <a:pPr algn="ctr"/>
              <a:r>
                <a:rPr lang="en-US" sz="2000" b="1" dirty="0">
                  <a:solidFill>
                    <a:srgbClr val="232F3E"/>
                  </a:solidFill>
                </a:rPr>
                <a:t>2006</a:t>
              </a:r>
            </a:p>
          </p:txBody>
        </p:sp>
        <p:pic>
          <p:nvPicPr>
            <p:cNvPr id="11" name="Graphic 26">
              <a:extLst>
                <a:ext uri="{FF2B5EF4-FFF2-40B4-BE49-F238E27FC236}">
                  <a16:creationId xmlns:a16="http://schemas.microsoft.com/office/drawing/2014/main" id="{E28D01BE-2C8B-46DA-9021-FFCC2CB3FB70}"/>
                </a:ext>
                <a:ext uri="{C183D7F6-B498-43B3-948B-1728B52AA6E4}">
                  <adec:decorative xmlns:adec="http://schemas.microsoft.com/office/drawing/2017/decorative" val="1"/>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9606817" y="325870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SQS">
              <a:extLst>
                <a:ext uri="{FF2B5EF4-FFF2-40B4-BE49-F238E27FC236}">
                  <a16:creationId xmlns:a16="http://schemas.microsoft.com/office/drawing/2014/main" id="{79615F5E-530A-496A-AA30-2470695CDE20}"/>
                </a:ext>
                <a:ext uri="{C183D7F6-B498-43B3-948B-1728B52AA6E4}">
                  <adec:decorative xmlns:adec="http://schemas.microsoft.com/office/drawing/2017/decorative" val="1"/>
                </a:ext>
              </a:extLst>
            </p:cNvPr>
            <p:cNvSpPr txBox="1">
              <a:spLocks noChangeArrowheads="1"/>
            </p:cNvSpPr>
            <p:nvPr/>
          </p:nvSpPr>
          <p:spPr bwMode="auto">
            <a:xfrm>
              <a:off x="8841642" y="4026359"/>
              <a:ext cx="22923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solidFill>
                    <a:srgbClr val="232F3E"/>
                  </a:solidFill>
                  <a:latin typeface="+mn-lt"/>
                  <a:ea typeface="Amazon Ember" panose="020B0603020204020204" pitchFamily="34" charset="0"/>
                  <a:cs typeface="Arial" panose="020B0604020202020204" pitchFamily="34" charset="0"/>
                </a:rPr>
                <a:t>Amazon SQS</a:t>
              </a:r>
            </a:p>
          </p:txBody>
        </p:sp>
        <p:pic>
          <p:nvPicPr>
            <p:cNvPr id="15" name="Graphic 8">
              <a:extLst>
                <a:ext uri="{FF2B5EF4-FFF2-40B4-BE49-F238E27FC236}">
                  <a16:creationId xmlns:a16="http://schemas.microsoft.com/office/drawing/2014/main" id="{C7D10BDC-5C4A-4CBE-839A-326AFCCE5F9B}"/>
                </a:ext>
                <a:ext uri="{C183D7F6-B498-43B3-948B-1728B52AA6E4}">
                  <adec:decorative xmlns:adec="http://schemas.microsoft.com/office/drawing/2017/decorative" val="1"/>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8693466" y="45834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S3">
              <a:extLst>
                <a:ext uri="{FF2B5EF4-FFF2-40B4-BE49-F238E27FC236}">
                  <a16:creationId xmlns:a16="http://schemas.microsoft.com/office/drawing/2014/main" id="{56561999-F003-484F-8386-CA773FA2BC00}"/>
                </a:ext>
                <a:ext uri="{C183D7F6-B498-43B3-948B-1728B52AA6E4}">
                  <adec:decorative xmlns:adec="http://schemas.microsoft.com/office/drawing/2017/decorative" val="1"/>
                </a:ext>
              </a:extLst>
            </p:cNvPr>
            <p:cNvSpPr txBox="1">
              <a:spLocks noChangeArrowheads="1"/>
            </p:cNvSpPr>
            <p:nvPr/>
          </p:nvSpPr>
          <p:spPr bwMode="auto">
            <a:xfrm>
              <a:off x="7954485" y="5357507"/>
              <a:ext cx="22399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solidFill>
                    <a:srgbClr val="232F3E"/>
                  </a:solidFill>
                  <a:latin typeface="+mn-lt"/>
                  <a:ea typeface="Amazon Ember" panose="020B0603020204020204" pitchFamily="34" charset="0"/>
                  <a:cs typeface="Arial" panose="020B0604020202020204" pitchFamily="34" charset="0"/>
                </a:rPr>
                <a:t>Amazon S3</a:t>
              </a:r>
            </a:p>
          </p:txBody>
        </p:sp>
        <p:pic>
          <p:nvPicPr>
            <p:cNvPr id="17" name="Graphic 5">
              <a:extLst>
                <a:ext uri="{FF2B5EF4-FFF2-40B4-BE49-F238E27FC236}">
                  <a16:creationId xmlns:a16="http://schemas.microsoft.com/office/drawing/2014/main" id="{823286F4-82C6-4F49-A427-F788C135E46B}"/>
                </a:ext>
                <a:ext uri="{C183D7F6-B498-43B3-948B-1728B52AA6E4}">
                  <adec:decorative xmlns:adec="http://schemas.microsoft.com/office/drawing/2017/decorative" val="1"/>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10493146" y="45834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EC2">
              <a:extLst>
                <a:ext uri="{FF2B5EF4-FFF2-40B4-BE49-F238E27FC236}">
                  <a16:creationId xmlns:a16="http://schemas.microsoft.com/office/drawing/2014/main" id="{8B2FCFD0-6343-4CD8-8FB0-CB91B1315D8E}"/>
                </a:ext>
                <a:ext uri="{C183D7F6-B498-43B3-948B-1728B52AA6E4}">
                  <adec:decorative xmlns:adec="http://schemas.microsoft.com/office/drawing/2017/decorative" val="1"/>
                </a:ext>
              </a:extLst>
            </p:cNvPr>
            <p:cNvSpPr txBox="1">
              <a:spLocks noChangeArrowheads="1"/>
            </p:cNvSpPr>
            <p:nvPr/>
          </p:nvSpPr>
          <p:spPr bwMode="auto">
            <a:xfrm>
              <a:off x="9739878" y="5357507"/>
              <a:ext cx="22685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solidFill>
                    <a:srgbClr val="232F3E"/>
                  </a:solidFill>
                  <a:latin typeface="+mn-lt"/>
                  <a:ea typeface="Amazon Ember" panose="020B0603020204020204" pitchFamily="34" charset="0"/>
                  <a:cs typeface="Arial" panose="020B0604020202020204" pitchFamily="34" charset="0"/>
                </a:rPr>
                <a:t>Amazon EC2</a:t>
              </a:r>
            </a:p>
          </p:txBody>
        </p:sp>
        <p:pic>
          <p:nvPicPr>
            <p:cNvPr id="21" name="Graphic 20">
              <a:extLst>
                <a:ext uri="{FF2B5EF4-FFF2-40B4-BE49-F238E27FC236}">
                  <a16:creationId xmlns:a16="http://schemas.microsoft.com/office/drawing/2014/main" id="{18AEC38B-7272-422B-BAD2-4C0D6D009201}"/>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77259" y="2014985"/>
              <a:ext cx="1973649" cy="1973649"/>
            </a:xfrm>
            <a:prstGeom prst="rect">
              <a:avLst/>
            </a:prstGeom>
          </p:spPr>
        </p:pic>
        <p:pic>
          <p:nvPicPr>
            <p:cNvPr id="30" name="Picture 29">
              <a:extLst>
                <a:ext uri="{FF2B5EF4-FFF2-40B4-BE49-F238E27FC236}">
                  <a16:creationId xmlns:a16="http://schemas.microsoft.com/office/drawing/2014/main" id="{062387EE-CC42-482C-9902-A81BA84E1605}"/>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051043" y="1804168"/>
              <a:ext cx="1873549" cy="1120097"/>
            </a:xfrm>
            <a:prstGeom prst="rect">
              <a:avLst/>
            </a:prstGeom>
          </p:spPr>
        </p:pic>
        <p:pic>
          <p:nvPicPr>
            <p:cNvPr id="37" name="Graphic 36">
              <a:extLst>
                <a:ext uri="{FF2B5EF4-FFF2-40B4-BE49-F238E27FC236}">
                  <a16:creationId xmlns:a16="http://schemas.microsoft.com/office/drawing/2014/main" id="{A0E66C77-7EC0-45A5-A048-F9CE72267CD1}"/>
                </a:ext>
                <a:ext uri="{C183D7F6-B498-43B3-948B-1728B52AA6E4}">
                  <adec:decorative xmlns:adec="http://schemas.microsoft.com/office/drawing/2017/decorative" val="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442488" y="2176607"/>
              <a:ext cx="1266925" cy="1266925"/>
            </a:xfrm>
            <a:prstGeom prst="rect">
              <a:avLst/>
            </a:prstGeom>
          </p:spPr>
        </p:pic>
      </p:grpSp>
    </p:spTree>
    <p:custDataLst>
      <p:tags r:id="rId1"/>
    </p:custDataLst>
    <p:extLst>
      <p:ext uri="{BB962C8B-B14F-4D97-AF65-F5344CB8AC3E}">
        <p14:creationId xmlns:p14="http://schemas.microsoft.com/office/powerpoint/2010/main" val="847710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CEECE622-8F6A-2231-6395-8DAF602056B5}"/>
              </a:ext>
            </a:extLst>
          </p:cNvPr>
          <p:cNvSpPr>
            <a:spLocks noGrp="1"/>
          </p:cNvSpPr>
          <p:nvPr>
            <p:ph type="sldNum" idx="97"/>
          </p:nvPr>
        </p:nvSpPr>
        <p:spPr>
          <a:xfrm>
            <a:off x="11393982" y="6446520"/>
            <a:ext cx="438354" cy="228600"/>
          </a:xfrm>
        </p:spPr>
        <p:txBody>
          <a:bodyPr/>
          <a:lstStyle/>
          <a:p>
            <a:fld id="{B6A95138-A96E-2F42-A959-2EFD44FE4AB7}" type="slidenum">
              <a:rPr lang="en-US" smtClean="0"/>
              <a:t>8</a:t>
            </a:fld>
            <a:endParaRPr lang="en-US" dirty="0"/>
          </a:p>
        </p:txBody>
      </p:sp>
      <p:sp>
        <p:nvSpPr>
          <p:cNvPr id="2" name="Title">
            <a:extLst>
              <a:ext uri="{FF2B5EF4-FFF2-40B4-BE49-F238E27FC236}">
                <a16:creationId xmlns:a16="http://schemas.microsoft.com/office/drawing/2014/main" id="{55269B8D-1E59-40D5-A868-5455B90F68C3}"/>
              </a:ext>
            </a:extLst>
          </p:cNvPr>
          <p:cNvSpPr>
            <a:spLocks noGrp="1"/>
          </p:cNvSpPr>
          <p:nvPr>
            <p:ph type="title" idx="1"/>
          </p:nvPr>
        </p:nvSpPr>
        <p:spPr/>
        <p:txBody>
          <a:bodyPr/>
          <a:lstStyle/>
          <a:p>
            <a:r>
              <a:rPr lang="en-US" dirty="0"/>
              <a:t>Cloud architecture</a:t>
            </a:r>
          </a:p>
        </p:txBody>
      </p:sp>
      <p:sp>
        <p:nvSpPr>
          <p:cNvPr id="32" name="Text Placeholder 31">
            <a:extLst>
              <a:ext uri="{FF2B5EF4-FFF2-40B4-BE49-F238E27FC236}">
                <a16:creationId xmlns:a16="http://schemas.microsoft.com/office/drawing/2014/main" id="{A379DC52-6253-431A-81ED-C4B67F33A8F4}"/>
              </a:ext>
              <a:ext uri="{C183D7F6-B498-43B3-948B-1728B52AA6E4}">
                <adec:decorative xmlns:adec="http://schemas.microsoft.com/office/drawing/2017/decorative" val="1"/>
              </a:ext>
            </a:extLst>
          </p:cNvPr>
          <p:cNvSpPr>
            <a:spLocks noGrp="1"/>
          </p:cNvSpPr>
          <p:nvPr>
            <p:ph type="body" idx="2"/>
          </p:nvPr>
        </p:nvSpPr>
        <p:spPr/>
        <p:txBody>
          <a:bodyPr/>
          <a:lstStyle/>
          <a:p>
            <a:r>
              <a:rPr lang="en-US" dirty="0">
                <a:ea typeface="Amazon Ember Display" panose="020F0603020204020204" pitchFamily="34" charset="0"/>
                <a:cs typeface="Amazon Ember Display" panose="020F0603020204020204" pitchFamily="34" charset="0"/>
              </a:rPr>
              <a:t>Requirements</a:t>
            </a:r>
          </a:p>
        </p:txBody>
      </p:sp>
      <p:sp>
        <p:nvSpPr>
          <p:cNvPr id="33" name="Text Placeholder 32">
            <a:extLst>
              <a:ext uri="{FF2B5EF4-FFF2-40B4-BE49-F238E27FC236}">
                <a16:creationId xmlns:a16="http://schemas.microsoft.com/office/drawing/2014/main" id="{E650EBFA-31A7-497F-BD38-00EF1EAA22F0}"/>
              </a:ext>
              <a:ext uri="{C183D7F6-B498-43B3-948B-1728B52AA6E4}">
                <adec:decorative xmlns:adec="http://schemas.microsoft.com/office/drawing/2017/decorative" val="1"/>
              </a:ext>
            </a:extLst>
          </p:cNvPr>
          <p:cNvSpPr>
            <a:spLocks noGrp="1"/>
          </p:cNvSpPr>
          <p:nvPr>
            <p:ph type="body" idx="3"/>
          </p:nvPr>
        </p:nvSpPr>
        <p:spPr/>
        <p:txBody>
          <a:bodyPr/>
          <a:lstStyle/>
          <a:p>
            <a:r>
              <a:rPr lang="en-US" dirty="0">
                <a:ea typeface="Amazon Ember Display" panose="020F0603020204020204" pitchFamily="34" charset="0"/>
                <a:cs typeface="Amazon Ember Display" panose="020F0603020204020204" pitchFamily="34" charset="0"/>
              </a:rPr>
              <a:t>Structure design</a:t>
            </a:r>
          </a:p>
        </p:txBody>
      </p:sp>
      <p:sp>
        <p:nvSpPr>
          <p:cNvPr id="34" name="Text Placeholder 33">
            <a:extLst>
              <a:ext uri="{FF2B5EF4-FFF2-40B4-BE49-F238E27FC236}">
                <a16:creationId xmlns:a16="http://schemas.microsoft.com/office/drawing/2014/main" id="{B0C9CD04-2DB2-4493-A5A7-8AB5585C26D8}"/>
              </a:ext>
              <a:ext uri="{C183D7F6-B498-43B3-948B-1728B52AA6E4}">
                <adec:decorative xmlns:adec="http://schemas.microsoft.com/office/drawing/2017/decorative" val="1"/>
              </a:ext>
            </a:extLst>
          </p:cNvPr>
          <p:cNvSpPr>
            <a:spLocks noGrp="1"/>
          </p:cNvSpPr>
          <p:nvPr>
            <p:ph type="body" idx="4"/>
          </p:nvPr>
        </p:nvSpPr>
        <p:spPr/>
        <p:txBody>
          <a:bodyPr/>
          <a:lstStyle/>
          <a:p>
            <a:r>
              <a:rPr lang="en-US" dirty="0">
                <a:ea typeface="Amazon Ember Display" panose="020F0603020204020204" pitchFamily="34" charset="0"/>
                <a:cs typeface="Amazon Ember Display" panose="020F0603020204020204" pitchFamily="34" charset="0"/>
              </a:rPr>
              <a:t>Completed structure</a:t>
            </a:r>
          </a:p>
        </p:txBody>
      </p:sp>
      <p:sp>
        <p:nvSpPr>
          <p:cNvPr id="45" name="Text Placeholder 44">
            <a:extLst>
              <a:ext uri="{FF2B5EF4-FFF2-40B4-BE49-F238E27FC236}">
                <a16:creationId xmlns:a16="http://schemas.microsoft.com/office/drawing/2014/main" id="{2A279396-8875-4891-A36D-15A67D48D912}"/>
              </a:ext>
              <a:ext uri="{C183D7F6-B498-43B3-948B-1728B52AA6E4}">
                <adec:decorative xmlns:adec="http://schemas.microsoft.com/office/drawing/2017/decorative" val="1"/>
              </a:ext>
            </a:extLst>
          </p:cNvPr>
          <p:cNvSpPr>
            <a:spLocks noGrp="1"/>
          </p:cNvSpPr>
          <p:nvPr>
            <p:ph type="body" idx="5"/>
          </p:nvPr>
        </p:nvSpPr>
        <p:spPr/>
        <p:txBody>
          <a:bodyPr/>
          <a:lstStyle/>
          <a:p>
            <a:r>
              <a:rPr lang="en-US" dirty="0">
                <a:ea typeface="Amazon Ember Display" panose="020F0603020204020204" pitchFamily="34" charset="0"/>
                <a:cs typeface="Amazon Ember Display" panose="020F0603020204020204" pitchFamily="34" charset="0"/>
              </a:rPr>
              <a:t>Customer</a:t>
            </a:r>
            <a:br>
              <a:rPr lang="en-US" dirty="0">
                <a:ea typeface="Amazon Ember Display" panose="020F0603020204020204" pitchFamily="34" charset="0"/>
                <a:cs typeface="Amazon Ember Display" panose="020F0603020204020204" pitchFamily="34" charset="0"/>
              </a:rPr>
            </a:br>
            <a:r>
              <a:rPr lang="en-US" dirty="0">
                <a:ea typeface="Amazon Ember Display" panose="020F0603020204020204" pitchFamily="34" charset="0"/>
                <a:cs typeface="Amazon Ember Display" panose="020F0603020204020204" pitchFamily="34" charset="0"/>
              </a:rPr>
              <a:t>(Decision maker)</a:t>
            </a:r>
          </a:p>
        </p:txBody>
      </p:sp>
      <p:sp>
        <p:nvSpPr>
          <p:cNvPr id="46" name="Text Placeholder 45">
            <a:extLst>
              <a:ext uri="{FF2B5EF4-FFF2-40B4-BE49-F238E27FC236}">
                <a16:creationId xmlns:a16="http://schemas.microsoft.com/office/drawing/2014/main" id="{F84E35F4-B784-4C30-A3BF-68FC8DEBF1BF}"/>
              </a:ext>
              <a:ext uri="{C183D7F6-B498-43B3-948B-1728B52AA6E4}">
                <adec:decorative xmlns:adec="http://schemas.microsoft.com/office/drawing/2017/decorative" val="1"/>
              </a:ext>
            </a:extLst>
          </p:cNvPr>
          <p:cNvSpPr>
            <a:spLocks noGrp="1"/>
          </p:cNvSpPr>
          <p:nvPr>
            <p:ph type="body" idx="6"/>
          </p:nvPr>
        </p:nvSpPr>
        <p:spPr/>
        <p:txBody>
          <a:bodyPr/>
          <a:lstStyle/>
          <a:p>
            <a:r>
              <a:rPr lang="en-US" dirty="0">
                <a:ea typeface="Amazon Ember Display" panose="020F0603020204020204" pitchFamily="34" charset="0"/>
                <a:cs typeface="Amazon Ember Display" panose="020F0603020204020204" pitchFamily="34" charset="0"/>
              </a:rPr>
              <a:t>Architect</a:t>
            </a:r>
          </a:p>
        </p:txBody>
      </p:sp>
      <p:sp>
        <p:nvSpPr>
          <p:cNvPr id="47" name="Text Placeholder 46">
            <a:extLst>
              <a:ext uri="{FF2B5EF4-FFF2-40B4-BE49-F238E27FC236}">
                <a16:creationId xmlns:a16="http://schemas.microsoft.com/office/drawing/2014/main" id="{65971702-4CA7-47E3-AC93-C6E9F07F88AB}"/>
              </a:ext>
              <a:ext uri="{C183D7F6-B498-43B3-948B-1728B52AA6E4}">
                <adec:decorative xmlns:adec="http://schemas.microsoft.com/office/drawing/2017/decorative" val="1"/>
              </a:ext>
            </a:extLst>
          </p:cNvPr>
          <p:cNvSpPr>
            <a:spLocks noGrp="1"/>
          </p:cNvSpPr>
          <p:nvPr>
            <p:ph type="body" idx="7"/>
          </p:nvPr>
        </p:nvSpPr>
        <p:spPr/>
        <p:txBody>
          <a:bodyPr/>
          <a:lstStyle/>
          <a:p>
            <a:r>
              <a:rPr lang="en-US" dirty="0">
                <a:ea typeface="Amazon Ember Display" panose="020F0603020204020204" pitchFamily="34" charset="0"/>
                <a:cs typeface="Amazon Ember Display" panose="020F0603020204020204" pitchFamily="34" charset="0"/>
              </a:rPr>
              <a:t>Building crew</a:t>
            </a:r>
            <a:br>
              <a:rPr lang="en-US" dirty="0">
                <a:ea typeface="Amazon Ember Display" panose="020F0603020204020204" pitchFamily="34" charset="0"/>
                <a:cs typeface="Amazon Ember Display" panose="020F0603020204020204" pitchFamily="34" charset="0"/>
              </a:rPr>
            </a:br>
            <a:r>
              <a:rPr lang="en-US" dirty="0">
                <a:ea typeface="Amazon Ember Display" panose="020F0603020204020204" pitchFamily="34" charset="0"/>
                <a:cs typeface="Amazon Ember Display" panose="020F0603020204020204" pitchFamily="34" charset="0"/>
              </a:rPr>
              <a:t>(Delivery team)</a:t>
            </a:r>
          </a:p>
        </p:txBody>
      </p:sp>
      <p:pic>
        <p:nvPicPr>
          <p:cNvPr id="93" name="Picture Placeholder 92">
            <a:extLst>
              <a:ext uri="{FF2B5EF4-FFF2-40B4-BE49-F238E27FC236}">
                <a16:creationId xmlns:a16="http://schemas.microsoft.com/office/drawing/2014/main" id="{63709F9C-4F6F-451C-B794-57FBDCDAF97C}"/>
              </a:ext>
              <a:ext uri="{C183D7F6-B498-43B3-948B-1728B52AA6E4}">
                <adec:decorative xmlns:adec="http://schemas.microsoft.com/office/drawing/2017/decorative" val="1"/>
              </a:ext>
            </a:extLst>
          </p:cNvPr>
          <p:cNvPicPr>
            <a:picLocks noGrp="1" noChangeAspect="1"/>
          </p:cNvPicPr>
          <p:nvPr>
            <p:ph type="pic" idx="22"/>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516063" y="1211263"/>
            <a:ext cx="1828800" cy="1828800"/>
          </a:xfrm>
          <a:prstGeom prst="rect">
            <a:avLst/>
          </a:prstGeom>
        </p:spPr>
      </p:pic>
      <p:pic>
        <p:nvPicPr>
          <p:cNvPr id="106" name="Picture Placeholder 105">
            <a:extLst>
              <a:ext uri="{FF2B5EF4-FFF2-40B4-BE49-F238E27FC236}">
                <a16:creationId xmlns:a16="http://schemas.microsoft.com/office/drawing/2014/main" id="{84BDFEA8-68B5-4A6C-90E2-5B0104BBC4A7}"/>
              </a:ext>
              <a:ext uri="{C183D7F6-B498-43B3-948B-1728B52AA6E4}">
                <adec:decorative xmlns:adec="http://schemas.microsoft.com/office/drawing/2017/decorative" val="1"/>
              </a:ext>
            </a:extLst>
          </p:cNvPr>
          <p:cNvPicPr>
            <a:picLocks noGrp="1" noChangeAspect="1"/>
          </p:cNvPicPr>
          <p:nvPr>
            <p:ph type="pic" idx="23"/>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5181600" y="1211263"/>
            <a:ext cx="1828800" cy="1828800"/>
          </a:xfrm>
          <a:prstGeom prst="rect">
            <a:avLst/>
          </a:prstGeom>
        </p:spPr>
      </p:pic>
      <p:pic>
        <p:nvPicPr>
          <p:cNvPr id="109" name="Picture Placeholder 108">
            <a:extLst>
              <a:ext uri="{FF2B5EF4-FFF2-40B4-BE49-F238E27FC236}">
                <a16:creationId xmlns:a16="http://schemas.microsoft.com/office/drawing/2014/main" id="{355C737D-E9F5-4164-BE15-01F3ED9E83C3}"/>
              </a:ext>
              <a:ext uri="{C183D7F6-B498-43B3-948B-1728B52AA6E4}">
                <adec:decorative xmlns:adec="http://schemas.microsoft.com/office/drawing/2017/decorative" val="1"/>
              </a:ext>
            </a:extLst>
          </p:cNvPr>
          <p:cNvPicPr>
            <a:picLocks noGrp="1" noChangeAspect="1"/>
          </p:cNvPicPr>
          <p:nvPr>
            <p:ph type="pic" idx="24"/>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8853488" y="1211263"/>
            <a:ext cx="1828800" cy="1828800"/>
          </a:xfrm>
          <a:prstGeom prst="rect">
            <a:avLst/>
          </a:prstGeom>
        </p:spPr>
      </p:pic>
      <p:pic>
        <p:nvPicPr>
          <p:cNvPr id="110" name="Picture Placeholder 109">
            <a:extLst>
              <a:ext uri="{FF2B5EF4-FFF2-40B4-BE49-F238E27FC236}">
                <a16:creationId xmlns:a16="http://schemas.microsoft.com/office/drawing/2014/main" id="{96B42760-1963-4B0A-A2E9-E1589218BD46}"/>
              </a:ext>
              <a:ext uri="{C183D7F6-B498-43B3-948B-1728B52AA6E4}">
                <adec:decorative xmlns:adec="http://schemas.microsoft.com/office/drawing/2017/decorative" val="1"/>
              </a:ext>
            </a:extLst>
          </p:cNvPr>
          <p:cNvPicPr>
            <a:picLocks noGrp="1" noChangeAspect="1"/>
          </p:cNvPicPr>
          <p:nvPr>
            <p:ph type="pic" idx="25"/>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1516063" y="3865563"/>
            <a:ext cx="1828800" cy="1828800"/>
          </a:xfrm>
          <a:prstGeom prst="rect">
            <a:avLst/>
          </a:prstGeom>
        </p:spPr>
      </p:pic>
      <p:pic>
        <p:nvPicPr>
          <p:cNvPr id="114" name="Picture Placeholder 113">
            <a:extLst>
              <a:ext uri="{FF2B5EF4-FFF2-40B4-BE49-F238E27FC236}">
                <a16:creationId xmlns:a16="http://schemas.microsoft.com/office/drawing/2014/main" id="{FF28795B-26E7-49E0-A516-6D3501FE44ED}"/>
              </a:ext>
              <a:ext uri="{C183D7F6-B498-43B3-948B-1728B52AA6E4}">
                <adec:decorative xmlns:adec="http://schemas.microsoft.com/office/drawing/2017/decorative" val="1"/>
              </a:ext>
            </a:extLst>
          </p:cNvPr>
          <p:cNvPicPr>
            <a:picLocks noGrp="1" noChangeAspect="1"/>
          </p:cNvPicPr>
          <p:nvPr>
            <p:ph type="pic" idx="26"/>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p:blipFill>
        <p:spPr>
          <a:xfrm>
            <a:off x="5181600" y="3865563"/>
            <a:ext cx="1828800" cy="1828800"/>
          </a:xfrm>
          <a:prstGeom prst="rect">
            <a:avLst/>
          </a:prstGeom>
        </p:spPr>
      </p:pic>
      <p:pic>
        <p:nvPicPr>
          <p:cNvPr id="115" name="Graphic 114">
            <a:extLst>
              <a:ext uri="{FF2B5EF4-FFF2-40B4-BE49-F238E27FC236}">
                <a16:creationId xmlns:a16="http://schemas.microsoft.com/office/drawing/2014/main" id="{9CD2D6D8-785C-4D54-81B5-807492FDD6F3}"/>
              </a:ext>
              <a:ext uri="{C183D7F6-B498-43B3-948B-1728B52AA6E4}">
                <adec:decorative xmlns:adec="http://schemas.microsoft.com/office/drawing/2017/decorative" val="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637249" y="3525588"/>
            <a:ext cx="1724171" cy="1724171"/>
          </a:xfrm>
          <a:prstGeom prst="rect">
            <a:avLst/>
          </a:prstGeom>
        </p:spPr>
      </p:pic>
      <p:pic>
        <p:nvPicPr>
          <p:cNvPr id="117" name="Graphic 116">
            <a:extLst>
              <a:ext uri="{FF2B5EF4-FFF2-40B4-BE49-F238E27FC236}">
                <a16:creationId xmlns:a16="http://schemas.microsoft.com/office/drawing/2014/main" id="{38CFB94A-58BB-4DB1-A5EA-C69AFBF72C5C}"/>
              </a:ext>
              <a:ext uri="{C183D7F6-B498-43B3-948B-1728B52AA6E4}">
                <adec:decorative xmlns:adec="http://schemas.microsoft.com/office/drawing/2017/decorative" val="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122819" y="3540300"/>
            <a:ext cx="1724171" cy="1724171"/>
          </a:xfrm>
          <a:prstGeom prst="rect">
            <a:avLst/>
          </a:prstGeom>
        </p:spPr>
      </p:pic>
      <p:pic>
        <p:nvPicPr>
          <p:cNvPr id="118" name="Picture Placeholder 117">
            <a:extLst>
              <a:ext uri="{FF2B5EF4-FFF2-40B4-BE49-F238E27FC236}">
                <a16:creationId xmlns:a16="http://schemas.microsoft.com/office/drawing/2014/main" id="{F48F49C9-9FBD-44F5-96EB-93D3FADC9E9C}"/>
              </a:ext>
              <a:ext uri="{C183D7F6-B498-43B3-948B-1728B52AA6E4}">
                <adec:decorative xmlns:adec="http://schemas.microsoft.com/office/drawing/2017/decorative" val="1"/>
              </a:ext>
            </a:extLst>
          </p:cNvPr>
          <p:cNvPicPr>
            <a:picLocks noGrp="1" noChangeAspect="1"/>
          </p:cNvPicPr>
          <p:nvPr>
            <p:ph type="pic" idx="27"/>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a:fillRect/>
          </a:stretch>
        </p:blipFill>
        <p:spPr>
          <a:xfrm>
            <a:off x="8853488" y="3865563"/>
            <a:ext cx="1828800" cy="1828800"/>
          </a:xfrm>
          <a:prstGeom prst="rect">
            <a:avLst/>
          </a:prstGeom>
        </p:spPr>
      </p:pic>
    </p:spTree>
    <p:custDataLst>
      <p:tags r:id="rId1"/>
    </p:custDataLst>
    <p:extLst>
      <p:ext uri="{BB962C8B-B14F-4D97-AF65-F5344CB8AC3E}">
        <p14:creationId xmlns:p14="http://schemas.microsoft.com/office/powerpoint/2010/main" val="297978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1A3D4758-A9B3-49A1-8EEF-39DDCB84F35F}"/>
              </a:ext>
            </a:extLst>
          </p:cNvPr>
          <p:cNvSpPr>
            <a:spLocks noGrp="1"/>
          </p:cNvSpPr>
          <p:nvPr>
            <p:ph type="sldNum" idx="97"/>
          </p:nvPr>
        </p:nvSpPr>
        <p:spPr/>
        <p:txBody>
          <a:bodyPr/>
          <a:lstStyle/>
          <a:p>
            <a:fld id="{4037B1B0-0345-4E15-985A-6BECCDBE474F}" type="slidenum">
              <a:rPr lang="en-US" smtClean="0"/>
              <a:pPr/>
              <a:t>9</a:t>
            </a:fld>
            <a:endParaRPr lang="en-US" dirty="0"/>
          </a:p>
        </p:txBody>
      </p:sp>
      <p:sp>
        <p:nvSpPr>
          <p:cNvPr id="3" name="Title">
            <a:extLst>
              <a:ext uri="{FF2B5EF4-FFF2-40B4-BE49-F238E27FC236}">
                <a16:creationId xmlns:a16="http://schemas.microsoft.com/office/drawing/2014/main" id="{86EA6602-71C6-4875-8B85-849BB254C50A}"/>
              </a:ext>
            </a:extLst>
          </p:cNvPr>
          <p:cNvSpPr>
            <a:spLocks noGrp="1"/>
          </p:cNvSpPr>
          <p:nvPr>
            <p:ph type="title" idx="1"/>
          </p:nvPr>
        </p:nvSpPr>
        <p:spPr/>
        <p:txBody>
          <a:bodyPr>
            <a:normAutofit/>
          </a:bodyPr>
          <a:lstStyle/>
          <a:p>
            <a:r>
              <a:rPr lang="en-US" dirty="0"/>
              <a:t>Role of a cloud architect</a:t>
            </a:r>
          </a:p>
        </p:txBody>
      </p:sp>
      <p:sp>
        <p:nvSpPr>
          <p:cNvPr id="5" name="Text Placeholder 4">
            <a:extLst>
              <a:ext uri="{FF2B5EF4-FFF2-40B4-BE49-F238E27FC236}">
                <a16:creationId xmlns:a16="http://schemas.microsoft.com/office/drawing/2014/main" id="{F3FE7B7B-0910-419B-B876-F5EC9B28F448}"/>
              </a:ext>
              <a:ext uri="{C183D7F6-B498-43B3-948B-1728B52AA6E4}">
                <adec:decorative xmlns:adec="http://schemas.microsoft.com/office/drawing/2017/decorative" val="0"/>
              </a:ext>
            </a:extLst>
          </p:cNvPr>
          <p:cNvSpPr txBox="1">
            <a:spLocks/>
          </p:cNvSpPr>
          <p:nvPr/>
        </p:nvSpPr>
        <p:spPr>
          <a:xfrm>
            <a:off x="365760" y="3364992"/>
            <a:ext cx="3749040" cy="440329"/>
          </a:xfrm>
          <a:prstGeom prst="rect">
            <a:avLst/>
          </a:prstGeom>
          <a:solidFill>
            <a:schemeClr val="accent1"/>
          </a:solidFill>
          <a:ln w="12700">
            <a:noFill/>
          </a:ln>
          <a:effectLst/>
        </p:spPr>
        <p:txBody>
          <a:bodyPr anchor="ctr"/>
          <a:lstStyle>
            <a:defPPr>
              <a:defRPr lang="en-US"/>
            </a:defPPr>
            <a:lvl1pPr marL="230188" indent="-230188" algn="l" defTabSz="228600" rtl="0" eaLnBrk="1" latinLnBrk="0" hangingPunct="1">
              <a:lnSpc>
                <a:spcPct val="100000"/>
              </a:lnSpc>
              <a:spcBef>
                <a:spcPts val="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lgn="ctr">
              <a:buNone/>
            </a:pPr>
            <a:r>
              <a:rPr lang="en-US" dirty="0">
                <a:solidFill>
                  <a:schemeClr val="bg1"/>
                </a:solidFill>
                <a:latin typeface="+mn-lt"/>
                <a:ea typeface="Amazon Ember" panose="020B0603020204020204" pitchFamily="34" charset="0"/>
                <a:cs typeface="Amazon Ember" panose="020B0603020204020204" pitchFamily="34" charset="0"/>
              </a:rPr>
              <a:t>Plan</a:t>
            </a:r>
          </a:p>
        </p:txBody>
      </p:sp>
      <p:sp>
        <p:nvSpPr>
          <p:cNvPr id="6" name="Text Placeholder 5">
            <a:extLst>
              <a:ext uri="{FF2B5EF4-FFF2-40B4-BE49-F238E27FC236}">
                <a16:creationId xmlns:a16="http://schemas.microsoft.com/office/drawing/2014/main" id="{BE24C2F2-00FC-404B-8255-1DB21913F2A5}"/>
              </a:ext>
            </a:extLst>
          </p:cNvPr>
          <p:cNvSpPr txBox="1">
            <a:spLocks/>
          </p:cNvSpPr>
          <p:nvPr/>
        </p:nvSpPr>
        <p:spPr>
          <a:xfrm>
            <a:off x="365760" y="3895344"/>
            <a:ext cx="3749040" cy="2551176"/>
          </a:xfrm>
          <a:prstGeom prst="rect">
            <a:avLst/>
          </a:prstGeom>
        </p:spPr>
        <p:txBody>
          <a:bodyPr>
            <a:normAutofit/>
          </a:bodyPr>
          <a:lstStyle>
            <a:defPPr>
              <a:defRPr lang="en-US"/>
            </a:defPPr>
            <a:lvl1pPr marL="230188" indent="-230188" algn="l" defTabSz="228600" rtl="0" eaLnBrk="1" latinLnBrk="0" hangingPunct="1">
              <a:lnSpc>
                <a:spcPct val="100000"/>
              </a:lnSpc>
              <a:spcBef>
                <a:spcPts val="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285750" indent="-285750">
              <a:spcAft>
                <a:spcPts val="1200"/>
              </a:spcAft>
              <a:buFont typeface="Arial" panose="020B0604020202020204" pitchFamily="34" charset="0"/>
              <a:buChar char="•"/>
              <a:defRPr/>
            </a:pPr>
            <a:r>
              <a:rPr lang="en-US" sz="2000" dirty="0">
                <a:latin typeface="+mn-lt"/>
              </a:rPr>
              <a:t>Set technical cloud strategy with business leads.</a:t>
            </a:r>
          </a:p>
          <a:p>
            <a:pPr marL="287338" indent="-287338">
              <a:spcAft>
                <a:spcPts val="1200"/>
              </a:spcAft>
              <a:buFont typeface="Arial" panose="020B0604020202020204" pitchFamily="34" charset="0"/>
              <a:buChar char="•"/>
              <a:defRPr/>
            </a:pPr>
            <a:r>
              <a:rPr lang="en-US" sz="2000" dirty="0">
                <a:latin typeface="+mn-lt"/>
              </a:rPr>
              <a:t>Analyze solutions for business needs and requirements.</a:t>
            </a:r>
          </a:p>
          <a:p>
            <a:endParaRPr lang="en-US" sz="2000" dirty="0">
              <a:latin typeface="+mn-lt"/>
            </a:endParaRPr>
          </a:p>
        </p:txBody>
      </p:sp>
      <p:sp>
        <p:nvSpPr>
          <p:cNvPr id="7" name="Text Placeholder 6">
            <a:extLst>
              <a:ext uri="{FF2B5EF4-FFF2-40B4-BE49-F238E27FC236}">
                <a16:creationId xmlns:a16="http://schemas.microsoft.com/office/drawing/2014/main" id="{C7B1586A-B82E-4B72-83D4-E33AF447D86B}"/>
              </a:ext>
              <a:ext uri="{C183D7F6-B498-43B3-948B-1728B52AA6E4}">
                <adec:decorative xmlns:adec="http://schemas.microsoft.com/office/drawing/2017/decorative" val="0"/>
              </a:ext>
            </a:extLst>
          </p:cNvPr>
          <p:cNvSpPr txBox="1">
            <a:spLocks/>
          </p:cNvSpPr>
          <p:nvPr/>
        </p:nvSpPr>
        <p:spPr>
          <a:xfrm>
            <a:off x="4251960" y="3364992"/>
            <a:ext cx="3749040" cy="440329"/>
          </a:xfrm>
          <a:prstGeom prst="rect">
            <a:avLst/>
          </a:prstGeom>
          <a:solidFill>
            <a:schemeClr val="accent1"/>
          </a:solidFill>
          <a:ln w="12700">
            <a:noFill/>
          </a:ln>
          <a:effectLst/>
        </p:spPr>
        <p:txBody>
          <a:bodyPr anchor="ctr"/>
          <a:lstStyle>
            <a:defPPr>
              <a:defRPr lang="en-US"/>
            </a:defPPr>
            <a:lvl1pPr marL="230188" indent="-230188" algn="l" defTabSz="228600" rtl="0" eaLnBrk="1" latinLnBrk="0" hangingPunct="1">
              <a:lnSpc>
                <a:spcPct val="100000"/>
              </a:lnSpc>
              <a:spcBef>
                <a:spcPts val="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lgn="ctr">
              <a:buNone/>
            </a:pPr>
            <a:r>
              <a:rPr lang="en-US" dirty="0">
                <a:solidFill>
                  <a:schemeClr val="bg1"/>
                </a:solidFill>
                <a:latin typeface="+mn-lt"/>
                <a:ea typeface="Amazon Ember" panose="020B0603020204020204" pitchFamily="34" charset="0"/>
                <a:cs typeface="Amazon Ember" panose="020B0603020204020204" pitchFamily="34" charset="0"/>
              </a:rPr>
              <a:t>Research</a:t>
            </a:r>
          </a:p>
        </p:txBody>
      </p:sp>
      <p:sp>
        <p:nvSpPr>
          <p:cNvPr id="8" name="Text Placeholder 7">
            <a:extLst>
              <a:ext uri="{FF2B5EF4-FFF2-40B4-BE49-F238E27FC236}">
                <a16:creationId xmlns:a16="http://schemas.microsoft.com/office/drawing/2014/main" id="{A73FB2C3-F30D-4CFC-A60E-62E05A76144D}"/>
              </a:ext>
            </a:extLst>
          </p:cNvPr>
          <p:cNvSpPr txBox="1">
            <a:spLocks/>
          </p:cNvSpPr>
          <p:nvPr/>
        </p:nvSpPr>
        <p:spPr>
          <a:xfrm>
            <a:off x="4251960" y="3895344"/>
            <a:ext cx="3749040" cy="2551176"/>
          </a:xfrm>
          <a:prstGeom prst="rect">
            <a:avLst/>
          </a:prstGeom>
        </p:spPr>
        <p:txBody>
          <a:bodyPr vert="horz" lIns="91440" tIns="45720" rIns="91440" bIns="45720" rtlCol="0" anchor="t">
            <a:normAutofit/>
          </a:bodyPr>
          <a:lstStyle>
            <a:defPPr>
              <a:defRPr lang="en-US"/>
            </a:defPPr>
            <a:lvl1pPr marL="0" algn="r" defTabSz="228600" rtl="0" eaLnBrk="1" latinLnBrk="0" hangingPunct="1">
              <a:defRPr sz="1100" kern="1200">
                <a:solidFill>
                  <a:schemeClr val="tx2"/>
                </a:solidFill>
                <a:latin typeface="+mn-lt"/>
                <a:ea typeface="Amazon Ember" panose="020B0603020204020204" pitchFamily="34" charset="0"/>
                <a:cs typeface="Amazon Ember" panose="020B0603020204020204" pitchFamily="34" charset="0"/>
              </a:defRPr>
            </a:lvl1pPr>
            <a:lvl2pPr marL="228600" algn="l" defTabSz="228600" rtl="0" eaLnBrk="1" latinLnBrk="0" hangingPunct="1">
              <a:defRPr sz="1800" kern="1200">
                <a:solidFill>
                  <a:schemeClr val="tx1"/>
                </a:solidFill>
                <a:latin typeface="+mn-lt"/>
                <a:ea typeface="+mn-ea"/>
                <a:cs typeface="+mn-cs"/>
              </a:defRPr>
            </a:lvl2pPr>
            <a:lvl3pPr marL="457200" algn="l" defTabSz="228600" rtl="0" eaLnBrk="1" latinLnBrk="0" hangingPunct="1">
              <a:defRPr sz="1800" kern="1200">
                <a:solidFill>
                  <a:schemeClr val="tx1"/>
                </a:solidFill>
                <a:latin typeface="+mn-lt"/>
                <a:ea typeface="+mn-ea"/>
                <a:cs typeface="+mn-cs"/>
              </a:defRPr>
            </a:lvl3pPr>
            <a:lvl4pPr marL="685800" algn="l" defTabSz="228600" rtl="0" eaLnBrk="1" latinLnBrk="0" hangingPunct="1">
              <a:defRPr sz="1800" kern="1200">
                <a:solidFill>
                  <a:schemeClr val="tx1"/>
                </a:solidFill>
                <a:latin typeface="+mn-lt"/>
                <a:ea typeface="+mn-ea"/>
                <a:cs typeface="+mn-cs"/>
              </a:defRPr>
            </a:lvl4pPr>
            <a:lvl5pPr marL="914400" algn="l" defTabSz="228600" rtl="0" eaLnBrk="1" latinLnBrk="0" hangingPunct="1">
              <a:defRPr sz="1800" kern="1200">
                <a:solidFill>
                  <a:schemeClr val="tx1"/>
                </a:solidFill>
                <a:latin typeface="+mn-lt"/>
                <a:ea typeface="+mn-ea"/>
                <a:cs typeface="+mn-cs"/>
              </a:defRPr>
            </a:lvl5pPr>
            <a:lvl6pPr marL="1143000" algn="l" defTabSz="228600" rtl="0" eaLnBrk="1" latinLnBrk="0" hangingPunct="1">
              <a:defRPr sz="1800" kern="1200">
                <a:solidFill>
                  <a:schemeClr val="tx1"/>
                </a:solidFill>
                <a:latin typeface="+mn-lt"/>
                <a:ea typeface="+mn-ea"/>
                <a:cs typeface="+mn-cs"/>
              </a:defRPr>
            </a:lvl6pPr>
            <a:lvl7pPr marL="1371600" algn="l" defTabSz="228600" rtl="0" eaLnBrk="1" latinLnBrk="0" hangingPunct="1">
              <a:defRPr sz="1800" kern="1200">
                <a:solidFill>
                  <a:schemeClr val="tx1"/>
                </a:solidFill>
                <a:latin typeface="+mn-lt"/>
                <a:ea typeface="+mn-ea"/>
                <a:cs typeface="+mn-cs"/>
              </a:defRPr>
            </a:lvl7pPr>
            <a:lvl8pPr marL="1600200" algn="l" defTabSz="228600" rtl="0" eaLnBrk="1" latinLnBrk="0" hangingPunct="1">
              <a:defRPr sz="1800" kern="1200">
                <a:solidFill>
                  <a:schemeClr val="tx1"/>
                </a:solidFill>
                <a:latin typeface="+mn-lt"/>
                <a:ea typeface="+mn-ea"/>
                <a:cs typeface="+mn-cs"/>
              </a:defRPr>
            </a:lvl8pPr>
            <a:lvl9pPr marL="1828800" algn="l" defTabSz="228600" rtl="0" eaLnBrk="1" latinLnBrk="0" hangingPunct="1">
              <a:defRPr sz="1800" kern="1200">
                <a:solidFill>
                  <a:schemeClr val="tx1"/>
                </a:solidFill>
                <a:latin typeface="+mn-lt"/>
                <a:ea typeface="+mn-ea"/>
                <a:cs typeface="+mn-cs"/>
              </a:defRPr>
            </a:lvl9pPr>
          </a:lstStyle>
          <a:p>
            <a:pPr marL="285750" indent="-285750" algn="l">
              <a:spcAft>
                <a:spcPts val="1200"/>
              </a:spcAft>
              <a:buFont typeface="Arial" panose="020B0604020202020204" pitchFamily="34" charset="0"/>
              <a:buChar char="•"/>
              <a:defRPr/>
            </a:pPr>
            <a:r>
              <a:rPr lang="en-US" sz="2000" dirty="0"/>
              <a:t>Investigate cloud services specifications and workload requirements.</a:t>
            </a:r>
          </a:p>
          <a:p>
            <a:pPr marL="285750" indent="-285750" algn="l">
              <a:spcAft>
                <a:spcPts val="1200"/>
              </a:spcAft>
              <a:buFont typeface="Arial" panose="020B0604020202020204" pitchFamily="34" charset="0"/>
              <a:buChar char="•"/>
              <a:defRPr/>
            </a:pPr>
            <a:r>
              <a:rPr lang="en-US" sz="2000" dirty="0"/>
              <a:t>Review existing workload architectures.</a:t>
            </a:r>
          </a:p>
          <a:p>
            <a:pPr marL="285750" indent="-285750" algn="l">
              <a:spcAft>
                <a:spcPts val="1200"/>
              </a:spcAft>
              <a:buFont typeface="Arial" panose="020B0604020202020204" pitchFamily="34" charset="0"/>
              <a:buChar char="•"/>
              <a:defRPr/>
            </a:pPr>
            <a:r>
              <a:rPr lang="en-US" sz="2000" dirty="0"/>
              <a:t>Design prototype solutions.</a:t>
            </a:r>
          </a:p>
        </p:txBody>
      </p:sp>
      <p:sp>
        <p:nvSpPr>
          <p:cNvPr id="9" name="Text Placeholder 10">
            <a:extLst>
              <a:ext uri="{FF2B5EF4-FFF2-40B4-BE49-F238E27FC236}">
                <a16:creationId xmlns:a16="http://schemas.microsoft.com/office/drawing/2014/main" id="{62ED5591-FC8E-4691-9D81-E4CCF138EECF}"/>
              </a:ext>
              <a:ext uri="{C183D7F6-B498-43B3-948B-1728B52AA6E4}">
                <adec:decorative xmlns:adec="http://schemas.microsoft.com/office/drawing/2017/decorative" val="0"/>
              </a:ext>
            </a:extLst>
          </p:cNvPr>
          <p:cNvSpPr txBox="1">
            <a:spLocks/>
          </p:cNvSpPr>
          <p:nvPr/>
        </p:nvSpPr>
        <p:spPr>
          <a:xfrm>
            <a:off x="8138160" y="3364992"/>
            <a:ext cx="3749040" cy="440329"/>
          </a:xfrm>
          <a:prstGeom prst="rect">
            <a:avLst/>
          </a:prstGeom>
          <a:solidFill>
            <a:schemeClr val="accent1"/>
          </a:solidFill>
          <a:ln w="12700">
            <a:noFill/>
          </a:ln>
          <a:effectLst/>
        </p:spPr>
        <p:txBody>
          <a:bodyPr anchor="ctr"/>
          <a:lstStyle>
            <a:defPPr>
              <a:defRPr lang="en-US"/>
            </a:defPPr>
            <a:lvl1pPr marL="230188" indent="-230188" algn="l" defTabSz="228600" rtl="0" eaLnBrk="1" latinLnBrk="0" hangingPunct="1">
              <a:lnSpc>
                <a:spcPct val="100000"/>
              </a:lnSpc>
              <a:spcBef>
                <a:spcPts val="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lgn="ctr">
              <a:buNone/>
            </a:pPr>
            <a:r>
              <a:rPr lang="en-US" dirty="0">
                <a:solidFill>
                  <a:schemeClr val="bg1"/>
                </a:solidFill>
                <a:latin typeface="+mn-lt"/>
                <a:ea typeface="Amazon Ember" panose="020B0603020204020204" pitchFamily="34" charset="0"/>
                <a:cs typeface="Amazon Ember" panose="020B0603020204020204" pitchFamily="34" charset="0"/>
              </a:rPr>
              <a:t>Build</a:t>
            </a:r>
          </a:p>
        </p:txBody>
      </p:sp>
      <p:sp>
        <p:nvSpPr>
          <p:cNvPr id="10" name="Text Placeholder 11">
            <a:extLst>
              <a:ext uri="{FF2B5EF4-FFF2-40B4-BE49-F238E27FC236}">
                <a16:creationId xmlns:a16="http://schemas.microsoft.com/office/drawing/2014/main" id="{1118DED1-9F22-422D-9008-43F220040688}"/>
              </a:ext>
            </a:extLst>
          </p:cNvPr>
          <p:cNvSpPr txBox="1">
            <a:spLocks/>
          </p:cNvSpPr>
          <p:nvPr/>
        </p:nvSpPr>
        <p:spPr>
          <a:xfrm>
            <a:off x="8138160" y="3895344"/>
            <a:ext cx="3749040" cy="2551176"/>
          </a:xfrm>
          <a:prstGeom prst="rect">
            <a:avLst/>
          </a:prstGeom>
        </p:spPr>
        <p:txBody>
          <a:bodyPr>
            <a:normAutofit/>
          </a:bodyPr>
          <a:lstStyle>
            <a:defPPr>
              <a:defRPr lang="en-US"/>
            </a:defPPr>
            <a:lvl1pPr marL="230188" indent="-230188" algn="l" defTabSz="228600" rtl="0" eaLnBrk="1" latinLnBrk="0" hangingPunct="1">
              <a:lnSpc>
                <a:spcPct val="100000"/>
              </a:lnSpc>
              <a:spcBef>
                <a:spcPts val="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285750" indent="-285750">
              <a:spcAft>
                <a:spcPts val="1200"/>
              </a:spcAft>
              <a:buFont typeface="Arial" panose="020B0604020202020204" pitchFamily="34" charset="0"/>
              <a:buChar char="•"/>
              <a:defRPr/>
            </a:pPr>
            <a:r>
              <a:rPr lang="en-US" sz="2000" dirty="0">
                <a:latin typeface="+mn-lt"/>
              </a:rPr>
              <a:t>Design the transformation roadmap with milestones, work streams, and owners.</a:t>
            </a:r>
          </a:p>
          <a:p>
            <a:pPr marL="287338" indent="-287338">
              <a:spcAft>
                <a:spcPts val="1200"/>
              </a:spcAft>
              <a:buFont typeface="Arial" panose="020B0604020202020204" pitchFamily="34" charset="0"/>
              <a:buChar char="•"/>
              <a:defRPr/>
            </a:pPr>
            <a:r>
              <a:rPr lang="en-US" sz="2000" dirty="0">
                <a:latin typeface="+mn-lt"/>
              </a:rPr>
              <a:t>Manage the adoption and migration.</a:t>
            </a:r>
          </a:p>
        </p:txBody>
      </p:sp>
      <p:pic>
        <p:nvPicPr>
          <p:cNvPr id="14" name="Graphic 13">
            <a:extLst>
              <a:ext uri="{FF2B5EF4-FFF2-40B4-BE49-F238E27FC236}">
                <a16:creationId xmlns:a16="http://schemas.microsoft.com/office/drawing/2014/main" id="{1630DB2E-D4C3-404B-B788-01F9C9AF03D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51444" y="1280160"/>
            <a:ext cx="1922471" cy="1922471"/>
          </a:xfrm>
          <a:prstGeom prst="rect">
            <a:avLst/>
          </a:prstGeom>
        </p:spPr>
      </p:pic>
      <p:pic>
        <p:nvPicPr>
          <p:cNvPr id="15" name="Graphic 14">
            <a:extLst>
              <a:ext uri="{FF2B5EF4-FFF2-40B4-BE49-F238E27FC236}">
                <a16:creationId xmlns:a16="http://schemas.microsoft.com/office/drawing/2014/main" id="{5F0637FE-95AB-45B9-ABD2-88AE7791A74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2303" y="1280384"/>
            <a:ext cx="1935953" cy="1935953"/>
          </a:xfrm>
          <a:prstGeom prst="rect">
            <a:avLst/>
          </a:prstGeom>
        </p:spPr>
      </p:pic>
      <p:pic>
        <p:nvPicPr>
          <p:cNvPr id="16" name="Graphic 15">
            <a:extLst>
              <a:ext uri="{FF2B5EF4-FFF2-40B4-BE49-F238E27FC236}">
                <a16:creationId xmlns:a16="http://schemas.microsoft.com/office/drawing/2014/main" id="{9CEF9EF6-A2CF-466A-884E-E45CCF3DDAD3}"/>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5322343" y="1444223"/>
            <a:ext cx="1608274" cy="1608274"/>
          </a:xfrm>
          <a:prstGeom prst="rect">
            <a:avLst/>
          </a:prstGeom>
        </p:spPr>
      </p:pic>
    </p:spTree>
    <p:custDataLst>
      <p:tags r:id="rId1"/>
    </p:custDataLst>
    <p:extLst>
      <p:ext uri="{BB962C8B-B14F-4D97-AF65-F5344CB8AC3E}">
        <p14:creationId xmlns:p14="http://schemas.microsoft.com/office/powerpoint/2010/main" val="1103084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idx="97"/>
          </p:nvPr>
        </p:nvSpPr>
        <p:spPr/>
        <p:txBody>
          <a:bodyPr/>
          <a:lstStyle/>
          <a:p>
            <a:fld id="{B6A95138-A96E-2F42-A959-2EFD44FE4AB7}" type="slidenum">
              <a:rPr lang="en-US" smtClean="0"/>
              <a:pPr/>
              <a:t>10</a:t>
            </a:fld>
            <a:endParaRPr lang="en-US" dirty="0"/>
          </a:p>
        </p:txBody>
      </p:sp>
      <p:sp>
        <p:nvSpPr>
          <p:cNvPr id="3" name="Title">
            <a:extLst>
              <a:ext uri="{FF2B5EF4-FFF2-40B4-BE49-F238E27FC236}">
                <a16:creationId xmlns:a16="http://schemas.microsoft.com/office/drawing/2014/main" id="{34A9215D-56A1-C14C-8D1D-ECD06964D449}"/>
              </a:ext>
            </a:extLst>
          </p:cNvPr>
          <p:cNvSpPr>
            <a:spLocks noGrp="1"/>
          </p:cNvSpPr>
          <p:nvPr>
            <p:ph type="title" idx="1"/>
          </p:nvPr>
        </p:nvSpPr>
        <p:spPr/>
        <p:txBody>
          <a:bodyPr/>
          <a:lstStyle/>
          <a:p>
            <a:r>
              <a:rPr lang="en-US" sz="3200" dirty="0">
                <a:latin typeface="+mj-lt"/>
              </a:rPr>
              <a:t>Key takeaways: What is cloud architecting?</a:t>
            </a:r>
          </a:p>
        </p:txBody>
      </p:sp>
      <p:sp>
        <p:nvSpPr>
          <p:cNvPr id="2" name="Text Placeholder 1">
            <a:extLst>
              <a:ext uri="{FF2B5EF4-FFF2-40B4-BE49-F238E27FC236}">
                <a16:creationId xmlns:a16="http://schemas.microsoft.com/office/drawing/2014/main" id="{FF0701DD-8252-411B-9F2E-8F1175EB8AE8}"/>
              </a:ext>
            </a:extLst>
          </p:cNvPr>
          <p:cNvSpPr>
            <a:spLocks noGrp="1"/>
          </p:cNvSpPr>
          <p:nvPr>
            <p:ph type="body" idx="3"/>
          </p:nvPr>
        </p:nvSpPr>
        <p:spPr/>
        <p:txBody>
          <a:bodyPr/>
          <a:lstStyle/>
          <a:p>
            <a:r>
              <a:rPr lang="en-US" dirty="0">
                <a:latin typeface="+mn-lt"/>
              </a:rPr>
              <a:t>Cloud architecture is the practice of applying cloud characteristics to a solution that uses cloud services and features to meet an organization’s technical needs and business use cases.</a:t>
            </a:r>
          </a:p>
          <a:p>
            <a:r>
              <a:rPr lang="en-US" dirty="0">
                <a:latin typeface="+mn-lt"/>
              </a:rPr>
              <a:t>You can use AWS services to create highly available, scalable, and reliable architectures.</a:t>
            </a:r>
          </a:p>
          <a:p>
            <a:r>
              <a:rPr lang="en-US" kern="1200" dirty="0">
                <a:effectLst/>
                <a:ea typeface="+mn-ea"/>
                <a:cs typeface="+mn-cs"/>
              </a:rPr>
              <a:t>Cloud architects are responsible for managing an organization’s cloud computing architecture.</a:t>
            </a:r>
            <a:endParaRPr lang="en-US" dirty="0"/>
          </a:p>
        </p:txBody>
      </p:sp>
      <p:pic>
        <p:nvPicPr>
          <p:cNvPr id="7" name="Content Placeholder 13">
            <a:extLst>
              <a:ext uri="{FF2B5EF4-FFF2-40B4-BE49-F238E27FC236}">
                <a16:creationId xmlns:a16="http://schemas.microsoft.com/office/drawing/2014/main" id="{D77F4878-1028-45CF-A8A6-DA1DC3FF1D8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Tree>
    <p:custDataLst>
      <p:tags r:id="rId1"/>
    </p:custDataLst>
    <p:extLst>
      <p:ext uri="{BB962C8B-B14F-4D97-AF65-F5344CB8AC3E}">
        <p14:creationId xmlns:p14="http://schemas.microsoft.com/office/powerpoint/2010/main" val="2701104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C1BE4B8E-40DB-4BBF-BAD4-4C4A8CCED9C3}"/>
              </a:ext>
            </a:extLst>
          </p:cNvPr>
          <p:cNvSpPr>
            <a:spLocks noGrp="1"/>
          </p:cNvSpPr>
          <p:nvPr>
            <p:ph type="sldNum" idx="97"/>
          </p:nvPr>
        </p:nvSpPr>
        <p:spPr/>
        <p:txBody>
          <a:bodyPr/>
          <a:lstStyle/>
          <a:p>
            <a:fld id="{4037B1B0-0345-4E15-985A-6BECCDBE474F}" type="slidenum">
              <a:rPr lang="en-US" smtClean="0"/>
              <a:pPr/>
              <a:t>11</a:t>
            </a:fld>
            <a:endParaRPr lang="en-US" dirty="0"/>
          </a:p>
        </p:txBody>
      </p:sp>
      <p:sp>
        <p:nvSpPr>
          <p:cNvPr id="2" name="Title"/>
          <p:cNvSpPr>
            <a:spLocks noGrp="1"/>
          </p:cNvSpPr>
          <p:nvPr>
            <p:ph type="title" idx="1"/>
          </p:nvPr>
        </p:nvSpPr>
        <p:spPr/>
        <p:txBody>
          <a:bodyPr>
            <a:noAutofit/>
          </a:bodyPr>
          <a:lstStyle/>
          <a:p>
            <a:r>
              <a:rPr lang="en-US" dirty="0">
                <a:latin typeface="+mj-lt"/>
              </a:rPr>
              <a:t>AWS Well-Architected Framework</a:t>
            </a:r>
          </a:p>
        </p:txBody>
      </p:sp>
      <p:sp>
        <p:nvSpPr>
          <p:cNvPr id="3" name="Text Placeholder 2">
            <a:extLst>
              <a:ext uri="{FF2B5EF4-FFF2-40B4-BE49-F238E27FC236}">
                <a16:creationId xmlns:a16="http://schemas.microsoft.com/office/drawing/2014/main" id="{CD64B8E0-60AD-514D-93D6-076C58CF731E}"/>
              </a:ext>
            </a:extLst>
          </p:cNvPr>
          <p:cNvSpPr>
            <a:spLocks noGrp="1"/>
          </p:cNvSpPr>
          <p:nvPr>
            <p:ph type="subTitle" idx="2"/>
          </p:nvPr>
        </p:nvSpPr>
        <p:spPr/>
        <p:txBody>
          <a:bodyPr>
            <a:normAutofit/>
          </a:bodyPr>
          <a:lstStyle/>
          <a:p>
            <a:r>
              <a:rPr lang="en-US" dirty="0">
                <a:latin typeface="+mn-lt"/>
              </a:rPr>
              <a:t>Introducing Cloud Architecture</a:t>
            </a:r>
          </a:p>
        </p:txBody>
      </p:sp>
    </p:spTree>
    <p:custDataLst>
      <p:tags r:id="rId1"/>
    </p:custDataLst>
    <p:extLst>
      <p:ext uri="{BB962C8B-B14F-4D97-AF65-F5344CB8AC3E}">
        <p14:creationId xmlns:p14="http://schemas.microsoft.com/office/powerpoint/2010/main" val="1863767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C8BA0EB-B934-FBC5-1DB8-63BA9567D92F}"/>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930176A1-BCF0-4712-97A6-6B495F55390B}" type="slidenum">
              <a:rPr kumimoji="0" lang="en-US" sz="1100"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12</a:t>
            </a:fld>
            <a:endParaRPr kumimoji="0" lang="en-US" sz="1100"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5" name="Title">
            <a:extLst>
              <a:ext uri="{FF2B5EF4-FFF2-40B4-BE49-F238E27FC236}">
                <a16:creationId xmlns:a16="http://schemas.microsoft.com/office/drawing/2014/main" id="{B3B700BE-C200-4140-BBB0-35F7B9AC6FA8}"/>
              </a:ext>
            </a:extLst>
          </p:cNvPr>
          <p:cNvSpPr>
            <a:spLocks noGrp="1"/>
          </p:cNvSpPr>
          <p:nvPr>
            <p:ph type="title" idx="1"/>
          </p:nvPr>
        </p:nvSpPr>
        <p:spPr/>
        <p:txBody>
          <a:bodyPr>
            <a:noAutofit/>
          </a:bodyPr>
          <a:lstStyle/>
          <a:p>
            <a:r>
              <a:rPr lang="en-US" dirty="0"/>
              <a:t>Pillars of the AWS Well-Architected Framework</a:t>
            </a:r>
          </a:p>
        </p:txBody>
      </p:sp>
      <p:pic>
        <p:nvPicPr>
          <p:cNvPr id="7" name="Graphic 6" descr="The six pillars of AWS Well-Architected Framework.">
            <a:extLst>
              <a:ext uri="{FF2B5EF4-FFF2-40B4-BE49-F238E27FC236}">
                <a16:creationId xmlns:a16="http://schemas.microsoft.com/office/drawing/2014/main" id="{4474ACD4-1A56-462F-8EAB-5F24DEF1F3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840" y="1315324"/>
            <a:ext cx="11715496" cy="4725034"/>
          </a:xfrm>
          <a:prstGeom prst="rect">
            <a:avLst/>
          </a:prstGeom>
        </p:spPr>
      </p:pic>
    </p:spTree>
    <p:custDataLst>
      <p:tags r:id="rId1"/>
    </p:custDataLst>
    <p:extLst>
      <p:ext uri="{BB962C8B-B14F-4D97-AF65-F5344CB8AC3E}">
        <p14:creationId xmlns:p14="http://schemas.microsoft.com/office/powerpoint/2010/main" val="3183887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2FCF35B1-1158-4D64-8FF5-34E97706D93B}"/>
              </a:ext>
            </a:extLst>
          </p:cNvPr>
          <p:cNvSpPr>
            <a:spLocks noGrp="1"/>
          </p:cNvSpPr>
          <p:nvPr>
            <p:ph type="sldNum" idx="97"/>
          </p:nvPr>
        </p:nvSpPr>
        <p:spPr/>
        <p:txBody>
          <a:bodyPr/>
          <a:lstStyle/>
          <a:p>
            <a:fld id="{B6A95138-A96E-2F42-A959-2EFD44FE4AB7}" type="slidenum">
              <a:rPr lang="en-US" smtClean="0"/>
              <a:pPr/>
              <a:t>13</a:t>
            </a:fld>
            <a:endParaRPr lang="en-US" dirty="0"/>
          </a:p>
        </p:txBody>
      </p:sp>
      <p:sp>
        <p:nvSpPr>
          <p:cNvPr id="2" name="Title">
            <a:extLst>
              <a:ext uri="{FF2B5EF4-FFF2-40B4-BE49-F238E27FC236}">
                <a16:creationId xmlns:a16="http://schemas.microsoft.com/office/drawing/2014/main" id="{12333780-451D-624F-B22F-AC4418A3F4D9}"/>
              </a:ext>
            </a:extLst>
          </p:cNvPr>
          <p:cNvSpPr>
            <a:spLocks noGrp="1"/>
          </p:cNvSpPr>
          <p:nvPr>
            <p:ph type="title" idx="1"/>
          </p:nvPr>
        </p:nvSpPr>
        <p:spPr/>
        <p:txBody>
          <a:bodyPr/>
          <a:lstStyle/>
          <a:p>
            <a:r>
              <a:rPr lang="en-US" dirty="0"/>
              <a:t>Operational Excellence pillar</a:t>
            </a:r>
          </a:p>
        </p:txBody>
      </p:sp>
      <p:sp>
        <p:nvSpPr>
          <p:cNvPr id="6" name="Text Placeholder 5">
            <a:extLst>
              <a:ext uri="{FF2B5EF4-FFF2-40B4-BE49-F238E27FC236}">
                <a16:creationId xmlns:a16="http://schemas.microsoft.com/office/drawing/2014/main" id="{AEC3B615-315F-43DD-9913-7E9B84774DA3}"/>
              </a:ext>
            </a:extLst>
          </p:cNvPr>
          <p:cNvSpPr>
            <a:spLocks noGrp="1"/>
          </p:cNvSpPr>
          <p:nvPr>
            <p:ph type="body" idx="3"/>
          </p:nvPr>
        </p:nvSpPr>
        <p:spPr>
          <a:xfrm>
            <a:off x="218280" y="4309488"/>
            <a:ext cx="3017203" cy="1783080"/>
          </a:xfrm>
        </p:spPr>
        <p:txBody>
          <a:bodyPr/>
          <a:lstStyle/>
          <a:p>
            <a:r>
              <a:rPr lang="en-US" sz="2000" dirty="0">
                <a:ea typeface="Amazon Ember Display" panose="020F0603020204020204" pitchFamily="34" charset="0"/>
                <a:cs typeface="Amazon Ember Display" panose="020F0603020204020204" pitchFamily="34" charset="0"/>
              </a:rPr>
              <a:t>Run and monitor systems that deliver business value.</a:t>
            </a:r>
          </a:p>
        </p:txBody>
      </p:sp>
      <p:sp>
        <p:nvSpPr>
          <p:cNvPr id="7" name="Text Placeholder 6">
            <a:extLst>
              <a:ext uri="{FF2B5EF4-FFF2-40B4-BE49-F238E27FC236}">
                <a16:creationId xmlns:a16="http://schemas.microsoft.com/office/drawing/2014/main" id="{34B6F3D8-291A-4220-B49E-109560DAC725}"/>
              </a:ext>
            </a:extLst>
          </p:cNvPr>
          <p:cNvSpPr>
            <a:spLocks noGrp="1"/>
          </p:cNvSpPr>
          <p:nvPr>
            <p:ph type="body" idx="4"/>
          </p:nvPr>
        </p:nvSpPr>
        <p:spPr>
          <a:xfrm>
            <a:off x="3375502" y="4309488"/>
            <a:ext cx="2830577" cy="1783080"/>
          </a:xfrm>
        </p:spPr>
        <p:txBody>
          <a:bodyPr/>
          <a:lstStyle/>
          <a:p>
            <a:r>
              <a:rPr lang="en-US" sz="2000" dirty="0"/>
              <a:t>Continually improve supporting processes and procedures.</a:t>
            </a:r>
          </a:p>
          <a:p>
            <a:endParaRPr lang="en-US" sz="2000" dirty="0"/>
          </a:p>
        </p:txBody>
      </p:sp>
      <p:sp>
        <p:nvSpPr>
          <p:cNvPr id="9" name="Text Placeholder 8">
            <a:extLst>
              <a:ext uri="{FF2B5EF4-FFF2-40B4-BE49-F238E27FC236}">
                <a16:creationId xmlns:a16="http://schemas.microsoft.com/office/drawing/2014/main" id="{EBFB3773-91BE-4AB5-B1C7-9C0AE7001341}"/>
              </a:ext>
            </a:extLst>
          </p:cNvPr>
          <p:cNvSpPr>
            <a:spLocks noGrp="1"/>
          </p:cNvSpPr>
          <p:nvPr>
            <p:ph type="body" idx="5"/>
          </p:nvPr>
        </p:nvSpPr>
        <p:spPr>
          <a:xfrm>
            <a:off x="5930043" y="4309488"/>
            <a:ext cx="3749040" cy="1783080"/>
          </a:xfrm>
        </p:spPr>
        <p:txBody>
          <a:bodyPr/>
          <a:lstStyle/>
          <a:p>
            <a:r>
              <a:rPr lang="en-US" sz="2000" dirty="0">
                <a:ea typeface="Amazon Ember Display" panose="020F0603020204020204" pitchFamily="34" charset="0"/>
                <a:cs typeface="Amazon Ember Display" panose="020F0603020204020204" pitchFamily="34" charset="0"/>
              </a:rPr>
              <a:t>View the entire </a:t>
            </a:r>
            <a:br>
              <a:rPr lang="en-US" sz="2000" dirty="0">
                <a:ea typeface="Amazon Ember Display" panose="020F0603020204020204" pitchFamily="34" charset="0"/>
                <a:cs typeface="Amazon Ember Display" panose="020F0603020204020204" pitchFamily="34" charset="0"/>
              </a:rPr>
            </a:br>
            <a:r>
              <a:rPr lang="en-US" sz="2000" dirty="0">
                <a:ea typeface="Amazon Ember Display" panose="020F0603020204020204" pitchFamily="34" charset="0"/>
                <a:cs typeface="Amazon Ember Display" panose="020F0603020204020204" pitchFamily="34" charset="0"/>
              </a:rPr>
              <a:t>workload as code.</a:t>
            </a:r>
          </a:p>
          <a:p>
            <a:endParaRPr lang="en-US" sz="2000" dirty="0"/>
          </a:p>
        </p:txBody>
      </p:sp>
      <p:pic>
        <p:nvPicPr>
          <p:cNvPr id="12" name="Graphic 11">
            <a:extLst>
              <a:ext uri="{FF2B5EF4-FFF2-40B4-BE49-F238E27FC236}">
                <a16:creationId xmlns:a16="http://schemas.microsoft.com/office/drawing/2014/main" id="{59CD9309-1CB5-423A-A7A9-6E32CDFC5C1E}"/>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45048" y="1188720"/>
            <a:ext cx="2303674" cy="5111496"/>
          </a:xfrm>
          <a:prstGeom prst="rect">
            <a:avLst/>
          </a:prstGeom>
        </p:spPr>
      </p:pic>
      <p:pic>
        <p:nvPicPr>
          <p:cNvPr id="42" name="Picture Placeholder 41">
            <a:extLst>
              <a:ext uri="{FF2B5EF4-FFF2-40B4-BE49-F238E27FC236}">
                <a16:creationId xmlns:a16="http://schemas.microsoft.com/office/drawing/2014/main" id="{98B81AA7-5F47-4A0B-A316-257E72D394D7}"/>
              </a:ext>
              <a:ext uri="{C183D7F6-B498-43B3-948B-1728B52AA6E4}">
                <adec:decorative xmlns:adec="http://schemas.microsoft.com/office/drawing/2017/decorative" val="1"/>
              </a:ext>
            </a:extLst>
          </p:cNvPr>
          <p:cNvPicPr>
            <a:picLocks noGrp="1" noChangeAspect="1"/>
          </p:cNvPicPr>
          <p:nvPr>
            <p:ph type="pic" idx="23"/>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3647790" y="1932048"/>
            <a:ext cx="2286000" cy="2286000"/>
          </a:xfrm>
          <a:prstGeom prst="rect">
            <a:avLst/>
          </a:prstGeom>
        </p:spPr>
      </p:pic>
      <p:pic>
        <p:nvPicPr>
          <p:cNvPr id="43" name="Picture Placeholder 42">
            <a:extLst>
              <a:ext uri="{FF2B5EF4-FFF2-40B4-BE49-F238E27FC236}">
                <a16:creationId xmlns:a16="http://schemas.microsoft.com/office/drawing/2014/main" id="{795E06CB-C1A2-4222-8323-71D644502D64}"/>
              </a:ext>
              <a:ext uri="{C183D7F6-B498-43B3-948B-1728B52AA6E4}">
                <adec:decorative xmlns:adec="http://schemas.microsoft.com/office/drawing/2017/decorative" val="1"/>
              </a:ext>
            </a:extLst>
          </p:cNvPr>
          <p:cNvPicPr>
            <a:picLocks noGrp="1" noChangeAspect="1"/>
          </p:cNvPicPr>
          <p:nvPr>
            <p:ph type="pic" idx="24"/>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6661563" y="1932048"/>
            <a:ext cx="2286000" cy="2286000"/>
          </a:xfrm>
          <a:prstGeom prst="rect">
            <a:avLst/>
          </a:prstGeom>
        </p:spPr>
      </p:pic>
      <p:pic>
        <p:nvPicPr>
          <p:cNvPr id="44" name="Picture Placeholder 43">
            <a:extLst>
              <a:ext uri="{FF2B5EF4-FFF2-40B4-BE49-F238E27FC236}">
                <a16:creationId xmlns:a16="http://schemas.microsoft.com/office/drawing/2014/main" id="{F95172A3-15D7-459F-9E27-34C81731A892}"/>
              </a:ext>
              <a:ext uri="{C183D7F6-B498-43B3-948B-1728B52AA6E4}">
                <adec:decorative xmlns:adec="http://schemas.microsoft.com/office/drawing/2017/decorative" val="1"/>
              </a:ext>
            </a:extLst>
          </p:cNvPr>
          <p:cNvPicPr>
            <a:picLocks noGrp="1" noChangeAspect="1"/>
          </p:cNvPicPr>
          <p:nvPr>
            <p:ph type="pic" idx="22"/>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583881" y="1932048"/>
            <a:ext cx="2286000" cy="2286000"/>
          </a:xfrm>
          <a:prstGeom prst="rect">
            <a:avLst/>
          </a:prstGeom>
        </p:spPr>
      </p:pic>
    </p:spTree>
    <p:custDataLst>
      <p:tags r:id="rId1"/>
    </p:custDataLst>
    <p:extLst>
      <p:ext uri="{BB962C8B-B14F-4D97-AF65-F5344CB8AC3E}">
        <p14:creationId xmlns:p14="http://schemas.microsoft.com/office/powerpoint/2010/main" val="2010253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A40E11E2-2F2F-4DE6-B3EB-9A60FFA92CF0}"/>
              </a:ext>
            </a:extLst>
          </p:cNvPr>
          <p:cNvSpPr>
            <a:spLocks noGrp="1"/>
          </p:cNvSpPr>
          <p:nvPr>
            <p:ph type="sldNum" idx="97"/>
          </p:nvPr>
        </p:nvSpPr>
        <p:spPr/>
        <p:txBody>
          <a:bodyPr/>
          <a:lstStyle/>
          <a:p>
            <a:fld id="{B6A95138-A96E-2F42-A959-2EFD44FE4AB7}" type="slidenum">
              <a:rPr lang="en-US" smtClean="0"/>
              <a:t>14</a:t>
            </a:fld>
            <a:endParaRPr lang="en-US" dirty="0"/>
          </a:p>
        </p:txBody>
      </p:sp>
      <p:sp>
        <p:nvSpPr>
          <p:cNvPr id="2" name="Title">
            <a:extLst>
              <a:ext uri="{FF2B5EF4-FFF2-40B4-BE49-F238E27FC236}">
                <a16:creationId xmlns:a16="http://schemas.microsoft.com/office/drawing/2014/main" id="{12333780-451D-624F-B22F-AC4418A3F4D9}"/>
              </a:ext>
            </a:extLst>
          </p:cNvPr>
          <p:cNvSpPr>
            <a:spLocks noGrp="1"/>
          </p:cNvSpPr>
          <p:nvPr>
            <p:ph type="title" idx="1"/>
          </p:nvPr>
        </p:nvSpPr>
        <p:spPr/>
        <p:txBody>
          <a:bodyPr/>
          <a:lstStyle/>
          <a:p>
            <a:r>
              <a:rPr lang="en-US" dirty="0"/>
              <a:t>Security pillar</a:t>
            </a:r>
          </a:p>
        </p:txBody>
      </p:sp>
      <p:sp>
        <p:nvSpPr>
          <p:cNvPr id="5" name="Rectangle 4">
            <a:extLst>
              <a:ext uri="{FF2B5EF4-FFF2-40B4-BE49-F238E27FC236}">
                <a16:creationId xmlns:a16="http://schemas.microsoft.com/office/drawing/2014/main" id="{DCA0D14F-4034-9B44-87FF-9D0D028466DA}"/>
              </a:ext>
            </a:extLst>
          </p:cNvPr>
          <p:cNvSpPr/>
          <p:nvPr/>
        </p:nvSpPr>
        <p:spPr>
          <a:xfrm>
            <a:off x="1396674" y="3027261"/>
            <a:ext cx="3042050" cy="707886"/>
          </a:xfrm>
          <a:prstGeom prst="rect">
            <a:avLst/>
          </a:prstGeom>
        </p:spPr>
        <p:txBody>
          <a:bodyPr wrap="square">
            <a:spAutoFit/>
          </a:bodyPr>
          <a:lstStyle/>
          <a:p>
            <a:pPr algn="ctr"/>
            <a:r>
              <a:rPr lang="en-US" sz="2000" dirty="0">
                <a:solidFill>
                  <a:srgbClr val="232F3E"/>
                </a:solidFill>
                <a:ea typeface="Amazon Ember Display" panose="020F0603020204020204" pitchFamily="34" charset="0"/>
                <a:cs typeface="Amazon Ember Display" panose="020F0603020204020204" pitchFamily="34" charset="0"/>
              </a:rPr>
              <a:t>Implement a strong identity foundation.</a:t>
            </a:r>
          </a:p>
        </p:txBody>
      </p:sp>
      <p:sp>
        <p:nvSpPr>
          <p:cNvPr id="6" name="Rectangle 5">
            <a:extLst>
              <a:ext uri="{FF2B5EF4-FFF2-40B4-BE49-F238E27FC236}">
                <a16:creationId xmlns:a16="http://schemas.microsoft.com/office/drawing/2014/main" id="{980F8ED8-8BA3-6847-BD1B-F6B0B5EE8243}"/>
              </a:ext>
            </a:extLst>
          </p:cNvPr>
          <p:cNvSpPr/>
          <p:nvPr/>
        </p:nvSpPr>
        <p:spPr>
          <a:xfrm>
            <a:off x="5245789" y="3027261"/>
            <a:ext cx="2549621" cy="707886"/>
          </a:xfrm>
          <a:prstGeom prst="rect">
            <a:avLst/>
          </a:prstGeom>
        </p:spPr>
        <p:txBody>
          <a:bodyPr wrap="square">
            <a:spAutoFit/>
          </a:bodyPr>
          <a:lstStyle/>
          <a:p>
            <a:pPr algn="ctr"/>
            <a:r>
              <a:rPr lang="en-US" sz="2000" dirty="0">
                <a:solidFill>
                  <a:srgbClr val="232F3E"/>
                </a:solidFill>
                <a:ea typeface="Amazon Ember Display" panose="020F0603020204020204" pitchFamily="34" charset="0"/>
                <a:cs typeface="Amazon Ember Display" panose="020F0603020204020204" pitchFamily="34" charset="0"/>
              </a:rPr>
              <a:t>Maintain traceability.</a:t>
            </a:r>
          </a:p>
        </p:txBody>
      </p:sp>
      <p:sp>
        <p:nvSpPr>
          <p:cNvPr id="7" name="Rectangle 6">
            <a:extLst>
              <a:ext uri="{FF2B5EF4-FFF2-40B4-BE49-F238E27FC236}">
                <a16:creationId xmlns:a16="http://schemas.microsoft.com/office/drawing/2014/main" id="{96175673-EE48-D14D-9E2B-B506625B3687}"/>
              </a:ext>
            </a:extLst>
          </p:cNvPr>
          <p:cNvSpPr/>
          <p:nvPr/>
        </p:nvSpPr>
        <p:spPr>
          <a:xfrm>
            <a:off x="2039976" y="5379117"/>
            <a:ext cx="1755446" cy="1015663"/>
          </a:xfrm>
          <a:prstGeom prst="rect">
            <a:avLst/>
          </a:prstGeom>
        </p:spPr>
        <p:txBody>
          <a:bodyPr wrap="square">
            <a:spAutoFit/>
          </a:bodyPr>
          <a:lstStyle/>
          <a:p>
            <a:pPr algn="ctr"/>
            <a:r>
              <a:rPr lang="en-US" sz="2000" dirty="0">
                <a:solidFill>
                  <a:srgbClr val="232F3E"/>
                </a:solidFill>
                <a:ea typeface="Amazon Ember Display" panose="020F0603020204020204" pitchFamily="34" charset="0"/>
                <a:cs typeface="Amazon Ember Display" panose="020F0603020204020204" pitchFamily="34" charset="0"/>
              </a:rPr>
              <a:t>Apply security at all layers.</a:t>
            </a:r>
          </a:p>
        </p:txBody>
      </p:sp>
      <p:sp>
        <p:nvSpPr>
          <p:cNvPr id="14" name="Rectangle 13">
            <a:extLst>
              <a:ext uri="{FF2B5EF4-FFF2-40B4-BE49-F238E27FC236}">
                <a16:creationId xmlns:a16="http://schemas.microsoft.com/office/drawing/2014/main" id="{0DC5A63E-9E41-184A-B9F0-02FD9FD70914}"/>
              </a:ext>
            </a:extLst>
          </p:cNvPr>
          <p:cNvSpPr/>
          <p:nvPr/>
        </p:nvSpPr>
        <p:spPr>
          <a:xfrm>
            <a:off x="5049348" y="5379117"/>
            <a:ext cx="2942502" cy="1015663"/>
          </a:xfrm>
          <a:prstGeom prst="rect">
            <a:avLst/>
          </a:prstGeom>
        </p:spPr>
        <p:txBody>
          <a:bodyPr wrap="square">
            <a:spAutoFit/>
          </a:bodyPr>
          <a:lstStyle/>
          <a:p>
            <a:pPr algn="ctr"/>
            <a:r>
              <a:rPr lang="en-US" sz="2000" dirty="0">
                <a:solidFill>
                  <a:srgbClr val="232F3E"/>
                </a:solidFill>
                <a:ea typeface="Amazon Ember Display" panose="020F0603020204020204" pitchFamily="34" charset="0"/>
                <a:cs typeface="Amazon Ember Display" panose="020F0603020204020204" pitchFamily="34" charset="0"/>
              </a:rPr>
              <a:t>Implement risk assessment and mitigation strategies.</a:t>
            </a:r>
          </a:p>
        </p:txBody>
      </p:sp>
      <p:pic>
        <p:nvPicPr>
          <p:cNvPr id="17" name="Graphic 16">
            <a:extLst>
              <a:ext uri="{FF2B5EF4-FFF2-40B4-BE49-F238E27FC236}">
                <a16:creationId xmlns:a16="http://schemas.microsoft.com/office/drawing/2014/main" id="{FA87F04E-7067-4951-84F4-58C5BA0A9EA2}"/>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30410" y="1215043"/>
            <a:ext cx="1974578" cy="1974578"/>
          </a:xfrm>
          <a:prstGeom prst="rect">
            <a:avLst/>
          </a:prstGeom>
        </p:spPr>
      </p:pic>
      <p:pic>
        <p:nvPicPr>
          <p:cNvPr id="19" name="Graphic 18">
            <a:extLst>
              <a:ext uri="{FF2B5EF4-FFF2-40B4-BE49-F238E27FC236}">
                <a16:creationId xmlns:a16="http://schemas.microsoft.com/office/drawing/2014/main" id="{13B462D3-88D6-4856-BE65-D79F234A0A51}"/>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43437" y="3764172"/>
            <a:ext cx="1754325" cy="1754325"/>
          </a:xfrm>
          <a:prstGeom prst="rect">
            <a:avLst/>
          </a:prstGeom>
        </p:spPr>
      </p:pic>
      <p:pic>
        <p:nvPicPr>
          <p:cNvPr id="20" name="Graphic 19">
            <a:extLst>
              <a:ext uri="{FF2B5EF4-FFF2-40B4-BE49-F238E27FC236}">
                <a16:creationId xmlns:a16="http://schemas.microsoft.com/office/drawing/2014/main" id="{BA2A4CAF-4A0F-4537-B957-209DA363EDAB}"/>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39976" y="3764172"/>
            <a:ext cx="1755446" cy="1755446"/>
          </a:xfrm>
          <a:prstGeom prst="rect">
            <a:avLst/>
          </a:prstGeom>
        </p:spPr>
      </p:pic>
      <p:pic>
        <p:nvPicPr>
          <p:cNvPr id="10" name="Graphic 9">
            <a:extLst>
              <a:ext uri="{FF2B5EF4-FFF2-40B4-BE49-F238E27FC236}">
                <a16:creationId xmlns:a16="http://schemas.microsoft.com/office/drawing/2014/main" id="{D7340AF2-E8D8-49E2-BBBE-0CB1678BF4C1}"/>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372600" y="1188720"/>
            <a:ext cx="1974578" cy="5111496"/>
          </a:xfrm>
          <a:prstGeom prst="rect">
            <a:avLst/>
          </a:prstGeom>
        </p:spPr>
      </p:pic>
      <p:pic>
        <p:nvPicPr>
          <p:cNvPr id="13" name="Graphic 12">
            <a:extLst>
              <a:ext uri="{FF2B5EF4-FFF2-40B4-BE49-F238E27FC236}">
                <a16:creationId xmlns:a16="http://schemas.microsoft.com/office/drawing/2014/main" id="{F05F6770-30BC-4C49-B17A-6EFFCB30609C}"/>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649593" y="1315670"/>
            <a:ext cx="1742013" cy="1742013"/>
          </a:xfrm>
          <a:prstGeom prst="rect">
            <a:avLst/>
          </a:prstGeom>
        </p:spPr>
      </p:pic>
    </p:spTree>
    <p:custDataLst>
      <p:tags r:id="rId1"/>
    </p:custDataLst>
    <p:extLst>
      <p:ext uri="{BB962C8B-B14F-4D97-AF65-F5344CB8AC3E}">
        <p14:creationId xmlns:p14="http://schemas.microsoft.com/office/powerpoint/2010/main" val="2350693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51B9E060-F0DA-4CD1-A0F9-FE92C5BD04FE}"/>
              </a:ext>
            </a:extLst>
          </p:cNvPr>
          <p:cNvSpPr>
            <a:spLocks noGrp="1"/>
          </p:cNvSpPr>
          <p:nvPr>
            <p:ph type="sldNum" idx="97"/>
          </p:nvPr>
        </p:nvSpPr>
        <p:spPr/>
        <p:txBody>
          <a:bodyPr/>
          <a:lstStyle/>
          <a:p>
            <a:fld id="{B6A95138-A96E-2F42-A959-2EFD44FE4AB7}" type="slidenum">
              <a:rPr lang="en-US" smtClean="0"/>
              <a:pPr/>
              <a:t>15</a:t>
            </a:fld>
            <a:endParaRPr lang="en-US" dirty="0"/>
          </a:p>
        </p:txBody>
      </p:sp>
      <p:sp>
        <p:nvSpPr>
          <p:cNvPr id="2" name="Title">
            <a:extLst>
              <a:ext uri="{FF2B5EF4-FFF2-40B4-BE49-F238E27FC236}">
                <a16:creationId xmlns:a16="http://schemas.microsoft.com/office/drawing/2014/main" id="{12333780-451D-624F-B22F-AC4418A3F4D9}"/>
              </a:ext>
            </a:extLst>
          </p:cNvPr>
          <p:cNvSpPr>
            <a:spLocks noGrp="1"/>
          </p:cNvSpPr>
          <p:nvPr>
            <p:ph type="title" idx="1"/>
          </p:nvPr>
        </p:nvSpPr>
        <p:spPr/>
        <p:txBody>
          <a:bodyPr/>
          <a:lstStyle/>
          <a:p>
            <a:r>
              <a:rPr lang="en-US" dirty="0"/>
              <a:t>Reliability pillar</a:t>
            </a:r>
          </a:p>
        </p:txBody>
      </p:sp>
      <p:sp>
        <p:nvSpPr>
          <p:cNvPr id="21" name="Text Placeholder 20">
            <a:extLst>
              <a:ext uri="{FF2B5EF4-FFF2-40B4-BE49-F238E27FC236}">
                <a16:creationId xmlns:a16="http://schemas.microsoft.com/office/drawing/2014/main" id="{4E729BA8-2F9F-45E4-935D-1BBB830C7996}"/>
              </a:ext>
            </a:extLst>
          </p:cNvPr>
          <p:cNvSpPr>
            <a:spLocks noGrp="1"/>
          </p:cNvSpPr>
          <p:nvPr>
            <p:ph type="body" idx="3"/>
          </p:nvPr>
        </p:nvSpPr>
        <p:spPr>
          <a:xfrm>
            <a:off x="-106191" y="4663440"/>
            <a:ext cx="3749040" cy="1783080"/>
          </a:xfrm>
        </p:spPr>
        <p:txBody>
          <a:bodyPr/>
          <a:lstStyle/>
          <a:p>
            <a:r>
              <a:rPr lang="en-US" sz="2000" dirty="0"/>
              <a:t>Recover quickly.</a:t>
            </a:r>
          </a:p>
        </p:txBody>
      </p:sp>
      <p:sp>
        <p:nvSpPr>
          <p:cNvPr id="22" name="Text Placeholder 21">
            <a:extLst>
              <a:ext uri="{FF2B5EF4-FFF2-40B4-BE49-F238E27FC236}">
                <a16:creationId xmlns:a16="http://schemas.microsoft.com/office/drawing/2014/main" id="{F8E69D1C-6837-4DA1-A61F-217B445FF433}"/>
              </a:ext>
            </a:extLst>
          </p:cNvPr>
          <p:cNvSpPr>
            <a:spLocks noGrp="1"/>
          </p:cNvSpPr>
          <p:nvPr>
            <p:ph type="body" idx="4"/>
          </p:nvPr>
        </p:nvSpPr>
        <p:spPr>
          <a:xfrm>
            <a:off x="2830808" y="4663440"/>
            <a:ext cx="3749040" cy="1783080"/>
          </a:xfrm>
        </p:spPr>
        <p:txBody>
          <a:bodyPr/>
          <a:lstStyle/>
          <a:p>
            <a:r>
              <a:rPr lang="en-US" sz="2000" dirty="0"/>
              <a:t>Dynamically meet </a:t>
            </a:r>
            <a:br>
              <a:rPr lang="en-US" sz="2000" dirty="0"/>
            </a:br>
            <a:r>
              <a:rPr lang="en-US" sz="2000" dirty="0"/>
              <a:t>compute demand.</a:t>
            </a:r>
          </a:p>
        </p:txBody>
      </p:sp>
      <p:sp>
        <p:nvSpPr>
          <p:cNvPr id="23" name="Text Placeholder 22">
            <a:extLst>
              <a:ext uri="{FF2B5EF4-FFF2-40B4-BE49-F238E27FC236}">
                <a16:creationId xmlns:a16="http://schemas.microsoft.com/office/drawing/2014/main" id="{3B3A6884-AC76-4E07-A0F3-015D2949A744}"/>
              </a:ext>
            </a:extLst>
          </p:cNvPr>
          <p:cNvSpPr>
            <a:spLocks noGrp="1"/>
          </p:cNvSpPr>
          <p:nvPr>
            <p:ph type="body" idx="5"/>
          </p:nvPr>
        </p:nvSpPr>
        <p:spPr>
          <a:xfrm>
            <a:off x="5767807" y="4663440"/>
            <a:ext cx="3749040" cy="1783080"/>
          </a:xfrm>
        </p:spPr>
        <p:txBody>
          <a:bodyPr/>
          <a:lstStyle/>
          <a:p>
            <a:r>
              <a:rPr lang="en-US" sz="2000" dirty="0"/>
              <a:t>Mitigate disruptions.</a:t>
            </a:r>
          </a:p>
        </p:txBody>
      </p:sp>
      <p:pic>
        <p:nvPicPr>
          <p:cNvPr id="6" name="Graphic 5">
            <a:extLst>
              <a:ext uri="{FF2B5EF4-FFF2-40B4-BE49-F238E27FC236}">
                <a16:creationId xmlns:a16="http://schemas.microsoft.com/office/drawing/2014/main" id="{528DE0DE-8BA4-457D-A780-DC36AF79188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72600" y="1188720"/>
            <a:ext cx="1974578" cy="5111496"/>
          </a:xfrm>
          <a:prstGeom prst="rect">
            <a:avLst/>
          </a:prstGeom>
        </p:spPr>
      </p:pic>
      <p:pic>
        <p:nvPicPr>
          <p:cNvPr id="27" name="Picture Placeholder 26">
            <a:extLst>
              <a:ext uri="{FF2B5EF4-FFF2-40B4-BE49-F238E27FC236}">
                <a16:creationId xmlns:a16="http://schemas.microsoft.com/office/drawing/2014/main" id="{10C5F399-2CC3-44E9-A69F-2A6E230FB7E8}"/>
              </a:ext>
              <a:ext uri="{C183D7F6-B498-43B3-948B-1728B52AA6E4}">
                <adec:decorative xmlns:adec="http://schemas.microsoft.com/office/drawing/2017/decorative" val="1"/>
              </a:ext>
            </a:extLst>
          </p:cNvPr>
          <p:cNvPicPr>
            <a:picLocks noGrp="1" noChangeAspect="1"/>
          </p:cNvPicPr>
          <p:nvPr>
            <p:ph type="pic" idx="22"/>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625329" y="2286000"/>
            <a:ext cx="2286000" cy="2286000"/>
          </a:xfrm>
          <a:prstGeom prst="rect">
            <a:avLst/>
          </a:prstGeom>
        </p:spPr>
      </p:pic>
      <p:pic>
        <p:nvPicPr>
          <p:cNvPr id="28" name="Picture Placeholder 27">
            <a:extLst>
              <a:ext uri="{FF2B5EF4-FFF2-40B4-BE49-F238E27FC236}">
                <a16:creationId xmlns:a16="http://schemas.microsoft.com/office/drawing/2014/main" id="{937BD24C-F6F2-4C7B-A751-A86DACC5CEE9}"/>
              </a:ext>
              <a:ext uri="{C183D7F6-B498-43B3-948B-1728B52AA6E4}">
                <adec:decorative xmlns:adec="http://schemas.microsoft.com/office/drawing/2017/decorative" val="1"/>
              </a:ext>
            </a:extLst>
          </p:cNvPr>
          <p:cNvPicPr>
            <a:picLocks noGrp="1" noChangeAspect="1"/>
          </p:cNvPicPr>
          <p:nvPr>
            <p:ph type="pic" idx="23"/>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3562328" y="2286000"/>
            <a:ext cx="2286000" cy="2286000"/>
          </a:xfrm>
          <a:prstGeom prst="rect">
            <a:avLst/>
          </a:prstGeom>
        </p:spPr>
      </p:pic>
      <p:pic>
        <p:nvPicPr>
          <p:cNvPr id="29" name="Picture Placeholder 28">
            <a:extLst>
              <a:ext uri="{FF2B5EF4-FFF2-40B4-BE49-F238E27FC236}">
                <a16:creationId xmlns:a16="http://schemas.microsoft.com/office/drawing/2014/main" id="{948C30EA-320A-4872-B38D-9D819768A5D5}"/>
              </a:ext>
              <a:ext uri="{C183D7F6-B498-43B3-948B-1728B52AA6E4}">
                <adec:decorative xmlns:adec="http://schemas.microsoft.com/office/drawing/2017/decorative" val="1"/>
              </a:ext>
            </a:extLst>
          </p:cNvPr>
          <p:cNvPicPr>
            <a:picLocks noGrp="1" noChangeAspect="1"/>
          </p:cNvPicPr>
          <p:nvPr>
            <p:ph type="pic" idx="24"/>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6499327" y="2286000"/>
            <a:ext cx="2286000" cy="2286000"/>
          </a:xfrm>
          <a:prstGeom prst="rect">
            <a:avLst/>
          </a:prstGeom>
        </p:spPr>
      </p:pic>
    </p:spTree>
    <p:custDataLst>
      <p:tags r:id="rId1"/>
    </p:custDataLst>
    <p:extLst>
      <p:ext uri="{BB962C8B-B14F-4D97-AF65-F5344CB8AC3E}">
        <p14:creationId xmlns:p14="http://schemas.microsoft.com/office/powerpoint/2010/main" val="3313759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1D81A91F-197C-4A31-A7EB-C4E3783AA41E}"/>
              </a:ext>
            </a:extLst>
          </p:cNvPr>
          <p:cNvSpPr>
            <a:spLocks noGrp="1"/>
          </p:cNvSpPr>
          <p:nvPr>
            <p:ph type="sldNum" idx="97"/>
          </p:nvPr>
        </p:nvSpPr>
        <p:spPr/>
        <p:txBody>
          <a:bodyPr/>
          <a:lstStyle/>
          <a:p>
            <a:fld id="{B6A95138-A96E-2F42-A959-2EFD44FE4AB7}" type="slidenum">
              <a:rPr lang="en-US" smtClean="0"/>
              <a:pPr/>
              <a:t>16</a:t>
            </a:fld>
            <a:endParaRPr lang="en-US" dirty="0"/>
          </a:p>
        </p:txBody>
      </p:sp>
      <p:sp>
        <p:nvSpPr>
          <p:cNvPr id="2" name="Title">
            <a:extLst>
              <a:ext uri="{FF2B5EF4-FFF2-40B4-BE49-F238E27FC236}">
                <a16:creationId xmlns:a16="http://schemas.microsoft.com/office/drawing/2014/main" id="{12333780-451D-624F-B22F-AC4418A3F4D9}"/>
              </a:ext>
            </a:extLst>
          </p:cNvPr>
          <p:cNvSpPr>
            <a:spLocks noGrp="1"/>
          </p:cNvSpPr>
          <p:nvPr>
            <p:ph type="title" idx="1"/>
          </p:nvPr>
        </p:nvSpPr>
        <p:spPr/>
        <p:txBody>
          <a:bodyPr/>
          <a:lstStyle/>
          <a:p>
            <a:r>
              <a:rPr lang="en-US" dirty="0"/>
              <a:t>Performance Efficiency pillar</a:t>
            </a:r>
          </a:p>
        </p:txBody>
      </p:sp>
      <p:sp>
        <p:nvSpPr>
          <p:cNvPr id="23" name="Text Placeholder 22">
            <a:extLst>
              <a:ext uri="{FF2B5EF4-FFF2-40B4-BE49-F238E27FC236}">
                <a16:creationId xmlns:a16="http://schemas.microsoft.com/office/drawing/2014/main" id="{0B33158B-1A8F-4D09-B54C-63FD6290E94A}"/>
              </a:ext>
            </a:extLst>
          </p:cNvPr>
          <p:cNvSpPr>
            <a:spLocks noGrp="1"/>
          </p:cNvSpPr>
          <p:nvPr>
            <p:ph type="body" idx="3"/>
          </p:nvPr>
        </p:nvSpPr>
        <p:spPr>
          <a:xfrm>
            <a:off x="-101160" y="4663440"/>
            <a:ext cx="3749040" cy="1783080"/>
          </a:xfrm>
        </p:spPr>
        <p:txBody>
          <a:bodyPr/>
          <a:lstStyle/>
          <a:p>
            <a:r>
              <a:rPr lang="en-US" sz="2000" dirty="0"/>
              <a:t>Choose and maintain </a:t>
            </a:r>
            <a:br>
              <a:rPr lang="en-US" sz="2000" dirty="0"/>
            </a:br>
            <a:r>
              <a:rPr lang="en-US" sz="2000" dirty="0"/>
              <a:t>efficient resources.</a:t>
            </a:r>
          </a:p>
        </p:txBody>
      </p:sp>
      <p:sp>
        <p:nvSpPr>
          <p:cNvPr id="24" name="Text Placeholder 23">
            <a:extLst>
              <a:ext uri="{FF2B5EF4-FFF2-40B4-BE49-F238E27FC236}">
                <a16:creationId xmlns:a16="http://schemas.microsoft.com/office/drawing/2014/main" id="{8999566D-1AFD-4494-BFD7-BA300DEE327B}"/>
              </a:ext>
            </a:extLst>
          </p:cNvPr>
          <p:cNvSpPr>
            <a:spLocks noGrp="1"/>
          </p:cNvSpPr>
          <p:nvPr>
            <p:ph type="body" idx="4"/>
          </p:nvPr>
        </p:nvSpPr>
        <p:spPr>
          <a:xfrm>
            <a:off x="2950059" y="4663440"/>
            <a:ext cx="3749040" cy="1783080"/>
          </a:xfrm>
        </p:spPr>
        <p:txBody>
          <a:bodyPr/>
          <a:lstStyle/>
          <a:p>
            <a:r>
              <a:rPr lang="en-US" sz="2000" dirty="0"/>
              <a:t>Democratize advanced technologies.</a:t>
            </a:r>
          </a:p>
        </p:txBody>
      </p:sp>
      <p:sp>
        <p:nvSpPr>
          <p:cNvPr id="25" name="Text Placeholder 24">
            <a:extLst>
              <a:ext uri="{FF2B5EF4-FFF2-40B4-BE49-F238E27FC236}">
                <a16:creationId xmlns:a16="http://schemas.microsoft.com/office/drawing/2014/main" id="{77397C98-A720-4AD7-AA00-DC785D4986CD}"/>
              </a:ext>
            </a:extLst>
          </p:cNvPr>
          <p:cNvSpPr>
            <a:spLocks noGrp="1"/>
          </p:cNvSpPr>
          <p:nvPr>
            <p:ph type="body" idx="5"/>
          </p:nvPr>
        </p:nvSpPr>
        <p:spPr>
          <a:xfrm>
            <a:off x="6001277" y="4663440"/>
            <a:ext cx="3749040" cy="1783080"/>
          </a:xfrm>
        </p:spPr>
        <p:txBody>
          <a:bodyPr/>
          <a:lstStyle/>
          <a:p>
            <a:r>
              <a:rPr lang="en-US" sz="2000" dirty="0"/>
              <a:t>Employ mechanical </a:t>
            </a:r>
          </a:p>
          <a:p>
            <a:r>
              <a:rPr lang="en-US" sz="2000" dirty="0"/>
              <a:t>Sympathy.</a:t>
            </a:r>
          </a:p>
          <a:p>
            <a:endParaRPr lang="en-US" sz="2000" dirty="0"/>
          </a:p>
        </p:txBody>
      </p:sp>
      <p:pic>
        <p:nvPicPr>
          <p:cNvPr id="5" name="Graphic 4">
            <a:extLst>
              <a:ext uri="{FF2B5EF4-FFF2-40B4-BE49-F238E27FC236}">
                <a16:creationId xmlns:a16="http://schemas.microsoft.com/office/drawing/2014/main" id="{124313DC-8014-4985-B449-F4D2D314B219}"/>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72600" y="1188720"/>
            <a:ext cx="1974578" cy="5111496"/>
          </a:xfrm>
          <a:prstGeom prst="rect">
            <a:avLst/>
          </a:prstGeom>
        </p:spPr>
      </p:pic>
      <p:pic>
        <p:nvPicPr>
          <p:cNvPr id="29" name="Picture Placeholder 28">
            <a:extLst>
              <a:ext uri="{FF2B5EF4-FFF2-40B4-BE49-F238E27FC236}">
                <a16:creationId xmlns:a16="http://schemas.microsoft.com/office/drawing/2014/main" id="{CC35FE44-6772-4808-923E-8F4316B3B52C}"/>
              </a:ext>
              <a:ext uri="{C183D7F6-B498-43B3-948B-1728B52AA6E4}">
                <adec:decorative xmlns:adec="http://schemas.microsoft.com/office/drawing/2017/decorative" val="1"/>
              </a:ext>
            </a:extLst>
          </p:cNvPr>
          <p:cNvPicPr>
            <a:picLocks noGrp="1" noChangeAspect="1"/>
          </p:cNvPicPr>
          <p:nvPr>
            <p:ph type="pic" idx="22"/>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630360" y="2286000"/>
            <a:ext cx="2286000" cy="2286000"/>
          </a:xfrm>
          <a:prstGeom prst="rect">
            <a:avLst/>
          </a:prstGeom>
        </p:spPr>
      </p:pic>
      <p:pic>
        <p:nvPicPr>
          <p:cNvPr id="30" name="Picture Placeholder 29">
            <a:extLst>
              <a:ext uri="{FF2B5EF4-FFF2-40B4-BE49-F238E27FC236}">
                <a16:creationId xmlns:a16="http://schemas.microsoft.com/office/drawing/2014/main" id="{DB89FA75-40FA-414D-8AB3-26D69DB66111}"/>
              </a:ext>
              <a:ext uri="{C183D7F6-B498-43B3-948B-1728B52AA6E4}">
                <adec:decorative xmlns:adec="http://schemas.microsoft.com/office/drawing/2017/decorative" val="1"/>
              </a:ext>
            </a:extLst>
          </p:cNvPr>
          <p:cNvPicPr>
            <a:picLocks noGrp="1" noChangeAspect="1"/>
          </p:cNvPicPr>
          <p:nvPr>
            <p:ph type="pic" idx="23"/>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3681579" y="2286000"/>
            <a:ext cx="2286000" cy="2286000"/>
          </a:xfrm>
          <a:prstGeom prst="rect">
            <a:avLst/>
          </a:prstGeom>
        </p:spPr>
      </p:pic>
      <p:pic>
        <p:nvPicPr>
          <p:cNvPr id="31" name="Picture Placeholder 30">
            <a:extLst>
              <a:ext uri="{FF2B5EF4-FFF2-40B4-BE49-F238E27FC236}">
                <a16:creationId xmlns:a16="http://schemas.microsoft.com/office/drawing/2014/main" id="{4EFD6033-4624-4A0F-9692-C26E768ACAD4}"/>
              </a:ext>
              <a:ext uri="{C183D7F6-B498-43B3-948B-1728B52AA6E4}">
                <adec:decorative xmlns:adec="http://schemas.microsoft.com/office/drawing/2017/decorative" val="1"/>
              </a:ext>
            </a:extLst>
          </p:cNvPr>
          <p:cNvPicPr>
            <a:picLocks noGrp="1" noChangeAspect="1"/>
          </p:cNvPicPr>
          <p:nvPr>
            <p:ph type="pic" idx="24"/>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6732797" y="2286000"/>
            <a:ext cx="2286000" cy="2286000"/>
          </a:xfrm>
          <a:prstGeom prst="rect">
            <a:avLst/>
          </a:prstGeom>
        </p:spPr>
      </p:pic>
    </p:spTree>
    <p:custDataLst>
      <p:tags r:id="rId1"/>
    </p:custDataLst>
    <p:extLst>
      <p:ext uri="{BB962C8B-B14F-4D97-AF65-F5344CB8AC3E}">
        <p14:creationId xmlns:p14="http://schemas.microsoft.com/office/powerpoint/2010/main" val="664246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16EBFC41-D302-4A58-BBE4-79F92A45E9AC}"/>
              </a:ext>
            </a:extLst>
          </p:cNvPr>
          <p:cNvSpPr>
            <a:spLocks noGrp="1"/>
          </p:cNvSpPr>
          <p:nvPr>
            <p:ph type="sldNum" idx="97"/>
          </p:nvPr>
        </p:nvSpPr>
        <p:spPr/>
        <p:txBody>
          <a:bodyPr/>
          <a:lstStyle/>
          <a:p>
            <a:fld id="{B6A95138-A96E-2F42-A959-2EFD44FE4AB7}" type="slidenum">
              <a:rPr lang="en-US" smtClean="0"/>
              <a:pPr/>
              <a:t>17</a:t>
            </a:fld>
            <a:endParaRPr lang="en-US" dirty="0"/>
          </a:p>
        </p:txBody>
      </p:sp>
      <p:sp>
        <p:nvSpPr>
          <p:cNvPr id="2" name="Title">
            <a:extLst>
              <a:ext uri="{FF2B5EF4-FFF2-40B4-BE49-F238E27FC236}">
                <a16:creationId xmlns:a16="http://schemas.microsoft.com/office/drawing/2014/main" id="{12333780-451D-624F-B22F-AC4418A3F4D9}"/>
              </a:ext>
            </a:extLst>
          </p:cNvPr>
          <p:cNvSpPr>
            <a:spLocks noGrp="1"/>
          </p:cNvSpPr>
          <p:nvPr>
            <p:ph type="title" idx="1"/>
          </p:nvPr>
        </p:nvSpPr>
        <p:spPr/>
        <p:txBody>
          <a:bodyPr/>
          <a:lstStyle/>
          <a:p>
            <a:r>
              <a:rPr lang="en-US" dirty="0"/>
              <a:t>Cost Optimization pillar</a:t>
            </a:r>
          </a:p>
        </p:txBody>
      </p:sp>
      <p:pic>
        <p:nvPicPr>
          <p:cNvPr id="12" name="Graphic 11">
            <a:extLst>
              <a:ext uri="{FF2B5EF4-FFF2-40B4-BE49-F238E27FC236}">
                <a16:creationId xmlns:a16="http://schemas.microsoft.com/office/drawing/2014/main" id="{6C417550-090C-4731-A046-9ED8CB9C3959}"/>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72600" y="1188720"/>
            <a:ext cx="1974578" cy="5111496"/>
          </a:xfrm>
          <a:prstGeom prst="rect">
            <a:avLst/>
          </a:prstGeom>
        </p:spPr>
      </p:pic>
      <p:pic>
        <p:nvPicPr>
          <p:cNvPr id="6" name="Graphic 5">
            <a:extLst>
              <a:ext uri="{FF2B5EF4-FFF2-40B4-BE49-F238E27FC236}">
                <a16:creationId xmlns:a16="http://schemas.microsoft.com/office/drawing/2014/main" id="{889BAAB6-5575-4946-86E9-A44BDB7CBDD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85200" y="1335592"/>
            <a:ext cx="1974578" cy="1974578"/>
          </a:xfrm>
          <a:prstGeom prst="rect">
            <a:avLst/>
          </a:prstGeom>
        </p:spPr>
      </p:pic>
      <p:pic>
        <p:nvPicPr>
          <p:cNvPr id="7" name="Graphic 6">
            <a:extLst>
              <a:ext uri="{FF2B5EF4-FFF2-40B4-BE49-F238E27FC236}">
                <a16:creationId xmlns:a16="http://schemas.microsoft.com/office/drawing/2014/main" id="{9699BBF5-D34B-4D48-957D-BEB13D139D0D}"/>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27242" y="3775904"/>
            <a:ext cx="1746504" cy="1746504"/>
          </a:xfrm>
          <a:prstGeom prst="rect">
            <a:avLst/>
          </a:prstGeom>
        </p:spPr>
      </p:pic>
      <p:pic>
        <p:nvPicPr>
          <p:cNvPr id="9" name="Graphic 8">
            <a:extLst>
              <a:ext uri="{FF2B5EF4-FFF2-40B4-BE49-F238E27FC236}">
                <a16:creationId xmlns:a16="http://schemas.microsoft.com/office/drawing/2014/main" id="{92F2B869-B548-4078-969A-C11AE518D7C6}"/>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827242" y="1449629"/>
            <a:ext cx="1746504" cy="1746504"/>
          </a:xfrm>
          <a:prstGeom prst="rect">
            <a:avLst/>
          </a:prstGeom>
        </p:spPr>
      </p:pic>
      <p:pic>
        <p:nvPicPr>
          <p:cNvPr id="10" name="Graphic 9">
            <a:extLst>
              <a:ext uri="{FF2B5EF4-FFF2-40B4-BE49-F238E27FC236}">
                <a16:creationId xmlns:a16="http://schemas.microsoft.com/office/drawing/2014/main" id="{4C1B36D5-44E1-4BA7-A047-A93D485996C0}"/>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999237" y="3775904"/>
            <a:ext cx="1746504" cy="1746504"/>
          </a:xfrm>
          <a:prstGeom prst="rect">
            <a:avLst/>
          </a:prstGeom>
        </p:spPr>
      </p:pic>
      <p:sp>
        <p:nvSpPr>
          <p:cNvPr id="11" name="TextBox 10">
            <a:extLst>
              <a:ext uri="{FF2B5EF4-FFF2-40B4-BE49-F238E27FC236}">
                <a16:creationId xmlns:a16="http://schemas.microsoft.com/office/drawing/2014/main" id="{0FABCE7E-D0AE-464C-87D9-DACBF3960012}"/>
              </a:ext>
            </a:extLst>
          </p:cNvPr>
          <p:cNvSpPr txBox="1"/>
          <p:nvPr/>
        </p:nvSpPr>
        <p:spPr>
          <a:xfrm>
            <a:off x="1474846" y="3103193"/>
            <a:ext cx="2451296" cy="400110"/>
          </a:xfrm>
          <a:prstGeom prst="rect">
            <a:avLst/>
          </a:prstGeom>
          <a:noFill/>
        </p:spPr>
        <p:txBody>
          <a:bodyPr wrap="square">
            <a:spAutoFit/>
          </a:bodyPr>
          <a:lstStyle/>
          <a:p>
            <a:r>
              <a:rPr lang="en-US" sz="2000" dirty="0">
                <a:solidFill>
                  <a:srgbClr val="232F3E"/>
                </a:solidFill>
              </a:rPr>
              <a:t>Measure efficiency.</a:t>
            </a:r>
          </a:p>
        </p:txBody>
      </p:sp>
      <p:sp>
        <p:nvSpPr>
          <p:cNvPr id="13" name="TextBox 12">
            <a:extLst>
              <a:ext uri="{FF2B5EF4-FFF2-40B4-BE49-F238E27FC236}">
                <a16:creationId xmlns:a16="http://schemas.microsoft.com/office/drawing/2014/main" id="{435EBA0C-099B-432C-9B53-06E1BA883759}"/>
              </a:ext>
            </a:extLst>
          </p:cNvPr>
          <p:cNvSpPr txBox="1"/>
          <p:nvPr/>
        </p:nvSpPr>
        <p:spPr>
          <a:xfrm>
            <a:off x="5608681" y="3103193"/>
            <a:ext cx="2527617" cy="707886"/>
          </a:xfrm>
          <a:prstGeom prst="rect">
            <a:avLst/>
          </a:prstGeom>
          <a:noFill/>
        </p:spPr>
        <p:txBody>
          <a:bodyPr wrap="square">
            <a:spAutoFit/>
          </a:bodyPr>
          <a:lstStyle/>
          <a:p>
            <a:pPr algn="ctr"/>
            <a:r>
              <a:rPr lang="en-US" sz="2000" dirty="0">
                <a:solidFill>
                  <a:srgbClr val="232F3E"/>
                </a:solidFill>
              </a:rPr>
              <a:t>Eliminate unneeded expense.</a:t>
            </a:r>
          </a:p>
        </p:txBody>
      </p:sp>
      <p:sp>
        <p:nvSpPr>
          <p:cNvPr id="15" name="TextBox 14">
            <a:extLst>
              <a:ext uri="{FF2B5EF4-FFF2-40B4-BE49-F238E27FC236}">
                <a16:creationId xmlns:a16="http://schemas.microsoft.com/office/drawing/2014/main" id="{67608386-3721-4C40-A347-756D6CC438DC}"/>
              </a:ext>
            </a:extLst>
          </p:cNvPr>
          <p:cNvSpPr txBox="1"/>
          <p:nvPr/>
        </p:nvSpPr>
        <p:spPr>
          <a:xfrm>
            <a:off x="1384281" y="5326418"/>
            <a:ext cx="2632426" cy="707886"/>
          </a:xfrm>
          <a:prstGeom prst="rect">
            <a:avLst/>
          </a:prstGeom>
          <a:noFill/>
        </p:spPr>
        <p:txBody>
          <a:bodyPr wrap="square">
            <a:spAutoFit/>
          </a:bodyPr>
          <a:lstStyle/>
          <a:p>
            <a:pPr algn="ctr"/>
            <a:r>
              <a:rPr lang="en-US" sz="2000" dirty="0">
                <a:solidFill>
                  <a:srgbClr val="232F3E"/>
                </a:solidFill>
              </a:rPr>
              <a:t>Adopt the right </a:t>
            </a:r>
            <a:br>
              <a:rPr lang="en-US" sz="2000" dirty="0">
                <a:solidFill>
                  <a:srgbClr val="232F3E"/>
                </a:solidFill>
              </a:rPr>
            </a:br>
            <a:r>
              <a:rPr lang="en-US" sz="2000" dirty="0">
                <a:solidFill>
                  <a:srgbClr val="232F3E"/>
                </a:solidFill>
              </a:rPr>
              <a:t>consumption model.</a:t>
            </a:r>
          </a:p>
        </p:txBody>
      </p:sp>
      <p:sp>
        <p:nvSpPr>
          <p:cNvPr id="17" name="TextBox 16">
            <a:extLst>
              <a:ext uri="{FF2B5EF4-FFF2-40B4-BE49-F238E27FC236}">
                <a16:creationId xmlns:a16="http://schemas.microsoft.com/office/drawing/2014/main" id="{53562268-4F5A-4DD0-A05D-F5DAC265D6F0}"/>
              </a:ext>
            </a:extLst>
          </p:cNvPr>
          <p:cNvSpPr txBox="1"/>
          <p:nvPr/>
        </p:nvSpPr>
        <p:spPr>
          <a:xfrm>
            <a:off x="5737631" y="5326418"/>
            <a:ext cx="2269716" cy="1015663"/>
          </a:xfrm>
          <a:prstGeom prst="rect">
            <a:avLst/>
          </a:prstGeom>
          <a:noFill/>
        </p:spPr>
        <p:txBody>
          <a:bodyPr wrap="square">
            <a:spAutoFit/>
          </a:bodyPr>
          <a:lstStyle/>
          <a:p>
            <a:pPr algn="ctr"/>
            <a:r>
              <a:rPr lang="en-US" sz="2000" dirty="0">
                <a:solidFill>
                  <a:srgbClr val="232F3E"/>
                </a:solidFill>
              </a:rPr>
              <a:t>Consider using </a:t>
            </a:r>
            <a:br>
              <a:rPr lang="en-US" sz="2000" dirty="0">
                <a:solidFill>
                  <a:srgbClr val="232F3E"/>
                </a:solidFill>
              </a:rPr>
            </a:br>
            <a:r>
              <a:rPr lang="en-US" sz="2000" dirty="0">
                <a:solidFill>
                  <a:srgbClr val="232F3E"/>
                </a:solidFill>
              </a:rPr>
              <a:t>managed services.</a:t>
            </a:r>
          </a:p>
        </p:txBody>
      </p:sp>
    </p:spTree>
    <p:custDataLst>
      <p:tags r:id="rId1"/>
    </p:custDataLst>
    <p:extLst>
      <p:ext uri="{BB962C8B-B14F-4D97-AF65-F5344CB8AC3E}">
        <p14:creationId xmlns:p14="http://schemas.microsoft.com/office/powerpoint/2010/main" val="427114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7349FFD-6FC4-4DCB-A19E-E3C2025E4AAE}"/>
              </a:ext>
            </a:extLst>
          </p:cNvPr>
          <p:cNvSpPr>
            <a:spLocks noGrp="1"/>
          </p:cNvSpPr>
          <p:nvPr>
            <p:ph type="sldNum" idx="97"/>
          </p:nvPr>
        </p:nvSpPr>
        <p:spPr/>
        <p:txBody>
          <a:bodyPr/>
          <a:lstStyle/>
          <a:p>
            <a:fld id="{930176A1-BCF0-4712-97A6-6B495F55390B}" type="slidenum">
              <a:rPr lang="en-US" smtClean="0"/>
              <a:pPr/>
              <a:t>18</a:t>
            </a:fld>
            <a:endParaRPr lang="en-US" dirty="0"/>
          </a:p>
        </p:txBody>
      </p:sp>
      <p:sp>
        <p:nvSpPr>
          <p:cNvPr id="4" name="Title">
            <a:extLst>
              <a:ext uri="{FF2B5EF4-FFF2-40B4-BE49-F238E27FC236}">
                <a16:creationId xmlns:a16="http://schemas.microsoft.com/office/drawing/2014/main" id="{1760AC50-8192-4008-8238-9E2E23539AA3}"/>
              </a:ext>
            </a:extLst>
          </p:cNvPr>
          <p:cNvSpPr>
            <a:spLocks noGrp="1"/>
          </p:cNvSpPr>
          <p:nvPr>
            <p:ph type="title" idx="1"/>
          </p:nvPr>
        </p:nvSpPr>
        <p:spPr/>
        <p:txBody>
          <a:bodyPr/>
          <a:lstStyle/>
          <a:p>
            <a:r>
              <a:rPr lang="en-US" dirty="0"/>
              <a:t>Sustainability pillar</a:t>
            </a:r>
          </a:p>
        </p:txBody>
      </p:sp>
      <p:pic>
        <p:nvPicPr>
          <p:cNvPr id="25" name="Graphic 24">
            <a:extLst>
              <a:ext uri="{FF2B5EF4-FFF2-40B4-BE49-F238E27FC236}">
                <a16:creationId xmlns:a16="http://schemas.microsoft.com/office/drawing/2014/main" id="{DF1DC182-6AE2-4EBC-9C50-347A2F8DF15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74891" y="1186331"/>
            <a:ext cx="1972813" cy="5106927"/>
          </a:xfrm>
          <a:prstGeom prst="rect">
            <a:avLst/>
          </a:prstGeom>
        </p:spPr>
      </p:pic>
      <p:pic>
        <p:nvPicPr>
          <p:cNvPr id="6" name="Graphic 5">
            <a:extLst>
              <a:ext uri="{FF2B5EF4-FFF2-40B4-BE49-F238E27FC236}">
                <a16:creationId xmlns:a16="http://schemas.microsoft.com/office/drawing/2014/main" id="{743EFC1E-34A7-4259-89E0-3D30B813919E}"/>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36270" y="1312943"/>
            <a:ext cx="1798546" cy="1798546"/>
          </a:xfrm>
          <a:prstGeom prst="rect">
            <a:avLst/>
          </a:prstGeom>
        </p:spPr>
      </p:pic>
      <p:pic>
        <p:nvPicPr>
          <p:cNvPr id="7" name="Graphic 6">
            <a:extLst>
              <a:ext uri="{FF2B5EF4-FFF2-40B4-BE49-F238E27FC236}">
                <a16:creationId xmlns:a16="http://schemas.microsoft.com/office/drawing/2014/main" id="{05F8D582-CFB8-4DC5-8F57-3ECFBDAAF9C5}"/>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46643" y="3657600"/>
            <a:ext cx="1797389" cy="1797389"/>
          </a:xfrm>
          <a:prstGeom prst="rect">
            <a:avLst/>
          </a:prstGeom>
        </p:spPr>
      </p:pic>
      <p:pic>
        <p:nvPicPr>
          <p:cNvPr id="8" name="Graphic 7">
            <a:extLst>
              <a:ext uri="{FF2B5EF4-FFF2-40B4-BE49-F238E27FC236}">
                <a16:creationId xmlns:a16="http://schemas.microsoft.com/office/drawing/2014/main" id="{515DBEE7-8D0C-4127-B65A-7EF625649B81}"/>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729338" y="3657600"/>
            <a:ext cx="1812410" cy="1812410"/>
          </a:xfrm>
          <a:prstGeom prst="rect">
            <a:avLst/>
          </a:prstGeom>
        </p:spPr>
      </p:pic>
      <p:sp>
        <p:nvSpPr>
          <p:cNvPr id="12" name="TextBox 11">
            <a:extLst>
              <a:ext uri="{FF2B5EF4-FFF2-40B4-BE49-F238E27FC236}">
                <a16:creationId xmlns:a16="http://schemas.microsoft.com/office/drawing/2014/main" id="{B9B20877-9C78-4123-81A2-219EBDA8B72B}"/>
              </a:ext>
            </a:extLst>
          </p:cNvPr>
          <p:cNvSpPr txBox="1"/>
          <p:nvPr/>
        </p:nvSpPr>
        <p:spPr>
          <a:xfrm>
            <a:off x="703235" y="2922149"/>
            <a:ext cx="3864617" cy="400110"/>
          </a:xfrm>
          <a:prstGeom prst="rect">
            <a:avLst/>
          </a:prstGeom>
          <a:noFill/>
        </p:spPr>
        <p:txBody>
          <a:bodyPr wrap="square">
            <a:spAutoFit/>
          </a:bodyPr>
          <a:lstStyle/>
          <a:p>
            <a:pPr algn="ctr"/>
            <a:r>
              <a:rPr lang="en-US" sz="2000" dirty="0">
                <a:solidFill>
                  <a:srgbClr val="232F3E"/>
                </a:solidFill>
              </a:rPr>
              <a:t>Establish sustainability goals.</a:t>
            </a:r>
          </a:p>
        </p:txBody>
      </p:sp>
      <p:pic>
        <p:nvPicPr>
          <p:cNvPr id="13" name="Graphic 12">
            <a:extLst>
              <a:ext uri="{FF2B5EF4-FFF2-40B4-BE49-F238E27FC236}">
                <a16:creationId xmlns:a16="http://schemas.microsoft.com/office/drawing/2014/main" id="{E4879FC6-7604-4219-B5CC-40CFEEBAA44A}"/>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32777" y="1368759"/>
            <a:ext cx="1825121" cy="1825121"/>
          </a:xfrm>
          <a:prstGeom prst="rect">
            <a:avLst/>
          </a:prstGeom>
        </p:spPr>
      </p:pic>
      <p:sp>
        <p:nvSpPr>
          <p:cNvPr id="15" name="TextBox 14">
            <a:extLst>
              <a:ext uri="{FF2B5EF4-FFF2-40B4-BE49-F238E27FC236}">
                <a16:creationId xmlns:a16="http://schemas.microsoft.com/office/drawing/2014/main" id="{3F6D4EA8-784B-43D0-BA70-955C9712183F}"/>
              </a:ext>
            </a:extLst>
          </p:cNvPr>
          <p:cNvSpPr txBox="1"/>
          <p:nvPr/>
        </p:nvSpPr>
        <p:spPr>
          <a:xfrm>
            <a:off x="5760362" y="2922149"/>
            <a:ext cx="2569951" cy="400110"/>
          </a:xfrm>
          <a:prstGeom prst="rect">
            <a:avLst/>
          </a:prstGeom>
          <a:noFill/>
        </p:spPr>
        <p:txBody>
          <a:bodyPr wrap="square">
            <a:spAutoFit/>
          </a:bodyPr>
          <a:lstStyle/>
          <a:p>
            <a:pPr algn="ctr"/>
            <a:r>
              <a:rPr lang="en-US" sz="2000" dirty="0">
                <a:solidFill>
                  <a:srgbClr val="232F3E"/>
                </a:solidFill>
              </a:rPr>
              <a:t>Maximize utilization.</a:t>
            </a:r>
          </a:p>
        </p:txBody>
      </p:sp>
      <p:sp>
        <p:nvSpPr>
          <p:cNvPr id="17" name="TextBox 16">
            <a:extLst>
              <a:ext uri="{FF2B5EF4-FFF2-40B4-BE49-F238E27FC236}">
                <a16:creationId xmlns:a16="http://schemas.microsoft.com/office/drawing/2014/main" id="{3DFDCCF6-0508-4132-8B91-D192FB81832C}"/>
              </a:ext>
            </a:extLst>
          </p:cNvPr>
          <p:cNvSpPr txBox="1"/>
          <p:nvPr/>
        </p:nvSpPr>
        <p:spPr>
          <a:xfrm>
            <a:off x="1150582" y="5278978"/>
            <a:ext cx="2969922" cy="707886"/>
          </a:xfrm>
          <a:prstGeom prst="rect">
            <a:avLst/>
          </a:prstGeom>
          <a:noFill/>
        </p:spPr>
        <p:txBody>
          <a:bodyPr wrap="square">
            <a:spAutoFit/>
          </a:bodyPr>
          <a:lstStyle/>
          <a:p>
            <a:pPr algn="ctr"/>
            <a:r>
              <a:rPr lang="en-US" sz="2000" dirty="0">
                <a:solidFill>
                  <a:srgbClr val="232F3E"/>
                </a:solidFill>
              </a:rPr>
              <a:t>Choose efficient hardware and software.</a:t>
            </a:r>
          </a:p>
        </p:txBody>
      </p:sp>
      <p:sp>
        <p:nvSpPr>
          <p:cNvPr id="19" name="TextBox 18">
            <a:extLst>
              <a:ext uri="{FF2B5EF4-FFF2-40B4-BE49-F238E27FC236}">
                <a16:creationId xmlns:a16="http://schemas.microsoft.com/office/drawing/2014/main" id="{3671AE45-2005-429B-B0CC-357DF63C5246}"/>
              </a:ext>
            </a:extLst>
          </p:cNvPr>
          <p:cNvSpPr txBox="1"/>
          <p:nvPr/>
        </p:nvSpPr>
        <p:spPr>
          <a:xfrm>
            <a:off x="5293887" y="5278978"/>
            <a:ext cx="3502900" cy="400110"/>
          </a:xfrm>
          <a:prstGeom prst="rect">
            <a:avLst/>
          </a:prstGeom>
          <a:noFill/>
        </p:spPr>
        <p:txBody>
          <a:bodyPr wrap="square">
            <a:spAutoFit/>
          </a:bodyPr>
          <a:lstStyle/>
          <a:p>
            <a:pPr algn="ctr"/>
            <a:r>
              <a:rPr lang="en-US" sz="2000" dirty="0">
                <a:solidFill>
                  <a:srgbClr val="232F3E"/>
                </a:solidFill>
              </a:rPr>
              <a:t>Reduce downstream impact.</a:t>
            </a:r>
          </a:p>
        </p:txBody>
      </p:sp>
    </p:spTree>
    <p:custDataLst>
      <p:tags r:id="rId1"/>
    </p:custDataLst>
    <p:extLst>
      <p:ext uri="{BB962C8B-B14F-4D97-AF65-F5344CB8AC3E}">
        <p14:creationId xmlns:p14="http://schemas.microsoft.com/office/powerpoint/2010/main" val="1773339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9C497A92-04D3-453B-A581-69706C33898F}"/>
              </a:ext>
            </a:extLst>
          </p:cNvPr>
          <p:cNvSpPr>
            <a:spLocks noGrp="1"/>
          </p:cNvSpPr>
          <p:nvPr>
            <p:ph type="sldNum" idx="97"/>
          </p:nvPr>
        </p:nvSpPr>
        <p:spPr/>
        <p:txBody>
          <a:bodyPr/>
          <a:lstStyle/>
          <a:p>
            <a:fld id="{4037B1B0-0345-4E15-985A-6BECCDBE474F}" type="slidenum">
              <a:rPr lang="en-US" smtClean="0"/>
              <a:pPr/>
              <a:t>19</a:t>
            </a:fld>
            <a:endParaRPr lang="en-US" dirty="0"/>
          </a:p>
        </p:txBody>
      </p:sp>
      <p:sp>
        <p:nvSpPr>
          <p:cNvPr id="3" name="Title">
            <a:extLst>
              <a:ext uri="{FF2B5EF4-FFF2-40B4-BE49-F238E27FC236}">
                <a16:creationId xmlns:a16="http://schemas.microsoft.com/office/drawing/2014/main" id="{784ABB48-2154-4B80-98B1-05018A154512}"/>
              </a:ext>
            </a:extLst>
          </p:cNvPr>
          <p:cNvSpPr>
            <a:spLocks noGrp="1"/>
          </p:cNvSpPr>
          <p:nvPr>
            <p:ph type="title" idx="1"/>
          </p:nvPr>
        </p:nvSpPr>
        <p:spPr/>
        <p:txBody>
          <a:bodyPr/>
          <a:lstStyle/>
          <a:p>
            <a:r>
              <a:rPr lang="en-US" dirty="0"/>
              <a:t>Using the AWS WA Tool</a:t>
            </a:r>
          </a:p>
        </p:txBody>
      </p:sp>
      <p:sp>
        <p:nvSpPr>
          <p:cNvPr id="5" name="Text Placeholder 4">
            <a:extLst>
              <a:ext uri="{FF2B5EF4-FFF2-40B4-BE49-F238E27FC236}">
                <a16:creationId xmlns:a16="http://schemas.microsoft.com/office/drawing/2014/main" id="{2FBCF04C-339B-424A-B511-35766FD2C20F}"/>
              </a:ext>
            </a:extLst>
          </p:cNvPr>
          <p:cNvSpPr>
            <a:spLocks noGrp="1"/>
          </p:cNvSpPr>
          <p:nvPr>
            <p:ph type="body" idx="4"/>
          </p:nvPr>
        </p:nvSpPr>
        <p:spPr>
          <a:xfrm>
            <a:off x="531883" y="4462819"/>
            <a:ext cx="2170829" cy="914400"/>
          </a:xfrm>
        </p:spPr>
        <p:txBody>
          <a:bodyPr/>
          <a:lstStyle/>
          <a:p>
            <a:r>
              <a:rPr lang="en-US" dirty="0"/>
              <a:t>AWS Well-Architected Tool</a:t>
            </a:r>
          </a:p>
        </p:txBody>
      </p:sp>
      <p:sp>
        <p:nvSpPr>
          <p:cNvPr id="4" name="Content Placeholder 3">
            <a:extLst>
              <a:ext uri="{FF2B5EF4-FFF2-40B4-BE49-F238E27FC236}">
                <a16:creationId xmlns:a16="http://schemas.microsoft.com/office/drawing/2014/main" id="{C268F2C9-E444-4BDF-BC35-4721C544CDB6}"/>
              </a:ext>
            </a:extLst>
          </p:cNvPr>
          <p:cNvSpPr>
            <a:spLocks noGrp="1"/>
          </p:cNvSpPr>
          <p:nvPr>
            <p:ph idx="2"/>
          </p:nvPr>
        </p:nvSpPr>
        <p:spPr/>
        <p:txBody>
          <a:bodyPr>
            <a:normAutofit/>
          </a:bodyPr>
          <a:lstStyle/>
          <a:p>
            <a:r>
              <a:rPr lang="en-US" sz="2800" dirty="0"/>
              <a:t>Helps you review the state of your workloads and compares them to the latest AWS architectural best practices</a:t>
            </a:r>
          </a:p>
          <a:p>
            <a:r>
              <a:rPr lang="en-US" sz="2800" dirty="0"/>
              <a:t>Gives you access to knowledge and best practices used by AWS architects when you need it</a:t>
            </a:r>
          </a:p>
          <a:p>
            <a:r>
              <a:rPr lang="en-US" sz="2800" dirty="0"/>
              <a:t>Delivers an action plan with step-by-step guidance on how to build better workloads for the cloud</a:t>
            </a:r>
          </a:p>
          <a:p>
            <a:r>
              <a:rPr lang="en-US" sz="2800" dirty="0"/>
              <a:t>Provides a consistent process for you to review and measure your cloud architectures</a:t>
            </a:r>
          </a:p>
        </p:txBody>
      </p:sp>
      <p:pic>
        <p:nvPicPr>
          <p:cNvPr id="7" name="Graphic 17">
            <a:extLst>
              <a:ext uri="{FF2B5EF4-FFF2-40B4-BE49-F238E27FC236}">
                <a16:creationId xmlns:a16="http://schemas.microsoft.com/office/drawing/2014/main" id="{F26119F7-883F-4347-80DE-B7DD9F08BD84}"/>
              </a:ext>
              <a:ext uri="{C183D7F6-B498-43B3-948B-1728B52AA6E4}">
                <adec:decorative xmlns:adec="http://schemas.microsoft.com/office/drawing/2017/decorative" val="1"/>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531883" y="2182806"/>
            <a:ext cx="2170829" cy="2170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2415895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idx="97"/>
          </p:nvPr>
        </p:nvSpPr>
        <p:spPr/>
        <p:txBody>
          <a:bodyPr/>
          <a:lstStyle/>
          <a:p>
            <a:fld id="{B6A95138-A96E-2F42-A959-2EFD44FE4AB7}" type="slidenum">
              <a:rPr lang="en-US" smtClean="0"/>
              <a:pPr/>
              <a:t>20</a:t>
            </a:fld>
            <a:endParaRPr lang="en-US" dirty="0"/>
          </a:p>
        </p:txBody>
      </p:sp>
      <p:sp>
        <p:nvSpPr>
          <p:cNvPr id="3" name="Title">
            <a:extLst>
              <a:ext uri="{FF2B5EF4-FFF2-40B4-BE49-F238E27FC236}">
                <a16:creationId xmlns:a16="http://schemas.microsoft.com/office/drawing/2014/main" id="{34A9215D-56A1-C14C-8D1D-ECD06964D449}"/>
              </a:ext>
            </a:extLst>
          </p:cNvPr>
          <p:cNvSpPr>
            <a:spLocks noGrp="1"/>
          </p:cNvSpPr>
          <p:nvPr>
            <p:ph type="title" idx="1"/>
          </p:nvPr>
        </p:nvSpPr>
        <p:spPr/>
        <p:txBody>
          <a:bodyPr/>
          <a:lstStyle/>
          <a:p>
            <a:r>
              <a:rPr lang="en-US" sz="3200" dirty="0">
                <a:latin typeface="+mj-lt"/>
              </a:rPr>
              <a:t>Key takeaways: AWS Well-Architected Framework </a:t>
            </a:r>
          </a:p>
        </p:txBody>
      </p:sp>
      <p:sp>
        <p:nvSpPr>
          <p:cNvPr id="2" name="Text Placeholder 1">
            <a:extLst>
              <a:ext uri="{FF2B5EF4-FFF2-40B4-BE49-F238E27FC236}">
                <a16:creationId xmlns:a16="http://schemas.microsoft.com/office/drawing/2014/main" id="{40284511-A711-40B0-8C71-C51BE51E52DC}"/>
              </a:ext>
            </a:extLst>
          </p:cNvPr>
          <p:cNvSpPr>
            <a:spLocks noGrp="1"/>
          </p:cNvSpPr>
          <p:nvPr>
            <p:ph type="body" idx="3"/>
          </p:nvPr>
        </p:nvSpPr>
        <p:spPr/>
        <p:txBody>
          <a:bodyPr/>
          <a:lstStyle/>
          <a:p>
            <a:r>
              <a:rPr lang="en-US" sz="2400" dirty="0"/>
              <a:t>The AWS Well-Architected Framework provides a </a:t>
            </a:r>
            <a:r>
              <a:rPr lang="en-US" sz="2400" dirty="0">
                <a:ea typeface="Amazon Ember" panose="02000000000000000000" pitchFamily="2" charset="0"/>
              </a:rPr>
              <a:t>consistent approach </a:t>
            </a:r>
            <a:r>
              <a:rPr lang="en-US" sz="2400" dirty="0"/>
              <a:t>to evaluate cloud architectures and guidance to help implement designs.</a:t>
            </a:r>
          </a:p>
          <a:p>
            <a:r>
              <a:rPr lang="en-US" sz="2400" dirty="0"/>
              <a:t>The AWS Well-Architected Framework is organized into </a:t>
            </a:r>
            <a:r>
              <a:rPr lang="en-US" sz="2400" dirty="0">
                <a:ea typeface="Amazon Ember" panose="02000000000000000000" pitchFamily="2" charset="0"/>
              </a:rPr>
              <a:t>six pillars.</a:t>
            </a:r>
          </a:p>
          <a:p>
            <a:r>
              <a:rPr lang="en-US" sz="2400" dirty="0"/>
              <a:t>Each pillar documents </a:t>
            </a:r>
            <a:r>
              <a:rPr lang="en-US" sz="2400" dirty="0">
                <a:ea typeface="Amazon Ember" panose="02000000000000000000" pitchFamily="2" charset="0"/>
              </a:rPr>
              <a:t>a set of foundational questions you can use </a:t>
            </a:r>
            <a:r>
              <a:rPr lang="en-US" sz="2400" dirty="0"/>
              <a:t>to understand if a specific architecture aligns well with cloud best practices.</a:t>
            </a:r>
          </a:p>
          <a:p>
            <a:r>
              <a:rPr lang="en-US" sz="2400" dirty="0"/>
              <a:t>The </a:t>
            </a:r>
            <a:r>
              <a:rPr lang="en-US" sz="2400" dirty="0">
                <a:ea typeface="Amazon Ember" panose="02000000000000000000" pitchFamily="2" charset="0"/>
              </a:rPr>
              <a:t>AWS WA Tool </a:t>
            </a:r>
            <a:r>
              <a:rPr lang="en-US" sz="2400" dirty="0"/>
              <a:t>helps you review the state of your workloads and compares them to the latest AWS architectural best practices.</a:t>
            </a:r>
          </a:p>
        </p:txBody>
      </p:sp>
      <p:pic>
        <p:nvPicPr>
          <p:cNvPr id="7" name="Content Placeholder 13">
            <a:extLst>
              <a:ext uri="{FF2B5EF4-FFF2-40B4-BE49-F238E27FC236}">
                <a16:creationId xmlns:a16="http://schemas.microsoft.com/office/drawing/2014/main" id="{416E2D3C-72B8-459F-9546-AAE3E7A6BCB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Tree>
    <p:custDataLst>
      <p:tags r:id="rId1"/>
    </p:custDataLst>
    <p:extLst>
      <p:ext uri="{BB962C8B-B14F-4D97-AF65-F5344CB8AC3E}">
        <p14:creationId xmlns:p14="http://schemas.microsoft.com/office/powerpoint/2010/main" val="18031108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FBD2D249-317F-41B1-9855-64714AEE69AC}"/>
              </a:ext>
            </a:extLst>
          </p:cNvPr>
          <p:cNvSpPr>
            <a:spLocks noGrp="1"/>
          </p:cNvSpPr>
          <p:nvPr>
            <p:ph type="sldNum" idx="97"/>
          </p:nvPr>
        </p:nvSpPr>
        <p:spPr/>
        <p:txBody>
          <a:bodyPr/>
          <a:lstStyle/>
          <a:p>
            <a:fld id="{4037B1B0-0345-4E15-985A-6BECCDBE474F}" type="slidenum">
              <a:rPr lang="en-US" smtClean="0"/>
              <a:pPr/>
              <a:t>21</a:t>
            </a:fld>
            <a:endParaRPr lang="en-US" dirty="0"/>
          </a:p>
        </p:txBody>
      </p:sp>
      <p:sp>
        <p:nvSpPr>
          <p:cNvPr id="2" name="Title"/>
          <p:cNvSpPr>
            <a:spLocks noGrp="1"/>
          </p:cNvSpPr>
          <p:nvPr>
            <p:ph type="title" idx="1"/>
          </p:nvPr>
        </p:nvSpPr>
        <p:spPr/>
        <p:txBody>
          <a:bodyPr>
            <a:noAutofit/>
          </a:bodyPr>
          <a:lstStyle/>
          <a:p>
            <a:r>
              <a:rPr lang="en-US" dirty="0">
                <a:latin typeface="+mj-lt"/>
              </a:rPr>
              <a:t>Best practices for building solutions on AWS</a:t>
            </a:r>
          </a:p>
        </p:txBody>
      </p:sp>
      <p:sp>
        <p:nvSpPr>
          <p:cNvPr id="3" name="Text Placeholder 2">
            <a:extLst>
              <a:ext uri="{FF2B5EF4-FFF2-40B4-BE49-F238E27FC236}">
                <a16:creationId xmlns:a16="http://schemas.microsoft.com/office/drawing/2014/main" id="{CD64B8E0-60AD-514D-93D6-076C58CF731E}"/>
              </a:ext>
            </a:extLst>
          </p:cNvPr>
          <p:cNvSpPr>
            <a:spLocks noGrp="1"/>
          </p:cNvSpPr>
          <p:nvPr>
            <p:ph type="subTitle" idx="2"/>
          </p:nvPr>
        </p:nvSpPr>
        <p:spPr/>
        <p:txBody>
          <a:bodyPr>
            <a:normAutofit/>
          </a:bodyPr>
          <a:lstStyle/>
          <a:p>
            <a:r>
              <a:rPr lang="en-US" dirty="0">
                <a:latin typeface="+mn-lt"/>
              </a:rPr>
              <a:t>Introducing Cloud Architecting</a:t>
            </a:r>
          </a:p>
        </p:txBody>
      </p:sp>
    </p:spTree>
    <p:custDataLst>
      <p:tags r:id="rId1"/>
    </p:custDataLst>
    <p:extLst>
      <p:ext uri="{BB962C8B-B14F-4D97-AF65-F5344CB8AC3E}">
        <p14:creationId xmlns:p14="http://schemas.microsoft.com/office/powerpoint/2010/main" val="2590277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189338E9-3444-4C8D-98CB-71990995C64D}"/>
              </a:ext>
            </a:extLst>
          </p:cNvPr>
          <p:cNvSpPr>
            <a:spLocks noGrp="1"/>
          </p:cNvSpPr>
          <p:nvPr>
            <p:ph type="sldNum" idx="97"/>
          </p:nvPr>
        </p:nvSpPr>
        <p:spPr/>
        <p:txBody>
          <a:bodyPr/>
          <a:lstStyle/>
          <a:p>
            <a:fld id="{B6A95138-A96E-2F42-A959-2EFD44FE4AB7}" type="slidenum">
              <a:rPr lang="en-US" smtClean="0"/>
              <a:t>22</a:t>
            </a:fld>
            <a:endParaRPr lang="en-US" dirty="0"/>
          </a:p>
        </p:txBody>
      </p:sp>
      <p:sp>
        <p:nvSpPr>
          <p:cNvPr id="2" name="Title">
            <a:extLst>
              <a:ext uri="{FF2B5EF4-FFF2-40B4-BE49-F238E27FC236}">
                <a16:creationId xmlns:a16="http://schemas.microsoft.com/office/drawing/2014/main" id="{7BA9E7E0-89C3-49E5-A58B-73DCC73C8CD7}"/>
              </a:ext>
            </a:extLst>
          </p:cNvPr>
          <p:cNvSpPr>
            <a:spLocks noGrp="1"/>
          </p:cNvSpPr>
          <p:nvPr>
            <p:ph type="title" idx="1"/>
          </p:nvPr>
        </p:nvSpPr>
        <p:spPr/>
        <p:txBody>
          <a:bodyPr/>
          <a:lstStyle/>
          <a:p>
            <a:r>
              <a:rPr lang="en-US" dirty="0"/>
              <a:t>Design trade-offs</a:t>
            </a:r>
          </a:p>
        </p:txBody>
      </p:sp>
      <p:sp>
        <p:nvSpPr>
          <p:cNvPr id="6" name="Content Placeholder 5">
            <a:extLst>
              <a:ext uri="{FF2B5EF4-FFF2-40B4-BE49-F238E27FC236}">
                <a16:creationId xmlns:a16="http://schemas.microsoft.com/office/drawing/2014/main" id="{229329A5-6FFB-491A-A83F-768BDF6BCBE1}"/>
              </a:ext>
            </a:extLst>
          </p:cNvPr>
          <p:cNvSpPr>
            <a:spLocks noGrp="1"/>
          </p:cNvSpPr>
          <p:nvPr>
            <p:ph idx="2"/>
          </p:nvPr>
        </p:nvSpPr>
        <p:spPr/>
        <p:txBody>
          <a:bodyPr>
            <a:normAutofit/>
          </a:bodyPr>
          <a:lstStyle/>
          <a:p>
            <a:pPr marL="0" indent="0">
              <a:buNone/>
            </a:pPr>
            <a:r>
              <a:rPr lang="en-US" kern="1200" dirty="0">
                <a:solidFill>
                  <a:schemeClr val="tx1"/>
                </a:solidFill>
                <a:effectLst/>
                <a:latin typeface="+mn-lt"/>
                <a:ea typeface="+mn-ea"/>
                <a:cs typeface="+mn-cs"/>
              </a:rPr>
              <a:t>As you design a solution, think carefully about trade-offs so you can select an optimal approach.</a:t>
            </a:r>
            <a:endParaRPr lang="en-US" dirty="0"/>
          </a:p>
          <a:p>
            <a:r>
              <a:rPr lang="en-US" dirty="0"/>
              <a:t>Evaluate trade-offs so you can select an optimal approach.</a:t>
            </a:r>
          </a:p>
          <a:p>
            <a:r>
              <a:rPr lang="en-US" dirty="0"/>
              <a:t>Examples of trade-offs include the following:</a:t>
            </a:r>
          </a:p>
          <a:p>
            <a:pPr lvl="1"/>
            <a:r>
              <a:rPr lang="en-US" dirty="0"/>
              <a:t>Trade consistency, durability, and space for time and latency to deliver higher performance.</a:t>
            </a:r>
          </a:p>
          <a:p>
            <a:pPr lvl="1"/>
            <a:r>
              <a:rPr lang="en-US" dirty="0"/>
              <a:t>For new features, prioritize speed to market over cost.</a:t>
            </a:r>
          </a:p>
          <a:p>
            <a:r>
              <a:rPr lang="en-US" dirty="0"/>
              <a:t>Base design decisions on empirical data.</a:t>
            </a:r>
          </a:p>
        </p:txBody>
      </p:sp>
    </p:spTree>
    <p:custDataLst>
      <p:tags r:id="rId1"/>
    </p:custDataLst>
    <p:extLst>
      <p:ext uri="{BB962C8B-B14F-4D97-AF65-F5344CB8AC3E}">
        <p14:creationId xmlns:p14="http://schemas.microsoft.com/office/powerpoint/2010/main" val="1567070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3AB3A71F-F754-1699-E2AC-7B56FC3FD036}"/>
              </a:ext>
            </a:extLst>
          </p:cNvPr>
          <p:cNvSpPr>
            <a:spLocks noGrp="1"/>
          </p:cNvSpPr>
          <p:nvPr>
            <p:ph type="sldNum" idx="97"/>
          </p:nvPr>
        </p:nvSpPr>
        <p:spPr>
          <a:xfrm>
            <a:off x="11393982" y="6446520"/>
            <a:ext cx="438354" cy="228600"/>
          </a:xfrm>
        </p:spPr>
        <p:txBody>
          <a:bodyPr/>
          <a:lstStyle/>
          <a:p>
            <a:fld id="{B6A95138-A96E-2F42-A959-2EFD44FE4AB7}" type="slidenum">
              <a:rPr lang="en-US" smtClean="0"/>
              <a:t>23</a:t>
            </a:fld>
            <a:endParaRPr lang="en-US" dirty="0"/>
          </a:p>
        </p:txBody>
      </p:sp>
      <p:sp>
        <p:nvSpPr>
          <p:cNvPr id="25" name="Title"/>
          <p:cNvSpPr>
            <a:spLocks noGrp="1"/>
          </p:cNvSpPr>
          <p:nvPr>
            <p:ph type="title" idx="1"/>
          </p:nvPr>
        </p:nvSpPr>
        <p:spPr/>
        <p:txBody>
          <a:bodyPr>
            <a:noAutofit/>
          </a:bodyPr>
          <a:lstStyle/>
          <a:p>
            <a:r>
              <a:rPr lang="en-US" dirty="0"/>
              <a:t>Implementing scalability</a:t>
            </a:r>
          </a:p>
        </p:txBody>
      </p:sp>
      <p:sp>
        <p:nvSpPr>
          <p:cNvPr id="3" name="Text Placeholder 2">
            <a:extLst>
              <a:ext uri="{FF2B5EF4-FFF2-40B4-BE49-F238E27FC236}">
                <a16:creationId xmlns:a16="http://schemas.microsoft.com/office/drawing/2014/main" id="{7C3D726D-B41B-4AD6-99FE-90814CA12120}"/>
              </a:ext>
            </a:extLst>
          </p:cNvPr>
          <p:cNvSpPr>
            <a:spLocks noGrp="1"/>
          </p:cNvSpPr>
          <p:nvPr>
            <p:ph type="body" idx="12"/>
          </p:nvPr>
        </p:nvSpPr>
        <p:spPr/>
        <p:txBody>
          <a:bodyPr/>
          <a:lstStyle/>
          <a:p>
            <a:r>
              <a:rPr lang="en-US" dirty="0">
                <a:ea typeface="Amazon Ember Display" panose="020F0603020204020204" pitchFamily="34" charset="0"/>
                <a:cs typeface="Amazon Ember Display" panose="020F0603020204020204" pitchFamily="34" charset="0"/>
              </a:rPr>
              <a:t>Ensure that your architecture can handle changes in demand.</a:t>
            </a:r>
          </a:p>
        </p:txBody>
      </p:sp>
      <p:grpSp>
        <p:nvGrpSpPr>
          <p:cNvPr id="2" name="FlattenGraphic" descr="Diagram depicting Amazon EC2 Auto Scaling. Details in the notes.">
            <a:extLst>
              <a:ext uri="{FF2B5EF4-FFF2-40B4-BE49-F238E27FC236}">
                <a16:creationId xmlns:a16="http://schemas.microsoft.com/office/drawing/2014/main" id="{FD4F3C5D-752C-4F8A-B0E0-F7C99FBCFB04}"/>
              </a:ext>
              <a:ext uri="{C183D7F6-B498-43B3-948B-1728B52AA6E4}">
                <adec:decorative xmlns:adec="http://schemas.microsoft.com/office/drawing/2017/decorative" val="0"/>
              </a:ext>
            </a:extLst>
          </p:cNvPr>
          <p:cNvGrpSpPr/>
          <p:nvPr/>
        </p:nvGrpSpPr>
        <p:grpSpPr>
          <a:xfrm>
            <a:off x="347880" y="1965097"/>
            <a:ext cx="11423634" cy="3695803"/>
            <a:chOff x="347880" y="2562255"/>
            <a:chExt cx="11423634" cy="3695803"/>
          </a:xfrm>
        </p:grpSpPr>
        <p:sp>
          <p:nvSpPr>
            <p:cNvPr id="39" name="TextBox 38">
              <a:extLst>
                <a:ext uri="{FF2B5EF4-FFF2-40B4-BE49-F238E27FC236}">
                  <a16:creationId xmlns:a16="http://schemas.microsoft.com/office/drawing/2014/main" id="{E68B7BEB-1622-4429-99E8-3CA43DC448CF}"/>
                </a:ext>
                <a:ext uri="{C183D7F6-B498-43B3-948B-1728B52AA6E4}">
                  <adec:decorative xmlns:adec="http://schemas.microsoft.com/office/drawing/2017/decorative" val="1"/>
                </a:ext>
              </a:extLst>
            </p:cNvPr>
            <p:cNvSpPr txBox="1"/>
            <p:nvPr/>
          </p:nvSpPr>
          <p:spPr>
            <a:xfrm>
              <a:off x="8743045" y="3756962"/>
              <a:ext cx="3028469" cy="615553"/>
            </a:xfrm>
            <a:prstGeom prst="rect">
              <a:avLst/>
            </a:prstGeom>
            <a:noFill/>
            <a:effectLst/>
          </p:spPr>
          <p:txBody>
            <a:bodyPr wrap="square" lIns="0" tIns="0" rIns="0" bIns="0" rtlCol="0">
              <a:spAutoFit/>
            </a:bodyPr>
            <a:lstStyle/>
            <a:p>
              <a:pPr algn="ctr"/>
              <a:r>
                <a:rPr lang="en-US" sz="2000" dirty="0">
                  <a:solidFill>
                    <a:srgbClr val="232F3E"/>
                  </a:solidFill>
                  <a:ea typeface="Amazon Ember Display" panose="020F0603020204020204" pitchFamily="34" charset="0"/>
                  <a:cs typeface="Amazon Ember Display" panose="020F0603020204020204" pitchFamily="34" charset="0"/>
                </a:rPr>
                <a:t>Amazon EC2 Auto Scaling is alerted and scales out.</a:t>
              </a:r>
            </a:p>
          </p:txBody>
        </p:sp>
        <p:sp>
          <p:nvSpPr>
            <p:cNvPr id="40" name="TextBox 39">
              <a:extLst>
                <a:ext uri="{FF2B5EF4-FFF2-40B4-BE49-F238E27FC236}">
                  <a16:creationId xmlns:a16="http://schemas.microsoft.com/office/drawing/2014/main" id="{D2FCFC8A-9FD3-4847-83D4-64670D874D99}"/>
                </a:ext>
                <a:ext uri="{C183D7F6-B498-43B3-948B-1728B52AA6E4}">
                  <adec:decorative xmlns:adec="http://schemas.microsoft.com/office/drawing/2017/decorative" val="1"/>
                </a:ext>
              </a:extLst>
            </p:cNvPr>
            <p:cNvSpPr txBox="1"/>
            <p:nvPr/>
          </p:nvSpPr>
          <p:spPr>
            <a:xfrm>
              <a:off x="3894222" y="5642505"/>
              <a:ext cx="3399359" cy="615553"/>
            </a:xfrm>
            <a:prstGeom prst="rect">
              <a:avLst/>
            </a:prstGeom>
            <a:noFill/>
            <a:effectLst/>
          </p:spPr>
          <p:txBody>
            <a:bodyPr wrap="square" lIns="0" tIns="0" rIns="0" bIns="0" rtlCol="0">
              <a:spAutoFit/>
            </a:bodyPr>
            <a:lstStyle/>
            <a:p>
              <a:pPr algn="ctr"/>
              <a:r>
                <a:rPr lang="en-US" sz="2000" dirty="0">
                  <a:solidFill>
                    <a:srgbClr val="232F3E"/>
                  </a:solidFill>
                  <a:ea typeface="Amazon Ember Display" panose="020F0603020204020204" pitchFamily="34" charset="0"/>
                  <a:cs typeface="Amazon Ember Display" panose="020F0603020204020204" pitchFamily="34" charset="0"/>
                </a:rPr>
                <a:t>New server is ready before capacity is reached.</a:t>
              </a:r>
            </a:p>
          </p:txBody>
        </p:sp>
        <p:sp>
          <p:nvSpPr>
            <p:cNvPr id="41" name="TextBox 40">
              <a:extLst>
                <a:ext uri="{FF2B5EF4-FFF2-40B4-BE49-F238E27FC236}">
                  <a16:creationId xmlns:a16="http://schemas.microsoft.com/office/drawing/2014/main" id="{2F4CAC11-607F-48BC-97BF-55817E377990}"/>
                </a:ext>
                <a:ext uri="{C183D7F6-B498-43B3-948B-1728B52AA6E4}">
                  <adec:decorative xmlns:adec="http://schemas.microsoft.com/office/drawing/2017/decorative" val="1"/>
                </a:ext>
              </a:extLst>
            </p:cNvPr>
            <p:cNvSpPr txBox="1"/>
            <p:nvPr/>
          </p:nvSpPr>
          <p:spPr>
            <a:xfrm>
              <a:off x="347880" y="2987456"/>
              <a:ext cx="1713794" cy="1231106"/>
            </a:xfrm>
            <a:prstGeom prst="rect">
              <a:avLst/>
            </a:prstGeom>
            <a:noFill/>
            <a:effectLst/>
          </p:spPr>
          <p:txBody>
            <a:bodyPr wrap="square" lIns="0" tIns="0" rIns="0" bIns="0" rtlCol="0">
              <a:spAutoFit/>
            </a:bodyPr>
            <a:lstStyle/>
            <a:p>
              <a:pPr algn="ctr"/>
              <a:r>
                <a:rPr lang="en-US" sz="2000" dirty="0">
                  <a:solidFill>
                    <a:srgbClr val="232F3E"/>
                  </a:solidFill>
                  <a:ea typeface="Amazon Ember Display" panose="020F0603020204020204" pitchFamily="34" charset="0"/>
                  <a:cs typeface="Amazon Ember Display" panose="020F0603020204020204" pitchFamily="34" charset="0"/>
                </a:rPr>
                <a:t>Users rarely experience a service interruption.</a:t>
              </a:r>
            </a:p>
          </p:txBody>
        </p:sp>
        <p:cxnSp>
          <p:nvCxnSpPr>
            <p:cNvPr id="27" name="Elbow Connector 6">
              <a:extLst>
                <a:ext uri="{FF2B5EF4-FFF2-40B4-BE49-F238E27FC236}">
                  <a16:creationId xmlns:a16="http://schemas.microsoft.com/office/drawing/2014/main" id="{47F83868-6941-49B1-972D-261D47120DE6}"/>
                </a:ext>
                <a:ext uri="{C183D7F6-B498-43B3-948B-1728B52AA6E4}">
                  <adec:decorative xmlns:adec="http://schemas.microsoft.com/office/drawing/2017/decorative" val="1"/>
                </a:ext>
              </a:extLst>
            </p:cNvPr>
            <p:cNvCxnSpPr>
              <a:cxnSpLocks/>
            </p:cNvCxnSpPr>
            <p:nvPr/>
          </p:nvCxnSpPr>
          <p:spPr>
            <a:xfrm>
              <a:off x="6291078" y="3178201"/>
              <a:ext cx="1224979" cy="690677"/>
            </a:xfrm>
            <a:prstGeom prst="bentConnector3">
              <a:avLst/>
            </a:prstGeom>
            <a:ln w="38100">
              <a:solidFill>
                <a:srgbClr val="232F3E"/>
              </a:solidFill>
              <a:prstDash val="sysDash"/>
              <a:tailEnd type="triangle"/>
            </a:ln>
          </p:spPr>
          <p:style>
            <a:lnRef idx="2">
              <a:schemeClr val="dk1"/>
            </a:lnRef>
            <a:fillRef idx="0">
              <a:schemeClr val="dk1"/>
            </a:fillRef>
            <a:effectRef idx="1">
              <a:schemeClr val="dk1"/>
            </a:effectRef>
            <a:fontRef idx="minor">
              <a:schemeClr val="tx1"/>
            </a:fontRef>
          </p:style>
        </p:cxnSp>
        <p:cxnSp>
          <p:nvCxnSpPr>
            <p:cNvPr id="29" name="Elbow Connector 8">
              <a:extLst>
                <a:ext uri="{FF2B5EF4-FFF2-40B4-BE49-F238E27FC236}">
                  <a16:creationId xmlns:a16="http://schemas.microsoft.com/office/drawing/2014/main" id="{DDA5F5ED-4789-4D48-9F14-6B05CA2FE44A}"/>
                </a:ext>
                <a:ext uri="{C183D7F6-B498-43B3-948B-1728B52AA6E4}">
                  <adec:decorative xmlns:adec="http://schemas.microsoft.com/office/drawing/2017/decorative" val="1"/>
                </a:ext>
              </a:extLst>
            </p:cNvPr>
            <p:cNvCxnSpPr>
              <a:cxnSpLocks/>
            </p:cNvCxnSpPr>
            <p:nvPr/>
          </p:nvCxnSpPr>
          <p:spPr>
            <a:xfrm rot="10800000" flipV="1">
              <a:off x="6274746" y="4160716"/>
              <a:ext cx="1224978" cy="829155"/>
            </a:xfrm>
            <a:prstGeom prst="bentConnector3">
              <a:avLst/>
            </a:prstGeom>
            <a:ln w="38100">
              <a:solidFill>
                <a:srgbClr val="232F3E"/>
              </a:solidFill>
              <a:prstDash val="sysDash"/>
              <a:tailEnd type="triangle"/>
            </a:ln>
          </p:spPr>
          <p:style>
            <a:lnRef idx="2">
              <a:schemeClr val="dk1"/>
            </a:lnRef>
            <a:fillRef idx="0">
              <a:schemeClr val="dk1"/>
            </a:fillRef>
            <a:effectRef idx="1">
              <a:schemeClr val="dk1"/>
            </a:effectRef>
            <a:fontRef idx="minor">
              <a:schemeClr val="tx1"/>
            </a:fontRef>
          </p:style>
        </p:cxnSp>
        <p:cxnSp>
          <p:nvCxnSpPr>
            <p:cNvPr id="31" name="Elbow Connector 10">
              <a:extLst>
                <a:ext uri="{FF2B5EF4-FFF2-40B4-BE49-F238E27FC236}">
                  <a16:creationId xmlns:a16="http://schemas.microsoft.com/office/drawing/2014/main" id="{BE1C5F35-D6D2-416B-80C9-99FC0B9C07E4}"/>
                </a:ext>
                <a:ext uri="{C183D7F6-B498-43B3-948B-1728B52AA6E4}">
                  <adec:decorative xmlns:adec="http://schemas.microsoft.com/office/drawing/2017/decorative" val="1"/>
                </a:ext>
              </a:extLst>
            </p:cNvPr>
            <p:cNvCxnSpPr>
              <a:cxnSpLocks/>
            </p:cNvCxnSpPr>
            <p:nvPr/>
          </p:nvCxnSpPr>
          <p:spPr>
            <a:xfrm flipV="1">
              <a:off x="3624494" y="3124418"/>
              <a:ext cx="1104521" cy="649295"/>
            </a:xfrm>
            <a:prstGeom prst="bentConnector3">
              <a:avLst/>
            </a:prstGeom>
            <a:ln w="38100">
              <a:solidFill>
                <a:srgbClr val="232F3E"/>
              </a:solidFill>
              <a:prstDash val="sysDash"/>
              <a:tailEnd type="triangle"/>
            </a:ln>
          </p:spPr>
          <p:style>
            <a:lnRef idx="2">
              <a:schemeClr val="dk1"/>
            </a:lnRef>
            <a:fillRef idx="0">
              <a:schemeClr val="dk1"/>
            </a:fillRef>
            <a:effectRef idx="1">
              <a:schemeClr val="dk1"/>
            </a:effectRef>
            <a:fontRef idx="minor">
              <a:schemeClr val="tx1"/>
            </a:fontRef>
          </p:style>
        </p:cxnSp>
        <p:pic>
          <p:nvPicPr>
            <p:cNvPr id="46" name="Graphic 27">
              <a:extLst>
                <a:ext uri="{FF2B5EF4-FFF2-40B4-BE49-F238E27FC236}">
                  <a16:creationId xmlns:a16="http://schemas.microsoft.com/office/drawing/2014/main" id="{D24EA81A-C1C9-4853-994E-B39146DE1286}"/>
                </a:ext>
                <a:ext uri="{C183D7F6-B498-43B3-948B-1728B52AA6E4}">
                  <adec:decorative xmlns:adec="http://schemas.microsoft.com/office/drawing/2017/decorative" val="1"/>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7693120" y="3569103"/>
              <a:ext cx="939930" cy="939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Graphic 46">
              <a:extLst>
                <a:ext uri="{FF2B5EF4-FFF2-40B4-BE49-F238E27FC236}">
                  <a16:creationId xmlns:a16="http://schemas.microsoft.com/office/drawing/2014/main" id="{4EEAA279-9FDD-44CD-A3F3-A0F2C42FFE6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13056" y="2562255"/>
              <a:ext cx="1361690" cy="1361690"/>
            </a:xfrm>
            <a:prstGeom prst="rect">
              <a:avLst/>
            </a:prstGeom>
          </p:spPr>
        </p:pic>
        <p:pic>
          <p:nvPicPr>
            <p:cNvPr id="48" name="Graphic 47">
              <a:extLst>
                <a:ext uri="{FF2B5EF4-FFF2-40B4-BE49-F238E27FC236}">
                  <a16:creationId xmlns:a16="http://schemas.microsoft.com/office/drawing/2014/main" id="{9B18726A-1968-45FD-B424-34FF3ACEF463}"/>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29943" y="4437785"/>
              <a:ext cx="1127916" cy="1127916"/>
            </a:xfrm>
            <a:prstGeom prst="rect">
              <a:avLst/>
            </a:prstGeom>
          </p:spPr>
        </p:pic>
        <p:pic>
          <p:nvPicPr>
            <p:cNvPr id="49" name="Graphic 48">
              <a:extLst>
                <a:ext uri="{FF2B5EF4-FFF2-40B4-BE49-F238E27FC236}">
                  <a16:creationId xmlns:a16="http://schemas.microsoft.com/office/drawing/2014/main" id="{99ADB6AD-C668-4191-9CE6-637ED8B814CE}"/>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97546" y="2833503"/>
              <a:ext cx="1539012" cy="1539012"/>
            </a:xfrm>
            <a:prstGeom prst="rect">
              <a:avLst/>
            </a:prstGeom>
          </p:spPr>
        </p:pic>
      </p:grpSp>
    </p:spTree>
    <p:custDataLst>
      <p:tags r:id="rId1"/>
    </p:custDataLst>
    <p:extLst>
      <p:ext uri="{BB962C8B-B14F-4D97-AF65-F5344CB8AC3E}">
        <p14:creationId xmlns:p14="http://schemas.microsoft.com/office/powerpoint/2010/main" val="5339125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8F409FFB-9B80-D672-53E4-123129FE8C7D}"/>
              </a:ext>
            </a:extLst>
          </p:cNvPr>
          <p:cNvSpPr>
            <a:spLocks noGrp="1"/>
          </p:cNvSpPr>
          <p:nvPr>
            <p:ph type="sldNum" idx="97"/>
          </p:nvPr>
        </p:nvSpPr>
        <p:spPr>
          <a:xfrm>
            <a:off x="11393982" y="6446520"/>
            <a:ext cx="438354" cy="228600"/>
          </a:xfrm>
        </p:spPr>
        <p:txBody>
          <a:bodyPr/>
          <a:lstStyle/>
          <a:p>
            <a:fld id="{B6A95138-A96E-2F42-A959-2EFD44FE4AB7}" type="slidenum">
              <a:rPr lang="en-US" smtClean="0"/>
              <a:t>24</a:t>
            </a:fld>
            <a:endParaRPr lang="en-US" dirty="0"/>
          </a:p>
        </p:txBody>
      </p:sp>
      <p:sp>
        <p:nvSpPr>
          <p:cNvPr id="5" name="Title"/>
          <p:cNvSpPr>
            <a:spLocks noGrp="1"/>
          </p:cNvSpPr>
          <p:nvPr>
            <p:ph type="title" idx="1"/>
          </p:nvPr>
        </p:nvSpPr>
        <p:spPr/>
        <p:txBody>
          <a:bodyPr>
            <a:noAutofit/>
          </a:bodyPr>
          <a:lstStyle/>
          <a:p>
            <a:r>
              <a:rPr lang="en-US" dirty="0"/>
              <a:t>Automating your environment</a:t>
            </a:r>
          </a:p>
        </p:txBody>
      </p:sp>
      <p:sp>
        <p:nvSpPr>
          <p:cNvPr id="4" name="Text Placeholder 3">
            <a:extLst>
              <a:ext uri="{FF2B5EF4-FFF2-40B4-BE49-F238E27FC236}">
                <a16:creationId xmlns:a16="http://schemas.microsoft.com/office/drawing/2014/main" id="{7873F4ED-977D-428F-941A-369F1FA94978}"/>
              </a:ext>
            </a:extLst>
          </p:cNvPr>
          <p:cNvSpPr>
            <a:spLocks noGrp="1"/>
          </p:cNvSpPr>
          <p:nvPr>
            <p:ph type="body" idx="12"/>
          </p:nvPr>
        </p:nvSpPr>
        <p:spPr/>
        <p:txBody>
          <a:bodyPr/>
          <a:lstStyle/>
          <a:p>
            <a:r>
              <a:rPr lang="en-US" dirty="0">
                <a:ea typeface="Amazon Ember Display" panose="020F0603020204020204" pitchFamily="34" charset="0"/>
                <a:cs typeface="Amazon Ember Display" panose="020F0603020204020204" pitchFamily="34" charset="0"/>
              </a:rPr>
              <a:t>Automate the provisioning, termination, and configuration of resources.</a:t>
            </a:r>
          </a:p>
        </p:txBody>
      </p:sp>
      <p:grpSp>
        <p:nvGrpSpPr>
          <p:cNvPr id="8" name="Flatten Architecture" descr="Diagram of CloudWatch and Amazon EC2 Auto Scaling. Details in the notes.">
            <a:extLst>
              <a:ext uri="{FF2B5EF4-FFF2-40B4-BE49-F238E27FC236}">
                <a16:creationId xmlns:a16="http://schemas.microsoft.com/office/drawing/2014/main" id="{16D91C07-4494-D6AB-6D61-89F874B957BE}"/>
              </a:ext>
            </a:extLst>
          </p:cNvPr>
          <p:cNvGrpSpPr/>
          <p:nvPr/>
        </p:nvGrpSpPr>
        <p:grpSpPr>
          <a:xfrm>
            <a:off x="724186" y="1620233"/>
            <a:ext cx="10743629" cy="4410301"/>
            <a:chOff x="1004517" y="1620233"/>
            <a:chExt cx="10743629" cy="4410301"/>
          </a:xfrm>
        </p:grpSpPr>
        <p:sp>
          <p:nvSpPr>
            <p:cNvPr id="21" name="Oval 20">
              <a:extLst>
                <a:ext uri="{FF2B5EF4-FFF2-40B4-BE49-F238E27FC236}">
                  <a16:creationId xmlns:a16="http://schemas.microsoft.com/office/drawing/2014/main" id="{5A6A9A30-F68B-4F3F-ACF1-D33B7EA78EC3}"/>
                </a:ext>
                <a:ext uri="{C183D7F6-B498-43B3-948B-1728B52AA6E4}">
                  <adec:decorative xmlns:adec="http://schemas.microsoft.com/office/drawing/2017/decorative" val="1"/>
                </a:ext>
              </a:extLst>
            </p:cNvPr>
            <p:cNvSpPr>
              <a:spLocks noChangeAspect="1"/>
            </p:cNvSpPr>
            <p:nvPr/>
          </p:nvSpPr>
          <p:spPr>
            <a:xfrm>
              <a:off x="1004517" y="2402883"/>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1</a:t>
              </a:r>
            </a:p>
          </p:txBody>
        </p:sp>
        <p:sp>
          <p:nvSpPr>
            <p:cNvPr id="22" name="Oval 21">
              <a:extLst>
                <a:ext uri="{FF2B5EF4-FFF2-40B4-BE49-F238E27FC236}">
                  <a16:creationId xmlns:a16="http://schemas.microsoft.com/office/drawing/2014/main" id="{4F1821DF-C710-4C1E-8807-486B67016A86}"/>
                </a:ext>
                <a:ext uri="{C183D7F6-B498-43B3-948B-1728B52AA6E4}">
                  <adec:decorative xmlns:adec="http://schemas.microsoft.com/office/drawing/2017/decorative" val="1"/>
                </a:ext>
              </a:extLst>
            </p:cNvPr>
            <p:cNvSpPr>
              <a:spLocks noChangeAspect="1"/>
            </p:cNvSpPr>
            <p:nvPr/>
          </p:nvSpPr>
          <p:spPr>
            <a:xfrm>
              <a:off x="3270067" y="4452552"/>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2</a:t>
              </a:r>
            </a:p>
          </p:txBody>
        </p:sp>
        <p:grpSp>
          <p:nvGrpSpPr>
            <p:cNvPr id="7" name="Group 6">
              <a:extLst>
                <a:ext uri="{FF2B5EF4-FFF2-40B4-BE49-F238E27FC236}">
                  <a16:creationId xmlns:a16="http://schemas.microsoft.com/office/drawing/2014/main" id="{221123CF-375A-1371-010C-D5BCBD87A619}"/>
                </a:ext>
              </a:extLst>
            </p:cNvPr>
            <p:cNvGrpSpPr/>
            <p:nvPr/>
          </p:nvGrpSpPr>
          <p:grpSpPr>
            <a:xfrm>
              <a:off x="1180383" y="1620233"/>
              <a:ext cx="10567763" cy="4410301"/>
              <a:chOff x="1180383" y="1620233"/>
              <a:chExt cx="10567763" cy="4410301"/>
            </a:xfrm>
          </p:grpSpPr>
          <p:grpSp>
            <p:nvGrpSpPr>
              <p:cNvPr id="2" name="Architecture" descr="A diagram of Amazon CloudWatch and Amazon EC2 auto scaling, see details in the notes.">
                <a:extLst>
                  <a:ext uri="{FF2B5EF4-FFF2-40B4-BE49-F238E27FC236}">
                    <a16:creationId xmlns:a16="http://schemas.microsoft.com/office/drawing/2014/main" id="{67106409-ED3B-4D7C-A6E9-43F592EFEE0C}"/>
                  </a:ext>
                </a:extLst>
              </p:cNvPr>
              <p:cNvGrpSpPr/>
              <p:nvPr/>
            </p:nvGrpSpPr>
            <p:grpSpPr>
              <a:xfrm>
                <a:off x="1180383" y="2030187"/>
                <a:ext cx="10567763" cy="4000347"/>
                <a:chOff x="1180383" y="2030187"/>
                <a:chExt cx="10567763" cy="4000347"/>
              </a:xfrm>
            </p:grpSpPr>
            <p:pic>
              <p:nvPicPr>
                <p:cNvPr id="48" name="Graphic 47">
                  <a:extLst>
                    <a:ext uri="{FF2B5EF4-FFF2-40B4-BE49-F238E27FC236}">
                      <a16:creationId xmlns:a16="http://schemas.microsoft.com/office/drawing/2014/main" id="{337F1C78-48D1-4BCC-88B5-E4102D4C3C6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611189" y="2184939"/>
                  <a:ext cx="1045454" cy="1045454"/>
                </a:xfrm>
                <a:prstGeom prst="rect">
                  <a:avLst/>
                </a:prstGeom>
              </p:spPr>
            </p:pic>
            <p:sp>
              <p:nvSpPr>
                <p:cNvPr id="33" name="Multiply 32">
                  <a:extLst>
                    <a:ext uri="{C183D7F6-B498-43B3-948B-1728B52AA6E4}">
                      <adec:decorative xmlns:adec="http://schemas.microsoft.com/office/drawing/2017/decorative" val="1"/>
                    </a:ext>
                  </a:extLst>
                </p:cNvPr>
                <p:cNvSpPr/>
                <p:nvPr/>
              </p:nvSpPr>
              <p:spPr>
                <a:xfrm>
                  <a:off x="1363431" y="2030187"/>
                  <a:ext cx="1525455" cy="1352798"/>
                </a:xfrm>
                <a:prstGeom prst="mathMultiply">
                  <a:avLst/>
                </a:prstGeom>
                <a:solidFill>
                  <a:srgbClr val="C0000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5" name="Graphic 44">
                  <a:extLst>
                    <a:ext uri="{FF2B5EF4-FFF2-40B4-BE49-F238E27FC236}">
                      <a16:creationId xmlns:a16="http://schemas.microsoft.com/office/drawing/2014/main" id="{F6565AAE-FDF5-4EC6-9892-BAF3755B5EC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3793919" y="2174306"/>
                  <a:ext cx="1045454" cy="1045454"/>
                </a:xfrm>
                <a:prstGeom prst="rect">
                  <a:avLst/>
                </a:prstGeom>
              </p:spPr>
            </p:pic>
            <p:sp>
              <p:nvSpPr>
                <p:cNvPr id="29" name="TextBox 28">
                  <a:extLst>
                    <a:ext uri="{C183D7F6-B498-43B3-948B-1728B52AA6E4}">
                      <adec:decorative xmlns:adec="http://schemas.microsoft.com/office/drawing/2017/decorative" val="1"/>
                    </a:ext>
                  </a:extLst>
                </p:cNvPr>
                <p:cNvSpPr txBox="1"/>
                <p:nvPr/>
              </p:nvSpPr>
              <p:spPr>
                <a:xfrm>
                  <a:off x="1180383" y="3657928"/>
                  <a:ext cx="1799744" cy="553998"/>
                </a:xfrm>
                <a:prstGeom prst="rect">
                  <a:avLst/>
                </a:prstGeom>
                <a:noFill/>
                <a:effectLst/>
              </p:spPr>
              <p:txBody>
                <a:bodyPr wrap="square" lIns="0" tIns="0" rIns="0" bIns="0" rtlCol="0">
                  <a:spAutoFit/>
                </a:bodyPr>
                <a:lstStyle/>
                <a:p>
                  <a:pPr algn="ctr"/>
                  <a:r>
                    <a:rPr lang="en-US" dirty="0">
                      <a:solidFill>
                        <a:srgbClr val="232F3E"/>
                      </a:solidFill>
                      <a:ea typeface="Amazon Ember" panose="02000000000000000000" pitchFamily="2" charset="0"/>
                      <a:cs typeface="Amazon Ember Display" panose="020F0603020204020204" pitchFamily="34" charset="0"/>
                    </a:rPr>
                    <a:t>Application server crashes.</a:t>
                  </a:r>
                </a:p>
              </p:txBody>
            </p:sp>
            <p:sp>
              <p:nvSpPr>
                <p:cNvPr id="31" name="TextBox 30">
                  <a:extLst>
                    <a:ext uri="{C183D7F6-B498-43B3-948B-1728B52AA6E4}">
                      <adec:decorative xmlns:adec="http://schemas.microsoft.com/office/drawing/2017/decorative" val="1"/>
                    </a:ext>
                  </a:extLst>
                </p:cNvPr>
                <p:cNvSpPr txBox="1"/>
                <p:nvPr/>
              </p:nvSpPr>
              <p:spPr>
                <a:xfrm>
                  <a:off x="2857587" y="5199537"/>
                  <a:ext cx="2759079" cy="830997"/>
                </a:xfrm>
                <a:prstGeom prst="rect">
                  <a:avLst/>
                </a:prstGeom>
                <a:noFill/>
                <a:effectLst/>
              </p:spPr>
              <p:txBody>
                <a:bodyPr wrap="square" lIns="0" tIns="0" rIns="0" bIns="0" rtlCol="0">
                  <a:spAutoFit/>
                </a:bodyPr>
                <a:lstStyle/>
                <a:p>
                  <a:pPr algn="ctr"/>
                  <a:r>
                    <a:rPr lang="en-US" dirty="0">
                      <a:solidFill>
                        <a:srgbClr val="232F3E"/>
                      </a:solidFill>
                      <a:ea typeface="Amazon Ember" panose="02000000000000000000" pitchFamily="2" charset="0"/>
                      <a:cs typeface="Amazon Ember Display" panose="020F0603020204020204" pitchFamily="34" charset="0"/>
                    </a:rPr>
                    <a:t>Amazon CloudWatch automatically detects the unhealthy instance.</a:t>
                  </a:r>
                </a:p>
              </p:txBody>
            </p:sp>
            <p:cxnSp>
              <p:nvCxnSpPr>
                <p:cNvPr id="32" name="Straight Arrow Connector 31"/>
                <p:cNvCxnSpPr>
                  <a:cxnSpLocks/>
                </p:cNvCxnSpPr>
                <p:nvPr/>
              </p:nvCxnSpPr>
              <p:spPr>
                <a:xfrm flipH="1" flipV="1">
                  <a:off x="4304640" y="3251086"/>
                  <a:ext cx="12006" cy="1105417"/>
                </a:xfrm>
                <a:prstGeom prst="straightConnector1">
                  <a:avLst/>
                </a:prstGeom>
                <a:ln w="38100">
                  <a:solidFill>
                    <a:srgbClr val="232F3E"/>
                  </a:solidFill>
                  <a:prstDash val="sysDash"/>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C183D7F6-B498-43B3-948B-1728B52AA6E4}">
                      <adec:decorative xmlns:adec="http://schemas.microsoft.com/office/drawing/2017/decorative" val="1"/>
                    </a:ext>
                  </a:extLst>
                </p:cNvPr>
                <p:cNvCxnSpPr>
                  <a:cxnSpLocks/>
                </p:cNvCxnSpPr>
                <p:nvPr/>
              </p:nvCxnSpPr>
              <p:spPr>
                <a:xfrm flipV="1">
                  <a:off x="4716379" y="4880692"/>
                  <a:ext cx="3610642" cy="5324"/>
                </a:xfrm>
                <a:prstGeom prst="straightConnector1">
                  <a:avLst/>
                </a:prstGeom>
                <a:ln w="38100">
                  <a:solidFill>
                    <a:srgbClr val="232F3E"/>
                  </a:solidFill>
                  <a:prstDash val="sysDash"/>
                  <a:tailEnd type="triangle"/>
                </a:ln>
              </p:spPr>
              <p:style>
                <a:lnRef idx="2">
                  <a:schemeClr val="dk1"/>
                </a:lnRef>
                <a:fillRef idx="0">
                  <a:schemeClr val="dk1"/>
                </a:fillRef>
                <a:effectRef idx="1">
                  <a:schemeClr val="dk1"/>
                </a:effectRef>
                <a:fontRef idx="minor">
                  <a:schemeClr val="tx1"/>
                </a:fontRef>
              </p:style>
            </p:cxnSp>
            <p:sp>
              <p:nvSpPr>
                <p:cNvPr id="46" name="TextBox 45">
                  <a:extLst>
                    <a:ext uri="{C183D7F6-B498-43B3-948B-1728B52AA6E4}">
                      <adec:decorative xmlns:adec="http://schemas.microsoft.com/office/drawing/2017/decorative" val="1"/>
                    </a:ext>
                  </a:extLst>
                </p:cNvPr>
                <p:cNvSpPr txBox="1"/>
                <p:nvPr/>
              </p:nvSpPr>
              <p:spPr>
                <a:xfrm>
                  <a:off x="6297078" y="5199537"/>
                  <a:ext cx="2182890" cy="553998"/>
                </a:xfrm>
                <a:prstGeom prst="rect">
                  <a:avLst/>
                </a:prstGeom>
                <a:noFill/>
                <a:effectLst/>
              </p:spPr>
              <p:txBody>
                <a:bodyPr wrap="square" lIns="0" tIns="0" rIns="0" bIns="0" rtlCol="0">
                  <a:spAutoFit/>
                </a:bodyPr>
                <a:lstStyle/>
                <a:p>
                  <a:pPr algn="ctr"/>
                  <a:r>
                    <a:rPr lang="en-US" dirty="0">
                      <a:solidFill>
                        <a:srgbClr val="232F3E"/>
                      </a:solidFill>
                      <a:ea typeface="Amazon Ember" panose="02000000000000000000" pitchFamily="2" charset="0"/>
                      <a:cs typeface="Amazon Ember Display" panose="020F0603020204020204" pitchFamily="34" charset="0"/>
                    </a:rPr>
                    <a:t>An alarm notifies the administrator.</a:t>
                  </a:r>
                </a:p>
              </p:txBody>
            </p:sp>
            <p:sp>
              <p:nvSpPr>
                <p:cNvPr id="47" name="TextBox 46">
                  <a:extLst>
                    <a:ext uri="{C183D7F6-B498-43B3-948B-1728B52AA6E4}">
                      <adec:decorative xmlns:adec="http://schemas.microsoft.com/office/drawing/2017/decorative" val="1"/>
                    </a:ext>
                  </a:extLst>
                </p:cNvPr>
                <p:cNvSpPr txBox="1"/>
                <p:nvPr/>
              </p:nvSpPr>
              <p:spPr>
                <a:xfrm>
                  <a:off x="4968788" y="2152588"/>
                  <a:ext cx="2553273" cy="1107996"/>
                </a:xfrm>
                <a:prstGeom prst="rect">
                  <a:avLst/>
                </a:prstGeom>
                <a:noFill/>
                <a:effectLst/>
              </p:spPr>
              <p:txBody>
                <a:bodyPr wrap="square" lIns="0" tIns="0" rIns="0" bIns="0" rtlCol="0">
                  <a:spAutoFit/>
                </a:bodyPr>
                <a:lstStyle/>
                <a:p>
                  <a:pPr algn="ctr"/>
                  <a:r>
                    <a:rPr lang="en-US" dirty="0">
                      <a:solidFill>
                        <a:srgbClr val="232F3E"/>
                      </a:solidFill>
                      <a:ea typeface="Amazon Ember" panose="02000000000000000000" pitchFamily="2" charset="0"/>
                      <a:cs typeface="Amazon Ember Display" panose="020F0603020204020204" pitchFamily="34" charset="0"/>
                    </a:rPr>
                    <a:t>Amazon EC2 Auto Scaling automatically launches and configures an identical server.</a:t>
                  </a:r>
                </a:p>
              </p:txBody>
            </p:sp>
            <p:sp>
              <p:nvSpPr>
                <p:cNvPr id="41" name="TextBox 40">
                  <a:extLst>
                    <a:ext uri="{C183D7F6-B498-43B3-948B-1728B52AA6E4}">
                      <adec:decorative xmlns:adec="http://schemas.microsoft.com/office/drawing/2017/decorative" val="1"/>
                    </a:ext>
                  </a:extLst>
                </p:cNvPr>
                <p:cNvSpPr txBox="1"/>
                <p:nvPr/>
              </p:nvSpPr>
              <p:spPr>
                <a:xfrm>
                  <a:off x="8464444" y="2258809"/>
                  <a:ext cx="3283702" cy="830997"/>
                </a:xfrm>
                <a:prstGeom prst="rect">
                  <a:avLst/>
                </a:prstGeom>
                <a:noFill/>
                <a:effectLst/>
              </p:spPr>
              <p:txBody>
                <a:bodyPr wrap="square" lIns="0" tIns="0" rIns="0" bIns="0" rtlCol="0">
                  <a:spAutoFit/>
                </a:bodyPr>
                <a:lstStyle/>
                <a:p>
                  <a:pPr algn="ctr"/>
                  <a:r>
                    <a:rPr lang="en-US" dirty="0">
                      <a:solidFill>
                        <a:srgbClr val="232F3E"/>
                      </a:solidFill>
                      <a:ea typeface="Amazon Ember" panose="02000000000000000000" pitchFamily="2" charset="0"/>
                      <a:cs typeface="Amazon Ember Display" panose="020F0603020204020204" pitchFamily="34" charset="0"/>
                    </a:rPr>
                    <a:t>CloudWatch automatically logs the action to a change management solution.</a:t>
                  </a:r>
                </a:p>
              </p:txBody>
            </p:sp>
            <p:cxnSp>
              <p:nvCxnSpPr>
                <p:cNvPr id="16" name="Elbow Connector 15">
                  <a:extLst>
                    <a:ext uri="{FF2B5EF4-FFF2-40B4-BE49-F238E27FC236}">
                      <a16:creationId xmlns:a16="http://schemas.microsoft.com/office/drawing/2014/main" id="{4E180C75-5184-43FC-0E73-C4CE21D90D87}"/>
                    </a:ext>
                    <a:ext uri="{C183D7F6-B498-43B3-948B-1728B52AA6E4}">
                      <adec:decorative xmlns:adec="http://schemas.microsoft.com/office/drawing/2017/decorative" val="1"/>
                    </a:ext>
                  </a:extLst>
                </p:cNvPr>
                <p:cNvCxnSpPr>
                  <a:cxnSpLocks/>
                </p:cNvCxnSpPr>
                <p:nvPr/>
              </p:nvCxnSpPr>
              <p:spPr>
                <a:xfrm rot="16200000" flipV="1">
                  <a:off x="2547539" y="2835568"/>
                  <a:ext cx="1107328" cy="1934541"/>
                </a:xfrm>
                <a:prstGeom prst="bentConnector3">
                  <a:avLst>
                    <a:gd name="adj1" fmla="val 70164"/>
                  </a:avLst>
                </a:prstGeom>
                <a:ln w="38100">
                  <a:solidFill>
                    <a:srgbClr val="232F3E"/>
                  </a:solidFill>
                  <a:prstDash val="sysDash"/>
                  <a:headEnd type="triangle"/>
                  <a:tailEnd type="none"/>
                </a:ln>
              </p:spPr>
              <p:style>
                <a:lnRef idx="2">
                  <a:schemeClr val="dk1"/>
                </a:lnRef>
                <a:fillRef idx="0">
                  <a:schemeClr val="dk1"/>
                </a:fillRef>
                <a:effectRef idx="1">
                  <a:schemeClr val="dk1"/>
                </a:effectRef>
                <a:fontRef idx="minor">
                  <a:schemeClr val="tx1"/>
                </a:fontRef>
              </p:style>
            </p:cxnSp>
            <p:cxnSp>
              <p:nvCxnSpPr>
                <p:cNvPr id="28" name="Elbow Connector 27">
                  <a:extLst>
                    <a:ext uri="{FF2B5EF4-FFF2-40B4-BE49-F238E27FC236}">
                      <a16:creationId xmlns:a16="http://schemas.microsoft.com/office/drawing/2014/main" id="{2B8BFC4B-CAA8-DDA1-C8C6-D4555CE0573B}"/>
                    </a:ext>
                    <a:ext uri="{C183D7F6-B498-43B3-948B-1728B52AA6E4}">
                      <adec:decorative xmlns:adec="http://schemas.microsoft.com/office/drawing/2017/decorative" val="1"/>
                    </a:ext>
                  </a:extLst>
                </p:cNvPr>
                <p:cNvCxnSpPr>
                  <a:cxnSpLocks/>
                </p:cNvCxnSpPr>
                <p:nvPr/>
              </p:nvCxnSpPr>
              <p:spPr>
                <a:xfrm flipV="1">
                  <a:off x="4725482" y="3619439"/>
                  <a:ext cx="3754486" cy="1061713"/>
                </a:xfrm>
                <a:prstGeom prst="bentConnector3">
                  <a:avLst>
                    <a:gd name="adj1" fmla="val 92301"/>
                  </a:avLst>
                </a:prstGeom>
                <a:ln w="38100">
                  <a:solidFill>
                    <a:srgbClr val="232F3E"/>
                  </a:solidFill>
                  <a:prstDash val="sysDash"/>
                  <a:tailEnd type="triangle"/>
                </a:ln>
              </p:spPr>
              <p:style>
                <a:lnRef idx="2">
                  <a:schemeClr val="dk1"/>
                </a:lnRef>
                <a:fillRef idx="0">
                  <a:schemeClr val="dk1"/>
                </a:fillRef>
                <a:effectRef idx="1">
                  <a:schemeClr val="dk1"/>
                </a:effectRef>
                <a:fontRef idx="minor">
                  <a:schemeClr val="tx1"/>
                </a:fontRef>
              </p:style>
            </p:cxnSp>
            <p:pic>
              <p:nvPicPr>
                <p:cNvPr id="53" name="Graphic 17">
                  <a:extLst>
                    <a:ext uri="{FF2B5EF4-FFF2-40B4-BE49-F238E27FC236}">
                      <a16:creationId xmlns:a16="http://schemas.microsoft.com/office/drawing/2014/main" id="{9B2C5990-C8FC-4570-971F-5867BC54F82B}"/>
                    </a:ext>
                    <a:ext uri="{C183D7F6-B498-43B3-948B-1728B52AA6E4}">
                      <adec:decorative xmlns:adec="http://schemas.microsoft.com/office/drawing/2017/decorative" val="1"/>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3856127" y="4340664"/>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Graphic 56">
                  <a:extLst>
                    <a:ext uri="{FF2B5EF4-FFF2-40B4-BE49-F238E27FC236}">
                      <a16:creationId xmlns:a16="http://schemas.microsoft.com/office/drawing/2014/main" id="{1A85B52F-EFF6-42FF-971E-EAEFA111ACD7}"/>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64444" y="4252902"/>
                  <a:ext cx="1247675" cy="1247675"/>
                </a:xfrm>
                <a:prstGeom prst="rect">
                  <a:avLst/>
                </a:prstGeom>
              </p:spPr>
            </p:pic>
            <p:pic>
              <p:nvPicPr>
                <p:cNvPr id="59" name="Graphic 58">
                  <a:extLst>
                    <a:ext uri="{FF2B5EF4-FFF2-40B4-BE49-F238E27FC236}">
                      <a16:creationId xmlns:a16="http://schemas.microsoft.com/office/drawing/2014/main" id="{84531B77-3353-42A1-84B5-3B5C281E0E97}"/>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64444" y="2985976"/>
                  <a:ext cx="1266926" cy="1266926"/>
                </a:xfrm>
                <a:prstGeom prst="rect">
                  <a:avLst/>
                </a:prstGeom>
              </p:spPr>
            </p:pic>
          </p:grpSp>
          <p:sp>
            <p:nvSpPr>
              <p:cNvPr id="23" name="Oval 22">
                <a:extLst>
                  <a:ext uri="{FF2B5EF4-FFF2-40B4-BE49-F238E27FC236}">
                    <a16:creationId xmlns:a16="http://schemas.microsoft.com/office/drawing/2014/main" id="{13DD054F-FE50-4F44-BCD3-E73F912FD750}"/>
                  </a:ext>
                  <a:ext uri="{C183D7F6-B498-43B3-948B-1728B52AA6E4}">
                    <adec:decorative xmlns:adec="http://schemas.microsoft.com/office/drawing/2017/decorative" val="1"/>
                  </a:ext>
                </a:extLst>
              </p:cNvPr>
              <p:cNvSpPr>
                <a:spLocks noChangeAspect="1"/>
              </p:cNvSpPr>
              <p:nvPr/>
            </p:nvSpPr>
            <p:spPr>
              <a:xfrm>
                <a:off x="4086496" y="1620233"/>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3</a:t>
                </a:r>
              </a:p>
            </p:txBody>
          </p:sp>
        </p:grpSp>
        <p:sp>
          <p:nvSpPr>
            <p:cNvPr id="24" name="Oval 23">
              <a:extLst>
                <a:ext uri="{FF2B5EF4-FFF2-40B4-BE49-F238E27FC236}">
                  <a16:creationId xmlns:a16="http://schemas.microsoft.com/office/drawing/2014/main" id="{7CE993F7-AA2B-4772-96DB-3B3EBF6CF7B6}"/>
                </a:ext>
                <a:ext uri="{C183D7F6-B498-43B3-948B-1728B52AA6E4}">
                  <adec:decorative xmlns:adec="http://schemas.microsoft.com/office/drawing/2017/decorative" val="1"/>
                </a:ext>
              </a:extLst>
            </p:cNvPr>
            <p:cNvSpPr>
              <a:spLocks noChangeAspect="1"/>
            </p:cNvSpPr>
            <p:nvPr/>
          </p:nvSpPr>
          <p:spPr>
            <a:xfrm>
              <a:off x="8869307" y="5407535"/>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4</a:t>
              </a:r>
            </a:p>
          </p:txBody>
        </p:sp>
        <p:sp>
          <p:nvSpPr>
            <p:cNvPr id="26" name="Oval 25">
              <a:extLst>
                <a:ext uri="{FF2B5EF4-FFF2-40B4-BE49-F238E27FC236}">
                  <a16:creationId xmlns:a16="http://schemas.microsoft.com/office/drawing/2014/main" id="{752DF793-AEC2-4046-B4CD-10349C5E422F}"/>
                </a:ext>
                <a:ext uri="{C183D7F6-B498-43B3-948B-1728B52AA6E4}">
                  <adec:decorative xmlns:adec="http://schemas.microsoft.com/office/drawing/2017/decorative" val="1"/>
                </a:ext>
              </a:extLst>
            </p:cNvPr>
            <p:cNvSpPr>
              <a:spLocks noChangeAspect="1"/>
            </p:cNvSpPr>
            <p:nvPr/>
          </p:nvSpPr>
          <p:spPr>
            <a:xfrm>
              <a:off x="7965175" y="2477986"/>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5</a:t>
              </a:r>
            </a:p>
          </p:txBody>
        </p:sp>
      </p:grpSp>
    </p:spTree>
    <p:custDataLst>
      <p:tags r:id="rId1"/>
    </p:custDataLst>
    <p:extLst>
      <p:ext uri="{BB962C8B-B14F-4D97-AF65-F5344CB8AC3E}">
        <p14:creationId xmlns:p14="http://schemas.microsoft.com/office/powerpoint/2010/main" val="96421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EFF30ACB-9019-4EE1-BDB2-22F5ECF9CE21}"/>
              </a:ext>
            </a:extLst>
          </p:cNvPr>
          <p:cNvSpPr>
            <a:spLocks noGrp="1"/>
          </p:cNvSpPr>
          <p:nvPr>
            <p:ph type="sldNum" idx="97"/>
          </p:nvPr>
        </p:nvSpPr>
        <p:spPr/>
        <p:txBody>
          <a:bodyPr/>
          <a:lstStyle/>
          <a:p>
            <a:fld id="{4037B1B0-0345-4E15-985A-6BECCDBE474F}" type="slidenum">
              <a:rPr lang="en-US" smtClean="0"/>
              <a:pPr/>
              <a:t>25</a:t>
            </a:fld>
            <a:endParaRPr lang="en-US" dirty="0"/>
          </a:p>
        </p:txBody>
      </p:sp>
      <p:sp>
        <p:nvSpPr>
          <p:cNvPr id="3" name="Title">
            <a:extLst>
              <a:ext uri="{FF2B5EF4-FFF2-40B4-BE49-F238E27FC236}">
                <a16:creationId xmlns:a16="http://schemas.microsoft.com/office/drawing/2014/main" id="{9E84FCC1-ACA4-4390-8AFE-66B0BB5CA9D0}"/>
              </a:ext>
            </a:extLst>
          </p:cNvPr>
          <p:cNvSpPr>
            <a:spLocks noGrp="1"/>
          </p:cNvSpPr>
          <p:nvPr>
            <p:ph type="title" idx="1"/>
          </p:nvPr>
        </p:nvSpPr>
        <p:spPr/>
        <p:txBody>
          <a:bodyPr/>
          <a:lstStyle/>
          <a:p>
            <a:r>
              <a:rPr lang="en-US" dirty="0"/>
              <a:t>Using IaC</a:t>
            </a:r>
          </a:p>
        </p:txBody>
      </p:sp>
      <p:sp>
        <p:nvSpPr>
          <p:cNvPr id="10" name="Text Placeholder 9">
            <a:extLst>
              <a:ext uri="{FF2B5EF4-FFF2-40B4-BE49-F238E27FC236}">
                <a16:creationId xmlns:a16="http://schemas.microsoft.com/office/drawing/2014/main" id="{403A2D55-932F-47A4-8921-2A03F2099620}"/>
              </a:ext>
            </a:extLst>
          </p:cNvPr>
          <p:cNvSpPr>
            <a:spLocks noGrp="1"/>
          </p:cNvSpPr>
          <p:nvPr>
            <p:ph type="body" idx="12"/>
          </p:nvPr>
        </p:nvSpPr>
        <p:spPr/>
        <p:txBody>
          <a:bodyPr/>
          <a:lstStyle/>
          <a:p>
            <a:r>
              <a:rPr lang="en-US" dirty="0">
                <a:latin typeface="+mn-lt"/>
              </a:rPr>
              <a:t>P</a:t>
            </a:r>
            <a:r>
              <a:rPr lang="en-US" b="0" i="0" dirty="0">
                <a:effectLst/>
                <a:latin typeface="+mn-lt"/>
              </a:rPr>
              <a:t>rovision your computing infrastructure using code instead of manual processes.</a:t>
            </a:r>
            <a:endParaRPr lang="en-US" dirty="0">
              <a:latin typeface="+mn-lt"/>
            </a:endParaRPr>
          </a:p>
        </p:txBody>
      </p:sp>
      <p:sp>
        <p:nvSpPr>
          <p:cNvPr id="9" name="Content Placeholder 8">
            <a:extLst>
              <a:ext uri="{FF2B5EF4-FFF2-40B4-BE49-F238E27FC236}">
                <a16:creationId xmlns:a16="http://schemas.microsoft.com/office/drawing/2014/main" id="{CE1004D2-2D95-471F-A2FA-5CF1348B61E2}"/>
              </a:ext>
            </a:extLst>
          </p:cNvPr>
          <p:cNvSpPr>
            <a:spLocks noGrp="1"/>
          </p:cNvSpPr>
          <p:nvPr>
            <p:ph idx="2"/>
          </p:nvPr>
        </p:nvSpPr>
        <p:spPr>
          <a:xfrm>
            <a:off x="365760" y="1563624"/>
            <a:ext cx="7732908" cy="4873752"/>
          </a:xfrm>
        </p:spPr>
        <p:txBody>
          <a:bodyPr>
            <a:normAutofit/>
          </a:bodyPr>
          <a:lstStyle/>
          <a:p>
            <a:pPr algn="l"/>
            <a:r>
              <a:rPr lang="en-US" dirty="0">
                <a:latin typeface="+mn-lt"/>
              </a:rPr>
              <a:t>Rapidly deploy d</a:t>
            </a:r>
            <a:r>
              <a:rPr lang="en-US" b="0" i="0" dirty="0">
                <a:effectLst/>
                <a:latin typeface="+mn-lt"/>
              </a:rPr>
              <a:t>uplicate environments.</a:t>
            </a:r>
          </a:p>
          <a:p>
            <a:pPr algn="l"/>
            <a:r>
              <a:rPr lang="en-US" b="0" i="0" dirty="0">
                <a:effectLst/>
                <a:latin typeface="+mn-lt"/>
              </a:rPr>
              <a:t>Reduce configuration errors</a:t>
            </a:r>
            <a:r>
              <a:rPr lang="en-US" b="1" i="0" dirty="0">
                <a:effectLst/>
                <a:latin typeface="+mn-lt"/>
              </a:rPr>
              <a:t> </a:t>
            </a:r>
            <a:r>
              <a:rPr lang="en-US" dirty="0">
                <a:latin typeface="+mn-lt"/>
              </a:rPr>
              <a:t>from m</a:t>
            </a:r>
            <a:r>
              <a:rPr lang="en-US" b="0" i="0" dirty="0">
                <a:effectLst/>
                <a:latin typeface="+mn-lt"/>
              </a:rPr>
              <a:t>anual configuration.</a:t>
            </a:r>
          </a:p>
          <a:p>
            <a:pPr algn="l"/>
            <a:r>
              <a:rPr lang="en-US" dirty="0">
                <a:latin typeface="+mn-lt"/>
              </a:rPr>
              <a:t>Propagate changes consistently to all stacks.</a:t>
            </a:r>
            <a:endParaRPr lang="en-US" sz="3200" dirty="0">
              <a:latin typeface="+mn-lt"/>
            </a:endParaRPr>
          </a:p>
        </p:txBody>
      </p:sp>
      <p:grpSp>
        <p:nvGrpSpPr>
          <p:cNvPr id="8" name="Flatten image" descr="IaC template creating three identical stacks.">
            <a:extLst>
              <a:ext uri="{FF2B5EF4-FFF2-40B4-BE49-F238E27FC236}">
                <a16:creationId xmlns:a16="http://schemas.microsoft.com/office/drawing/2014/main" id="{0A78AB3E-0996-4AA5-B9D2-ACDBAA7108D8}"/>
              </a:ext>
            </a:extLst>
          </p:cNvPr>
          <p:cNvGrpSpPr/>
          <p:nvPr/>
        </p:nvGrpSpPr>
        <p:grpSpPr>
          <a:xfrm>
            <a:off x="7994126" y="2237963"/>
            <a:ext cx="3595894" cy="3450412"/>
            <a:chOff x="7111916" y="1404881"/>
            <a:chExt cx="3595894" cy="3450412"/>
          </a:xfrm>
        </p:grpSpPr>
        <p:sp>
          <p:nvSpPr>
            <p:cNvPr id="12" name="TextBox 11">
              <a:extLst>
                <a:ext uri="{FF2B5EF4-FFF2-40B4-BE49-F238E27FC236}">
                  <a16:creationId xmlns:a16="http://schemas.microsoft.com/office/drawing/2014/main" id="{D0DD8B83-87C9-4CFB-B432-0A06B8748678}"/>
                </a:ext>
                <a:ext uri="{C183D7F6-B498-43B3-948B-1728B52AA6E4}">
                  <adec:decorative xmlns:adec="http://schemas.microsoft.com/office/drawing/2017/decorative" val="1"/>
                </a:ext>
              </a:extLst>
            </p:cNvPr>
            <p:cNvSpPr txBox="1"/>
            <p:nvPr/>
          </p:nvSpPr>
          <p:spPr>
            <a:xfrm>
              <a:off x="7816497" y="2494316"/>
              <a:ext cx="2152493" cy="584775"/>
            </a:xfrm>
            <a:prstGeom prst="rect">
              <a:avLst/>
            </a:prstGeom>
            <a:noFill/>
          </p:spPr>
          <p:txBody>
            <a:bodyPr wrap="square" rtlCol="0">
              <a:spAutoFit/>
            </a:bodyPr>
            <a:lstStyle/>
            <a:p>
              <a:pPr algn="ctr"/>
              <a:r>
                <a:rPr lang="en-US" sz="1600" dirty="0">
                  <a:solidFill>
                    <a:srgbClr val="232F3E"/>
                  </a:solidFill>
                  <a:ea typeface="Verdana" charset="0"/>
                  <a:cs typeface="Verdana" charset="0"/>
                </a:rPr>
                <a:t>Infrastructure as code (IaC) template</a:t>
              </a:r>
            </a:p>
          </p:txBody>
        </p:sp>
        <p:sp>
          <p:nvSpPr>
            <p:cNvPr id="13" name="TextBox 12">
              <a:extLst>
                <a:ext uri="{FF2B5EF4-FFF2-40B4-BE49-F238E27FC236}">
                  <a16:creationId xmlns:a16="http://schemas.microsoft.com/office/drawing/2014/main" id="{A11601B9-FA1A-4041-8E34-54333E0F7E15}"/>
                </a:ext>
                <a:ext uri="{C183D7F6-B498-43B3-948B-1728B52AA6E4}">
                  <adec:decorative xmlns:adec="http://schemas.microsoft.com/office/drawing/2017/decorative" val="1"/>
                </a:ext>
              </a:extLst>
            </p:cNvPr>
            <p:cNvSpPr txBox="1"/>
            <p:nvPr/>
          </p:nvSpPr>
          <p:spPr>
            <a:xfrm>
              <a:off x="7111916" y="4516158"/>
              <a:ext cx="1195884" cy="338554"/>
            </a:xfrm>
            <a:prstGeom prst="rect">
              <a:avLst/>
            </a:prstGeom>
            <a:noFill/>
          </p:spPr>
          <p:txBody>
            <a:bodyPr wrap="square" rtlCol="0">
              <a:spAutoFit/>
            </a:bodyPr>
            <a:lstStyle/>
            <a:p>
              <a:pPr algn="ctr"/>
              <a:r>
                <a:rPr lang="en-US" sz="1600" dirty="0">
                  <a:solidFill>
                    <a:srgbClr val="232F3E"/>
                  </a:solidFill>
                  <a:ea typeface="Verdana" charset="0"/>
                  <a:cs typeface="Verdana" charset="0"/>
                </a:rPr>
                <a:t>Resources</a:t>
              </a:r>
            </a:p>
          </p:txBody>
        </p:sp>
        <p:sp>
          <p:nvSpPr>
            <p:cNvPr id="14" name="TextBox 13">
              <a:extLst>
                <a:ext uri="{FF2B5EF4-FFF2-40B4-BE49-F238E27FC236}">
                  <a16:creationId xmlns:a16="http://schemas.microsoft.com/office/drawing/2014/main" id="{3A0D0735-F792-4AE8-8DDE-88B755173D4E}"/>
                </a:ext>
                <a:ext uri="{C183D7F6-B498-43B3-948B-1728B52AA6E4}">
                  <adec:decorative xmlns:adec="http://schemas.microsoft.com/office/drawing/2017/decorative" val="1"/>
                </a:ext>
              </a:extLst>
            </p:cNvPr>
            <p:cNvSpPr txBox="1"/>
            <p:nvPr/>
          </p:nvSpPr>
          <p:spPr>
            <a:xfrm>
              <a:off x="8292704" y="4516739"/>
              <a:ext cx="1194412" cy="338554"/>
            </a:xfrm>
            <a:prstGeom prst="rect">
              <a:avLst/>
            </a:prstGeom>
            <a:noFill/>
          </p:spPr>
          <p:txBody>
            <a:bodyPr wrap="square" rtlCol="0">
              <a:spAutoFit/>
            </a:bodyPr>
            <a:lstStyle/>
            <a:p>
              <a:pPr algn="ctr"/>
              <a:r>
                <a:rPr lang="en-US" sz="1600" dirty="0">
                  <a:solidFill>
                    <a:srgbClr val="232F3E"/>
                  </a:solidFill>
                  <a:ea typeface="Verdana" charset="0"/>
                  <a:cs typeface="Verdana" charset="0"/>
                </a:rPr>
                <a:t>Resources</a:t>
              </a:r>
            </a:p>
          </p:txBody>
        </p:sp>
        <p:sp>
          <p:nvSpPr>
            <p:cNvPr id="15" name="TextBox 14">
              <a:extLst>
                <a:ext uri="{FF2B5EF4-FFF2-40B4-BE49-F238E27FC236}">
                  <a16:creationId xmlns:a16="http://schemas.microsoft.com/office/drawing/2014/main" id="{4152773E-FC71-43CD-B366-3C2A5CA1371C}"/>
                </a:ext>
                <a:ext uri="{C183D7F6-B498-43B3-948B-1728B52AA6E4}">
                  <adec:decorative xmlns:adec="http://schemas.microsoft.com/office/drawing/2017/decorative" val="1"/>
                </a:ext>
              </a:extLst>
            </p:cNvPr>
            <p:cNvSpPr txBox="1"/>
            <p:nvPr/>
          </p:nvSpPr>
          <p:spPr>
            <a:xfrm>
              <a:off x="9471350" y="4516739"/>
              <a:ext cx="1236460" cy="338554"/>
            </a:xfrm>
            <a:prstGeom prst="rect">
              <a:avLst/>
            </a:prstGeom>
            <a:noFill/>
          </p:spPr>
          <p:txBody>
            <a:bodyPr wrap="square" rtlCol="0">
              <a:spAutoFit/>
            </a:bodyPr>
            <a:lstStyle/>
            <a:p>
              <a:pPr algn="ctr"/>
              <a:r>
                <a:rPr lang="en-US" sz="1600" dirty="0">
                  <a:solidFill>
                    <a:srgbClr val="232F3E"/>
                  </a:solidFill>
                  <a:ea typeface="Verdana" charset="0"/>
                  <a:cs typeface="Verdana" charset="0"/>
                </a:rPr>
                <a:t>Resources</a:t>
              </a:r>
            </a:p>
          </p:txBody>
        </p:sp>
        <p:pic>
          <p:nvPicPr>
            <p:cNvPr id="16" name="Graphic 15">
              <a:extLst>
                <a:ext uri="{FF2B5EF4-FFF2-40B4-BE49-F238E27FC236}">
                  <a16:creationId xmlns:a16="http://schemas.microsoft.com/office/drawing/2014/main" id="{59A9C744-FB13-494F-8B5B-A99AC300376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7210079" y="3429000"/>
              <a:ext cx="999558" cy="1095086"/>
            </a:xfrm>
            <a:prstGeom prst="rect">
              <a:avLst/>
            </a:prstGeom>
          </p:spPr>
        </p:pic>
        <p:pic>
          <p:nvPicPr>
            <p:cNvPr id="17" name="Graphic 16">
              <a:extLst>
                <a:ext uri="{FF2B5EF4-FFF2-40B4-BE49-F238E27FC236}">
                  <a16:creationId xmlns:a16="http://schemas.microsoft.com/office/drawing/2014/main" id="{1106E440-854C-42D3-8735-4073A85595F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9589801" y="3429000"/>
              <a:ext cx="999558" cy="1095086"/>
            </a:xfrm>
            <a:prstGeom prst="rect">
              <a:avLst/>
            </a:prstGeom>
          </p:spPr>
        </p:pic>
        <p:pic>
          <p:nvPicPr>
            <p:cNvPr id="18" name="Graphic 17">
              <a:extLst>
                <a:ext uri="{FF2B5EF4-FFF2-40B4-BE49-F238E27FC236}">
                  <a16:creationId xmlns:a16="http://schemas.microsoft.com/office/drawing/2014/main" id="{D0539D91-736B-4148-B434-AD3161B2EE7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8390131" y="3429000"/>
              <a:ext cx="999558" cy="1095086"/>
            </a:xfrm>
            <a:prstGeom prst="rect">
              <a:avLst/>
            </a:prstGeom>
          </p:spPr>
        </p:pic>
        <p:pic>
          <p:nvPicPr>
            <p:cNvPr id="19" name="Graphic 18">
              <a:extLst>
                <a:ext uri="{FF2B5EF4-FFF2-40B4-BE49-F238E27FC236}">
                  <a16:creationId xmlns:a16="http://schemas.microsoft.com/office/drawing/2014/main" id="{DBEEFF7F-85F5-4DFB-994E-1099267BB8E6}"/>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45200" y="1404881"/>
              <a:ext cx="1095086" cy="1095086"/>
            </a:xfrm>
            <a:prstGeom prst="rect">
              <a:avLst/>
            </a:prstGeom>
          </p:spPr>
        </p:pic>
        <p:cxnSp>
          <p:nvCxnSpPr>
            <p:cNvPr id="20" name="Connector: Elbow 19">
              <a:extLst>
                <a:ext uri="{FF2B5EF4-FFF2-40B4-BE49-F238E27FC236}">
                  <a16:creationId xmlns:a16="http://schemas.microsoft.com/office/drawing/2014/main" id="{2ECFFE1D-C085-47E2-8A05-74E92BDA0C41}"/>
                </a:ext>
              </a:extLst>
            </p:cNvPr>
            <p:cNvCxnSpPr>
              <a:cxnSpLocks/>
              <a:stCxn id="12" idx="2"/>
              <a:endCxn id="16" idx="0"/>
            </p:cNvCxnSpPr>
            <p:nvPr/>
          </p:nvCxnSpPr>
          <p:spPr>
            <a:xfrm rot="5400000">
              <a:off x="8126347" y="2662602"/>
              <a:ext cx="349909" cy="1182886"/>
            </a:xfrm>
            <a:prstGeom prst="bentConnector3">
              <a:avLst/>
            </a:prstGeom>
            <a:ln w="19050">
              <a:solidFill>
                <a:srgbClr val="232F3E"/>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AE374416-9CFB-4C04-9011-230F015707C2}"/>
                </a:ext>
                <a:ext uri="{C183D7F6-B498-43B3-948B-1728B52AA6E4}">
                  <adec:decorative xmlns:adec="http://schemas.microsoft.com/office/drawing/2017/decorative" val="1"/>
                </a:ext>
              </a:extLst>
            </p:cNvPr>
            <p:cNvCxnSpPr>
              <a:cxnSpLocks/>
              <a:stCxn id="12" idx="2"/>
              <a:endCxn id="17" idx="0"/>
            </p:cNvCxnSpPr>
            <p:nvPr/>
          </p:nvCxnSpPr>
          <p:spPr>
            <a:xfrm rot="16200000" flipH="1">
              <a:off x="9316208" y="2655627"/>
              <a:ext cx="349909" cy="1196836"/>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B6DDEF0-DAEA-4525-BE28-76A1B09E9A32}"/>
                </a:ext>
                <a:ext uri="{C183D7F6-B498-43B3-948B-1728B52AA6E4}">
                  <adec:decorative xmlns:adec="http://schemas.microsoft.com/office/drawing/2017/decorative" val="1"/>
                </a:ext>
              </a:extLst>
            </p:cNvPr>
            <p:cNvCxnSpPr>
              <a:cxnSpLocks/>
            </p:cNvCxnSpPr>
            <p:nvPr/>
          </p:nvCxnSpPr>
          <p:spPr>
            <a:xfrm flipH="1">
              <a:off x="8889910" y="3079091"/>
              <a:ext cx="2834" cy="349909"/>
            </a:xfrm>
            <a:prstGeom prst="straightConnector1">
              <a:avLst/>
            </a:prstGeom>
            <a:ln w="19050">
              <a:solidFill>
                <a:srgbClr val="232F3E"/>
              </a:solidFill>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81078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0C8BB942-1098-4E80-A3BE-F306498BC27C}"/>
              </a:ext>
            </a:extLst>
          </p:cNvPr>
          <p:cNvSpPr>
            <a:spLocks noGrp="1"/>
          </p:cNvSpPr>
          <p:nvPr>
            <p:ph type="sldNum" idx="97"/>
          </p:nvPr>
        </p:nvSpPr>
        <p:spPr/>
        <p:txBody>
          <a:bodyPr/>
          <a:lstStyle/>
          <a:p>
            <a:fld id="{B6A95138-A96E-2F42-A959-2EFD44FE4AB7}" type="slidenum">
              <a:rPr lang="en-US" smtClean="0"/>
              <a:t>26</a:t>
            </a:fld>
            <a:endParaRPr lang="en-US" dirty="0"/>
          </a:p>
        </p:txBody>
      </p:sp>
      <p:sp>
        <p:nvSpPr>
          <p:cNvPr id="5" name="Title">
            <a:extLst>
              <a:ext uri="{FF2B5EF4-FFF2-40B4-BE49-F238E27FC236}">
                <a16:creationId xmlns:a16="http://schemas.microsoft.com/office/drawing/2014/main" id="{1D8DEB5B-5816-4412-9D94-CA9C3C1460CA}"/>
              </a:ext>
            </a:extLst>
          </p:cNvPr>
          <p:cNvSpPr>
            <a:spLocks noGrp="1"/>
          </p:cNvSpPr>
          <p:nvPr>
            <p:ph type="title" idx="1"/>
          </p:nvPr>
        </p:nvSpPr>
        <p:spPr/>
        <p:txBody>
          <a:bodyPr/>
          <a:lstStyle/>
          <a:p>
            <a:r>
              <a:rPr lang="en-US" dirty="0"/>
              <a:t>Treating resources as disposable</a:t>
            </a:r>
          </a:p>
        </p:txBody>
      </p:sp>
      <p:sp>
        <p:nvSpPr>
          <p:cNvPr id="6" name="Content Placeholder 5">
            <a:extLst>
              <a:ext uri="{FF2B5EF4-FFF2-40B4-BE49-F238E27FC236}">
                <a16:creationId xmlns:a16="http://schemas.microsoft.com/office/drawing/2014/main" id="{E664DDC5-4304-4155-98F3-2613A8B664B4}"/>
              </a:ext>
            </a:extLst>
          </p:cNvPr>
          <p:cNvSpPr>
            <a:spLocks noGrp="1"/>
          </p:cNvSpPr>
          <p:nvPr>
            <p:ph type="body" idx="12"/>
          </p:nvPr>
        </p:nvSpPr>
        <p:spPr/>
        <p:txBody>
          <a:bodyPr>
            <a:noAutofit/>
          </a:bodyPr>
          <a:lstStyle/>
          <a:p>
            <a:r>
              <a:rPr lang="en-US" dirty="0">
                <a:latin typeface="+mn-lt"/>
                <a:ea typeface="Amazon Ember Display" panose="020F0603020204020204" pitchFamily="34" charset="0"/>
                <a:cs typeface="Amazon Ember Display" panose="020F0603020204020204" pitchFamily="34" charset="0"/>
              </a:rPr>
              <a:t>Take advantage of the dynamically provisioned nature of cloud computing.</a:t>
            </a:r>
          </a:p>
        </p:txBody>
      </p:sp>
      <p:sp>
        <p:nvSpPr>
          <p:cNvPr id="7" name="Content Placeholder 6">
            <a:extLst>
              <a:ext uri="{FF2B5EF4-FFF2-40B4-BE49-F238E27FC236}">
                <a16:creationId xmlns:a16="http://schemas.microsoft.com/office/drawing/2014/main" id="{4DC09220-1370-47C9-993B-5C62B538AE38}"/>
              </a:ext>
            </a:extLst>
          </p:cNvPr>
          <p:cNvSpPr>
            <a:spLocks noGrp="1"/>
          </p:cNvSpPr>
          <p:nvPr>
            <p:ph idx="2"/>
          </p:nvPr>
        </p:nvSpPr>
        <p:spPr>
          <a:xfrm>
            <a:off x="365760" y="1563624"/>
            <a:ext cx="11460480" cy="3379910"/>
          </a:xfrm>
        </p:spPr>
        <p:txBody>
          <a:bodyPr>
            <a:normAutofit/>
          </a:bodyPr>
          <a:lstStyle/>
          <a:p>
            <a:r>
              <a:rPr lang="en-US" dirty="0"/>
              <a:t>Automate deployment of new resources with identical configurations.</a:t>
            </a:r>
          </a:p>
          <a:p>
            <a:r>
              <a:rPr lang="en-US" dirty="0"/>
              <a:t>Stop resources that are not in use.</a:t>
            </a:r>
          </a:p>
          <a:p>
            <a:r>
              <a:rPr lang="en-US" dirty="0"/>
              <a:t>Test updates on new resources, and then replace old resources with updated ones.</a:t>
            </a:r>
          </a:p>
        </p:txBody>
      </p:sp>
    </p:spTree>
    <p:custDataLst>
      <p:tags r:id="rId1"/>
    </p:custDataLst>
    <p:extLst>
      <p:ext uri="{BB962C8B-B14F-4D97-AF65-F5344CB8AC3E}">
        <p14:creationId xmlns:p14="http://schemas.microsoft.com/office/powerpoint/2010/main" val="37682515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4DB4AD0-D05A-58C3-727C-C01934AC1F9B}"/>
              </a:ext>
            </a:extLst>
          </p:cNvPr>
          <p:cNvSpPr>
            <a:spLocks noGrp="1"/>
          </p:cNvSpPr>
          <p:nvPr>
            <p:ph type="sldNum" idx="97"/>
          </p:nvPr>
        </p:nvSpPr>
        <p:spPr>
          <a:xfrm>
            <a:off x="11393982" y="6446520"/>
            <a:ext cx="438354" cy="228600"/>
          </a:xfrm>
        </p:spPr>
        <p:txBody>
          <a:bodyPr/>
          <a:lstStyle/>
          <a:p>
            <a:fld id="{B6A95138-A96E-2F42-A959-2EFD44FE4AB7}" type="slidenum">
              <a:rPr lang="en-US" smtClean="0"/>
              <a:t>27</a:t>
            </a:fld>
            <a:endParaRPr lang="en-US" dirty="0"/>
          </a:p>
        </p:txBody>
      </p:sp>
      <p:sp>
        <p:nvSpPr>
          <p:cNvPr id="48" name="Title"/>
          <p:cNvSpPr>
            <a:spLocks noGrp="1"/>
          </p:cNvSpPr>
          <p:nvPr>
            <p:ph type="title" idx="1"/>
          </p:nvPr>
        </p:nvSpPr>
        <p:spPr/>
        <p:txBody>
          <a:bodyPr>
            <a:noAutofit/>
          </a:bodyPr>
          <a:lstStyle/>
          <a:p>
            <a:r>
              <a:rPr lang="en-US" dirty="0"/>
              <a:t>Using loosely coupled components</a:t>
            </a:r>
          </a:p>
        </p:txBody>
      </p:sp>
      <p:sp>
        <p:nvSpPr>
          <p:cNvPr id="2" name="Text Placeholder 1">
            <a:extLst>
              <a:ext uri="{FF2B5EF4-FFF2-40B4-BE49-F238E27FC236}">
                <a16:creationId xmlns:a16="http://schemas.microsoft.com/office/drawing/2014/main" id="{36B8FFE3-387D-4446-9141-40CFE1DA246D}"/>
              </a:ext>
            </a:extLst>
          </p:cNvPr>
          <p:cNvSpPr>
            <a:spLocks noGrp="1"/>
          </p:cNvSpPr>
          <p:nvPr>
            <p:ph type="body" idx="12"/>
          </p:nvPr>
        </p:nvSpPr>
        <p:spPr/>
        <p:txBody>
          <a:bodyPr/>
          <a:lstStyle/>
          <a:p>
            <a:r>
              <a:rPr lang="en-US" sz="2400" dirty="0"/>
              <a:t>Design architectures with independent components.</a:t>
            </a:r>
          </a:p>
        </p:txBody>
      </p:sp>
      <p:grpSp>
        <p:nvGrpSpPr>
          <p:cNvPr id="15" name="Flatten Decoupled" descr="Illustration of web servers and application servers decoupled with ELB. Labeled as a best practice. Refer to notes.">
            <a:extLst>
              <a:ext uri="{FF2B5EF4-FFF2-40B4-BE49-F238E27FC236}">
                <a16:creationId xmlns:a16="http://schemas.microsoft.com/office/drawing/2014/main" id="{7F1FC87F-FDE4-4954-BFE0-CD44830DCF76}"/>
              </a:ext>
            </a:extLst>
          </p:cNvPr>
          <p:cNvGrpSpPr/>
          <p:nvPr/>
        </p:nvGrpSpPr>
        <p:grpSpPr>
          <a:xfrm>
            <a:off x="1429836" y="1997999"/>
            <a:ext cx="3929724" cy="3581522"/>
            <a:chOff x="7278603" y="2722322"/>
            <a:chExt cx="3929724" cy="3581522"/>
          </a:xfrm>
        </p:grpSpPr>
        <p:sp>
          <p:nvSpPr>
            <p:cNvPr id="125" name="TextBox 124">
              <a:extLst>
                <a:ext uri="{C183D7F6-B498-43B3-948B-1728B52AA6E4}">
                  <adec:decorative xmlns:adec="http://schemas.microsoft.com/office/drawing/2017/decorative" val="1"/>
                </a:ext>
              </a:extLst>
            </p:cNvPr>
            <p:cNvSpPr txBox="1"/>
            <p:nvPr/>
          </p:nvSpPr>
          <p:spPr>
            <a:xfrm>
              <a:off x="8154195" y="2722322"/>
              <a:ext cx="2174589" cy="461665"/>
            </a:xfrm>
            <a:prstGeom prst="rect">
              <a:avLst/>
            </a:prstGeom>
            <a:noFill/>
          </p:spPr>
          <p:txBody>
            <a:bodyPr wrap="square" rtlCol="0">
              <a:spAutoFit/>
            </a:bodyPr>
            <a:lstStyle/>
            <a:p>
              <a:pPr algn="ctr"/>
              <a:r>
                <a:rPr lang="en-US" sz="2400" dirty="0">
                  <a:solidFill>
                    <a:srgbClr val="161E2D"/>
                  </a:solidFill>
                  <a:ea typeface="Amazon Ember" panose="020B0603020204020204" pitchFamily="34" charset="0"/>
                  <a:cs typeface="Amazon Ember" panose="020B0603020204020204" pitchFamily="34" charset="0"/>
                </a:rPr>
                <a:t>Best practice</a:t>
              </a:r>
            </a:p>
          </p:txBody>
        </p:sp>
        <p:cxnSp>
          <p:nvCxnSpPr>
            <p:cNvPr id="117" name="Straight Connector 116">
              <a:extLst>
                <a:ext uri="{C183D7F6-B498-43B3-948B-1728B52AA6E4}">
                  <adec:decorative xmlns:adec="http://schemas.microsoft.com/office/drawing/2017/decorative" val="1"/>
                </a:ext>
              </a:extLst>
            </p:cNvPr>
            <p:cNvCxnSpPr>
              <a:cxnSpLocks/>
              <a:endCxn id="60" idx="1"/>
            </p:cNvCxnSpPr>
            <p:nvPr/>
          </p:nvCxnSpPr>
          <p:spPr>
            <a:xfrm>
              <a:off x="7621613" y="4009431"/>
              <a:ext cx="523255" cy="414238"/>
            </a:xfrm>
            <a:prstGeom prst="line">
              <a:avLst/>
            </a:prstGeom>
            <a:ln>
              <a:solidFill>
                <a:srgbClr val="232F3E"/>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C183D7F6-B498-43B3-948B-1728B52AA6E4}">
                  <adec:decorative xmlns:adec="http://schemas.microsoft.com/office/drawing/2017/decorative" val="1"/>
                </a:ext>
              </a:extLst>
            </p:cNvPr>
            <p:cNvCxnSpPr>
              <a:cxnSpLocks/>
              <a:endCxn id="60" idx="3"/>
            </p:cNvCxnSpPr>
            <p:nvPr/>
          </p:nvCxnSpPr>
          <p:spPr>
            <a:xfrm flipH="1">
              <a:off x="8609054" y="4023860"/>
              <a:ext cx="490816" cy="399809"/>
            </a:xfrm>
            <a:prstGeom prst="line">
              <a:avLst/>
            </a:prstGeom>
            <a:ln>
              <a:solidFill>
                <a:srgbClr val="232F3E"/>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C183D7F6-B498-43B3-948B-1728B52AA6E4}">
                  <adec:decorative xmlns:adec="http://schemas.microsoft.com/office/drawing/2017/decorative" val="1"/>
                </a:ext>
              </a:extLst>
            </p:cNvPr>
            <p:cNvCxnSpPr>
              <a:cxnSpLocks/>
              <a:endCxn id="60" idx="1"/>
            </p:cNvCxnSpPr>
            <p:nvPr/>
          </p:nvCxnSpPr>
          <p:spPr>
            <a:xfrm flipV="1">
              <a:off x="7613223" y="4423669"/>
              <a:ext cx="531645" cy="426964"/>
            </a:xfrm>
            <a:prstGeom prst="line">
              <a:avLst/>
            </a:prstGeom>
            <a:ln>
              <a:solidFill>
                <a:srgbClr val="232F3E"/>
              </a:solidFill>
              <a:headEnd type="stealth" w="lg" len="lg"/>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C183D7F6-B498-43B3-948B-1728B52AA6E4}">
                  <adec:decorative xmlns:adec="http://schemas.microsoft.com/office/drawing/2017/decorative" val="1"/>
                </a:ext>
              </a:extLst>
            </p:cNvPr>
            <p:cNvCxnSpPr>
              <a:cxnSpLocks/>
            </p:cNvCxnSpPr>
            <p:nvPr/>
          </p:nvCxnSpPr>
          <p:spPr>
            <a:xfrm flipH="1" flipV="1">
              <a:off x="8386804" y="4557340"/>
              <a:ext cx="443" cy="293291"/>
            </a:xfrm>
            <a:prstGeom prst="line">
              <a:avLst/>
            </a:prstGeom>
            <a:ln>
              <a:solidFill>
                <a:srgbClr val="232F3E"/>
              </a:solidFill>
              <a:headEnd type="stealth" w="lg" len="lg"/>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C183D7F6-B498-43B3-948B-1728B52AA6E4}">
                  <adec:decorative xmlns:adec="http://schemas.microsoft.com/office/drawing/2017/decorative" val="1"/>
                </a:ext>
              </a:extLst>
            </p:cNvPr>
            <p:cNvCxnSpPr>
              <a:cxnSpLocks/>
              <a:endCxn id="60" idx="3"/>
            </p:cNvCxnSpPr>
            <p:nvPr/>
          </p:nvCxnSpPr>
          <p:spPr>
            <a:xfrm flipH="1" flipV="1">
              <a:off x="8609054" y="4423669"/>
              <a:ext cx="499206" cy="438170"/>
            </a:xfrm>
            <a:prstGeom prst="line">
              <a:avLst/>
            </a:prstGeom>
            <a:ln>
              <a:solidFill>
                <a:srgbClr val="232F3E"/>
              </a:solidFill>
              <a:headEnd type="stealth" w="lg" len="lg"/>
              <a:tailEnd type="none" w="med" len="med"/>
            </a:ln>
            <a:effectLst/>
          </p:spPr>
          <p:style>
            <a:lnRef idx="2">
              <a:schemeClr val="accent1"/>
            </a:lnRef>
            <a:fillRef idx="0">
              <a:schemeClr val="accent1"/>
            </a:fillRef>
            <a:effectRef idx="1">
              <a:schemeClr val="accent1"/>
            </a:effectRef>
            <a:fontRef idx="minor">
              <a:schemeClr val="tx1"/>
            </a:fontRef>
          </p:style>
        </p:cxnSp>
        <p:sp>
          <p:nvSpPr>
            <p:cNvPr id="122" name="TextBox 121">
              <a:extLst>
                <a:ext uri="{C183D7F6-B498-43B3-948B-1728B52AA6E4}">
                  <adec:decorative xmlns:adec="http://schemas.microsoft.com/office/drawing/2017/decorative" val="1"/>
                </a:ext>
              </a:extLst>
            </p:cNvPr>
            <p:cNvSpPr txBox="1"/>
            <p:nvPr/>
          </p:nvSpPr>
          <p:spPr>
            <a:xfrm flipH="1">
              <a:off x="7278603" y="5636867"/>
              <a:ext cx="3867912" cy="666977"/>
            </a:xfrm>
            <a:prstGeom prst="rect">
              <a:avLst/>
            </a:prstGeom>
            <a:solidFill>
              <a:srgbClr val="007FAA"/>
            </a:solidFill>
            <a:ln>
              <a:noFill/>
            </a:ln>
          </p:spPr>
          <p:txBody>
            <a:bodyPr wrap="square" rtlCol="0">
              <a:spAutoFit/>
            </a:bodyPr>
            <a:lstStyle>
              <a:defPPr>
                <a:defRPr lang="en-US"/>
              </a:defPPr>
              <a:lvl1pPr>
                <a:defRPr>
                  <a:ea typeface="Amazon Ember" panose="020B0603020204020204" pitchFamily="34" charset="0"/>
                  <a:cs typeface="Amazon Ember" panose="020B0603020204020204" pitchFamily="34" charset="0"/>
                </a:defRPr>
              </a:lvl1pPr>
            </a:lstStyle>
            <a:p>
              <a:r>
                <a:rPr lang="en-US" dirty="0">
                  <a:solidFill>
                    <a:schemeClr val="bg1"/>
                  </a:solidFill>
                </a:rPr>
                <a:t>Web servers decoupled with Elastic Load Balancing (ELB).</a:t>
              </a:r>
            </a:p>
          </p:txBody>
        </p:sp>
        <p:sp>
          <p:nvSpPr>
            <p:cNvPr id="124" name="TextBox 123">
              <a:extLst>
                <a:ext uri="{C183D7F6-B498-43B3-948B-1728B52AA6E4}">
                  <adec:decorative xmlns:adec="http://schemas.microsoft.com/office/drawing/2017/decorative" val="1"/>
                </a:ext>
              </a:extLst>
            </p:cNvPr>
            <p:cNvSpPr txBox="1"/>
            <p:nvPr/>
          </p:nvSpPr>
          <p:spPr>
            <a:xfrm>
              <a:off x="8814836" y="4192534"/>
              <a:ext cx="2393491" cy="584775"/>
            </a:xfrm>
            <a:prstGeom prst="rect">
              <a:avLst/>
            </a:prstGeom>
            <a:noFill/>
          </p:spPr>
          <p:txBody>
            <a:bodyPr wrap="square" rtlCol="0">
              <a:spAutoFit/>
            </a:bodyPr>
            <a:lstStyle/>
            <a:p>
              <a:pPr algn="ctr"/>
              <a:r>
                <a:rPr lang="en-US" sz="1600" dirty="0">
                  <a:solidFill>
                    <a:srgbClr val="232F3E"/>
                  </a:solidFill>
                  <a:ea typeface="Amazon Ember Display" panose="020F0603020204020204" pitchFamily="34" charset="0"/>
                  <a:cs typeface="Amazon Ember Display" panose="020F0603020204020204" pitchFamily="34" charset="0"/>
                </a:rPr>
                <a:t>Elastic Load Balancing (ELB)</a:t>
              </a:r>
            </a:p>
          </p:txBody>
        </p:sp>
        <p:cxnSp>
          <p:nvCxnSpPr>
            <p:cNvPr id="127" name="Straight Connector 126">
              <a:extLst>
                <a:ext uri="{C183D7F6-B498-43B3-948B-1728B52AA6E4}">
                  <adec:decorative xmlns:adec="http://schemas.microsoft.com/office/drawing/2017/decorative" val="1"/>
                </a:ext>
              </a:extLst>
            </p:cNvPr>
            <p:cNvCxnSpPr>
              <a:cxnSpLocks/>
              <a:stCxn id="60" idx="0"/>
              <a:endCxn id="64" idx="2"/>
            </p:cNvCxnSpPr>
            <p:nvPr/>
          </p:nvCxnSpPr>
          <p:spPr>
            <a:xfrm flipH="1" flipV="1">
              <a:off x="8372231" y="4030457"/>
              <a:ext cx="4730" cy="161119"/>
            </a:xfrm>
            <a:prstGeom prst="line">
              <a:avLst/>
            </a:prstGeom>
            <a:ln>
              <a:solidFill>
                <a:srgbClr val="232F3E"/>
              </a:solidFill>
              <a:headEnd type="stealth" w="lg" len="lg"/>
              <a:tailEnd type="none" w="med" len="med"/>
            </a:ln>
            <a:effectLst/>
          </p:spPr>
          <p:style>
            <a:lnRef idx="2">
              <a:schemeClr val="accent1"/>
            </a:lnRef>
            <a:fillRef idx="0">
              <a:schemeClr val="accent1"/>
            </a:fillRef>
            <a:effectRef idx="1">
              <a:schemeClr val="accent1"/>
            </a:effectRef>
            <a:fontRef idx="minor">
              <a:schemeClr val="tx1"/>
            </a:fontRef>
          </p:style>
        </p:cxnSp>
        <p:pic>
          <p:nvPicPr>
            <p:cNvPr id="60" name="Graphic 59">
              <a:extLst>
                <a:ext uri="{FF2B5EF4-FFF2-40B4-BE49-F238E27FC236}">
                  <a16:creationId xmlns:a16="http://schemas.microsoft.com/office/drawing/2014/main" id="{C0714717-0BE4-474F-9518-966965BC4CF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8144868" y="4191576"/>
              <a:ext cx="464186" cy="464186"/>
            </a:xfrm>
            <a:prstGeom prst="rect">
              <a:avLst/>
            </a:prstGeom>
          </p:spPr>
        </p:pic>
        <p:sp>
          <p:nvSpPr>
            <p:cNvPr id="61" name="TextBox 60">
              <a:extLst>
                <a:ext uri="{FF2B5EF4-FFF2-40B4-BE49-F238E27FC236}">
                  <a16:creationId xmlns:a16="http://schemas.microsoft.com/office/drawing/2014/main" id="{90BD4625-D08C-4630-80F7-3BD2AAECE9F5}"/>
                </a:ext>
                <a:ext uri="{C183D7F6-B498-43B3-948B-1728B52AA6E4}">
                  <adec:decorative xmlns:adec="http://schemas.microsoft.com/office/drawing/2017/decorative" val="1"/>
                </a:ext>
              </a:extLst>
            </p:cNvPr>
            <p:cNvSpPr txBox="1"/>
            <p:nvPr/>
          </p:nvSpPr>
          <p:spPr>
            <a:xfrm>
              <a:off x="9606888" y="3414582"/>
              <a:ext cx="1088224" cy="646331"/>
            </a:xfrm>
            <a:prstGeom prst="rect">
              <a:avLst/>
            </a:prstGeom>
            <a:noFill/>
          </p:spPr>
          <p:txBody>
            <a:bodyPr wrap="square" rtlCol="0" anchor="b">
              <a:spAutoFit/>
            </a:bodyPr>
            <a:lstStyle/>
            <a:p>
              <a:r>
                <a:rPr lang="en-US" dirty="0">
                  <a:solidFill>
                    <a:srgbClr val="232F3E"/>
                  </a:solidFill>
                  <a:ea typeface="Amazon Ember Display" panose="020F0603020204020204" pitchFamily="34" charset="0"/>
                  <a:cs typeface="Amazon Ember Display" panose="020F0603020204020204" pitchFamily="34" charset="0"/>
                </a:rPr>
                <a:t>Web servers</a:t>
              </a:r>
            </a:p>
          </p:txBody>
        </p:sp>
        <p:sp>
          <p:nvSpPr>
            <p:cNvPr id="62" name="TextBox 61">
              <a:extLst>
                <a:ext uri="{FF2B5EF4-FFF2-40B4-BE49-F238E27FC236}">
                  <a16:creationId xmlns:a16="http://schemas.microsoft.com/office/drawing/2014/main" id="{0A1A1118-977B-41D8-AFC2-A9A1FF4396E9}"/>
                </a:ext>
                <a:ext uri="{C183D7F6-B498-43B3-948B-1728B52AA6E4}">
                  <adec:decorative xmlns:adec="http://schemas.microsoft.com/office/drawing/2017/decorative" val="1"/>
                </a:ext>
              </a:extLst>
            </p:cNvPr>
            <p:cNvSpPr txBox="1"/>
            <p:nvPr/>
          </p:nvSpPr>
          <p:spPr>
            <a:xfrm>
              <a:off x="9606888" y="4867650"/>
              <a:ext cx="1371600" cy="640080"/>
            </a:xfrm>
            <a:prstGeom prst="rect">
              <a:avLst/>
            </a:prstGeom>
            <a:noFill/>
          </p:spPr>
          <p:txBody>
            <a:bodyPr wrap="square" rtlCol="0" anchor="b">
              <a:spAutoFit/>
            </a:bodyPr>
            <a:lstStyle/>
            <a:p>
              <a:r>
                <a:rPr lang="en-US" dirty="0">
                  <a:solidFill>
                    <a:srgbClr val="232F3E"/>
                  </a:solidFill>
                  <a:ea typeface="Amazon Ember Display" panose="020F0603020204020204" pitchFamily="34" charset="0"/>
                  <a:cs typeface="Amazon Ember Display" panose="020F0603020204020204" pitchFamily="34" charset="0"/>
                </a:rPr>
                <a:t>Application servers</a:t>
              </a:r>
            </a:p>
          </p:txBody>
        </p:sp>
        <p:pic>
          <p:nvPicPr>
            <p:cNvPr id="63" name="Graphic 62">
              <a:extLst>
                <a:ext uri="{FF2B5EF4-FFF2-40B4-BE49-F238E27FC236}">
                  <a16:creationId xmlns:a16="http://schemas.microsoft.com/office/drawing/2014/main" id="{54E55253-8ADF-4C28-BD4E-BD9A77843198}"/>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7318015" y="3377061"/>
              <a:ext cx="646331" cy="646331"/>
            </a:xfrm>
            <a:prstGeom prst="rect">
              <a:avLst/>
            </a:prstGeom>
          </p:spPr>
        </p:pic>
        <p:pic>
          <p:nvPicPr>
            <p:cNvPr id="64" name="Graphic 63">
              <a:extLst>
                <a:ext uri="{FF2B5EF4-FFF2-40B4-BE49-F238E27FC236}">
                  <a16:creationId xmlns:a16="http://schemas.microsoft.com/office/drawing/2014/main" id="{B0F16FE6-E2FE-48D4-80D2-8A8BD3E5798F}"/>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8049065" y="3384126"/>
              <a:ext cx="646331" cy="646331"/>
            </a:xfrm>
            <a:prstGeom prst="rect">
              <a:avLst/>
            </a:prstGeom>
          </p:spPr>
        </p:pic>
        <p:pic>
          <p:nvPicPr>
            <p:cNvPr id="65" name="Graphic 64">
              <a:extLst>
                <a:ext uri="{FF2B5EF4-FFF2-40B4-BE49-F238E27FC236}">
                  <a16:creationId xmlns:a16="http://schemas.microsoft.com/office/drawing/2014/main" id="{388889E0-D60D-4DC4-BB05-96F2889515EB}"/>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8780116" y="3377061"/>
              <a:ext cx="646331" cy="646331"/>
            </a:xfrm>
            <a:prstGeom prst="rect">
              <a:avLst/>
            </a:prstGeom>
          </p:spPr>
        </p:pic>
        <p:pic>
          <p:nvPicPr>
            <p:cNvPr id="66" name="Graphic 65">
              <a:extLst>
                <a:ext uri="{FF2B5EF4-FFF2-40B4-BE49-F238E27FC236}">
                  <a16:creationId xmlns:a16="http://schemas.microsoft.com/office/drawing/2014/main" id="{C2C1841F-1EA9-41C2-833E-2C47D9073ECB}"/>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7318015" y="4852864"/>
              <a:ext cx="646331" cy="646331"/>
            </a:xfrm>
            <a:prstGeom prst="rect">
              <a:avLst/>
            </a:prstGeom>
          </p:spPr>
        </p:pic>
        <p:pic>
          <p:nvPicPr>
            <p:cNvPr id="67" name="Graphic 66">
              <a:extLst>
                <a:ext uri="{FF2B5EF4-FFF2-40B4-BE49-F238E27FC236}">
                  <a16:creationId xmlns:a16="http://schemas.microsoft.com/office/drawing/2014/main" id="{4D481365-1F06-48D2-8552-AB0509EF70F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8049065" y="4852864"/>
              <a:ext cx="646331" cy="646331"/>
            </a:xfrm>
            <a:prstGeom prst="rect">
              <a:avLst/>
            </a:prstGeom>
          </p:spPr>
        </p:pic>
        <p:pic>
          <p:nvPicPr>
            <p:cNvPr id="68" name="Graphic 67">
              <a:extLst>
                <a:ext uri="{FF2B5EF4-FFF2-40B4-BE49-F238E27FC236}">
                  <a16:creationId xmlns:a16="http://schemas.microsoft.com/office/drawing/2014/main" id="{3EEBA65D-0037-4936-A426-9CB6BEB3392E}"/>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8780116" y="4852864"/>
              <a:ext cx="646331" cy="646331"/>
            </a:xfrm>
            <a:prstGeom prst="rect">
              <a:avLst/>
            </a:prstGeom>
          </p:spPr>
        </p:pic>
      </p:grpSp>
      <p:grpSp>
        <p:nvGrpSpPr>
          <p:cNvPr id="14" name="Flatten Tightly coupled" descr="Illustration of tightly coupled web servers and application servers. Labeled as an anti-pattern. Refer to notes.&#10;&#10;">
            <a:extLst>
              <a:ext uri="{FF2B5EF4-FFF2-40B4-BE49-F238E27FC236}">
                <a16:creationId xmlns:a16="http://schemas.microsoft.com/office/drawing/2014/main" id="{F6198565-186F-42F9-BFB4-417B355D270D}"/>
              </a:ext>
            </a:extLst>
          </p:cNvPr>
          <p:cNvGrpSpPr/>
          <p:nvPr/>
        </p:nvGrpSpPr>
        <p:grpSpPr>
          <a:xfrm>
            <a:off x="6882205" y="2002536"/>
            <a:ext cx="3863960" cy="3576828"/>
            <a:chOff x="1356359" y="2727015"/>
            <a:chExt cx="3863960" cy="3576828"/>
          </a:xfrm>
        </p:grpSpPr>
        <p:sp>
          <p:nvSpPr>
            <p:cNvPr id="129" name="TextBox 128">
              <a:extLst>
                <a:ext uri="{C183D7F6-B498-43B3-948B-1728B52AA6E4}">
                  <adec:decorative xmlns:adec="http://schemas.microsoft.com/office/drawing/2017/decorative" val="1"/>
                </a:ext>
              </a:extLst>
            </p:cNvPr>
            <p:cNvSpPr txBox="1"/>
            <p:nvPr/>
          </p:nvSpPr>
          <p:spPr>
            <a:xfrm>
              <a:off x="2201346" y="2727015"/>
              <a:ext cx="2174589" cy="461665"/>
            </a:xfrm>
            <a:prstGeom prst="rect">
              <a:avLst/>
            </a:prstGeom>
            <a:noFill/>
          </p:spPr>
          <p:txBody>
            <a:bodyPr wrap="square" rtlCol="0">
              <a:spAutoFit/>
            </a:bodyPr>
            <a:lstStyle/>
            <a:p>
              <a:pPr algn="ctr"/>
              <a:r>
                <a:rPr lang="en-US" sz="2400" dirty="0">
                  <a:solidFill>
                    <a:srgbClr val="161E2D"/>
                  </a:solidFill>
                  <a:ea typeface="Amazon Ember" panose="020B0603020204020204" pitchFamily="34" charset="0"/>
                  <a:cs typeface="Amazon Ember" panose="020B0603020204020204" pitchFamily="34" charset="0"/>
                </a:rPr>
                <a:t>Anti-pattern</a:t>
              </a:r>
            </a:p>
          </p:txBody>
        </p:sp>
        <p:sp>
          <p:nvSpPr>
            <p:cNvPr id="88" name="TextBox 87">
              <a:extLst>
                <a:ext uri="{C183D7F6-B498-43B3-948B-1728B52AA6E4}">
                  <adec:decorative xmlns:adec="http://schemas.microsoft.com/office/drawing/2017/decorative" val="1"/>
                </a:ext>
              </a:extLst>
            </p:cNvPr>
            <p:cNvSpPr txBox="1"/>
            <p:nvPr/>
          </p:nvSpPr>
          <p:spPr>
            <a:xfrm>
              <a:off x="1356359" y="5636866"/>
              <a:ext cx="3863959" cy="666977"/>
            </a:xfrm>
            <a:prstGeom prst="rect">
              <a:avLst/>
            </a:prstGeom>
            <a:solidFill>
              <a:srgbClr val="007FAA"/>
            </a:solidFill>
            <a:ln>
              <a:noFill/>
            </a:ln>
          </p:spPr>
          <p:txBody>
            <a:bodyPr wrap="square" rtlCol="0">
              <a:spAutoFit/>
            </a:bodyPr>
            <a:lstStyle>
              <a:defPPr>
                <a:defRPr lang="en-US"/>
              </a:defPPr>
              <a:lvl1pPr>
                <a:defRPr>
                  <a:ea typeface="Amazon Ember" panose="020B0603020204020204" pitchFamily="34" charset="0"/>
                  <a:cs typeface="Amazon Ember" panose="020B0603020204020204" pitchFamily="34" charset="0"/>
                </a:defRPr>
              </a:lvl1pPr>
            </a:lstStyle>
            <a:p>
              <a:r>
                <a:rPr lang="en-US" dirty="0">
                  <a:solidFill>
                    <a:schemeClr val="bg1"/>
                  </a:solidFill>
                </a:rPr>
                <a:t>Web servers tightly coupled to application servers.</a:t>
              </a:r>
            </a:p>
          </p:txBody>
        </p:sp>
        <p:sp>
          <p:nvSpPr>
            <p:cNvPr id="97" name="TextBox 96">
              <a:extLst>
                <a:ext uri="{C183D7F6-B498-43B3-948B-1728B52AA6E4}">
                  <adec:decorative xmlns:adec="http://schemas.microsoft.com/office/drawing/2017/decorative" val="1"/>
                </a:ext>
              </a:extLst>
            </p:cNvPr>
            <p:cNvSpPr txBox="1"/>
            <p:nvPr/>
          </p:nvSpPr>
          <p:spPr>
            <a:xfrm>
              <a:off x="3848719" y="3414582"/>
              <a:ext cx="1088224" cy="646331"/>
            </a:xfrm>
            <a:prstGeom prst="rect">
              <a:avLst/>
            </a:prstGeom>
            <a:noFill/>
          </p:spPr>
          <p:txBody>
            <a:bodyPr wrap="square" rtlCol="0" anchor="b">
              <a:spAutoFit/>
            </a:bodyPr>
            <a:lstStyle/>
            <a:p>
              <a:r>
                <a:rPr lang="en-US" dirty="0">
                  <a:solidFill>
                    <a:srgbClr val="232F3E"/>
                  </a:solidFill>
                  <a:ea typeface="Amazon Ember Display" panose="020F0603020204020204" pitchFamily="34" charset="0"/>
                  <a:cs typeface="Amazon Ember Display" panose="020F0603020204020204" pitchFamily="34" charset="0"/>
                </a:rPr>
                <a:t>Web servers</a:t>
              </a:r>
            </a:p>
          </p:txBody>
        </p:sp>
        <p:sp>
          <p:nvSpPr>
            <p:cNvPr id="98" name="TextBox 97">
              <a:extLst>
                <a:ext uri="{C183D7F6-B498-43B3-948B-1728B52AA6E4}">
                  <adec:decorative xmlns:adec="http://schemas.microsoft.com/office/drawing/2017/decorative" val="1"/>
                </a:ext>
              </a:extLst>
            </p:cNvPr>
            <p:cNvSpPr txBox="1"/>
            <p:nvPr/>
          </p:nvSpPr>
          <p:spPr>
            <a:xfrm>
              <a:off x="3848719" y="4867650"/>
              <a:ext cx="1371600" cy="640080"/>
            </a:xfrm>
            <a:prstGeom prst="rect">
              <a:avLst/>
            </a:prstGeom>
            <a:noFill/>
          </p:spPr>
          <p:txBody>
            <a:bodyPr wrap="square" rtlCol="0" anchor="b">
              <a:spAutoFit/>
            </a:bodyPr>
            <a:lstStyle/>
            <a:p>
              <a:r>
                <a:rPr lang="en-US" dirty="0">
                  <a:solidFill>
                    <a:srgbClr val="232F3E"/>
                  </a:solidFill>
                  <a:ea typeface="Amazon Ember Display" panose="020F0603020204020204" pitchFamily="34" charset="0"/>
                  <a:cs typeface="Amazon Ember Display" panose="020F0603020204020204" pitchFamily="34" charset="0"/>
                </a:rPr>
                <a:t>Application servers</a:t>
              </a:r>
            </a:p>
          </p:txBody>
        </p:sp>
        <p:cxnSp>
          <p:nvCxnSpPr>
            <p:cNvPr id="99" name="Straight Connector 98">
              <a:extLst>
                <a:ext uri="{C183D7F6-B498-43B3-948B-1728B52AA6E4}">
                  <adec:decorative xmlns:adec="http://schemas.microsoft.com/office/drawing/2017/decorative" val="1"/>
                </a:ext>
              </a:extLst>
            </p:cNvPr>
            <p:cNvCxnSpPr>
              <a:cxnSpLocks/>
            </p:cNvCxnSpPr>
            <p:nvPr/>
          </p:nvCxnSpPr>
          <p:spPr>
            <a:xfrm>
              <a:off x="1886131" y="3952947"/>
              <a:ext cx="0" cy="948387"/>
            </a:xfrm>
            <a:prstGeom prst="line">
              <a:avLst/>
            </a:prstGeom>
            <a:ln>
              <a:solidFill>
                <a:srgbClr val="232F3E"/>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a:cxnSpLocks/>
            </p:cNvCxnSpPr>
            <p:nvPr/>
          </p:nvCxnSpPr>
          <p:spPr>
            <a:xfrm>
              <a:off x="3345112" y="3952947"/>
              <a:ext cx="0" cy="948387"/>
            </a:xfrm>
            <a:prstGeom prst="line">
              <a:avLst/>
            </a:prstGeom>
            <a:ln>
              <a:solidFill>
                <a:srgbClr val="232F3E"/>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a:cxnSpLocks/>
            </p:cNvCxnSpPr>
            <p:nvPr/>
          </p:nvCxnSpPr>
          <p:spPr>
            <a:xfrm>
              <a:off x="2633627" y="3952947"/>
              <a:ext cx="0" cy="948387"/>
            </a:xfrm>
            <a:prstGeom prst="line">
              <a:avLst/>
            </a:prstGeom>
            <a:ln>
              <a:solidFill>
                <a:srgbClr val="232F3E"/>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a:cxnSpLocks/>
            </p:cNvCxnSpPr>
            <p:nvPr/>
          </p:nvCxnSpPr>
          <p:spPr>
            <a:xfrm>
              <a:off x="2098955" y="3952947"/>
              <a:ext cx="534672" cy="948387"/>
            </a:xfrm>
            <a:prstGeom prst="line">
              <a:avLst/>
            </a:prstGeom>
            <a:ln>
              <a:solidFill>
                <a:srgbClr val="232F3E"/>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a:cxnSpLocks/>
            </p:cNvCxnSpPr>
            <p:nvPr/>
          </p:nvCxnSpPr>
          <p:spPr>
            <a:xfrm>
              <a:off x="2098956" y="3952947"/>
              <a:ext cx="1069345" cy="948387"/>
            </a:xfrm>
            <a:prstGeom prst="line">
              <a:avLst/>
            </a:prstGeom>
            <a:ln>
              <a:solidFill>
                <a:srgbClr val="232F3E"/>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C183D7F6-B498-43B3-948B-1728B52AA6E4}">
                  <adec:decorative xmlns:adec="http://schemas.microsoft.com/office/drawing/2017/decorative" val="1"/>
                </a:ext>
              </a:extLst>
            </p:cNvPr>
            <p:cNvCxnSpPr>
              <a:cxnSpLocks/>
            </p:cNvCxnSpPr>
            <p:nvPr/>
          </p:nvCxnSpPr>
          <p:spPr>
            <a:xfrm flipH="1">
              <a:off x="2098955" y="3952947"/>
              <a:ext cx="534672" cy="948387"/>
            </a:xfrm>
            <a:prstGeom prst="line">
              <a:avLst/>
            </a:prstGeom>
            <a:ln>
              <a:solidFill>
                <a:srgbClr val="232F3E"/>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C183D7F6-B498-43B3-948B-1728B52AA6E4}">
                  <adec:decorative xmlns:adec="http://schemas.microsoft.com/office/drawing/2017/decorative" val="1"/>
                </a:ext>
              </a:extLst>
            </p:cNvPr>
            <p:cNvCxnSpPr>
              <a:cxnSpLocks/>
            </p:cNvCxnSpPr>
            <p:nvPr/>
          </p:nvCxnSpPr>
          <p:spPr>
            <a:xfrm>
              <a:off x="2633628" y="3952947"/>
              <a:ext cx="534673" cy="948387"/>
            </a:xfrm>
            <a:prstGeom prst="line">
              <a:avLst/>
            </a:prstGeom>
            <a:ln>
              <a:solidFill>
                <a:schemeClr val="tx1"/>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C183D7F6-B498-43B3-948B-1728B52AA6E4}">
                  <adec:decorative xmlns:adec="http://schemas.microsoft.com/office/drawing/2017/decorative" val="1"/>
                </a:ext>
              </a:extLst>
            </p:cNvPr>
            <p:cNvCxnSpPr>
              <a:cxnSpLocks/>
            </p:cNvCxnSpPr>
            <p:nvPr/>
          </p:nvCxnSpPr>
          <p:spPr>
            <a:xfrm flipH="1">
              <a:off x="2633628" y="3952947"/>
              <a:ext cx="534673" cy="948387"/>
            </a:xfrm>
            <a:prstGeom prst="line">
              <a:avLst/>
            </a:prstGeom>
            <a:ln>
              <a:solidFill>
                <a:srgbClr val="232F3E"/>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C183D7F6-B498-43B3-948B-1728B52AA6E4}">
                  <adec:decorative xmlns:adec="http://schemas.microsoft.com/office/drawing/2017/decorative" val="1"/>
                </a:ext>
              </a:extLst>
            </p:cNvPr>
            <p:cNvCxnSpPr>
              <a:cxnSpLocks/>
            </p:cNvCxnSpPr>
            <p:nvPr/>
          </p:nvCxnSpPr>
          <p:spPr>
            <a:xfrm flipH="1">
              <a:off x="2098956" y="3952947"/>
              <a:ext cx="1069345" cy="948387"/>
            </a:xfrm>
            <a:prstGeom prst="line">
              <a:avLst/>
            </a:prstGeom>
            <a:ln>
              <a:solidFill>
                <a:srgbClr val="232F3E"/>
              </a:solidFill>
              <a:tailEnd type="stealth" w="lg" len="lg"/>
            </a:ln>
            <a:effectLst/>
          </p:spPr>
          <p:style>
            <a:lnRef idx="2">
              <a:schemeClr val="accent1"/>
            </a:lnRef>
            <a:fillRef idx="0">
              <a:schemeClr val="accent1"/>
            </a:fillRef>
            <a:effectRef idx="1">
              <a:schemeClr val="accent1"/>
            </a:effectRef>
            <a:fontRef idx="minor">
              <a:schemeClr val="tx1"/>
            </a:fontRef>
          </p:style>
        </p:cxnSp>
        <p:pic>
          <p:nvPicPr>
            <p:cNvPr id="47" name="Graphic 46">
              <a:extLst>
                <a:ext uri="{FF2B5EF4-FFF2-40B4-BE49-F238E27FC236}">
                  <a16:creationId xmlns:a16="http://schemas.microsoft.com/office/drawing/2014/main" id="{48AD5B9D-04E1-4684-B954-81F04139987B}"/>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1559846" y="3377061"/>
              <a:ext cx="646331" cy="646331"/>
            </a:xfrm>
            <a:prstGeom prst="rect">
              <a:avLst/>
            </a:prstGeom>
          </p:spPr>
        </p:pic>
        <p:pic>
          <p:nvPicPr>
            <p:cNvPr id="49" name="Graphic 48">
              <a:extLst>
                <a:ext uri="{FF2B5EF4-FFF2-40B4-BE49-F238E27FC236}">
                  <a16:creationId xmlns:a16="http://schemas.microsoft.com/office/drawing/2014/main" id="{1D933BDB-E3CA-4725-A08E-7CFD9693ADD1}"/>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2290897" y="3377061"/>
              <a:ext cx="646331" cy="646331"/>
            </a:xfrm>
            <a:prstGeom prst="rect">
              <a:avLst/>
            </a:prstGeom>
          </p:spPr>
        </p:pic>
        <p:pic>
          <p:nvPicPr>
            <p:cNvPr id="50" name="Graphic 49">
              <a:extLst>
                <a:ext uri="{FF2B5EF4-FFF2-40B4-BE49-F238E27FC236}">
                  <a16:creationId xmlns:a16="http://schemas.microsoft.com/office/drawing/2014/main" id="{C6ACD33A-2CA1-4783-9FE2-28C7EEF6F68E}"/>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3021947" y="3377061"/>
              <a:ext cx="646331" cy="646331"/>
            </a:xfrm>
            <a:prstGeom prst="rect">
              <a:avLst/>
            </a:prstGeom>
          </p:spPr>
        </p:pic>
        <p:pic>
          <p:nvPicPr>
            <p:cNvPr id="51" name="Graphic 50">
              <a:extLst>
                <a:ext uri="{FF2B5EF4-FFF2-40B4-BE49-F238E27FC236}">
                  <a16:creationId xmlns:a16="http://schemas.microsoft.com/office/drawing/2014/main" id="{F1C07A67-00C1-4F5C-8738-F848813115A1}"/>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1559846" y="4852864"/>
              <a:ext cx="646331" cy="646331"/>
            </a:xfrm>
            <a:prstGeom prst="rect">
              <a:avLst/>
            </a:prstGeom>
          </p:spPr>
        </p:pic>
        <p:pic>
          <p:nvPicPr>
            <p:cNvPr id="52" name="Graphic 51">
              <a:extLst>
                <a:ext uri="{FF2B5EF4-FFF2-40B4-BE49-F238E27FC236}">
                  <a16:creationId xmlns:a16="http://schemas.microsoft.com/office/drawing/2014/main" id="{F1A88233-2D7D-4B17-9E5A-3B18ADB675FF}"/>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2290896" y="4852864"/>
              <a:ext cx="646331" cy="646331"/>
            </a:xfrm>
            <a:prstGeom prst="rect">
              <a:avLst/>
            </a:prstGeom>
          </p:spPr>
        </p:pic>
        <p:pic>
          <p:nvPicPr>
            <p:cNvPr id="53" name="Graphic 52">
              <a:extLst>
                <a:ext uri="{FF2B5EF4-FFF2-40B4-BE49-F238E27FC236}">
                  <a16:creationId xmlns:a16="http://schemas.microsoft.com/office/drawing/2014/main" id="{D00E4856-8C51-4F20-A908-051B9C32FD77}"/>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3021947" y="4852864"/>
              <a:ext cx="646331" cy="646331"/>
            </a:xfrm>
            <a:prstGeom prst="rect">
              <a:avLst/>
            </a:prstGeom>
          </p:spPr>
        </p:pic>
      </p:grpSp>
    </p:spTree>
    <p:custDataLst>
      <p:tags r:id="rId1"/>
    </p:custDataLst>
    <p:extLst>
      <p:ext uri="{BB962C8B-B14F-4D97-AF65-F5344CB8AC3E}">
        <p14:creationId xmlns:p14="http://schemas.microsoft.com/office/powerpoint/2010/main" val="11324153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C0C19CAC-B028-4852-B353-427508847471}"/>
              </a:ext>
            </a:extLst>
          </p:cNvPr>
          <p:cNvSpPr>
            <a:spLocks noGrp="1"/>
          </p:cNvSpPr>
          <p:nvPr>
            <p:ph type="sldNum" idx="97"/>
          </p:nvPr>
        </p:nvSpPr>
        <p:spPr/>
        <p:txBody>
          <a:bodyPr/>
          <a:lstStyle/>
          <a:p>
            <a:fld id="{B6A95138-A96E-2F42-A959-2EFD44FE4AB7}" type="slidenum">
              <a:rPr lang="en-US" smtClean="0"/>
              <a:t>28</a:t>
            </a:fld>
            <a:endParaRPr lang="en-US" dirty="0"/>
          </a:p>
        </p:txBody>
      </p:sp>
      <p:sp>
        <p:nvSpPr>
          <p:cNvPr id="5" name="Title">
            <a:extLst>
              <a:ext uri="{FF2B5EF4-FFF2-40B4-BE49-F238E27FC236}">
                <a16:creationId xmlns:a16="http://schemas.microsoft.com/office/drawing/2014/main" id="{9163A6CF-5E1B-426B-B87B-A7D31286B507}"/>
              </a:ext>
            </a:extLst>
          </p:cNvPr>
          <p:cNvSpPr>
            <a:spLocks noGrp="1"/>
          </p:cNvSpPr>
          <p:nvPr>
            <p:ph type="title" idx="1"/>
          </p:nvPr>
        </p:nvSpPr>
        <p:spPr/>
        <p:txBody>
          <a:bodyPr/>
          <a:lstStyle/>
          <a:p>
            <a:r>
              <a:rPr lang="en-US" dirty="0"/>
              <a:t>Designing services, not servers</a:t>
            </a:r>
          </a:p>
        </p:txBody>
      </p:sp>
      <p:sp>
        <p:nvSpPr>
          <p:cNvPr id="6" name="Content Placeholder 5">
            <a:extLst>
              <a:ext uri="{FF2B5EF4-FFF2-40B4-BE49-F238E27FC236}">
                <a16:creationId xmlns:a16="http://schemas.microsoft.com/office/drawing/2014/main" id="{7CF08E24-1D08-4021-A80E-991FFB7CA7B3}"/>
              </a:ext>
            </a:extLst>
          </p:cNvPr>
          <p:cNvSpPr>
            <a:spLocks noGrp="1"/>
          </p:cNvSpPr>
          <p:nvPr>
            <p:ph type="body" idx="12"/>
          </p:nvPr>
        </p:nvSpPr>
        <p:spPr/>
        <p:txBody>
          <a:bodyPr>
            <a:noAutofit/>
          </a:bodyPr>
          <a:lstStyle/>
          <a:p>
            <a:r>
              <a:rPr lang="en-US" dirty="0"/>
              <a:t>Use the breadth of AWS services. Don't limit your infrastructure to servers.</a:t>
            </a:r>
          </a:p>
        </p:txBody>
      </p:sp>
      <p:sp>
        <p:nvSpPr>
          <p:cNvPr id="7" name="Content Placeholder 6">
            <a:extLst>
              <a:ext uri="{FF2B5EF4-FFF2-40B4-BE49-F238E27FC236}">
                <a16:creationId xmlns:a16="http://schemas.microsoft.com/office/drawing/2014/main" id="{E221D2C6-2C32-47C8-8099-1AEDE294A0D7}"/>
              </a:ext>
            </a:extLst>
          </p:cNvPr>
          <p:cNvSpPr>
            <a:spLocks noGrp="1"/>
          </p:cNvSpPr>
          <p:nvPr>
            <p:ph idx="2"/>
          </p:nvPr>
        </p:nvSpPr>
        <p:spPr>
          <a:xfrm>
            <a:off x="365760" y="1563624"/>
            <a:ext cx="11460480" cy="3379910"/>
          </a:xfrm>
        </p:spPr>
        <p:txBody>
          <a:bodyPr>
            <a:normAutofit lnSpcReduction="10000"/>
          </a:bodyPr>
          <a:lstStyle/>
          <a:p>
            <a:r>
              <a:rPr lang="en-US" dirty="0"/>
              <a:t>When appropriate, consider using containers or a serverless solution.</a:t>
            </a:r>
          </a:p>
          <a:p>
            <a:r>
              <a:rPr lang="en-US" dirty="0"/>
              <a:t>Message queues can handle communication between applications.</a:t>
            </a:r>
          </a:p>
          <a:p>
            <a:r>
              <a:rPr lang="en-US" dirty="0"/>
              <a:t>Static web assets can be stored off server, such as on Amazon Simple Storage Service (Amazon S3).</a:t>
            </a:r>
          </a:p>
          <a:p>
            <a:r>
              <a:rPr lang="en-US" dirty="0"/>
              <a:t>User authentication and user state storage can be handled by managed AWS services.</a:t>
            </a:r>
          </a:p>
        </p:txBody>
      </p:sp>
    </p:spTree>
    <p:custDataLst>
      <p:tags r:id="rId1"/>
    </p:custDataLst>
    <p:extLst>
      <p:ext uri="{BB962C8B-B14F-4D97-AF65-F5344CB8AC3E}">
        <p14:creationId xmlns:p14="http://schemas.microsoft.com/office/powerpoint/2010/main" val="113183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6D787260-3A99-458E-B80C-867736AD06C8}"/>
              </a:ext>
            </a:extLst>
          </p:cNvPr>
          <p:cNvSpPr>
            <a:spLocks noGrp="1"/>
          </p:cNvSpPr>
          <p:nvPr>
            <p:ph type="sldNum" idx="97"/>
          </p:nvPr>
        </p:nvSpPr>
        <p:spPr/>
        <p:txBody>
          <a:bodyPr/>
          <a:lstStyle/>
          <a:p>
            <a:fld id="{B6A95138-A96E-2F42-A959-2EFD44FE4AB7}" type="slidenum">
              <a:rPr lang="en-US" smtClean="0"/>
              <a:t>29</a:t>
            </a:fld>
            <a:endParaRPr lang="en-US" dirty="0"/>
          </a:p>
        </p:txBody>
      </p:sp>
      <p:sp>
        <p:nvSpPr>
          <p:cNvPr id="2" name="Title">
            <a:extLst>
              <a:ext uri="{FF2B5EF4-FFF2-40B4-BE49-F238E27FC236}">
                <a16:creationId xmlns:a16="http://schemas.microsoft.com/office/drawing/2014/main" id="{B945C37D-975A-4C23-A174-A1C4E7DE7ACA}"/>
              </a:ext>
            </a:extLst>
          </p:cNvPr>
          <p:cNvSpPr>
            <a:spLocks noGrp="1"/>
          </p:cNvSpPr>
          <p:nvPr>
            <p:ph type="title" idx="1"/>
          </p:nvPr>
        </p:nvSpPr>
        <p:spPr/>
        <p:txBody>
          <a:bodyPr/>
          <a:lstStyle/>
          <a:p>
            <a:r>
              <a:rPr lang="en-US" dirty="0"/>
              <a:t>Choosing the right database solution</a:t>
            </a:r>
          </a:p>
        </p:txBody>
      </p:sp>
      <p:sp>
        <p:nvSpPr>
          <p:cNvPr id="3" name="Content Placeholder 2">
            <a:extLst>
              <a:ext uri="{FF2B5EF4-FFF2-40B4-BE49-F238E27FC236}">
                <a16:creationId xmlns:a16="http://schemas.microsoft.com/office/drawing/2014/main" id="{B846D395-EAC8-4B5E-BFAC-698EB7AA627F}"/>
              </a:ext>
            </a:extLst>
          </p:cNvPr>
          <p:cNvSpPr>
            <a:spLocks noGrp="1"/>
          </p:cNvSpPr>
          <p:nvPr>
            <p:ph type="body" idx="12"/>
          </p:nvPr>
        </p:nvSpPr>
        <p:spPr/>
        <p:txBody>
          <a:bodyPr>
            <a:noAutofit/>
          </a:bodyPr>
          <a:lstStyle/>
          <a:p>
            <a:r>
              <a:rPr lang="en-US" sz="2400" dirty="0">
                <a:latin typeface="+mn-lt"/>
                <a:ea typeface="Amazon Ember Display" panose="020F0603020204020204" pitchFamily="34" charset="0"/>
                <a:cs typeface="Amazon Ember Display" panose="020F0603020204020204" pitchFamily="34" charset="0"/>
              </a:rPr>
              <a:t>Match technology to the workload, not the other way around.</a:t>
            </a:r>
          </a:p>
        </p:txBody>
      </p:sp>
      <p:sp>
        <p:nvSpPr>
          <p:cNvPr id="11" name="TextBox 10">
            <a:extLst>
              <a:ext uri="{FF2B5EF4-FFF2-40B4-BE49-F238E27FC236}">
                <a16:creationId xmlns:a16="http://schemas.microsoft.com/office/drawing/2014/main" id="{3C7AB2CB-BA7B-4B82-A484-611B2AEA3D58}"/>
              </a:ext>
            </a:extLst>
          </p:cNvPr>
          <p:cNvSpPr txBox="1"/>
          <p:nvPr/>
        </p:nvSpPr>
        <p:spPr>
          <a:xfrm>
            <a:off x="365759" y="1563624"/>
            <a:ext cx="11312893" cy="2923877"/>
          </a:xfrm>
          <a:prstGeom prst="rect">
            <a:avLst/>
          </a:prstGeom>
        </p:spPr>
        <p:txBody>
          <a:bodyPr vert="horz" lIns="91440" tIns="45720" rIns="91440" bIns="45720" rtlCol="0">
            <a:noAutofit/>
          </a:bodyPr>
          <a:lstStyle>
            <a:lvl1pPr marL="228600" indent="-228600">
              <a:lnSpc>
                <a:spcPct val="100000"/>
              </a:lnSpc>
              <a:spcBef>
                <a:spcPts val="0"/>
              </a:spcBef>
              <a:spcAft>
                <a:spcPts val="1200"/>
              </a:spcAft>
              <a:buFont typeface="Amazon Ember Display"/>
              <a:buChar char="•"/>
              <a:defRPr lang="en-US" sz="2400">
                <a:solidFill>
                  <a:srgbClr val="232F3E"/>
                </a:solidFill>
                <a:latin typeface="Amazon Ember display"/>
              </a:defRPr>
            </a:lvl1pPr>
            <a:lvl2pPr indent="-228600">
              <a:lnSpc>
                <a:spcPct val="100000"/>
              </a:lnSpc>
              <a:spcBef>
                <a:spcPts val="0"/>
              </a:spcBef>
              <a:spcAft>
                <a:spcPts val="1200"/>
              </a:spcAft>
              <a:buFont typeface="Amazon Ember Display"/>
              <a:buChar char="•"/>
              <a:defRPr lang="en-US" sz="2400">
                <a:solidFill>
                  <a:srgbClr val="232F3E"/>
                </a:solidFill>
                <a:latin typeface="Amazon Ember display"/>
              </a:defRPr>
            </a:lvl2pPr>
            <a:lvl3pPr marL="684213" indent="-228600">
              <a:lnSpc>
                <a:spcPct val="100000"/>
              </a:lnSpc>
              <a:spcBef>
                <a:spcPts val="0"/>
              </a:spcBef>
              <a:spcAft>
                <a:spcPts val="1200"/>
              </a:spcAft>
              <a:buFont typeface="Amazon Ember Display"/>
              <a:buChar char="•"/>
              <a:defRPr lang="en-US" sz="2000">
                <a:solidFill>
                  <a:srgbClr val="232F3E"/>
                </a:solidFill>
                <a:latin typeface="Amazon Ember display"/>
              </a:defRPr>
            </a:lvl3pPr>
            <a:lvl4pPr marL="914400" indent="-228600">
              <a:lnSpc>
                <a:spcPct val="100000"/>
              </a:lnSpc>
              <a:spcBef>
                <a:spcPts val="0"/>
              </a:spcBef>
              <a:spcAft>
                <a:spcPts val="1200"/>
              </a:spcAft>
              <a:buFont typeface="Amazon Ember Display"/>
              <a:buChar char="•"/>
              <a:defRPr lang="en-US">
                <a:solidFill>
                  <a:srgbClr val="232F3E"/>
                </a:solidFill>
                <a:latin typeface="Amazon Ember display"/>
              </a:defRPr>
            </a:lvl4pPr>
            <a:lvl5pPr marL="1144588" indent="-228600">
              <a:lnSpc>
                <a:spcPct val="100000"/>
              </a:lnSpc>
              <a:spcBef>
                <a:spcPts val="0"/>
              </a:spcBef>
              <a:spcAft>
                <a:spcPts val="1200"/>
              </a:spcAft>
              <a:buFont typeface="Amazon Ember Display"/>
              <a:buChar char="•"/>
              <a:defRPr lang="en-US">
                <a:solidFill>
                  <a:srgbClr val="232F3E"/>
                </a:solidFill>
                <a:latin typeface="Amazon Ember display"/>
              </a:defRPr>
            </a:lvl5pPr>
            <a:lvl6pPr marL="2514600" indent="-228600">
              <a:lnSpc>
                <a:spcPct val="90000"/>
              </a:lnSpc>
              <a:spcBef>
                <a:spcPts val="500"/>
              </a:spcBef>
              <a:buFont typeface="Amazon Ember Display"/>
              <a:buChar char="•"/>
              <a:defRPr>
                <a:latin typeface="Amazon Ember display"/>
              </a:defRPr>
            </a:lvl6pPr>
            <a:lvl7pPr marL="2971800" indent="-228600">
              <a:lnSpc>
                <a:spcPct val="90000"/>
              </a:lnSpc>
              <a:spcBef>
                <a:spcPts val="500"/>
              </a:spcBef>
              <a:buFont typeface="Amazon Ember Display"/>
              <a:buChar char="•"/>
              <a:defRPr>
                <a:latin typeface="Amazon Ember display"/>
              </a:defRPr>
            </a:lvl7pPr>
            <a:lvl8pPr marL="3429000" indent="-228600">
              <a:lnSpc>
                <a:spcPct val="90000"/>
              </a:lnSpc>
              <a:spcBef>
                <a:spcPts val="500"/>
              </a:spcBef>
              <a:buFont typeface="Amazon Ember Display"/>
              <a:buChar char="•"/>
              <a:defRPr>
                <a:latin typeface="Amazon Ember display"/>
              </a:defRPr>
            </a:lvl8pPr>
            <a:lvl9pPr marL="3886200" indent="-228600">
              <a:lnSpc>
                <a:spcPct val="90000"/>
              </a:lnSpc>
              <a:spcBef>
                <a:spcPts val="500"/>
              </a:spcBef>
              <a:buFont typeface="Amazon Ember Display"/>
              <a:buChar char="•"/>
              <a:defRPr>
                <a:latin typeface="Amazon Ember display"/>
              </a:defRPr>
            </a:lvl9pPr>
          </a:lstStyle>
          <a:p>
            <a:r>
              <a:rPr lang="en-US" dirty="0"/>
              <a:t>Read and write needs</a:t>
            </a:r>
          </a:p>
          <a:p>
            <a:r>
              <a:rPr lang="en-US" dirty="0"/>
              <a:t>Total storage requirements</a:t>
            </a:r>
          </a:p>
          <a:p>
            <a:r>
              <a:rPr lang="en-US" dirty="0"/>
              <a:t>Typical object size and nature of access to these objects</a:t>
            </a:r>
          </a:p>
          <a:p>
            <a:r>
              <a:rPr lang="en-US" dirty="0"/>
              <a:t>Durability requirements</a:t>
            </a:r>
          </a:p>
          <a:p>
            <a:r>
              <a:rPr lang="en-US" sz="2400" dirty="0"/>
              <a:t>Latency requirements</a:t>
            </a:r>
          </a:p>
          <a:p>
            <a:r>
              <a:rPr lang="en-US" sz="2400" dirty="0"/>
              <a:t>Maximum concurrent users to support</a:t>
            </a:r>
          </a:p>
          <a:p>
            <a:r>
              <a:rPr lang="en-US" sz="2400" dirty="0"/>
              <a:t>Nature of queries</a:t>
            </a:r>
          </a:p>
          <a:p>
            <a:r>
              <a:rPr lang="en-US" sz="2400" dirty="0"/>
              <a:t>Required strength of integrity controls</a:t>
            </a:r>
          </a:p>
          <a:p>
            <a:endParaRPr lang="en-US" dirty="0"/>
          </a:p>
        </p:txBody>
      </p:sp>
    </p:spTree>
    <p:custDataLst>
      <p:tags r:id="rId1"/>
    </p:custDataLst>
    <p:extLst>
      <p:ext uri="{BB962C8B-B14F-4D97-AF65-F5344CB8AC3E}">
        <p14:creationId xmlns:p14="http://schemas.microsoft.com/office/powerpoint/2010/main" val="26955959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5EB7244D-201E-F3CB-3B39-D7F8B596DEEA}"/>
              </a:ext>
            </a:extLst>
          </p:cNvPr>
          <p:cNvSpPr>
            <a:spLocks noGrp="1"/>
          </p:cNvSpPr>
          <p:nvPr>
            <p:ph type="sldNum" idx="97"/>
          </p:nvPr>
        </p:nvSpPr>
        <p:spPr>
          <a:xfrm>
            <a:off x="11393982" y="6446520"/>
            <a:ext cx="438354" cy="228600"/>
          </a:xfrm>
        </p:spPr>
        <p:txBody>
          <a:bodyPr/>
          <a:lstStyle/>
          <a:p>
            <a:fld id="{B6A95138-A96E-2F42-A959-2EFD44FE4AB7}" type="slidenum">
              <a:rPr lang="en-US" smtClean="0"/>
              <a:t>30</a:t>
            </a:fld>
            <a:endParaRPr lang="en-US" dirty="0"/>
          </a:p>
        </p:txBody>
      </p:sp>
      <p:sp>
        <p:nvSpPr>
          <p:cNvPr id="39" name="Title"/>
          <p:cNvSpPr>
            <a:spLocks noGrp="1"/>
          </p:cNvSpPr>
          <p:nvPr>
            <p:ph type="title" idx="1"/>
          </p:nvPr>
        </p:nvSpPr>
        <p:spPr/>
        <p:txBody>
          <a:bodyPr/>
          <a:lstStyle/>
          <a:p>
            <a:r>
              <a:rPr lang="en-US" dirty="0"/>
              <a:t>Avoiding single points of failure</a:t>
            </a:r>
          </a:p>
        </p:txBody>
      </p:sp>
      <p:sp>
        <p:nvSpPr>
          <p:cNvPr id="2" name="Text Placeholder 1">
            <a:extLst>
              <a:ext uri="{FF2B5EF4-FFF2-40B4-BE49-F238E27FC236}">
                <a16:creationId xmlns:a16="http://schemas.microsoft.com/office/drawing/2014/main" id="{E6DAF690-7003-425C-A0B7-408FC7847254}"/>
              </a:ext>
            </a:extLst>
          </p:cNvPr>
          <p:cNvSpPr>
            <a:spLocks noGrp="1"/>
          </p:cNvSpPr>
          <p:nvPr>
            <p:ph type="body" idx="12"/>
          </p:nvPr>
        </p:nvSpPr>
        <p:spPr/>
        <p:txBody>
          <a:bodyPr/>
          <a:lstStyle/>
          <a:p>
            <a:r>
              <a:rPr lang="en-US" sz="2400" dirty="0"/>
              <a:t>Assume everything fails. Then, design backward. </a:t>
            </a:r>
          </a:p>
        </p:txBody>
      </p:sp>
      <p:sp>
        <p:nvSpPr>
          <p:cNvPr id="77" name="TextBox Callout 1"/>
          <p:cNvSpPr txBox="1"/>
          <p:nvPr/>
        </p:nvSpPr>
        <p:spPr>
          <a:xfrm>
            <a:off x="8563642" y="2313367"/>
            <a:ext cx="3198220" cy="923330"/>
          </a:xfrm>
          <a:prstGeom prst="rect">
            <a:avLst/>
          </a:prstGeom>
          <a:solidFill>
            <a:srgbClr val="007FAA"/>
          </a:solidFill>
          <a:ln>
            <a:noFill/>
          </a:ln>
        </p:spPr>
        <p:txBody>
          <a:bodyPr wrap="square" rtlCol="0">
            <a:spAutoFit/>
          </a:bodyPr>
          <a:lstStyle/>
          <a:p>
            <a:r>
              <a:rPr lang="en-US" dirty="0">
                <a:solidFill>
                  <a:schemeClr val="bg1"/>
                </a:solidFill>
                <a:ea typeface="Amazon Ember" panose="020B0603020204020204" pitchFamily="34" charset="0"/>
                <a:cs typeface="Amazon Ember" panose="020B0603020204020204" pitchFamily="34" charset="0"/>
              </a:rPr>
              <a:t>Create a secondary (standby) database server and replicate the data.</a:t>
            </a:r>
          </a:p>
        </p:txBody>
      </p:sp>
      <p:sp>
        <p:nvSpPr>
          <p:cNvPr id="90" name="TextBox Callout 3"/>
          <p:cNvSpPr txBox="1"/>
          <p:nvPr/>
        </p:nvSpPr>
        <p:spPr>
          <a:xfrm>
            <a:off x="8567928" y="4446376"/>
            <a:ext cx="3198221" cy="923330"/>
          </a:xfrm>
          <a:prstGeom prst="rect">
            <a:avLst/>
          </a:prstGeom>
          <a:solidFill>
            <a:srgbClr val="007FAA"/>
          </a:solidFill>
          <a:ln>
            <a:noFill/>
          </a:ln>
        </p:spPr>
        <p:txBody>
          <a:bodyPr wrap="square" rtlCol="0">
            <a:spAutoFit/>
          </a:bodyPr>
          <a:lstStyle/>
          <a:p>
            <a:r>
              <a:rPr lang="en-US" dirty="0">
                <a:solidFill>
                  <a:schemeClr val="bg1"/>
                </a:solidFill>
                <a:ea typeface="Amazon Ember" panose="020B0603020204020204" pitchFamily="34" charset="0"/>
                <a:cs typeface="Amazon Ember" panose="020B0603020204020204" pitchFamily="34" charset="0"/>
              </a:rPr>
              <a:t>If the main database server goes offline, the secondary server picks up the load.</a:t>
            </a:r>
          </a:p>
        </p:txBody>
      </p:sp>
      <p:grpSp>
        <p:nvGrpSpPr>
          <p:cNvPr id="9" name="FlattenDiagram" descr="Diagram depicting use of a secondary database to avoid single point of failure. Refer to the notes for details.">
            <a:extLst>
              <a:ext uri="{FF2B5EF4-FFF2-40B4-BE49-F238E27FC236}">
                <a16:creationId xmlns:a16="http://schemas.microsoft.com/office/drawing/2014/main" id="{AE5E6215-2705-AE5D-9519-DA6647D140EC}"/>
              </a:ext>
            </a:extLst>
          </p:cNvPr>
          <p:cNvGrpSpPr/>
          <p:nvPr/>
        </p:nvGrpSpPr>
        <p:grpSpPr>
          <a:xfrm>
            <a:off x="612648" y="1950280"/>
            <a:ext cx="7803858" cy="4353464"/>
            <a:chOff x="612648" y="1950280"/>
            <a:chExt cx="7803858" cy="4353464"/>
          </a:xfrm>
        </p:grpSpPr>
        <p:sp>
          <p:nvSpPr>
            <p:cNvPr id="4" name="TextBox 3">
              <a:extLst>
                <a:ext uri="{FF2B5EF4-FFF2-40B4-BE49-F238E27FC236}">
                  <a16:creationId xmlns:a16="http://schemas.microsoft.com/office/drawing/2014/main" id="{D858D388-5B2C-4641-A003-7EDE34E5857B}"/>
                </a:ext>
                <a:ext uri="{C183D7F6-B498-43B3-948B-1728B52AA6E4}">
                  <adec:decorative xmlns:adec="http://schemas.microsoft.com/office/drawing/2017/decorative" val="1"/>
                </a:ext>
              </a:extLst>
            </p:cNvPr>
            <p:cNvSpPr txBox="1"/>
            <p:nvPr/>
          </p:nvSpPr>
          <p:spPr>
            <a:xfrm>
              <a:off x="614619" y="2311715"/>
              <a:ext cx="1763792" cy="646331"/>
            </a:xfrm>
            <a:prstGeom prst="rect">
              <a:avLst/>
            </a:prstGeom>
            <a:noFill/>
          </p:spPr>
          <p:txBody>
            <a:bodyPr wrap="square" rtlCol="0">
              <a:spAutoFit/>
            </a:bodyPr>
            <a:lstStyle/>
            <a:p>
              <a:r>
                <a:rPr lang="en-US" b="1" dirty="0">
                  <a:solidFill>
                    <a:srgbClr val="232F3E"/>
                  </a:solidFill>
                </a:rPr>
                <a:t>Under normal operations</a:t>
              </a:r>
            </a:p>
          </p:txBody>
        </p:sp>
        <p:sp>
          <p:nvSpPr>
            <p:cNvPr id="38" name="TextBox 37">
              <a:extLst>
                <a:ext uri="{FF2B5EF4-FFF2-40B4-BE49-F238E27FC236}">
                  <a16:creationId xmlns:a16="http://schemas.microsoft.com/office/drawing/2014/main" id="{AEC86378-5FC1-472A-8330-93CE7243A7E3}"/>
                </a:ext>
                <a:ext uri="{C183D7F6-B498-43B3-948B-1728B52AA6E4}">
                  <adec:decorative xmlns:adec="http://schemas.microsoft.com/office/drawing/2017/decorative" val="1"/>
                </a:ext>
              </a:extLst>
            </p:cNvPr>
            <p:cNvSpPr txBox="1"/>
            <p:nvPr/>
          </p:nvSpPr>
          <p:spPr>
            <a:xfrm>
              <a:off x="612648" y="4614531"/>
              <a:ext cx="1763792" cy="369332"/>
            </a:xfrm>
            <a:prstGeom prst="rect">
              <a:avLst/>
            </a:prstGeom>
            <a:noFill/>
          </p:spPr>
          <p:txBody>
            <a:bodyPr wrap="square" rtlCol="0">
              <a:spAutoFit/>
            </a:bodyPr>
            <a:lstStyle/>
            <a:p>
              <a:r>
                <a:rPr lang="en-US" b="1" dirty="0">
                  <a:solidFill>
                    <a:srgbClr val="232F3E"/>
                  </a:solidFill>
                </a:rPr>
                <a:t>Upon failure</a:t>
              </a:r>
            </a:p>
          </p:txBody>
        </p:sp>
        <p:grpSp>
          <p:nvGrpSpPr>
            <p:cNvPr id="57" name="Group 56" descr="Diagram depicting use of a secondary database to avoid single point of failure. Refer to the notes for details. ">
              <a:extLst>
                <a:ext uri="{FF2B5EF4-FFF2-40B4-BE49-F238E27FC236}">
                  <a16:creationId xmlns:a16="http://schemas.microsoft.com/office/drawing/2014/main" id="{27D11CD5-99A9-4D13-9471-52318E48DDD8}"/>
                </a:ext>
              </a:extLst>
            </p:cNvPr>
            <p:cNvGrpSpPr/>
            <p:nvPr/>
          </p:nvGrpSpPr>
          <p:grpSpPr>
            <a:xfrm>
              <a:off x="2417058" y="1950280"/>
              <a:ext cx="5999448" cy="4353464"/>
              <a:chOff x="2417058" y="1950280"/>
              <a:chExt cx="5999448" cy="4353464"/>
            </a:xfrm>
          </p:grpSpPr>
          <p:sp>
            <p:nvSpPr>
              <p:cNvPr id="17" name="TextBox 16">
                <a:extLst>
                  <a:ext uri="{C183D7F6-B498-43B3-948B-1728B52AA6E4}">
                    <adec:decorative xmlns:adec="http://schemas.microsoft.com/office/drawing/2017/decorative" val="1"/>
                  </a:ext>
                </a:extLst>
              </p:cNvPr>
              <p:cNvSpPr txBox="1"/>
              <p:nvPr/>
            </p:nvSpPr>
            <p:spPr>
              <a:xfrm>
                <a:off x="5568099" y="2163801"/>
                <a:ext cx="1677637" cy="338554"/>
              </a:xfrm>
              <a:prstGeom prst="rect">
                <a:avLst/>
              </a:prstGeom>
              <a:noFill/>
            </p:spPr>
            <p:txBody>
              <a:bodyPr wrap="square" rtlCol="0" anchor="b">
                <a:spAutoFit/>
              </a:bodyPr>
              <a:lstStyle/>
              <a:p>
                <a:pPr algn="ctr"/>
                <a:r>
                  <a:rPr lang="en-US" sz="1600" dirty="0">
                    <a:solidFill>
                      <a:srgbClr val="232F3E"/>
                    </a:solidFill>
                    <a:ea typeface="Amazon Ember" panose="020B0603020204020204" pitchFamily="34" charset="0"/>
                    <a:cs typeface="Amazon Ember" panose="020B0603020204020204" pitchFamily="34" charset="0"/>
                  </a:rPr>
                  <a:t>Replication</a:t>
                </a:r>
              </a:p>
            </p:txBody>
          </p:sp>
          <p:sp>
            <p:nvSpPr>
              <p:cNvPr id="32" name="TextBox 31">
                <a:extLst>
                  <a:ext uri="{C183D7F6-B498-43B3-948B-1728B52AA6E4}">
                    <adec:decorative xmlns:adec="http://schemas.microsoft.com/office/drawing/2017/decorative" val="1"/>
                  </a:ext>
                </a:extLst>
              </p:cNvPr>
              <p:cNvSpPr txBox="1"/>
              <p:nvPr/>
            </p:nvSpPr>
            <p:spPr>
              <a:xfrm>
                <a:off x="5399779" y="4876980"/>
                <a:ext cx="1677637" cy="338554"/>
              </a:xfrm>
              <a:prstGeom prst="rect">
                <a:avLst/>
              </a:prstGeom>
              <a:noFill/>
            </p:spPr>
            <p:txBody>
              <a:bodyPr wrap="square" rtlCol="0" anchor="b">
                <a:spAutoFit/>
              </a:bodyPr>
              <a:lstStyle/>
              <a:p>
                <a:pPr algn="r"/>
                <a:r>
                  <a:rPr lang="en-US" sz="1600" dirty="0">
                    <a:solidFill>
                      <a:srgbClr val="232F3E"/>
                    </a:solidFill>
                    <a:ea typeface="Amazon Ember" panose="020B0603020204020204" pitchFamily="34" charset="0"/>
                    <a:cs typeface="Amazon Ember" panose="020B0603020204020204" pitchFamily="34" charset="0"/>
                  </a:rPr>
                  <a:t>Replication</a:t>
                </a:r>
              </a:p>
            </p:txBody>
          </p:sp>
          <p:cxnSp>
            <p:nvCxnSpPr>
              <p:cNvPr id="58" name="Elbow Connector 57"/>
              <p:cNvCxnSpPr>
                <a:cxnSpLocks/>
                <a:stCxn id="42" idx="3"/>
                <a:endCxn id="52" idx="1"/>
              </p:cNvCxnSpPr>
              <p:nvPr/>
            </p:nvCxnSpPr>
            <p:spPr>
              <a:xfrm>
                <a:off x="3302601" y="4460814"/>
                <a:ext cx="1674882" cy="338383"/>
              </a:xfrm>
              <a:prstGeom prst="bentConnector3">
                <a:avLst>
                  <a:gd name="adj1" fmla="val 50000"/>
                </a:avLst>
              </a:prstGeom>
              <a:ln w="1905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55" name="Elbow Connector 54">
                <a:extLst>
                  <a:ext uri="{C183D7F6-B498-43B3-948B-1728B52AA6E4}">
                    <adec:decorative xmlns:adec="http://schemas.microsoft.com/office/drawing/2017/decorative" val="1"/>
                  </a:ext>
                </a:extLst>
              </p:cNvPr>
              <p:cNvCxnSpPr>
                <a:cxnSpLocks/>
                <a:stCxn id="43" idx="3"/>
                <a:endCxn id="52" idx="1"/>
              </p:cNvCxnSpPr>
              <p:nvPr/>
            </p:nvCxnSpPr>
            <p:spPr>
              <a:xfrm flipV="1">
                <a:off x="3302601" y="4799197"/>
                <a:ext cx="1674882" cy="327659"/>
              </a:xfrm>
              <a:prstGeom prst="bentConnector3">
                <a:avLst>
                  <a:gd name="adj1" fmla="val 50000"/>
                </a:avLst>
              </a:prstGeom>
              <a:ln w="19050">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5" name="TextBox 4">
                <a:extLst>
                  <a:ext uri="{C183D7F6-B498-43B3-948B-1728B52AA6E4}">
                    <adec:decorative xmlns:adec="http://schemas.microsoft.com/office/drawing/2017/decorative" val="1"/>
                  </a:ext>
                </a:extLst>
              </p:cNvPr>
              <p:cNvSpPr txBox="1"/>
              <p:nvPr/>
            </p:nvSpPr>
            <p:spPr>
              <a:xfrm>
                <a:off x="7070970" y="2818622"/>
                <a:ext cx="1344569" cy="738664"/>
              </a:xfrm>
              <a:prstGeom prst="rect">
                <a:avLst/>
              </a:prstGeom>
              <a:noFill/>
            </p:spPr>
            <p:txBody>
              <a:bodyPr wrap="square" lIns="0" tIns="0" rIns="0" bIns="0" rtlCol="0">
                <a:spAutoFit/>
              </a:bodyPr>
              <a:lstStyle/>
              <a:p>
                <a:pPr algn="ctr"/>
                <a:r>
                  <a:rPr lang="en-US" sz="1600" dirty="0">
                    <a:solidFill>
                      <a:srgbClr val="232F3E"/>
                    </a:solidFill>
                    <a:ea typeface="Amazon Ember" panose="020B0603020204020204" pitchFamily="34" charset="0"/>
                    <a:cs typeface="Amazon Ember" panose="020B0603020204020204" pitchFamily="34" charset="0"/>
                  </a:rPr>
                  <a:t>Database server (secondary)</a:t>
                </a:r>
              </a:p>
            </p:txBody>
          </p:sp>
          <p:sp>
            <p:nvSpPr>
              <p:cNvPr id="8" name="TextBox 7">
                <a:extLst>
                  <a:ext uri="{C183D7F6-B498-43B3-948B-1728B52AA6E4}">
                    <adec:decorative xmlns:adec="http://schemas.microsoft.com/office/drawing/2017/decorative" val="1"/>
                  </a:ext>
                </a:extLst>
              </p:cNvPr>
              <p:cNvSpPr txBox="1"/>
              <p:nvPr/>
            </p:nvSpPr>
            <p:spPr>
              <a:xfrm>
                <a:off x="2423902" y="3320240"/>
                <a:ext cx="1190164" cy="553998"/>
              </a:xfrm>
              <a:prstGeom prst="rect">
                <a:avLst/>
              </a:prstGeom>
              <a:noFill/>
            </p:spPr>
            <p:txBody>
              <a:bodyPr wrap="square" lIns="0" tIns="0" rIns="0" bIns="0" rtlCol="0">
                <a:spAutoFit/>
              </a:bodyPr>
              <a:lstStyle/>
              <a:p>
                <a:pPr algn="ctr"/>
                <a:r>
                  <a:rPr lang="en-US" dirty="0">
                    <a:solidFill>
                      <a:srgbClr val="232F3E"/>
                    </a:solidFill>
                    <a:ea typeface="Amazon Ember" panose="020B0603020204020204" pitchFamily="34" charset="0"/>
                    <a:cs typeface="Amazon Ember" panose="020B0603020204020204" pitchFamily="34" charset="0"/>
                  </a:rPr>
                  <a:t>Application servers</a:t>
                </a:r>
              </a:p>
            </p:txBody>
          </p:sp>
          <p:cxnSp>
            <p:nvCxnSpPr>
              <p:cNvPr id="11" name="Elbow Connector 10">
                <a:extLst>
                  <a:ext uri="{C183D7F6-B498-43B3-948B-1728B52AA6E4}">
                    <adec:decorative xmlns:adec="http://schemas.microsoft.com/office/drawing/2017/decorative" val="1"/>
                  </a:ext>
                </a:extLst>
              </p:cNvPr>
              <p:cNvCxnSpPr>
                <a:cxnSpLocks/>
                <a:stCxn id="41" idx="3"/>
                <a:endCxn id="49" idx="1"/>
              </p:cNvCxnSpPr>
              <p:nvPr/>
            </p:nvCxnSpPr>
            <p:spPr>
              <a:xfrm flipV="1">
                <a:off x="3302601" y="2534889"/>
                <a:ext cx="1672610" cy="354417"/>
              </a:xfrm>
              <a:prstGeom prst="bentConnector3">
                <a:avLst/>
              </a:prstGeom>
              <a:ln w="19050">
                <a:solidFill>
                  <a:srgbClr val="16966D"/>
                </a:solidFill>
              </a:ln>
              <a:effectLst/>
            </p:spPr>
            <p:style>
              <a:lnRef idx="2">
                <a:schemeClr val="accent1"/>
              </a:lnRef>
              <a:fillRef idx="0">
                <a:schemeClr val="accent1"/>
              </a:fillRef>
              <a:effectRef idx="1">
                <a:schemeClr val="accent1"/>
              </a:effectRef>
              <a:fontRef idx="minor">
                <a:schemeClr val="tx1"/>
              </a:fontRef>
            </p:style>
          </p:cxnSp>
          <p:cxnSp>
            <p:nvCxnSpPr>
              <p:cNvPr id="12" name="Elbow Connector 11"/>
              <p:cNvCxnSpPr>
                <a:cxnSpLocks/>
                <a:stCxn id="40" idx="3"/>
                <a:endCxn id="49" idx="1"/>
              </p:cNvCxnSpPr>
              <p:nvPr/>
            </p:nvCxnSpPr>
            <p:spPr>
              <a:xfrm>
                <a:off x="3302601" y="2233897"/>
                <a:ext cx="1672610" cy="300992"/>
              </a:xfrm>
              <a:prstGeom prst="bentConnector3">
                <a:avLst/>
              </a:prstGeom>
              <a:ln w="19050">
                <a:solidFill>
                  <a:srgbClr val="16966D"/>
                </a:solidFill>
              </a:ln>
              <a:effectLst/>
            </p:spPr>
            <p:style>
              <a:lnRef idx="2">
                <a:schemeClr val="accent1"/>
              </a:lnRef>
              <a:fillRef idx="0">
                <a:schemeClr val="accent1"/>
              </a:fillRef>
              <a:effectRef idx="1">
                <a:schemeClr val="accent1"/>
              </a:effectRef>
              <a:fontRef idx="minor">
                <a:schemeClr val="tx1"/>
              </a:fontRef>
            </p:style>
          </p:cxnSp>
          <p:sp>
            <p:nvSpPr>
              <p:cNvPr id="13" name="TextBox 12">
                <a:extLst>
                  <a:ext uri="{C183D7F6-B498-43B3-948B-1728B52AA6E4}">
                    <adec:decorative xmlns:adec="http://schemas.microsoft.com/office/drawing/2017/decorative" val="1"/>
                  </a:ext>
                </a:extLst>
              </p:cNvPr>
              <p:cNvSpPr txBox="1"/>
              <p:nvPr/>
            </p:nvSpPr>
            <p:spPr>
              <a:xfrm>
                <a:off x="4615079" y="2819500"/>
                <a:ext cx="1190164" cy="738664"/>
              </a:xfrm>
              <a:prstGeom prst="rect">
                <a:avLst/>
              </a:prstGeom>
              <a:noFill/>
            </p:spPr>
            <p:txBody>
              <a:bodyPr wrap="square" lIns="0" tIns="0" rIns="0" bIns="0" rtlCol="0">
                <a:spAutoFit/>
              </a:bodyPr>
              <a:lstStyle/>
              <a:p>
                <a:pPr algn="ctr"/>
                <a:r>
                  <a:rPr lang="en-US" sz="1600" dirty="0">
                    <a:solidFill>
                      <a:srgbClr val="232F3E"/>
                    </a:solidFill>
                    <a:ea typeface="Amazon Ember" panose="020B0603020204020204" pitchFamily="34" charset="0"/>
                    <a:cs typeface="Amazon Ember" panose="020B0603020204020204" pitchFamily="34" charset="0"/>
                  </a:rPr>
                  <a:t>Database server (primary)</a:t>
                </a:r>
              </a:p>
            </p:txBody>
          </p:sp>
          <p:sp>
            <p:nvSpPr>
              <p:cNvPr id="50" name="TextBox 49">
                <a:extLst>
                  <a:ext uri="{C183D7F6-B498-43B3-948B-1728B52AA6E4}">
                    <adec:decorative xmlns:adec="http://schemas.microsoft.com/office/drawing/2017/decorative" val="1"/>
                  </a:ext>
                </a:extLst>
              </p:cNvPr>
              <p:cNvSpPr txBox="1"/>
              <p:nvPr/>
            </p:nvSpPr>
            <p:spPr>
              <a:xfrm>
                <a:off x="2417058" y="5505734"/>
                <a:ext cx="1203853" cy="492443"/>
              </a:xfrm>
              <a:prstGeom prst="rect">
                <a:avLst/>
              </a:prstGeom>
              <a:noFill/>
            </p:spPr>
            <p:txBody>
              <a:bodyPr wrap="square" lIns="0" tIns="0" rIns="0" bIns="0" rtlCol="0">
                <a:spAutoFit/>
              </a:bodyPr>
              <a:lstStyle/>
              <a:p>
                <a:pPr algn="ctr"/>
                <a:r>
                  <a:rPr lang="en-US" sz="1600" dirty="0">
                    <a:solidFill>
                      <a:srgbClr val="232F3E"/>
                    </a:solidFill>
                    <a:ea typeface="Amazon Ember" panose="020B0603020204020204" pitchFamily="34" charset="0"/>
                    <a:cs typeface="Amazon Ember" panose="020B0603020204020204" pitchFamily="34" charset="0"/>
                  </a:rPr>
                  <a:t>Application servers</a:t>
                </a:r>
              </a:p>
            </p:txBody>
          </p:sp>
          <p:sp>
            <p:nvSpPr>
              <p:cNvPr id="48" name="TextBox 47">
                <a:extLst>
                  <a:ext uri="{C183D7F6-B498-43B3-948B-1728B52AA6E4}">
                    <adec:decorative xmlns:adec="http://schemas.microsoft.com/office/drawing/2017/decorative" val="1"/>
                  </a:ext>
                </a:extLst>
              </p:cNvPr>
              <p:cNvSpPr txBox="1"/>
              <p:nvPr/>
            </p:nvSpPr>
            <p:spPr>
              <a:xfrm>
                <a:off x="7070003" y="5318859"/>
                <a:ext cx="1346503" cy="738664"/>
              </a:xfrm>
              <a:prstGeom prst="rect">
                <a:avLst/>
              </a:prstGeom>
              <a:noFill/>
            </p:spPr>
            <p:txBody>
              <a:bodyPr wrap="square" lIns="0" tIns="0" rIns="0" bIns="0" rtlCol="0">
                <a:spAutoFit/>
              </a:bodyPr>
              <a:lstStyle/>
              <a:p>
                <a:pPr algn="ctr"/>
                <a:r>
                  <a:rPr lang="en-US" sz="1600" dirty="0">
                    <a:solidFill>
                      <a:srgbClr val="232F3E"/>
                    </a:solidFill>
                    <a:ea typeface="Amazon Ember" panose="020B0603020204020204" pitchFamily="34" charset="0"/>
                    <a:cs typeface="Amazon Ember" panose="020B0603020204020204" pitchFamily="34" charset="0"/>
                  </a:rPr>
                  <a:t>Database server (secondary)</a:t>
                </a:r>
              </a:p>
            </p:txBody>
          </p:sp>
          <p:sp>
            <p:nvSpPr>
              <p:cNvPr id="72" name="Down Arrow 71"/>
              <p:cNvSpPr/>
              <p:nvPr/>
            </p:nvSpPr>
            <p:spPr>
              <a:xfrm>
                <a:off x="5021991" y="3618526"/>
                <a:ext cx="376339" cy="468325"/>
              </a:xfrm>
              <a:prstGeom prst="downArrow">
                <a:avLst/>
              </a:prstGeom>
              <a:solidFill>
                <a:srgbClr val="232F3E"/>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232F3E"/>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40" name="Graphic 39">
                <a:extLst>
                  <a:ext uri="{FF2B5EF4-FFF2-40B4-BE49-F238E27FC236}">
                    <a16:creationId xmlns:a16="http://schemas.microsoft.com/office/drawing/2014/main" id="{2AC0BE99-54D9-48D3-8787-E2991EFFA4A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2735367" y="1950280"/>
                <a:ext cx="567234" cy="567234"/>
              </a:xfrm>
              <a:prstGeom prst="rect">
                <a:avLst/>
              </a:prstGeom>
            </p:spPr>
          </p:pic>
          <p:pic>
            <p:nvPicPr>
              <p:cNvPr id="41" name="Graphic 40">
                <a:extLst>
                  <a:ext uri="{FF2B5EF4-FFF2-40B4-BE49-F238E27FC236}">
                    <a16:creationId xmlns:a16="http://schemas.microsoft.com/office/drawing/2014/main" id="{97CF7319-3022-4B20-A4EF-12E2DAAB530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2735367" y="2605689"/>
                <a:ext cx="567234" cy="567234"/>
              </a:xfrm>
              <a:prstGeom prst="rect">
                <a:avLst/>
              </a:prstGeom>
            </p:spPr>
          </p:pic>
          <p:pic>
            <p:nvPicPr>
              <p:cNvPr id="42" name="Graphic 41">
                <a:extLst>
                  <a:ext uri="{FF2B5EF4-FFF2-40B4-BE49-F238E27FC236}">
                    <a16:creationId xmlns:a16="http://schemas.microsoft.com/office/drawing/2014/main" id="{8CE699B9-9D43-46C0-8F2B-2A2BB72CD3A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2735367" y="4177197"/>
                <a:ext cx="567234" cy="567234"/>
              </a:xfrm>
              <a:prstGeom prst="rect">
                <a:avLst/>
              </a:prstGeom>
            </p:spPr>
          </p:pic>
          <p:pic>
            <p:nvPicPr>
              <p:cNvPr id="43" name="Graphic 42">
                <a:extLst>
                  <a:ext uri="{FF2B5EF4-FFF2-40B4-BE49-F238E27FC236}">
                    <a16:creationId xmlns:a16="http://schemas.microsoft.com/office/drawing/2014/main" id="{1384DBF2-BA41-4C20-9178-10F13E571B5F}"/>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2735367" y="4843239"/>
                <a:ext cx="567234" cy="567234"/>
              </a:xfrm>
              <a:prstGeom prst="rect">
                <a:avLst/>
              </a:prstGeom>
            </p:spPr>
          </p:pic>
          <p:pic>
            <p:nvPicPr>
              <p:cNvPr id="49" name="Graphic 48">
                <a:extLst>
                  <a:ext uri="{FF2B5EF4-FFF2-40B4-BE49-F238E27FC236}">
                    <a16:creationId xmlns:a16="http://schemas.microsoft.com/office/drawing/2014/main" id="{E87D77AF-4B10-40B9-98D7-F73E4AF5FDB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75211" y="2299939"/>
                <a:ext cx="469900" cy="469900"/>
              </a:xfrm>
              <a:prstGeom prst="rect">
                <a:avLst/>
              </a:prstGeom>
            </p:spPr>
          </p:pic>
          <p:pic>
            <p:nvPicPr>
              <p:cNvPr id="51" name="Graphic 50">
                <a:extLst>
                  <a:ext uri="{FF2B5EF4-FFF2-40B4-BE49-F238E27FC236}">
                    <a16:creationId xmlns:a16="http://schemas.microsoft.com/office/drawing/2014/main" id="{EC835BAA-4DC9-470D-9B5D-0CCD2064808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08306" y="2299939"/>
                <a:ext cx="469900" cy="469900"/>
              </a:xfrm>
              <a:prstGeom prst="rect">
                <a:avLst/>
              </a:prstGeom>
            </p:spPr>
          </p:pic>
          <p:grpSp>
            <p:nvGrpSpPr>
              <p:cNvPr id="6" name="Group 5">
                <a:extLst>
                  <a:ext uri="{FF2B5EF4-FFF2-40B4-BE49-F238E27FC236}">
                    <a16:creationId xmlns:a16="http://schemas.microsoft.com/office/drawing/2014/main" id="{EA92A004-FBFC-44FF-B346-F86D217000B5}"/>
                  </a:ext>
                </a:extLst>
              </p:cNvPr>
              <p:cNvGrpSpPr/>
              <p:nvPr/>
            </p:nvGrpSpPr>
            <p:grpSpPr>
              <a:xfrm>
                <a:off x="4661412" y="4293022"/>
                <a:ext cx="1097853" cy="973595"/>
                <a:chOff x="3607023" y="4530282"/>
                <a:chExt cx="1097853" cy="973595"/>
              </a:xfrm>
            </p:grpSpPr>
            <p:sp>
              <p:nvSpPr>
                <p:cNvPr id="60" name="Multiply 59">
                  <a:extLst>
                    <a:ext uri="{C183D7F6-B498-43B3-948B-1728B52AA6E4}">
                      <adec:decorative xmlns:adec="http://schemas.microsoft.com/office/drawing/2017/decorative" val="1"/>
                    </a:ext>
                  </a:extLst>
                </p:cNvPr>
                <p:cNvSpPr/>
                <p:nvPr/>
              </p:nvSpPr>
              <p:spPr>
                <a:xfrm>
                  <a:off x="3607023" y="4530282"/>
                  <a:ext cx="1097853" cy="973595"/>
                </a:xfrm>
                <a:prstGeom prst="mathMultiply">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232F3E"/>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52" name="Graphic 51">
                  <a:extLst>
                    <a:ext uri="{FF2B5EF4-FFF2-40B4-BE49-F238E27FC236}">
                      <a16:creationId xmlns:a16="http://schemas.microsoft.com/office/drawing/2014/main" id="{4725998F-B0E9-4237-9514-DCE4E026B82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23094" y="4801507"/>
                  <a:ext cx="469900" cy="469900"/>
                </a:xfrm>
                <a:prstGeom prst="rect">
                  <a:avLst/>
                </a:prstGeom>
              </p:spPr>
            </p:pic>
          </p:grpSp>
          <p:pic>
            <p:nvPicPr>
              <p:cNvPr id="56" name="Graphic 55">
                <a:extLst>
                  <a:ext uri="{FF2B5EF4-FFF2-40B4-BE49-F238E27FC236}">
                    <a16:creationId xmlns:a16="http://schemas.microsoft.com/office/drawing/2014/main" id="{1463D2C3-E82B-4A5A-A92B-24DA49F6A25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10578" y="4564247"/>
                <a:ext cx="469900" cy="469900"/>
              </a:xfrm>
              <a:prstGeom prst="rect">
                <a:avLst/>
              </a:prstGeom>
            </p:spPr>
          </p:pic>
          <p:cxnSp>
            <p:nvCxnSpPr>
              <p:cNvPr id="22" name="Straight Arrow Connector 21">
                <a:extLst>
                  <a:ext uri="{FF2B5EF4-FFF2-40B4-BE49-F238E27FC236}">
                    <a16:creationId xmlns:a16="http://schemas.microsoft.com/office/drawing/2014/main" id="{1C3625B8-6C17-433A-9DF1-C1643B35ABD7}"/>
                  </a:ext>
                  <a:ext uri="{C183D7F6-B498-43B3-948B-1728B52AA6E4}">
                    <adec:decorative xmlns:adec="http://schemas.microsoft.com/office/drawing/2017/decorative" val="1"/>
                  </a:ext>
                </a:extLst>
              </p:cNvPr>
              <p:cNvCxnSpPr>
                <a:stCxn id="49" idx="3"/>
                <a:endCxn id="51" idx="1"/>
              </p:cNvCxnSpPr>
              <p:nvPr/>
            </p:nvCxnSpPr>
            <p:spPr>
              <a:xfrm>
                <a:off x="5445111" y="2534889"/>
                <a:ext cx="2063195" cy="0"/>
              </a:xfrm>
              <a:prstGeom prst="straightConnector1">
                <a:avLst/>
              </a:prstGeom>
              <a:ln w="19050">
                <a:solidFill>
                  <a:srgbClr val="232F3E"/>
                </a:solidFill>
                <a:prstDash val="sysDash"/>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8A33AC72-539C-454F-B3D9-3F9AE4A9368E}"/>
                  </a:ext>
                  <a:ext uri="{C183D7F6-B498-43B3-948B-1728B52AA6E4}">
                    <adec:decorative xmlns:adec="http://schemas.microsoft.com/office/drawing/2017/decorative" val="1"/>
                  </a:ext>
                </a:extLst>
              </p:cNvPr>
              <p:cNvSpPr txBox="1"/>
              <p:nvPr/>
            </p:nvSpPr>
            <p:spPr>
              <a:xfrm>
                <a:off x="4591220" y="5318859"/>
                <a:ext cx="1190164" cy="984885"/>
              </a:xfrm>
              <a:prstGeom prst="rect">
                <a:avLst/>
              </a:prstGeom>
              <a:noFill/>
            </p:spPr>
            <p:txBody>
              <a:bodyPr wrap="square" lIns="0" tIns="0" rIns="0" bIns="0" rtlCol="0">
                <a:spAutoFit/>
              </a:bodyPr>
              <a:lstStyle/>
              <a:p>
                <a:pPr algn="ctr"/>
                <a:r>
                  <a:rPr lang="en-US" sz="1600" dirty="0">
                    <a:solidFill>
                      <a:srgbClr val="232F3E"/>
                    </a:solidFill>
                    <a:ea typeface="Amazon Ember" panose="020B0603020204020204" pitchFamily="34" charset="0"/>
                    <a:cs typeface="Amazon Ember" panose="020B0603020204020204" pitchFamily="34" charset="0"/>
                  </a:rPr>
                  <a:t>Failed database server (primary)</a:t>
                </a:r>
              </a:p>
            </p:txBody>
          </p:sp>
          <p:cxnSp>
            <p:nvCxnSpPr>
              <p:cNvPr id="53" name="Straight Arrow Connector 52">
                <a:extLst>
                  <a:ext uri="{FF2B5EF4-FFF2-40B4-BE49-F238E27FC236}">
                    <a16:creationId xmlns:a16="http://schemas.microsoft.com/office/drawing/2014/main" id="{07567C5E-7D5E-4516-84B5-04B6EEA30610}"/>
                  </a:ext>
                  <a:ext uri="{C183D7F6-B498-43B3-948B-1728B52AA6E4}">
                    <adec:decorative xmlns:adec="http://schemas.microsoft.com/office/drawing/2017/decorative" val="1"/>
                  </a:ext>
                </a:extLst>
              </p:cNvPr>
              <p:cNvCxnSpPr>
                <a:cxnSpLocks/>
                <a:stCxn id="52" idx="3"/>
                <a:endCxn id="56" idx="1"/>
              </p:cNvCxnSpPr>
              <p:nvPr/>
            </p:nvCxnSpPr>
            <p:spPr>
              <a:xfrm>
                <a:off x="5447383" y="4799197"/>
                <a:ext cx="2063195" cy="0"/>
              </a:xfrm>
              <a:prstGeom prst="straightConnector1">
                <a:avLst/>
              </a:prstGeom>
              <a:ln w="19050">
                <a:solidFill>
                  <a:srgbClr val="232F3E"/>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44" name="Connector: Elbow 43">
                <a:extLst>
                  <a:ext uri="{FF2B5EF4-FFF2-40B4-BE49-F238E27FC236}">
                    <a16:creationId xmlns:a16="http://schemas.microsoft.com/office/drawing/2014/main" id="{BA9C2DCE-ECB8-4701-9946-41B638E682A3}"/>
                  </a:ext>
                  <a:ext uri="{C183D7F6-B498-43B3-948B-1728B52AA6E4}">
                    <adec:decorative xmlns:adec="http://schemas.microsoft.com/office/drawing/2017/decorative" val="1"/>
                  </a:ext>
                </a:extLst>
              </p:cNvPr>
              <p:cNvCxnSpPr>
                <a:cxnSpLocks/>
                <a:endCxn id="56" idx="0"/>
              </p:cNvCxnSpPr>
              <p:nvPr/>
            </p:nvCxnSpPr>
            <p:spPr>
              <a:xfrm>
                <a:off x="3302601" y="4315840"/>
                <a:ext cx="4442927" cy="248407"/>
              </a:xfrm>
              <a:prstGeom prst="bentConnector2">
                <a:avLst/>
              </a:prstGeom>
              <a:ln w="19050">
                <a:solidFill>
                  <a:srgbClr val="1C997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1CA2F4A2-02DD-424A-804E-BE0662613C20}"/>
                  </a:ext>
                  <a:ext uri="{C183D7F6-B498-43B3-948B-1728B52AA6E4}">
                    <adec:decorative xmlns:adec="http://schemas.microsoft.com/office/drawing/2017/decorative" val="1"/>
                  </a:ext>
                </a:extLst>
              </p:cNvPr>
              <p:cNvCxnSpPr>
                <a:cxnSpLocks/>
                <a:endCxn id="56" idx="2"/>
              </p:cNvCxnSpPr>
              <p:nvPr/>
            </p:nvCxnSpPr>
            <p:spPr>
              <a:xfrm flipV="1">
                <a:off x="3310055" y="5034147"/>
                <a:ext cx="4435473" cy="236044"/>
              </a:xfrm>
              <a:prstGeom prst="bentConnector2">
                <a:avLst/>
              </a:prstGeom>
              <a:ln w="19050">
                <a:solidFill>
                  <a:srgbClr val="1C9971"/>
                </a:solidFill>
                <a:tailEnd type="triangl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607235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3B64C039-8EFF-4ED5-80B0-33EFA1423C20}"/>
              </a:ext>
            </a:extLst>
          </p:cNvPr>
          <p:cNvSpPr>
            <a:spLocks noGrp="1"/>
          </p:cNvSpPr>
          <p:nvPr>
            <p:ph type="sldNum" idx="97"/>
          </p:nvPr>
        </p:nvSpPr>
        <p:spPr/>
        <p:txBody>
          <a:bodyPr/>
          <a:lstStyle/>
          <a:p>
            <a:fld id="{B6A95138-A96E-2F42-A959-2EFD44FE4AB7}" type="slidenum">
              <a:rPr lang="en-US" smtClean="0"/>
              <a:t>31</a:t>
            </a:fld>
            <a:endParaRPr lang="en-US" dirty="0"/>
          </a:p>
        </p:txBody>
      </p:sp>
      <p:sp>
        <p:nvSpPr>
          <p:cNvPr id="5" name="Title">
            <a:extLst>
              <a:ext uri="{FF2B5EF4-FFF2-40B4-BE49-F238E27FC236}">
                <a16:creationId xmlns:a16="http://schemas.microsoft.com/office/drawing/2014/main" id="{53A19DEB-7DCA-4BA4-B5D7-DDC92D990BAA}"/>
              </a:ext>
            </a:extLst>
          </p:cNvPr>
          <p:cNvSpPr>
            <a:spLocks noGrp="1"/>
          </p:cNvSpPr>
          <p:nvPr>
            <p:ph type="title" idx="1"/>
          </p:nvPr>
        </p:nvSpPr>
        <p:spPr/>
        <p:txBody>
          <a:bodyPr/>
          <a:lstStyle/>
          <a:p>
            <a:r>
              <a:rPr lang="en-US" dirty="0"/>
              <a:t>Optimizing for cost</a:t>
            </a:r>
          </a:p>
        </p:txBody>
      </p:sp>
      <p:sp>
        <p:nvSpPr>
          <p:cNvPr id="6" name="Content Placeholder 5">
            <a:extLst>
              <a:ext uri="{FF2B5EF4-FFF2-40B4-BE49-F238E27FC236}">
                <a16:creationId xmlns:a16="http://schemas.microsoft.com/office/drawing/2014/main" id="{3D2ACDD4-F476-4655-B36C-D5F853118475}"/>
              </a:ext>
            </a:extLst>
          </p:cNvPr>
          <p:cNvSpPr>
            <a:spLocks noGrp="1"/>
          </p:cNvSpPr>
          <p:nvPr>
            <p:ph type="body" idx="12"/>
          </p:nvPr>
        </p:nvSpPr>
        <p:spPr/>
        <p:txBody>
          <a:bodyPr>
            <a:noAutofit/>
          </a:bodyPr>
          <a:lstStyle/>
          <a:p>
            <a:r>
              <a:rPr lang="en-US" sz="2400" dirty="0"/>
              <a:t>Take advantage of the flexibility of AWS to increase your cost efficiency.</a:t>
            </a:r>
          </a:p>
        </p:txBody>
      </p:sp>
      <p:sp>
        <p:nvSpPr>
          <p:cNvPr id="7" name="Content Placeholder 6">
            <a:extLst>
              <a:ext uri="{FF2B5EF4-FFF2-40B4-BE49-F238E27FC236}">
                <a16:creationId xmlns:a16="http://schemas.microsoft.com/office/drawing/2014/main" id="{1E2E54FA-6609-48E5-B088-0DBD5DB5FF2D}"/>
              </a:ext>
            </a:extLst>
          </p:cNvPr>
          <p:cNvSpPr>
            <a:spLocks noGrp="1"/>
          </p:cNvSpPr>
          <p:nvPr>
            <p:ph idx="2"/>
          </p:nvPr>
        </p:nvSpPr>
        <p:spPr>
          <a:xfrm>
            <a:off x="365759" y="1563624"/>
            <a:ext cx="11460479" cy="3608540"/>
          </a:xfrm>
        </p:spPr>
        <p:txBody>
          <a:bodyPr>
            <a:normAutofit/>
          </a:bodyPr>
          <a:lstStyle/>
          <a:p>
            <a:pPr>
              <a:lnSpc>
                <a:spcPct val="100000"/>
              </a:lnSpc>
            </a:pPr>
            <a:r>
              <a:rPr lang="en-US" dirty="0"/>
              <a:t>Are my resources the right size and type for the job?</a:t>
            </a:r>
          </a:p>
          <a:p>
            <a:pPr>
              <a:lnSpc>
                <a:spcPct val="100000"/>
              </a:lnSpc>
            </a:pPr>
            <a:r>
              <a:rPr lang="en-US" dirty="0"/>
              <a:t>Which metrics should I monitor?</a:t>
            </a:r>
          </a:p>
          <a:p>
            <a:pPr>
              <a:lnSpc>
                <a:spcPct val="100000"/>
              </a:lnSpc>
            </a:pPr>
            <a:r>
              <a:rPr lang="en-US" dirty="0"/>
              <a:t>How do I turn off resources that are not in use?</a:t>
            </a:r>
          </a:p>
          <a:p>
            <a:r>
              <a:rPr lang="en-US" dirty="0"/>
              <a:t>How often will I need to use this resource?</a:t>
            </a:r>
          </a:p>
          <a:p>
            <a:r>
              <a:rPr lang="en-US" dirty="0"/>
              <a:t>Can I replace any of my servers with managed services?</a:t>
            </a:r>
          </a:p>
        </p:txBody>
      </p:sp>
    </p:spTree>
    <p:custDataLst>
      <p:tags r:id="rId1"/>
    </p:custDataLst>
    <p:extLst>
      <p:ext uri="{BB962C8B-B14F-4D97-AF65-F5344CB8AC3E}">
        <p14:creationId xmlns:p14="http://schemas.microsoft.com/office/powerpoint/2010/main" val="27379163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7B521AE0-0BC4-E812-59C0-B7E9DFAD0AEE}"/>
              </a:ext>
            </a:extLst>
          </p:cNvPr>
          <p:cNvSpPr>
            <a:spLocks noGrp="1"/>
          </p:cNvSpPr>
          <p:nvPr>
            <p:ph type="sldNum" idx="97"/>
          </p:nvPr>
        </p:nvSpPr>
        <p:spPr>
          <a:xfrm>
            <a:off x="11393982" y="6446520"/>
            <a:ext cx="438354" cy="228600"/>
          </a:xfrm>
        </p:spPr>
        <p:txBody>
          <a:bodyPr/>
          <a:lstStyle/>
          <a:p>
            <a:fld id="{B6A95138-A96E-2F42-A959-2EFD44FE4AB7}" type="slidenum">
              <a:rPr lang="en-US" smtClean="0"/>
              <a:t>32</a:t>
            </a:fld>
            <a:endParaRPr lang="en-US" dirty="0"/>
          </a:p>
        </p:txBody>
      </p:sp>
      <p:sp>
        <p:nvSpPr>
          <p:cNvPr id="40" name="Title"/>
          <p:cNvSpPr>
            <a:spLocks noGrp="1"/>
          </p:cNvSpPr>
          <p:nvPr>
            <p:ph type="title" idx="1"/>
          </p:nvPr>
        </p:nvSpPr>
        <p:spPr/>
        <p:txBody>
          <a:bodyPr>
            <a:noAutofit/>
          </a:bodyPr>
          <a:lstStyle/>
          <a:p>
            <a:r>
              <a:rPr lang="en-US" dirty="0"/>
              <a:t>Using caching</a:t>
            </a:r>
          </a:p>
        </p:txBody>
      </p:sp>
      <p:sp>
        <p:nvSpPr>
          <p:cNvPr id="2" name="Text Placeholder 1">
            <a:extLst>
              <a:ext uri="{FF2B5EF4-FFF2-40B4-BE49-F238E27FC236}">
                <a16:creationId xmlns:a16="http://schemas.microsoft.com/office/drawing/2014/main" id="{96C55729-311A-47BB-9AE0-708FFE4E91AE}"/>
              </a:ext>
            </a:extLst>
          </p:cNvPr>
          <p:cNvSpPr>
            <a:spLocks noGrp="1"/>
          </p:cNvSpPr>
          <p:nvPr>
            <p:ph type="body" idx="12"/>
          </p:nvPr>
        </p:nvSpPr>
        <p:spPr/>
        <p:txBody>
          <a:bodyPr/>
          <a:lstStyle/>
          <a:p>
            <a:r>
              <a:rPr lang="en-US" sz="2100" dirty="0"/>
              <a:t>Minimize redundant data retrieval operations, improving performance and cost.</a:t>
            </a:r>
          </a:p>
        </p:txBody>
      </p:sp>
      <p:grpSp>
        <p:nvGrpSpPr>
          <p:cNvPr id="6" name="FlattenCaching" descr="Illustration of how caching improves performance. Refer to the notes for details.">
            <a:extLst>
              <a:ext uri="{FF2B5EF4-FFF2-40B4-BE49-F238E27FC236}">
                <a16:creationId xmlns:a16="http://schemas.microsoft.com/office/drawing/2014/main" id="{E4D6DE98-8315-4D31-AFE2-738F53FB52D2}"/>
              </a:ext>
            </a:extLst>
          </p:cNvPr>
          <p:cNvGrpSpPr/>
          <p:nvPr/>
        </p:nvGrpSpPr>
        <p:grpSpPr>
          <a:xfrm>
            <a:off x="727648" y="1644189"/>
            <a:ext cx="10796919" cy="4754203"/>
            <a:chOff x="727648" y="1644189"/>
            <a:chExt cx="10796919" cy="4754203"/>
          </a:xfrm>
        </p:grpSpPr>
        <p:sp>
          <p:nvSpPr>
            <p:cNvPr id="60" name="TextBox 20">
              <a:extLst>
                <a:ext uri="{FF2B5EF4-FFF2-40B4-BE49-F238E27FC236}">
                  <a16:creationId xmlns:a16="http://schemas.microsoft.com/office/drawing/2014/main" id="{51995753-EED1-4C0F-BAB2-DACFD41F716D}"/>
                </a:ext>
                <a:ext uri="{C183D7F6-B498-43B3-948B-1728B52AA6E4}">
                  <adec:decorative xmlns:adec="http://schemas.microsoft.com/office/drawing/2017/decorative" val="1"/>
                </a:ext>
              </a:extLst>
            </p:cNvPr>
            <p:cNvSpPr txBox="1">
              <a:spLocks noChangeArrowheads="1"/>
            </p:cNvSpPr>
            <p:nvPr/>
          </p:nvSpPr>
          <p:spPr bwMode="auto">
            <a:xfrm>
              <a:off x="9967626" y="2958000"/>
              <a:ext cx="138007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defRPr sz="1600">
                  <a:cs typeface="Arial" panose="020B0604020202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ctr"/>
              <a:r>
                <a:rPr lang="en-US" altLang="en-US" dirty="0"/>
                <a:t>S3 bucket origin</a:t>
              </a:r>
            </a:p>
            <a:p>
              <a:pPr algn="ctr"/>
              <a:r>
                <a:rPr lang="en-US" altLang="en-US" dirty="0"/>
                <a:t>with dog</a:t>
              </a:r>
              <a:r>
                <a:rPr lang="en-US" altLang="en-US" dirty="0">
                  <a:solidFill>
                    <a:srgbClr val="FF0000"/>
                  </a:solidFill>
                </a:rPr>
                <a:t>.jpg</a:t>
              </a:r>
            </a:p>
          </p:txBody>
        </p:sp>
        <p:pic>
          <p:nvPicPr>
            <p:cNvPr id="61" name="Graphic 60">
              <a:extLst>
                <a:ext uri="{FF2B5EF4-FFF2-40B4-BE49-F238E27FC236}">
                  <a16:creationId xmlns:a16="http://schemas.microsoft.com/office/drawing/2014/main" id="{ABF759D9-AD09-4525-8959-352690C8B85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8619" y="2353309"/>
              <a:ext cx="608654" cy="608654"/>
            </a:xfrm>
            <a:prstGeom prst="rect">
              <a:avLst/>
            </a:prstGeom>
          </p:spPr>
        </p:pic>
        <p:sp>
          <p:nvSpPr>
            <p:cNvPr id="62" name="Rectangle 61">
              <a:extLst>
                <a:ext uri="{FF2B5EF4-FFF2-40B4-BE49-F238E27FC236}">
                  <a16:creationId xmlns:a16="http://schemas.microsoft.com/office/drawing/2014/main" id="{F9F47099-640E-450A-B304-025C8E5B8860}"/>
                </a:ext>
                <a:ext uri="{C183D7F6-B498-43B3-948B-1728B52AA6E4}">
                  <adec:decorative xmlns:adec="http://schemas.microsoft.com/office/drawing/2017/decorative" val="1"/>
                </a:ext>
              </a:extLst>
            </p:cNvPr>
            <p:cNvSpPr/>
            <p:nvPr/>
          </p:nvSpPr>
          <p:spPr>
            <a:xfrm>
              <a:off x="9842401" y="2025490"/>
              <a:ext cx="1541091" cy="1763507"/>
            </a:xfrm>
            <a:prstGeom prst="rect">
              <a:avLst/>
            </a:prstGeom>
            <a:noFill/>
            <a:ln w="15875">
              <a:solidFill>
                <a:srgbClr val="00A4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endParaRPr lang="en-US" sz="1600" dirty="0">
                <a:solidFill>
                  <a:schemeClr val="tx1"/>
                </a:solidFill>
                <a:cs typeface="Arial" panose="020B0604020202020204" pitchFamily="34" charset="0"/>
              </a:endParaRPr>
            </a:p>
          </p:txBody>
        </p:sp>
        <p:pic>
          <p:nvPicPr>
            <p:cNvPr id="63" name="Graphic 62">
              <a:extLst>
                <a:ext uri="{FF2B5EF4-FFF2-40B4-BE49-F238E27FC236}">
                  <a16:creationId xmlns:a16="http://schemas.microsoft.com/office/drawing/2014/main" id="{FE7E6163-530F-427F-8B88-A5FDB74A103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840157" y="2024338"/>
              <a:ext cx="381000" cy="381000"/>
            </a:xfrm>
            <a:prstGeom prst="rect">
              <a:avLst/>
            </a:prstGeom>
          </p:spPr>
        </p:pic>
        <p:sp>
          <p:nvSpPr>
            <p:cNvPr id="27" name="TextBox 22">
              <a:extLst>
                <a:ext uri="{FF2B5EF4-FFF2-40B4-BE49-F238E27FC236}">
                  <a16:creationId xmlns:a16="http://schemas.microsoft.com/office/drawing/2014/main" id="{CC06CF05-94BC-43F5-81F9-6B37A96C52F8}"/>
                </a:ext>
                <a:ext uri="{C183D7F6-B498-43B3-948B-1728B52AA6E4}">
                  <adec:decorative xmlns:adec="http://schemas.microsoft.com/office/drawing/2017/decorative" val="1"/>
                </a:ext>
              </a:extLst>
            </p:cNvPr>
            <p:cNvSpPr txBox="1">
              <a:spLocks noChangeArrowheads="1"/>
            </p:cNvSpPr>
            <p:nvPr/>
          </p:nvSpPr>
          <p:spPr bwMode="auto">
            <a:xfrm>
              <a:off x="7166875" y="2914184"/>
              <a:ext cx="154109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defRPr/>
              </a:pPr>
              <a:r>
                <a:rPr lang="en-US" altLang="en-US" sz="1600" dirty="0">
                  <a:solidFill>
                    <a:srgbClr val="232F3E"/>
                  </a:solidFill>
                  <a:latin typeface="+mn-lt"/>
                  <a:cs typeface="Arial" panose="020B0604020202020204" pitchFamily="34" charset="0"/>
                </a:rPr>
                <a:t>Edge node</a:t>
              </a:r>
            </a:p>
          </p:txBody>
        </p:sp>
        <p:pic>
          <p:nvPicPr>
            <p:cNvPr id="28" name="Graphic 27">
              <a:extLst>
                <a:ext uri="{FF2B5EF4-FFF2-40B4-BE49-F238E27FC236}">
                  <a16:creationId xmlns:a16="http://schemas.microsoft.com/office/drawing/2014/main" id="{AFA5A987-1F88-4858-90C0-AAEED0D96262}"/>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08820" y="2482433"/>
              <a:ext cx="457200" cy="457200"/>
            </a:xfrm>
            <a:prstGeom prst="rect">
              <a:avLst/>
            </a:prstGeom>
          </p:spPr>
        </p:pic>
        <p:sp>
          <p:nvSpPr>
            <p:cNvPr id="29" name="Rectangle 28">
              <a:extLst>
                <a:ext uri="{FF2B5EF4-FFF2-40B4-BE49-F238E27FC236}">
                  <a16:creationId xmlns:a16="http://schemas.microsoft.com/office/drawing/2014/main" id="{F4901C5D-1C29-4437-A11E-71FF94FFB15B}"/>
                </a:ext>
                <a:ext uri="{C183D7F6-B498-43B3-948B-1728B52AA6E4}">
                  <adec:decorative xmlns:adec="http://schemas.microsoft.com/office/drawing/2017/decorative" val="1"/>
                </a:ext>
              </a:extLst>
            </p:cNvPr>
            <p:cNvSpPr/>
            <p:nvPr/>
          </p:nvSpPr>
          <p:spPr>
            <a:xfrm>
              <a:off x="6198918" y="1644190"/>
              <a:ext cx="5325649" cy="229383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solidFill>
                    <a:srgbClr val="232F3E"/>
                  </a:solidFill>
                  <a:cs typeface="Arial" panose="020B0604020202020204" pitchFamily="34" charset="0"/>
                </a:rPr>
                <a:t>AWS Cloud</a:t>
              </a:r>
            </a:p>
          </p:txBody>
        </p:sp>
        <p:pic>
          <p:nvPicPr>
            <p:cNvPr id="30" name="Graphic 29">
              <a:extLst>
                <a:ext uri="{FF2B5EF4-FFF2-40B4-BE49-F238E27FC236}">
                  <a16:creationId xmlns:a16="http://schemas.microsoft.com/office/drawing/2014/main" id="{2C5F35B2-9F00-4DFB-969F-7D64D8DC2F7A}"/>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6198919" y="1644189"/>
              <a:ext cx="381000" cy="381000"/>
            </a:xfrm>
            <a:prstGeom prst="rect">
              <a:avLst/>
            </a:prstGeom>
          </p:spPr>
        </p:pic>
        <p:cxnSp>
          <p:nvCxnSpPr>
            <p:cNvPr id="32" name="Straight Arrow Connector 31">
              <a:extLst>
                <a:ext uri="{FF2B5EF4-FFF2-40B4-BE49-F238E27FC236}">
                  <a16:creationId xmlns:a16="http://schemas.microsoft.com/office/drawing/2014/main" id="{773C3B59-05B0-485B-B4A2-9E732F93FB7C}"/>
                </a:ext>
                <a:ext uri="{C183D7F6-B498-43B3-948B-1728B52AA6E4}">
                  <adec:decorative xmlns:adec="http://schemas.microsoft.com/office/drawing/2017/decorative" val="1"/>
                </a:ext>
              </a:extLst>
            </p:cNvPr>
            <p:cNvCxnSpPr>
              <a:cxnSpLocks/>
            </p:cNvCxnSpPr>
            <p:nvPr/>
          </p:nvCxnSpPr>
          <p:spPr>
            <a:xfrm flipV="1">
              <a:off x="8181463" y="2647842"/>
              <a:ext cx="2155838" cy="1"/>
            </a:xfrm>
            <a:prstGeom prst="straightConnector1">
              <a:avLst/>
            </a:prstGeom>
            <a:ln w="19050">
              <a:solidFill>
                <a:srgbClr val="232F3E"/>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6CFC9B7-96CA-43FA-9A7C-8801EAB3A4B4}"/>
                </a:ext>
                <a:ext uri="{C183D7F6-B498-43B3-948B-1728B52AA6E4}">
                  <adec:decorative xmlns:adec="http://schemas.microsoft.com/office/drawing/2017/decorative" val="1"/>
                </a:ext>
              </a:extLst>
            </p:cNvPr>
            <p:cNvCxnSpPr>
              <a:cxnSpLocks/>
            </p:cNvCxnSpPr>
            <p:nvPr/>
          </p:nvCxnSpPr>
          <p:spPr>
            <a:xfrm>
              <a:off x="8157399" y="2782545"/>
              <a:ext cx="2155838" cy="0"/>
            </a:xfrm>
            <a:prstGeom prst="straightConnector1">
              <a:avLst/>
            </a:prstGeom>
            <a:ln w="19050">
              <a:solidFill>
                <a:srgbClr val="232F3E"/>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8E931474-FFD9-4268-AFEA-E79563387FAE}"/>
                </a:ext>
                <a:ext uri="{C183D7F6-B498-43B3-948B-1728B52AA6E4}">
                  <adec:decorative xmlns:adec="http://schemas.microsoft.com/office/drawing/2017/decorative" val="1"/>
                </a:ext>
              </a:extLst>
            </p:cNvPr>
            <p:cNvSpPr/>
            <p:nvPr/>
          </p:nvSpPr>
          <p:spPr>
            <a:xfrm>
              <a:off x="6665105" y="2025490"/>
              <a:ext cx="2544630" cy="1753139"/>
            </a:xfrm>
            <a:prstGeom prst="rect">
              <a:avLst/>
            </a:prstGeom>
            <a:noFill/>
            <a:ln w="15875">
              <a:solidFill>
                <a:srgbClr val="8C4FFF"/>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endParaRPr lang="en-US" sz="1600" dirty="0">
                <a:solidFill>
                  <a:schemeClr val="tx1"/>
                </a:solidFill>
                <a:cs typeface="Arial" panose="020B0604020202020204" pitchFamily="34" charset="0"/>
              </a:endParaRPr>
            </a:p>
          </p:txBody>
        </p:sp>
        <p:pic>
          <p:nvPicPr>
            <p:cNvPr id="46" name="Graphic 45">
              <a:extLst>
                <a:ext uri="{FF2B5EF4-FFF2-40B4-BE49-F238E27FC236}">
                  <a16:creationId xmlns:a16="http://schemas.microsoft.com/office/drawing/2014/main" id="{40C0FEAD-11EA-4EE9-907F-A8363691805E}"/>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654104" y="2079531"/>
              <a:ext cx="976156" cy="976156"/>
            </a:xfrm>
            <a:prstGeom prst="rect">
              <a:avLst/>
            </a:prstGeom>
          </p:spPr>
        </p:pic>
        <p:pic>
          <p:nvPicPr>
            <p:cNvPr id="47" name="Graphic 46">
              <a:extLst>
                <a:ext uri="{FF2B5EF4-FFF2-40B4-BE49-F238E27FC236}">
                  <a16:creationId xmlns:a16="http://schemas.microsoft.com/office/drawing/2014/main" id="{BC8DA9EE-B5EC-4707-A480-45DF562020FA}"/>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646530" y="2356318"/>
              <a:ext cx="817795" cy="817795"/>
            </a:xfrm>
            <a:prstGeom prst="rect">
              <a:avLst/>
            </a:prstGeom>
          </p:spPr>
        </p:pic>
        <p:cxnSp>
          <p:nvCxnSpPr>
            <p:cNvPr id="54" name="Straight Arrow Connector 53">
              <a:extLst>
                <a:ext uri="{FF2B5EF4-FFF2-40B4-BE49-F238E27FC236}">
                  <a16:creationId xmlns:a16="http://schemas.microsoft.com/office/drawing/2014/main" id="{B7F954A0-02CE-48C0-8528-2D8A7F9C6CA2}"/>
                </a:ext>
                <a:ext uri="{C183D7F6-B498-43B3-948B-1728B52AA6E4}">
                  <adec:decorative xmlns:adec="http://schemas.microsoft.com/office/drawing/2017/decorative" val="1"/>
                </a:ext>
              </a:extLst>
            </p:cNvPr>
            <p:cNvCxnSpPr>
              <a:cxnSpLocks/>
            </p:cNvCxnSpPr>
            <p:nvPr/>
          </p:nvCxnSpPr>
          <p:spPr>
            <a:xfrm>
              <a:off x="5640207" y="2647842"/>
              <a:ext cx="1981177" cy="0"/>
            </a:xfrm>
            <a:prstGeom prst="straightConnector1">
              <a:avLst/>
            </a:prstGeom>
            <a:ln w="19050">
              <a:solidFill>
                <a:srgbClr val="232F3E"/>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A45D8DAB-C677-4CF9-978F-E12D75AA0910}"/>
                </a:ext>
                <a:ext uri="{C183D7F6-B498-43B3-948B-1728B52AA6E4}">
                  <adec:decorative xmlns:adec="http://schemas.microsoft.com/office/drawing/2017/decorative" val="1"/>
                </a:ext>
              </a:extLst>
            </p:cNvPr>
            <p:cNvCxnSpPr>
              <a:cxnSpLocks/>
            </p:cNvCxnSpPr>
            <p:nvPr/>
          </p:nvCxnSpPr>
          <p:spPr>
            <a:xfrm>
              <a:off x="5614795" y="2782545"/>
              <a:ext cx="2003848" cy="0"/>
            </a:xfrm>
            <a:prstGeom prst="straightConnector1">
              <a:avLst/>
            </a:prstGeom>
            <a:ln w="19050">
              <a:solidFill>
                <a:srgbClr val="232F3E"/>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562874D0-BE10-4825-9489-125A6433A452}"/>
                </a:ext>
                <a:ext uri="{C183D7F6-B498-43B3-948B-1728B52AA6E4}">
                  <adec:decorative xmlns:adec="http://schemas.microsoft.com/office/drawing/2017/decorative" val="1"/>
                </a:ext>
              </a:extLst>
            </p:cNvPr>
            <p:cNvCxnSpPr>
              <a:cxnSpLocks/>
            </p:cNvCxnSpPr>
            <p:nvPr/>
          </p:nvCxnSpPr>
          <p:spPr>
            <a:xfrm>
              <a:off x="3491797" y="2647842"/>
              <a:ext cx="1168320" cy="0"/>
            </a:xfrm>
            <a:prstGeom prst="straightConnector1">
              <a:avLst/>
            </a:prstGeom>
            <a:ln w="19050">
              <a:solidFill>
                <a:srgbClr val="232F3E"/>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3D05076C-88CA-4C43-BA26-03D7C9B4512C}"/>
                </a:ext>
                <a:ext uri="{C183D7F6-B498-43B3-948B-1728B52AA6E4}">
                  <adec:decorative xmlns:adec="http://schemas.microsoft.com/office/drawing/2017/decorative" val="1"/>
                </a:ext>
              </a:extLst>
            </p:cNvPr>
            <p:cNvCxnSpPr>
              <a:cxnSpLocks/>
            </p:cNvCxnSpPr>
            <p:nvPr/>
          </p:nvCxnSpPr>
          <p:spPr>
            <a:xfrm>
              <a:off x="3447648" y="2782545"/>
              <a:ext cx="1190991" cy="0"/>
            </a:xfrm>
            <a:prstGeom prst="straightConnector1">
              <a:avLst/>
            </a:prstGeom>
            <a:ln w="19050">
              <a:solidFill>
                <a:srgbClr val="232F3E"/>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58" name="TextBox 22">
              <a:extLst>
                <a:ext uri="{FF2B5EF4-FFF2-40B4-BE49-F238E27FC236}">
                  <a16:creationId xmlns:a16="http://schemas.microsoft.com/office/drawing/2014/main" id="{D68CD3B3-7882-4FE3-B3D9-56E37BA3A301}"/>
                </a:ext>
                <a:ext uri="{C183D7F6-B498-43B3-948B-1728B52AA6E4}">
                  <adec:decorative xmlns:adec="http://schemas.microsoft.com/office/drawing/2017/decorative" val="1"/>
                </a:ext>
              </a:extLst>
            </p:cNvPr>
            <p:cNvSpPr txBox="1">
              <a:spLocks noChangeArrowheads="1"/>
            </p:cNvSpPr>
            <p:nvPr/>
          </p:nvSpPr>
          <p:spPr bwMode="auto">
            <a:xfrm>
              <a:off x="4336613" y="2973617"/>
              <a:ext cx="16111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defRPr/>
              </a:pPr>
              <a:r>
                <a:rPr lang="en-US" altLang="en-US" sz="1600" dirty="0">
                  <a:solidFill>
                    <a:srgbClr val="232F3E"/>
                  </a:solidFill>
                  <a:latin typeface="+mn-lt"/>
                  <a:cs typeface="Arial" panose="020B0604020202020204" pitchFamily="34" charset="0"/>
                </a:rPr>
                <a:t>Internet</a:t>
              </a:r>
            </a:p>
          </p:txBody>
        </p:sp>
        <p:sp>
          <p:nvSpPr>
            <p:cNvPr id="59" name="TextBox 22">
              <a:extLst>
                <a:ext uri="{FF2B5EF4-FFF2-40B4-BE49-F238E27FC236}">
                  <a16:creationId xmlns:a16="http://schemas.microsoft.com/office/drawing/2014/main" id="{57150A2E-066F-4D72-B252-70422051819C}"/>
                </a:ext>
                <a:ext uri="{C183D7F6-B498-43B3-948B-1728B52AA6E4}">
                  <adec:decorative xmlns:adec="http://schemas.microsoft.com/office/drawing/2017/decorative" val="1"/>
                </a:ext>
              </a:extLst>
            </p:cNvPr>
            <p:cNvSpPr txBox="1">
              <a:spLocks noChangeArrowheads="1"/>
            </p:cNvSpPr>
            <p:nvPr/>
          </p:nvSpPr>
          <p:spPr bwMode="auto">
            <a:xfrm>
              <a:off x="2629020" y="3130236"/>
              <a:ext cx="81779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defRPr/>
              </a:pPr>
              <a:r>
                <a:rPr lang="en-US" altLang="en-US" sz="1600" dirty="0">
                  <a:solidFill>
                    <a:srgbClr val="232F3E"/>
                  </a:solidFill>
                  <a:latin typeface="+mn-lt"/>
                  <a:cs typeface="Arial" panose="020B0604020202020204" pitchFamily="34" charset="0"/>
                </a:rPr>
                <a:t>User</a:t>
              </a:r>
            </a:p>
          </p:txBody>
        </p:sp>
        <p:sp>
          <p:nvSpPr>
            <p:cNvPr id="37" name="Rectangle 36">
              <a:extLst>
                <a:ext uri="{FF2B5EF4-FFF2-40B4-BE49-F238E27FC236}">
                  <a16:creationId xmlns:a16="http://schemas.microsoft.com/office/drawing/2014/main" id="{115BB9DD-DB98-488F-8AC7-D63DBC7B7617}"/>
                </a:ext>
                <a:ext uri="{C183D7F6-B498-43B3-948B-1728B52AA6E4}">
                  <adec:decorative xmlns:adec="http://schemas.microsoft.com/office/drawing/2017/decorative" val="1"/>
                </a:ext>
              </a:extLst>
            </p:cNvPr>
            <p:cNvSpPr/>
            <p:nvPr/>
          </p:nvSpPr>
          <p:spPr>
            <a:xfrm>
              <a:off x="7132779" y="2018996"/>
              <a:ext cx="2040943" cy="338554"/>
            </a:xfrm>
            <a:prstGeom prst="rect">
              <a:avLst/>
            </a:prstGeom>
          </p:spPr>
          <p:txBody>
            <a:bodyPr wrap="none">
              <a:spAutoFit/>
            </a:bodyPr>
            <a:lstStyle/>
            <a:p>
              <a:pPr>
                <a:defRPr/>
              </a:pPr>
              <a:r>
                <a:rPr lang="en-US" sz="1600" dirty="0">
                  <a:solidFill>
                    <a:srgbClr val="232F3E"/>
                  </a:solidFill>
                  <a:cs typeface="Arial" panose="020B0604020202020204" pitchFamily="34" charset="0"/>
                </a:rPr>
                <a:t>Amazon CloudFront</a:t>
              </a:r>
            </a:p>
          </p:txBody>
        </p:sp>
        <p:pic>
          <p:nvPicPr>
            <p:cNvPr id="64" name="Graphic 19">
              <a:extLst>
                <a:ext uri="{FF2B5EF4-FFF2-40B4-BE49-F238E27FC236}">
                  <a16:creationId xmlns:a16="http://schemas.microsoft.com/office/drawing/2014/main" id="{E4C1BF7D-8A1C-44EA-88A1-0ECD17875E86}"/>
                </a:ext>
                <a:ext uri="{C183D7F6-B498-43B3-948B-1728B52AA6E4}">
                  <adec:decorative xmlns:adec="http://schemas.microsoft.com/office/drawing/2017/decorative" val="1"/>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6669311" y="2020436"/>
              <a:ext cx="389219" cy="389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Rectangle 64">
              <a:extLst>
                <a:ext uri="{FF2B5EF4-FFF2-40B4-BE49-F238E27FC236}">
                  <a16:creationId xmlns:a16="http://schemas.microsoft.com/office/drawing/2014/main" id="{F37319E8-0DF9-4BDF-A438-242D6E4D492F}"/>
                </a:ext>
                <a:ext uri="{C183D7F6-B498-43B3-948B-1728B52AA6E4}">
                  <adec:decorative xmlns:adec="http://schemas.microsoft.com/office/drawing/2017/decorative" val="1"/>
                </a:ext>
              </a:extLst>
            </p:cNvPr>
            <p:cNvSpPr/>
            <p:nvPr/>
          </p:nvSpPr>
          <p:spPr>
            <a:xfrm>
              <a:off x="10337301" y="2025490"/>
              <a:ext cx="829073" cy="338554"/>
            </a:xfrm>
            <a:prstGeom prst="rect">
              <a:avLst/>
            </a:prstGeom>
          </p:spPr>
          <p:txBody>
            <a:bodyPr wrap="none">
              <a:spAutoFit/>
            </a:bodyPr>
            <a:lstStyle/>
            <a:p>
              <a:pPr>
                <a:defRPr/>
              </a:pPr>
              <a:r>
                <a:rPr lang="en-US" sz="1600" dirty="0">
                  <a:solidFill>
                    <a:srgbClr val="232F3E"/>
                  </a:solidFill>
                  <a:cs typeface="Arial" panose="020B0604020202020204" pitchFamily="34" charset="0"/>
                </a:rPr>
                <a:t>Region</a:t>
              </a:r>
            </a:p>
          </p:txBody>
        </p:sp>
        <p:sp>
          <p:nvSpPr>
            <p:cNvPr id="15" name="TextBox 14">
              <a:extLst>
                <a:ext uri="{FF2B5EF4-FFF2-40B4-BE49-F238E27FC236}">
                  <a16:creationId xmlns:a16="http://schemas.microsoft.com/office/drawing/2014/main" id="{81F1F226-0B19-4B95-84D8-E854916A20B7}"/>
                </a:ext>
                <a:ext uri="{C183D7F6-B498-43B3-948B-1728B52AA6E4}">
                  <adec:decorative xmlns:adec="http://schemas.microsoft.com/office/drawing/2017/decorative" val="1"/>
                </a:ext>
              </a:extLst>
            </p:cNvPr>
            <p:cNvSpPr txBox="1"/>
            <p:nvPr/>
          </p:nvSpPr>
          <p:spPr>
            <a:xfrm>
              <a:off x="727648" y="2470128"/>
              <a:ext cx="1825675" cy="369332"/>
            </a:xfrm>
            <a:prstGeom prst="rect">
              <a:avLst/>
            </a:prstGeom>
            <a:noFill/>
          </p:spPr>
          <p:txBody>
            <a:bodyPr wrap="square" rtlCol="0">
              <a:spAutoFit/>
            </a:bodyPr>
            <a:lstStyle/>
            <a:p>
              <a:r>
                <a:rPr lang="en-US" dirty="0">
                  <a:solidFill>
                    <a:srgbClr val="232F3E"/>
                  </a:solidFill>
                </a:rPr>
                <a:t>First request</a:t>
              </a:r>
            </a:p>
          </p:txBody>
        </p:sp>
        <p:sp>
          <p:nvSpPr>
            <p:cNvPr id="95" name="TextBox 20">
              <a:extLst>
                <a:ext uri="{FF2B5EF4-FFF2-40B4-BE49-F238E27FC236}">
                  <a16:creationId xmlns:a16="http://schemas.microsoft.com/office/drawing/2014/main" id="{E1821D4F-B1D2-4DE1-9237-E5D0F04949CE}"/>
                </a:ext>
                <a:ext uri="{C183D7F6-B498-43B3-948B-1728B52AA6E4}">
                  <adec:decorative xmlns:adec="http://schemas.microsoft.com/office/drawing/2017/decorative" val="1"/>
                </a:ext>
              </a:extLst>
            </p:cNvPr>
            <p:cNvSpPr txBox="1">
              <a:spLocks noChangeArrowheads="1"/>
            </p:cNvSpPr>
            <p:nvPr/>
          </p:nvSpPr>
          <p:spPr bwMode="auto">
            <a:xfrm>
              <a:off x="9913838" y="5372854"/>
              <a:ext cx="141586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defRPr sz="1600">
                  <a:cs typeface="Arial" panose="020B0604020202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ctr"/>
              <a:r>
                <a:rPr lang="en-US" altLang="en-US" dirty="0">
                  <a:solidFill>
                    <a:srgbClr val="232F3E"/>
                  </a:solidFill>
                </a:rPr>
                <a:t>S3 bucket origin</a:t>
              </a:r>
            </a:p>
            <a:p>
              <a:pPr algn="ctr"/>
              <a:r>
                <a:rPr lang="en-US" altLang="en-US" dirty="0">
                  <a:solidFill>
                    <a:srgbClr val="232F3E"/>
                  </a:solidFill>
                </a:rPr>
                <a:t>with </a:t>
              </a:r>
              <a:r>
                <a:rPr lang="en-US" altLang="en-US" dirty="0">
                  <a:solidFill>
                    <a:srgbClr val="FF0000"/>
                  </a:solidFill>
                </a:rPr>
                <a:t>dog.jpg</a:t>
              </a:r>
            </a:p>
          </p:txBody>
        </p:sp>
        <p:pic>
          <p:nvPicPr>
            <p:cNvPr id="96" name="Graphic 95">
              <a:extLst>
                <a:ext uri="{FF2B5EF4-FFF2-40B4-BE49-F238E27FC236}">
                  <a16:creationId xmlns:a16="http://schemas.microsoft.com/office/drawing/2014/main" id="{D79DBD5D-3CF9-467B-B44B-175FADFCAAB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8619" y="4768163"/>
              <a:ext cx="608654" cy="608654"/>
            </a:xfrm>
            <a:prstGeom prst="rect">
              <a:avLst/>
            </a:prstGeom>
          </p:spPr>
        </p:pic>
        <p:sp>
          <p:nvSpPr>
            <p:cNvPr id="97" name="Rectangle 96">
              <a:extLst>
                <a:ext uri="{FF2B5EF4-FFF2-40B4-BE49-F238E27FC236}">
                  <a16:creationId xmlns:a16="http://schemas.microsoft.com/office/drawing/2014/main" id="{A4DF080B-03CE-4869-BE0F-814EEF989D1E}"/>
                </a:ext>
                <a:ext uri="{C183D7F6-B498-43B3-948B-1728B52AA6E4}">
                  <adec:decorative xmlns:adec="http://schemas.microsoft.com/office/drawing/2017/decorative" val="1"/>
                </a:ext>
              </a:extLst>
            </p:cNvPr>
            <p:cNvSpPr/>
            <p:nvPr/>
          </p:nvSpPr>
          <p:spPr>
            <a:xfrm>
              <a:off x="9842401" y="4440345"/>
              <a:ext cx="1541091" cy="1818538"/>
            </a:xfrm>
            <a:prstGeom prst="rect">
              <a:avLst/>
            </a:prstGeom>
            <a:noFill/>
            <a:ln w="15875">
              <a:solidFill>
                <a:srgbClr val="00A4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endParaRPr lang="en-US" sz="1600" dirty="0">
                <a:solidFill>
                  <a:schemeClr val="tx1"/>
                </a:solidFill>
                <a:cs typeface="Arial" panose="020B0604020202020204" pitchFamily="34" charset="0"/>
              </a:endParaRPr>
            </a:p>
          </p:txBody>
        </p:sp>
        <p:pic>
          <p:nvPicPr>
            <p:cNvPr id="98" name="Graphic 97">
              <a:extLst>
                <a:ext uri="{FF2B5EF4-FFF2-40B4-BE49-F238E27FC236}">
                  <a16:creationId xmlns:a16="http://schemas.microsoft.com/office/drawing/2014/main" id="{01960188-0B76-4DFB-BAAA-E60FF25514F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840157" y="4439192"/>
              <a:ext cx="381000" cy="381000"/>
            </a:xfrm>
            <a:prstGeom prst="rect">
              <a:avLst/>
            </a:prstGeom>
          </p:spPr>
        </p:pic>
        <p:sp>
          <p:nvSpPr>
            <p:cNvPr id="99" name="TextBox 22">
              <a:extLst>
                <a:ext uri="{FF2B5EF4-FFF2-40B4-BE49-F238E27FC236}">
                  <a16:creationId xmlns:a16="http://schemas.microsoft.com/office/drawing/2014/main" id="{BE740325-A5C1-4DF3-8FFF-36E715B4CABF}"/>
                </a:ext>
                <a:ext uri="{C183D7F6-B498-43B3-948B-1728B52AA6E4}">
                  <adec:decorative xmlns:adec="http://schemas.microsoft.com/office/drawing/2017/decorative" val="1"/>
                </a:ext>
              </a:extLst>
            </p:cNvPr>
            <p:cNvSpPr txBox="1">
              <a:spLocks noChangeArrowheads="1"/>
            </p:cNvSpPr>
            <p:nvPr/>
          </p:nvSpPr>
          <p:spPr bwMode="auto">
            <a:xfrm>
              <a:off x="6743949" y="5473247"/>
              <a:ext cx="23869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defRPr/>
              </a:pPr>
              <a:r>
                <a:rPr lang="en-US" altLang="en-US" sz="1600" dirty="0">
                  <a:solidFill>
                    <a:srgbClr val="232F3E"/>
                  </a:solidFill>
                  <a:latin typeface="+mn-lt"/>
                  <a:cs typeface="Arial" panose="020B0604020202020204" pitchFamily="34" charset="0"/>
                </a:rPr>
                <a:t>Edge node with </a:t>
              </a:r>
              <a:r>
                <a:rPr lang="en-US" altLang="en-US" sz="1600" dirty="0">
                  <a:solidFill>
                    <a:srgbClr val="FF0000"/>
                  </a:solidFill>
                  <a:latin typeface="+mn-lt"/>
                  <a:cs typeface="Arial" panose="020B0604020202020204" pitchFamily="34" charset="0"/>
                </a:rPr>
                <a:t>dog.jpg</a:t>
              </a:r>
              <a:endParaRPr lang="en-US" altLang="en-US" sz="1600" dirty="0">
                <a:latin typeface="+mn-lt"/>
                <a:cs typeface="Arial" panose="020B0604020202020204" pitchFamily="34" charset="0"/>
              </a:endParaRPr>
            </a:p>
          </p:txBody>
        </p:sp>
        <p:pic>
          <p:nvPicPr>
            <p:cNvPr id="101" name="Graphic 100">
              <a:extLst>
                <a:ext uri="{FF2B5EF4-FFF2-40B4-BE49-F238E27FC236}">
                  <a16:creationId xmlns:a16="http://schemas.microsoft.com/office/drawing/2014/main" id="{EA505D76-AF1A-4293-A752-18378AD8E47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08820" y="5025190"/>
              <a:ext cx="457200" cy="457200"/>
            </a:xfrm>
            <a:prstGeom prst="rect">
              <a:avLst/>
            </a:prstGeom>
          </p:spPr>
        </p:pic>
        <p:sp>
          <p:nvSpPr>
            <p:cNvPr id="104" name="Rectangle 103">
              <a:extLst>
                <a:ext uri="{FF2B5EF4-FFF2-40B4-BE49-F238E27FC236}">
                  <a16:creationId xmlns:a16="http://schemas.microsoft.com/office/drawing/2014/main" id="{BAFEAAF7-B442-426E-9B0B-4630AE19D154}"/>
                </a:ext>
                <a:ext uri="{C183D7F6-B498-43B3-948B-1728B52AA6E4}">
                  <adec:decorative xmlns:adec="http://schemas.microsoft.com/office/drawing/2017/decorative" val="1"/>
                </a:ext>
              </a:extLst>
            </p:cNvPr>
            <p:cNvSpPr/>
            <p:nvPr/>
          </p:nvSpPr>
          <p:spPr>
            <a:xfrm>
              <a:off x="6198918" y="4059044"/>
              <a:ext cx="5325649" cy="233934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solidFill>
                    <a:srgbClr val="232F3E"/>
                  </a:solidFill>
                  <a:cs typeface="Arial" panose="020B0604020202020204" pitchFamily="34" charset="0"/>
                </a:rPr>
                <a:t>AWS Cloud</a:t>
              </a:r>
            </a:p>
          </p:txBody>
        </p:sp>
        <p:pic>
          <p:nvPicPr>
            <p:cNvPr id="105" name="Graphic 104">
              <a:extLst>
                <a:ext uri="{FF2B5EF4-FFF2-40B4-BE49-F238E27FC236}">
                  <a16:creationId xmlns:a16="http://schemas.microsoft.com/office/drawing/2014/main" id="{352B685B-9407-411E-967D-B971979A5F04}"/>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6198919" y="4059043"/>
              <a:ext cx="381000" cy="381000"/>
            </a:xfrm>
            <a:prstGeom prst="rect">
              <a:avLst/>
            </a:prstGeom>
          </p:spPr>
        </p:pic>
        <p:sp>
          <p:nvSpPr>
            <p:cNvPr id="109" name="Rectangle 108">
              <a:extLst>
                <a:ext uri="{FF2B5EF4-FFF2-40B4-BE49-F238E27FC236}">
                  <a16:creationId xmlns:a16="http://schemas.microsoft.com/office/drawing/2014/main" id="{837681CE-D400-476D-9A17-457E7AEDB3E4}"/>
                </a:ext>
                <a:ext uri="{C183D7F6-B498-43B3-948B-1728B52AA6E4}">
                  <adec:decorative xmlns:adec="http://schemas.microsoft.com/office/drawing/2017/decorative" val="1"/>
                </a:ext>
              </a:extLst>
            </p:cNvPr>
            <p:cNvSpPr/>
            <p:nvPr/>
          </p:nvSpPr>
          <p:spPr>
            <a:xfrm>
              <a:off x="6665105" y="4440344"/>
              <a:ext cx="2544630" cy="1807847"/>
            </a:xfrm>
            <a:prstGeom prst="rect">
              <a:avLst/>
            </a:prstGeom>
            <a:noFill/>
            <a:ln w="15875">
              <a:solidFill>
                <a:srgbClr val="8C4FFF"/>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endParaRPr lang="en-US" sz="1600" dirty="0">
                <a:solidFill>
                  <a:schemeClr val="tx1"/>
                </a:solidFill>
                <a:cs typeface="Arial" panose="020B0604020202020204" pitchFamily="34" charset="0"/>
              </a:endParaRPr>
            </a:p>
          </p:txBody>
        </p:sp>
        <p:pic>
          <p:nvPicPr>
            <p:cNvPr id="110" name="Graphic 109">
              <a:extLst>
                <a:ext uri="{FF2B5EF4-FFF2-40B4-BE49-F238E27FC236}">
                  <a16:creationId xmlns:a16="http://schemas.microsoft.com/office/drawing/2014/main" id="{56446F42-FE2C-4BE9-9C34-D4D748863FBD}"/>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654104" y="4723973"/>
              <a:ext cx="976156" cy="976156"/>
            </a:xfrm>
            <a:prstGeom prst="rect">
              <a:avLst/>
            </a:prstGeom>
          </p:spPr>
        </p:pic>
        <p:pic>
          <p:nvPicPr>
            <p:cNvPr id="111" name="Graphic 110">
              <a:extLst>
                <a:ext uri="{FF2B5EF4-FFF2-40B4-BE49-F238E27FC236}">
                  <a16:creationId xmlns:a16="http://schemas.microsoft.com/office/drawing/2014/main" id="{883C3755-7B27-4A27-B1C5-BE0421FEA5BA}"/>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646530" y="4893180"/>
              <a:ext cx="817795" cy="817795"/>
            </a:xfrm>
            <a:prstGeom prst="rect">
              <a:avLst/>
            </a:prstGeom>
          </p:spPr>
        </p:pic>
        <p:cxnSp>
          <p:nvCxnSpPr>
            <p:cNvPr id="112" name="Straight Arrow Connector 111">
              <a:extLst>
                <a:ext uri="{FF2B5EF4-FFF2-40B4-BE49-F238E27FC236}">
                  <a16:creationId xmlns:a16="http://schemas.microsoft.com/office/drawing/2014/main" id="{9CA0BE80-3CE8-4623-9BD1-9467D67D0733}"/>
                </a:ext>
                <a:ext uri="{C183D7F6-B498-43B3-948B-1728B52AA6E4}">
                  <adec:decorative xmlns:adec="http://schemas.microsoft.com/office/drawing/2017/decorative" val="1"/>
                </a:ext>
              </a:extLst>
            </p:cNvPr>
            <p:cNvCxnSpPr>
              <a:cxnSpLocks/>
            </p:cNvCxnSpPr>
            <p:nvPr/>
          </p:nvCxnSpPr>
          <p:spPr>
            <a:xfrm>
              <a:off x="5640207" y="5184704"/>
              <a:ext cx="1981177" cy="0"/>
            </a:xfrm>
            <a:prstGeom prst="straightConnector1">
              <a:avLst/>
            </a:prstGeom>
            <a:ln w="19050">
              <a:solidFill>
                <a:srgbClr val="232F3E"/>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E1841762-68D2-4D7A-8228-3987A1B2F089}"/>
                </a:ext>
                <a:ext uri="{C183D7F6-B498-43B3-948B-1728B52AA6E4}">
                  <adec:decorative xmlns:adec="http://schemas.microsoft.com/office/drawing/2017/decorative" val="1"/>
                </a:ext>
              </a:extLst>
            </p:cNvPr>
            <p:cNvCxnSpPr>
              <a:cxnSpLocks/>
            </p:cNvCxnSpPr>
            <p:nvPr/>
          </p:nvCxnSpPr>
          <p:spPr>
            <a:xfrm>
              <a:off x="5614795" y="5319407"/>
              <a:ext cx="2003848" cy="0"/>
            </a:xfrm>
            <a:prstGeom prst="straightConnector1">
              <a:avLst/>
            </a:prstGeom>
            <a:ln w="19050">
              <a:solidFill>
                <a:srgbClr val="232F3E"/>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3269540D-D1CD-444D-9BA7-85CEA1A034D8}"/>
                </a:ext>
                <a:ext uri="{C183D7F6-B498-43B3-948B-1728B52AA6E4}">
                  <adec:decorative xmlns:adec="http://schemas.microsoft.com/office/drawing/2017/decorative" val="1"/>
                </a:ext>
              </a:extLst>
            </p:cNvPr>
            <p:cNvCxnSpPr>
              <a:cxnSpLocks/>
            </p:cNvCxnSpPr>
            <p:nvPr/>
          </p:nvCxnSpPr>
          <p:spPr>
            <a:xfrm>
              <a:off x="3491797" y="5184704"/>
              <a:ext cx="1168320" cy="0"/>
            </a:xfrm>
            <a:prstGeom prst="straightConnector1">
              <a:avLst/>
            </a:prstGeom>
            <a:ln w="19050">
              <a:solidFill>
                <a:srgbClr val="232F3E"/>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C406CF62-1D54-4A0B-8DA0-BBB710A0791E}"/>
                </a:ext>
                <a:ext uri="{C183D7F6-B498-43B3-948B-1728B52AA6E4}">
                  <adec:decorative xmlns:adec="http://schemas.microsoft.com/office/drawing/2017/decorative" val="1"/>
                </a:ext>
              </a:extLst>
            </p:cNvPr>
            <p:cNvCxnSpPr>
              <a:cxnSpLocks/>
            </p:cNvCxnSpPr>
            <p:nvPr/>
          </p:nvCxnSpPr>
          <p:spPr>
            <a:xfrm>
              <a:off x="3447648" y="5319407"/>
              <a:ext cx="1190991" cy="0"/>
            </a:xfrm>
            <a:prstGeom prst="straightConnector1">
              <a:avLst/>
            </a:prstGeom>
            <a:ln w="19050">
              <a:solidFill>
                <a:srgbClr val="232F3E"/>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116" name="TextBox 22">
              <a:extLst>
                <a:ext uri="{FF2B5EF4-FFF2-40B4-BE49-F238E27FC236}">
                  <a16:creationId xmlns:a16="http://schemas.microsoft.com/office/drawing/2014/main" id="{50244204-1C27-4856-B5D8-209A53658C92}"/>
                </a:ext>
                <a:ext uri="{C183D7F6-B498-43B3-948B-1728B52AA6E4}">
                  <adec:decorative xmlns:adec="http://schemas.microsoft.com/office/drawing/2017/decorative" val="1"/>
                </a:ext>
              </a:extLst>
            </p:cNvPr>
            <p:cNvSpPr txBox="1">
              <a:spLocks noChangeArrowheads="1"/>
            </p:cNvSpPr>
            <p:nvPr/>
          </p:nvSpPr>
          <p:spPr bwMode="auto">
            <a:xfrm>
              <a:off x="4336613" y="5510479"/>
              <a:ext cx="16111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defRPr/>
              </a:pPr>
              <a:r>
                <a:rPr lang="en-US" altLang="en-US" sz="1600" dirty="0">
                  <a:solidFill>
                    <a:srgbClr val="232F3E"/>
                  </a:solidFill>
                  <a:latin typeface="+mn-lt"/>
                  <a:cs typeface="Arial" panose="020B0604020202020204" pitchFamily="34" charset="0"/>
                </a:rPr>
                <a:t>Internet</a:t>
              </a:r>
            </a:p>
          </p:txBody>
        </p:sp>
        <p:sp>
          <p:nvSpPr>
            <p:cNvPr id="117" name="TextBox 22">
              <a:extLst>
                <a:ext uri="{FF2B5EF4-FFF2-40B4-BE49-F238E27FC236}">
                  <a16:creationId xmlns:a16="http://schemas.microsoft.com/office/drawing/2014/main" id="{6250EBD2-FFDE-45D3-8D1B-A94E4A18CC16}"/>
                </a:ext>
                <a:ext uri="{C183D7F6-B498-43B3-948B-1728B52AA6E4}">
                  <adec:decorative xmlns:adec="http://schemas.microsoft.com/office/drawing/2017/decorative" val="1"/>
                </a:ext>
              </a:extLst>
            </p:cNvPr>
            <p:cNvSpPr txBox="1">
              <a:spLocks noChangeArrowheads="1"/>
            </p:cNvSpPr>
            <p:nvPr/>
          </p:nvSpPr>
          <p:spPr bwMode="auto">
            <a:xfrm>
              <a:off x="2629020" y="5655062"/>
              <a:ext cx="81779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defRPr/>
              </a:pPr>
              <a:r>
                <a:rPr lang="en-US" altLang="en-US" sz="1600" dirty="0">
                  <a:solidFill>
                    <a:srgbClr val="232F3E"/>
                  </a:solidFill>
                  <a:latin typeface="+mn-lt"/>
                  <a:cs typeface="Arial" panose="020B0604020202020204" pitchFamily="34" charset="0"/>
                </a:rPr>
                <a:t>User</a:t>
              </a:r>
            </a:p>
          </p:txBody>
        </p:sp>
        <p:sp>
          <p:nvSpPr>
            <p:cNvPr id="118" name="Rectangle 117">
              <a:extLst>
                <a:ext uri="{FF2B5EF4-FFF2-40B4-BE49-F238E27FC236}">
                  <a16:creationId xmlns:a16="http://schemas.microsoft.com/office/drawing/2014/main" id="{EB36EBB1-FBC6-455A-9E90-9CCAD8859D6E}"/>
                </a:ext>
                <a:ext uri="{C183D7F6-B498-43B3-948B-1728B52AA6E4}">
                  <adec:decorative xmlns:adec="http://schemas.microsoft.com/office/drawing/2017/decorative" val="1"/>
                </a:ext>
              </a:extLst>
            </p:cNvPr>
            <p:cNvSpPr/>
            <p:nvPr/>
          </p:nvSpPr>
          <p:spPr>
            <a:xfrm>
              <a:off x="7132779" y="4433850"/>
              <a:ext cx="2040943" cy="338554"/>
            </a:xfrm>
            <a:prstGeom prst="rect">
              <a:avLst/>
            </a:prstGeom>
          </p:spPr>
          <p:txBody>
            <a:bodyPr wrap="none">
              <a:spAutoFit/>
            </a:bodyPr>
            <a:lstStyle/>
            <a:p>
              <a:pPr>
                <a:defRPr/>
              </a:pPr>
              <a:r>
                <a:rPr lang="en-US" sz="1600" dirty="0">
                  <a:solidFill>
                    <a:srgbClr val="232F3E"/>
                  </a:solidFill>
                  <a:cs typeface="Arial" panose="020B0604020202020204" pitchFamily="34" charset="0"/>
                </a:rPr>
                <a:t>Amazon CloudFront</a:t>
              </a:r>
            </a:p>
          </p:txBody>
        </p:sp>
        <p:pic>
          <p:nvPicPr>
            <p:cNvPr id="119" name="Graphic 19">
              <a:extLst>
                <a:ext uri="{FF2B5EF4-FFF2-40B4-BE49-F238E27FC236}">
                  <a16:creationId xmlns:a16="http://schemas.microsoft.com/office/drawing/2014/main" id="{E0141318-546B-4C0E-98C3-EE2995C82770}"/>
                </a:ext>
                <a:ext uri="{C183D7F6-B498-43B3-948B-1728B52AA6E4}">
                  <adec:decorative xmlns:adec="http://schemas.microsoft.com/office/drawing/2017/decorative" val="1"/>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6669311" y="4435290"/>
              <a:ext cx="389219" cy="389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 name="Rectangle 119">
              <a:extLst>
                <a:ext uri="{FF2B5EF4-FFF2-40B4-BE49-F238E27FC236}">
                  <a16:creationId xmlns:a16="http://schemas.microsoft.com/office/drawing/2014/main" id="{C7BA0FD0-DC03-48E6-A7FC-AA309065759C}"/>
                </a:ext>
                <a:ext uri="{C183D7F6-B498-43B3-948B-1728B52AA6E4}">
                  <adec:decorative xmlns:adec="http://schemas.microsoft.com/office/drawing/2017/decorative" val="1"/>
                </a:ext>
              </a:extLst>
            </p:cNvPr>
            <p:cNvSpPr/>
            <p:nvPr/>
          </p:nvSpPr>
          <p:spPr>
            <a:xfrm>
              <a:off x="10337301" y="4440344"/>
              <a:ext cx="829073" cy="338554"/>
            </a:xfrm>
            <a:prstGeom prst="rect">
              <a:avLst/>
            </a:prstGeom>
          </p:spPr>
          <p:txBody>
            <a:bodyPr wrap="none">
              <a:spAutoFit/>
            </a:bodyPr>
            <a:lstStyle/>
            <a:p>
              <a:pPr>
                <a:defRPr/>
              </a:pPr>
              <a:r>
                <a:rPr lang="en-US" sz="1600" dirty="0">
                  <a:solidFill>
                    <a:srgbClr val="232F3E"/>
                  </a:solidFill>
                  <a:cs typeface="Arial" panose="020B0604020202020204" pitchFamily="34" charset="0"/>
                </a:rPr>
                <a:t>Region</a:t>
              </a:r>
            </a:p>
          </p:txBody>
        </p:sp>
        <p:sp>
          <p:nvSpPr>
            <p:cNvPr id="121" name="TextBox 120">
              <a:extLst>
                <a:ext uri="{FF2B5EF4-FFF2-40B4-BE49-F238E27FC236}">
                  <a16:creationId xmlns:a16="http://schemas.microsoft.com/office/drawing/2014/main" id="{6C26E9EC-4F78-4639-82AE-476AD612938E}"/>
                </a:ext>
                <a:ext uri="{C183D7F6-B498-43B3-948B-1728B52AA6E4}">
                  <adec:decorative xmlns:adec="http://schemas.microsoft.com/office/drawing/2017/decorative" val="1"/>
                </a:ext>
              </a:extLst>
            </p:cNvPr>
            <p:cNvSpPr txBox="1"/>
            <p:nvPr/>
          </p:nvSpPr>
          <p:spPr>
            <a:xfrm>
              <a:off x="727648" y="4749942"/>
              <a:ext cx="2198763" cy="923330"/>
            </a:xfrm>
            <a:prstGeom prst="rect">
              <a:avLst/>
            </a:prstGeom>
            <a:noFill/>
          </p:spPr>
          <p:txBody>
            <a:bodyPr wrap="square" rtlCol="0">
              <a:spAutoFit/>
            </a:bodyPr>
            <a:lstStyle/>
            <a:p>
              <a:r>
                <a:rPr lang="en-US" dirty="0">
                  <a:solidFill>
                    <a:srgbClr val="232F3E"/>
                  </a:solidFill>
                </a:rPr>
                <a:t>Second and subsequent requests</a:t>
              </a:r>
            </a:p>
          </p:txBody>
        </p:sp>
      </p:grpSp>
    </p:spTree>
    <p:custDataLst>
      <p:tags r:id="rId1"/>
    </p:custDataLst>
    <p:extLst>
      <p:ext uri="{BB962C8B-B14F-4D97-AF65-F5344CB8AC3E}">
        <p14:creationId xmlns:p14="http://schemas.microsoft.com/office/powerpoint/2010/main" val="1906023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7697881A-F1C9-4A90-BA56-6EDAEA6C540A}"/>
              </a:ext>
            </a:extLst>
          </p:cNvPr>
          <p:cNvSpPr>
            <a:spLocks noGrp="1"/>
          </p:cNvSpPr>
          <p:nvPr>
            <p:ph type="sldNum" idx="97"/>
          </p:nvPr>
        </p:nvSpPr>
        <p:spPr/>
        <p:txBody>
          <a:bodyPr/>
          <a:lstStyle/>
          <a:p>
            <a:fld id="{B6A95138-A96E-2F42-A959-2EFD44FE4AB7}" type="slidenum">
              <a:rPr lang="en-US" smtClean="0"/>
              <a:t>33</a:t>
            </a:fld>
            <a:endParaRPr lang="en-US" dirty="0"/>
          </a:p>
        </p:txBody>
      </p:sp>
      <p:sp>
        <p:nvSpPr>
          <p:cNvPr id="5" name="Title">
            <a:extLst>
              <a:ext uri="{FF2B5EF4-FFF2-40B4-BE49-F238E27FC236}">
                <a16:creationId xmlns:a16="http://schemas.microsoft.com/office/drawing/2014/main" id="{66888481-E83F-4672-B8D0-4824920F2A19}"/>
              </a:ext>
            </a:extLst>
          </p:cNvPr>
          <p:cNvSpPr>
            <a:spLocks noGrp="1"/>
          </p:cNvSpPr>
          <p:nvPr>
            <p:ph type="title" idx="1"/>
          </p:nvPr>
        </p:nvSpPr>
        <p:spPr/>
        <p:txBody>
          <a:bodyPr/>
          <a:lstStyle/>
          <a:p>
            <a:r>
              <a:rPr lang="en-US" dirty="0"/>
              <a:t>Securing your entire infrastructure</a:t>
            </a:r>
          </a:p>
        </p:txBody>
      </p:sp>
      <p:sp>
        <p:nvSpPr>
          <p:cNvPr id="6" name="Content Placeholder 5">
            <a:extLst>
              <a:ext uri="{FF2B5EF4-FFF2-40B4-BE49-F238E27FC236}">
                <a16:creationId xmlns:a16="http://schemas.microsoft.com/office/drawing/2014/main" id="{A30160F2-B93D-4322-B521-D7BED6491988}"/>
              </a:ext>
            </a:extLst>
          </p:cNvPr>
          <p:cNvSpPr>
            <a:spLocks noGrp="1"/>
          </p:cNvSpPr>
          <p:nvPr>
            <p:ph type="body" idx="12"/>
          </p:nvPr>
        </p:nvSpPr>
        <p:spPr/>
        <p:txBody>
          <a:bodyPr>
            <a:noAutofit/>
          </a:bodyPr>
          <a:lstStyle/>
          <a:p>
            <a:r>
              <a:rPr lang="en-US" dirty="0"/>
              <a:t>Build security into every layer of your infrastructure.</a:t>
            </a:r>
          </a:p>
        </p:txBody>
      </p:sp>
      <p:sp>
        <p:nvSpPr>
          <p:cNvPr id="7" name="Content Placeholder 6">
            <a:extLst>
              <a:ext uri="{FF2B5EF4-FFF2-40B4-BE49-F238E27FC236}">
                <a16:creationId xmlns:a16="http://schemas.microsoft.com/office/drawing/2014/main" id="{889C4B4B-1777-4C93-AFF6-687C7CAE1705}"/>
              </a:ext>
            </a:extLst>
          </p:cNvPr>
          <p:cNvSpPr>
            <a:spLocks noGrp="1"/>
          </p:cNvSpPr>
          <p:nvPr>
            <p:ph idx="2"/>
          </p:nvPr>
        </p:nvSpPr>
        <p:spPr>
          <a:xfrm>
            <a:off x="365759" y="1563624"/>
            <a:ext cx="11460479" cy="3650382"/>
          </a:xfrm>
        </p:spPr>
        <p:txBody>
          <a:bodyPr>
            <a:normAutofit/>
          </a:bodyPr>
          <a:lstStyle/>
          <a:p>
            <a:r>
              <a:rPr lang="en-US" sz="2400" dirty="0"/>
              <a:t>Use managed services.</a:t>
            </a:r>
          </a:p>
          <a:p>
            <a:r>
              <a:rPr lang="en-US" sz="2400" dirty="0"/>
              <a:t>Log access of resources.</a:t>
            </a:r>
          </a:p>
          <a:p>
            <a:pPr>
              <a:lnSpc>
                <a:spcPct val="100000"/>
              </a:lnSpc>
            </a:pPr>
            <a:r>
              <a:rPr lang="en-US" sz="2400" dirty="0"/>
              <a:t>Isolate parts of your infrastructure.</a:t>
            </a:r>
          </a:p>
          <a:p>
            <a:pPr>
              <a:lnSpc>
                <a:spcPct val="100000"/>
              </a:lnSpc>
            </a:pPr>
            <a:r>
              <a:rPr lang="en-US" sz="2400" dirty="0"/>
              <a:t>Encrypt data in transit and at rest.</a:t>
            </a:r>
          </a:p>
          <a:p>
            <a:pPr>
              <a:lnSpc>
                <a:spcPct val="100000"/>
              </a:lnSpc>
            </a:pPr>
            <a:r>
              <a:rPr lang="en-US" sz="2400" dirty="0"/>
              <a:t>Enforce access control granularly, using the principle of least privilege.</a:t>
            </a:r>
          </a:p>
          <a:p>
            <a:pPr>
              <a:lnSpc>
                <a:spcPct val="100000"/>
              </a:lnSpc>
            </a:pPr>
            <a:r>
              <a:rPr lang="en-US" sz="2400" dirty="0"/>
              <a:t>Use multi-factor authentication (MFA).</a:t>
            </a:r>
          </a:p>
          <a:p>
            <a:r>
              <a:rPr lang="en-US" sz="2400" dirty="0"/>
              <a:t>Automate your deployments to keep security consistent.</a:t>
            </a:r>
          </a:p>
        </p:txBody>
      </p:sp>
    </p:spTree>
    <p:custDataLst>
      <p:tags r:id="rId1"/>
    </p:custDataLst>
    <p:extLst>
      <p:ext uri="{BB962C8B-B14F-4D97-AF65-F5344CB8AC3E}">
        <p14:creationId xmlns:p14="http://schemas.microsoft.com/office/powerpoint/2010/main" val="26206401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idx="97"/>
          </p:nvPr>
        </p:nvSpPr>
        <p:spPr/>
        <p:txBody>
          <a:bodyPr/>
          <a:lstStyle/>
          <a:p>
            <a:fld id="{B6A95138-A96E-2F42-A959-2EFD44FE4AB7}" type="slidenum">
              <a:rPr lang="en-US" smtClean="0"/>
              <a:pPr/>
              <a:t>34</a:t>
            </a:fld>
            <a:endParaRPr lang="en-US" dirty="0"/>
          </a:p>
        </p:txBody>
      </p:sp>
      <p:sp>
        <p:nvSpPr>
          <p:cNvPr id="3" name="Title">
            <a:extLst>
              <a:ext uri="{FF2B5EF4-FFF2-40B4-BE49-F238E27FC236}">
                <a16:creationId xmlns:a16="http://schemas.microsoft.com/office/drawing/2014/main" id="{34A9215D-56A1-C14C-8D1D-ECD06964D449}"/>
              </a:ext>
            </a:extLst>
          </p:cNvPr>
          <p:cNvSpPr>
            <a:spLocks noGrp="1"/>
          </p:cNvSpPr>
          <p:nvPr>
            <p:ph type="title" idx="1"/>
          </p:nvPr>
        </p:nvSpPr>
        <p:spPr/>
        <p:txBody>
          <a:bodyPr/>
          <a:lstStyle/>
          <a:p>
            <a:r>
              <a:rPr lang="en-US" sz="3200" dirty="0">
                <a:latin typeface="+mj-lt"/>
              </a:rPr>
              <a:t>Key takeaways: Best practices for building solutions on AWS </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3"/>
          </p:nvPr>
        </p:nvSpPr>
        <p:spPr/>
        <p:txBody>
          <a:bodyPr>
            <a:normAutofit lnSpcReduction="10000"/>
          </a:bodyPr>
          <a:lstStyle/>
          <a:p>
            <a:r>
              <a:rPr lang="en-US" sz="2400" dirty="0">
                <a:latin typeface="+mn-lt"/>
              </a:rPr>
              <a:t>As you design solutions, evaluate trade-offs and base your decisions on empirical data.</a:t>
            </a:r>
          </a:p>
          <a:p>
            <a:r>
              <a:rPr lang="en-US" sz="2400" dirty="0">
                <a:latin typeface="+mn-lt"/>
              </a:rPr>
              <a:t>Follow these best practices when building solutions on AWS:</a:t>
            </a:r>
          </a:p>
          <a:p>
            <a:pPr lvl="1"/>
            <a:r>
              <a:rPr lang="en-US" sz="2000" dirty="0">
                <a:latin typeface="+mn-lt"/>
              </a:rPr>
              <a:t>Implement scalability.</a:t>
            </a:r>
          </a:p>
          <a:p>
            <a:pPr lvl="1"/>
            <a:r>
              <a:rPr lang="en-US" sz="2000" dirty="0">
                <a:latin typeface="+mn-lt"/>
              </a:rPr>
              <a:t>Automate your environment.</a:t>
            </a:r>
          </a:p>
          <a:p>
            <a:pPr lvl="1"/>
            <a:r>
              <a:rPr lang="en-US" sz="2000" dirty="0">
                <a:latin typeface="+mn-lt"/>
              </a:rPr>
              <a:t>Treat resources as disposable.</a:t>
            </a:r>
          </a:p>
          <a:p>
            <a:pPr lvl="1"/>
            <a:r>
              <a:rPr lang="en-US" sz="2000" dirty="0">
                <a:latin typeface="+mn-lt"/>
              </a:rPr>
              <a:t>Use loosely-coupled components.</a:t>
            </a:r>
          </a:p>
          <a:p>
            <a:pPr lvl="1"/>
            <a:r>
              <a:rPr lang="en-US" sz="2000" dirty="0">
                <a:latin typeface="+mn-lt"/>
              </a:rPr>
              <a:t>Design services, not servers.</a:t>
            </a:r>
          </a:p>
          <a:p>
            <a:pPr lvl="1"/>
            <a:r>
              <a:rPr lang="en-US" sz="2000" dirty="0">
                <a:latin typeface="+mn-lt"/>
              </a:rPr>
              <a:t>Choose the right database solution.</a:t>
            </a:r>
          </a:p>
          <a:p>
            <a:pPr lvl="1"/>
            <a:r>
              <a:rPr lang="en-US" sz="2000" dirty="0">
                <a:latin typeface="+mn-lt"/>
              </a:rPr>
              <a:t>Avoid single points of failure.</a:t>
            </a:r>
          </a:p>
          <a:p>
            <a:pPr lvl="1"/>
            <a:r>
              <a:rPr lang="en-US" sz="2000" dirty="0">
                <a:latin typeface="+mn-lt"/>
              </a:rPr>
              <a:t>Optimize for cost.</a:t>
            </a:r>
          </a:p>
          <a:p>
            <a:pPr lvl="1"/>
            <a:r>
              <a:rPr lang="en-US" sz="2000" dirty="0">
                <a:latin typeface="+mn-lt"/>
              </a:rPr>
              <a:t>Use caching.</a:t>
            </a:r>
          </a:p>
          <a:p>
            <a:pPr lvl="1"/>
            <a:r>
              <a:rPr lang="en-US" sz="2000" dirty="0">
                <a:latin typeface="+mn-lt"/>
              </a:rPr>
              <a:t>Secure your entire infrastructure.</a:t>
            </a:r>
          </a:p>
        </p:txBody>
      </p:sp>
      <p:pic>
        <p:nvPicPr>
          <p:cNvPr id="7" name="Content Placeholder 13">
            <a:extLst>
              <a:ext uri="{FF2B5EF4-FFF2-40B4-BE49-F238E27FC236}">
                <a16:creationId xmlns:a16="http://schemas.microsoft.com/office/drawing/2014/main" id="{0BF178CC-9113-47A1-B038-1D620DA00E1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Tree>
    <p:custDataLst>
      <p:tags r:id="rId1"/>
    </p:custDataLst>
    <p:extLst>
      <p:ext uri="{BB962C8B-B14F-4D97-AF65-F5344CB8AC3E}">
        <p14:creationId xmlns:p14="http://schemas.microsoft.com/office/powerpoint/2010/main" val="1971957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8696ACFB-6734-49A2-AFFF-CB7EACFD7A0A}"/>
              </a:ext>
            </a:extLst>
          </p:cNvPr>
          <p:cNvSpPr>
            <a:spLocks noGrp="1"/>
          </p:cNvSpPr>
          <p:nvPr>
            <p:ph type="sldNum" idx="97"/>
          </p:nvPr>
        </p:nvSpPr>
        <p:spPr/>
        <p:txBody>
          <a:bodyPr/>
          <a:lstStyle/>
          <a:p>
            <a:fld id="{4037B1B0-0345-4E15-985A-6BECCDBE474F}" type="slidenum">
              <a:rPr lang="en-US" smtClean="0"/>
              <a:pPr/>
              <a:t>35</a:t>
            </a:fld>
            <a:endParaRPr lang="en-US" dirty="0"/>
          </a:p>
        </p:txBody>
      </p:sp>
      <p:sp>
        <p:nvSpPr>
          <p:cNvPr id="2" name="Title"/>
          <p:cNvSpPr>
            <a:spLocks noGrp="1"/>
          </p:cNvSpPr>
          <p:nvPr>
            <p:ph type="title" idx="1"/>
          </p:nvPr>
        </p:nvSpPr>
        <p:spPr/>
        <p:txBody>
          <a:bodyPr>
            <a:noAutofit/>
          </a:bodyPr>
          <a:lstStyle/>
          <a:p>
            <a:r>
              <a:rPr lang="en-US" dirty="0">
                <a:latin typeface="+mj-lt"/>
              </a:rPr>
              <a:t>AWS Global Infrastructure</a:t>
            </a:r>
          </a:p>
        </p:txBody>
      </p:sp>
      <p:sp>
        <p:nvSpPr>
          <p:cNvPr id="3" name="Text Placeholder 2">
            <a:extLst>
              <a:ext uri="{FF2B5EF4-FFF2-40B4-BE49-F238E27FC236}">
                <a16:creationId xmlns:a16="http://schemas.microsoft.com/office/drawing/2014/main" id="{CD64B8E0-60AD-514D-93D6-076C58CF731E}"/>
              </a:ext>
            </a:extLst>
          </p:cNvPr>
          <p:cNvSpPr>
            <a:spLocks noGrp="1"/>
          </p:cNvSpPr>
          <p:nvPr>
            <p:ph type="subTitle" idx="2"/>
          </p:nvPr>
        </p:nvSpPr>
        <p:spPr/>
        <p:txBody>
          <a:bodyPr>
            <a:normAutofit/>
          </a:bodyPr>
          <a:lstStyle/>
          <a:p>
            <a:r>
              <a:rPr lang="en-US" dirty="0">
                <a:latin typeface="+mn-lt"/>
              </a:rPr>
              <a:t>Introducing Cloud Architecting</a:t>
            </a:r>
          </a:p>
        </p:txBody>
      </p:sp>
    </p:spTree>
    <p:custDataLst>
      <p:tags r:id="rId1"/>
    </p:custDataLst>
    <p:extLst>
      <p:ext uri="{BB962C8B-B14F-4D97-AF65-F5344CB8AC3E}">
        <p14:creationId xmlns:p14="http://schemas.microsoft.com/office/powerpoint/2010/main" val="22021596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56D6FB64-A7F1-4DF5-AD27-4AA6C0123601}"/>
              </a:ext>
            </a:extLst>
          </p:cNvPr>
          <p:cNvSpPr>
            <a:spLocks noGrp="1"/>
          </p:cNvSpPr>
          <p:nvPr>
            <p:ph type="sldNum" idx="97"/>
          </p:nvPr>
        </p:nvSpPr>
        <p:spPr/>
        <p:txBody>
          <a:bodyPr/>
          <a:lstStyle/>
          <a:p>
            <a:fld id="{930176A1-BCF0-4712-97A6-6B495F55390B}" type="slidenum">
              <a:rPr lang="en-US" smtClean="0"/>
              <a:t>36</a:t>
            </a:fld>
            <a:endParaRPr lang="en-US" dirty="0"/>
          </a:p>
        </p:txBody>
      </p:sp>
      <p:sp>
        <p:nvSpPr>
          <p:cNvPr id="5" name="Title">
            <a:extLst>
              <a:ext uri="{FF2B5EF4-FFF2-40B4-BE49-F238E27FC236}">
                <a16:creationId xmlns:a16="http://schemas.microsoft.com/office/drawing/2014/main" id="{64AEA3B3-8469-2F49-A666-5F249BE8F585}"/>
              </a:ext>
            </a:extLst>
          </p:cNvPr>
          <p:cNvSpPr>
            <a:spLocks noGrp="1"/>
          </p:cNvSpPr>
          <p:nvPr>
            <p:ph type="title" idx="1"/>
          </p:nvPr>
        </p:nvSpPr>
        <p:spPr/>
        <p:txBody>
          <a:bodyPr/>
          <a:lstStyle/>
          <a:p>
            <a:r>
              <a:rPr lang="en-US" dirty="0">
                <a:latin typeface="+mj-lt"/>
              </a:rPr>
              <a:t>AWS infrastructure topics</a:t>
            </a:r>
          </a:p>
        </p:txBody>
      </p:sp>
      <p:sp>
        <p:nvSpPr>
          <p:cNvPr id="6" name="Rectangle 5">
            <a:extLst>
              <a:ext uri="{FF2B5EF4-FFF2-40B4-BE49-F238E27FC236}">
                <a16:creationId xmlns:a16="http://schemas.microsoft.com/office/drawing/2014/main" id="{60572549-AFE0-4F8C-906E-F716AC9972F4}"/>
              </a:ext>
              <a:ext uri="{C183D7F6-B498-43B3-948B-1728B52AA6E4}">
                <adec:decorative xmlns:adec="http://schemas.microsoft.com/office/drawing/2017/decorative" val="1"/>
              </a:ext>
            </a:extLst>
          </p:cNvPr>
          <p:cNvSpPr/>
          <p:nvPr/>
        </p:nvSpPr>
        <p:spPr>
          <a:xfrm>
            <a:off x="4224105" y="1349120"/>
            <a:ext cx="7275286" cy="4826726"/>
          </a:xfrm>
          <a:prstGeom prst="rect">
            <a:avLst/>
          </a:prstGeom>
          <a:ln w="12700"/>
          <a:effectLst>
            <a:outerShdw blurRad="63500" dist="53881" dir="2700016" rotWithShape="0">
              <a:scrgbClr r="0" g="0" b="0">
                <a:alpha val="25000"/>
              </a:scrgbClr>
            </a:outerShdw>
          </a:effectLst>
        </p:spPr>
        <p:txBody>
          <a:bodyPr/>
          <a:lstStyle/>
          <a:p>
            <a:endParaRPr lang="en-GB" dirty="0"/>
          </a:p>
        </p:txBody>
      </p:sp>
      <p:sp>
        <p:nvSpPr>
          <p:cNvPr id="8" name="Block Arc 7">
            <a:extLst>
              <a:ext uri="{FF2B5EF4-FFF2-40B4-BE49-F238E27FC236}">
                <a16:creationId xmlns:a16="http://schemas.microsoft.com/office/drawing/2014/main" id="{3507E939-BB51-433C-885D-80A50A9AD5AF}"/>
              </a:ext>
              <a:ext uri="{C183D7F6-B498-43B3-948B-1728B52AA6E4}">
                <adec:decorative xmlns:adec="http://schemas.microsoft.com/office/drawing/2017/decorative" val="1"/>
              </a:ext>
            </a:extLst>
          </p:cNvPr>
          <p:cNvSpPr/>
          <p:nvPr/>
        </p:nvSpPr>
        <p:spPr>
          <a:xfrm>
            <a:off x="-1233165" y="513524"/>
            <a:ext cx="6497919" cy="6497919"/>
          </a:xfrm>
          <a:prstGeom prst="blockArc">
            <a:avLst>
              <a:gd name="adj1" fmla="val 18900000"/>
              <a:gd name="adj2" fmla="val 2700000"/>
              <a:gd name="adj3" fmla="val 332"/>
            </a:avLst>
          </a:prstGeom>
        </p:spPr>
        <p:style>
          <a:lnRef idx="2">
            <a:schemeClr val="accent5">
              <a:hueOff val="0"/>
              <a:satOff val="0"/>
              <a:lumOff val="0"/>
              <a:alphaOff val="0"/>
            </a:schemeClr>
          </a:lnRef>
          <a:fillRef idx="0">
            <a:schemeClr val="accent4">
              <a:tint val="90000"/>
              <a:hueOff val="0"/>
              <a:satOff val="0"/>
              <a:lumOff val="0"/>
              <a:alphaOff val="0"/>
            </a:schemeClr>
          </a:fillRef>
          <a:effectRef idx="0">
            <a:schemeClr val="accent4">
              <a:tint val="90000"/>
              <a:hueOff val="0"/>
              <a:satOff val="0"/>
              <a:lumOff val="0"/>
              <a:alphaOff val="0"/>
            </a:schemeClr>
          </a:effectRef>
          <a:fontRef idx="minor">
            <a:schemeClr val="tx1">
              <a:hueOff val="0"/>
              <a:satOff val="0"/>
              <a:lumOff val="0"/>
              <a:alphaOff val="0"/>
            </a:schemeClr>
          </a:fontRef>
        </p:style>
        <p:txBody>
          <a:bodyPr/>
          <a:lstStyle/>
          <a:p>
            <a:endParaRPr lang="en-GB" dirty="0"/>
          </a:p>
        </p:txBody>
      </p:sp>
      <p:sp>
        <p:nvSpPr>
          <p:cNvPr id="10" name="Freeform: Shape 9">
            <a:extLst>
              <a:ext uri="{FF2B5EF4-FFF2-40B4-BE49-F238E27FC236}">
                <a16:creationId xmlns:a16="http://schemas.microsoft.com/office/drawing/2014/main" id="{6F2E504C-FEF2-48AA-92D7-3D4A5C8BD29B}"/>
              </a:ext>
              <a:ext uri="{C183D7F6-B498-43B3-948B-1728B52AA6E4}">
                <adec:decorative xmlns:adec="http://schemas.microsoft.com/office/drawing/2017/decorative" val="1"/>
              </a:ext>
            </a:extLst>
          </p:cNvPr>
          <p:cNvSpPr/>
          <p:nvPr/>
        </p:nvSpPr>
        <p:spPr>
          <a:xfrm>
            <a:off x="4679123" y="1650693"/>
            <a:ext cx="6753034" cy="603533"/>
          </a:xfrm>
          <a:custGeom>
            <a:avLst/>
            <a:gdLst>
              <a:gd name="connsiteX0" fmla="*/ 0 w 6753034"/>
              <a:gd name="connsiteY0" fmla="*/ 0 h 603533"/>
              <a:gd name="connsiteX1" fmla="*/ 6753034 w 6753034"/>
              <a:gd name="connsiteY1" fmla="*/ 0 h 603533"/>
              <a:gd name="connsiteX2" fmla="*/ 6753034 w 6753034"/>
              <a:gd name="connsiteY2" fmla="*/ 603533 h 603533"/>
              <a:gd name="connsiteX3" fmla="*/ 0 w 6753034"/>
              <a:gd name="connsiteY3" fmla="*/ 603533 h 603533"/>
              <a:gd name="connsiteX4" fmla="*/ 0 w 6753034"/>
              <a:gd name="connsiteY4" fmla="*/ 0 h 603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3034" h="603533">
                <a:moveTo>
                  <a:pt x="0" y="0"/>
                </a:moveTo>
                <a:lnTo>
                  <a:pt x="6753034" y="0"/>
                </a:lnTo>
                <a:lnTo>
                  <a:pt x="6753034" y="603533"/>
                </a:lnTo>
                <a:lnTo>
                  <a:pt x="0" y="603533"/>
                </a:lnTo>
                <a:lnTo>
                  <a:pt x="0" y="0"/>
                </a:lnTo>
                <a:close/>
              </a:path>
            </a:pathLst>
          </a:custGeom>
          <a:solidFill>
            <a:schemeClr val="accent1"/>
          </a:solidFill>
          <a:ln w="12700">
            <a:solidFill>
              <a:srgbClr val="232F3E"/>
            </a:solidFill>
          </a:ln>
          <a:effectLst/>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409575" lvl="0" indent="0" algn="l" defTabSz="800100" rtl="0" eaLnBrk="1" latinLnBrk="0" hangingPunct="1">
              <a:lnSpc>
                <a:spcPct val="90000"/>
              </a:lnSpc>
              <a:spcBef>
                <a:spcPct val="0"/>
              </a:spcBef>
              <a:spcAft>
                <a:spcPct val="35000"/>
              </a:spcAft>
              <a:buNone/>
              <a:tabLst/>
            </a:pPr>
            <a:r>
              <a:rPr lang="en-US" sz="2800" kern="1200" dirty="0">
                <a:solidFill>
                  <a:srgbClr val="FFFFFF"/>
                </a:solidFill>
                <a:ea typeface="Amazon Ember" panose="020B0603020204020204" pitchFamily="34" charset="0"/>
                <a:cs typeface="Amazon Ember" panose="020B0603020204020204" pitchFamily="34" charset="0"/>
              </a:rPr>
              <a:t>AWS Regions</a:t>
            </a:r>
          </a:p>
        </p:txBody>
      </p:sp>
      <p:sp>
        <p:nvSpPr>
          <p:cNvPr id="11" name="Oval 10">
            <a:extLst>
              <a:ext uri="{FF2B5EF4-FFF2-40B4-BE49-F238E27FC236}">
                <a16:creationId xmlns:a16="http://schemas.microsoft.com/office/drawing/2014/main" id="{374463FD-5512-47CC-8F31-9B83B32DD52D}"/>
              </a:ext>
              <a:ext uri="{C183D7F6-B498-43B3-948B-1728B52AA6E4}">
                <adec:decorative xmlns:adec="http://schemas.microsoft.com/office/drawing/2017/decorative" val="1"/>
              </a:ext>
            </a:extLst>
          </p:cNvPr>
          <p:cNvSpPr/>
          <p:nvPr/>
        </p:nvSpPr>
        <p:spPr>
          <a:xfrm>
            <a:off x="4301915" y="1575252"/>
            <a:ext cx="754417" cy="754417"/>
          </a:xfrm>
          <a:prstGeom prst="ellipse">
            <a:avLst/>
          </a:prstGeom>
          <a:ln>
            <a:solidFill>
              <a:schemeClr val="accent1"/>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GB" dirty="0"/>
          </a:p>
        </p:txBody>
      </p:sp>
      <p:sp>
        <p:nvSpPr>
          <p:cNvPr id="12" name="Freeform: Shape 11">
            <a:extLst>
              <a:ext uri="{FF2B5EF4-FFF2-40B4-BE49-F238E27FC236}">
                <a16:creationId xmlns:a16="http://schemas.microsoft.com/office/drawing/2014/main" id="{B43FC16F-F636-4F96-8663-33FFD0C482EF}"/>
              </a:ext>
              <a:ext uri="{C183D7F6-B498-43B3-948B-1728B52AA6E4}">
                <adec:decorative xmlns:adec="http://schemas.microsoft.com/office/drawing/2017/decorative" val="1"/>
              </a:ext>
            </a:extLst>
          </p:cNvPr>
          <p:cNvSpPr/>
          <p:nvPr/>
        </p:nvSpPr>
        <p:spPr>
          <a:xfrm>
            <a:off x="5111598" y="2555704"/>
            <a:ext cx="6320559" cy="603533"/>
          </a:xfrm>
          <a:custGeom>
            <a:avLst/>
            <a:gdLst>
              <a:gd name="connsiteX0" fmla="*/ 0 w 6320559"/>
              <a:gd name="connsiteY0" fmla="*/ 0 h 603533"/>
              <a:gd name="connsiteX1" fmla="*/ 6320559 w 6320559"/>
              <a:gd name="connsiteY1" fmla="*/ 0 h 603533"/>
              <a:gd name="connsiteX2" fmla="*/ 6320559 w 6320559"/>
              <a:gd name="connsiteY2" fmla="*/ 603533 h 603533"/>
              <a:gd name="connsiteX3" fmla="*/ 0 w 6320559"/>
              <a:gd name="connsiteY3" fmla="*/ 603533 h 603533"/>
              <a:gd name="connsiteX4" fmla="*/ 0 w 6320559"/>
              <a:gd name="connsiteY4" fmla="*/ 0 h 603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0559" h="603533">
                <a:moveTo>
                  <a:pt x="0" y="0"/>
                </a:moveTo>
                <a:lnTo>
                  <a:pt x="6320559" y="0"/>
                </a:lnTo>
                <a:lnTo>
                  <a:pt x="6320559" y="603533"/>
                </a:lnTo>
                <a:lnTo>
                  <a:pt x="0" y="603533"/>
                </a:lnTo>
                <a:lnTo>
                  <a:pt x="0" y="0"/>
                </a:lnTo>
                <a:close/>
              </a:path>
            </a:pathLst>
          </a:custGeom>
          <a:solidFill>
            <a:schemeClr val="accent6"/>
          </a:solidFill>
          <a:ln w="12700">
            <a:solidFill>
              <a:srgbClr val="232F3E"/>
            </a:solidFill>
          </a:ln>
          <a:effectLst/>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409575" lvl="0" indent="0" algn="l" defTabSz="800100" rtl="0" eaLnBrk="1" latinLnBrk="0" hangingPunct="1">
              <a:lnSpc>
                <a:spcPct val="90000"/>
              </a:lnSpc>
              <a:spcBef>
                <a:spcPct val="0"/>
              </a:spcBef>
              <a:spcAft>
                <a:spcPct val="35000"/>
              </a:spcAft>
              <a:buNone/>
              <a:tabLst/>
            </a:pPr>
            <a:r>
              <a:rPr lang="en-US" sz="2800" kern="1200" dirty="0">
                <a:solidFill>
                  <a:schemeClr val="bg1"/>
                </a:solidFill>
                <a:ea typeface="Amazon Ember" panose="020B0603020204020204" pitchFamily="34" charset="0"/>
                <a:cs typeface="Amazon Ember" panose="020B0603020204020204" pitchFamily="34" charset="0"/>
              </a:rPr>
              <a:t>Availability Zones</a:t>
            </a:r>
          </a:p>
        </p:txBody>
      </p:sp>
      <p:sp>
        <p:nvSpPr>
          <p:cNvPr id="13" name="Oval 12">
            <a:extLst>
              <a:ext uri="{FF2B5EF4-FFF2-40B4-BE49-F238E27FC236}">
                <a16:creationId xmlns:a16="http://schemas.microsoft.com/office/drawing/2014/main" id="{A5E8FA26-ACAB-4A07-8EF9-6E3CB0462022}"/>
              </a:ext>
              <a:ext uri="{C183D7F6-B498-43B3-948B-1728B52AA6E4}">
                <adec:decorative xmlns:adec="http://schemas.microsoft.com/office/drawing/2017/decorative" val="1"/>
              </a:ext>
            </a:extLst>
          </p:cNvPr>
          <p:cNvSpPr/>
          <p:nvPr/>
        </p:nvSpPr>
        <p:spPr>
          <a:xfrm>
            <a:off x="4734389" y="2480263"/>
            <a:ext cx="754417" cy="754417"/>
          </a:xfrm>
          <a:prstGeom prst="ellipse">
            <a:avLst/>
          </a:prstGeom>
          <a:ln>
            <a:solidFill>
              <a:schemeClr val="accent6"/>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GB" dirty="0"/>
          </a:p>
        </p:txBody>
      </p:sp>
      <p:sp>
        <p:nvSpPr>
          <p:cNvPr id="14" name="Freeform: Shape 13">
            <a:extLst>
              <a:ext uri="{FF2B5EF4-FFF2-40B4-BE49-F238E27FC236}">
                <a16:creationId xmlns:a16="http://schemas.microsoft.com/office/drawing/2014/main" id="{17922F67-2D36-4A84-95C8-403AE78C0436}"/>
              </a:ext>
              <a:ext uri="{C183D7F6-B498-43B3-948B-1728B52AA6E4}">
                <adec:decorative xmlns:adec="http://schemas.microsoft.com/office/drawing/2017/decorative" val="1"/>
              </a:ext>
            </a:extLst>
          </p:cNvPr>
          <p:cNvSpPr/>
          <p:nvPr/>
        </p:nvSpPr>
        <p:spPr>
          <a:xfrm>
            <a:off x="5244333" y="3460716"/>
            <a:ext cx="6187824" cy="603533"/>
          </a:xfrm>
          <a:custGeom>
            <a:avLst/>
            <a:gdLst>
              <a:gd name="connsiteX0" fmla="*/ 0 w 6187824"/>
              <a:gd name="connsiteY0" fmla="*/ 0 h 603533"/>
              <a:gd name="connsiteX1" fmla="*/ 6187824 w 6187824"/>
              <a:gd name="connsiteY1" fmla="*/ 0 h 603533"/>
              <a:gd name="connsiteX2" fmla="*/ 6187824 w 6187824"/>
              <a:gd name="connsiteY2" fmla="*/ 603533 h 603533"/>
              <a:gd name="connsiteX3" fmla="*/ 0 w 6187824"/>
              <a:gd name="connsiteY3" fmla="*/ 603533 h 603533"/>
              <a:gd name="connsiteX4" fmla="*/ 0 w 6187824"/>
              <a:gd name="connsiteY4" fmla="*/ 0 h 603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87824" h="603533">
                <a:moveTo>
                  <a:pt x="0" y="0"/>
                </a:moveTo>
                <a:lnTo>
                  <a:pt x="6187824" y="0"/>
                </a:lnTo>
                <a:lnTo>
                  <a:pt x="6187824" y="603533"/>
                </a:lnTo>
                <a:lnTo>
                  <a:pt x="0" y="603533"/>
                </a:lnTo>
                <a:lnTo>
                  <a:pt x="0" y="0"/>
                </a:lnTo>
                <a:close/>
              </a:path>
            </a:pathLst>
          </a:custGeom>
          <a:solidFill>
            <a:srgbClr val="9E1F63"/>
          </a:solidFill>
          <a:ln w="12700">
            <a:solidFill>
              <a:srgbClr val="232F3E"/>
            </a:solidFill>
          </a:ln>
          <a:effectLst/>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409575" lvl="0" indent="0" algn="l" defTabSz="800100" rtl="0" eaLnBrk="1" latinLnBrk="0" hangingPunct="1">
              <a:lnSpc>
                <a:spcPct val="90000"/>
              </a:lnSpc>
              <a:spcBef>
                <a:spcPct val="0"/>
              </a:spcBef>
              <a:spcAft>
                <a:spcPct val="35000"/>
              </a:spcAft>
              <a:buNone/>
              <a:tabLst/>
            </a:pPr>
            <a:r>
              <a:rPr lang="en-US" sz="2800" kern="1200" dirty="0">
                <a:solidFill>
                  <a:srgbClr val="FFFFFF"/>
                </a:solidFill>
                <a:ea typeface="Amazon Ember" panose="020B0603020204020204" pitchFamily="34" charset="0"/>
                <a:cs typeface="Amazon Ember" panose="020B0603020204020204" pitchFamily="34" charset="0"/>
              </a:rPr>
              <a:t>AWS Local Zones</a:t>
            </a:r>
          </a:p>
        </p:txBody>
      </p:sp>
      <p:sp>
        <p:nvSpPr>
          <p:cNvPr id="15" name="Oval 14">
            <a:extLst>
              <a:ext uri="{FF2B5EF4-FFF2-40B4-BE49-F238E27FC236}">
                <a16:creationId xmlns:a16="http://schemas.microsoft.com/office/drawing/2014/main" id="{A08DC78F-98A7-485F-A194-A572EDDB8AC5}"/>
              </a:ext>
              <a:ext uri="{C183D7F6-B498-43B3-948B-1728B52AA6E4}">
                <adec:decorative xmlns:adec="http://schemas.microsoft.com/office/drawing/2017/decorative" val="1"/>
              </a:ext>
            </a:extLst>
          </p:cNvPr>
          <p:cNvSpPr/>
          <p:nvPr/>
        </p:nvSpPr>
        <p:spPr>
          <a:xfrm>
            <a:off x="4867124" y="3385274"/>
            <a:ext cx="754417" cy="754417"/>
          </a:xfrm>
          <a:prstGeom prst="ellipse">
            <a:avLst/>
          </a:prstGeom>
          <a:ln>
            <a:solidFill>
              <a:srgbClr val="9E1F63"/>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GB" dirty="0"/>
          </a:p>
        </p:txBody>
      </p:sp>
      <p:sp>
        <p:nvSpPr>
          <p:cNvPr id="16" name="Freeform: Shape 15">
            <a:extLst>
              <a:ext uri="{FF2B5EF4-FFF2-40B4-BE49-F238E27FC236}">
                <a16:creationId xmlns:a16="http://schemas.microsoft.com/office/drawing/2014/main" id="{B10D3FEC-9CB8-4EB5-A0E3-1341D2FDD87E}"/>
              </a:ext>
              <a:ext uri="{C183D7F6-B498-43B3-948B-1728B52AA6E4}">
                <adec:decorative xmlns:adec="http://schemas.microsoft.com/office/drawing/2017/decorative" val="1"/>
              </a:ext>
            </a:extLst>
          </p:cNvPr>
          <p:cNvSpPr/>
          <p:nvPr/>
        </p:nvSpPr>
        <p:spPr>
          <a:xfrm>
            <a:off x="5111598" y="4365727"/>
            <a:ext cx="6320559" cy="603533"/>
          </a:xfrm>
          <a:custGeom>
            <a:avLst/>
            <a:gdLst>
              <a:gd name="connsiteX0" fmla="*/ 0 w 6320559"/>
              <a:gd name="connsiteY0" fmla="*/ 0 h 603533"/>
              <a:gd name="connsiteX1" fmla="*/ 6320559 w 6320559"/>
              <a:gd name="connsiteY1" fmla="*/ 0 h 603533"/>
              <a:gd name="connsiteX2" fmla="*/ 6320559 w 6320559"/>
              <a:gd name="connsiteY2" fmla="*/ 603533 h 603533"/>
              <a:gd name="connsiteX3" fmla="*/ 0 w 6320559"/>
              <a:gd name="connsiteY3" fmla="*/ 603533 h 603533"/>
              <a:gd name="connsiteX4" fmla="*/ 0 w 6320559"/>
              <a:gd name="connsiteY4" fmla="*/ 0 h 603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0559" h="603533">
                <a:moveTo>
                  <a:pt x="0" y="0"/>
                </a:moveTo>
                <a:lnTo>
                  <a:pt x="6320559" y="0"/>
                </a:lnTo>
                <a:lnTo>
                  <a:pt x="6320559" y="603533"/>
                </a:lnTo>
                <a:lnTo>
                  <a:pt x="0" y="603533"/>
                </a:lnTo>
                <a:lnTo>
                  <a:pt x="0" y="0"/>
                </a:lnTo>
                <a:close/>
              </a:path>
            </a:pathLst>
          </a:custGeom>
          <a:solidFill>
            <a:schemeClr val="accent6"/>
          </a:solidFill>
          <a:ln w="12700">
            <a:solidFill>
              <a:srgbClr val="232F3E"/>
            </a:solidFill>
          </a:ln>
          <a:effectLst/>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409575" lvl="0" indent="0" algn="l" defTabSz="800100" rtl="0" eaLnBrk="1" latinLnBrk="0" hangingPunct="1">
              <a:lnSpc>
                <a:spcPct val="90000"/>
              </a:lnSpc>
              <a:spcBef>
                <a:spcPct val="0"/>
              </a:spcBef>
              <a:spcAft>
                <a:spcPct val="35000"/>
              </a:spcAft>
              <a:buNone/>
              <a:tabLst/>
            </a:pPr>
            <a:r>
              <a:rPr lang="en-US" sz="2800" kern="1200" dirty="0">
                <a:solidFill>
                  <a:schemeClr val="bg1"/>
                </a:solidFill>
                <a:ea typeface="Amazon Ember" panose="020B0603020204020204" pitchFamily="34" charset="0"/>
                <a:cs typeface="Amazon Ember" panose="020B0603020204020204" pitchFamily="34" charset="0"/>
              </a:rPr>
              <a:t>AWS </a:t>
            </a:r>
            <a:r>
              <a:rPr lang="en-US" sz="2800" dirty="0">
                <a:solidFill>
                  <a:schemeClr val="bg1"/>
                </a:solidFill>
                <a:ea typeface="Amazon Ember" panose="020B0603020204020204" pitchFamily="34" charset="0"/>
                <a:cs typeface="Amazon Ember" panose="020B0603020204020204" pitchFamily="34" charset="0"/>
              </a:rPr>
              <a:t>data centers</a:t>
            </a:r>
            <a:endParaRPr lang="en-US" sz="2800" kern="1200" dirty="0">
              <a:solidFill>
                <a:schemeClr val="bg1"/>
              </a:solidFill>
              <a:ea typeface="Amazon Ember" panose="020B0603020204020204" pitchFamily="34" charset="0"/>
              <a:cs typeface="Amazon Ember" panose="020B0603020204020204" pitchFamily="34" charset="0"/>
            </a:endParaRPr>
          </a:p>
        </p:txBody>
      </p:sp>
      <p:sp>
        <p:nvSpPr>
          <p:cNvPr id="17" name="Oval 16">
            <a:extLst>
              <a:ext uri="{FF2B5EF4-FFF2-40B4-BE49-F238E27FC236}">
                <a16:creationId xmlns:a16="http://schemas.microsoft.com/office/drawing/2014/main" id="{79BB4495-CC87-4CA6-9B82-0F67F941DFA3}"/>
              </a:ext>
              <a:ext uri="{C183D7F6-B498-43B3-948B-1728B52AA6E4}">
                <adec:decorative xmlns:adec="http://schemas.microsoft.com/office/drawing/2017/decorative" val="1"/>
              </a:ext>
            </a:extLst>
          </p:cNvPr>
          <p:cNvSpPr/>
          <p:nvPr/>
        </p:nvSpPr>
        <p:spPr>
          <a:xfrm>
            <a:off x="4734389" y="4290285"/>
            <a:ext cx="754417" cy="754417"/>
          </a:xfrm>
          <a:prstGeom prst="ellipse">
            <a:avLst/>
          </a:prstGeom>
          <a:ln>
            <a:solidFill>
              <a:schemeClr val="accent6"/>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GB" dirty="0"/>
          </a:p>
        </p:txBody>
      </p:sp>
      <p:sp>
        <p:nvSpPr>
          <p:cNvPr id="18" name="Freeform: Shape 17">
            <a:extLst>
              <a:ext uri="{FF2B5EF4-FFF2-40B4-BE49-F238E27FC236}">
                <a16:creationId xmlns:a16="http://schemas.microsoft.com/office/drawing/2014/main" id="{956B1480-774B-4897-8799-3A555952F970}"/>
              </a:ext>
              <a:ext uri="{C183D7F6-B498-43B3-948B-1728B52AA6E4}">
                <adec:decorative xmlns:adec="http://schemas.microsoft.com/office/drawing/2017/decorative" val="1"/>
              </a:ext>
            </a:extLst>
          </p:cNvPr>
          <p:cNvSpPr/>
          <p:nvPr/>
        </p:nvSpPr>
        <p:spPr>
          <a:xfrm>
            <a:off x="4679123" y="5270738"/>
            <a:ext cx="6753034" cy="603533"/>
          </a:xfrm>
          <a:custGeom>
            <a:avLst/>
            <a:gdLst>
              <a:gd name="connsiteX0" fmla="*/ 0 w 6753034"/>
              <a:gd name="connsiteY0" fmla="*/ 0 h 603533"/>
              <a:gd name="connsiteX1" fmla="*/ 6753034 w 6753034"/>
              <a:gd name="connsiteY1" fmla="*/ 0 h 603533"/>
              <a:gd name="connsiteX2" fmla="*/ 6753034 w 6753034"/>
              <a:gd name="connsiteY2" fmla="*/ 603533 h 603533"/>
              <a:gd name="connsiteX3" fmla="*/ 0 w 6753034"/>
              <a:gd name="connsiteY3" fmla="*/ 603533 h 603533"/>
              <a:gd name="connsiteX4" fmla="*/ 0 w 6753034"/>
              <a:gd name="connsiteY4" fmla="*/ 0 h 603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3034" h="603533">
                <a:moveTo>
                  <a:pt x="0" y="0"/>
                </a:moveTo>
                <a:lnTo>
                  <a:pt x="6753034" y="0"/>
                </a:lnTo>
                <a:lnTo>
                  <a:pt x="6753034" y="603533"/>
                </a:lnTo>
                <a:lnTo>
                  <a:pt x="0" y="603533"/>
                </a:lnTo>
                <a:lnTo>
                  <a:pt x="0" y="0"/>
                </a:lnTo>
                <a:close/>
              </a:path>
            </a:pathLst>
          </a:custGeom>
          <a:solidFill>
            <a:schemeClr val="accent1"/>
          </a:solidFill>
          <a:ln w="12700">
            <a:solidFill>
              <a:srgbClr val="232F3E"/>
            </a:solidFill>
          </a:ln>
          <a:effectLst/>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409575" lvl="0" indent="0" algn="l" defTabSz="1244600">
              <a:lnSpc>
                <a:spcPct val="90000"/>
              </a:lnSpc>
              <a:spcBef>
                <a:spcPct val="0"/>
              </a:spcBef>
              <a:spcAft>
                <a:spcPct val="35000"/>
              </a:spcAft>
              <a:buNone/>
              <a:tabLst/>
            </a:pPr>
            <a:r>
              <a:rPr lang="en-US" sz="2800" kern="1200" dirty="0">
                <a:solidFill>
                  <a:srgbClr val="FFFFFF"/>
                </a:solidFill>
                <a:ea typeface="Amazon Ember" panose="020B0603020204020204" pitchFamily="34" charset="0"/>
                <a:cs typeface="Amazon Ember" panose="020B0603020204020204" pitchFamily="34" charset="0"/>
              </a:rPr>
              <a:t>AWS points of presence (PoPs)</a:t>
            </a:r>
            <a:endParaRPr lang="en-US" sz="2800" b="0" i="0" kern="1200" dirty="0">
              <a:ea typeface="Amazon Ember" panose="020B0603020204020204" pitchFamily="34" charset="0"/>
              <a:cs typeface="Amazon Ember" panose="020B0603020204020204" pitchFamily="34" charset="0"/>
            </a:endParaRPr>
          </a:p>
        </p:txBody>
      </p:sp>
      <p:sp>
        <p:nvSpPr>
          <p:cNvPr id="19" name="Oval 18">
            <a:extLst>
              <a:ext uri="{FF2B5EF4-FFF2-40B4-BE49-F238E27FC236}">
                <a16:creationId xmlns:a16="http://schemas.microsoft.com/office/drawing/2014/main" id="{102988E7-B09A-43A8-9E14-818AD09D14F4}"/>
              </a:ext>
              <a:ext uri="{C183D7F6-B498-43B3-948B-1728B52AA6E4}">
                <adec:decorative xmlns:adec="http://schemas.microsoft.com/office/drawing/2017/decorative" val="1"/>
              </a:ext>
            </a:extLst>
          </p:cNvPr>
          <p:cNvSpPr/>
          <p:nvPr/>
        </p:nvSpPr>
        <p:spPr>
          <a:xfrm>
            <a:off x="4301915" y="5195296"/>
            <a:ext cx="754417" cy="754417"/>
          </a:xfrm>
          <a:prstGeom prst="ellipse">
            <a:avLst/>
          </a:prstGeom>
          <a:ln>
            <a:solidFill>
              <a:schemeClr val="accent1"/>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GB" dirty="0"/>
          </a:p>
        </p:txBody>
      </p:sp>
      <p:pic>
        <p:nvPicPr>
          <p:cNvPr id="20" name="Graphic 19">
            <a:extLst>
              <a:ext uri="{FF2B5EF4-FFF2-40B4-BE49-F238E27FC236}">
                <a16:creationId xmlns:a16="http://schemas.microsoft.com/office/drawing/2014/main" id="{D9C05860-0EA0-4E70-95F7-3D36CD76208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8645" y="803653"/>
            <a:ext cx="5855425" cy="5855425"/>
          </a:xfrm>
          <a:prstGeom prst="rect">
            <a:avLst/>
          </a:prstGeom>
        </p:spPr>
      </p:pic>
    </p:spTree>
    <p:custDataLst>
      <p:tags r:id="rId1"/>
    </p:custDataLst>
    <p:extLst>
      <p:ext uri="{BB962C8B-B14F-4D97-AF65-F5344CB8AC3E}">
        <p14:creationId xmlns:p14="http://schemas.microsoft.com/office/powerpoint/2010/main" val="36794227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FA19C5B4-5078-4BEE-9D65-204BDD73097C}"/>
              </a:ext>
            </a:extLst>
          </p:cNvPr>
          <p:cNvSpPr>
            <a:spLocks noGrp="1"/>
          </p:cNvSpPr>
          <p:nvPr>
            <p:ph type="sldNum" idx="97"/>
          </p:nvPr>
        </p:nvSpPr>
        <p:spPr/>
        <p:txBody>
          <a:bodyPr/>
          <a:lstStyle/>
          <a:p>
            <a:fld id="{B6A95138-A96E-2F42-A959-2EFD44FE4AB7}" type="slidenum">
              <a:rPr lang="en-US" smtClean="0"/>
              <a:pPr/>
              <a:t>37</a:t>
            </a:fld>
            <a:endParaRPr lang="en-US" dirty="0"/>
          </a:p>
        </p:txBody>
      </p:sp>
      <p:sp>
        <p:nvSpPr>
          <p:cNvPr id="2" name="Title">
            <a:extLst>
              <a:ext uri="{FF2B5EF4-FFF2-40B4-BE49-F238E27FC236}">
                <a16:creationId xmlns:a16="http://schemas.microsoft.com/office/drawing/2014/main" id="{12333780-451D-624F-B22F-AC4418A3F4D9}"/>
              </a:ext>
            </a:extLst>
          </p:cNvPr>
          <p:cNvSpPr>
            <a:spLocks noGrp="1"/>
          </p:cNvSpPr>
          <p:nvPr>
            <p:ph type="title" idx="1"/>
          </p:nvPr>
        </p:nvSpPr>
        <p:spPr/>
        <p:txBody>
          <a:bodyPr/>
          <a:lstStyle/>
          <a:p>
            <a:r>
              <a:rPr lang="en-US" dirty="0"/>
              <a:t>Selecting Regions</a:t>
            </a:r>
          </a:p>
        </p:txBody>
      </p:sp>
      <p:sp>
        <p:nvSpPr>
          <p:cNvPr id="8" name="Content Placeholder 7">
            <a:extLst>
              <a:ext uri="{FF2B5EF4-FFF2-40B4-BE49-F238E27FC236}">
                <a16:creationId xmlns:a16="http://schemas.microsoft.com/office/drawing/2014/main" id="{3C6CF8A8-F13E-FE48-989A-6D6DE37A05C1}"/>
              </a:ext>
            </a:extLst>
          </p:cNvPr>
          <p:cNvSpPr>
            <a:spLocks noGrp="1"/>
          </p:cNvSpPr>
          <p:nvPr>
            <p:ph idx="2"/>
          </p:nvPr>
        </p:nvSpPr>
        <p:spPr>
          <a:xfrm>
            <a:off x="365760" y="1097280"/>
            <a:ext cx="7101840" cy="5330952"/>
          </a:xfrm>
        </p:spPr>
        <p:txBody>
          <a:bodyPr>
            <a:normAutofit/>
          </a:bodyPr>
          <a:lstStyle/>
          <a:p>
            <a:r>
              <a:rPr lang="en-US" sz="2400" dirty="0">
                <a:latin typeface="+mn-lt"/>
              </a:rPr>
              <a:t>A </a:t>
            </a:r>
            <a:r>
              <a:rPr lang="en-US" sz="2400" dirty="0">
                <a:latin typeface="+mn-lt"/>
                <a:ea typeface="Amazon Ember" panose="02000000000000000000" pitchFamily="2" charset="0"/>
              </a:rPr>
              <a:t>Region </a:t>
            </a:r>
            <a:r>
              <a:rPr lang="en-US" sz="2400" dirty="0">
                <a:latin typeface="+mn-lt"/>
              </a:rPr>
              <a:t>is a geographical area.</a:t>
            </a:r>
          </a:p>
          <a:p>
            <a:r>
              <a:rPr lang="en-US" sz="2400" dirty="0">
                <a:latin typeface="+mn-lt"/>
              </a:rPr>
              <a:t>Each Region usually consists of </a:t>
            </a:r>
            <a:r>
              <a:rPr lang="en-US" sz="2400" dirty="0">
                <a:latin typeface="+mn-lt"/>
                <a:ea typeface="Amazon Ember" panose="02000000000000000000" pitchFamily="2" charset="0"/>
              </a:rPr>
              <a:t>two or more Availability Zones.</a:t>
            </a:r>
          </a:p>
          <a:p>
            <a:r>
              <a:rPr lang="en-US" sz="2400" dirty="0">
                <a:latin typeface="+mn-lt"/>
              </a:rPr>
              <a:t>Communication between Regions uses </a:t>
            </a:r>
            <a:r>
              <a:rPr lang="en-US" sz="2400" dirty="0">
                <a:latin typeface="+mn-lt"/>
                <a:ea typeface="Amazon Ember" panose="02000000000000000000" pitchFamily="2" charset="0"/>
              </a:rPr>
              <a:t>AWS backbone network </a:t>
            </a:r>
            <a:r>
              <a:rPr lang="en-US" sz="2400" dirty="0">
                <a:latin typeface="+mn-lt"/>
              </a:rPr>
              <a:t>infrastructure.</a:t>
            </a:r>
          </a:p>
          <a:p>
            <a:r>
              <a:rPr lang="en-US" sz="2400" dirty="0">
                <a:latin typeface="+mn-lt"/>
              </a:rPr>
              <a:t>You enable and control </a:t>
            </a:r>
            <a:r>
              <a:rPr lang="en-US" sz="2400" dirty="0">
                <a:latin typeface="+mn-lt"/>
                <a:ea typeface="Amazon Ember" panose="02000000000000000000" pitchFamily="2" charset="0"/>
              </a:rPr>
              <a:t>data replication </a:t>
            </a:r>
            <a:r>
              <a:rPr lang="en-US" sz="2400" dirty="0">
                <a:latin typeface="+mn-lt"/>
              </a:rPr>
              <a:t>across Regions.</a:t>
            </a:r>
          </a:p>
        </p:txBody>
      </p:sp>
      <p:grpSp>
        <p:nvGrpSpPr>
          <p:cNvPr id="3" name="Flatten graphic" descr="Region with three Availability Zones.">
            <a:extLst>
              <a:ext uri="{FF2B5EF4-FFF2-40B4-BE49-F238E27FC236}">
                <a16:creationId xmlns:a16="http://schemas.microsoft.com/office/drawing/2014/main" id="{321D3D8E-E289-4214-9811-672F12A6FCDC}"/>
              </a:ext>
            </a:extLst>
          </p:cNvPr>
          <p:cNvGrpSpPr/>
          <p:nvPr/>
        </p:nvGrpSpPr>
        <p:grpSpPr>
          <a:xfrm>
            <a:off x="7650641" y="1381605"/>
            <a:ext cx="3725218" cy="4716379"/>
            <a:chOff x="7650641" y="1381605"/>
            <a:chExt cx="3725218" cy="4716379"/>
          </a:xfrm>
        </p:grpSpPr>
        <p:sp>
          <p:nvSpPr>
            <p:cNvPr id="7" name="Rectangle 6">
              <a:extLst>
                <a:ext uri="{FF2B5EF4-FFF2-40B4-BE49-F238E27FC236}">
                  <a16:creationId xmlns:a16="http://schemas.microsoft.com/office/drawing/2014/main" id="{6F2D56AD-0D0F-4937-8226-AD05AD568EF3}"/>
                </a:ext>
                <a:ext uri="{C183D7F6-B498-43B3-948B-1728B52AA6E4}">
                  <adec:decorative xmlns:adec="http://schemas.microsoft.com/office/drawing/2017/decorative" val="1"/>
                </a:ext>
              </a:extLst>
            </p:cNvPr>
            <p:cNvSpPr/>
            <p:nvPr/>
          </p:nvSpPr>
          <p:spPr>
            <a:xfrm>
              <a:off x="7650641" y="1381605"/>
              <a:ext cx="3725218" cy="4716379"/>
            </a:xfrm>
            <a:prstGeom prst="rect">
              <a:avLst/>
            </a:prstGeom>
            <a:noFill/>
            <a:ln w="15875">
              <a:solidFill>
                <a:srgbClr val="00A4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solidFill>
                    <a:srgbClr val="232F3E"/>
                  </a:solidFill>
                  <a:cs typeface="Arial" panose="020B0604020202020204" pitchFamily="34" charset="0"/>
                </a:rPr>
                <a:t>Region</a:t>
              </a:r>
            </a:p>
          </p:txBody>
        </p:sp>
        <p:pic>
          <p:nvPicPr>
            <p:cNvPr id="9" name="Graphic 8">
              <a:extLst>
                <a:ext uri="{FF2B5EF4-FFF2-40B4-BE49-F238E27FC236}">
                  <a16:creationId xmlns:a16="http://schemas.microsoft.com/office/drawing/2014/main" id="{D84AE18B-3808-4FC0-A77C-584AA0E36F4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651644" y="1381605"/>
              <a:ext cx="381000" cy="381000"/>
            </a:xfrm>
            <a:prstGeom prst="rect">
              <a:avLst/>
            </a:prstGeom>
          </p:spPr>
        </p:pic>
        <p:sp>
          <p:nvSpPr>
            <p:cNvPr id="10" name="Rectangle 9">
              <a:extLst>
                <a:ext uri="{FF2B5EF4-FFF2-40B4-BE49-F238E27FC236}">
                  <a16:creationId xmlns:a16="http://schemas.microsoft.com/office/drawing/2014/main" id="{07E52759-5565-40CA-9ED0-A50374820119}"/>
                </a:ext>
                <a:ext uri="{C183D7F6-B498-43B3-948B-1728B52AA6E4}">
                  <adec:decorative xmlns:adec="http://schemas.microsoft.com/office/drawing/2017/decorative" val="1"/>
                </a:ext>
              </a:extLst>
            </p:cNvPr>
            <p:cNvSpPr/>
            <p:nvPr/>
          </p:nvSpPr>
          <p:spPr>
            <a:xfrm>
              <a:off x="7842143" y="1966302"/>
              <a:ext cx="3323161" cy="1143525"/>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600" dirty="0">
                  <a:solidFill>
                    <a:srgbClr val="232F3E"/>
                  </a:solidFill>
                  <a:cs typeface="Arial" panose="020B0604020202020204" pitchFamily="34" charset="0"/>
                </a:rPr>
                <a:t>Availability Zone</a:t>
              </a:r>
            </a:p>
          </p:txBody>
        </p:sp>
        <p:sp>
          <p:nvSpPr>
            <p:cNvPr id="11" name="Rectangle 10">
              <a:extLst>
                <a:ext uri="{FF2B5EF4-FFF2-40B4-BE49-F238E27FC236}">
                  <a16:creationId xmlns:a16="http://schemas.microsoft.com/office/drawing/2014/main" id="{50973853-FF86-4E73-8AB5-7EC52666D43D}"/>
                </a:ext>
                <a:ext uri="{C183D7F6-B498-43B3-948B-1728B52AA6E4}">
                  <adec:decorative xmlns:adec="http://schemas.microsoft.com/office/drawing/2017/decorative" val="1"/>
                </a:ext>
              </a:extLst>
            </p:cNvPr>
            <p:cNvSpPr/>
            <p:nvPr/>
          </p:nvSpPr>
          <p:spPr>
            <a:xfrm>
              <a:off x="7842142" y="3371156"/>
              <a:ext cx="3323161" cy="1143525"/>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600" dirty="0">
                  <a:solidFill>
                    <a:srgbClr val="232F3E"/>
                  </a:solidFill>
                  <a:cs typeface="Arial" panose="020B0604020202020204" pitchFamily="34" charset="0"/>
                </a:rPr>
                <a:t>Availability Zone</a:t>
              </a:r>
            </a:p>
          </p:txBody>
        </p:sp>
        <p:sp>
          <p:nvSpPr>
            <p:cNvPr id="12" name="Rectangle 11">
              <a:extLst>
                <a:ext uri="{FF2B5EF4-FFF2-40B4-BE49-F238E27FC236}">
                  <a16:creationId xmlns:a16="http://schemas.microsoft.com/office/drawing/2014/main" id="{57BB9DB8-B922-49EE-A024-E47EC0D926C3}"/>
                </a:ext>
                <a:ext uri="{C183D7F6-B498-43B3-948B-1728B52AA6E4}">
                  <adec:decorative xmlns:adec="http://schemas.microsoft.com/office/drawing/2017/decorative" val="1"/>
                </a:ext>
              </a:extLst>
            </p:cNvPr>
            <p:cNvSpPr/>
            <p:nvPr/>
          </p:nvSpPr>
          <p:spPr>
            <a:xfrm>
              <a:off x="7842142" y="4776011"/>
              <a:ext cx="3323160" cy="1143525"/>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600" dirty="0">
                  <a:solidFill>
                    <a:srgbClr val="232F3E"/>
                  </a:solidFill>
                  <a:cs typeface="Arial" panose="020B0604020202020204" pitchFamily="34" charset="0"/>
                </a:rPr>
                <a:t>Availability Zone</a:t>
              </a:r>
            </a:p>
          </p:txBody>
        </p:sp>
      </p:grpSp>
    </p:spTree>
    <p:custDataLst>
      <p:tags r:id="rId1"/>
    </p:custDataLst>
    <p:extLst>
      <p:ext uri="{BB962C8B-B14F-4D97-AF65-F5344CB8AC3E}">
        <p14:creationId xmlns:p14="http://schemas.microsoft.com/office/powerpoint/2010/main" val="2133132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4EF4A1D0-CDCD-4370-8066-A51C1D5085CD}"/>
              </a:ext>
            </a:extLst>
          </p:cNvPr>
          <p:cNvSpPr>
            <a:spLocks noGrp="1"/>
          </p:cNvSpPr>
          <p:nvPr>
            <p:ph type="sldNum" idx="97"/>
          </p:nvPr>
        </p:nvSpPr>
        <p:spPr/>
        <p:txBody>
          <a:bodyPr/>
          <a:lstStyle/>
          <a:p>
            <a:fld id="{B6A95138-A96E-2F42-A959-2EFD44FE4AB7}" type="slidenum">
              <a:rPr lang="en-US" smtClean="0"/>
              <a:t>38</a:t>
            </a:fld>
            <a:endParaRPr lang="en-US" dirty="0"/>
          </a:p>
        </p:txBody>
      </p:sp>
      <p:sp>
        <p:nvSpPr>
          <p:cNvPr id="2" name="Title">
            <a:extLst>
              <a:ext uri="{FF2B5EF4-FFF2-40B4-BE49-F238E27FC236}">
                <a16:creationId xmlns:a16="http://schemas.microsoft.com/office/drawing/2014/main" id="{12333780-451D-624F-B22F-AC4418A3F4D9}"/>
              </a:ext>
            </a:extLst>
          </p:cNvPr>
          <p:cNvSpPr>
            <a:spLocks noGrp="1"/>
          </p:cNvSpPr>
          <p:nvPr>
            <p:ph type="title" idx="1"/>
          </p:nvPr>
        </p:nvSpPr>
        <p:spPr/>
        <p:txBody>
          <a:bodyPr>
            <a:noAutofit/>
          </a:bodyPr>
          <a:lstStyle/>
          <a:p>
            <a:r>
              <a:rPr lang="en-US" dirty="0"/>
              <a:t>Selecting Availability Zones</a:t>
            </a:r>
          </a:p>
        </p:txBody>
      </p:sp>
      <p:sp>
        <p:nvSpPr>
          <p:cNvPr id="8" name="Content Placeholder 7">
            <a:extLst>
              <a:ext uri="{FF2B5EF4-FFF2-40B4-BE49-F238E27FC236}">
                <a16:creationId xmlns:a16="http://schemas.microsoft.com/office/drawing/2014/main" id="{3C6CF8A8-F13E-FE48-989A-6D6DE37A05C1}"/>
              </a:ext>
            </a:extLst>
          </p:cNvPr>
          <p:cNvSpPr>
            <a:spLocks noGrp="1"/>
          </p:cNvSpPr>
          <p:nvPr>
            <p:ph idx="2"/>
          </p:nvPr>
        </p:nvSpPr>
        <p:spPr>
          <a:xfrm>
            <a:off x="365760" y="1097280"/>
            <a:ext cx="6576126" cy="5330952"/>
          </a:xfrm>
        </p:spPr>
        <p:txBody>
          <a:bodyPr>
            <a:noAutofit/>
          </a:bodyPr>
          <a:lstStyle/>
          <a:p>
            <a:pPr>
              <a:lnSpc>
                <a:spcPct val="120000"/>
              </a:lnSpc>
              <a:buClr>
                <a:schemeClr val="tx1">
                  <a:lumMod val="85000"/>
                  <a:lumOff val="15000"/>
                </a:schemeClr>
              </a:buClr>
            </a:pPr>
            <a:r>
              <a:rPr lang="en-US" sz="2400" dirty="0">
                <a:latin typeface="+mn-lt"/>
              </a:rPr>
              <a:t>Each Availability Zone includes the following:</a:t>
            </a:r>
          </a:p>
          <a:p>
            <a:pPr lvl="1">
              <a:lnSpc>
                <a:spcPct val="120000"/>
              </a:lnSpc>
              <a:buClr>
                <a:schemeClr val="tx1">
                  <a:lumMod val="85000"/>
                  <a:lumOff val="15000"/>
                </a:schemeClr>
              </a:buClr>
            </a:pPr>
            <a:r>
              <a:rPr lang="en-US" sz="2000" dirty="0">
                <a:latin typeface="+mn-lt"/>
              </a:rPr>
              <a:t>It is made up of </a:t>
            </a:r>
            <a:r>
              <a:rPr lang="en-US" sz="2000" dirty="0">
                <a:latin typeface="+mn-lt"/>
                <a:ea typeface="Amazon Ember" panose="02000000000000000000" pitchFamily="2" charset="0"/>
              </a:rPr>
              <a:t>one or more </a:t>
            </a:r>
            <a:r>
              <a:rPr lang="en-US" sz="2000" dirty="0">
                <a:latin typeface="+mn-lt"/>
              </a:rPr>
              <a:t>data centers.</a:t>
            </a:r>
          </a:p>
          <a:p>
            <a:pPr lvl="1">
              <a:lnSpc>
                <a:spcPct val="120000"/>
              </a:lnSpc>
              <a:buClr>
                <a:schemeClr val="tx1">
                  <a:lumMod val="85000"/>
                  <a:lumOff val="15000"/>
                </a:schemeClr>
              </a:buClr>
            </a:pPr>
            <a:r>
              <a:rPr lang="en-US" sz="2000" dirty="0">
                <a:latin typeface="+mn-lt"/>
              </a:rPr>
              <a:t>It is designed for </a:t>
            </a:r>
            <a:r>
              <a:rPr lang="en-US" sz="2000" dirty="0">
                <a:latin typeface="+mn-lt"/>
                <a:ea typeface="Amazon Ember" panose="02000000000000000000" pitchFamily="2" charset="0"/>
              </a:rPr>
              <a:t>fault isolation.</a:t>
            </a:r>
          </a:p>
          <a:p>
            <a:pPr lvl="1">
              <a:lnSpc>
                <a:spcPct val="120000"/>
              </a:lnSpc>
              <a:buClr>
                <a:schemeClr val="tx1">
                  <a:lumMod val="85000"/>
                  <a:lumOff val="15000"/>
                </a:schemeClr>
              </a:buClr>
            </a:pPr>
            <a:r>
              <a:rPr lang="en-US" sz="2000" dirty="0">
                <a:latin typeface="+mn-lt"/>
              </a:rPr>
              <a:t>It is interconnected with other Availability Zones in a Region using high-speed </a:t>
            </a:r>
            <a:r>
              <a:rPr lang="en-US" sz="2000" dirty="0">
                <a:latin typeface="+mn-lt"/>
                <a:ea typeface="Amazon Ember" panose="02000000000000000000" pitchFamily="2" charset="0"/>
              </a:rPr>
              <a:t>private</a:t>
            </a:r>
            <a:r>
              <a:rPr lang="en-US" sz="2000" dirty="0">
                <a:latin typeface="+mn-lt"/>
              </a:rPr>
              <a:t> links.</a:t>
            </a:r>
          </a:p>
          <a:p>
            <a:pPr>
              <a:lnSpc>
                <a:spcPct val="120000"/>
              </a:lnSpc>
              <a:buClr>
                <a:schemeClr val="tx1">
                  <a:lumMod val="85000"/>
                  <a:lumOff val="15000"/>
                </a:schemeClr>
              </a:buClr>
            </a:pPr>
            <a:r>
              <a:rPr lang="en-US" sz="2400" dirty="0">
                <a:latin typeface="+mn-lt"/>
              </a:rPr>
              <a:t>For certain services, you can choose your Availability Zones.</a:t>
            </a:r>
          </a:p>
          <a:p>
            <a:pPr>
              <a:lnSpc>
                <a:spcPct val="120000"/>
              </a:lnSpc>
              <a:buClr>
                <a:schemeClr val="tx1">
                  <a:lumMod val="85000"/>
                  <a:lumOff val="15000"/>
                </a:schemeClr>
              </a:buClr>
            </a:pPr>
            <a:r>
              <a:rPr lang="en-US" sz="2400" dirty="0">
                <a:latin typeface="+mn-lt"/>
              </a:rPr>
              <a:t>AWS recommends replicating across Availability Zones for resiliency.</a:t>
            </a:r>
          </a:p>
        </p:txBody>
      </p:sp>
      <p:grpSp>
        <p:nvGrpSpPr>
          <p:cNvPr id="3" name="Flatten graphic" descr="AWS Cloud Region with three Availability Zones. One Availability Zone has three data centers.">
            <a:extLst>
              <a:ext uri="{FF2B5EF4-FFF2-40B4-BE49-F238E27FC236}">
                <a16:creationId xmlns:a16="http://schemas.microsoft.com/office/drawing/2014/main" id="{D536994F-6A44-40D4-81C6-6B5389B11912}"/>
              </a:ext>
            </a:extLst>
          </p:cNvPr>
          <p:cNvGrpSpPr/>
          <p:nvPr/>
        </p:nvGrpSpPr>
        <p:grpSpPr>
          <a:xfrm>
            <a:off x="7302365" y="1239864"/>
            <a:ext cx="3923097" cy="5088747"/>
            <a:chOff x="7302365" y="1239864"/>
            <a:chExt cx="3923097" cy="5088747"/>
          </a:xfrm>
        </p:grpSpPr>
        <p:sp>
          <p:nvSpPr>
            <p:cNvPr id="24" name="Rectangle 23">
              <a:extLst>
                <a:ext uri="{FF2B5EF4-FFF2-40B4-BE49-F238E27FC236}">
                  <a16:creationId xmlns:a16="http://schemas.microsoft.com/office/drawing/2014/main" id="{FE4CDE49-7271-42F5-B29D-A9FE0B775DD2}"/>
                </a:ext>
                <a:ext uri="{C183D7F6-B498-43B3-948B-1728B52AA6E4}">
                  <adec:decorative xmlns:adec="http://schemas.microsoft.com/office/drawing/2017/decorative" val="1"/>
                </a:ext>
              </a:extLst>
            </p:cNvPr>
            <p:cNvSpPr/>
            <p:nvPr/>
          </p:nvSpPr>
          <p:spPr>
            <a:xfrm>
              <a:off x="7302365" y="1239864"/>
              <a:ext cx="3923097" cy="5088747"/>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solidFill>
                    <a:srgbClr val="232F3E"/>
                  </a:solidFill>
                  <a:cs typeface="Arial" panose="020B0604020202020204" pitchFamily="34" charset="0"/>
                </a:rPr>
                <a:t>AWS Cloud</a:t>
              </a:r>
            </a:p>
          </p:txBody>
        </p:sp>
        <p:pic>
          <p:nvPicPr>
            <p:cNvPr id="25" name="Graphic 24">
              <a:extLst>
                <a:ext uri="{FF2B5EF4-FFF2-40B4-BE49-F238E27FC236}">
                  <a16:creationId xmlns:a16="http://schemas.microsoft.com/office/drawing/2014/main" id="{0A878984-805E-460F-B27A-4A622CC0A3C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302366" y="1248030"/>
              <a:ext cx="381000" cy="381000"/>
            </a:xfrm>
            <a:prstGeom prst="rect">
              <a:avLst/>
            </a:prstGeom>
          </p:spPr>
        </p:pic>
        <p:sp>
          <p:nvSpPr>
            <p:cNvPr id="35" name="Rectangle 34">
              <a:extLst>
                <a:ext uri="{FF2B5EF4-FFF2-40B4-BE49-F238E27FC236}">
                  <a16:creationId xmlns:a16="http://schemas.microsoft.com/office/drawing/2014/main" id="{291B5E2B-ABE8-4C29-AA9C-F52813AE1F91}"/>
                </a:ext>
                <a:ext uri="{C183D7F6-B498-43B3-948B-1728B52AA6E4}">
                  <adec:decorative xmlns:adec="http://schemas.microsoft.com/office/drawing/2017/decorative" val="1"/>
                </a:ext>
              </a:extLst>
            </p:cNvPr>
            <p:cNvSpPr/>
            <p:nvPr/>
          </p:nvSpPr>
          <p:spPr>
            <a:xfrm>
              <a:off x="7487852" y="1709448"/>
              <a:ext cx="3552123" cy="4426659"/>
            </a:xfrm>
            <a:prstGeom prst="rect">
              <a:avLst/>
            </a:prstGeom>
            <a:noFill/>
            <a:ln w="15875">
              <a:solidFill>
                <a:srgbClr val="00A4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solidFill>
                    <a:srgbClr val="232F3E"/>
                  </a:solidFill>
                  <a:cs typeface="Arial" panose="020B0604020202020204" pitchFamily="34" charset="0"/>
                </a:rPr>
                <a:t>Region</a:t>
              </a:r>
            </a:p>
          </p:txBody>
        </p:sp>
        <p:pic>
          <p:nvPicPr>
            <p:cNvPr id="36" name="Graphic 35">
              <a:extLst>
                <a:ext uri="{FF2B5EF4-FFF2-40B4-BE49-F238E27FC236}">
                  <a16:creationId xmlns:a16="http://schemas.microsoft.com/office/drawing/2014/main" id="{A51231F2-CD39-4362-B96E-12DD8FA9984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7492866" y="1709448"/>
              <a:ext cx="381000" cy="381000"/>
            </a:xfrm>
            <a:prstGeom prst="rect">
              <a:avLst/>
            </a:prstGeom>
          </p:spPr>
        </p:pic>
        <p:sp>
          <p:nvSpPr>
            <p:cNvPr id="37" name="Rectangle 36">
              <a:extLst>
                <a:ext uri="{FF2B5EF4-FFF2-40B4-BE49-F238E27FC236}">
                  <a16:creationId xmlns:a16="http://schemas.microsoft.com/office/drawing/2014/main" id="{35078CAE-A0AE-411A-A0D7-2267B9C36CFD}"/>
                </a:ext>
                <a:ext uri="{C183D7F6-B498-43B3-948B-1728B52AA6E4}">
                  <adec:decorative xmlns:adec="http://schemas.microsoft.com/office/drawing/2017/decorative" val="1"/>
                </a:ext>
              </a:extLst>
            </p:cNvPr>
            <p:cNvSpPr/>
            <p:nvPr/>
          </p:nvSpPr>
          <p:spPr>
            <a:xfrm>
              <a:off x="7659118" y="2179534"/>
              <a:ext cx="3209590" cy="2260120"/>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600" dirty="0">
                  <a:solidFill>
                    <a:srgbClr val="232F3E"/>
                  </a:solidFill>
                  <a:cs typeface="Arial" panose="020B0604020202020204" pitchFamily="34" charset="0"/>
                </a:rPr>
                <a:t>Availability Zone eu-west-1a</a:t>
              </a:r>
            </a:p>
          </p:txBody>
        </p:sp>
        <p:sp>
          <p:nvSpPr>
            <p:cNvPr id="38" name="Rectangle 37">
              <a:extLst>
                <a:ext uri="{FF2B5EF4-FFF2-40B4-BE49-F238E27FC236}">
                  <a16:creationId xmlns:a16="http://schemas.microsoft.com/office/drawing/2014/main" id="{68BEF9FA-4CA2-4D30-8B55-1AB339315024}"/>
                </a:ext>
                <a:ext uri="{C183D7F6-B498-43B3-948B-1728B52AA6E4}">
                  <adec:decorative xmlns:adec="http://schemas.microsoft.com/office/drawing/2017/decorative" val="1"/>
                </a:ext>
              </a:extLst>
            </p:cNvPr>
            <p:cNvSpPr/>
            <p:nvPr/>
          </p:nvSpPr>
          <p:spPr>
            <a:xfrm>
              <a:off x="7659118" y="4557486"/>
              <a:ext cx="3209590" cy="660704"/>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600" dirty="0">
                  <a:solidFill>
                    <a:srgbClr val="232F3E"/>
                  </a:solidFill>
                  <a:cs typeface="Arial" panose="020B0604020202020204" pitchFamily="34" charset="0"/>
                </a:rPr>
                <a:t>Availability Zone eu-west-1b</a:t>
              </a:r>
            </a:p>
          </p:txBody>
        </p:sp>
        <p:sp>
          <p:nvSpPr>
            <p:cNvPr id="39" name="Rectangle 38">
              <a:extLst>
                <a:ext uri="{FF2B5EF4-FFF2-40B4-BE49-F238E27FC236}">
                  <a16:creationId xmlns:a16="http://schemas.microsoft.com/office/drawing/2014/main" id="{0CCD29A7-1DB1-431E-9808-B513DA3D79F4}"/>
                </a:ext>
                <a:ext uri="{C183D7F6-B498-43B3-948B-1728B52AA6E4}">
                  <adec:decorative xmlns:adec="http://schemas.microsoft.com/office/drawing/2017/decorative" val="1"/>
                </a:ext>
              </a:extLst>
            </p:cNvPr>
            <p:cNvSpPr/>
            <p:nvPr/>
          </p:nvSpPr>
          <p:spPr>
            <a:xfrm>
              <a:off x="7671150" y="5344543"/>
              <a:ext cx="3185526" cy="627627"/>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600" dirty="0">
                  <a:solidFill>
                    <a:srgbClr val="232F3E"/>
                  </a:solidFill>
                  <a:cs typeface="Arial" panose="020B0604020202020204" pitchFamily="34" charset="0"/>
                </a:rPr>
                <a:t>Availability Zone eu-west-1c</a:t>
              </a:r>
            </a:p>
          </p:txBody>
        </p:sp>
        <p:sp>
          <p:nvSpPr>
            <p:cNvPr id="40" name="Rectangle 39">
              <a:extLst>
                <a:ext uri="{FF2B5EF4-FFF2-40B4-BE49-F238E27FC236}">
                  <a16:creationId xmlns:a16="http://schemas.microsoft.com/office/drawing/2014/main" id="{7ABBF7B1-A1B7-465A-833B-0DCA7499CD49}"/>
                </a:ext>
                <a:ext uri="{C183D7F6-B498-43B3-948B-1728B52AA6E4}">
                  <adec:decorative xmlns:adec="http://schemas.microsoft.com/office/drawing/2017/decorative" val="1"/>
                </a:ext>
              </a:extLst>
            </p:cNvPr>
            <p:cNvSpPr/>
            <p:nvPr/>
          </p:nvSpPr>
          <p:spPr>
            <a:xfrm>
              <a:off x="7921189" y="2583448"/>
              <a:ext cx="2685448" cy="496639"/>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solidFill>
                    <a:srgbClr val="232F3E"/>
                  </a:solidFill>
                  <a:cs typeface="Arial" panose="020B0604020202020204" pitchFamily="34" charset="0"/>
                </a:rPr>
                <a:t>Data center</a:t>
              </a:r>
            </a:p>
          </p:txBody>
        </p:sp>
        <p:pic>
          <p:nvPicPr>
            <p:cNvPr id="41" name="Graphic 40">
              <a:extLst>
                <a:ext uri="{FF2B5EF4-FFF2-40B4-BE49-F238E27FC236}">
                  <a16:creationId xmlns:a16="http://schemas.microsoft.com/office/drawing/2014/main" id="{39EF4820-29B2-49C1-8B5F-94C275591070}"/>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921188" y="2583448"/>
              <a:ext cx="381000" cy="381000"/>
            </a:xfrm>
            <a:prstGeom prst="rect">
              <a:avLst/>
            </a:prstGeom>
          </p:spPr>
        </p:pic>
        <p:sp>
          <p:nvSpPr>
            <p:cNvPr id="42" name="Rectangle 41">
              <a:extLst>
                <a:ext uri="{FF2B5EF4-FFF2-40B4-BE49-F238E27FC236}">
                  <a16:creationId xmlns:a16="http://schemas.microsoft.com/office/drawing/2014/main" id="{2EE1CA03-8421-443D-A86F-7370796D6395}"/>
                </a:ext>
                <a:ext uri="{C183D7F6-B498-43B3-948B-1728B52AA6E4}">
                  <adec:decorative xmlns:adec="http://schemas.microsoft.com/office/drawing/2017/decorative" val="1"/>
                </a:ext>
              </a:extLst>
            </p:cNvPr>
            <p:cNvSpPr/>
            <p:nvPr/>
          </p:nvSpPr>
          <p:spPr>
            <a:xfrm>
              <a:off x="7921188" y="3166503"/>
              <a:ext cx="2685448" cy="496639"/>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solidFill>
                    <a:srgbClr val="232F3E"/>
                  </a:solidFill>
                  <a:cs typeface="Arial" panose="020B0604020202020204" pitchFamily="34" charset="0"/>
                </a:rPr>
                <a:t>Data center</a:t>
              </a:r>
            </a:p>
          </p:txBody>
        </p:sp>
        <p:pic>
          <p:nvPicPr>
            <p:cNvPr id="43" name="Graphic 42">
              <a:extLst>
                <a:ext uri="{FF2B5EF4-FFF2-40B4-BE49-F238E27FC236}">
                  <a16:creationId xmlns:a16="http://schemas.microsoft.com/office/drawing/2014/main" id="{B37436AF-4DEA-4CDA-A498-BDE149CDFA60}"/>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921187" y="3166503"/>
              <a:ext cx="381000" cy="381000"/>
            </a:xfrm>
            <a:prstGeom prst="rect">
              <a:avLst/>
            </a:prstGeom>
          </p:spPr>
        </p:pic>
        <p:sp>
          <p:nvSpPr>
            <p:cNvPr id="44" name="Rectangle 43">
              <a:extLst>
                <a:ext uri="{FF2B5EF4-FFF2-40B4-BE49-F238E27FC236}">
                  <a16:creationId xmlns:a16="http://schemas.microsoft.com/office/drawing/2014/main" id="{4877A41F-4F00-4C3D-8101-83E44A4A97DB}"/>
                </a:ext>
                <a:ext uri="{C183D7F6-B498-43B3-948B-1728B52AA6E4}">
                  <adec:decorative xmlns:adec="http://schemas.microsoft.com/office/drawing/2017/decorative" val="1"/>
                </a:ext>
              </a:extLst>
            </p:cNvPr>
            <p:cNvSpPr/>
            <p:nvPr/>
          </p:nvSpPr>
          <p:spPr>
            <a:xfrm>
              <a:off x="7921188" y="3749558"/>
              <a:ext cx="2685448" cy="496639"/>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solidFill>
                    <a:srgbClr val="232F3E"/>
                  </a:solidFill>
                  <a:cs typeface="Arial" panose="020B0604020202020204" pitchFamily="34" charset="0"/>
                </a:rPr>
                <a:t>Data center</a:t>
              </a:r>
            </a:p>
          </p:txBody>
        </p:sp>
        <p:pic>
          <p:nvPicPr>
            <p:cNvPr id="45" name="Graphic 44">
              <a:extLst>
                <a:ext uri="{FF2B5EF4-FFF2-40B4-BE49-F238E27FC236}">
                  <a16:creationId xmlns:a16="http://schemas.microsoft.com/office/drawing/2014/main" id="{326E3AF0-7F62-4E36-9D38-87D92D61E05B}"/>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921187" y="3749558"/>
              <a:ext cx="381000" cy="381000"/>
            </a:xfrm>
            <a:prstGeom prst="rect">
              <a:avLst/>
            </a:prstGeom>
          </p:spPr>
        </p:pic>
      </p:grpSp>
    </p:spTree>
    <p:custDataLst>
      <p:tags r:id="rId1"/>
    </p:custDataLst>
    <p:extLst>
      <p:ext uri="{BB962C8B-B14F-4D97-AF65-F5344CB8AC3E}">
        <p14:creationId xmlns:p14="http://schemas.microsoft.com/office/powerpoint/2010/main" val="37000995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E32591B7-DDEF-467F-A489-2E290FBB322B}"/>
              </a:ext>
            </a:extLst>
          </p:cNvPr>
          <p:cNvSpPr>
            <a:spLocks noGrp="1"/>
          </p:cNvSpPr>
          <p:nvPr>
            <p:ph type="sldNum" idx="97"/>
          </p:nvPr>
        </p:nvSpPr>
        <p:spPr/>
        <p:txBody>
          <a:bodyPr/>
          <a:lstStyle/>
          <a:p>
            <a:fld id="{B6A95138-A96E-2F42-A959-2EFD44FE4AB7}" type="slidenum">
              <a:rPr lang="en-US" smtClean="0"/>
              <a:t>39</a:t>
            </a:fld>
            <a:endParaRPr lang="en-US" dirty="0"/>
          </a:p>
        </p:txBody>
      </p:sp>
      <p:sp>
        <p:nvSpPr>
          <p:cNvPr id="2" name="Title">
            <a:extLst>
              <a:ext uri="{FF2B5EF4-FFF2-40B4-BE49-F238E27FC236}">
                <a16:creationId xmlns:a16="http://schemas.microsoft.com/office/drawing/2014/main" id="{ECF480A6-7BB2-4326-BEC4-5BFBEDDC88F4}"/>
              </a:ext>
            </a:extLst>
          </p:cNvPr>
          <p:cNvSpPr>
            <a:spLocks noGrp="1"/>
          </p:cNvSpPr>
          <p:nvPr>
            <p:ph type="title" idx="1"/>
          </p:nvPr>
        </p:nvSpPr>
        <p:spPr/>
        <p:txBody>
          <a:bodyPr/>
          <a:lstStyle/>
          <a:p>
            <a:r>
              <a:rPr lang="en-US" dirty="0"/>
              <a:t>Using Local Zones</a:t>
            </a:r>
          </a:p>
        </p:txBody>
      </p:sp>
      <p:sp>
        <p:nvSpPr>
          <p:cNvPr id="3" name="Content Placeholder 2">
            <a:extLst>
              <a:ext uri="{FF2B5EF4-FFF2-40B4-BE49-F238E27FC236}">
                <a16:creationId xmlns:a16="http://schemas.microsoft.com/office/drawing/2014/main" id="{46116815-FAD2-4363-99E2-847B474F4CAD}"/>
              </a:ext>
            </a:extLst>
          </p:cNvPr>
          <p:cNvSpPr>
            <a:spLocks noGrp="1"/>
          </p:cNvSpPr>
          <p:nvPr>
            <p:ph idx="2"/>
          </p:nvPr>
        </p:nvSpPr>
        <p:spPr>
          <a:xfrm>
            <a:off x="365760" y="1097280"/>
            <a:ext cx="11224260" cy="5330952"/>
          </a:xfrm>
        </p:spPr>
        <p:txBody>
          <a:bodyPr>
            <a:normAutofit/>
          </a:bodyPr>
          <a:lstStyle/>
          <a:p>
            <a:pPr>
              <a:buClr>
                <a:schemeClr val="tx1"/>
              </a:buClr>
            </a:pPr>
            <a:r>
              <a:rPr lang="en-US" dirty="0">
                <a:latin typeface="+mn-lt"/>
              </a:rPr>
              <a:t>Local Zones make it possible for you to run </a:t>
            </a:r>
            <a:r>
              <a:rPr lang="en-US" dirty="0">
                <a:latin typeface="+mn-lt"/>
                <a:ea typeface="Amazon Ember" panose="02000000000000000000" pitchFamily="2" charset="0"/>
              </a:rPr>
              <a:t>latency-sensitive</a:t>
            </a:r>
            <a:r>
              <a:rPr lang="en-US" dirty="0">
                <a:latin typeface="+mn-lt"/>
              </a:rPr>
              <a:t> portions of applications closer to end users and resources in a specific geography.</a:t>
            </a:r>
          </a:p>
          <a:p>
            <a:pPr>
              <a:buClr>
                <a:schemeClr val="tx1"/>
              </a:buClr>
            </a:pPr>
            <a:r>
              <a:rPr lang="en-US" dirty="0">
                <a:latin typeface="+mn-lt"/>
              </a:rPr>
              <a:t>They are an extension of a Region. </a:t>
            </a:r>
          </a:p>
          <a:p>
            <a:pPr>
              <a:buClr>
                <a:schemeClr val="tx1"/>
              </a:buClr>
            </a:pPr>
            <a:r>
              <a:rPr lang="en-US" dirty="0">
                <a:latin typeface="+mn-lt"/>
              </a:rPr>
              <a:t>With Local Zones, you can place AWS compute, storage, database, and other select services closer to large population, industry, and IT centers where no Regions exist today.</a:t>
            </a:r>
          </a:p>
          <a:p>
            <a:pPr>
              <a:buClr>
                <a:schemeClr val="tx1"/>
              </a:buClr>
            </a:pPr>
            <a:r>
              <a:rPr lang="en-US" dirty="0">
                <a:latin typeface="+mn-lt"/>
              </a:rPr>
              <a:t>Local Zones are managed and supported by AWS.</a:t>
            </a:r>
          </a:p>
        </p:txBody>
      </p:sp>
    </p:spTree>
    <p:custDataLst>
      <p:tags r:id="rId1"/>
    </p:custDataLst>
    <p:extLst>
      <p:ext uri="{BB962C8B-B14F-4D97-AF65-F5344CB8AC3E}">
        <p14:creationId xmlns:p14="http://schemas.microsoft.com/office/powerpoint/2010/main" val="37582638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1FEAFED0-4CCC-4149-9624-E71854FDCDAD}"/>
              </a:ext>
            </a:extLst>
          </p:cNvPr>
          <p:cNvSpPr>
            <a:spLocks noGrp="1"/>
          </p:cNvSpPr>
          <p:nvPr>
            <p:ph type="sldNum" idx="97"/>
          </p:nvPr>
        </p:nvSpPr>
        <p:spPr/>
        <p:txBody>
          <a:bodyPr/>
          <a:lstStyle/>
          <a:p>
            <a:fld id="{B6A95138-A96E-2F42-A959-2EFD44FE4AB7}" type="slidenum">
              <a:rPr lang="en-US" smtClean="0"/>
              <a:pPr/>
              <a:t>40</a:t>
            </a:fld>
            <a:endParaRPr lang="en-US" dirty="0"/>
          </a:p>
        </p:txBody>
      </p:sp>
      <p:sp>
        <p:nvSpPr>
          <p:cNvPr id="2" name="Title">
            <a:extLst>
              <a:ext uri="{FF2B5EF4-FFF2-40B4-BE49-F238E27FC236}">
                <a16:creationId xmlns:a16="http://schemas.microsoft.com/office/drawing/2014/main" id="{12333780-451D-624F-B22F-AC4418A3F4D9}"/>
              </a:ext>
            </a:extLst>
          </p:cNvPr>
          <p:cNvSpPr>
            <a:spLocks noGrp="1"/>
          </p:cNvSpPr>
          <p:nvPr>
            <p:ph type="title" idx="1"/>
          </p:nvPr>
        </p:nvSpPr>
        <p:spPr/>
        <p:txBody>
          <a:bodyPr/>
          <a:lstStyle/>
          <a:p>
            <a:pPr lvl="0"/>
            <a:r>
              <a:rPr lang="en-US" dirty="0"/>
              <a:t>Role of AWS data centers</a:t>
            </a:r>
          </a:p>
        </p:txBody>
      </p:sp>
      <p:sp>
        <p:nvSpPr>
          <p:cNvPr id="8" name="Content Placeholder 7">
            <a:extLst>
              <a:ext uri="{FF2B5EF4-FFF2-40B4-BE49-F238E27FC236}">
                <a16:creationId xmlns:a16="http://schemas.microsoft.com/office/drawing/2014/main" id="{3C6CF8A8-F13E-FE48-989A-6D6DE37A05C1}"/>
              </a:ext>
            </a:extLst>
          </p:cNvPr>
          <p:cNvSpPr>
            <a:spLocks noGrp="1"/>
          </p:cNvSpPr>
          <p:nvPr>
            <p:ph idx="2"/>
          </p:nvPr>
        </p:nvSpPr>
        <p:spPr>
          <a:xfrm>
            <a:off x="365760" y="1097280"/>
            <a:ext cx="6191451" cy="5330952"/>
          </a:xfrm>
        </p:spPr>
        <p:txBody>
          <a:bodyPr>
            <a:normAutofit/>
          </a:bodyPr>
          <a:lstStyle/>
          <a:p>
            <a:r>
              <a:rPr lang="en-US" sz="2400" dirty="0">
                <a:latin typeface="+mn-lt"/>
                <a:ea typeface="Amazon Ember" panose="02000000000000000000" pitchFamily="2" charset="0"/>
              </a:rPr>
              <a:t>Data centers </a:t>
            </a:r>
            <a:r>
              <a:rPr lang="en-US" sz="2400" dirty="0">
                <a:latin typeface="+mn-lt"/>
              </a:rPr>
              <a:t>are where the data resides and data processing occurs.</a:t>
            </a:r>
          </a:p>
          <a:p>
            <a:r>
              <a:rPr lang="en-US" sz="2400" dirty="0">
                <a:latin typeface="+mn-lt"/>
              </a:rPr>
              <a:t>A data center typically has tens of thousands of servers.</a:t>
            </a:r>
          </a:p>
          <a:p>
            <a:r>
              <a:rPr lang="en-US" sz="2400" dirty="0">
                <a:latin typeface="+mn-lt"/>
              </a:rPr>
              <a:t>All data centers are online and serving customers.</a:t>
            </a:r>
          </a:p>
          <a:p>
            <a:r>
              <a:rPr lang="en-US" sz="2400" dirty="0">
                <a:latin typeface="+mn-lt"/>
              </a:rPr>
              <a:t>AWS custom network equipment includes the following:</a:t>
            </a:r>
          </a:p>
          <a:p>
            <a:pPr lvl="1"/>
            <a:r>
              <a:rPr lang="en-US" sz="2000" dirty="0">
                <a:latin typeface="+mn-lt"/>
              </a:rPr>
              <a:t>Is sourced from multiple ODMs</a:t>
            </a:r>
          </a:p>
          <a:p>
            <a:pPr lvl="1"/>
            <a:r>
              <a:rPr lang="en-US" sz="2000" dirty="0">
                <a:latin typeface="+mn-lt"/>
              </a:rPr>
              <a:t>Has a customized network protocol stack</a:t>
            </a:r>
            <a:endParaRPr lang="en-US" sz="2400" dirty="0">
              <a:latin typeface="+mn-lt"/>
            </a:endParaRPr>
          </a:p>
        </p:txBody>
      </p:sp>
      <p:grpSp>
        <p:nvGrpSpPr>
          <p:cNvPr id="5" name="Group 4">
            <a:extLst>
              <a:ext uri="{FF2B5EF4-FFF2-40B4-BE49-F238E27FC236}">
                <a16:creationId xmlns:a16="http://schemas.microsoft.com/office/drawing/2014/main" id="{C8C4A9EA-7F91-42EC-9D38-823291AB4597}"/>
              </a:ext>
              <a:ext uri="{C183D7F6-B498-43B3-948B-1728B52AA6E4}">
                <adec:decorative xmlns:adec="http://schemas.microsoft.com/office/drawing/2017/decorative" val="1"/>
              </a:ext>
            </a:extLst>
          </p:cNvPr>
          <p:cNvGrpSpPr/>
          <p:nvPr/>
        </p:nvGrpSpPr>
        <p:grpSpPr>
          <a:xfrm>
            <a:off x="7267075" y="2378911"/>
            <a:ext cx="3793504" cy="2457784"/>
            <a:chOff x="7267075" y="2378911"/>
            <a:chExt cx="3793504" cy="2457784"/>
          </a:xfrm>
        </p:grpSpPr>
        <p:sp>
          <p:nvSpPr>
            <p:cNvPr id="10" name="Rectangle 9">
              <a:extLst>
                <a:ext uri="{FF2B5EF4-FFF2-40B4-BE49-F238E27FC236}">
                  <a16:creationId xmlns:a16="http://schemas.microsoft.com/office/drawing/2014/main" id="{C6CDDEC2-8C05-4358-95B4-B4866DF867E8}"/>
                </a:ext>
              </a:extLst>
            </p:cNvPr>
            <p:cNvSpPr/>
            <p:nvPr/>
          </p:nvSpPr>
          <p:spPr>
            <a:xfrm>
              <a:off x="7267075" y="2378911"/>
              <a:ext cx="3793504" cy="2457784"/>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solidFill>
                    <a:schemeClr val="tx1"/>
                  </a:solidFill>
                  <a:cs typeface="Arial" panose="020B0604020202020204" pitchFamily="34" charset="0"/>
                </a:rPr>
                <a:t>Data center</a:t>
              </a:r>
            </a:p>
          </p:txBody>
        </p:sp>
        <p:pic>
          <p:nvPicPr>
            <p:cNvPr id="12" name="Graphic 11">
              <a:extLst>
                <a:ext uri="{FF2B5EF4-FFF2-40B4-BE49-F238E27FC236}">
                  <a16:creationId xmlns:a16="http://schemas.microsoft.com/office/drawing/2014/main" id="{0F062A40-2397-4BE0-833F-C507C0EF0224}"/>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275037" y="2378911"/>
              <a:ext cx="381000" cy="381000"/>
            </a:xfrm>
            <a:prstGeom prst="rect">
              <a:avLst/>
            </a:prstGeom>
          </p:spPr>
        </p:pic>
        <p:pic>
          <p:nvPicPr>
            <p:cNvPr id="19" name="Graphic 18">
              <a:extLst>
                <a:ext uri="{FF2B5EF4-FFF2-40B4-BE49-F238E27FC236}">
                  <a16:creationId xmlns:a16="http://schemas.microsoft.com/office/drawing/2014/main" id="{EFEB6249-C59E-4CE9-81FA-AB8A4CC580C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07646" y="2885451"/>
              <a:ext cx="846221" cy="846221"/>
            </a:xfrm>
            <a:prstGeom prst="rect">
              <a:avLst/>
            </a:prstGeom>
          </p:spPr>
        </p:pic>
        <p:pic>
          <p:nvPicPr>
            <p:cNvPr id="20" name="Graphic 19">
              <a:extLst>
                <a:ext uri="{FF2B5EF4-FFF2-40B4-BE49-F238E27FC236}">
                  <a16:creationId xmlns:a16="http://schemas.microsoft.com/office/drawing/2014/main" id="{A5AF09A3-8BF9-4C43-92FA-0DAD19BC915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92066" y="2885451"/>
              <a:ext cx="846221" cy="846221"/>
            </a:xfrm>
            <a:prstGeom prst="rect">
              <a:avLst/>
            </a:prstGeom>
          </p:spPr>
        </p:pic>
        <p:pic>
          <p:nvPicPr>
            <p:cNvPr id="21" name="Graphic 20">
              <a:extLst>
                <a:ext uri="{FF2B5EF4-FFF2-40B4-BE49-F238E27FC236}">
                  <a16:creationId xmlns:a16="http://schemas.microsoft.com/office/drawing/2014/main" id="{56C42D9D-4395-4FAF-A88E-3A87F2FD93E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49856" y="2885451"/>
              <a:ext cx="846221" cy="846221"/>
            </a:xfrm>
            <a:prstGeom prst="rect">
              <a:avLst/>
            </a:prstGeom>
          </p:spPr>
        </p:pic>
        <p:pic>
          <p:nvPicPr>
            <p:cNvPr id="22" name="Graphic 21">
              <a:extLst>
                <a:ext uri="{FF2B5EF4-FFF2-40B4-BE49-F238E27FC236}">
                  <a16:creationId xmlns:a16="http://schemas.microsoft.com/office/drawing/2014/main" id="{21F786C8-C808-48C7-B539-BDAF49E86B8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34277" y="2885451"/>
              <a:ext cx="846221" cy="846221"/>
            </a:xfrm>
            <a:prstGeom prst="rect">
              <a:avLst/>
            </a:prstGeom>
          </p:spPr>
        </p:pic>
        <p:pic>
          <p:nvPicPr>
            <p:cNvPr id="23" name="Graphic 22">
              <a:extLst>
                <a:ext uri="{FF2B5EF4-FFF2-40B4-BE49-F238E27FC236}">
                  <a16:creationId xmlns:a16="http://schemas.microsoft.com/office/drawing/2014/main" id="{1E219FF4-4C63-4469-B696-A3284099C8D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07646" y="3832235"/>
              <a:ext cx="846221" cy="846221"/>
            </a:xfrm>
            <a:prstGeom prst="rect">
              <a:avLst/>
            </a:prstGeom>
          </p:spPr>
        </p:pic>
        <p:pic>
          <p:nvPicPr>
            <p:cNvPr id="24" name="Graphic 23">
              <a:extLst>
                <a:ext uri="{FF2B5EF4-FFF2-40B4-BE49-F238E27FC236}">
                  <a16:creationId xmlns:a16="http://schemas.microsoft.com/office/drawing/2014/main" id="{4577F7B0-B295-44EF-8F17-0C5EA8E78EF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92066" y="3832235"/>
              <a:ext cx="846221" cy="846221"/>
            </a:xfrm>
            <a:prstGeom prst="rect">
              <a:avLst/>
            </a:prstGeom>
          </p:spPr>
        </p:pic>
        <p:pic>
          <p:nvPicPr>
            <p:cNvPr id="25" name="Graphic 24" descr="Server resource icon for the General Icons category.">
              <a:extLst>
                <a:ext uri="{FF2B5EF4-FFF2-40B4-BE49-F238E27FC236}">
                  <a16:creationId xmlns:a16="http://schemas.microsoft.com/office/drawing/2014/main" id="{2A654D24-EE3E-481D-9888-C703B445B82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49856" y="3832235"/>
              <a:ext cx="846221" cy="846221"/>
            </a:xfrm>
            <a:prstGeom prst="rect">
              <a:avLst/>
            </a:prstGeom>
          </p:spPr>
        </p:pic>
        <p:pic>
          <p:nvPicPr>
            <p:cNvPr id="26" name="Graphic 25">
              <a:extLst>
                <a:ext uri="{FF2B5EF4-FFF2-40B4-BE49-F238E27FC236}">
                  <a16:creationId xmlns:a16="http://schemas.microsoft.com/office/drawing/2014/main" id="{F78B63ED-BC67-47BF-A6F8-239C7B64228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34277" y="3832235"/>
              <a:ext cx="846221" cy="846221"/>
            </a:xfrm>
            <a:prstGeom prst="rect">
              <a:avLst/>
            </a:prstGeom>
          </p:spPr>
        </p:pic>
      </p:grpSp>
    </p:spTree>
    <p:custDataLst>
      <p:tags r:id="rId1"/>
    </p:custDataLst>
    <p:extLst>
      <p:ext uri="{BB962C8B-B14F-4D97-AF65-F5344CB8AC3E}">
        <p14:creationId xmlns:p14="http://schemas.microsoft.com/office/powerpoint/2010/main" val="20414179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CF949AC4-B2ED-4EFA-87A9-72909D00EEAB}"/>
              </a:ext>
            </a:extLst>
          </p:cNvPr>
          <p:cNvSpPr>
            <a:spLocks noGrp="1"/>
          </p:cNvSpPr>
          <p:nvPr>
            <p:ph type="sldNum" idx="97"/>
          </p:nvPr>
        </p:nvSpPr>
        <p:spPr/>
        <p:txBody>
          <a:bodyPr/>
          <a:lstStyle/>
          <a:p>
            <a:fld id="{B6A95138-A96E-2F42-A959-2EFD44FE4AB7}" type="slidenum">
              <a:rPr lang="en-US" smtClean="0"/>
              <a:t>41</a:t>
            </a:fld>
            <a:endParaRPr lang="en-US" dirty="0"/>
          </a:p>
        </p:txBody>
      </p:sp>
      <p:sp>
        <p:nvSpPr>
          <p:cNvPr id="2" name="Title">
            <a:extLst>
              <a:ext uri="{FF2B5EF4-FFF2-40B4-BE49-F238E27FC236}">
                <a16:creationId xmlns:a16="http://schemas.microsoft.com/office/drawing/2014/main" id="{12333780-451D-624F-B22F-AC4418A3F4D9}"/>
              </a:ext>
            </a:extLst>
          </p:cNvPr>
          <p:cNvSpPr>
            <a:spLocks noGrp="1"/>
          </p:cNvSpPr>
          <p:nvPr>
            <p:ph type="title" idx="1"/>
          </p:nvPr>
        </p:nvSpPr>
        <p:spPr/>
        <p:txBody>
          <a:bodyPr>
            <a:normAutofit/>
          </a:bodyPr>
          <a:lstStyle/>
          <a:p>
            <a:r>
              <a:rPr lang="en-US" dirty="0"/>
              <a:t>AWS PoPs</a:t>
            </a:r>
          </a:p>
        </p:txBody>
      </p:sp>
      <p:sp>
        <p:nvSpPr>
          <p:cNvPr id="12" name="Text Placeholder 11">
            <a:extLst>
              <a:ext uri="{FF2B5EF4-FFF2-40B4-BE49-F238E27FC236}">
                <a16:creationId xmlns:a16="http://schemas.microsoft.com/office/drawing/2014/main" id="{AF922129-B39D-4CEA-8D8D-3772AACB6BD6}"/>
              </a:ext>
            </a:extLst>
          </p:cNvPr>
          <p:cNvSpPr>
            <a:spLocks noGrp="1"/>
          </p:cNvSpPr>
          <p:nvPr>
            <p:ph type="body" idx="12"/>
          </p:nvPr>
        </p:nvSpPr>
        <p:spPr/>
        <p:txBody>
          <a:bodyPr/>
          <a:lstStyle/>
          <a:p>
            <a:r>
              <a:rPr lang="en-US" dirty="0">
                <a:latin typeface="+mn-lt"/>
              </a:rPr>
              <a:t>Edge location</a:t>
            </a:r>
          </a:p>
        </p:txBody>
      </p:sp>
      <p:sp>
        <p:nvSpPr>
          <p:cNvPr id="17" name="Text Placeholder 16">
            <a:extLst>
              <a:ext uri="{FF2B5EF4-FFF2-40B4-BE49-F238E27FC236}">
                <a16:creationId xmlns:a16="http://schemas.microsoft.com/office/drawing/2014/main" id="{24407559-99C5-4245-B58D-1B31012F1C49}"/>
              </a:ext>
            </a:extLst>
          </p:cNvPr>
          <p:cNvSpPr>
            <a:spLocks noGrp="1"/>
          </p:cNvSpPr>
          <p:nvPr>
            <p:ph idx="3"/>
          </p:nvPr>
        </p:nvSpPr>
        <p:spPr/>
        <p:txBody>
          <a:bodyPr/>
          <a:lstStyle/>
          <a:p>
            <a:pPr marL="0" indent="0">
              <a:buNone/>
            </a:pPr>
            <a:r>
              <a:rPr lang="en-US" sz="2400" i="0" dirty="0">
                <a:effectLst/>
                <a:latin typeface="+mn-lt"/>
              </a:rPr>
              <a:t>AWS data centers and servers located close to customers and designed to deliver services with the lowest latency possible</a:t>
            </a:r>
            <a:endParaRPr lang="en-US" sz="2400" dirty="0">
              <a:latin typeface="+mn-lt"/>
            </a:endParaRPr>
          </a:p>
        </p:txBody>
      </p:sp>
      <p:sp>
        <p:nvSpPr>
          <p:cNvPr id="16" name="Text Placeholder 15">
            <a:extLst>
              <a:ext uri="{FF2B5EF4-FFF2-40B4-BE49-F238E27FC236}">
                <a16:creationId xmlns:a16="http://schemas.microsoft.com/office/drawing/2014/main" id="{031983E6-575C-4781-A0FE-4906DA2BBB44}"/>
              </a:ext>
            </a:extLst>
          </p:cNvPr>
          <p:cNvSpPr>
            <a:spLocks noGrp="1"/>
          </p:cNvSpPr>
          <p:nvPr>
            <p:ph type="body" idx="13"/>
          </p:nvPr>
        </p:nvSpPr>
        <p:spPr/>
        <p:txBody>
          <a:bodyPr/>
          <a:lstStyle/>
          <a:p>
            <a:r>
              <a:rPr lang="en-US" dirty="0"/>
              <a:t>Regional edge cache</a:t>
            </a:r>
          </a:p>
        </p:txBody>
      </p:sp>
      <p:sp>
        <p:nvSpPr>
          <p:cNvPr id="15" name="Text Placeholder 14">
            <a:extLst>
              <a:ext uri="{FF2B5EF4-FFF2-40B4-BE49-F238E27FC236}">
                <a16:creationId xmlns:a16="http://schemas.microsoft.com/office/drawing/2014/main" id="{66B88892-DB0A-4DF6-846D-EF73A323722C}"/>
              </a:ext>
            </a:extLst>
          </p:cNvPr>
          <p:cNvSpPr>
            <a:spLocks noGrp="1"/>
          </p:cNvSpPr>
          <p:nvPr>
            <p:ph idx="4"/>
          </p:nvPr>
        </p:nvSpPr>
        <p:spPr/>
        <p:txBody>
          <a:bodyPr/>
          <a:lstStyle/>
          <a:p>
            <a:pPr marL="0" indent="0">
              <a:buNone/>
            </a:pPr>
            <a:r>
              <a:rPr lang="en-US" sz="2400" dirty="0">
                <a:latin typeface="+mn-lt"/>
              </a:rPr>
              <a:t>AWS data centers between the origin server and the edge location that have a longer cache</a:t>
            </a:r>
          </a:p>
        </p:txBody>
      </p:sp>
      <p:pic>
        <p:nvPicPr>
          <p:cNvPr id="24" name="Picture Placeholder 23">
            <a:extLst>
              <a:ext uri="{FF2B5EF4-FFF2-40B4-BE49-F238E27FC236}">
                <a16:creationId xmlns:a16="http://schemas.microsoft.com/office/drawing/2014/main" id="{12E100BD-73EF-41D3-B8B5-766A68B8207E}"/>
              </a:ext>
              <a:ext uri="{C183D7F6-B498-43B3-948B-1728B52AA6E4}">
                <adec:decorative xmlns:adec="http://schemas.microsoft.com/office/drawing/2017/decorative" val="1"/>
              </a:ext>
            </a:extLst>
          </p:cNvPr>
          <p:cNvPicPr>
            <a:picLocks noGrp="1" noChangeAspect="1"/>
          </p:cNvPicPr>
          <p:nvPr>
            <p:ph type="pic" idx="22"/>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2057400" y="1096963"/>
            <a:ext cx="2286000" cy="2286000"/>
          </a:xfrm>
          <a:prstGeom prst="rect">
            <a:avLst/>
          </a:prstGeom>
        </p:spPr>
      </p:pic>
      <p:pic>
        <p:nvPicPr>
          <p:cNvPr id="25" name="Picture Placeholder 24">
            <a:extLst>
              <a:ext uri="{FF2B5EF4-FFF2-40B4-BE49-F238E27FC236}">
                <a16:creationId xmlns:a16="http://schemas.microsoft.com/office/drawing/2014/main" id="{F90B168B-0416-459B-A6D5-118E6CF5851C}"/>
              </a:ext>
              <a:ext uri="{C183D7F6-B498-43B3-948B-1728B52AA6E4}">
                <adec:decorative xmlns:adec="http://schemas.microsoft.com/office/drawing/2017/decorative" val="1"/>
              </a:ext>
            </a:extLst>
          </p:cNvPr>
          <p:cNvPicPr>
            <a:picLocks noGrp="1" noChangeAspect="1"/>
          </p:cNvPicPr>
          <p:nvPr>
            <p:ph type="pic" idx="23"/>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7891463" y="1096963"/>
            <a:ext cx="2286000" cy="2286000"/>
          </a:xfrm>
          <a:prstGeom prst="rect">
            <a:avLst/>
          </a:prstGeom>
        </p:spPr>
      </p:pic>
      <p:sp>
        <p:nvSpPr>
          <p:cNvPr id="26" name="Oval 25">
            <a:extLst>
              <a:ext uri="{FF2B5EF4-FFF2-40B4-BE49-F238E27FC236}">
                <a16:creationId xmlns:a16="http://schemas.microsoft.com/office/drawing/2014/main" id="{71F0815D-CD0B-4DCD-A49E-14362071EC41}"/>
              </a:ext>
              <a:ext uri="{C183D7F6-B498-43B3-948B-1728B52AA6E4}">
                <adec:decorative xmlns:adec="http://schemas.microsoft.com/office/drawing/2017/decorative" val="1"/>
              </a:ext>
            </a:extLst>
          </p:cNvPr>
          <p:cNvSpPr/>
          <p:nvPr/>
        </p:nvSpPr>
        <p:spPr>
          <a:xfrm>
            <a:off x="3092156" y="1734672"/>
            <a:ext cx="219456" cy="221350"/>
          </a:xfrm>
          <a:prstGeom prst="ellipse">
            <a:avLst/>
          </a:prstGeom>
          <a:solidFill>
            <a:schemeClr val="accent3"/>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EFBD6C73-603F-4945-8DF8-9560A0388AF2}"/>
              </a:ext>
              <a:ext uri="{C183D7F6-B498-43B3-948B-1728B52AA6E4}">
                <adec:decorative xmlns:adec="http://schemas.microsoft.com/office/drawing/2017/decorative" val="1"/>
              </a:ext>
            </a:extLst>
          </p:cNvPr>
          <p:cNvSpPr/>
          <p:nvPr/>
        </p:nvSpPr>
        <p:spPr>
          <a:xfrm>
            <a:off x="9112619" y="2242856"/>
            <a:ext cx="377812" cy="381073"/>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2993879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idx="97"/>
          </p:nvPr>
        </p:nvSpPr>
        <p:spPr/>
        <p:txBody>
          <a:bodyPr/>
          <a:lstStyle/>
          <a:p>
            <a:fld id="{B6A95138-A96E-2F42-A959-2EFD44FE4AB7}" type="slidenum">
              <a:rPr lang="en-US" smtClean="0"/>
              <a:pPr/>
              <a:t>42</a:t>
            </a:fld>
            <a:endParaRPr lang="en-US" dirty="0"/>
          </a:p>
        </p:txBody>
      </p:sp>
      <p:sp>
        <p:nvSpPr>
          <p:cNvPr id="3" name="Title">
            <a:extLst>
              <a:ext uri="{FF2B5EF4-FFF2-40B4-BE49-F238E27FC236}">
                <a16:creationId xmlns:a16="http://schemas.microsoft.com/office/drawing/2014/main" id="{34A9215D-56A1-C14C-8D1D-ECD06964D449}"/>
              </a:ext>
            </a:extLst>
          </p:cNvPr>
          <p:cNvSpPr>
            <a:spLocks noGrp="1"/>
          </p:cNvSpPr>
          <p:nvPr>
            <p:ph type="title" idx="1"/>
          </p:nvPr>
        </p:nvSpPr>
        <p:spPr/>
        <p:txBody>
          <a:bodyPr/>
          <a:lstStyle/>
          <a:p>
            <a:r>
              <a:rPr lang="en-US" sz="3200" dirty="0">
                <a:latin typeface="+mj-lt"/>
              </a:rPr>
              <a:t>Key takeaways: AWS Global Infrastructure</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3"/>
          </p:nvPr>
        </p:nvSpPr>
        <p:spPr/>
        <p:txBody>
          <a:bodyPr>
            <a:normAutofit/>
          </a:bodyPr>
          <a:lstStyle/>
          <a:p>
            <a:r>
              <a:rPr lang="en-US" dirty="0"/>
              <a:t>The AWS Global Infrastructure consists of </a:t>
            </a:r>
            <a:r>
              <a:rPr lang="en-US" dirty="0">
                <a:ea typeface="Amazon Ember" panose="02000000000000000000" pitchFamily="2" charset="0"/>
              </a:rPr>
              <a:t>Regions</a:t>
            </a:r>
            <a:r>
              <a:rPr lang="en-US" dirty="0"/>
              <a:t>, </a:t>
            </a:r>
            <a:r>
              <a:rPr lang="en-US" dirty="0">
                <a:ea typeface="Amazon Ember" panose="02000000000000000000" pitchFamily="2" charset="0"/>
              </a:rPr>
              <a:t>Availability Zones</a:t>
            </a:r>
            <a:r>
              <a:rPr lang="en-US" dirty="0"/>
              <a:t>, and </a:t>
            </a:r>
            <a:r>
              <a:rPr lang="en-US" dirty="0">
                <a:ea typeface="Amazon Ember" panose="02000000000000000000" pitchFamily="2" charset="0"/>
              </a:rPr>
              <a:t>edge locations.</a:t>
            </a:r>
          </a:p>
          <a:p>
            <a:r>
              <a:rPr lang="en-US" dirty="0"/>
              <a:t>Your choice of a Region is typically based on </a:t>
            </a:r>
            <a:r>
              <a:rPr lang="en-US" dirty="0">
                <a:ea typeface="Amazon Ember" panose="02000000000000000000" pitchFamily="2" charset="0"/>
              </a:rPr>
              <a:t>compliance requirements </a:t>
            </a:r>
            <a:r>
              <a:rPr lang="en-US" dirty="0"/>
              <a:t>or to </a:t>
            </a:r>
            <a:r>
              <a:rPr lang="en-US" dirty="0">
                <a:ea typeface="Amazon Ember" panose="02000000000000000000" pitchFamily="2" charset="0"/>
              </a:rPr>
              <a:t>reduce latency.</a:t>
            </a:r>
          </a:p>
          <a:p>
            <a:r>
              <a:rPr lang="en-US" dirty="0"/>
              <a:t>Each </a:t>
            </a:r>
            <a:r>
              <a:rPr lang="en-US" dirty="0">
                <a:ea typeface="Amazon Ember" panose="02000000000000000000" pitchFamily="2" charset="0"/>
              </a:rPr>
              <a:t>Availability Zone </a:t>
            </a:r>
            <a:r>
              <a:rPr lang="en-US" dirty="0"/>
              <a:t>is physically separate from other Availability Zones and has redundant power, networking, and connectivity.</a:t>
            </a:r>
          </a:p>
          <a:p>
            <a:r>
              <a:rPr lang="en-US" dirty="0">
                <a:ea typeface="Amazon Ember" panose="02000000000000000000" pitchFamily="2" charset="0"/>
              </a:rPr>
              <a:t>Edge locations </a:t>
            </a:r>
            <a:r>
              <a:rPr lang="en-US" dirty="0"/>
              <a:t>and </a:t>
            </a:r>
            <a:r>
              <a:rPr lang="en-US" dirty="0">
                <a:ea typeface="Amazon Ember" panose="02000000000000000000" pitchFamily="2" charset="0"/>
              </a:rPr>
              <a:t>regional edge caches </a:t>
            </a:r>
            <a:r>
              <a:rPr lang="en-US" dirty="0"/>
              <a:t>improve performance by caching content closer to users.</a:t>
            </a:r>
          </a:p>
        </p:txBody>
      </p:sp>
      <p:pic>
        <p:nvPicPr>
          <p:cNvPr id="7" name="Content Placeholder 13">
            <a:extLst>
              <a:ext uri="{FF2B5EF4-FFF2-40B4-BE49-F238E27FC236}">
                <a16:creationId xmlns:a16="http://schemas.microsoft.com/office/drawing/2014/main" id="{7DD00568-5DCD-40F0-B26A-D59D74B27211}"/>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Tree>
    <p:custDataLst>
      <p:tags r:id="rId1"/>
    </p:custDataLst>
    <p:extLst>
      <p:ext uri="{BB962C8B-B14F-4D97-AF65-F5344CB8AC3E}">
        <p14:creationId xmlns:p14="http://schemas.microsoft.com/office/powerpoint/2010/main" val="40779304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5692A71-E305-4E94-96E3-7154FADB17F3}"/>
              </a:ext>
            </a:extLst>
          </p:cNvPr>
          <p:cNvSpPr>
            <a:spLocks noGrp="1"/>
          </p:cNvSpPr>
          <p:nvPr>
            <p:ph type="sldNum" idx="97"/>
          </p:nvPr>
        </p:nvSpPr>
        <p:spPr/>
        <p:txBody>
          <a:bodyPr/>
          <a:lstStyle/>
          <a:p>
            <a:fld id="{4037B1B0-0345-4E15-985A-6BECCDBE474F}" type="slidenum">
              <a:rPr lang="en-US" smtClean="0"/>
              <a:pPr/>
              <a:t>43</a:t>
            </a:fld>
            <a:endParaRPr lang="en-US" dirty="0"/>
          </a:p>
        </p:txBody>
      </p:sp>
      <p:sp>
        <p:nvSpPr>
          <p:cNvPr id="6" name="Title">
            <a:extLst>
              <a:ext uri="{FF2B5EF4-FFF2-40B4-BE49-F238E27FC236}">
                <a16:creationId xmlns:a16="http://schemas.microsoft.com/office/drawing/2014/main" id="{BFC5ECD2-AFF4-4A2B-9E54-AC9D736C4BC9}"/>
              </a:ext>
            </a:extLst>
          </p:cNvPr>
          <p:cNvSpPr>
            <a:spLocks noGrp="1"/>
          </p:cNvSpPr>
          <p:nvPr>
            <p:ph type="title" idx="1"/>
          </p:nvPr>
        </p:nvSpPr>
        <p:spPr/>
        <p:txBody>
          <a:bodyPr>
            <a:normAutofit/>
          </a:bodyPr>
          <a:lstStyle/>
          <a:p>
            <a:r>
              <a:rPr lang="en-US" dirty="0"/>
              <a:t>Module wrap-up</a:t>
            </a:r>
          </a:p>
        </p:txBody>
      </p:sp>
      <p:sp>
        <p:nvSpPr>
          <p:cNvPr id="7" name="Text Placeholder 6">
            <a:extLst>
              <a:ext uri="{FF2B5EF4-FFF2-40B4-BE49-F238E27FC236}">
                <a16:creationId xmlns:a16="http://schemas.microsoft.com/office/drawing/2014/main" id="{A3440BC3-762D-4310-82DF-4E1F23D9E6A4}"/>
              </a:ext>
            </a:extLst>
          </p:cNvPr>
          <p:cNvSpPr>
            <a:spLocks noGrp="1"/>
          </p:cNvSpPr>
          <p:nvPr>
            <p:ph type="subTitle" idx="2"/>
          </p:nvPr>
        </p:nvSpPr>
        <p:spPr/>
        <p:txBody>
          <a:bodyPr/>
          <a:lstStyle/>
          <a:p>
            <a:r>
              <a:rPr lang="en-US" dirty="0"/>
              <a:t>Introducing Cloud Architecting</a:t>
            </a:r>
          </a:p>
          <a:p>
            <a:endParaRPr lang="en-US" dirty="0"/>
          </a:p>
        </p:txBody>
      </p:sp>
    </p:spTree>
    <p:custDataLst>
      <p:tags r:id="rId1"/>
    </p:custDataLst>
    <p:extLst>
      <p:ext uri="{BB962C8B-B14F-4D97-AF65-F5344CB8AC3E}">
        <p14:creationId xmlns:p14="http://schemas.microsoft.com/office/powerpoint/2010/main" val="31912275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EBECEECC-6889-3C4B-ADDE-289EB9D9F6A9}"/>
              </a:ext>
              <a:ext uri="{C183D7F6-B498-43B3-948B-1728B52AA6E4}">
                <adec:decorative xmlns:adec="http://schemas.microsoft.com/office/drawing/2017/decorative" val="0"/>
              </a:ext>
            </a:extLst>
          </p:cNvPr>
          <p:cNvSpPr>
            <a:spLocks noGrp="1"/>
          </p:cNvSpPr>
          <p:nvPr>
            <p:ph type="sldNum" idx="97"/>
          </p:nvPr>
        </p:nvSpPr>
        <p:spPr/>
        <p:txBody>
          <a:bodyPr/>
          <a:lstStyle/>
          <a:p>
            <a:fld id="{B6A95138-A96E-2F42-A959-2EFD44FE4AB7}" type="slidenum">
              <a:rPr lang="en-US" smtClean="0"/>
              <a:t>44</a:t>
            </a:fld>
            <a:endParaRPr lang="en-US" dirty="0"/>
          </a:p>
        </p:txBody>
      </p:sp>
      <p:sp>
        <p:nvSpPr>
          <p:cNvPr id="2" name="Title"/>
          <p:cNvSpPr>
            <a:spLocks noGrp="1"/>
          </p:cNvSpPr>
          <p:nvPr>
            <p:ph type="title" idx="1"/>
          </p:nvPr>
        </p:nvSpPr>
        <p:spPr/>
        <p:txBody>
          <a:bodyPr>
            <a:noAutofit/>
          </a:bodyPr>
          <a:lstStyle/>
          <a:p>
            <a:r>
              <a:rPr lang="en-US" dirty="0">
                <a:latin typeface="+mj-lt"/>
              </a:rPr>
              <a:t>Module summary                                                     </a:t>
            </a:r>
          </a:p>
        </p:txBody>
      </p:sp>
      <p:sp>
        <p:nvSpPr>
          <p:cNvPr id="6" name="Content Placeholder 5">
            <a:extLst>
              <a:ext uri="{FF2B5EF4-FFF2-40B4-BE49-F238E27FC236}">
                <a16:creationId xmlns:a16="http://schemas.microsoft.com/office/drawing/2014/main" id="{96B1D8CB-247D-9047-BFCE-7C071A34030D}"/>
              </a:ext>
            </a:extLst>
          </p:cNvPr>
          <p:cNvSpPr>
            <a:spLocks noGrp="1"/>
          </p:cNvSpPr>
          <p:nvPr>
            <p:ph idx="2"/>
          </p:nvPr>
        </p:nvSpPr>
        <p:spPr/>
        <p:txBody>
          <a:bodyPr>
            <a:normAutofit/>
          </a:bodyPr>
          <a:lstStyle/>
          <a:p>
            <a:pPr marL="0" indent="0">
              <a:buNone/>
            </a:pPr>
            <a:r>
              <a:rPr lang="en-US" dirty="0"/>
              <a:t>This module prepared you to do the following: </a:t>
            </a:r>
          </a:p>
          <a:p>
            <a:r>
              <a:rPr lang="en-US" sz="2400" dirty="0"/>
              <a:t>Define cloud architecture.</a:t>
            </a:r>
          </a:p>
          <a:p>
            <a:r>
              <a:rPr lang="en-US" sz="2400" dirty="0"/>
              <a:t>Describe how to design and evaluate architectures using the AWS Well-Architected Framework.</a:t>
            </a:r>
          </a:p>
          <a:p>
            <a:r>
              <a:rPr lang="en-US" sz="2400" dirty="0"/>
              <a:t>Explain best practices for building solutions on AWS. </a:t>
            </a:r>
          </a:p>
          <a:p>
            <a:r>
              <a:rPr lang="en-US" sz="2400" dirty="0"/>
              <a:t>Describe how to make informed decisions about where to place AWS resources.</a:t>
            </a:r>
            <a:endParaRPr lang="en-US" sz="2600" dirty="0"/>
          </a:p>
        </p:txBody>
      </p:sp>
    </p:spTree>
    <p:custDataLst>
      <p:tags r:id="rId1"/>
    </p:custDataLst>
    <p:extLst>
      <p:ext uri="{BB962C8B-B14F-4D97-AF65-F5344CB8AC3E}">
        <p14:creationId xmlns:p14="http://schemas.microsoft.com/office/powerpoint/2010/main" val="2946459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62C28A0B-4952-80EF-B91E-45338225955B}"/>
              </a:ext>
            </a:extLst>
          </p:cNvPr>
          <p:cNvSpPr>
            <a:spLocks noGrp="1"/>
          </p:cNvSpPr>
          <p:nvPr>
            <p:ph type="sldNum" idx="97"/>
          </p:nvPr>
        </p:nvSpPr>
        <p:spPr>
          <a:xfrm>
            <a:off x="11393982" y="6446520"/>
            <a:ext cx="438354" cy="228600"/>
          </a:xfrm>
        </p:spPr>
        <p:txBody>
          <a:bodyPr/>
          <a:lstStyle/>
          <a:p>
            <a:fld id="{B6A95138-A96E-2F42-A959-2EFD44FE4AB7}" type="slidenum">
              <a:rPr lang="en-US" smtClean="0"/>
              <a:t>45</a:t>
            </a:fld>
            <a:endParaRPr lang="en-US" dirty="0"/>
          </a:p>
        </p:txBody>
      </p:sp>
      <p:sp>
        <p:nvSpPr>
          <p:cNvPr id="3" name="Title">
            <a:extLst>
              <a:ext uri="{FF2B5EF4-FFF2-40B4-BE49-F238E27FC236}">
                <a16:creationId xmlns:a16="http://schemas.microsoft.com/office/drawing/2014/main" id="{51F3F5E5-7DD2-4213-B89E-D58B1DC6C675}"/>
              </a:ext>
            </a:extLst>
          </p:cNvPr>
          <p:cNvSpPr>
            <a:spLocks noGrp="1"/>
          </p:cNvSpPr>
          <p:nvPr>
            <p:ph type="title" idx="1"/>
          </p:nvPr>
        </p:nvSpPr>
        <p:spPr/>
        <p:txBody>
          <a:bodyPr/>
          <a:lstStyle/>
          <a:p>
            <a:r>
              <a:rPr lang="en-US" dirty="0"/>
              <a:t>Module knowledge check</a:t>
            </a:r>
          </a:p>
        </p:txBody>
      </p:sp>
      <p:sp>
        <p:nvSpPr>
          <p:cNvPr id="4" name="Text Placeholder 3">
            <a:extLst>
              <a:ext uri="{FF2B5EF4-FFF2-40B4-BE49-F238E27FC236}">
                <a16:creationId xmlns:a16="http://schemas.microsoft.com/office/drawing/2014/main" id="{B102839A-21FA-4CBF-AD8B-EDDC3CB67316}"/>
              </a:ext>
            </a:extLst>
          </p:cNvPr>
          <p:cNvSpPr>
            <a:spLocks noGrp="1"/>
          </p:cNvSpPr>
          <p:nvPr>
            <p:ph type="body" idx="3"/>
          </p:nvPr>
        </p:nvSpPr>
        <p:spPr/>
        <p:txBody>
          <a:bodyPr/>
          <a:lstStyle/>
          <a:p>
            <a:r>
              <a:rPr lang="en-US" dirty="0"/>
              <a:t>The knowledge check is delivered online in your course.</a:t>
            </a:r>
          </a:p>
          <a:p>
            <a:r>
              <a:rPr lang="en-US" dirty="0"/>
              <a:t>The knowledge check includes 10 questions based on material presented on the slides and in the slide notes.</a:t>
            </a:r>
          </a:p>
          <a:p>
            <a:r>
              <a:rPr lang="en-US" dirty="0"/>
              <a:t>You can retake the knowledge check as many times as you like.</a:t>
            </a:r>
          </a:p>
        </p:txBody>
      </p:sp>
      <p:pic>
        <p:nvPicPr>
          <p:cNvPr id="5" name="Content Placeholder 9">
            <a:extLst>
              <a:ext uri="{FF2B5EF4-FFF2-40B4-BE49-F238E27FC236}">
                <a16:creationId xmlns:a16="http://schemas.microsoft.com/office/drawing/2014/main" id="{807D4F68-5D6A-4D5A-900A-3670C23DDC8F}"/>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1658" y="3044661"/>
            <a:ext cx="1624858" cy="2438728"/>
          </a:xfrm>
          <a:prstGeom prst="rect">
            <a:avLst/>
          </a:prstGeom>
        </p:spPr>
      </p:pic>
    </p:spTree>
    <p:custDataLst>
      <p:tags r:id="rId1"/>
    </p:custDataLst>
    <p:extLst>
      <p:ext uri="{BB962C8B-B14F-4D97-AF65-F5344CB8AC3E}">
        <p14:creationId xmlns:p14="http://schemas.microsoft.com/office/powerpoint/2010/main" val="12569249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FC7CDECE-42DD-444A-A391-59FC4FA195B0}"/>
              </a:ext>
            </a:extLst>
          </p:cNvPr>
          <p:cNvSpPr>
            <a:spLocks noGrp="1"/>
          </p:cNvSpPr>
          <p:nvPr>
            <p:ph type="sldNum" idx="97"/>
          </p:nvPr>
        </p:nvSpPr>
        <p:spPr/>
        <p:txBody>
          <a:bodyPr/>
          <a:lstStyle/>
          <a:p>
            <a:fld id="{4037B1B0-0345-4E15-985A-6BECCDBE474F}" type="slidenum">
              <a:rPr lang="en-US" smtClean="0"/>
              <a:pPr/>
              <a:t>46</a:t>
            </a:fld>
            <a:endParaRPr lang="en-US" dirty="0"/>
          </a:p>
        </p:txBody>
      </p:sp>
      <p:sp>
        <p:nvSpPr>
          <p:cNvPr id="3" name="Title">
            <a:extLst>
              <a:ext uri="{FF2B5EF4-FFF2-40B4-BE49-F238E27FC236}">
                <a16:creationId xmlns:a16="http://schemas.microsoft.com/office/drawing/2014/main" id="{86DE125D-EF16-4D55-911F-84B4B633C221}"/>
              </a:ext>
            </a:extLst>
          </p:cNvPr>
          <p:cNvSpPr>
            <a:spLocks noGrp="1"/>
          </p:cNvSpPr>
          <p:nvPr>
            <p:ph type="title" idx="1"/>
          </p:nvPr>
        </p:nvSpPr>
        <p:spPr/>
        <p:txBody>
          <a:bodyPr/>
          <a:lstStyle/>
          <a:p>
            <a:r>
              <a:rPr lang="en-US" dirty="0"/>
              <a:t>Thank you</a:t>
            </a:r>
          </a:p>
        </p:txBody>
      </p:sp>
      <p:sp>
        <p:nvSpPr>
          <p:cNvPr id="8" name="Text Placeholder 11">
            <a:extLst>
              <a:ext uri="{FF2B5EF4-FFF2-40B4-BE49-F238E27FC236}">
                <a16:creationId xmlns:a16="http://schemas.microsoft.com/office/drawing/2014/main" id="{42F1ACF1-06C6-4DA7-8E1C-319A1D6E0048}"/>
              </a:ext>
            </a:extLst>
          </p:cNvPr>
          <p:cNvSpPr>
            <a:spLocks noGrp="1"/>
          </p:cNvSpPr>
          <p:nvPr>
            <p:ph type="body" idx="2"/>
          </p:nvPr>
        </p:nvSpPr>
        <p:spPr/>
        <p:txBody>
          <a:bodyPr/>
          <a:lstStyle>
            <a:lvl1pPr marL="0" indent="0">
              <a:lnSpc>
                <a:spcPct val="100000"/>
              </a:lnSpc>
              <a:spcBef>
                <a:spcPts val="0"/>
              </a:spcBef>
              <a:spcAft>
                <a:spcPts val="0"/>
              </a:spcAft>
              <a:buClrTx/>
              <a:buSzTx/>
              <a:buFontTx/>
              <a:buNone/>
              <a:tabLst/>
              <a:defRPr sz="1800">
                <a:solidFill>
                  <a:schemeClr val="bg2"/>
                </a:solidFill>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r>
              <a:rPr lang="en-US" dirty="0">
                <a:solidFill>
                  <a:schemeClr val="bg1"/>
                </a:solidFill>
              </a:rPr>
              <a:t>Corrections, feedback, or other questions?</a:t>
            </a:r>
          </a:p>
          <a:p>
            <a:r>
              <a:rPr lang="en-US" dirty="0">
                <a:solidFill>
                  <a:schemeClr val="bg1"/>
                </a:solidFill>
              </a:rPr>
              <a:t>Contact us at </a:t>
            </a:r>
            <a:r>
              <a:rPr lang="en-US" dirty="0">
                <a:solidFill>
                  <a:schemeClr val="bg1"/>
                </a:solidFill>
                <a:hlinkClick r:id="rId4">
                  <a:extLst>
                    <a:ext uri="{A12FA001-AC4F-418D-AE19-62706E023703}">
                      <ahyp:hlinkClr xmlns:ahyp="http://schemas.microsoft.com/office/drawing/2018/hyperlinkcolor" val="tx"/>
                    </a:ext>
                  </a:extLst>
                </a:hlinkClick>
              </a:rPr>
              <a:t>https://support.aws.amazon.com/#/contacts/aws-academy</a:t>
            </a:r>
            <a:r>
              <a:rPr lang="en-US" dirty="0">
                <a:solidFill>
                  <a:schemeClr val="bg1"/>
                </a:solidFill>
              </a:rPr>
              <a:t>.</a:t>
            </a:r>
          </a:p>
        </p:txBody>
      </p:sp>
    </p:spTree>
    <p:custDataLst>
      <p:tags r:id="rId1"/>
    </p:custDataLst>
    <p:extLst>
      <p:ext uri="{BB962C8B-B14F-4D97-AF65-F5344CB8AC3E}">
        <p14:creationId xmlns:p14="http://schemas.microsoft.com/office/powerpoint/2010/main" val="3618961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NEBRAND EVO (2022-Q4) COLORSET 3" val="A2zn44nu"/>
  <p:tag name="ARTICULATE_SLIDE_COUNT" val="4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neBrand EVO (2022-Q4) ColorSet 3">
  <a:themeElements>
    <a:clrScheme name="OneBrand Evo Set 3">
      <a:dk1>
        <a:sysClr val="windowText" lastClr="000000"/>
      </a:dk1>
      <a:lt1>
        <a:sysClr val="window" lastClr="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AWS One Brand Evo">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lite">
      <a:srgbClr val="1A2F4C"/>
    </a:custClr>
    <a:custClr name="Anchor">
      <a:srgbClr val="003181"/>
    </a:custClr>
    <a:custClr name="Sea Blue">
      <a:srgbClr val="005276"/>
    </a:custClr>
    <a:custClr name="Sky">
      <a:srgbClr val="2074D5"/>
    </a:custClr>
    <a:custClr name="Aqua">
      <a:srgbClr val="007FAA"/>
    </a:custClr>
    <a:custClr name="Cyan">
      <a:srgbClr val="7CE8F4"/>
    </a:custClr>
    <a:custClr name="blank">
      <a:srgbClr val="FFFFFF"/>
    </a:custClr>
    <a:custClr name="blank">
      <a:srgbClr val="FFFFFF"/>
    </a:custClr>
    <a:custClr name="blank">
      <a:srgbClr val="FFFFFF"/>
    </a:custClr>
    <a:custClr name="blank">
      <a:srgbClr val="FFFFFF"/>
    </a:custClr>
    <a:custClr name="Galaxy">
      <a:srgbClr val="330066"/>
    </a:custClr>
    <a:custClr name="Dark Grape">
      <a:srgbClr val="563377"/>
    </a:custClr>
    <a:custClr name="Violet">
      <a:srgbClr val="7C5AED"/>
    </a:custClr>
    <a:custClr name="Bright Lilac">
      <a:srgbClr val="CC83EA"/>
    </a:custClr>
    <a:custClr name="Wine">
      <a:srgbClr val="8F1761"/>
    </a:custClr>
    <a:custClr name="Bloodthorn">
      <a:srgbClr val="B5335C"/>
    </a:custClr>
    <a:custClr name="Cosmos">
      <a:srgbClr val="DF2A5D"/>
    </a:custClr>
    <a:custClr name="Magenta">
      <a:srgbClr val="F46EBB"/>
    </a:custClr>
    <a:custClr name="blank">
      <a:srgbClr val="FFFFFF"/>
    </a:custClr>
    <a:custClr name="blank">
      <a:srgbClr val="FFFFFF"/>
    </a:custClr>
    <a:custClr name="Umber">
      <a:srgbClr val="BE4E2E"/>
    </a:custClr>
    <a:custClr name="Smile">
      <a:srgbClr val="FF9900"/>
    </a:custClr>
    <a:custClr name="Peach">
      <a:srgbClr val="FFAD97"/>
    </a:custClr>
    <a:custClr name="Rind">
      <a:srgbClr val="FBD8B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Evergreen">
      <a:srgbClr val="19594E"/>
    </a:custClr>
    <a:custClr name="Salem">
      <a:srgbClr val="197956"/>
    </a:custClr>
    <a:custClr name="Aloha">
      <a:srgbClr val="1DB893"/>
    </a:custClr>
    <a:custClr name="Mist">
      <a:srgbClr val="9FFCEA"/>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Squid Ink">
      <a:srgbClr val="161E2D"/>
    </a:custClr>
    <a:custClr name="Squid Ink">
      <a:srgbClr val="232F3E"/>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TC Official Evolved ColorSet 4 (2022-Q4).potx" id="{CECD8FAD-F029-48AF-B3C8-C6C68F5F2640}" vid="{A1F5EB9E-5EAA-4239-ADDD-DA0BB31B89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TC Official Evolved ColorSet 3 (2022-Q4)</Template>
  <TotalTime>0</TotalTime>
  <Words>9598</Words>
  <Application>Microsoft Office PowerPoint</Application>
  <PresentationFormat>Widescreen</PresentationFormat>
  <Paragraphs>809</Paragraphs>
  <Slides>46</Slides>
  <Notes>46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Amazon Ember Display</vt:lpstr>
      <vt:lpstr>Verdana</vt:lpstr>
      <vt:lpstr>Amazon Ember Display Heavy</vt:lpstr>
      <vt:lpstr>Amazon Ember Display</vt:lpstr>
      <vt:lpstr>Calibri</vt:lpstr>
      <vt:lpstr>Arial</vt:lpstr>
      <vt:lpstr>Lucida Console</vt:lpstr>
      <vt:lpstr>Amazon Ember</vt:lpstr>
      <vt:lpstr>Amazon Ember Heavy</vt:lpstr>
      <vt:lpstr>OneBrand EVO (2022-Q4) ColorSet 3</vt:lpstr>
      <vt:lpstr>Introducing Cloud Architecting</vt:lpstr>
      <vt:lpstr>Introduction</vt:lpstr>
      <vt:lpstr>Module objectives</vt:lpstr>
      <vt:lpstr>Module overview</vt:lpstr>
      <vt:lpstr>As a cloud architect designing AWS architectures:</vt:lpstr>
      <vt:lpstr>Cloud Architecting</vt:lpstr>
      <vt:lpstr>Cloud computing and AWS</vt:lpstr>
      <vt:lpstr>Cloud architecture</vt:lpstr>
      <vt:lpstr>Role of a cloud architect</vt:lpstr>
      <vt:lpstr>Key takeaways: What is cloud architecting?</vt:lpstr>
      <vt:lpstr>AWS Well-Architected Framework</vt:lpstr>
      <vt:lpstr>Pillars of the AWS Well-Architected Framework</vt:lpstr>
      <vt:lpstr>Operational Excellence pillar</vt:lpstr>
      <vt:lpstr>Security pillar</vt:lpstr>
      <vt:lpstr>Reliability pillar</vt:lpstr>
      <vt:lpstr>Performance Efficiency pillar</vt:lpstr>
      <vt:lpstr>Cost Optimization pillar</vt:lpstr>
      <vt:lpstr>Sustainability pillar</vt:lpstr>
      <vt:lpstr>Using the AWS WA Tool</vt:lpstr>
      <vt:lpstr>Key takeaways: AWS Well-Architected Framework </vt:lpstr>
      <vt:lpstr>Best practices for building solutions on AWS</vt:lpstr>
      <vt:lpstr>Design trade-offs</vt:lpstr>
      <vt:lpstr>Implementing scalability</vt:lpstr>
      <vt:lpstr>Automating your environment</vt:lpstr>
      <vt:lpstr>Using IaC</vt:lpstr>
      <vt:lpstr>Treating resources as disposable</vt:lpstr>
      <vt:lpstr>Using loosely coupled components</vt:lpstr>
      <vt:lpstr>Designing services, not servers</vt:lpstr>
      <vt:lpstr>Choosing the right database solution</vt:lpstr>
      <vt:lpstr>Avoiding single points of failure</vt:lpstr>
      <vt:lpstr>Optimizing for cost</vt:lpstr>
      <vt:lpstr>Using caching</vt:lpstr>
      <vt:lpstr>Securing your entire infrastructure</vt:lpstr>
      <vt:lpstr>Key takeaways: Best practices for building solutions on AWS </vt:lpstr>
      <vt:lpstr>AWS Global Infrastructure</vt:lpstr>
      <vt:lpstr>AWS infrastructure topics</vt:lpstr>
      <vt:lpstr>Selecting Regions</vt:lpstr>
      <vt:lpstr>Selecting Availability Zones</vt:lpstr>
      <vt:lpstr>Using Local Zones</vt:lpstr>
      <vt:lpstr>Role of AWS data centers</vt:lpstr>
      <vt:lpstr>AWS PoPs</vt:lpstr>
      <vt:lpstr>Key takeaways: AWS Global Infrastructure</vt:lpstr>
      <vt:lpstr>Module wrap-up</vt:lpstr>
      <vt:lpstr>Module summary                                                     </vt:lpstr>
      <vt:lpstr>Module knowledge check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2024-02-28T12:57:37Z</dcterms:created>
  <dcterms:modified xsi:type="dcterms:W3CDTF">2024-02-28T12:58:01Z</dcterms:modified>
</cp:coreProperties>
</file>
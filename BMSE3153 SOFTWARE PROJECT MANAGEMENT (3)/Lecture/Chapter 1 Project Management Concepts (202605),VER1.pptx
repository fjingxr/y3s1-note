
<file path=[Content_Types].xml><?xml version="1.0" encoding="utf-8"?>
<Types xmlns="http://schemas.openxmlformats.org/package/2006/content-types">
  <Default Extension="xml" ContentType="application/xml"/>
  <Default Extension="gif" ContentType="image/gif"/>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35.xml" ContentType="application/vnd.openxmlformats-officedocument.presentationml.notesSlide+xml"/>
  <Override PartName="/ppt/notesSlides/notesSlide130.xml" ContentType="application/vnd.openxmlformats-officedocument.presentationml.notesSlide+xml"/>
  <Override PartName="/ppt/notesSlides/notesSlide129.xml" ContentType="application/vnd.openxmlformats-officedocument.presentationml.notesSlide+xml"/>
  <Override PartName="/ppt/notesSlides/notesSlide128.xml" ContentType="application/vnd.openxmlformats-officedocument.presentationml.notesSlide+xml"/>
  <Override PartName="/ppt/notesSlides/notesSlide127.xml" ContentType="application/vnd.openxmlformats-officedocument.presentationml.notesSlide+xml"/>
  <Override PartName="/ppt/notesSlides/notesSlide123.xml" ContentType="application/vnd.openxmlformats-officedocument.presentationml.notesSlide+xml"/>
  <Override PartName="/ppt/notesSlides/notesSlide122.xml" ContentType="application/vnd.openxmlformats-officedocument.presentationml.notesSlide+xml"/>
  <Override PartName="/ppt/notesSlides/notesSlide121.xml" ContentType="application/vnd.openxmlformats-officedocument.presentationml.notesSlide+xml"/>
  <Override PartName="/ppt/notesSlides/notesSlide120.xml" ContentType="application/vnd.openxmlformats-officedocument.presentationml.notesSlide+xml"/>
  <Override PartName="/ppt/notesSlides/notesSlide119.xml" ContentType="application/vnd.openxmlformats-officedocument.presentationml.notesSlide+xml"/>
  <Override PartName="/ppt/notesSlides/notesSlide118.xml" ContentType="application/vnd.openxmlformats-officedocument.presentationml.notesSlide+xml"/>
  <Override PartName="/ppt/notesSlides/notesSlide114.xml" ContentType="application/vnd.openxmlformats-officedocument.presentationml.notesSlide+xml"/>
  <Override PartName="/ppt/notesSlides/notesSlide112.xml" ContentType="application/vnd.openxmlformats-officedocument.presentationml.notesSlide+xml"/>
  <Override PartName="/ppt/notesSlides/notesSlide110.xml" ContentType="application/vnd.openxmlformats-officedocument.presentationml.notesSlide+xml"/>
  <Override PartName="/ppt/notesSlides/notesSlide109.xml" ContentType="application/vnd.openxmlformats-officedocument.presentationml.notesSlide+xml"/>
  <Override PartName="/ppt/notesSlides/notesSlide106.xml" ContentType="application/vnd.openxmlformats-officedocument.presentationml.notesSlide+xml"/>
  <Override PartName="/ppt/notesSlides/notesSlide105.xml" ContentType="application/vnd.openxmlformats-officedocument.presentationml.notesSlide+xml"/>
  <Override PartName="/ppt/notesSlides/notesSlide104.xml" ContentType="application/vnd.openxmlformats-officedocument.presentationml.notesSlide+xml"/>
  <Override PartName="/ppt/notesSlides/notesSlide101.xml" ContentType="application/vnd.openxmlformats-officedocument.presentationml.notesSlide+xml"/>
  <Override PartName="/ppt/notesSlides/notesSlide100.xml" ContentType="application/vnd.openxmlformats-officedocument.presentationml.notesSlide+xml"/>
  <Override PartName="/ppt/notesSlides/notesSlide97.xml" ContentType="application/vnd.openxmlformats-officedocument.presentationml.notesSlide+xml"/>
  <Override PartName="/ppt/notesSlides/notesSlide96.xml" ContentType="application/vnd.openxmlformats-officedocument.presentationml.notesSlide+xml"/>
  <Override PartName="/ppt/notesSlides/notesSlide95.xml" ContentType="application/vnd.openxmlformats-officedocument.presentationml.notesSlide+xml"/>
  <Override PartName="/ppt/notesSlides/notesSlide94.xml" ContentType="application/vnd.openxmlformats-officedocument.presentationml.notesSlide+xml"/>
  <Override PartName="/ppt/notesSlides/notesSlide90.xml" ContentType="application/vnd.openxmlformats-officedocument.presentationml.notesSlide+xml"/>
  <Override PartName="/ppt/notesSlides/notesSlide87.xml" ContentType="application/vnd.openxmlformats-officedocument.presentationml.notesSlide+xml"/>
  <Override PartName="/ppt/notesSlides/notesSlide86.xml" ContentType="application/vnd.openxmlformats-officedocument.presentationml.notesSlide+xml"/>
  <Override PartName="/ppt/notesSlides/notesSlide85.xml" ContentType="application/vnd.openxmlformats-officedocument.presentationml.notesSlide+xml"/>
  <Override PartName="/ppt/notesSlides/notesSlide83.xml" ContentType="application/vnd.openxmlformats-officedocument.presentationml.notesSlide+xml"/>
  <Override PartName="/ppt/notesSlides/notesSlide82.xml" ContentType="application/vnd.openxmlformats-officedocument.presentationml.notesSlide+xml"/>
  <Override PartName="/ppt/notesSlides/notesSlide124.xml" ContentType="application/vnd.openxmlformats-officedocument.presentationml.notesSlide+xml"/>
  <Override PartName="/ppt/notesSlides/notesSlide81.xml" ContentType="application/vnd.openxmlformats-officedocument.presentationml.notesSlide+xml"/>
  <Override PartName="/ppt/notesSlides/notesSlide79.xml" ContentType="application/vnd.openxmlformats-officedocument.presentationml.notesSlide+xml"/>
  <Override PartName="/ppt/notesSlides/notesSlide78.xml" ContentType="application/vnd.openxmlformats-officedocument.presentationml.notesSlide+xml"/>
  <Override PartName="/ppt/notesSlides/notesSlide77.xml" ContentType="application/vnd.openxmlformats-officedocument.presentationml.notesSlide+xml"/>
  <Override PartName="/ppt/notesSlides/notesSlide76.xml" ContentType="application/vnd.openxmlformats-officedocument.presentationml.notesSlide+xml"/>
  <Override PartName="/ppt/notesSlides/notesSlide70.xml" ContentType="application/vnd.openxmlformats-officedocument.presentationml.notesSlide+xml"/>
  <Override PartName="/ppt/notesSlides/notesSlide93.xml" ContentType="application/vnd.openxmlformats-officedocument.presentationml.notesSlide+xml"/>
  <Override PartName="/ppt/notesSlides/notesSlide69.xml" ContentType="application/vnd.openxmlformats-officedocument.presentationml.notesSlide+xml"/>
  <Override PartName="/ppt/notesSlides/notesSlide65.xml" ContentType="application/vnd.openxmlformats-officedocument.presentationml.notesSlide+xml"/>
  <Override PartName="/ppt/notesSlides/notesSlide64.xml" ContentType="application/vnd.openxmlformats-officedocument.presentationml.notesSlide+xml"/>
  <Override PartName="/ppt/notesSlides/notesSlide62.xml" ContentType="application/vnd.openxmlformats-officedocument.presentationml.notesSlide+xml"/>
  <Override PartName="/ppt/notesSlides/notesSlide61.xml" ContentType="application/vnd.openxmlformats-officedocument.presentationml.notesSlide+xml"/>
  <Override PartName="/ppt/notesSlides/notesSlide59.xml" ContentType="application/vnd.openxmlformats-officedocument.presentationml.notesSlide+xml"/>
  <Override PartName="/ppt/notesSlides/notesSlide57.xml" ContentType="application/vnd.openxmlformats-officedocument.presentationml.notesSlide+xml"/>
  <Override PartName="/ppt/notesSlides/notesSlide56.xml" ContentType="application/vnd.openxmlformats-officedocument.presentationml.notesSlide+xml"/>
  <Override PartName="/ppt/notesSlides/notesSlide54.xml" ContentType="application/vnd.openxmlformats-officedocument.presentationml.notesSlide+xml"/>
  <Override PartName="/ppt/notesSlides/notesSlide68.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8.xml" ContentType="application/vnd.openxmlformats-officedocument.presentationml.notesSlide+xml"/>
  <Override PartName="/ppt/notesSlides/notesSlide47.xml" ContentType="application/vnd.openxmlformats-officedocument.presentationml.notesSlide+xml"/>
  <Override PartName="/ppt/notesSlides/notesSlide46.xml" ContentType="application/vnd.openxmlformats-officedocument.presentationml.notesSlide+xml"/>
  <Override PartName="/ppt/notesSlides/notesSlide53.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notesSlides/notesSlide41.xml" ContentType="application/vnd.openxmlformats-officedocument.presentationml.notesSlide+xml"/>
  <Override PartName="/ppt/slides/slide64.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slides/slide60.xml" ContentType="application/vnd.openxmlformats-officedocument.presentationml.slide+xml"/>
  <Override PartName="/ppt/slides/slide55.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slides/slide54.xml" ContentType="application/vnd.openxmlformats-officedocument.presentationml.slide+xml"/>
  <Override PartName="/ppt/slides/slide78.xml" ContentType="application/vnd.openxmlformats-officedocument.presentationml.slide+xml"/>
  <Override PartName="/ppt/slides/slide89.xml" ContentType="application/vnd.openxmlformats-officedocument.presentationml.slide+xml"/>
  <Override PartName="/ppt/notesSlides/notesSlide34.xml" ContentType="application/vnd.openxmlformats-officedocument.presentationml.notesSlide+xml"/>
  <Override PartName="/ppt/slides/slide51.xml" ContentType="application/vnd.openxmlformats-officedocument.presentationml.slide+xml"/>
  <Override PartName="/ppt/notesSlides/notesSlide55.xml" ContentType="application/vnd.openxmlformats-officedocument.presentationml.notesSlide+xml"/>
  <Override PartName="/ppt/slides/slide50.xml" ContentType="application/vnd.openxmlformats-officedocument.presentationml.slide+xml"/>
  <Override PartName="/ppt/slides/slide9.xml" ContentType="application/vnd.openxmlformats-officedocument.presentationml.slide+xml"/>
  <Override PartName="/ppt/slides/slide124.xml" ContentType="application/vnd.openxmlformats-officedocument.presentationml.slide+xml"/>
  <Override PartName="/ppt/notesSlides/notesSlide9.xml" ContentType="application/vnd.openxmlformats-officedocument.presentationml.notesSlide+xml"/>
  <Override PartName="/ppt/notesSlides/notesSlide113.xml" ContentType="application/vnd.openxmlformats-officedocument.presentationml.notesSlide+xml"/>
  <Override PartName="/ppt/slides/slide46.xml" ContentType="application/vnd.openxmlformats-officedocument.presentationml.slide+xml"/>
  <Override PartName="/ppt/notesSlides/notesSlide107.xml" ContentType="application/vnd.openxmlformats-officedocument.presentationml.notesSlide+xml"/>
  <Override PartName="/ppt/slides/slide53.xml" ContentType="application/vnd.openxmlformats-officedocument.presentationml.slide+xml"/>
  <Override PartName="/ppt/notesSlides/notesSlide116.xml" ContentType="application/vnd.openxmlformats-officedocument.presentationml.notesSlide+xml"/>
  <Override PartName="/ppt/notesSlides/notesSlide63.xml" ContentType="application/vnd.openxmlformats-officedocument.presentationml.notesSlide+xml"/>
  <Override PartName="/ppt/slides/slide45.xml" ContentType="application/vnd.openxmlformats-officedocument.presentationml.slide+xml"/>
  <Override PartName="/ppt/notesSlides/notesSlide131.xml" ContentType="application/vnd.openxmlformats-officedocument.presentationml.notesSlide+xml"/>
  <Override PartName="/ppt/slides/slide129.xml" ContentType="application/vnd.openxmlformats-officedocument.presentationml.slide+xml"/>
  <Override PartName="/ppt/slides/slide44.xml" ContentType="application/vnd.openxmlformats-officedocument.presentationml.slide+xml"/>
  <Override PartName="/ppt/presentation.xml" ContentType="application/vnd.openxmlformats-officedocument.presentationml.presentation.main+xml"/>
  <Override PartName="/ppt/slides/slide33.xml" ContentType="application/vnd.openxmlformats-officedocument.presentationml.slide+xml"/>
  <Override PartName="/ppt/notesSlides/notesSlide115.xml" ContentType="application/vnd.openxmlformats-officedocument.presentationml.notesSlide+xml"/>
  <Override PartName="/ppt/slides/slide39.xml" ContentType="application/vnd.openxmlformats-officedocument.presentationml.slide+xml"/>
  <Override PartName="/ppt/slides/slide103.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notesSlides/notesSlide10.xml" ContentType="application/vnd.openxmlformats-officedocument.presentationml.notesSlide+xml"/>
  <Override PartName="/ppt/notesSlides/notesSlide92.xml" ContentType="application/vnd.openxmlformats-officedocument.presentationml.notesSlide+xml"/>
  <Override PartName="/ppt/slides/slide35.xml" ContentType="application/vnd.openxmlformats-officedocument.presentationml.slide+xml"/>
  <Override PartName="/ppt/notesSlides/notesSlide73.xml" ContentType="application/vnd.openxmlformats-officedocument.presentationml.notesSlide+xml"/>
  <Override PartName="/ppt/slides/slide34.xml" ContentType="application/vnd.openxmlformats-officedocument.presentationml.slide+xml"/>
  <Override PartName="/ppt/slides/slide31.xml" ContentType="application/vnd.openxmlformats-officedocument.presentationml.slide+xml"/>
  <Override PartName="/ppt/notesSlides/notesSlide84.xml" ContentType="application/vnd.openxmlformats-officedocument.presentationml.notesSlide+xml"/>
  <Override PartName="/ppt/slides/slide112.xml" ContentType="application/vnd.openxmlformats-officedocument.presentationml.slide+xml"/>
  <Override PartName="/ppt/slides/slide69.xml" ContentType="application/vnd.openxmlformats-officedocument.presentationml.slide+xml"/>
  <Override PartName="/ppt/slides/slide18.xml" ContentType="application/vnd.openxmlformats-officedocument.presentationml.slide+xml"/>
  <Override PartName="/ppt/slides/slide30.xml" ContentType="application/vnd.openxmlformats-officedocument.presentationml.slide+xml"/>
  <Override PartName="/ppt/slides/slide123.xml" ContentType="application/vnd.openxmlformats-officedocument.presentationml.slide+xml"/>
  <Override PartName="/ppt/theme/theme2.xml" ContentType="application/vnd.openxmlformats-officedocument.theme+xml"/>
  <Override PartName="/ppt/presProps.xml" ContentType="application/vnd.openxmlformats-officedocument.presentationml.presProps+xml"/>
  <Override PartName="/ppt/notesSlides/notesSlide27.xml" ContentType="application/vnd.openxmlformats-officedocument.presentationml.notesSlide+xml"/>
  <Override PartName="/ppt/notesSlides/notesSlide117.xml" ContentType="application/vnd.openxmlformats-officedocument.presentationml.notesSlide+xml"/>
  <Override PartName="/ppt/slides/slide25.xml" ContentType="application/vnd.openxmlformats-officedocument.presentationml.slide+xml"/>
  <Override PartName="/ppt/slideLayouts/slideLayout10.xml" ContentType="application/vnd.openxmlformats-officedocument.presentationml.slideLayout+xml"/>
  <Override PartName="/ppt/slides/slide66.xml" ContentType="application/vnd.openxmlformats-officedocument.presentationml.slide+xml"/>
  <Override PartName="/ppt/slides/slide72.xml" ContentType="application/vnd.openxmlformats-officedocument.presentationml.slide+xml"/>
  <Override PartName="/ppt/slides/slide21.xml" ContentType="application/vnd.openxmlformats-officedocument.presentationml.slide+xml"/>
  <Override PartName="/ppt/slides/slide115.xml" ContentType="application/vnd.openxmlformats-officedocument.presentationml.slide+xml"/>
  <Override PartName="/ppt/slides/slide61.xml" ContentType="application/vnd.openxmlformats-officedocument.presentationml.slide+xml"/>
  <Override PartName="/ppt/slides/slide13.xml" ContentType="application/vnd.openxmlformats-officedocument.presentationml.slide+xml"/>
  <Override PartName="/ppt/notesSlides/notesSlide89.xml" ContentType="application/vnd.openxmlformats-officedocument.presentationml.notesSlide+xml"/>
  <Override PartName="/ppt/slides/slide104.xml" ContentType="application/vnd.openxmlformats-officedocument.presentationml.slide+xml"/>
  <Override PartName="/ppt/notesSlides/notesSlide49.xml" ContentType="application/vnd.openxmlformats-officedocument.presentationml.notesSlide+xml"/>
  <Override PartName="/ppt/notesSlides/notesSlide15.xml" ContentType="application/vnd.openxmlformats-officedocument.presentationml.notesSlide+xml"/>
  <Override PartName="/ppt/notesSlides/notesSlide74.xml" ContentType="application/vnd.openxmlformats-officedocument.presentationml.notesSlide+xml"/>
  <Override PartName="/ppt/slides/slide8.xml" ContentType="application/vnd.openxmlformats-officedocument.presentationml.slid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slides/slide88.xml" ContentType="application/vnd.openxmlformats-officedocument.presentationml.slide+xml"/>
  <Override PartName="/ppt/notesSlides/notesSlide40.xml" ContentType="application/vnd.openxmlformats-officedocument.presentationml.notesSlide+xml"/>
  <Override PartName="/ppt/slides/slide134.xml" ContentType="application/vnd.openxmlformats-officedocument.presentationml.slide+xml"/>
  <Override PartName="/ppt/slides/slide68.xml" ContentType="application/vnd.openxmlformats-officedocument.presentationml.slide+xml"/>
  <Override PartName="/ppt/notesSlides/notesSlide71.xml" ContentType="application/vnd.openxmlformats-officedocument.presentationml.notesSlide+xml"/>
  <Override PartName="/ppt/slideLayouts/slideLayout11.xml" ContentType="application/vnd.openxmlformats-officedocument.presentationml.slideLayout+xml"/>
  <Override PartName="/ppt/slides/slide12.xml" ContentType="application/vnd.openxmlformats-officedocument.presentationml.slide+xml"/>
  <Override PartName="/ppt/notesSlides/notesSlide126.xml" ContentType="application/vnd.openxmlformats-officedocument.presentationml.notesSlide+xml"/>
  <Override PartName="/ppt/slides/slide57.xml" ContentType="application/vnd.openxmlformats-officedocument.presentationml.slide+xml"/>
  <Override PartName="/ppt/slideLayouts/slideLayout5.xml" ContentType="application/vnd.openxmlformats-officedocument.presentationml.slideLayout+xml"/>
  <Override PartName="/ppt/slides/slide41.xml" ContentType="application/vnd.openxmlformats-officedocument.presentationml.slide+xml"/>
  <Override PartName="/ppt/notesSlides/notesSlide80.xml" ContentType="application/vnd.openxmlformats-officedocument.presentationml.notesSlide+xml"/>
  <Override PartName="/ppt/slides/slide7.xml" ContentType="application/vnd.openxmlformats-officedocument.presentationml.slide+xml"/>
  <Override PartName="/ppt/tableStyles.xml" ContentType="application/vnd.openxmlformats-officedocument.presentationml.tableStyles+xml"/>
  <Override PartName="/docProps/app.xml" ContentType="application/vnd.openxmlformats-officedocument.extended-properties+xml"/>
  <Override PartName="/ppt/slides/slide23.xml" ContentType="application/vnd.openxmlformats-officedocument.presentationml.slide+xml"/>
  <Override PartName="/ppt/slides/slide85.xml" ContentType="application/vnd.openxmlformats-officedocument.presentationml.slide+xml"/>
  <Override PartName="/ppt/slides/slide58.xml" ContentType="application/vnd.openxmlformats-officedocument.presentationml.slide+xml"/>
  <Override PartName="/ppt/notesSlides/notesSlide103.xml" ContentType="application/vnd.openxmlformats-officedocument.presentationml.notesSlide+xml"/>
  <Override PartName="/ppt/notesSlides/notesSlide2.xml" ContentType="application/vnd.openxmlformats-officedocument.presentationml.notesSlide+xml"/>
  <Override PartName="/ppt/slides/slide90.xml" ContentType="application/vnd.openxmlformats-officedocument.presentationml.slide+xml"/>
  <Override PartName="/ppt/slides/slide17.xml" ContentType="application/vnd.openxmlformats-officedocument.presentationml.slide+xml"/>
  <Override PartName="/ppt/notesSlides/notesSlide111.xml" ContentType="application/vnd.openxmlformats-officedocument.presentationml.notesSlide+xml"/>
  <Override PartName="/ppt/slides/slide63.xml" ContentType="application/vnd.openxmlformats-officedocument.presentationml.slide+xml"/>
  <Override PartName="/ppt/viewProps.xml" ContentType="application/vnd.openxmlformats-officedocument.presentationml.viewProps+xml"/>
  <Override PartName="/ppt/notesSlides/notesSlide75.xml" ContentType="application/vnd.openxmlformats-officedocument.presentationml.notesSlide+xml"/>
  <Override PartName="/ppt/slides/slide67.xml" ContentType="application/vnd.openxmlformats-officedocument.presentationml.slide+xml"/>
  <Override PartName="/ppt/slideLayouts/slideLayout12.xml" ContentType="application/vnd.openxmlformats-officedocument.presentationml.slideLayout+xml"/>
  <Override PartName="/ppt/slides/slide11.xml" ContentType="application/vnd.openxmlformats-officedocument.presentationml.slide+xml"/>
  <Override PartName="/ppt/notesSlides/notesSlide98.xml" ContentType="application/vnd.openxmlformats-officedocument.presentationml.notesSlide+xml"/>
  <Override PartName="/ppt/slides/slide96.xml" ContentType="application/vnd.openxmlformats-officedocument.presentationml.slide+xml"/>
  <Override PartName="/ppt/slides/slide99.xml" ContentType="application/vnd.openxmlformats-officedocument.presentationml.slide+xml"/>
  <Override PartName="/ppt/notesSlides/notesSlide12.xml" ContentType="application/vnd.openxmlformats-officedocument.presentationml.notesSlide+xml"/>
  <Override PartName="/ppt/slides/slide32.xml" ContentType="application/vnd.openxmlformats-officedocument.presentationml.slide+xml"/>
  <Override PartName="/ppt/slideLayouts/slideLayout6.xml" ContentType="application/vnd.openxmlformats-officedocument.presentationml.slideLayout+xml"/>
  <Override PartName="/ppt/slides/slide47.xml" ContentType="application/vnd.openxmlformats-officedocument.presentationml.slide+xml"/>
  <Override PartName="/ppt/slideLayouts/slideLayout9.xml" ContentType="application/vnd.openxmlformats-officedocument.presentationml.slideLayout+xml"/>
  <Override PartName="/ppt/slides/slide20.xml" ContentType="application/vnd.openxmlformats-officedocument.presentationml.slide+xml"/>
  <Override PartName="/ppt/slideLayouts/slideLayout8.xml" ContentType="application/vnd.openxmlformats-officedocument.presentationml.slideLayout+xml"/>
  <Override PartName="/docProps/core.xml" ContentType="application/vnd.openxmlformats-package.core-properties+xml"/>
  <Override PartName="/ppt/slideLayouts/slideLayout13.xml" ContentType="application/vnd.openxmlformats-officedocument.presentationml.slideLayout+xml"/>
  <Override PartName="/ppt/notesSlides/notesSlide108.xml" ContentType="application/vnd.openxmlformats-officedocument.presentationml.notesSlide+xml"/>
  <Override PartName="/ppt/notesSlides/notesSlide21.xml" ContentType="application/vnd.openxmlformats-officedocument.presentationml.notesSlide+xml"/>
  <Override PartName="/ppt/notesSlides/notesSlide102.xml" ContentType="application/vnd.openxmlformats-officedocument.presentationml.notesSlide+xml"/>
  <Override PartName="/ppt/slides/slide10.xml" ContentType="application/vnd.openxmlformats-officedocument.presentationml.slide+xml"/>
  <Override PartName="/ppt/slides/slide24.xml" ContentType="application/vnd.openxmlformats-officedocument.presentationml.slide+xml"/>
  <Override PartName="/ppt/slides/slide110.xml" ContentType="application/vnd.openxmlformats-officedocument.presentationml.slide+xml"/>
  <Override PartName="/ppt/slideMasters/slideMaster1.xml" ContentType="application/vnd.openxmlformats-officedocument.presentationml.slideMaster+xml"/>
  <Override PartName="/ppt/slides/slide14.xml" ContentType="application/vnd.openxmlformats-officedocument.presentationml.slide+xml"/>
  <Override PartName="/ppt/slideLayouts/slideLayout2.xml" ContentType="application/vnd.openxmlformats-officedocument.presentationml.slideLayout+xml"/>
  <Override PartName="/ppt/slides/slide73.xml" ContentType="application/vnd.openxmlformats-officedocument.presentationml.slide+xml"/>
  <Override PartName="/ppt/slides/slide117.xml" ContentType="application/vnd.openxmlformats-officedocument.presentationml.slide+xml"/>
  <Override PartName="/ppt/slideLayouts/slideLayout14.xml" ContentType="application/vnd.openxmlformats-officedocument.presentationml.slideLayout+xml"/>
  <Override PartName="/ppt/slides/slide6.xml" ContentType="application/vnd.openxmlformats-officedocument.presentationml.slide+xml"/>
  <Override PartName="/ppt/slides/slide4.xml" ContentType="application/vnd.openxmlformats-officedocument.presentationml.slide+xml"/>
  <Override PartName="/ppt/slides/slide70.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notesSlides/notesSlide3.xml" ContentType="application/vnd.openxmlformats-officedocument.presentationml.notesSlide+xml"/>
  <Override PartName="/ppt/slides/slide28.xml" ContentType="application/vnd.openxmlformats-officedocument.presentationml.slide+xml"/>
  <Override PartName="/ppt/slides/slide38.xml" ContentType="application/vnd.openxmlformats-officedocument.presentationml.slide+xml"/>
  <Override PartName="/ppt/slides/slide102.xml" ContentType="application/vnd.openxmlformats-officedocument.presentationml.slide+xml"/>
  <Override PartName="/ppt/slides/slide127.xml" ContentType="application/vnd.openxmlformats-officedocument.presentationml.slide+xml"/>
  <Override PartName="/ppt/slides/slide2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28.xml" ContentType="application/vnd.openxmlformats-officedocument.presentationml.notesSlide+xml"/>
  <Override PartName="/ppt/notesSlides/notesSlide125.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00.xml" ContentType="application/vnd.openxmlformats-officedocument.presentationml.slide+xml"/>
  <Override PartName="/ppt/notesSlides/notesSlide30.xml" ContentType="application/vnd.openxmlformats-officedocument.presentationml.notesSlide+xml"/>
  <Override PartName="/ppt/slides/slide74.xml" ContentType="application/vnd.openxmlformats-officedocument.presentationml.slide+xml"/>
  <Override PartName="/ppt/slides/slide125.xml" ContentType="application/vnd.openxmlformats-officedocument.presentationml.slide+xml"/>
  <Override PartName="/ppt/slides/slide75.xml" ContentType="application/vnd.openxmlformats-officedocument.presentationml.slide+xml"/>
  <Override PartName="/ppt/slides/slide77.xml" ContentType="application/vnd.openxmlformats-officedocument.presentationml.slide+xml"/>
  <Override PartName="/ppt/notesSlides/notesSlide134.xml" ContentType="application/vnd.openxmlformats-officedocument.presentationml.notesSlide+xml"/>
  <Override PartName="/ppt/slides/slide79.xml" ContentType="application/vnd.openxmlformats-officedocument.presentationml.slide+xml"/>
  <Override PartName="/ppt/slides/slide122.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Slides/notesSlide99.xml" ContentType="application/vnd.openxmlformats-officedocument.presentationml.notes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26.xml" ContentType="application/vnd.openxmlformats-officedocument.presentationml.slide+xml"/>
  <Override PartName="/ppt/slides/slide2.xml" ContentType="application/vnd.openxmlformats-officedocument.presentationml.slide+xml"/>
  <Override PartName="/ppt/notesSlides/notesSlide17.xml" ContentType="application/vnd.openxmlformats-officedocument.presentationml.notesSlide+xml"/>
  <Override PartName="/ppt/slides/slide93.xml" ContentType="application/vnd.openxmlformats-officedocument.presentationml.slide+xml"/>
  <Override PartName="/ppt/notesSlides/notesSlide58.xml" ContentType="application/vnd.openxmlformats-officedocument.presentationml.notesSlide+xml"/>
  <Override PartName="/ppt/slides/slide43.xml" ContentType="application/vnd.openxmlformats-officedocument.presentationml.slide+xml"/>
  <Override PartName="/ppt/slides/slide94.xml" ContentType="application/vnd.openxmlformats-officedocument.presentationml.slide+xml"/>
  <Override PartName="/ppt/slides/slide1.xml" ContentType="application/vnd.openxmlformats-officedocument.presentationml.slide+xml"/>
  <Override PartName="/ppt/slides/slide128.xml" ContentType="application/vnd.openxmlformats-officedocument.presentationml.slide+xml"/>
  <Override PartName="/ppt/slides/slide95.xml" ContentType="application/vnd.openxmlformats-officedocument.presentationml.slide+xml"/>
  <Override PartName="/ppt/notesSlides/notesSlide1.xml" ContentType="application/vnd.openxmlformats-officedocument.presentationml.notesSlide+xml"/>
  <Override PartName="/ppt/slides/slide98.xml" ContentType="application/vnd.openxmlformats-officedocument.presentationml.slide+xml"/>
  <Override PartName="/ppt/slideLayouts/slideLayout1.xml" ContentType="application/vnd.openxmlformats-officedocument.presentationml.slideLayout+xml"/>
  <Override PartName="/ppt/slides/slide101.xml" ContentType="application/vnd.openxmlformats-officedocument.presentationml.slide+xml"/>
  <Override PartName="/ppt/slides/slide109.xml" ContentType="application/vnd.openxmlformats-officedocument.presentationml.slide+xml"/>
  <Override PartName="/ppt/notesSlides/notesSlide36.xml" ContentType="application/vnd.openxmlformats-officedocument.presentationml.notesSlide+xml"/>
  <Override PartName="/ppt/slides/slide49.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91.xml" ContentType="application/vnd.openxmlformats-officedocument.presentationml.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14.xml" ContentType="application/vnd.openxmlformats-officedocument.presentationml.slide+xml"/>
  <Override PartName="/ppt/notesSlides/notesSlide42.xml" ContentType="application/vnd.openxmlformats-officedocument.presentationml.notesSlide+xml"/>
  <Override PartName="/ppt/slides/slide59.xml" ContentType="application/vnd.openxmlformats-officedocument.presentationml.slide+xml"/>
  <Override PartName="/ppt/slides/slide120.xml" ContentType="application/vnd.openxmlformats-officedocument.presentationml.slide+xml"/>
  <Override PartName="/ppt/slides/slide116.xml" ContentType="application/vnd.openxmlformats-officedocument.presentationml.slide+xml"/>
  <Override PartName="/ppt/slides/slide42.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1.xml" ContentType="application/vnd.openxmlformats-officedocument.presentationml.slide+xml"/>
  <Override PartName="/ppt/slides/slide71.xml" ContentType="application/vnd.openxmlformats-officedocument.presentationml.slide+xml"/>
  <Override PartName="/ppt/slides/slide113.xml" ContentType="application/vnd.openxmlformats-officedocument.presentationml.slide+xml"/>
  <Override PartName="/ppt/notesSlides/notesSlide22.xml" ContentType="application/vnd.openxmlformats-officedocument.presentationml.notesSlide+xml"/>
  <Override PartName="/ppt/slides/slide130.xml" ContentType="application/vnd.openxmlformats-officedocument.presentationml.slide+xml"/>
  <Override PartName="/ppt/slides/slide126.xml" ContentType="application/vnd.openxmlformats-officedocument.presentationml.slide+xml"/>
  <Override PartName="/ppt/slides/slide56.xml" ContentType="application/vnd.openxmlformats-officedocument.presentationml.slide+xml"/>
  <Override PartName="/ppt/slides/slide131.xml" ContentType="application/vnd.openxmlformats-officedocument.presentationml.slide+xml"/>
  <Override PartName="/ppt/slides/slide107.xml" ContentType="application/vnd.openxmlformats-officedocument.presentationml.slide+xml"/>
  <Override PartName="/ppt/slides/slide133.xml" ContentType="application/vnd.openxmlformats-officedocument.presentationml.slide+xml"/>
  <Override PartName="/ppt/slides/slide135.xml" ContentType="application/vnd.openxmlformats-officedocument.presentationml.slide+xml"/>
  <Override PartName="/ppt/slides/slide40.xml" ContentType="application/vnd.openxmlformats-officedocument.presentationml.slide+xml"/>
  <Override PartName="/ppt/notesSlides/notesSlide35.xml" ContentType="application/vnd.openxmlformats-officedocument.presentationml.notesSlide+xml"/>
  <Override PartName="/ppt/notesSlides/notesSlide133.xml" ContentType="application/vnd.openxmlformats-officedocument.presentationml.notesSlide+xml"/>
  <Override PartName="/ppt/notesSlides/notesSlide6.xml" ContentType="application/vnd.openxmlformats-officedocument.presentationml.notesSlide+xml"/>
  <Override PartName="/ppt/slides/slide111.xml" ContentType="application/vnd.openxmlformats-officedocument.presentationml.slide+xml"/>
  <Override PartName="/ppt/slides/slide92.xml" ContentType="application/vnd.openxmlformats-officedocument.presentationml.slide+xml"/>
  <Override PartName="/ppt/notesSlides/notesSlide7.xml" ContentType="application/vnd.openxmlformats-officedocument.presentationml.notesSlide+xml"/>
  <Override PartName="/ppt/notesSlides/notesSlide66.xml" ContentType="application/vnd.openxmlformats-officedocument.presentationml.notesSlide+xml"/>
  <Override PartName="/ppt/notesSlides/notesSlide37.xml" ContentType="application/vnd.openxmlformats-officedocument.presentationml.notesSlide+xml"/>
  <Override PartName="/ppt/notesSlides/notesSlide88.xml" ContentType="application/vnd.openxmlformats-officedocument.presentationml.notesSlide+xml"/>
  <Override PartName="/ppt/slides/slide27.xml" ContentType="application/vnd.openxmlformats-officedocument.presentationml.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33.xml" ContentType="application/vnd.openxmlformats-officedocument.presentationml.notesSlide+xml"/>
  <Override PartName="/ppt/notesSlides/notesSlide91.xml" ContentType="application/vnd.openxmlformats-officedocument.presentationml.notesSlide+xml"/>
  <Override PartName="/ppt/notesSlides/notesSlide72.xml" ContentType="application/vnd.openxmlformats-officedocument.presentationml.notesSlide+xml"/>
  <Override PartName="/ppt/slides/slide108.xml" ContentType="application/vnd.openxmlformats-officedocument.presentationml.slide+xml"/>
  <Override PartName="/ppt/notesSlides/notesSlide11.xml" ContentType="application/vnd.openxmlformats-officedocument.presentationml.notesSlide+xml"/>
  <Override PartName="/ppt/slides/slide97.xml" ContentType="application/vnd.openxmlformats-officedocument.presentationml.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4.xml" ContentType="application/vnd.openxmlformats-officedocument.presentationml.notesSlide+xml"/>
  <Override PartName="/ppt/notesSlides/notesSlide43.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67.xml" ContentType="application/vnd.openxmlformats-officedocument.presentationml.notesSlide+xml"/>
  <Override PartName="/ppt/notesSlides/notesSlide19.xml" ContentType="application/vnd.openxmlformats-officedocument.presentationml.notesSlide+xml"/>
  <Override PartName="/ppt/slides/slide65.xml" ContentType="application/vnd.openxmlformats-officedocument.presentationml.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slides/slide76.xml" ContentType="application/vnd.openxmlformats-officedocument.presentationml.slide+xml"/>
  <Override PartName="/ppt/notesSlides/notesSlide26.xml" ContentType="application/vnd.openxmlformats-officedocument.presentationml.notesSlide+xml"/>
  <Override PartName="/ppt/notesSlides/notesSlide60.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20.xml" ContentType="application/vnd.openxmlformats-officedocument.presentationml.notesSlide+xml"/>
  <Override PartName="/ppt/notesSlides/notesSlide38.xml" ContentType="application/vnd.openxmlformats-officedocument.presentationml.notesSlide+xml"/>
  <Override PartName="/ppt/slides/slide22.xml" ContentType="application/vnd.openxmlformats-officedocument.presentationml.slide+xml"/>
  <Override PartName="/ppt/notesSlides/notesSlide39.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strictFirstAndLastChars="0">
  <p:sldMasterIdLst>
    <p:sldMasterId id="2147483648" r:id="rId1"/>
  </p:sldMasterIdLst>
  <p:notesMasterIdLst>
    <p:notesMasterId r:id="rId13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Lst>
  <p:sldSz cx="12192000" cy="6858000"/>
  <p:notesSz cx="9296400" cy="688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4C38C2D8-9331-4F24-B9CF-3786705C414E}">
  <a:tblStyle styleId="{4C38C2D8-9331-4F24-B9CF-3786705C414E}" styleName="Table_0">
    <a:wholeTbl>
      <a:tcTxStyle>
        <a:srgbClr val="000000"/>
      </a:tcTxStyle>
      <a:tcStyle>
        <a:tcBdr>
          <a:left>
            <a:ln>
              <a:noFill/>
            </a:ln>
          </a:left>
          <a:right>
            <a:ln>
              <a:noFill/>
            </a:ln>
          </a:right>
          <a:top>
            <a:ln>
              <a:noFill/>
            </a:ln>
          </a:top>
          <a:bottom>
            <a:ln>
              <a:noFill/>
            </a:ln>
          </a:bottom>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EA8E3DBC-DD3C-47B4-B7B0-9EDAE2CE88E3}" styleName="Table_2">
    <a:wholeTbl>
      <a:tcTxStyle>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rgbClr val="E9EFF7"/>
          </a:solidFill>
        </a:fill>
      </a:tcStyle>
    </a:wholeTbl>
    <a:band1H>
      <a:tcStyle>
        <a:tcBdr/>
        <a:fill>
          <a:solidFill>
            <a:srgbClr val="D0DEEF"/>
          </a:solidFill>
        </a:fill>
      </a:tcStyle>
    </a:band1H>
    <a:band2H>
      <a:tcStyle>
        <a:tcBdr/>
      </a:tcStyle>
    </a:band2H>
    <a:band1V>
      <a:tcStyle>
        <a:tcBdr/>
        <a:fill>
          <a:solidFill>
            <a:srgbClr val="D0DEEF"/>
          </a:solidFill>
        </a:fill>
      </a:tcStyle>
    </a:band1V>
    <a:band2V>
      <a:tcStyle>
        <a:tcBdr/>
        <a:fill>
          <a:solidFill>
            <a:srgbClr val="D0DEEF"/>
          </a:solidFill>
        </a:fill>
      </a:tcStyle>
    </a:band2V>
    <a:lastCol>
      <a:tcTxStyle i="off" b="on">
        <a:schemeClr val="lt1"/>
      </a:tcTxStyle>
      <a:tcStyle>
        <a:tcBdr/>
        <a:fill>
          <a:solidFill>
            <a:schemeClr val="accent1"/>
          </a:solidFill>
        </a:fill>
      </a:tcStyle>
    </a:lastCol>
    <a:firstCol>
      <a:tcTxStyle i="off" b="on">
        <a:schemeClr val="lt1"/>
      </a:tcTxStyle>
      <a:tcStyle>
        <a:tcBdr/>
        <a:fill>
          <a:solidFill>
            <a:schemeClr val="accent1"/>
          </a:solidFill>
        </a:fill>
      </a:tcStyle>
    </a:firstCol>
    <a:lastRow>
      <a:tcTxStyle i="off" b="on">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i="off" b="on">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70" d="100"/>
          <a:sy n="70" d="100"/>
        </p:scale>
        <p:origin x="192" y="58"/>
      </p:cViewPr>
      <p:guideLst>
        <p:guide pos="2160" orient="horz"/>
        <p:guide pos="3840"/>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slide" Target="slides/slide87.xml"/><Relationship Id="rId91" Type="http://schemas.openxmlformats.org/officeDocument/2006/relationships/slide" Target="slides/slide88.xml"/><Relationship Id="rId92" Type="http://schemas.openxmlformats.org/officeDocument/2006/relationships/slide" Target="slides/slide89.xml"/><Relationship Id="rId93" Type="http://schemas.openxmlformats.org/officeDocument/2006/relationships/slide" Target="slides/slide90.xml"/><Relationship Id="rId94" Type="http://schemas.openxmlformats.org/officeDocument/2006/relationships/slide" Target="slides/slide91.xml"/><Relationship Id="rId95" Type="http://schemas.openxmlformats.org/officeDocument/2006/relationships/slide" Target="slides/slide92.xml"/><Relationship Id="rId96" Type="http://schemas.openxmlformats.org/officeDocument/2006/relationships/slide" Target="slides/slide93.xml"/><Relationship Id="rId97" Type="http://schemas.openxmlformats.org/officeDocument/2006/relationships/slide" Target="slides/slide94.xml"/><Relationship Id="rId98" Type="http://schemas.openxmlformats.org/officeDocument/2006/relationships/slide" Target="slides/slide95.xml"/><Relationship Id="rId99" Type="http://schemas.openxmlformats.org/officeDocument/2006/relationships/slide" Target="slides/slide96.xml"/><Relationship Id="rId100" Type="http://schemas.openxmlformats.org/officeDocument/2006/relationships/slide" Target="slides/slide97.xml"/><Relationship Id="rId101" Type="http://schemas.openxmlformats.org/officeDocument/2006/relationships/slide" Target="slides/slide98.xml"/><Relationship Id="rId102" Type="http://schemas.openxmlformats.org/officeDocument/2006/relationships/slide" Target="slides/slide99.xml"/><Relationship Id="rId103" Type="http://schemas.openxmlformats.org/officeDocument/2006/relationships/slide" Target="slides/slide100.xml"/><Relationship Id="rId104" Type="http://schemas.openxmlformats.org/officeDocument/2006/relationships/slide" Target="slides/slide101.xml"/><Relationship Id="rId105" Type="http://schemas.openxmlformats.org/officeDocument/2006/relationships/slide" Target="slides/slide102.xml"/><Relationship Id="rId106" Type="http://schemas.openxmlformats.org/officeDocument/2006/relationships/slide" Target="slides/slide103.xml"/><Relationship Id="rId107" Type="http://schemas.openxmlformats.org/officeDocument/2006/relationships/slide" Target="slides/slide104.xml"/><Relationship Id="rId108" Type="http://schemas.openxmlformats.org/officeDocument/2006/relationships/slide" Target="slides/slide105.xml"/><Relationship Id="rId109" Type="http://schemas.openxmlformats.org/officeDocument/2006/relationships/slide" Target="slides/slide106.xml"/><Relationship Id="rId110" Type="http://schemas.openxmlformats.org/officeDocument/2006/relationships/slide" Target="slides/slide107.xml"/><Relationship Id="rId111" Type="http://schemas.openxmlformats.org/officeDocument/2006/relationships/slide" Target="slides/slide108.xml"/><Relationship Id="rId112" Type="http://schemas.openxmlformats.org/officeDocument/2006/relationships/slide" Target="slides/slide109.xml"/><Relationship Id="rId113" Type="http://schemas.openxmlformats.org/officeDocument/2006/relationships/slide" Target="slides/slide110.xml"/><Relationship Id="rId114" Type="http://schemas.openxmlformats.org/officeDocument/2006/relationships/slide" Target="slides/slide111.xml"/><Relationship Id="rId115" Type="http://schemas.openxmlformats.org/officeDocument/2006/relationships/slide" Target="slides/slide112.xml"/><Relationship Id="rId116" Type="http://schemas.openxmlformats.org/officeDocument/2006/relationships/slide" Target="slides/slide113.xml"/><Relationship Id="rId117" Type="http://schemas.openxmlformats.org/officeDocument/2006/relationships/slide" Target="slides/slide114.xml"/><Relationship Id="rId118" Type="http://schemas.openxmlformats.org/officeDocument/2006/relationships/slide" Target="slides/slide115.xml"/><Relationship Id="rId119" Type="http://schemas.openxmlformats.org/officeDocument/2006/relationships/slide" Target="slides/slide116.xml"/><Relationship Id="rId120" Type="http://schemas.openxmlformats.org/officeDocument/2006/relationships/slide" Target="slides/slide117.xml"/><Relationship Id="rId121" Type="http://schemas.openxmlformats.org/officeDocument/2006/relationships/slide" Target="slides/slide118.xml"/><Relationship Id="rId122" Type="http://schemas.openxmlformats.org/officeDocument/2006/relationships/slide" Target="slides/slide119.xml"/><Relationship Id="rId123" Type="http://schemas.openxmlformats.org/officeDocument/2006/relationships/slide" Target="slides/slide120.xml"/><Relationship Id="rId124" Type="http://schemas.openxmlformats.org/officeDocument/2006/relationships/slide" Target="slides/slide121.xml"/><Relationship Id="rId125" Type="http://schemas.openxmlformats.org/officeDocument/2006/relationships/slide" Target="slides/slide122.xml"/><Relationship Id="rId126" Type="http://schemas.openxmlformats.org/officeDocument/2006/relationships/slide" Target="slides/slide123.xml"/><Relationship Id="rId127" Type="http://schemas.openxmlformats.org/officeDocument/2006/relationships/slide" Target="slides/slide124.xml"/><Relationship Id="rId128" Type="http://schemas.openxmlformats.org/officeDocument/2006/relationships/slide" Target="slides/slide125.xml"/><Relationship Id="rId129" Type="http://schemas.openxmlformats.org/officeDocument/2006/relationships/slide" Target="slides/slide126.xml"/><Relationship Id="rId130" Type="http://schemas.openxmlformats.org/officeDocument/2006/relationships/slide" Target="slides/slide127.xml"/><Relationship Id="rId131" Type="http://schemas.openxmlformats.org/officeDocument/2006/relationships/slide" Target="slides/slide128.xml"/><Relationship Id="rId132" Type="http://schemas.openxmlformats.org/officeDocument/2006/relationships/slide" Target="slides/slide129.xml"/><Relationship Id="rId133" Type="http://schemas.openxmlformats.org/officeDocument/2006/relationships/slide" Target="slides/slide130.xml"/><Relationship Id="rId134" Type="http://schemas.openxmlformats.org/officeDocument/2006/relationships/slide" Target="slides/slide131.xml"/><Relationship Id="rId135" Type="http://schemas.openxmlformats.org/officeDocument/2006/relationships/slide" Target="slides/slide132.xml"/><Relationship Id="rId136" Type="http://schemas.openxmlformats.org/officeDocument/2006/relationships/slide" Target="slides/slide133.xml"/><Relationship Id="rId137" Type="http://schemas.openxmlformats.org/officeDocument/2006/relationships/slide" Target="slides/slide134.xml"/><Relationship Id="rId138" Type="http://schemas.openxmlformats.org/officeDocument/2006/relationships/slide" Target="slides/slide135.xml"/><Relationship Id="rId139" Type="http://schemas.openxmlformats.org/officeDocument/2006/relationships/notesMaster" Target="notesMasters/notesMaster1.xml"/><Relationship Id="rId140" Type="http://schemas.openxmlformats.org/officeDocument/2006/relationships/presProps" Target="presProps.xml" /><Relationship Id="rId141" Type="http://schemas.openxmlformats.org/officeDocument/2006/relationships/tableStyles" Target="tableStyles.xml" /><Relationship Id="rId142"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Pr shadeToTitle="0">
        <a:solidFill>
          <a:schemeClr val="lt1"/>
        </a:solidFill>
      </p:bgPr>
    </p:bg>
    <p:spTree>
      <p:nvGrpSpPr>
        <p:cNvPr id="1" name=""/>
        <p:cNvGrpSpPr/>
        <p:nvPr/>
      </p:nvGrpSpPr>
      <p:grpSpPr bwMode="auto">
        <a:xfrm>
          <a:off x="0" y="0"/>
          <a:ext cx="0" cy="0"/>
          <a:chOff x="0" y="0"/>
          <a:chExt cx="0" cy="0"/>
        </a:xfrm>
      </p:grpSpPr>
      <p:sp>
        <p:nvSpPr>
          <p:cNvPr id="1120558995" name="Google Shape;3;n"/>
          <p:cNvSpPr txBox="1">
            <a:spLocks noGrp="1"/>
          </p:cNvSpPr>
          <p:nvPr>
            <p:ph type="hdr" idx="2"/>
          </p:nvPr>
        </p:nvSpPr>
        <p:spPr bwMode="auto">
          <a:xfrm>
            <a:off x="2" y="3"/>
            <a:ext cx="4029437" cy="343930"/>
          </a:xfrm>
          <a:prstGeom prst="rect">
            <a:avLst/>
          </a:prstGeom>
          <a:noFill/>
          <a:ln>
            <a:noFill/>
          </a:ln>
        </p:spPr>
        <p:txBody>
          <a:bodyPr spcFirstLastPara="1" wrap="square" lIns="89085" tIns="44530" rIns="89085" bIns="4453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896530654" name="Google Shape;4;n"/>
          <p:cNvSpPr txBox="1">
            <a:spLocks noGrp="1"/>
          </p:cNvSpPr>
          <p:nvPr>
            <p:ph type="dt" idx="10"/>
          </p:nvPr>
        </p:nvSpPr>
        <p:spPr bwMode="auto">
          <a:xfrm>
            <a:off x="5263977" y="3"/>
            <a:ext cx="4030930" cy="343930"/>
          </a:xfrm>
          <a:prstGeom prst="rect">
            <a:avLst/>
          </a:prstGeom>
          <a:noFill/>
          <a:ln>
            <a:noFill/>
          </a:ln>
        </p:spPr>
        <p:txBody>
          <a:bodyPr spcFirstLastPara="1" wrap="square" lIns="89085" tIns="44530" rIns="89085" bIns="4453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389957262" name="Google Shape;5;n"/>
          <p:cNvSpPr>
            <a:spLocks noChangeAspect="1" noGrp="1" noRot="1"/>
          </p:cNvSpPr>
          <p:nvPr>
            <p:ph type="sldImg" idx="3"/>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752082722" name="Google Shape;6;n"/>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defRPr>
            </a:lvl9pPr>
          </a:lstStyle>
          <a:p>
            <a:pPr>
              <a:defRPr/>
            </a:pPr>
            <a:endParaRPr/>
          </a:p>
        </p:txBody>
      </p:sp>
      <p:sp>
        <p:nvSpPr>
          <p:cNvPr id="687381199" name="Google Shape;7;n"/>
          <p:cNvSpPr txBox="1">
            <a:spLocks noGrp="1"/>
          </p:cNvSpPr>
          <p:nvPr>
            <p:ph type="ftr" idx="11"/>
          </p:nvPr>
        </p:nvSpPr>
        <p:spPr bwMode="auto">
          <a:xfrm>
            <a:off x="2" y="6537886"/>
            <a:ext cx="4029437" cy="342323"/>
          </a:xfrm>
          <a:prstGeom prst="rect">
            <a:avLst/>
          </a:prstGeom>
          <a:noFill/>
          <a:ln>
            <a:noFill/>
          </a:ln>
        </p:spPr>
        <p:txBody>
          <a:bodyPr spcFirstLastPara="1" wrap="square" lIns="89085" tIns="44530" rIns="89085" bIns="4453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2026834494" name="Google Shape;8;n"/>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Calibri"/>
                <a:ea typeface="Calibri"/>
                <a:cs typeface="Calibri"/>
              </a:rPr>
              <a:t>‹#›</a:t>
            </a:fld>
            <a:endParaRPr lang="en-US" sz="1200">
              <a:solidFill>
                <a:schemeClr val="dk1"/>
              </a:solidFill>
              <a:latin typeface="Calibri"/>
              <a:ea typeface="Calibri"/>
              <a:cs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 Id="rId3" Type="http://schemas.openxmlformats.org/officeDocument/2006/relationships/hyperlink" Target="https://www.pexels.com/photo/macbook-pro-beside-black-ceramic-mug-on-black-table-374070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 Id="rId3" Type="http://schemas.openxmlformats.org/officeDocument/2006/relationships/hyperlink" Target="http://www.money-zine.com/Calculators/Auto-Loan-Calculators/Car-Depreciation-Calculator/" TargetMode="Externa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83488630" name="Google Shape;98;p1: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91318602" name="Google Shape;99;p1: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r>
              <a:rPr lang="en-US"/>
              <a:t>This template was downloaded from www.free-power-point-templates.com</a:t>
            </a:r>
            <a:endParaRPr/>
          </a:p>
          <a:p>
            <a:pPr marL="0" indent="0">
              <a:spcBef>
                <a:spcPts val="351"/>
              </a:spcBef>
              <a:defRPr/>
            </a:pPr>
            <a:endParaRPr/>
          </a:p>
          <a:p>
            <a:pPr marL="0" indent="0">
              <a:spcBef>
                <a:spcPts val="351"/>
              </a:spcBef>
              <a:defRPr/>
            </a:pPr>
            <a:r>
              <a:rPr lang="en-US"/>
              <a:t>Links:</a:t>
            </a:r>
            <a:endParaRPr/>
          </a:p>
          <a:p>
            <a:pPr marL="0" indent="0">
              <a:spcBef>
                <a:spcPts val="351"/>
              </a:spcBef>
              <a:defRPr/>
            </a:pPr>
            <a:endParaRPr/>
          </a:p>
          <a:p>
            <a:pPr marL="0" indent="0">
              <a:spcBef>
                <a:spcPts val="351"/>
              </a:spcBef>
              <a:defRPr/>
            </a:pPr>
            <a:r>
              <a:rPr lang="en-US" u="sng">
                <a:solidFill>
                  <a:schemeClr val="hlink"/>
                </a:solidFill>
                <a:hlinkClick r:id="rId3" tooltip=""/>
              </a:rPr>
              <a:t>https://www.pexels.com/photo/macbook-pro-beside-black-ceramic-mug-on-black-table-3740704/</a:t>
            </a:r>
            <a:endParaRPr/>
          </a:p>
        </p:txBody>
      </p:sp>
      <p:sp>
        <p:nvSpPr>
          <p:cNvPr id="1294478596" name="Google Shape;100;p1: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45907753" name="Google Shape;109;p2: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500089619" name="Google Shape;110;p2: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85626191" name="Google Shape;117;p3: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98378718" name="Google Shape;118;p3: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39620664" name="Google Shape;146;p6: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17438816" name="Google Shape;147;p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39334228" name="Google Shape;146;p6: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423707895" name="Google Shape;147;p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67994795" name="Google Shape;126;p4: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548923475" name="Google Shape;127;p4: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34856682" name="Google Shape;136;p5: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365585117" name="Google Shape;137;p5: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31964979" name="Google Shape;173;p7: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419853681" name="Google Shape;174;p7: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96299884" name="Google Shape;184;p8: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6948052" name="Google Shape;185;p8: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r>
              <a:rPr lang="en-US">
                <a:latin typeface="Times New Roman"/>
                <a:ea typeface="Times New Roman"/>
                <a:cs typeface="Times New Roman"/>
              </a:rPr>
              <a:t>+++</a:t>
            </a:r>
            <a:endParaRPr/>
          </a:p>
        </p:txBody>
      </p:sp>
      <p:sp>
        <p:nvSpPr>
          <p:cNvPr id="1243153689" name="Google Shape;186;p8: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9</a:t>
            </a:fld>
            <a:endParaRPr sz="1200">
              <a:solidFill>
                <a:schemeClr val="dk1"/>
              </a:solidFill>
              <a:latin typeface="Times New Roman"/>
              <a:ea typeface="Times New Roman"/>
              <a:cs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7444038" name="Google Shape;199;p9: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733644164" name="Google Shape;200;p9: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49321715" name="Google Shape;220;p10: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33991278" name="Google Shape;221;p10: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28832250" name="Google Shape;229;p11: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545845898" name="Google Shape;230;p11: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
        <p:nvSpPr>
          <p:cNvPr id="1211328853" name="Google Shape;231;p11: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12</a:t>
            </a:fld>
            <a:endParaRPr sz="1200">
              <a:solidFill>
                <a:schemeClr val="dk1"/>
              </a:solidFill>
              <a:latin typeface="Times New Roman"/>
              <a:ea typeface="Times New Roman"/>
              <a:cs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95922179" name="Google Shape;260;p12: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897014218" name="Google Shape;261;p12: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
        <p:nvSpPr>
          <p:cNvPr id="1715806530" name="Google Shape;262;p12: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13</a:t>
            </a:fld>
            <a:endParaRPr sz="1200">
              <a:solidFill>
                <a:schemeClr val="dk1"/>
              </a:solidFill>
              <a:latin typeface="Times New Roman"/>
              <a:ea typeface="Times New Roman"/>
              <a:cs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76667103" name="Google Shape;278;p13: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84201068" name="Google Shape;279;p13: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p>
        </p:txBody>
      </p:sp>
      <p:sp>
        <p:nvSpPr>
          <p:cNvPr id="2137149112" name="Google Shape;280;p13: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53211700" name="Google Shape;289;p14: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03500634" name="Google Shape;290;p14: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p>
        </p:txBody>
      </p:sp>
      <p:sp>
        <p:nvSpPr>
          <p:cNvPr id="1958648834" name="Google Shape;291;p14: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93540367" name="Google Shape;300;p15: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99733919" name="Google Shape;301;p15: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p>
        </p:txBody>
      </p:sp>
      <p:sp>
        <p:nvSpPr>
          <p:cNvPr id="1215274174" name="Google Shape;302;p15: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4731073" name="Google Shape;311;p1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211906901" name="Google Shape;312;p16: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p>
        </p:txBody>
      </p:sp>
      <p:sp>
        <p:nvSpPr>
          <p:cNvPr id="339202196" name="Google Shape;313;p16: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31773860" name="Google Shape;322;p17: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517030518" name="Google Shape;323;p17: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p>
        </p:txBody>
      </p:sp>
      <p:sp>
        <p:nvSpPr>
          <p:cNvPr id="1259253220" name="Google Shape;324;p17: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00202471" name="Google Shape;260;p12: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610201176" name="Google Shape;261;p12: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
        <p:nvSpPr>
          <p:cNvPr id="1752428254" name="Google Shape;262;p12: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19</a:t>
            </a:fld>
            <a:endParaRPr sz="1200">
              <a:solidFill>
                <a:schemeClr val="dk1"/>
              </a:solidFill>
              <a:latin typeface="Times New Roman"/>
              <a:ea typeface="Times New Roman"/>
              <a:cs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90833907" name="Google Shape;344;p19: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82429846" name="Google Shape;345;p19: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2525197" name="Google Shape;353;p20: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218862351" name="Google Shape;354;p20: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98179798" name="Google Shape;376;p21: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829745201" name="Google Shape;377;p21: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68539722" name="Google Shape;404;p23: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332507884" name="Google Shape;405;p23: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48188866" name="Google Shape;404;p23: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493154269" name="Google Shape;405;p23: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94035095" name="Google Shape;344;p19: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598756739" name="Google Shape;345;p19: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09245272" name="Google Shape;412;p24: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26</a:t>
            </a:fld>
            <a:endParaRPr sz="1200">
              <a:solidFill>
                <a:schemeClr val="dk1"/>
              </a:solidFill>
              <a:latin typeface="Times New Roman"/>
              <a:ea typeface="Times New Roman"/>
              <a:cs typeface="Times New Roman"/>
            </a:endParaRPr>
          </a:p>
        </p:txBody>
      </p:sp>
      <p:sp>
        <p:nvSpPr>
          <p:cNvPr id="1004622957" name="Google Shape;413;p24: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972505987" name="Google Shape;414;p24: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5512932" name="Google Shape;412;p24: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27</a:t>
            </a:fld>
            <a:endParaRPr sz="1200">
              <a:solidFill>
                <a:schemeClr val="dk1"/>
              </a:solidFill>
              <a:latin typeface="Times New Roman"/>
              <a:ea typeface="Times New Roman"/>
              <a:cs typeface="Times New Roman"/>
            </a:endParaRPr>
          </a:p>
        </p:txBody>
      </p:sp>
      <p:sp>
        <p:nvSpPr>
          <p:cNvPr id="979488393" name="Google Shape;413;p24: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253086625" name="Google Shape;414;p24: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87335925" name="Google Shape;440;p26: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28</a:t>
            </a:fld>
            <a:endParaRPr sz="1200">
              <a:solidFill>
                <a:schemeClr val="dk1"/>
              </a:solidFill>
              <a:latin typeface="Times New Roman"/>
              <a:ea typeface="Times New Roman"/>
              <a:cs typeface="Times New Roman"/>
            </a:endParaRPr>
          </a:p>
        </p:txBody>
      </p:sp>
      <p:sp>
        <p:nvSpPr>
          <p:cNvPr id="911446023" name="Google Shape;441;p2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524249460" name="Google Shape;442;p26: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22876931" name="Google Shape;453;p27: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29</a:t>
            </a:fld>
            <a:endParaRPr sz="1200">
              <a:solidFill>
                <a:schemeClr val="dk1"/>
              </a:solidFill>
              <a:latin typeface="Times New Roman"/>
              <a:ea typeface="Times New Roman"/>
              <a:cs typeface="Times New Roman"/>
            </a:endParaRPr>
          </a:p>
        </p:txBody>
      </p:sp>
      <p:sp>
        <p:nvSpPr>
          <p:cNvPr id="484542804" name="Google Shape;454;p27: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040221906" name="Google Shape;455;p27: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0228516" name="Google Shape;453;p27: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30</a:t>
            </a:fld>
            <a:endParaRPr sz="1200">
              <a:solidFill>
                <a:schemeClr val="dk1"/>
              </a:solidFill>
              <a:latin typeface="Times New Roman"/>
              <a:ea typeface="Times New Roman"/>
              <a:cs typeface="Times New Roman"/>
            </a:endParaRPr>
          </a:p>
        </p:txBody>
      </p:sp>
      <p:sp>
        <p:nvSpPr>
          <p:cNvPr id="1064964429" name="Google Shape;454;p27: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514873382" name="Google Shape;455;p27: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5527703" name="Google Shape;453;p27: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31</a:t>
            </a:fld>
            <a:endParaRPr sz="1200">
              <a:solidFill>
                <a:schemeClr val="dk1"/>
              </a:solidFill>
              <a:latin typeface="Times New Roman"/>
              <a:ea typeface="Times New Roman"/>
              <a:cs typeface="Times New Roman"/>
            </a:endParaRPr>
          </a:p>
        </p:txBody>
      </p:sp>
      <p:sp>
        <p:nvSpPr>
          <p:cNvPr id="1602246663" name="Google Shape;454;p27: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428142191" name="Google Shape;455;p27: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72102513" name="Google Shape;481;p29: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32</a:t>
            </a:fld>
            <a:endParaRPr sz="1200">
              <a:solidFill>
                <a:schemeClr val="dk1"/>
              </a:solidFill>
              <a:latin typeface="Times New Roman"/>
              <a:ea typeface="Times New Roman"/>
              <a:cs typeface="Times New Roman"/>
            </a:endParaRPr>
          </a:p>
        </p:txBody>
      </p:sp>
      <p:sp>
        <p:nvSpPr>
          <p:cNvPr id="1068955829" name="Google Shape;482;p29: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524620324" name="Google Shape;483;p29: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24511219" name="Google Shape;502;p30: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33</a:t>
            </a:fld>
            <a:endParaRPr sz="1200">
              <a:solidFill>
                <a:schemeClr val="dk1"/>
              </a:solidFill>
              <a:latin typeface="Times New Roman"/>
              <a:ea typeface="Times New Roman"/>
              <a:cs typeface="Times New Roman"/>
            </a:endParaRPr>
          </a:p>
        </p:txBody>
      </p:sp>
      <p:sp>
        <p:nvSpPr>
          <p:cNvPr id="1176465167" name="Google Shape;503;p30: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091438865" name="Google Shape;504;p30: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14728113" name="Google Shape;517;p31: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34</a:t>
            </a:fld>
            <a:endParaRPr sz="1200">
              <a:solidFill>
                <a:schemeClr val="dk1"/>
              </a:solidFill>
              <a:latin typeface="Times New Roman"/>
              <a:ea typeface="Times New Roman"/>
              <a:cs typeface="Times New Roman"/>
            </a:endParaRPr>
          </a:p>
        </p:txBody>
      </p:sp>
      <p:sp>
        <p:nvSpPr>
          <p:cNvPr id="297512862" name="Google Shape;518;p31: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591367451" name="Google Shape;519;p31: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17485379" name="Google Shape;517;p31: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35</a:t>
            </a:fld>
            <a:endParaRPr sz="1200">
              <a:solidFill>
                <a:schemeClr val="dk1"/>
              </a:solidFill>
              <a:latin typeface="Times New Roman"/>
              <a:ea typeface="Times New Roman"/>
              <a:cs typeface="Times New Roman"/>
            </a:endParaRPr>
          </a:p>
        </p:txBody>
      </p:sp>
      <p:sp>
        <p:nvSpPr>
          <p:cNvPr id="930312846" name="Google Shape;518;p31: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198476544" name="Google Shape;519;p31: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33641975" name="Google Shape;545;p33: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36</a:t>
            </a:fld>
            <a:endParaRPr sz="1200">
              <a:solidFill>
                <a:schemeClr val="dk1"/>
              </a:solidFill>
              <a:latin typeface="Times New Roman"/>
              <a:ea typeface="Times New Roman"/>
              <a:cs typeface="Times New Roman"/>
            </a:endParaRPr>
          </a:p>
        </p:txBody>
      </p:sp>
      <p:sp>
        <p:nvSpPr>
          <p:cNvPr id="1348861347" name="Google Shape;546;p33: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803503883" name="Google Shape;547;p33: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r>
              <a:rPr lang="en-US">
                <a:latin typeface="Times New Roman"/>
                <a:ea typeface="Times New Roman"/>
                <a:cs typeface="Times New Roman"/>
              </a:rPr>
              <a:t>The accepted </a:t>
            </a:r>
            <a:r>
              <a:rPr lang="en-US" b="1">
                <a:latin typeface="Times New Roman"/>
                <a:ea typeface="Times New Roman"/>
                <a:cs typeface="Times New Roman"/>
              </a:rPr>
              <a:t>average car depreciation</a:t>
            </a:r>
            <a:r>
              <a:rPr lang="en-US">
                <a:latin typeface="Times New Roman"/>
                <a:ea typeface="Times New Roman"/>
                <a:cs typeface="Times New Roman"/>
              </a:rPr>
              <a:t> rate is roughly 15% per year. This rate will vary depending on the make and model of the vehicle. New cars depreciate about 20% the moment you drive them off the lot. The second and third year the vehicle will probably depreciate roughly 15% a year. After year five, depreciation rates slow down. There are websites such as </a:t>
            </a:r>
            <a:r>
              <a:rPr lang="en-US" u="sng">
                <a:solidFill>
                  <a:schemeClr val="hlink"/>
                </a:solidFill>
                <a:latin typeface="Times New Roman"/>
                <a:ea typeface="Times New Roman"/>
                <a:cs typeface="Times New Roman"/>
                <a:hlinkClick r:id="rId3" tooltip=""/>
              </a:rPr>
              <a:t>MoneyZine</a:t>
            </a:r>
            <a:r>
              <a:rPr lang="en-US">
                <a:latin typeface="Times New Roman"/>
                <a:ea typeface="Times New Roman"/>
                <a:cs typeface="Times New Roman"/>
              </a:rPr>
              <a:t> that offer a car depreciation calculator.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62969378" name="Google Shape;558;p34: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37</a:t>
            </a:fld>
            <a:endParaRPr sz="1200">
              <a:solidFill>
                <a:schemeClr val="dk1"/>
              </a:solidFill>
              <a:latin typeface="Times New Roman"/>
              <a:ea typeface="Times New Roman"/>
              <a:cs typeface="Times New Roman"/>
            </a:endParaRPr>
          </a:p>
        </p:txBody>
      </p:sp>
      <p:sp>
        <p:nvSpPr>
          <p:cNvPr id="1723726865" name="Google Shape;559;p34: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781316354" name="Google Shape;560;p34: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31080052" name="Google Shape;592;p36: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38</a:t>
            </a:fld>
            <a:endParaRPr sz="1200">
              <a:solidFill>
                <a:schemeClr val="dk1"/>
              </a:solidFill>
              <a:latin typeface="Times New Roman"/>
              <a:ea typeface="Times New Roman"/>
              <a:cs typeface="Times New Roman"/>
            </a:endParaRPr>
          </a:p>
        </p:txBody>
      </p:sp>
      <p:sp>
        <p:nvSpPr>
          <p:cNvPr id="1368555485" name="Google Shape;593;p3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851619676" name="Google Shape;594;p36: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83492163" name="Google Shape;619;p38: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39</a:t>
            </a:fld>
            <a:endParaRPr sz="1200">
              <a:solidFill>
                <a:schemeClr val="dk1"/>
              </a:solidFill>
              <a:latin typeface="Times New Roman"/>
              <a:ea typeface="Times New Roman"/>
              <a:cs typeface="Times New Roman"/>
            </a:endParaRPr>
          </a:p>
        </p:txBody>
      </p:sp>
      <p:sp>
        <p:nvSpPr>
          <p:cNvPr id="151731217" name="Google Shape;620;p38: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939069617" name="Google Shape;621;p38: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2308750" name="Google Shape;633;p39: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40</a:t>
            </a:fld>
            <a:endParaRPr sz="1200">
              <a:solidFill>
                <a:schemeClr val="dk1"/>
              </a:solidFill>
              <a:latin typeface="Times New Roman"/>
              <a:ea typeface="Times New Roman"/>
              <a:cs typeface="Times New Roman"/>
            </a:endParaRPr>
          </a:p>
        </p:txBody>
      </p:sp>
      <p:sp>
        <p:nvSpPr>
          <p:cNvPr id="1049547168" name="Google Shape;634;p39: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819025171" name="Google Shape;635;p39: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27458464" name="Google Shape;661;p41: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41</a:t>
            </a:fld>
            <a:endParaRPr sz="1200">
              <a:solidFill>
                <a:schemeClr val="dk1"/>
              </a:solidFill>
              <a:latin typeface="Times New Roman"/>
              <a:ea typeface="Times New Roman"/>
              <a:cs typeface="Times New Roman"/>
            </a:endParaRPr>
          </a:p>
        </p:txBody>
      </p:sp>
      <p:sp>
        <p:nvSpPr>
          <p:cNvPr id="2036833057" name="Google Shape;662;p41: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176019447" name="Google Shape;663;p41: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50193118" name="Google Shape;688;p43: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503169956" name="Google Shape;689;p43: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19856792" name="Google Shape;695;p44: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345565212" name="Google Shape;696;p44: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22661408" name="Google Shape;344;p19: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783596633" name="Google Shape;345;p19: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49886321" name="Google Shape;109;p2: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758738162" name="Google Shape;110;p2: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34088078" name="Google Shape;646;p40: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46</a:t>
            </a:fld>
            <a:endParaRPr sz="1200">
              <a:solidFill>
                <a:schemeClr val="dk1"/>
              </a:solidFill>
              <a:latin typeface="Times New Roman"/>
              <a:ea typeface="Times New Roman"/>
              <a:cs typeface="Times New Roman"/>
            </a:endParaRPr>
          </a:p>
        </p:txBody>
      </p:sp>
      <p:sp>
        <p:nvSpPr>
          <p:cNvPr id="358274333" name="Google Shape;647;p40: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617107306" name="Google Shape;648;p40: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r>
              <a:rPr lang="en-US">
                <a:latin typeface="Times New Roman"/>
                <a:ea typeface="Times New Roman"/>
                <a:cs typeface="Times New Roman"/>
              </a:rPr>
              <a:t>Source: https://www.mpug.com/no-pain-no-gain/</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472274" name="Google Shape;709;p45: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228530284" name="Google Shape;710;p45: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17587629" name="Google Shape;718;p46: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525478140" name="Google Shape;719;p4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63843529" name="Google Shape;759;p47: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761273622" name="Google Shape;760;p47: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r>
              <a:rPr lang="en-US">
                <a:latin typeface="Times New Roman"/>
                <a:ea typeface="Times New Roman"/>
                <a:cs typeface="Times New Roman"/>
              </a:rPr>
              <a:t>47 processes</a:t>
            </a:r>
            <a:endParaRPr/>
          </a:p>
        </p:txBody>
      </p:sp>
      <p:sp>
        <p:nvSpPr>
          <p:cNvPr id="1778996824" name="Google Shape;761;p47: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49</a:t>
            </a:fld>
            <a:endParaRPr sz="1200">
              <a:solidFill>
                <a:schemeClr val="dk1"/>
              </a:solidFill>
              <a:latin typeface="Times New Roman"/>
              <a:ea typeface="Times New Roman"/>
              <a:cs typeface="Times New Roman"/>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6477263" name="Google Shape;767;p48: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990132218" name="Google Shape;768;p48: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1792039" name="Google Shape;777;p49: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367524287" name="Google Shape;778;p49: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17284820" name="Google Shape;800;p50: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722122888" name="Google Shape;801;p50: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5241455" name="Google Shape;823;p51: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567401161" name="Google Shape;824;p51: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r>
              <a:rPr lang="en-US">
                <a:latin typeface="Times New Roman"/>
                <a:ea typeface="Times New Roman"/>
                <a:cs typeface="Times New Roman"/>
              </a:rPr>
              <a:t>Organizational process assets (OPA): include any or all process related assets from any or all organizations involved in the project that can be used to have an influence on the project outcome. They include but are not limited to policies and procedures, formal and informal plans and guidelines, lessons learned and historical information.</a:t>
            </a:r>
            <a:endParaRPr/>
          </a:p>
          <a:p>
            <a:pPr marL="0" indent="0">
              <a:spcBef>
                <a:spcPts val="351"/>
              </a:spcBef>
              <a:defRPr/>
            </a:pPr>
            <a:endParaRPr>
              <a:latin typeface="Times New Roman"/>
              <a:ea typeface="Times New Roman"/>
              <a:cs typeface="Times New Roman"/>
            </a:endParaRPr>
          </a:p>
          <a:p>
            <a:pPr marL="0" indent="0">
              <a:spcBef>
                <a:spcPts val="351"/>
              </a:spcBef>
              <a:defRPr/>
            </a:pPr>
            <a:endParaRPr>
              <a:latin typeface="Times New Roman"/>
              <a:ea typeface="Times New Roman"/>
              <a:cs typeface="Times New Roman"/>
            </a:endParaRPr>
          </a:p>
        </p:txBody>
      </p:sp>
      <p:sp>
        <p:nvSpPr>
          <p:cNvPr id="1227200519" name="Google Shape;825;p51: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53</a:t>
            </a:fld>
            <a:endParaRPr sz="1200">
              <a:solidFill>
                <a:schemeClr val="dk1"/>
              </a:solidFill>
              <a:latin typeface="Times New Roman"/>
              <a:ea typeface="Times New Roman"/>
              <a:cs typeface="Times New Roman"/>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41814359" name="Google Shape;847;p52: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811532505" name="Google Shape;848;p52: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r>
              <a:rPr lang="en-US">
                <a:latin typeface="Times New Roman"/>
                <a:ea typeface="Times New Roman"/>
                <a:cs typeface="Times New Roman"/>
              </a:rPr>
              <a:t>Scope baseline: </a:t>
            </a:r>
            <a:endParaRPr/>
          </a:p>
          <a:p>
            <a:pPr marL="0" indent="0">
              <a:spcBef>
                <a:spcPts val="351"/>
              </a:spcBef>
              <a:defRPr/>
            </a:pPr>
            <a:r>
              <a:rPr lang="en-US">
                <a:latin typeface="Times New Roman"/>
                <a:ea typeface="Times New Roman"/>
                <a:cs typeface="Times New Roman"/>
              </a:rPr>
              <a:t>The scope baseline is the approved version of a scope statement, WBS, and its associated WBS dictionary, that can be changed only through formal change control procedures and is used as a basis for comparison. It is a component of the project management plan. Components of the scope baseline include:</a:t>
            </a:r>
            <a:endParaRPr/>
          </a:p>
          <a:p>
            <a:pPr marL="0" indent="0">
              <a:spcBef>
                <a:spcPts val="351"/>
              </a:spcBef>
              <a:defRPr/>
            </a:pPr>
            <a:r>
              <a:rPr lang="en-US">
                <a:latin typeface="Times New Roman"/>
                <a:ea typeface="Times New Roman"/>
                <a:cs typeface="Times New Roman"/>
              </a:rPr>
              <a:t>-project scope statement</a:t>
            </a:r>
            <a:endParaRPr/>
          </a:p>
          <a:p>
            <a:pPr marL="0" indent="0">
              <a:spcBef>
                <a:spcPts val="351"/>
              </a:spcBef>
              <a:defRPr/>
            </a:pPr>
            <a:r>
              <a:rPr lang="en-US">
                <a:latin typeface="Times New Roman"/>
                <a:ea typeface="Times New Roman"/>
                <a:cs typeface="Times New Roman"/>
              </a:rPr>
              <a:t>-WBS</a:t>
            </a:r>
            <a:endParaRPr/>
          </a:p>
          <a:p>
            <a:pPr marL="0" indent="0">
              <a:spcBef>
                <a:spcPts val="351"/>
              </a:spcBef>
              <a:defRPr/>
            </a:pPr>
            <a:r>
              <a:rPr lang="en-US">
                <a:latin typeface="Times New Roman"/>
                <a:ea typeface="Times New Roman"/>
                <a:cs typeface="Times New Roman"/>
              </a:rPr>
              <a:t>-WBS dictionary</a:t>
            </a:r>
            <a:endParaRPr/>
          </a:p>
          <a:p>
            <a:pPr marL="0" indent="0">
              <a:spcBef>
                <a:spcPts val="351"/>
              </a:spcBef>
              <a:defRPr/>
            </a:pPr>
            <a:r>
              <a:rPr lang="en-US">
                <a:latin typeface="Times New Roman"/>
                <a:ea typeface="Times New Roman"/>
                <a:cs typeface="Times New Roman"/>
              </a:rPr>
              <a:t>-</a:t>
            </a:r>
            <a:endParaRPr/>
          </a:p>
        </p:txBody>
      </p:sp>
      <p:sp>
        <p:nvSpPr>
          <p:cNvPr id="1807070429" name="Google Shape;849;p52: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54</a:t>
            </a:fld>
            <a:endParaRPr sz="1200">
              <a:solidFill>
                <a:schemeClr val="dk1"/>
              </a:solidFill>
              <a:latin typeface="Times New Roman"/>
              <a:ea typeface="Times New Roman"/>
              <a:cs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28964320" name="Google Shape;871;p53: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409072066" name="Google Shape;872;p53: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32049477" name="Google Shape;847;p52: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2131231092" name="Google Shape;848;p52: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r>
              <a:rPr lang="en-US">
                <a:latin typeface="Times New Roman"/>
                <a:ea typeface="Times New Roman"/>
                <a:cs typeface="Times New Roman"/>
              </a:rPr>
              <a:t>Scope baseline: </a:t>
            </a:r>
            <a:endParaRPr/>
          </a:p>
          <a:p>
            <a:pPr marL="0" indent="0">
              <a:spcBef>
                <a:spcPts val="351"/>
              </a:spcBef>
              <a:defRPr/>
            </a:pPr>
            <a:r>
              <a:rPr lang="en-US">
                <a:latin typeface="Times New Roman"/>
                <a:ea typeface="Times New Roman"/>
                <a:cs typeface="Times New Roman"/>
              </a:rPr>
              <a:t>The scope baseline is the approved version of a scope statement, WBS, and its associated WBS dictionary, that can be changed only through formal change control procedures and is used as a basis for comparison. It is a component of the project management plan. Components of the scope baseline include:</a:t>
            </a:r>
            <a:endParaRPr/>
          </a:p>
          <a:p>
            <a:pPr marL="0" indent="0">
              <a:spcBef>
                <a:spcPts val="351"/>
              </a:spcBef>
              <a:defRPr/>
            </a:pPr>
            <a:r>
              <a:rPr lang="en-US">
                <a:latin typeface="Times New Roman"/>
                <a:ea typeface="Times New Roman"/>
                <a:cs typeface="Times New Roman"/>
              </a:rPr>
              <a:t>-project scope statement</a:t>
            </a:r>
            <a:endParaRPr/>
          </a:p>
          <a:p>
            <a:pPr marL="0" indent="0">
              <a:spcBef>
                <a:spcPts val="351"/>
              </a:spcBef>
              <a:defRPr/>
            </a:pPr>
            <a:r>
              <a:rPr lang="en-US">
                <a:latin typeface="Times New Roman"/>
                <a:ea typeface="Times New Roman"/>
                <a:cs typeface="Times New Roman"/>
              </a:rPr>
              <a:t>-WBS</a:t>
            </a:r>
            <a:endParaRPr/>
          </a:p>
          <a:p>
            <a:pPr marL="0" indent="0">
              <a:spcBef>
                <a:spcPts val="351"/>
              </a:spcBef>
              <a:defRPr/>
            </a:pPr>
            <a:r>
              <a:rPr lang="en-US">
                <a:latin typeface="Times New Roman"/>
                <a:ea typeface="Times New Roman"/>
                <a:cs typeface="Times New Roman"/>
              </a:rPr>
              <a:t>-WBS dictionary</a:t>
            </a:r>
            <a:endParaRPr/>
          </a:p>
          <a:p>
            <a:pPr marL="0" indent="0">
              <a:spcBef>
                <a:spcPts val="351"/>
              </a:spcBef>
              <a:defRPr/>
            </a:pPr>
            <a:r>
              <a:rPr lang="en-US">
                <a:latin typeface="Times New Roman"/>
                <a:ea typeface="Times New Roman"/>
                <a:cs typeface="Times New Roman"/>
              </a:rPr>
              <a:t>-</a:t>
            </a:r>
            <a:endParaRPr/>
          </a:p>
        </p:txBody>
      </p:sp>
      <p:sp>
        <p:nvSpPr>
          <p:cNvPr id="497124997" name="Google Shape;849;p52: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56</a:t>
            </a:fld>
            <a:endParaRPr sz="1200">
              <a:solidFill>
                <a:schemeClr val="dk1"/>
              </a:solidFill>
              <a:latin typeface="Times New Roman"/>
              <a:ea typeface="Times New Roman"/>
              <a:cs typeface="Times New Roman"/>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18196592" name="Google Shape;882;p54: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042309074" name="Google Shape;883;p54: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80191526" name="Google Shape;905;p55: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484422783" name="Google Shape;906;p55: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88423489" name="Google Shape;718;p46: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285210124" name="Google Shape;719;p4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863980569" name="Google Shape;928;p56: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565799777" name="Google Shape;929;p5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73826911" name="Google Shape;938;p57: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833388967" name="Google Shape;939;p57: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43936523" name="Google Shape;963;p58: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896707079" name="Google Shape;964;p58: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77678505" name="Google Shape;988;p59: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625651996" name="Google Shape;989;p59: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08912676" name="Google Shape;1013;p60: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3518519" name="Google Shape;1014;p60: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23307735" name="Google Shape;1038;p61: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64193066" name="Google Shape;1039;p61: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r>
              <a:rPr lang="en-US"/>
              <a:t>Work Period</a:t>
            </a:r>
            <a:endParaRPr/>
          </a:p>
          <a:p>
            <a:pPr marL="0" indent="0">
              <a:spcBef>
                <a:spcPts val="351"/>
              </a:spcBef>
              <a:defRPr/>
            </a:pPr>
            <a:r>
              <a:rPr lang="en-US"/>
              <a:t> a part of production time during which workers operate directly on an object of labor in order to produce a finished product of labor. A work period does not include interruptions in the labor process or the time during which an object of labor is acted upon by natural forces without human participation, for example, in drying wood and in chemical reactions.</a:t>
            </a:r>
            <a:endParaRPr/>
          </a:p>
          <a:p>
            <a:pPr marL="0" indent="0">
              <a:spcBef>
                <a:spcPts val="351"/>
              </a:spcBef>
              <a:defRPr/>
            </a:pPr>
            <a:r>
              <a:rPr lang="en-US"/>
              <a:t>Upon considering the relationship between a work period and a workday, K. Marx characterized a work period as being “a definite number of consequent workdays required in a certain branch of a production sector for the completion of the finished product” (K. Marx and F. Engels, </a:t>
            </a:r>
            <a:r>
              <a:rPr lang="en-US" i="1"/>
              <a:t>Soch</a:t>
            </a:r>
            <a:r>
              <a:rPr lang="en-US"/>
              <a:t>, 2nd ed., vol. 24, p. 259). Work periods differ in length in different branches of material production, depending on both the nature of the production process and the product of labor being manufactured. For example, yarn and fabrics are made in a few hours, while a rug may take a week to make and a tapestry may take years. A modular residential building can be constructed in several months, while a large electric power plant takes several years to build.</a:t>
            </a:r>
            <a:endParaRPr/>
          </a:p>
          <a:p>
            <a:pPr marL="0" indent="0">
              <a:spcBef>
                <a:spcPts val="351"/>
              </a:spcBef>
              <a:defRPr/>
            </a:pPr>
            <a:endParaRPr/>
          </a:p>
        </p:txBody>
      </p:sp>
      <p:sp>
        <p:nvSpPr>
          <p:cNvPr id="285760875" name="Google Shape;1040;p61: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73376475" name="Google Shape;1064;p62: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571424598" name="Google Shape;1065;p62: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6493091" name="Google Shape;1089;p63: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694461161" name="Google Shape;1090;p63: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29739916" name="Google Shape;718;p46: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952073456" name="Google Shape;719;p4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09839469" name="Google Shape;1114;p64: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542200074" name="Google Shape;1115;p64: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03830858" name="Google Shape;1124;p65: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245685305" name="Google Shape;1125;p65: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r>
              <a:rPr lang="en-US">
                <a:latin typeface="Times New Roman"/>
                <a:ea typeface="Times New Roman"/>
                <a:cs typeface="Times New Roman"/>
              </a:rPr>
              <a:t>Variance threshold: amount of degree of variation that will trigger a remedial action or warning</a:t>
            </a:r>
            <a:endParaRPr>
              <a:latin typeface="Times New Roman"/>
              <a:ea typeface="Times New Roman"/>
              <a:cs typeface="Times New Roman"/>
            </a:endParaRPr>
          </a:p>
        </p:txBody>
      </p:sp>
      <p:sp>
        <p:nvSpPr>
          <p:cNvPr id="1950537374" name="Google Shape;1126;p65: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70</a:t>
            </a:fld>
            <a:endParaRPr sz="1200">
              <a:solidFill>
                <a:schemeClr val="dk1"/>
              </a:solidFill>
              <a:latin typeface="Times New Roman"/>
              <a:ea typeface="Times New Roman"/>
              <a:cs typeface="Times New Roman"/>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59200597" name="Google Shape;1144;p6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806912363" name="Google Shape;1145;p66: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endParaRPr>
              <a:latin typeface="Times New Roman"/>
              <a:ea typeface="Times New Roman"/>
              <a:cs typeface="Times New Roman"/>
            </a:endParaRPr>
          </a:p>
        </p:txBody>
      </p:sp>
      <p:sp>
        <p:nvSpPr>
          <p:cNvPr id="1593137557" name="Google Shape;1146;p66: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71</a:t>
            </a:fld>
            <a:endParaRPr sz="1200">
              <a:solidFill>
                <a:schemeClr val="dk1"/>
              </a:solidFill>
              <a:latin typeface="Times New Roman"/>
              <a:ea typeface="Times New Roman"/>
              <a:cs typeface="Times New Roman"/>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72196025" name="Google Shape;1164;p67: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680491886" name="Google Shape;1165;p67: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r>
              <a:rPr lang="en-US">
                <a:latin typeface="Times New Roman"/>
                <a:ea typeface="Times New Roman"/>
                <a:cs typeface="Times New Roman"/>
              </a:rPr>
              <a:t>Baseline: a configuration of software, hardware, or a process that is established and documented as a </a:t>
            </a:r>
            <a:r>
              <a:rPr lang="en-US" b="1">
                <a:latin typeface="Times New Roman"/>
                <a:ea typeface="Times New Roman"/>
                <a:cs typeface="Times New Roman"/>
              </a:rPr>
              <a:t>point of reference</a:t>
            </a:r>
            <a:r>
              <a:rPr lang="en-US">
                <a:latin typeface="Times New Roman"/>
                <a:ea typeface="Times New Roman"/>
                <a:cs typeface="Times New Roman"/>
              </a:rPr>
              <a:t>.</a:t>
            </a:r>
            <a:endParaRPr>
              <a:latin typeface="Times New Roman"/>
              <a:ea typeface="Times New Roman"/>
              <a:cs typeface="Times New Roman"/>
            </a:endParaRPr>
          </a:p>
        </p:txBody>
      </p:sp>
      <p:sp>
        <p:nvSpPr>
          <p:cNvPr id="1084918304" name="Google Shape;1166;p67: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72</a:t>
            </a:fld>
            <a:endParaRPr sz="1200">
              <a:solidFill>
                <a:schemeClr val="dk1"/>
              </a:solidFill>
              <a:latin typeface="Times New Roman"/>
              <a:ea typeface="Times New Roman"/>
              <a:cs typeface="Times New Roman"/>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515950521" name="Google Shape;1184;p68: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902809497" name="Google Shape;1185;p68: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3161538" name="Google Shape;718;p46: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550862456" name="Google Shape;719;p4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0927818" name="Google Shape;1203;p69: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769967267" name="Google Shape;1204;p69: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95111676" name="Google Shape;1213;p70: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763255078" name="Google Shape;1214;p70: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26217727" name="Google Shape;1230;p71: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483432964" name="Google Shape;1231;p71: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22260569" name="Google Shape;1247;p72: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327187848" name="Google Shape;1248;p72: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84810347" name="Google Shape;718;p46: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733097926" name="Google Shape;719;p4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9389055" name="Google Shape;1264;p73: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a:noFill/>
          </a:ln>
        </p:spPr>
      </p:sp>
      <p:sp>
        <p:nvSpPr>
          <p:cNvPr id="1005223115" name="Google Shape;1265;p73: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defRPr/>
            </a:pPr>
            <a:r>
              <a:rPr lang="en-US">
                <a:latin typeface="Times New Roman"/>
                <a:ea typeface="Times New Roman"/>
                <a:cs typeface="Times New Roman"/>
              </a:rPr>
              <a:t>Levelling overallocation +++</a:t>
            </a:r>
            <a:endParaRPr/>
          </a:p>
        </p:txBody>
      </p:sp>
      <p:sp>
        <p:nvSpPr>
          <p:cNvPr id="132766591" name="Google Shape;1266;p73: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sz="1200">
                <a:solidFill>
                  <a:schemeClr val="dk1"/>
                </a:solidFill>
                <a:latin typeface="Times New Roman"/>
                <a:ea typeface="Times New Roman"/>
                <a:cs typeface="Times New Roman"/>
              </a:rPr>
              <a:t>80</a:t>
            </a:fld>
            <a:endParaRPr sz="1200">
              <a:solidFill>
                <a:schemeClr val="dk1"/>
              </a:solidFill>
              <a:latin typeface="Times New Roman"/>
              <a:ea typeface="Times New Roman"/>
              <a:cs typeface="Times New Roman"/>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4598696" name="Google Shape;1275;p74: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170544192" name="Google Shape;1276;p74: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32522204" name="Google Shape;1294;p75: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418692468" name="Google Shape;1295;p75: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5257891" name="Google Shape;1294;p75: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061001307" name="Google Shape;1295;p75: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90236080" name="Google Shape;1317;p77: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837103107" name="Google Shape;1318;p77: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69321896" name="Google Shape;1328;p78: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263380086" name="Google Shape;1329;p78: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62278182" name="Google Shape;1351;p80: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264252377" name="Google Shape;1352;p80: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5907944" name="Google Shape;1275;p74: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574810514" name="Google Shape;1276;p74: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33236815" name="Google Shape;1361;p81: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254089151" name="Google Shape;1362;p81: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37645839" name="Google Shape;1380;p82: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834601272" name="Google Shape;1381;p82: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40471389" name="Google Shape;1400;p83: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917095208" name="Google Shape;1401;p83: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63323988" name="Google Shape;1424;p85: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128056510" name="Google Shape;1425;p85: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89991129" name="Google Shape;1452;p86: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257185159" name="Google Shape;1453;p8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6688580" name="Google Shape;718;p46: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259942882" name="Google Shape;719;p4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21695613" name="Google Shape;1763;p103: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990294013" name="Google Shape;1764;p103: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66082662" name="Google Shape;1775;p104: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610857707" name="Google Shape;1776;p104: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60859348" name="Google Shape;1775;p104: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400164817" name="Google Shape;1776;p104: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63524984" name="Google Shape;1775;p104: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519826144" name="Google Shape;1776;p104: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19647212" name="Google Shape;1775;p104: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404174571" name="Google Shape;1776;p104: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57951851" name="Google Shape;1796;p105: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122569335" name="Google Shape;1797;p105: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38575668" name="Google Shape;1796;p105: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973609470" name="Google Shape;1797;p105: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89699437" name="Google Shape;1817;p106: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170089808" name="Google Shape;1818;p10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41858324" name="Google Shape;1838;p107: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249614545" name="Google Shape;1839;p107: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71963350" name="Google Shape;718;p46: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2038327608" name="Google Shape;719;p4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26421203" name="Google Shape;1471;p87: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40293778" name="Google Shape;1472;p87: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138497845" name="Google Shape;1481;p88: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699112099" name="Google Shape;1482;p88: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07483372" name="Google Shape;1498;p89: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21634217" name="Google Shape;1499;p89: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49973555" name="Google Shape;1514;p90: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936153776" name="Google Shape;1515;p90: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71139292" name="Google Shape;1530;p91: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447401942" name="Google Shape;1531;p91: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56832381" name="Google Shape;1540;p92: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476507237" name="Google Shape;1541;p92: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763490990" name="Google Shape;1563;p93: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640709419" name="Google Shape;1564;p93: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58590501" name="Google Shape;1586;p94: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699683752" name="Google Shape;1587;p94: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52320314" name="Google Shape;1609;p95: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703447313" name="Google Shape;1610;p95: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0422819" name="Google Shape;1632;p96: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2059204000" name="Google Shape;1633;p9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070603463" name="Google Shape;1655;p97: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099054554" name="Google Shape;1656;p97: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736983489" name="Google Shape;718;p46: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057203049" name="Google Shape;719;p4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81455134" name="Google Shape;1678;p98: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227400493" name="Google Shape;1679;p98: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65340902" name="Google Shape;1687;p99: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525247852" name="Google Shape;1688;p99: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2855" name="Google Shape;1706;p100: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2038828385" name="Google Shape;1707;p100: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30131337" name="Google Shape;1725;p101: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936141972" name="Google Shape;1726;p101: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448145299" name="Google Shape;718;p46: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628680568" name="Google Shape;719;p4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427127279" name="Google Shape;1859;p108: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600353165" name="Google Shape;1860;p108: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368866170" name="Google Shape;1859;p108: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382735074" name="Google Shape;1860;p108: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933051506" name="Google Shape;1883;p109: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936966944" name="Google Shape;1884;p109: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965557484" name="Google Shape;1894;p110: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422056249" name="Google Shape;1895;p110: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42597306" name="Google Shape;1904;p111: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78476597" name="Google Shape;1905;p111: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buClr>
                <a:schemeClr val="dk1"/>
              </a:buClr>
              <a:buSzPts val="1200"/>
              <a:defRPr/>
            </a:pPr>
            <a:r>
              <a:rPr lang="en-US">
                <a:latin typeface="Times New Roman"/>
                <a:ea typeface="Times New Roman"/>
                <a:cs typeface="Times New Roman"/>
              </a:rPr>
              <a:t>The business case or similar document describes the necessary information from a business standpoint to determine whether or not the project is worth the required investment. It is commonly used for decision making by managers or executives above the project level. Typically, the business need and the cost-benefit analysis are contained in the business case to justify and establish boundaries for the project, and such analysis is usually completed by a business analyst using various stakeholder inputs. The sponsor should agree to the scope and limitations of the business case. </a:t>
            </a:r>
            <a:endParaRPr/>
          </a:p>
          <a:p>
            <a:pPr marL="0" indent="0">
              <a:spcBef>
                <a:spcPts val="351"/>
              </a:spcBef>
              <a:defRPr/>
            </a:pPr>
            <a:endParaRPr/>
          </a:p>
        </p:txBody>
      </p:sp>
      <p:sp>
        <p:nvSpPr>
          <p:cNvPr id="1934495925" name="Google Shape;1906;p111: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a:t>125</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392719387" name="Google Shape;1904;p111: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76357898" name="Google Shape;1905;p111: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buClr>
                <a:schemeClr val="dk1"/>
              </a:buClr>
              <a:buSzPts val="1200"/>
              <a:defRPr/>
            </a:pPr>
            <a:r>
              <a:rPr lang="en-US">
                <a:latin typeface="Times New Roman"/>
                <a:ea typeface="Times New Roman"/>
                <a:cs typeface="Times New Roman"/>
              </a:rPr>
              <a:t>The business case or similar document describes the necessary information from a business standpoint to determine whether or not the project is worth the required investment. It is commonly used for decision making by managers or executives above the project level. Typically, the business need and the cost-benefit analysis are contained in the business case to justify and establish boundaries for the project, and such analysis is usually completed by a business analyst using various stakeholder inputs. The sponsor should agree to the scope and limitations of the business case. </a:t>
            </a:r>
            <a:endParaRPr/>
          </a:p>
          <a:p>
            <a:pPr marL="0" indent="0">
              <a:spcBef>
                <a:spcPts val="351"/>
              </a:spcBef>
              <a:defRPr/>
            </a:pPr>
            <a:endParaRPr/>
          </a:p>
        </p:txBody>
      </p:sp>
      <p:sp>
        <p:nvSpPr>
          <p:cNvPr id="1513900678" name="Google Shape;1906;p111: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a:t>126</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519415609" name="Google Shape;1930;p113: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61225970" name="Google Shape;1931;p113:notes"/>
          <p:cNvSpPr txBox="1">
            <a:spLocks noGrp="1"/>
          </p:cNvSpPr>
          <p:nvPr>
            <p:ph type="body" idx="1"/>
          </p:nvPr>
        </p:nvSpPr>
        <p:spPr bwMode="auto">
          <a:xfrm>
            <a:off x="929641" y="3268945"/>
            <a:ext cx="7437119" cy="3096976"/>
          </a:xfrm>
          <a:prstGeom prst="rect">
            <a:avLst/>
          </a:prstGeom>
          <a:noFill/>
          <a:ln>
            <a:noFill/>
          </a:ln>
        </p:spPr>
        <p:txBody>
          <a:bodyPr spcFirstLastPara="1" wrap="square" lIns="89085" tIns="44530" rIns="89085" bIns="44530" anchor="t" anchorCtr="0">
            <a:noAutofit/>
          </a:bodyPr>
          <a:lstStyle/>
          <a:p>
            <a:pPr marL="0" indent="0">
              <a:spcBef>
                <a:spcPts val="0"/>
              </a:spcBef>
              <a:buClr>
                <a:schemeClr val="dk1"/>
              </a:buClr>
              <a:buSzPts val="1200"/>
              <a:defRPr/>
            </a:pPr>
            <a:r>
              <a:rPr lang="en-US">
                <a:latin typeface="Times New Roman"/>
                <a:ea typeface="Times New Roman"/>
                <a:cs typeface="Times New Roman"/>
              </a:rPr>
              <a:t>The business case or similar document describes the necessary information from a business standpoint to determine whether or not the project is worth the required investment. It is commonly used for decision making by managers or executives above the project level. Typically, the business need and the cost-benefit analysis are contained in the business case to justify and establish boundaries for the project, and such analysis is usually completed by a business analyst using various stakeholder inputs. The sponsor should agree to the scope and limitations of the business case. </a:t>
            </a:r>
            <a:endParaRPr/>
          </a:p>
          <a:p>
            <a:pPr marL="0" indent="0">
              <a:spcBef>
                <a:spcPts val="351"/>
              </a:spcBef>
              <a:defRPr/>
            </a:pPr>
            <a:endParaRPr/>
          </a:p>
        </p:txBody>
      </p:sp>
      <p:sp>
        <p:nvSpPr>
          <p:cNvPr id="1134475832" name="Google Shape;1932;p113:notes"/>
          <p:cNvSpPr txBox="1">
            <a:spLocks noGrp="1"/>
          </p:cNvSpPr>
          <p:nvPr>
            <p:ph type="sldNum" idx="12"/>
          </p:nvPr>
        </p:nvSpPr>
        <p:spPr bwMode="auto">
          <a:xfrm>
            <a:off x="5263977" y="6537886"/>
            <a:ext cx="4030930" cy="342323"/>
          </a:xfrm>
          <a:prstGeom prst="rect">
            <a:avLst/>
          </a:prstGeom>
          <a:noFill/>
          <a:ln>
            <a:noFill/>
          </a:ln>
        </p:spPr>
        <p:txBody>
          <a:bodyPr spcFirstLastPara="1" wrap="square" lIns="89085" tIns="44530" rIns="89085" bIns="44530" anchor="b" anchorCtr="0">
            <a:noAutofit/>
          </a:bodyPr>
          <a:lstStyle/>
          <a:p>
            <a:pPr algn="r">
              <a:defRPr/>
            </a:pPr>
            <a:fld id="{00000000-1234-1234-1234-123412341234}" type="slidenum">
              <a:rPr lang="en-US"/>
              <a:t>127</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29855899" name="Google Shape;1940;p114: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379287099" name="Google Shape;1941;p114: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174089349" name="Google Shape;1984;p115: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939022709" name="Google Shape;1985;p115: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006143692" name="Google Shape;1996;p116: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473916602" name="Google Shape;1997;p116: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687230134" name="Google Shape;2005;p117: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772540593" name="Google Shape;2006;p117: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37155406" name="Google Shape;2014;p118: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447320656" name="Google Shape;2015;p118: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2108597070" name="Google Shape;2023;p119: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451666521" name="Google Shape;2024;p119: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846734061" name="Google Shape;2032;p120: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175953070" name="Google Shape;2033;p120: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MasterSp="0">
  <p:cSld name="">
    <p:spTree>
      <p:nvGrpSpPr>
        <p:cNvPr id="1" name=""/>
        <p:cNvGrpSpPr/>
        <p:nvPr/>
      </p:nvGrpSpPr>
      <p:grpSpPr bwMode="auto">
        <a:xfrm>
          <a:off x="0" y="0"/>
          <a:ext cx="0" cy="0"/>
          <a:chOff x="0" y="0"/>
          <a:chExt cx="0" cy="0"/>
        </a:xfrm>
      </p:grpSpPr>
      <p:sp>
        <p:nvSpPr>
          <p:cNvPr id="1215493510" name="Google Shape;2041;p121:notes"/>
          <p:cNvSpPr txBox="1">
            <a:spLocks noGrp="1"/>
          </p:cNvSpPr>
          <p:nvPr>
            <p:ph type="body" idx="1"/>
          </p:nvPr>
        </p:nvSpPr>
        <p:spPr bwMode="auto">
          <a:xfrm>
            <a:off x="929641" y="3268945"/>
            <a:ext cx="7437119" cy="3096976"/>
          </a:xfrm>
          <a:prstGeom prst="rect">
            <a:avLst/>
          </a:prstGeom>
        </p:spPr>
        <p:txBody>
          <a:bodyPr spcFirstLastPara="1" wrap="square" lIns="89085" tIns="44530" rIns="89085" bIns="44530" anchor="t" anchorCtr="0">
            <a:noAutofit/>
          </a:bodyPr>
          <a:lstStyle/>
          <a:p>
            <a:pPr marL="0" indent="0">
              <a:spcBef>
                <a:spcPts val="351"/>
              </a:spcBef>
              <a:defRPr/>
            </a:pPr>
            <a:endParaRPr/>
          </a:p>
        </p:txBody>
      </p:sp>
      <p:sp>
        <p:nvSpPr>
          <p:cNvPr id="107081514" name="Google Shape;2042;p121:notes"/>
          <p:cNvSpPr>
            <a:spLocks noChangeAspect="1" noGrp="1" noRot="1"/>
          </p:cNvSpPr>
          <p:nvPr>
            <p:ph type="sldImg" idx="2"/>
          </p:nvPr>
        </p:nvSpPr>
        <p:spPr bwMode="auto">
          <a:xfrm>
            <a:off x="2354263" y="515938"/>
            <a:ext cx="4587875" cy="2581275"/>
          </a:xfrm>
          <a:custGeom>
            <a:avLst/>
            <a:gdLst/>
            <a:ahLst/>
            <a:cxnLst/>
            <a:rect l="l" t="t" r="r" b="b"/>
            <a:pathLst>
              <a:path w="120000" h="120000" fill="norm" stroke="1"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1" preserve="0" showMasterPhAnim="0" showMasterSp="1" userDrawn="1">
  <p:cSld name="1">
    <p:spTree>
      <p:nvGrpSpPr>
        <p:cNvPr id="1" name=""/>
        <p:cNvGrpSpPr/>
        <p:nvPr/>
      </p:nvGrpSpPr>
      <p:grpSpPr bwMode="auto">
        <a:xfrm>
          <a:off x="0" y="0"/>
          <a:ext cx="0" cy="0"/>
          <a:chOff x="0" y="0"/>
          <a:chExt cx="0" cy="0"/>
        </a:xfrm>
      </p:grpSpPr>
      <p:sp>
        <p:nvSpPr>
          <p:cNvPr id="391262836" name="Google Shape;16;p123"/>
          <p:cNvSpPr>
            <a:spLocks noGrp="1"/>
          </p:cNvSpPr>
          <p:nvPr>
            <p:ph type="pic" idx="2"/>
          </p:nvPr>
        </p:nvSpPr>
        <p:spPr bwMode="auto">
          <a:xfrm>
            <a:off x="0" y="1"/>
            <a:ext cx="12192000" cy="6858000"/>
          </a:xfrm>
          <a:prstGeom prst="rect">
            <a:avLst/>
          </a:prstGeom>
          <a:noFill/>
          <a:ln>
            <a:noFill/>
          </a:ln>
        </p:spPr>
        <p:txBody>
          <a:bodyPr/>
          <a:lstStyle/>
          <a:p>
            <a:pPr>
              <a:defRPr/>
            </a:pPr>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Content" preserve="0" showMasterPhAnim="0" showMasterSp="1" type="obj" userDrawn="1">
  <p:cSld name="OBJECT">
    <p:spTree>
      <p:nvGrpSpPr>
        <p:cNvPr id="1" name=""/>
        <p:cNvGrpSpPr/>
        <p:nvPr/>
      </p:nvGrpSpPr>
      <p:grpSpPr bwMode="auto">
        <a:xfrm>
          <a:off x="0" y="0"/>
          <a:ext cx="0" cy="0"/>
          <a:chOff x="0" y="0"/>
          <a:chExt cx="0" cy="0"/>
        </a:xfrm>
      </p:grpSpPr>
      <p:sp>
        <p:nvSpPr>
          <p:cNvPr id="601979069" name="Google Shape;18;p124"/>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53048703" name="Google Shape;19;p124"/>
          <p:cNvSpPr txBox="1">
            <a:spLocks noGrp="1"/>
          </p:cNvSpPr>
          <p:nvPr>
            <p:ph type="body" idx="1"/>
          </p:nvPr>
        </p:nvSpPr>
        <p:spPr bwMode="auto">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324922225" name="Google Shape;20;p124"/>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25549582" name="Google Shape;21;p124"/>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27903733" name="Google Shape;22;p12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Slide" preserve="0" showMasterPhAnim="0" showMasterSp="1" type="title" userDrawn="1">
  <p:cSld name="TITLE">
    <p:spTree>
      <p:nvGrpSpPr>
        <p:cNvPr id="1" name=""/>
        <p:cNvGrpSpPr/>
        <p:nvPr/>
      </p:nvGrpSpPr>
      <p:grpSpPr bwMode="auto">
        <a:xfrm>
          <a:off x="0" y="0"/>
          <a:ext cx="0" cy="0"/>
          <a:chOff x="0" y="0"/>
          <a:chExt cx="0" cy="0"/>
        </a:xfrm>
      </p:grpSpPr>
      <p:sp>
        <p:nvSpPr>
          <p:cNvPr id="1004952808" name="Google Shape;24;p125"/>
          <p:cNvSpPr txBox="1">
            <a:spLocks noGrp="1"/>
          </p:cNvSpPr>
          <p:nvPr>
            <p:ph type="ctrTitle"/>
          </p:nvPr>
        </p:nvSpPr>
        <p:spPr bwMode="auto">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232956377" name="Google Shape;25;p125"/>
          <p:cNvSpPr txBox="1">
            <a:spLocks noGrp="1"/>
          </p:cNvSpPr>
          <p:nvPr>
            <p:ph type="subTitle" idx="1"/>
          </p:nvPr>
        </p:nvSpPr>
        <p:spPr bwMode="auto">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pPr>
              <a:defRPr/>
            </a:pPr>
            <a:endParaRPr/>
          </a:p>
        </p:txBody>
      </p:sp>
      <p:sp>
        <p:nvSpPr>
          <p:cNvPr id="1582888431" name="Google Shape;26;p125"/>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209772802" name="Google Shape;27;p125"/>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459888475" name="Google Shape;28;p12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Only" preserve="0" showMasterPhAnim="0" showMasterSp="1" type="titleOnly" userDrawn="1">
  <p:cSld name="TITLE_ONLY">
    <p:spTree>
      <p:nvGrpSpPr>
        <p:cNvPr id="1" name=""/>
        <p:cNvGrpSpPr/>
        <p:nvPr/>
      </p:nvGrpSpPr>
      <p:grpSpPr bwMode="auto">
        <a:xfrm>
          <a:off x="0" y="0"/>
          <a:ext cx="0" cy="0"/>
          <a:chOff x="0" y="0"/>
          <a:chExt cx="0" cy="0"/>
        </a:xfrm>
      </p:grpSpPr>
      <p:sp>
        <p:nvSpPr>
          <p:cNvPr id="256848235" name="Google Shape;30;p126"/>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63290153" name="Google Shape;31;p126"/>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83099931" name="Google Shape;32;p126"/>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335707957" name="Google Shape;33;p12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Blank" preserve="0" showMasterPhAnim="0" showMasterSp="1" type="blank" userDrawn="1">
  <p:cSld name="BLANK">
    <p:spTree>
      <p:nvGrpSpPr>
        <p:cNvPr id="1" name=""/>
        <p:cNvGrpSpPr/>
        <p:nvPr/>
      </p:nvGrpSpPr>
      <p:grpSpPr bwMode="auto">
        <a:xfrm>
          <a:off x="0" y="0"/>
          <a:ext cx="0" cy="0"/>
          <a:chOff x="0" y="0"/>
          <a:chExt cx="0" cy="0"/>
        </a:xfrm>
      </p:grpSpPr>
      <p:sp>
        <p:nvSpPr>
          <p:cNvPr id="12126376" name="Google Shape;35;p127"/>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892061854" name="Google Shape;36;p127"/>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240554920" name="Google Shape;37;p12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Diagram or Organization Chart" preserve="0" showMasterPhAnim="0" showMasterSp="1" type="dgm" userDrawn="1">
  <p:cSld name="DIAGRAM">
    <p:spTree>
      <p:nvGrpSpPr>
        <p:cNvPr id="1" name=""/>
        <p:cNvGrpSpPr/>
        <p:nvPr/>
      </p:nvGrpSpPr>
      <p:grpSpPr bwMode="auto">
        <a:xfrm>
          <a:off x="0" y="0"/>
          <a:ext cx="0" cy="0"/>
          <a:chOff x="0" y="0"/>
          <a:chExt cx="0" cy="0"/>
        </a:xfrm>
      </p:grpSpPr>
      <p:sp>
        <p:nvSpPr>
          <p:cNvPr id="1671359245" name="Google Shape;39;p128"/>
          <p:cNvSpPr txBox="1">
            <a:spLocks noGrp="1"/>
          </p:cNvSpPr>
          <p:nvPr>
            <p:ph type="title"/>
          </p:nvPr>
        </p:nvSpPr>
        <p:spPr bwMode="auto">
          <a:xfrm>
            <a:off x="1422400" y="381000"/>
            <a:ext cx="101600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337771374" name="Google Shape;40;p128"/>
          <p:cNvSpPr>
            <a:spLocks noGrp="1"/>
          </p:cNvSpPr>
          <p:nvPr>
            <p:ph type="dgm" idx="2"/>
          </p:nvPr>
        </p:nvSpPr>
        <p:spPr bwMode="auto">
          <a:xfrm>
            <a:off x="1422400" y="1752599"/>
            <a:ext cx="10160000" cy="4114800"/>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a:defRPr/>
            </a:pPr>
            <a:endParaRPr/>
          </a:p>
        </p:txBody>
      </p:sp>
      <p:sp>
        <p:nvSpPr>
          <p:cNvPr id="140955613" name="Google Shape;41;p128"/>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917576515" name="Google Shape;42;p128"/>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98529190" name="Google Shape;43;p128"/>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a:solidFill>
                  <a:srgbClr val="888888"/>
                </a:solidFill>
                <a:latin typeface="Calibri"/>
                <a:ea typeface="Calibri"/>
                <a:cs typeface="Calibri"/>
              </a:defRPr>
            </a:lvl1pPr>
            <a:lvl2pPr marL="0" marR="0" lvl="1" indent="0" algn="r">
              <a:spcBef>
                <a:spcPts val="0"/>
              </a:spcBef>
              <a:buNone/>
              <a:defRPr sz="1200">
                <a:solidFill>
                  <a:srgbClr val="888888"/>
                </a:solidFill>
                <a:latin typeface="Calibri"/>
                <a:ea typeface="Calibri"/>
                <a:cs typeface="Calibri"/>
              </a:defRPr>
            </a:lvl2pPr>
            <a:lvl3pPr marL="0" marR="0" lvl="2" indent="0" algn="r">
              <a:spcBef>
                <a:spcPts val="0"/>
              </a:spcBef>
              <a:buNone/>
              <a:defRPr sz="1200">
                <a:solidFill>
                  <a:srgbClr val="888888"/>
                </a:solidFill>
                <a:latin typeface="Calibri"/>
                <a:ea typeface="Calibri"/>
                <a:cs typeface="Calibri"/>
              </a:defRPr>
            </a:lvl3pPr>
            <a:lvl4pPr marL="0" marR="0" lvl="3" indent="0" algn="r">
              <a:spcBef>
                <a:spcPts val="0"/>
              </a:spcBef>
              <a:buNone/>
              <a:defRPr sz="1200">
                <a:solidFill>
                  <a:srgbClr val="888888"/>
                </a:solidFill>
                <a:latin typeface="Calibri"/>
                <a:ea typeface="Calibri"/>
                <a:cs typeface="Calibri"/>
              </a:defRPr>
            </a:lvl4pPr>
            <a:lvl5pPr marL="0" marR="0" lvl="4" indent="0" algn="r">
              <a:spcBef>
                <a:spcPts val="0"/>
              </a:spcBef>
              <a:buNone/>
              <a:defRPr sz="1200">
                <a:solidFill>
                  <a:srgbClr val="888888"/>
                </a:solidFill>
                <a:latin typeface="Calibri"/>
                <a:ea typeface="Calibri"/>
                <a:cs typeface="Calibri"/>
              </a:defRPr>
            </a:lvl5pPr>
            <a:lvl6pPr marL="0" marR="0" lvl="5" indent="0" algn="r">
              <a:spcBef>
                <a:spcPts val="0"/>
              </a:spcBef>
              <a:buNone/>
              <a:defRPr sz="1200">
                <a:solidFill>
                  <a:srgbClr val="888888"/>
                </a:solidFill>
                <a:latin typeface="Calibri"/>
                <a:ea typeface="Calibri"/>
                <a:cs typeface="Calibri"/>
              </a:defRPr>
            </a:lvl6pPr>
            <a:lvl7pPr marL="0" marR="0" lvl="6" indent="0" algn="r">
              <a:spcBef>
                <a:spcPts val="0"/>
              </a:spcBef>
              <a:buNone/>
              <a:defRPr sz="1200">
                <a:solidFill>
                  <a:srgbClr val="888888"/>
                </a:solidFill>
                <a:latin typeface="Calibri"/>
                <a:ea typeface="Calibri"/>
                <a:cs typeface="Calibri"/>
              </a:defRPr>
            </a:lvl7pPr>
            <a:lvl8pPr marL="0" marR="0" lvl="7" indent="0" algn="r">
              <a:spcBef>
                <a:spcPts val="0"/>
              </a:spcBef>
              <a:buNone/>
              <a:defRPr sz="1200">
                <a:solidFill>
                  <a:srgbClr val="888888"/>
                </a:solidFill>
                <a:latin typeface="Calibri"/>
                <a:ea typeface="Calibri"/>
                <a:cs typeface="Calibri"/>
              </a:defRPr>
            </a:lvl8pPr>
            <a:lvl9pPr marL="0" marR="0" lvl="8" indent="0" algn="r">
              <a:spcBef>
                <a:spcPts val="0"/>
              </a:spcBef>
              <a:buNone/>
              <a:defRPr sz="1200">
                <a:solidFill>
                  <a:srgbClr val="888888"/>
                </a:solidFill>
                <a:latin typeface="Calibri"/>
                <a:ea typeface="Calibri"/>
                <a:cs typeface="Calibri"/>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Table" preserve="0" showMasterPhAnim="0" showMasterSp="1" type="tbl" userDrawn="1">
  <p:cSld name="TABLE">
    <p:spTree>
      <p:nvGrpSpPr>
        <p:cNvPr id="1" name=""/>
        <p:cNvGrpSpPr/>
        <p:nvPr/>
      </p:nvGrpSpPr>
      <p:grpSpPr bwMode="auto">
        <a:xfrm>
          <a:off x="0" y="0"/>
          <a:ext cx="0" cy="0"/>
          <a:chOff x="0" y="0"/>
          <a:chExt cx="0" cy="0"/>
        </a:xfrm>
      </p:grpSpPr>
      <p:sp>
        <p:nvSpPr>
          <p:cNvPr id="1095803096" name="Google Shape;45;p129"/>
          <p:cNvSpPr txBox="1">
            <a:spLocks noGrp="1"/>
          </p:cNvSpPr>
          <p:nvPr>
            <p:ph type="title"/>
          </p:nvPr>
        </p:nvSpPr>
        <p:spPr bwMode="auto">
          <a:xfrm>
            <a:off x="1422400" y="381000"/>
            <a:ext cx="101600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689051704" name="Google Shape;46;p129"/>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99781747" name="Google Shape;47;p129"/>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774172173" name="Google Shape;48;p129"/>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a:solidFill>
                  <a:srgbClr val="888888"/>
                </a:solidFill>
                <a:latin typeface="Calibri"/>
                <a:ea typeface="Calibri"/>
                <a:cs typeface="Calibri"/>
              </a:defRPr>
            </a:lvl1pPr>
            <a:lvl2pPr marL="0" marR="0" lvl="1" indent="0" algn="r">
              <a:spcBef>
                <a:spcPts val="0"/>
              </a:spcBef>
              <a:buNone/>
              <a:defRPr sz="1200">
                <a:solidFill>
                  <a:srgbClr val="888888"/>
                </a:solidFill>
                <a:latin typeface="Calibri"/>
                <a:ea typeface="Calibri"/>
                <a:cs typeface="Calibri"/>
              </a:defRPr>
            </a:lvl2pPr>
            <a:lvl3pPr marL="0" marR="0" lvl="2" indent="0" algn="r">
              <a:spcBef>
                <a:spcPts val="0"/>
              </a:spcBef>
              <a:buNone/>
              <a:defRPr sz="1200">
                <a:solidFill>
                  <a:srgbClr val="888888"/>
                </a:solidFill>
                <a:latin typeface="Calibri"/>
                <a:ea typeface="Calibri"/>
                <a:cs typeface="Calibri"/>
              </a:defRPr>
            </a:lvl3pPr>
            <a:lvl4pPr marL="0" marR="0" lvl="3" indent="0" algn="r">
              <a:spcBef>
                <a:spcPts val="0"/>
              </a:spcBef>
              <a:buNone/>
              <a:defRPr sz="1200">
                <a:solidFill>
                  <a:srgbClr val="888888"/>
                </a:solidFill>
                <a:latin typeface="Calibri"/>
                <a:ea typeface="Calibri"/>
                <a:cs typeface="Calibri"/>
              </a:defRPr>
            </a:lvl4pPr>
            <a:lvl5pPr marL="0" marR="0" lvl="4" indent="0" algn="r">
              <a:spcBef>
                <a:spcPts val="0"/>
              </a:spcBef>
              <a:buNone/>
              <a:defRPr sz="1200">
                <a:solidFill>
                  <a:srgbClr val="888888"/>
                </a:solidFill>
                <a:latin typeface="Calibri"/>
                <a:ea typeface="Calibri"/>
                <a:cs typeface="Calibri"/>
              </a:defRPr>
            </a:lvl5pPr>
            <a:lvl6pPr marL="0" marR="0" lvl="5" indent="0" algn="r">
              <a:spcBef>
                <a:spcPts val="0"/>
              </a:spcBef>
              <a:buNone/>
              <a:defRPr sz="1200">
                <a:solidFill>
                  <a:srgbClr val="888888"/>
                </a:solidFill>
                <a:latin typeface="Calibri"/>
                <a:ea typeface="Calibri"/>
                <a:cs typeface="Calibri"/>
              </a:defRPr>
            </a:lvl6pPr>
            <a:lvl7pPr marL="0" marR="0" lvl="6" indent="0" algn="r">
              <a:spcBef>
                <a:spcPts val="0"/>
              </a:spcBef>
              <a:buNone/>
              <a:defRPr sz="1200">
                <a:solidFill>
                  <a:srgbClr val="888888"/>
                </a:solidFill>
                <a:latin typeface="Calibri"/>
                <a:ea typeface="Calibri"/>
                <a:cs typeface="Calibri"/>
              </a:defRPr>
            </a:lvl7pPr>
            <a:lvl8pPr marL="0" marR="0" lvl="7" indent="0" algn="r">
              <a:spcBef>
                <a:spcPts val="0"/>
              </a:spcBef>
              <a:buNone/>
              <a:defRPr sz="1200">
                <a:solidFill>
                  <a:srgbClr val="888888"/>
                </a:solidFill>
                <a:latin typeface="Calibri"/>
                <a:ea typeface="Calibri"/>
                <a:cs typeface="Calibri"/>
              </a:defRPr>
            </a:lvl8pPr>
            <a:lvl9pPr marL="0" marR="0" lvl="8" indent="0" algn="r">
              <a:spcBef>
                <a:spcPts val="0"/>
              </a:spcBef>
              <a:buNone/>
              <a:defRPr sz="1200">
                <a:solidFill>
                  <a:srgbClr val="888888"/>
                </a:solidFill>
                <a:latin typeface="Calibri"/>
                <a:ea typeface="Calibri"/>
                <a:cs typeface="Calibri"/>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Section Header" preserve="0" showMasterPhAnim="0" showMasterSp="1" type="secHead" userDrawn="1">
  <p:cSld name="SECTION_HEADER">
    <p:spTree>
      <p:nvGrpSpPr>
        <p:cNvPr id="1" name=""/>
        <p:cNvGrpSpPr/>
        <p:nvPr/>
      </p:nvGrpSpPr>
      <p:grpSpPr bwMode="auto">
        <a:xfrm>
          <a:off x="0" y="0"/>
          <a:ext cx="0" cy="0"/>
          <a:chOff x="0" y="0"/>
          <a:chExt cx="0" cy="0"/>
        </a:xfrm>
      </p:grpSpPr>
      <p:sp>
        <p:nvSpPr>
          <p:cNvPr id="299511081" name="Google Shape;50;p130"/>
          <p:cNvSpPr txBox="1">
            <a:spLocks noGrp="1"/>
          </p:cNvSpPr>
          <p:nvPr>
            <p:ph type="title"/>
          </p:nvPr>
        </p:nvSpPr>
        <p:spPr bwMode="auto">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897133298" name="Google Shape;51;p130"/>
          <p:cNvSpPr txBox="1">
            <a:spLocks noGrp="1"/>
          </p:cNvSpPr>
          <p:nvPr>
            <p:ph type="body" idx="1"/>
          </p:nvPr>
        </p:nvSpPr>
        <p:spPr bwMode="auto">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pPr>
              <a:defRPr/>
            </a:pPr>
            <a:endParaRPr/>
          </a:p>
        </p:txBody>
      </p:sp>
      <p:sp>
        <p:nvSpPr>
          <p:cNvPr id="1511851820" name="Google Shape;52;p130"/>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72561792" name="Google Shape;53;p130"/>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491226271" name="Google Shape;54;p130"/>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wo Content" preserve="0" showMasterPhAnim="0" showMasterSp="1" type="twoObj" userDrawn="1">
  <p:cSld name="TWO_OBJECTS">
    <p:spTree>
      <p:nvGrpSpPr>
        <p:cNvPr id="1" name=""/>
        <p:cNvGrpSpPr/>
        <p:nvPr/>
      </p:nvGrpSpPr>
      <p:grpSpPr bwMode="auto">
        <a:xfrm>
          <a:off x="0" y="0"/>
          <a:ext cx="0" cy="0"/>
          <a:chOff x="0" y="0"/>
          <a:chExt cx="0" cy="0"/>
        </a:xfrm>
      </p:grpSpPr>
      <p:sp>
        <p:nvSpPr>
          <p:cNvPr id="573112187" name="Google Shape;56;p131"/>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039506141" name="Google Shape;57;p131"/>
          <p:cNvSpPr txBox="1">
            <a:spLocks noGrp="1"/>
          </p:cNvSpPr>
          <p:nvPr>
            <p:ph type="body" idx="1"/>
          </p:nvPr>
        </p:nvSpPr>
        <p:spPr bwMode="auto">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555590135" name="Google Shape;58;p131"/>
          <p:cNvSpPr txBox="1">
            <a:spLocks noGrp="1"/>
          </p:cNvSpPr>
          <p:nvPr>
            <p:ph type="body" idx="2"/>
          </p:nvPr>
        </p:nvSpPr>
        <p:spPr bwMode="auto">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548553460" name="Google Shape;59;p131"/>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037862195" name="Google Shape;60;p131"/>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775828370" name="Google Shape;61;p13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mparison" preserve="0" showMasterPhAnim="0" showMasterSp="1" type="twoTxTwoObj" userDrawn="1">
  <p:cSld name="TWO_OBJECTS_WITH_TEXT">
    <p:spTree>
      <p:nvGrpSpPr>
        <p:cNvPr id="1" name=""/>
        <p:cNvGrpSpPr/>
        <p:nvPr/>
      </p:nvGrpSpPr>
      <p:grpSpPr bwMode="auto">
        <a:xfrm>
          <a:off x="0" y="0"/>
          <a:ext cx="0" cy="0"/>
          <a:chOff x="0" y="0"/>
          <a:chExt cx="0" cy="0"/>
        </a:xfrm>
      </p:grpSpPr>
      <p:sp>
        <p:nvSpPr>
          <p:cNvPr id="268623496" name="Google Shape;63;p132"/>
          <p:cNvSpPr txBox="1">
            <a:spLocks noGrp="1"/>
          </p:cNvSpPr>
          <p:nvPr>
            <p:ph type="title"/>
          </p:nvPr>
        </p:nvSpPr>
        <p:spPr bwMode="auto">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890358836" name="Google Shape;64;p132"/>
          <p:cNvSpPr txBox="1">
            <a:spLocks noGrp="1"/>
          </p:cNvSpPr>
          <p:nvPr>
            <p:ph type="body" idx="1"/>
          </p:nvPr>
        </p:nvSpPr>
        <p:spPr bwMode="auto">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a:defRPr/>
            </a:pPr>
            <a:endParaRPr/>
          </a:p>
        </p:txBody>
      </p:sp>
      <p:sp>
        <p:nvSpPr>
          <p:cNvPr id="633485101" name="Google Shape;65;p132"/>
          <p:cNvSpPr txBox="1">
            <a:spLocks noGrp="1"/>
          </p:cNvSpPr>
          <p:nvPr>
            <p:ph type="body" idx="2"/>
          </p:nvPr>
        </p:nvSpPr>
        <p:spPr bwMode="auto">
          <a:xfrm>
            <a:off x="839788" y="2505074"/>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1760024183" name="Google Shape;66;p132"/>
          <p:cNvSpPr txBox="1">
            <a:spLocks noGrp="1"/>
          </p:cNvSpPr>
          <p:nvPr>
            <p:ph type="body" idx="3"/>
          </p:nvPr>
        </p:nvSpPr>
        <p:spPr bwMode="auto">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pPr>
              <a:defRPr/>
            </a:pPr>
            <a:endParaRPr/>
          </a:p>
        </p:txBody>
      </p:sp>
      <p:sp>
        <p:nvSpPr>
          <p:cNvPr id="1673401386" name="Google Shape;67;p132"/>
          <p:cNvSpPr txBox="1">
            <a:spLocks noGrp="1"/>
          </p:cNvSpPr>
          <p:nvPr>
            <p:ph type="body" idx="4"/>
          </p:nvPr>
        </p:nvSpPr>
        <p:spPr bwMode="auto">
          <a:xfrm>
            <a:off x="6172200" y="2505074"/>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1965334316" name="Google Shape;68;p132"/>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360516456" name="Google Shape;69;p132"/>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928034095" name="Google Shape;70;p13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Content with Caption" preserve="0" showMasterPhAnim="0" showMasterSp="1" type="objTx" userDrawn="1">
  <p:cSld name="OBJECT_WITH_CAPTION_TEXT">
    <p:spTree>
      <p:nvGrpSpPr>
        <p:cNvPr id="1" name=""/>
        <p:cNvGrpSpPr/>
        <p:nvPr/>
      </p:nvGrpSpPr>
      <p:grpSpPr bwMode="auto">
        <a:xfrm>
          <a:off x="0" y="0"/>
          <a:ext cx="0" cy="0"/>
          <a:chOff x="0" y="0"/>
          <a:chExt cx="0" cy="0"/>
        </a:xfrm>
      </p:grpSpPr>
      <p:sp>
        <p:nvSpPr>
          <p:cNvPr id="1823918917" name="Google Shape;72;p133"/>
          <p:cNvSpPr txBox="1">
            <a:spLocks noGrp="1"/>
          </p:cNvSpPr>
          <p:nvPr>
            <p:ph type="title"/>
          </p:nvPr>
        </p:nvSpPr>
        <p:spPr bwMode="auto">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64806677" name="Google Shape;73;p133"/>
          <p:cNvSpPr txBox="1">
            <a:spLocks noGrp="1"/>
          </p:cNvSpPr>
          <p:nvPr>
            <p:ph type="body" idx="1"/>
          </p:nvPr>
        </p:nvSpPr>
        <p:spPr bwMode="auto">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799"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pPr>
              <a:defRPr/>
            </a:pPr>
            <a:endParaRPr/>
          </a:p>
        </p:txBody>
      </p:sp>
      <p:sp>
        <p:nvSpPr>
          <p:cNvPr id="651308696" name="Google Shape;74;p133"/>
          <p:cNvSpPr txBox="1">
            <a:spLocks noGrp="1"/>
          </p:cNvSpPr>
          <p:nvPr>
            <p:ph type="body" idx="2"/>
          </p:nvPr>
        </p:nvSpPr>
        <p:spPr bwMode="auto">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a:defRPr/>
            </a:pPr>
            <a:endParaRPr/>
          </a:p>
        </p:txBody>
      </p:sp>
      <p:sp>
        <p:nvSpPr>
          <p:cNvPr id="227235337" name="Google Shape;75;p133"/>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90439366" name="Google Shape;76;p133"/>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250536948" name="Google Shape;77;p13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Picture with Caption" preserve="0" showMasterPhAnim="0" showMasterSp="1" type="picTx" userDrawn="1">
  <p:cSld name="PICTURE_WITH_CAPTION_TEXT">
    <p:spTree>
      <p:nvGrpSpPr>
        <p:cNvPr id="1" name=""/>
        <p:cNvGrpSpPr/>
        <p:nvPr/>
      </p:nvGrpSpPr>
      <p:grpSpPr bwMode="auto">
        <a:xfrm>
          <a:off x="0" y="0"/>
          <a:ext cx="0" cy="0"/>
          <a:chOff x="0" y="0"/>
          <a:chExt cx="0" cy="0"/>
        </a:xfrm>
      </p:grpSpPr>
      <p:sp>
        <p:nvSpPr>
          <p:cNvPr id="313035788" name="Google Shape;79;p134"/>
          <p:cNvSpPr txBox="1">
            <a:spLocks noGrp="1"/>
          </p:cNvSpPr>
          <p:nvPr>
            <p:ph type="title"/>
          </p:nvPr>
        </p:nvSpPr>
        <p:spPr bwMode="auto">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461608778" name="Google Shape;80;p134"/>
          <p:cNvSpPr>
            <a:spLocks noGrp="1"/>
          </p:cNvSpPr>
          <p:nvPr>
            <p:ph type="pic" idx="2"/>
          </p:nvPr>
        </p:nvSpPr>
        <p:spPr bwMode="auto">
          <a:xfrm>
            <a:off x="5183188" y="987425"/>
            <a:ext cx="6172200" cy="4873625"/>
          </a:xfrm>
          <a:prstGeom prst="rect">
            <a:avLst/>
          </a:prstGeom>
          <a:noFill/>
          <a:ln>
            <a:noFill/>
          </a:ln>
        </p:spPr>
      </p:sp>
      <p:sp>
        <p:nvSpPr>
          <p:cNvPr id="2051200139" name="Google Shape;81;p134"/>
          <p:cNvSpPr txBox="1">
            <a:spLocks noGrp="1"/>
          </p:cNvSpPr>
          <p:nvPr>
            <p:ph type="body" idx="1"/>
          </p:nvPr>
        </p:nvSpPr>
        <p:spPr bwMode="auto">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pPr>
              <a:defRPr/>
            </a:pPr>
            <a:endParaRPr/>
          </a:p>
        </p:txBody>
      </p:sp>
      <p:sp>
        <p:nvSpPr>
          <p:cNvPr id="1454140299" name="Google Shape;82;p134"/>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8891193" name="Google Shape;83;p134"/>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395939820" name="Google Shape;84;p13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Title and Vertical Text" preserve="0" showMasterPhAnim="0" showMasterSp="1" type="vertTx" userDrawn="1">
  <p:cSld name="VERTICAL_TEXT">
    <p:spTree>
      <p:nvGrpSpPr>
        <p:cNvPr id="1" name=""/>
        <p:cNvGrpSpPr/>
        <p:nvPr/>
      </p:nvGrpSpPr>
      <p:grpSpPr bwMode="auto">
        <a:xfrm>
          <a:off x="0" y="0"/>
          <a:ext cx="0" cy="0"/>
          <a:chOff x="0" y="0"/>
          <a:chExt cx="0" cy="0"/>
        </a:xfrm>
      </p:grpSpPr>
      <p:sp>
        <p:nvSpPr>
          <p:cNvPr id="738258679" name="Google Shape;86;p135"/>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28927335" name="Google Shape;87;p135"/>
          <p:cNvSpPr txBox="1">
            <a:spLocks noGrp="1"/>
          </p:cNvSpPr>
          <p:nvPr>
            <p:ph type="body" idx="1"/>
          </p:nvPr>
        </p:nvSpPr>
        <p:spPr bwMode="auto">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627636276" name="Google Shape;88;p135"/>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599376406" name="Google Shape;89;p135"/>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147892885" name="Google Shape;90;p13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Vertical Title and Text" preserve="0" showMasterPhAnim="0" showMasterSp="1" type="vertTitleAndTx" userDrawn="1">
  <p:cSld name="VERTICAL_TITLE_AND_VERTICAL_TEXT">
    <p:spTree>
      <p:nvGrpSpPr>
        <p:cNvPr id="1" name=""/>
        <p:cNvGrpSpPr/>
        <p:nvPr/>
      </p:nvGrpSpPr>
      <p:grpSpPr bwMode="auto">
        <a:xfrm>
          <a:off x="0" y="0"/>
          <a:ext cx="0" cy="0"/>
          <a:chOff x="0" y="0"/>
          <a:chExt cx="0" cy="0"/>
        </a:xfrm>
      </p:grpSpPr>
      <p:sp>
        <p:nvSpPr>
          <p:cNvPr id="1533053370" name="Google Shape;92;p136"/>
          <p:cNvSpPr txBox="1">
            <a:spLocks noGrp="1"/>
          </p:cNvSpPr>
          <p:nvPr>
            <p:ph type="title"/>
          </p:nvPr>
        </p:nvSpPr>
        <p:spPr bwMode="auto">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318706975" name="Google Shape;93;p136"/>
          <p:cNvSpPr txBox="1">
            <a:spLocks noGrp="1"/>
          </p:cNvSpPr>
          <p:nvPr>
            <p:ph type="body" idx="1"/>
          </p:nvPr>
        </p:nvSpPr>
        <p:spPr bwMode="auto">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a:defRPr/>
            </a:pPr>
            <a:endParaRPr/>
          </a:p>
        </p:txBody>
      </p:sp>
      <p:sp>
        <p:nvSpPr>
          <p:cNvPr id="2045747332" name="Google Shape;94;p136"/>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343725549" name="Google Shape;95;p136"/>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defRPr/>
            </a:pPr>
            <a:endParaRPr/>
          </a:p>
        </p:txBody>
      </p:sp>
      <p:sp>
        <p:nvSpPr>
          <p:cNvPr id="1049201581" name="Google Shape;96;p13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US"/>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lt1"/>
        </a:solidFill>
      </p:bgPr>
    </p:bg>
    <p:spTree>
      <p:nvGrpSpPr>
        <p:cNvPr id="1" name=""/>
        <p:cNvGrpSpPr/>
        <p:nvPr/>
      </p:nvGrpSpPr>
      <p:grpSpPr bwMode="auto">
        <a:xfrm>
          <a:off x="0" y="0"/>
          <a:ext cx="0" cy="0"/>
          <a:chOff x="0" y="0"/>
          <a:chExt cx="0" cy="0"/>
        </a:xfrm>
      </p:grpSpPr>
      <p:sp>
        <p:nvSpPr>
          <p:cNvPr id="256233824" name="Google Shape;10;p122"/>
          <p:cNvSpPr txBox="1">
            <a:spLocks noGrp="1"/>
          </p:cNvSpPr>
          <p:nvPr>
            <p:ph type="title"/>
          </p:nvPr>
        </p:nvSpPr>
        <p:spPr bwMode="auto">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a:defRPr/>
            </a:pPr>
            <a:endParaRPr/>
          </a:p>
        </p:txBody>
      </p:sp>
      <p:sp>
        <p:nvSpPr>
          <p:cNvPr id="1388129933" name="Google Shape;11;p122"/>
          <p:cNvSpPr txBox="1">
            <a:spLocks noGrp="1"/>
          </p:cNvSpPr>
          <p:nvPr>
            <p:ph type="body" idx="1"/>
          </p:nvPr>
        </p:nvSpPr>
        <p:spPr bwMode="auto">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a:defRPr/>
            </a:pPr>
            <a:endParaRPr/>
          </a:p>
        </p:txBody>
      </p:sp>
      <p:sp>
        <p:nvSpPr>
          <p:cNvPr id="1749394757" name="Google Shape;12;p122"/>
          <p:cNvSpPr txBox="1">
            <a:spLocks noGrp="1"/>
          </p:cNvSpPr>
          <p:nvPr>
            <p:ph type="dt" idx="10"/>
          </p:nvPr>
        </p:nvSpPr>
        <p:spPr bwMode="auto">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642650284" name="Google Shape;13;p122"/>
          <p:cNvSpPr txBox="1">
            <a:spLocks noGrp="1"/>
          </p:cNvSpPr>
          <p:nvPr>
            <p:ph type="ftr" idx="11"/>
          </p:nvPr>
        </p:nvSpPr>
        <p:spPr bwMode="auto">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defRPr>
            </a:lvl9pPr>
          </a:lstStyle>
          <a:p>
            <a:pPr>
              <a:defRPr/>
            </a:pPr>
            <a:endParaRPr/>
          </a:p>
        </p:txBody>
      </p:sp>
      <p:sp>
        <p:nvSpPr>
          <p:cNvPr id="687631139" name="Google Shape;14;p12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defRPr>
            </a:lvl1pPr>
            <a:lvl2pPr marL="0" marR="0" lvl="1" indent="0" algn="r" rtl="0">
              <a:spcBef>
                <a:spcPts val="0"/>
              </a:spcBef>
              <a:buNone/>
              <a:defRPr sz="1200" b="0" i="0" u="none" strike="noStrike" cap="none">
                <a:solidFill>
                  <a:srgbClr val="888888"/>
                </a:solidFill>
                <a:latin typeface="Calibri"/>
                <a:ea typeface="Calibri"/>
                <a:cs typeface="Calibri"/>
              </a:defRPr>
            </a:lvl2pPr>
            <a:lvl3pPr marL="0" marR="0" lvl="2" indent="0" algn="r" rtl="0">
              <a:spcBef>
                <a:spcPts val="0"/>
              </a:spcBef>
              <a:buNone/>
              <a:defRPr sz="1200" b="0" i="0" u="none" strike="noStrike" cap="none">
                <a:solidFill>
                  <a:srgbClr val="888888"/>
                </a:solidFill>
                <a:latin typeface="Calibri"/>
                <a:ea typeface="Calibri"/>
                <a:cs typeface="Calibri"/>
              </a:defRPr>
            </a:lvl3pPr>
            <a:lvl4pPr marL="0" marR="0" lvl="3" indent="0" algn="r" rtl="0">
              <a:spcBef>
                <a:spcPts val="0"/>
              </a:spcBef>
              <a:buNone/>
              <a:defRPr sz="1200" b="0" i="0" u="none" strike="noStrike" cap="none">
                <a:solidFill>
                  <a:srgbClr val="888888"/>
                </a:solidFill>
                <a:latin typeface="Calibri"/>
                <a:ea typeface="Calibri"/>
                <a:cs typeface="Calibri"/>
              </a:defRPr>
            </a:lvl4pPr>
            <a:lvl5pPr marL="0" marR="0" lvl="4" indent="0" algn="r" rtl="0">
              <a:spcBef>
                <a:spcPts val="0"/>
              </a:spcBef>
              <a:buNone/>
              <a:defRPr sz="1200" b="0" i="0" u="none" strike="noStrike" cap="none">
                <a:solidFill>
                  <a:srgbClr val="888888"/>
                </a:solidFill>
                <a:latin typeface="Calibri"/>
                <a:ea typeface="Calibri"/>
                <a:cs typeface="Calibri"/>
              </a:defRPr>
            </a:lvl5pPr>
            <a:lvl6pPr marL="0" marR="0" lvl="5" indent="0" algn="r" rtl="0">
              <a:spcBef>
                <a:spcPts val="0"/>
              </a:spcBef>
              <a:buNone/>
              <a:defRPr sz="1200" b="0" i="0" u="none" strike="noStrike" cap="none">
                <a:solidFill>
                  <a:srgbClr val="888888"/>
                </a:solidFill>
                <a:latin typeface="Calibri"/>
                <a:ea typeface="Calibri"/>
                <a:cs typeface="Calibri"/>
              </a:defRPr>
            </a:lvl6pPr>
            <a:lvl7pPr marL="0" marR="0" lvl="6" indent="0" algn="r" rtl="0">
              <a:spcBef>
                <a:spcPts val="0"/>
              </a:spcBef>
              <a:buNone/>
              <a:defRPr sz="1200" b="0" i="0" u="none" strike="noStrike" cap="none">
                <a:solidFill>
                  <a:srgbClr val="888888"/>
                </a:solidFill>
                <a:latin typeface="Calibri"/>
                <a:ea typeface="Calibri"/>
                <a:cs typeface="Calibri"/>
              </a:defRPr>
            </a:lvl7pPr>
            <a:lvl8pPr marL="0" marR="0" lvl="7" indent="0" algn="r" rtl="0">
              <a:spcBef>
                <a:spcPts val="0"/>
              </a:spcBef>
              <a:buNone/>
              <a:defRPr sz="1200" b="0" i="0" u="none" strike="noStrike" cap="none">
                <a:solidFill>
                  <a:srgbClr val="888888"/>
                </a:solidFill>
                <a:latin typeface="Calibri"/>
                <a:ea typeface="Calibri"/>
                <a:cs typeface="Calibri"/>
              </a:defRPr>
            </a:lvl8pPr>
            <a:lvl9pPr marL="0" marR="0" lvl="8" indent="0" algn="r" rtl="0">
              <a:spcBef>
                <a:spcPts val="0"/>
              </a:spcBef>
              <a:buNone/>
              <a:defRPr sz="1200" b="0" i="0" u="none" strike="noStrike" cap="none">
                <a:solidFill>
                  <a:srgbClr val="888888"/>
                </a:solidFill>
                <a:latin typeface="Calibri"/>
                <a:ea typeface="Calibri"/>
                <a:cs typeface="Calibri"/>
              </a:defRPr>
            </a:lvl9pPr>
          </a:lstStyle>
          <a:p>
            <a:pPr marL="0" lvl="0" indent="0" algn="r" rtl="0">
              <a:spcBef>
                <a:spcPts val="0"/>
              </a:spcBef>
              <a:spcAft>
                <a:spcPts val="0"/>
              </a:spcAft>
              <a:buNone/>
              <a:defRPr/>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1"/>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gif"/></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3.jp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3.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3.jpg"/><Relationship Id="rId4" Type="http://schemas.openxmlformats.org/officeDocument/2006/relationships/hyperlink" Target="Chapter%201%20ZZPlanVsActual.docx" TargetMode="Externa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3.jp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1.jpg"/><Relationship Id="rId4" Type="http://schemas.openxmlformats.org/officeDocument/2006/relationships/image" Target="../media/image12.jpg"/><Relationship Id="rId5" Type="http://schemas.openxmlformats.org/officeDocument/2006/relationships/image" Target="../media/image13.jpg"/><Relationship Id="rId6" Type="http://schemas.openxmlformats.org/officeDocument/2006/relationships/hyperlink" Target="Chapter%201ZZDecommissioningCost.jpg" TargetMode="Externa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1.jpg"/><Relationship Id="rId4" Type="http://schemas.openxmlformats.org/officeDocument/2006/relationships/image" Target="../media/image12.jpg"/><Relationship Id="rId5" Type="http://schemas.openxmlformats.org/officeDocument/2006/relationships/image" Target="../media/image13.jp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4.png"/><Relationship Id="rId4" Type="http://schemas.openxmlformats.org/officeDocument/2006/relationships/oleObject" Target="../embeddings/oleObject1.bin"/></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oleObject" Target="../embeddings/oleObject1.bin"/></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jp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5.jpg"/><Relationship Id="rId4" Type="http://schemas.openxmlformats.org/officeDocument/2006/relationships/image" Target="../media/image16.jp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5.jpg"/><Relationship Id="rId4" Type="http://schemas.openxmlformats.org/officeDocument/2006/relationships/image" Target="../media/image16.jp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5.jpg"/><Relationship Id="rId4" Type="http://schemas.openxmlformats.org/officeDocument/2006/relationships/image" Target="../media/image16.jp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5.jpg"/><Relationship Id="rId4" Type="http://schemas.openxmlformats.org/officeDocument/2006/relationships/image" Target="../media/image16.jp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5.jpg"/><Relationship Id="rId4" Type="http://schemas.openxmlformats.org/officeDocument/2006/relationships/image" Target="../media/image16.jp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5.jpg"/><Relationship Id="rId4" Type="http://schemas.openxmlformats.org/officeDocument/2006/relationships/image" Target="../media/image16.jp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5.jpg"/><Relationship Id="rId4" Type="http://schemas.openxmlformats.org/officeDocument/2006/relationships/image" Target="../media/image16.jp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5.jpg"/><Relationship Id="rId4" Type="http://schemas.openxmlformats.org/officeDocument/2006/relationships/image" Target="../media/image16.jp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5.jpg"/><Relationship Id="rId4" Type="http://schemas.openxmlformats.org/officeDocument/2006/relationships/image" Target="../media/image16.jp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5.jpg"/><Relationship Id="rId4" Type="http://schemas.openxmlformats.org/officeDocument/2006/relationships/image" Target="../media/image16.jp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5.jpg"/><Relationship Id="rId4" Type="http://schemas.openxmlformats.org/officeDocument/2006/relationships/image" Target="../media/image16.jp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5.jpg"/><Relationship Id="rId4" Type="http://schemas.openxmlformats.org/officeDocument/2006/relationships/image" Target="../media/image16.jp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5.jpg"/><Relationship Id="rId4" Type="http://schemas.openxmlformats.org/officeDocument/2006/relationships/image" Target="../media/image16.jp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5.jpg"/><Relationship Id="rId4" Type="http://schemas.openxmlformats.org/officeDocument/2006/relationships/image" Target="../media/image16.jp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5.jpg"/><Relationship Id="rId4" Type="http://schemas.openxmlformats.org/officeDocument/2006/relationships/image" Target="../media/image16.jp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5.jpg"/><Relationship Id="rId4" Type="http://schemas.openxmlformats.org/officeDocument/2006/relationships/image" Target="../media/image16.jp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jp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15.jpg"/><Relationship Id="rId4" Type="http://schemas.openxmlformats.org/officeDocument/2006/relationships/image" Target="../media/image16.jp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7.gif"/></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18.png"/></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19.jpg"/></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9.jpg"/></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9.jpg"/></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9.jpg"/></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9.jpg"/></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9.jpg"/></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9.jpg"/></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9.jpg"/></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19.jpg"/></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 Id="rId3" Type="http://schemas.openxmlformats.org/officeDocument/2006/relationships/image" Target="../media/image18.png"/></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0.jpg"/></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21.png"/><Relationship Id="rId4" Type="http://schemas.openxmlformats.org/officeDocument/2006/relationships/image" Target="../media/image22.png"/></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21.png"/></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23.png"/><Relationship Id="rId4" Type="http://schemas.openxmlformats.org/officeDocument/2006/relationships/hyperlink" Target="Chapter%201%20ZZActivity%20Sequence.docx" TargetMode="Externa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21.png"/><Relationship Id="rId4" Type="http://schemas.openxmlformats.org/officeDocument/2006/relationships/image" Target="../media/image24.png"/></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21.png"/></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21.png"/><Relationship Id="rId4" Type="http://schemas.openxmlformats.org/officeDocument/2006/relationships/image" Target="../media/image23.png"/></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21.png"/></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 Id="rId3" Type="http://schemas.openxmlformats.org/officeDocument/2006/relationships/image" Target="../media/image18.png"/></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25.jpg"/></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25.jpg"/></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25.jpg"/><Relationship Id="rId4" Type="http://schemas.openxmlformats.org/officeDocument/2006/relationships/image" Target="../media/image26.jpg"/></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25.jpg"/><Relationship Id="rId4" Type="http://schemas.openxmlformats.org/officeDocument/2006/relationships/image" Target="../media/image26.jpg"/><Relationship Id="rId5" Type="http://schemas.openxmlformats.org/officeDocument/2006/relationships/hyperlink" Target="Chapter%201%20ZZCostTable.xlsx" TargetMode="Externa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25.jpg"/></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 Id="rId3" Type="http://schemas.openxmlformats.org/officeDocument/2006/relationships/image" Target="../media/image18.png"/></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27.jpg"/></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27.jpg"/></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27.jpg"/></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27.jpg"/></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9.xml"/><Relationship Id="rId3" Type="http://schemas.openxmlformats.org/officeDocument/2006/relationships/image" Target="../media/image18.png"/></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28.jpg"/></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28.jpg"/></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28.jpg"/><Relationship Id="rId4" Type="http://schemas.openxmlformats.org/officeDocument/2006/relationships/image" Target="../media/image29.png"/><Relationship Id="rId5" Type="http://schemas.openxmlformats.org/officeDocument/2006/relationships/oleObject" Target="../embeddings/oleObject2.bin"/></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28.jpg"/><Relationship Id="rId4" Type="http://schemas.openxmlformats.org/officeDocument/2006/relationships/image" Target="../media/image29.png"/><Relationship Id="rId5" Type="http://schemas.openxmlformats.org/officeDocument/2006/relationships/oleObject" Target="../embeddings/oleObject2.bin"/></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30.png"/><Relationship Id="rId4" Type="http://schemas.openxmlformats.org/officeDocument/2006/relationships/oleObject" Target="../embeddings/oleObject3.bin"/><Relationship Id="rId5" Type="http://schemas.openxmlformats.org/officeDocument/2006/relationships/image" Target="../media/image28.jpg"/></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28.jpg"/><Relationship Id="rId4" Type="http://schemas.openxmlformats.org/officeDocument/2006/relationships/image" Target="../media/image30.png"/><Relationship Id="rId5" Type="http://schemas.openxmlformats.org/officeDocument/2006/relationships/oleObject" Target="../embeddings/oleObject3.bin"/></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31.png"/></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28.jpg"/></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28.jpg"/><Relationship Id="rId4" Type="http://schemas.openxmlformats.org/officeDocument/2006/relationships/hyperlink" Target="Chapter%201%20ZZResourcceAssignmtLoding.docx" TargetMode="Externa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28.jpg"/></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28.jpg"/></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 Id="rId3" Type="http://schemas.openxmlformats.org/officeDocument/2006/relationships/image" Target="../media/image18.png"/></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32.jpg"/><Relationship Id="rId4" Type="http://schemas.openxmlformats.org/officeDocument/2006/relationships/image" Target="../media/image33.jpg"/></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32.jpg"/><Relationship Id="rId4" Type="http://schemas.openxmlformats.org/officeDocument/2006/relationships/image" Target="../media/image33.jpg"/></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32.jpg"/><Relationship Id="rId4" Type="http://schemas.openxmlformats.org/officeDocument/2006/relationships/image" Target="../media/image33.jpg"/></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32.jpg"/><Relationship Id="rId4" Type="http://schemas.openxmlformats.org/officeDocument/2006/relationships/image" Target="../media/image33.jpg"/></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4.jpg"/></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32.jpg"/><Relationship Id="rId4" Type="http://schemas.openxmlformats.org/officeDocument/2006/relationships/image" Target="../media/image33.jpg"/></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5.jpg"/></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 Id="rId3" Type="http://schemas.openxmlformats.org/officeDocument/2006/relationships/image" Target="../media/image32.jpg"/><Relationship Id="rId4" Type="http://schemas.openxmlformats.org/officeDocument/2006/relationships/image" Target="../media/image33.jpg"/></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32.jpg"/><Relationship Id="rId4" Type="http://schemas.openxmlformats.org/officeDocument/2006/relationships/image" Target="../media/image33.jpg"/></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3.xml"/><Relationship Id="rId3" Type="http://schemas.openxmlformats.org/officeDocument/2006/relationships/image" Target="../media/image18.png"/></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36.jpg"/></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37.png"/></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37.png"/></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37.png"/></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38.jpg"/></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38.jpg"/></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38.jpg"/></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38.jpg"/></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38.jpg"/></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 Id="rId3" Type="http://schemas.openxmlformats.org/officeDocument/2006/relationships/image" Target="../media/image38.jpg"/></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image" Target="../media/image38.jpg"/></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5.xml"/><Relationship Id="rId3" Type="http://schemas.openxmlformats.org/officeDocument/2006/relationships/image" Target="../media/image18.png"/></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 Id="rId3" Type="http://schemas.openxmlformats.org/officeDocument/2006/relationships/image" Target="../media/image39.jpg"/></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39.jpg"/></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 Id="rId3" Type="http://schemas.openxmlformats.org/officeDocument/2006/relationships/image" Target="../media/image39.jpg"/></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0.xml"/><Relationship Id="rId3" Type="http://schemas.openxmlformats.org/officeDocument/2006/relationships/image" Target="../media/image18.png"/></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 Id="rId3" Type="http://schemas.openxmlformats.org/officeDocument/2006/relationships/image" Target="../media/image40.png"/><Relationship Id="rId4" Type="http://schemas.openxmlformats.org/officeDocument/2006/relationships/image" Target="../media/image6.png"/></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 Id="rId3" Type="http://schemas.openxmlformats.org/officeDocument/2006/relationships/image" Target="../media/image40.png"/><Relationship Id="rId4" Type="http://schemas.openxmlformats.org/officeDocument/2006/relationships/image" Target="../media/image6.png"/></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 Id="rId3" Type="http://schemas.openxmlformats.org/officeDocument/2006/relationships/image" Target="../media/image40.png"/><Relationship Id="rId4" Type="http://schemas.openxmlformats.org/officeDocument/2006/relationships/image" Target="../media/image6.png"/></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41.jpg"/><Relationship Id="rId4" Type="http://schemas.openxmlformats.org/officeDocument/2006/relationships/image" Target="../media/image42.jpg"/></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image" Target="../media/image43.png"/><Relationship Id="rId4" Type="http://schemas.openxmlformats.org/officeDocument/2006/relationships/image" Target="../media/image44.png"/></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43.png"/><Relationship Id="rId4" Type="http://schemas.openxmlformats.org/officeDocument/2006/relationships/image" Target="../media/image44.png"/></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8.xml"/><Relationship Id="rId3" Type="http://schemas.openxmlformats.org/officeDocument/2006/relationships/image" Target="../media/image45.png"/></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43.png"/><Relationship Id="rId4" Type="http://schemas.openxmlformats.org/officeDocument/2006/relationships/image" Target="../media/image44.png"/></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 Id="rId3" Type="http://schemas.openxmlformats.org/officeDocument/2006/relationships/image" Target="../media/image46.jpg"/></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 Id="rId3" Type="http://schemas.openxmlformats.org/officeDocument/2006/relationships/image" Target="../media/image47.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40544969" name="Google Shape;102;p1"/>
          <p:cNvPicPr>
            <a:picLocks noGrp="1"/>
          </p:cNvPicPr>
          <p:nvPr>
            <p:ph type="pic" idx="2"/>
          </p:nvPr>
        </p:nvPicPr>
        <p:blipFill rotWithShape="1">
          <a:blip r:embed="rId3">
            <a:alphaModFix/>
          </a:blip>
          <a:stretch/>
        </p:blipFill>
        <p:spPr bwMode="auto">
          <a:xfrm>
            <a:off x="0" y="381000"/>
            <a:ext cx="12192000" cy="6095999"/>
          </a:xfrm>
          <a:prstGeom prst="rect">
            <a:avLst/>
          </a:prstGeom>
          <a:noFill/>
          <a:ln>
            <a:noFill/>
          </a:ln>
        </p:spPr>
      </p:pic>
      <p:sp>
        <p:nvSpPr>
          <p:cNvPr id="2088575044" name="Google Shape;103;p1"/>
          <p:cNvSpPr txBox="1"/>
          <p:nvPr/>
        </p:nvSpPr>
        <p:spPr bwMode="auto">
          <a:xfrm>
            <a:off x="6203521" y="4234402"/>
            <a:ext cx="5840573" cy="1323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defRPr/>
            </a:pPr>
            <a:r>
              <a:rPr lang="en-US" sz="4000" b="1" i="0" u="none" strike="noStrike" cap="none">
                <a:solidFill>
                  <a:schemeClr val="lt1"/>
                </a:solidFill>
                <a:latin typeface="Open Sans"/>
                <a:ea typeface="Open Sans"/>
                <a:cs typeface="Open Sans"/>
              </a:rPr>
              <a:t>Project Management Concepts</a:t>
            </a:r>
            <a:endParaRPr sz="4000"/>
          </a:p>
        </p:txBody>
      </p:sp>
      <p:sp>
        <p:nvSpPr>
          <p:cNvPr id="1170453167" name="Google Shape;104;p1"/>
          <p:cNvSpPr/>
          <p:nvPr/>
        </p:nvSpPr>
        <p:spPr bwMode="auto">
          <a:xfrm>
            <a:off x="6316505" y="4190295"/>
            <a:ext cx="1175657" cy="457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b="0" i="0" u="none" strike="noStrike" cap="none">
              <a:solidFill>
                <a:schemeClr val="lt1"/>
              </a:solidFill>
              <a:latin typeface="Open Sans"/>
              <a:ea typeface="Open Sans"/>
              <a:cs typeface="Open Sans"/>
            </a:endParaRPr>
          </a:p>
        </p:txBody>
      </p:sp>
      <p:sp>
        <p:nvSpPr>
          <p:cNvPr id="936580267" name="Google Shape;105;p1"/>
          <p:cNvSpPr/>
          <p:nvPr/>
        </p:nvSpPr>
        <p:spPr bwMode="auto">
          <a:xfrm>
            <a:off x="10728505" y="5824173"/>
            <a:ext cx="1175657" cy="457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b="0" i="0" u="none" strike="noStrike" cap="none">
              <a:solidFill>
                <a:schemeClr val="lt1"/>
              </a:solidFill>
              <a:latin typeface="Open Sans"/>
              <a:ea typeface="Open Sans"/>
              <a:cs typeface="Open Sans"/>
            </a:endParaRPr>
          </a:p>
        </p:txBody>
      </p:sp>
      <p:sp>
        <p:nvSpPr>
          <p:cNvPr id="965989309" name="Google Shape;106;p1"/>
          <p:cNvSpPr/>
          <p:nvPr/>
        </p:nvSpPr>
        <p:spPr bwMode="auto">
          <a:xfrm>
            <a:off x="5938389" y="1177089"/>
            <a:ext cx="5965773" cy="14465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defRPr/>
            </a:pPr>
            <a:r>
              <a:rPr lang="en-US" sz="8800" b="1" i="0" u="none" strike="noStrike" cap="none">
                <a:solidFill>
                  <a:schemeClr val="lt1"/>
                </a:solidFill>
                <a:latin typeface="Open Sans"/>
                <a:ea typeface="Open Sans"/>
                <a:cs typeface="Open Sans"/>
              </a:rPr>
              <a:t>Chapter 1</a:t>
            </a:r>
            <a:endParaRPr sz="8800"/>
          </a:p>
        </p:txBody>
      </p:sp>
      <p:sp>
        <p:nvSpPr>
          <p:cNvPr id="116883584" name="Google Shape;107;p1"/>
          <p:cNvSpPr/>
          <p:nvPr/>
        </p:nvSpPr>
        <p:spPr bwMode="auto">
          <a:xfrm rot="-1063019">
            <a:off x="250033" y="4129219"/>
            <a:ext cx="3423675"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1800"/>
              <a:buFont typeface="Arimo"/>
              <a:buNone/>
              <a:defRPr/>
            </a:pPr>
            <a:r>
              <a:rPr lang="en-US" sz="1800" b="1">
                <a:solidFill>
                  <a:schemeClr val="lt1"/>
                </a:solidFill>
                <a:latin typeface="Arimo"/>
                <a:ea typeface="Arimo"/>
                <a:cs typeface="Arimo"/>
              </a:rPr>
              <a:t>BAIT3153 Software and Project Management (SPM)</a:t>
            </a:r>
            <a:endParaRPr sz="1800" b="1">
              <a:solidFill>
                <a:schemeClr val="lt1"/>
              </a:solidFill>
              <a:latin typeface="Arimo"/>
              <a:ea typeface="Arimo"/>
              <a:cs typeface="Arimo"/>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00" advClick="1">
        <p:fade thruBlk="0"/>
      </p:transition>
    </mc:Choice>
    <mc:Fallback>
      <p:transition spd="med"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965989309"/>
                                        </p:tgtEl>
                                        <p:attrNameLst>
                                          <p:attrName>style.visibility</p:attrName>
                                        </p:attrNameLst>
                                      </p:cBhvr>
                                      <p:to>
                                        <p:strVal val="visible"/>
                                      </p:to>
                                    </p:set>
                                    <p:anim calcmode="lin" valueType="num">
                                      <p:cBhvr additive="base">
                                        <p:cTn id="7" dur="500" fill="hold"/>
                                        <p:tgtEl>
                                          <p:spTgt spid="965989309"/>
                                        </p:tgtEl>
                                        <p:attrNameLst>
                                          <p:attrName>ppt_x</p:attrName>
                                        </p:attrNameLst>
                                      </p:cBhvr>
                                      <p:tavLst>
                                        <p:tav tm="0">
                                          <p:val>
                                            <p:strVal val="#ppt_x"/>
                                          </p:val>
                                        </p:tav>
                                        <p:tav tm="100000">
                                          <p:val>
                                            <p:strVal val="#ppt_x"/>
                                          </p:val>
                                        </p:tav>
                                      </p:tavLst>
                                    </p:anim>
                                    <p:anim calcmode="lin" valueType="num">
                                      <p:cBhvr additive="base">
                                        <p:cTn id="8" dur="500" fill="hold"/>
                                        <p:tgtEl>
                                          <p:spTgt spid="96598930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5989309" grpId="0"/>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3337676" name="Google Shape;112;p2"/>
          <p:cNvSpPr txBox="1">
            <a:spLocks noGrp="1"/>
          </p:cNvSpPr>
          <p:nvPr>
            <p:ph type="title"/>
          </p:nvPr>
        </p:nvSpPr>
        <p:spPr bwMode="auto">
          <a:xfrm>
            <a:off x="3336233" y="365125"/>
            <a:ext cx="42672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defRPr/>
            </a:pPr>
            <a:r>
              <a:rPr lang="en-US" sz="4000"/>
              <a:t>Table of Contents</a:t>
            </a:r>
            <a:endParaRPr sz="4000"/>
          </a:p>
        </p:txBody>
      </p:sp>
      <p:sp>
        <p:nvSpPr>
          <p:cNvPr id="1187753208" name="Google Shape;113;p2"/>
          <p:cNvSpPr txBox="1">
            <a:spLocks noGrp="1"/>
          </p:cNvSpPr>
          <p:nvPr>
            <p:ph type="body" idx="1"/>
          </p:nvPr>
        </p:nvSpPr>
        <p:spPr bwMode="auto">
          <a:xfrm>
            <a:off x="3412434" y="1825625"/>
            <a:ext cx="7330440" cy="4667250"/>
          </a:xfrm>
          <a:prstGeom prst="rect">
            <a:avLst/>
          </a:prstGeom>
          <a:noFill/>
          <a:ln>
            <a:noFill/>
          </a:ln>
        </p:spPr>
        <p:txBody>
          <a:bodyPr spcFirstLastPara="1" wrap="square" lIns="91425" tIns="45700" rIns="91425" bIns="45700" anchor="t" anchorCtr="0">
            <a:normAutofit/>
          </a:bodyPr>
          <a:lstStyle/>
          <a:p>
            <a:pPr marL="538163" lvl="0" indent="-538163" algn="l" rtl="0">
              <a:lnSpc>
                <a:spcPct val="90000"/>
              </a:lnSpc>
              <a:spcBef>
                <a:spcPts val="0"/>
              </a:spcBef>
              <a:spcAft>
                <a:spcPts val="0"/>
              </a:spcAft>
              <a:buClr>
                <a:schemeClr val="dk1"/>
              </a:buClr>
              <a:buSzPts val="2800"/>
              <a:buNone/>
              <a:defRPr/>
            </a:pPr>
            <a:r>
              <a:rPr lang="en-US" sz="2800" b="1"/>
              <a:t>1.1 Introduction to Project Management</a:t>
            </a:r>
            <a:endParaRPr b="1"/>
          </a:p>
          <a:p>
            <a:pPr marL="538163" lvl="0" indent="-538163" algn="l" rtl="0">
              <a:lnSpc>
                <a:spcPct val="90000"/>
              </a:lnSpc>
              <a:spcBef>
                <a:spcPts val="1000"/>
              </a:spcBef>
              <a:spcAft>
                <a:spcPts val="0"/>
              </a:spcAft>
              <a:buClr>
                <a:schemeClr val="dk1"/>
              </a:buClr>
              <a:buSzPts val="2800"/>
              <a:buNone/>
              <a:defRPr/>
            </a:pPr>
            <a:r>
              <a:rPr lang="en-US" sz="2800" b="1"/>
              <a:t>1.2 Project Life Cycle</a:t>
            </a:r>
            <a:endParaRPr b="1"/>
          </a:p>
          <a:p>
            <a:pPr marL="538163" lvl="0" indent="-538163" algn="l" rtl="0">
              <a:lnSpc>
                <a:spcPct val="90000"/>
              </a:lnSpc>
              <a:spcBef>
                <a:spcPts val="1000"/>
              </a:spcBef>
              <a:spcAft>
                <a:spcPts val="0"/>
              </a:spcAft>
              <a:buClr>
                <a:schemeClr val="dk1"/>
              </a:buClr>
              <a:buSzPts val="2800"/>
              <a:buNone/>
              <a:defRPr/>
            </a:pPr>
            <a:r>
              <a:rPr lang="en-US" sz="2800" b="1"/>
              <a:t>1.3 Project Appraisal</a:t>
            </a:r>
            <a:endParaRPr b="1" strike="sngStrike"/>
          </a:p>
          <a:p>
            <a:pPr marL="538163" lvl="0" indent="-538163" algn="l" rtl="0">
              <a:lnSpc>
                <a:spcPct val="90000"/>
              </a:lnSpc>
              <a:spcBef>
                <a:spcPts val="1000"/>
              </a:spcBef>
              <a:spcAft>
                <a:spcPts val="0"/>
              </a:spcAft>
              <a:buClr>
                <a:schemeClr val="dk1"/>
              </a:buClr>
              <a:buSzPts val="2800"/>
              <a:buNone/>
              <a:defRPr/>
            </a:pPr>
            <a:r>
              <a:rPr lang="en-US" sz="2800" b="1"/>
              <a:t>1.4 Knowledge and Attributes of a Project Manager</a:t>
            </a:r>
            <a:endParaRPr b="1"/>
          </a:p>
          <a:p>
            <a:pPr marL="538163" lvl="0" indent="-538163" algn="l" rtl="0">
              <a:lnSpc>
                <a:spcPct val="90000"/>
              </a:lnSpc>
              <a:spcBef>
                <a:spcPts val="1000"/>
              </a:spcBef>
              <a:spcAft>
                <a:spcPts val="0"/>
              </a:spcAft>
              <a:buClr>
                <a:schemeClr val="dk1"/>
              </a:buClr>
              <a:buSzPts val="2800"/>
              <a:buNone/>
              <a:defRPr/>
            </a:pPr>
            <a:r>
              <a:rPr lang="en-US" sz="2800" b="1"/>
              <a:t>1.5 Project Management Failure</a:t>
            </a:r>
            <a:endParaRPr b="1"/>
          </a:p>
        </p:txBody>
      </p:sp>
      <p:sp>
        <p:nvSpPr>
          <p:cNvPr id="1442606243" name="Google Shape;114;p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2</a:t>
            </a:fld>
            <a:endParaRPr/>
          </a:p>
        </p:txBody>
      </p:sp>
      <p:cxnSp>
        <p:nvCxnSpPr>
          <p:cNvPr id="804937988" name="Google Shape;115;p2"/>
          <p:cNvCxnSpPr/>
          <p:nvPr/>
        </p:nvCxnSpPr>
        <p:spPr bwMode="auto">
          <a:xfrm rot="10800000">
            <a:off x="2209800" y="1447800"/>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944579547" name="Google Shape;106;p1"/>
          <p:cNvSpPr/>
          <p:nvPr/>
        </p:nvSpPr>
        <p:spPr bwMode="auto">
          <a:xfrm>
            <a:off x="2004391" y="826334"/>
            <a:ext cx="512654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defRPr/>
            </a:pPr>
            <a:r>
              <a:rPr lang="en-US" sz="1800" b="1" i="0" u="none" strike="noStrike" cap="none">
                <a:solidFill>
                  <a:srgbClr val="FF0000"/>
                </a:solidFill>
                <a:latin typeface="Open Sans"/>
                <a:ea typeface="Open Sans"/>
                <a:cs typeface="Open Sans"/>
              </a:rPr>
              <a:t>Chapter 1</a:t>
            </a:r>
            <a:endParaRPr>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87753208">
                                            <p:txEl>
                                              <p:pRg st="0" end="0"/>
                                            </p:txEl>
                                          </p:spTgt>
                                        </p:tgtEl>
                                        <p:attrNameLst>
                                          <p:attrName>style.visibility</p:attrName>
                                        </p:attrNameLst>
                                      </p:cBhvr>
                                      <p:to>
                                        <p:strVal val="visible"/>
                                      </p:to>
                                    </p:set>
                                    <p:animEffect transition="in" filter="wipe(left)">
                                      <p:cBhvr>
                                        <p:cTn id="7" dur="500"/>
                                        <p:tgtEl>
                                          <p:spTgt spid="1187753208">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87753208">
                                            <p:txEl>
                                              <p:pRg st="1" end="1"/>
                                            </p:txEl>
                                          </p:spTgt>
                                        </p:tgtEl>
                                        <p:attrNameLst>
                                          <p:attrName>style.visibility</p:attrName>
                                        </p:attrNameLst>
                                      </p:cBhvr>
                                      <p:to>
                                        <p:strVal val="visible"/>
                                      </p:to>
                                    </p:set>
                                    <p:animEffect transition="in" filter="wipe(left)">
                                      <p:cBhvr>
                                        <p:cTn id="10" dur="500"/>
                                        <p:tgtEl>
                                          <p:spTgt spid="1187753208">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187753208">
                                            <p:txEl>
                                              <p:pRg st="2" end="2"/>
                                            </p:txEl>
                                          </p:spTgt>
                                        </p:tgtEl>
                                        <p:attrNameLst>
                                          <p:attrName>style.visibility</p:attrName>
                                        </p:attrNameLst>
                                      </p:cBhvr>
                                      <p:to>
                                        <p:strVal val="visible"/>
                                      </p:to>
                                    </p:set>
                                    <p:animEffect transition="in" filter="wipe(left)">
                                      <p:cBhvr>
                                        <p:cTn id="13" dur="500"/>
                                        <p:tgtEl>
                                          <p:spTgt spid="1187753208">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187753208">
                                            <p:txEl>
                                              <p:pRg st="3" end="3"/>
                                            </p:txEl>
                                          </p:spTgt>
                                        </p:tgtEl>
                                        <p:attrNameLst>
                                          <p:attrName>style.visibility</p:attrName>
                                        </p:attrNameLst>
                                      </p:cBhvr>
                                      <p:to>
                                        <p:strVal val="visible"/>
                                      </p:to>
                                    </p:set>
                                    <p:animEffect transition="in" filter="wipe(left)">
                                      <p:cBhvr>
                                        <p:cTn id="16" dur="500"/>
                                        <p:tgtEl>
                                          <p:spTgt spid="1187753208">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187753208">
                                            <p:txEl>
                                              <p:pRg st="4" end="4"/>
                                            </p:txEl>
                                          </p:spTgt>
                                        </p:tgtEl>
                                        <p:attrNameLst>
                                          <p:attrName>style.visibility</p:attrName>
                                        </p:attrNameLst>
                                      </p:cBhvr>
                                      <p:to>
                                        <p:strVal val="visible"/>
                                      </p:to>
                                    </p:set>
                                    <p:animEffect transition="in" filter="wipe(left)">
                                      <p:cBhvr>
                                        <p:cTn id="19" dur="500"/>
                                        <p:tgtEl>
                                          <p:spTgt spid="118775320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753208" grpId="0" build="p"/>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9888118" name="Google Shape;120;p3"/>
          <p:cNvSpPr txBox="1">
            <a:spLocks noGrp="1"/>
          </p:cNvSpPr>
          <p:nvPr>
            <p:ph type="ctrTitle"/>
          </p:nvPr>
        </p:nvSpPr>
        <p:spPr bwMode="auto">
          <a:xfrm>
            <a:off x="5760638" y="762000"/>
            <a:ext cx="6398362" cy="1295400"/>
          </a:xfrm>
          <a:prstGeom prst="rect">
            <a:avLst/>
          </a:prstGeom>
          <a:noFill/>
          <a:ln>
            <a:noFill/>
          </a:ln>
        </p:spPr>
        <p:txBody>
          <a:bodyPr spcFirstLastPara="1" wrap="square" lIns="91425" tIns="45700" rIns="91425" bIns="45700" anchor="b" anchorCtr="0">
            <a:normAutofit fontScale="90000"/>
          </a:bodyPr>
          <a:lstStyle/>
          <a:p>
            <a:pPr marL="720724" lvl="0" indent="-720724" algn="l" rtl="0">
              <a:lnSpc>
                <a:spcPct val="90000"/>
              </a:lnSpc>
              <a:spcBef>
                <a:spcPts val="0"/>
              </a:spcBef>
              <a:spcAft>
                <a:spcPts val="0"/>
              </a:spcAft>
              <a:buClr>
                <a:schemeClr val="dk1"/>
              </a:buClr>
              <a:buSzPct val="100000"/>
              <a:buFont typeface="Calibri"/>
              <a:buNone/>
              <a:defRPr/>
            </a:pPr>
            <a:r>
              <a:rPr lang="en-US" sz="4400" b="1"/>
              <a:t>1.1 An Introduction to Project Management</a:t>
            </a:r>
            <a:endParaRPr sz="4400" b="1"/>
          </a:p>
        </p:txBody>
      </p:sp>
      <p:sp>
        <p:nvSpPr>
          <p:cNvPr id="1015081079" name="Google Shape;121;p3"/>
          <p:cNvSpPr txBox="1">
            <a:spLocks noGrp="1"/>
          </p:cNvSpPr>
          <p:nvPr>
            <p:ph type="subTitle" idx="1"/>
          </p:nvPr>
        </p:nvSpPr>
        <p:spPr bwMode="auto">
          <a:xfrm>
            <a:off x="5760638" y="2720975"/>
            <a:ext cx="6449962" cy="2971800"/>
          </a:xfrm>
          <a:prstGeom prst="rect">
            <a:avLst/>
          </a:prstGeom>
          <a:noFill/>
          <a:ln>
            <a:noFill/>
          </a:ln>
        </p:spPr>
        <p:txBody>
          <a:bodyPr spcFirstLastPara="1" wrap="square" lIns="91425" tIns="45700" rIns="91425" bIns="45700" anchor="t" anchorCtr="0">
            <a:normAutofit/>
          </a:bodyPr>
          <a:lstStyle/>
          <a:p>
            <a:pPr indent="-457200" algn="l">
              <a:spcBef>
                <a:spcPts val="0"/>
              </a:spcBef>
              <a:buSzPts val="2800"/>
              <a:buFont typeface="Arial"/>
              <a:buChar char="•"/>
              <a:defRPr/>
            </a:pPr>
            <a:r>
              <a:rPr lang="en-US" sz="2800"/>
              <a:t>What is Project Management?</a:t>
            </a:r>
            <a:endParaRPr/>
          </a:p>
          <a:p>
            <a:pPr marL="457200" lvl="0" indent="-457200" algn="l" rtl="0">
              <a:lnSpc>
                <a:spcPct val="90000"/>
              </a:lnSpc>
              <a:spcBef>
                <a:spcPts val="0"/>
              </a:spcBef>
              <a:spcAft>
                <a:spcPts val="0"/>
              </a:spcAft>
              <a:buClr>
                <a:schemeClr val="dk1"/>
              </a:buClr>
              <a:buSzPts val="2800"/>
              <a:buFont typeface="Arial"/>
              <a:buChar char="•"/>
              <a:defRPr/>
            </a:pPr>
            <a:r>
              <a:rPr lang="en-US" sz="2800"/>
              <a:t>What is a Project?</a:t>
            </a:r>
            <a:endParaRPr/>
          </a:p>
          <a:p>
            <a:pPr marL="457200" lvl="0" indent="-457200" algn="l" rtl="0">
              <a:lnSpc>
                <a:spcPct val="90000"/>
              </a:lnSpc>
              <a:spcBef>
                <a:spcPts val="1000"/>
              </a:spcBef>
              <a:spcAft>
                <a:spcPts val="0"/>
              </a:spcAft>
              <a:buClr>
                <a:schemeClr val="dk1"/>
              </a:buClr>
              <a:buSzPts val="2800"/>
              <a:buFont typeface="Arial"/>
              <a:buChar char="•"/>
              <a:defRPr/>
            </a:pPr>
            <a:r>
              <a:rPr lang="en-US" sz="2800"/>
              <a:t>Characteristics of Projects</a:t>
            </a:r>
            <a:endParaRPr/>
          </a:p>
          <a:p>
            <a:pPr marL="457200" lvl="0" indent="-457200" algn="l" rtl="0">
              <a:lnSpc>
                <a:spcPct val="90000"/>
              </a:lnSpc>
              <a:spcBef>
                <a:spcPts val="1000"/>
              </a:spcBef>
              <a:spcAft>
                <a:spcPts val="0"/>
              </a:spcAft>
              <a:buClr>
                <a:schemeClr val="dk1"/>
              </a:buClr>
              <a:buSzPts val="2800"/>
              <a:buFont typeface="Arial"/>
              <a:buChar char="•"/>
              <a:defRPr/>
            </a:pPr>
            <a:r>
              <a:rPr lang="en-US" sz="2800"/>
              <a:t>Software vs Other Types of Projects</a:t>
            </a:r>
            <a:endParaRPr/>
          </a:p>
          <a:p>
            <a:pPr marL="457200" lvl="0" indent="-457200" algn="l" rtl="0">
              <a:lnSpc>
                <a:spcPct val="90000"/>
              </a:lnSpc>
              <a:spcBef>
                <a:spcPts val="1000"/>
              </a:spcBef>
              <a:spcAft>
                <a:spcPts val="0"/>
              </a:spcAft>
              <a:buClr>
                <a:schemeClr val="dk1"/>
              </a:buClr>
              <a:buSzPts val="2800"/>
              <a:buFont typeface="Arial"/>
              <a:buChar char="•"/>
              <a:defRPr/>
            </a:pPr>
            <a:r>
              <a:rPr lang="en-US" sz="2800"/>
              <a:t>Constraints in Projects</a:t>
            </a:r>
            <a:endParaRPr/>
          </a:p>
          <a:p>
            <a:pPr marL="457200" lvl="0" indent="-279400" algn="l" rtl="0">
              <a:lnSpc>
                <a:spcPct val="90000"/>
              </a:lnSpc>
              <a:spcBef>
                <a:spcPts val="1000"/>
              </a:spcBef>
              <a:spcAft>
                <a:spcPts val="0"/>
              </a:spcAft>
              <a:buClr>
                <a:schemeClr val="dk1"/>
              </a:buClr>
              <a:buSzPts val="2800"/>
              <a:buFont typeface="Arial"/>
              <a:buNone/>
              <a:defRPr/>
            </a:pPr>
            <a:endParaRPr sz="2800"/>
          </a:p>
        </p:txBody>
      </p:sp>
      <p:sp>
        <p:nvSpPr>
          <p:cNvPr id="867793075" name="Google Shape;122;p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3</a:t>
            </a:fld>
            <a:endParaRPr/>
          </a:p>
        </p:txBody>
      </p:sp>
      <p:pic>
        <p:nvPicPr>
          <p:cNvPr id="2113534352" name="Google Shape;123;p3"/>
          <p:cNvPicPr/>
          <p:nvPr/>
        </p:nvPicPr>
        <p:blipFill rotWithShape="1">
          <a:blip r:embed="rId3">
            <a:alphaModFix/>
          </a:blip>
          <a:stretch/>
        </p:blipFill>
        <p:spPr bwMode="auto">
          <a:xfrm>
            <a:off x="0" y="1"/>
            <a:ext cx="5638800" cy="6858000"/>
          </a:xfrm>
          <a:prstGeom prst="rect">
            <a:avLst/>
          </a:prstGeom>
          <a:noFill/>
          <a:ln>
            <a:noFill/>
          </a:ln>
        </p:spPr>
      </p:pic>
      <p:cxnSp>
        <p:nvCxnSpPr>
          <p:cNvPr id="873153021" name="Google Shape;124;p3"/>
          <p:cNvCxnSpPr/>
          <p:nvPr/>
        </p:nvCxnSpPr>
        <p:spPr bwMode="auto">
          <a:xfrm rot="10800000">
            <a:off x="8305800" y="2133600"/>
            <a:ext cx="1023822" cy="0"/>
          </a:xfrm>
          <a:prstGeom prst="straightConnector1">
            <a:avLst/>
          </a:prstGeom>
          <a:noFill/>
          <a:ln w="28575" cap="flat" cmpd="sng">
            <a:solidFill>
              <a:srgbClr val="3F3F3F"/>
            </a:solidFill>
            <a:prstDash val="solid"/>
            <a:miter lim="800000"/>
            <a:headEnd type="none" w="sm" len="sm"/>
            <a:tailEnd type="none" w="sm" len="sm"/>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999888118"/>
                                        </p:tgtEl>
                                        <p:attrNameLst>
                                          <p:attrName>style.visibility</p:attrName>
                                        </p:attrNameLst>
                                      </p:cBhvr>
                                      <p:to>
                                        <p:strVal val="visible"/>
                                      </p:to>
                                    </p:set>
                                    <p:anim calcmode="lin" valueType="num">
                                      <p:cBhvr additive="base">
                                        <p:cTn id="7" dur="500" fill="hold"/>
                                        <p:tgtEl>
                                          <p:spTgt spid="999888118"/>
                                        </p:tgtEl>
                                        <p:attrNameLst>
                                          <p:attrName>ppt_x</p:attrName>
                                        </p:attrNameLst>
                                      </p:cBhvr>
                                      <p:tavLst>
                                        <p:tav tm="0">
                                          <p:val>
                                            <p:strVal val="#ppt_x"/>
                                          </p:val>
                                        </p:tav>
                                        <p:tav tm="100000">
                                          <p:val>
                                            <p:strVal val="#ppt_x"/>
                                          </p:val>
                                        </p:tav>
                                      </p:tavLst>
                                    </p:anim>
                                    <p:anim calcmode="lin" valueType="num">
                                      <p:cBhvr additive="base">
                                        <p:cTn id="8" dur="500" fill="hold"/>
                                        <p:tgtEl>
                                          <p:spTgt spid="9998881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9888118" grpId="0"/>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7709632" name="Google Shape;149;p6"/>
          <p:cNvSpPr txBox="1">
            <a:spLocks noGrp="1"/>
          </p:cNvSpPr>
          <p:nvPr>
            <p:ph type="title"/>
          </p:nvPr>
        </p:nvSpPr>
        <p:spPr bwMode="auto">
          <a:xfrm>
            <a:off x="838200" y="365125"/>
            <a:ext cx="10515600" cy="78762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defRPr/>
            </a:pPr>
            <a:r>
              <a:rPr lang="en-US" b="1"/>
              <a:t>What is Project Management? </a:t>
            </a:r>
            <a:endParaRPr/>
          </a:p>
        </p:txBody>
      </p:sp>
      <p:sp>
        <p:nvSpPr>
          <p:cNvPr id="293841959" name="Google Shape;150;p6"/>
          <p:cNvSpPr txBox="1">
            <a:spLocks noGrp="1"/>
          </p:cNvSpPr>
          <p:nvPr>
            <p:ph type="body" idx="1"/>
          </p:nvPr>
        </p:nvSpPr>
        <p:spPr bwMode="auto">
          <a:xfrm>
            <a:off x="5385275" y="1677065"/>
            <a:ext cx="6925545" cy="467928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ct val="100000"/>
              <a:buChar char="•"/>
              <a:defRPr/>
            </a:pPr>
            <a:r>
              <a:rPr lang="en-US" sz="2800" b="1">
                <a:solidFill>
                  <a:schemeClr val="tx1"/>
                </a:solidFill>
              </a:rPr>
              <a:t>Planning</a:t>
            </a:r>
            <a:r>
              <a:rPr lang="en-US" sz="2800">
                <a:solidFill>
                  <a:schemeClr val="tx1"/>
                </a:solidFill>
              </a:rPr>
              <a:t> </a:t>
            </a:r>
            <a:r>
              <a:rPr lang="en-US" sz="2800">
                <a:solidFill>
                  <a:schemeClr val="tx2"/>
                </a:solidFill>
              </a:rPr>
              <a:t>- deciding what to be done (Project Initiation Document [PID] needs to be created)</a:t>
            </a:r>
            <a:endParaRPr sz="2800">
              <a:solidFill>
                <a:schemeClr val="tx2"/>
              </a:solidFill>
            </a:endParaRPr>
          </a:p>
          <a:p>
            <a:pPr marL="228600" lvl="0" indent="-228600" algn="l" rtl="0">
              <a:lnSpc>
                <a:spcPct val="90000"/>
              </a:lnSpc>
              <a:spcBef>
                <a:spcPts val="1000"/>
              </a:spcBef>
              <a:spcAft>
                <a:spcPts val="0"/>
              </a:spcAft>
              <a:buClr>
                <a:schemeClr val="dk1"/>
              </a:buClr>
              <a:buSzPct val="100000"/>
              <a:buChar char="•"/>
              <a:defRPr/>
            </a:pPr>
            <a:r>
              <a:rPr lang="en-US" sz="2800" b="1"/>
              <a:t>Organising</a:t>
            </a:r>
            <a:r>
              <a:rPr lang="en-US" sz="2800"/>
              <a:t> </a:t>
            </a:r>
            <a:r>
              <a:rPr lang="en-US" sz="2800">
                <a:solidFill>
                  <a:schemeClr val="tx2"/>
                </a:solidFill>
              </a:rPr>
              <a:t>- making arrangement</a:t>
            </a:r>
            <a:endParaRPr>
              <a:solidFill>
                <a:schemeClr val="tx2"/>
              </a:solidFill>
            </a:endParaRPr>
          </a:p>
          <a:p>
            <a:pPr marL="228600" lvl="0" indent="-228600" algn="l" rtl="0">
              <a:lnSpc>
                <a:spcPct val="90000"/>
              </a:lnSpc>
              <a:spcBef>
                <a:spcPts val="1000"/>
              </a:spcBef>
              <a:spcAft>
                <a:spcPts val="0"/>
              </a:spcAft>
              <a:buClr>
                <a:schemeClr val="dk1"/>
              </a:buClr>
              <a:buSzPct val="100000"/>
              <a:buChar char="•"/>
              <a:defRPr/>
            </a:pPr>
            <a:r>
              <a:rPr lang="en-US" sz="2800" b="1"/>
              <a:t>Staffing</a:t>
            </a:r>
            <a:r>
              <a:rPr lang="en-US" sz="2800"/>
              <a:t> </a:t>
            </a:r>
            <a:r>
              <a:rPr lang="en-US" sz="2800">
                <a:solidFill>
                  <a:schemeClr val="tx2"/>
                </a:solidFill>
              </a:rPr>
              <a:t>- select personnel</a:t>
            </a:r>
            <a:endParaRPr>
              <a:solidFill>
                <a:schemeClr val="tx2"/>
              </a:solidFill>
            </a:endParaRPr>
          </a:p>
          <a:p>
            <a:pPr marL="228600" lvl="0" indent="-228600" algn="l" rtl="0">
              <a:lnSpc>
                <a:spcPct val="90000"/>
              </a:lnSpc>
              <a:spcBef>
                <a:spcPts val="1000"/>
              </a:spcBef>
              <a:spcAft>
                <a:spcPts val="0"/>
              </a:spcAft>
              <a:buClr>
                <a:schemeClr val="dk1"/>
              </a:buClr>
              <a:buSzPct val="100000"/>
              <a:buChar char="•"/>
              <a:defRPr/>
            </a:pPr>
            <a:r>
              <a:rPr lang="en-US" sz="2800" b="1"/>
              <a:t>Directing</a:t>
            </a:r>
            <a:r>
              <a:rPr lang="en-US" sz="2800"/>
              <a:t> </a:t>
            </a:r>
            <a:r>
              <a:rPr lang="en-US" sz="2800">
                <a:solidFill>
                  <a:schemeClr val="tx2"/>
                </a:solidFill>
              </a:rPr>
              <a:t>- give instructions</a:t>
            </a:r>
            <a:endParaRPr>
              <a:solidFill>
                <a:schemeClr val="tx2"/>
              </a:solidFill>
            </a:endParaRPr>
          </a:p>
          <a:p>
            <a:pPr marL="228600" lvl="0" indent="-228600" algn="l" rtl="0">
              <a:lnSpc>
                <a:spcPct val="90000"/>
              </a:lnSpc>
              <a:spcBef>
                <a:spcPts val="1000"/>
              </a:spcBef>
              <a:spcAft>
                <a:spcPts val="0"/>
              </a:spcAft>
              <a:buClr>
                <a:schemeClr val="dk1"/>
              </a:buClr>
              <a:buSzPct val="100000"/>
              <a:buChar char="•"/>
              <a:defRPr/>
            </a:pPr>
            <a:r>
              <a:rPr lang="en-US" sz="2800" b="1"/>
              <a:t>Monitoring</a:t>
            </a:r>
            <a:r>
              <a:rPr lang="en-US" sz="2800"/>
              <a:t> </a:t>
            </a:r>
            <a:r>
              <a:rPr lang="en-US" sz="2800">
                <a:solidFill>
                  <a:schemeClr val="tx2"/>
                </a:solidFill>
              </a:rPr>
              <a:t>- check on progress</a:t>
            </a:r>
            <a:endParaRPr>
              <a:solidFill>
                <a:schemeClr val="tx2"/>
              </a:solidFill>
            </a:endParaRPr>
          </a:p>
          <a:p>
            <a:pPr marL="228600" lvl="0" indent="-228600" algn="l" rtl="0">
              <a:lnSpc>
                <a:spcPct val="90000"/>
              </a:lnSpc>
              <a:spcBef>
                <a:spcPts val="1000"/>
              </a:spcBef>
              <a:spcAft>
                <a:spcPts val="0"/>
              </a:spcAft>
              <a:buClr>
                <a:schemeClr val="dk1"/>
              </a:buClr>
              <a:buSzPct val="100000"/>
              <a:buChar char="•"/>
              <a:defRPr/>
            </a:pPr>
            <a:r>
              <a:rPr lang="en-US" sz="2800" b="1"/>
              <a:t>Controlling</a:t>
            </a:r>
            <a:r>
              <a:rPr lang="en-US" sz="2800"/>
              <a:t> </a:t>
            </a:r>
            <a:r>
              <a:rPr lang="en-US" sz="2800">
                <a:solidFill>
                  <a:schemeClr val="tx2"/>
                </a:solidFill>
              </a:rPr>
              <a:t>- remedy hold-ups</a:t>
            </a:r>
            <a:endParaRPr>
              <a:solidFill>
                <a:schemeClr val="tx2"/>
              </a:solidFill>
            </a:endParaRPr>
          </a:p>
          <a:p>
            <a:pPr marL="228600" lvl="0" indent="-228600" algn="l" rtl="0">
              <a:lnSpc>
                <a:spcPct val="90000"/>
              </a:lnSpc>
              <a:spcBef>
                <a:spcPts val="1000"/>
              </a:spcBef>
              <a:spcAft>
                <a:spcPts val="0"/>
              </a:spcAft>
              <a:buClr>
                <a:schemeClr val="dk1"/>
              </a:buClr>
              <a:buSzPct val="100000"/>
              <a:buChar char="•"/>
              <a:defRPr/>
            </a:pPr>
            <a:r>
              <a:rPr lang="en-US" sz="2800" b="1"/>
              <a:t>Innovating</a:t>
            </a:r>
            <a:r>
              <a:rPr lang="en-US" sz="2800">
                <a:solidFill>
                  <a:schemeClr val="tx2"/>
                </a:solidFill>
              </a:rPr>
              <a:t> - coming up with new solutions</a:t>
            </a:r>
            <a:endParaRPr>
              <a:solidFill>
                <a:schemeClr val="tx2"/>
              </a:solidFill>
            </a:endParaRPr>
          </a:p>
          <a:p>
            <a:pPr marL="228600" lvl="0" indent="-228600" algn="r" rtl="0">
              <a:lnSpc>
                <a:spcPct val="90000"/>
              </a:lnSpc>
              <a:spcBef>
                <a:spcPts val="1000"/>
              </a:spcBef>
              <a:spcAft>
                <a:spcPts val="0"/>
              </a:spcAft>
              <a:buClr>
                <a:schemeClr val="dk1"/>
              </a:buClr>
              <a:buSzPct val="100000"/>
              <a:buFont typeface="Calibri"/>
              <a:buNone/>
              <a:defRPr/>
            </a:pPr>
            <a:endParaRPr sz="2800"/>
          </a:p>
        </p:txBody>
      </p:sp>
      <p:sp>
        <p:nvSpPr>
          <p:cNvPr id="1025343852" name="Google Shape;151;p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4</a:t>
            </a:fld>
            <a:endParaRPr/>
          </a:p>
        </p:txBody>
      </p:sp>
      <p:sp>
        <p:nvSpPr>
          <p:cNvPr id="694329453" name="Google Shape;152;p6"/>
          <p:cNvSpPr txBox="1"/>
          <p:nvPr/>
        </p:nvSpPr>
        <p:spPr bwMode="auto">
          <a:xfrm>
            <a:off x="4267200" y="1066800"/>
            <a:ext cx="4191000" cy="3508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1.1 Introduction to Project Management</a:t>
            </a:r>
            <a:endParaRPr/>
          </a:p>
        </p:txBody>
      </p:sp>
      <p:grpSp>
        <p:nvGrpSpPr>
          <p:cNvPr id="1150978635" name="Google Shape;154;p6"/>
          <p:cNvGrpSpPr/>
          <p:nvPr/>
        </p:nvGrpSpPr>
        <p:grpSpPr bwMode="auto">
          <a:xfrm>
            <a:off x="152399" y="1076358"/>
            <a:ext cx="2148830" cy="1228659"/>
            <a:chOff x="2728025" y="71"/>
            <a:chExt cx="1310630" cy="1506471"/>
          </a:xfrm>
        </p:grpSpPr>
        <p:sp>
          <p:nvSpPr>
            <p:cNvPr id="155" name="Google Shape;155;p6"/>
            <p:cNvSpPr/>
            <p:nvPr/>
          </p:nvSpPr>
          <p:spPr bwMode="auto">
            <a:xfrm rot="5400000">
              <a:off x="2630104" y="97992"/>
              <a:ext cx="1506471" cy="1310630"/>
            </a:xfrm>
            <a:prstGeom prst="hexagon">
              <a:avLst>
                <a:gd name="adj" fmla="val 25000"/>
                <a:gd name="vf" fmla="val 115470"/>
              </a:avLst>
            </a:prstGeom>
            <a:solidFill>
              <a:srgbClr val="A8D08C"/>
            </a:solidFill>
            <a:ln>
              <a:noFill/>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b="1">
                <a:solidFill>
                  <a:schemeClr val="dk1"/>
                </a:solidFill>
                <a:latin typeface="Calibri"/>
                <a:ea typeface="Calibri"/>
                <a:cs typeface="Calibri"/>
              </a:endParaRPr>
            </a:p>
          </p:txBody>
        </p:sp>
        <p:sp>
          <p:nvSpPr>
            <p:cNvPr id="156" name="Google Shape;156;p6"/>
            <p:cNvSpPr/>
            <p:nvPr/>
          </p:nvSpPr>
          <p:spPr bwMode="auto">
            <a:xfrm>
              <a:off x="2932264" y="234830"/>
              <a:ext cx="902150" cy="1036955"/>
            </a:xfrm>
            <a:prstGeom prst="rect">
              <a:avLst/>
            </a:prstGeom>
            <a:solidFill>
              <a:srgbClr val="A8D08C"/>
            </a:solid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None/>
                <a:defRPr/>
              </a:pPr>
              <a:r>
                <a:rPr lang="en-US" sz="2400" b="1">
                  <a:solidFill>
                    <a:schemeClr val="bg1">
                      <a:lumMod val="50000"/>
                    </a:schemeClr>
                  </a:solidFill>
                  <a:latin typeface="Calibri"/>
                  <a:ea typeface="Calibri"/>
                  <a:cs typeface="Calibri"/>
                </a:rPr>
                <a:t>Planning</a:t>
              </a:r>
              <a:endParaRPr sz="2400" b="1">
                <a:solidFill>
                  <a:schemeClr val="bg1">
                    <a:lumMod val="50000"/>
                  </a:schemeClr>
                </a:solidFill>
                <a:latin typeface="Calibri"/>
                <a:ea typeface="Calibri"/>
                <a:cs typeface="Calibri"/>
              </a:endParaRPr>
            </a:p>
          </p:txBody>
        </p:sp>
      </p:grpSp>
      <p:grpSp>
        <p:nvGrpSpPr>
          <p:cNvPr id="280310337" name="Google Shape;157;p6"/>
          <p:cNvGrpSpPr/>
          <p:nvPr/>
        </p:nvGrpSpPr>
        <p:grpSpPr bwMode="auto">
          <a:xfrm>
            <a:off x="1561672" y="1882155"/>
            <a:ext cx="2148830" cy="1228659"/>
            <a:chOff x="2728025" y="71"/>
            <a:chExt cx="1310630" cy="1506471"/>
          </a:xfrm>
        </p:grpSpPr>
        <p:sp>
          <p:nvSpPr>
            <p:cNvPr id="158" name="Google Shape;158;p6"/>
            <p:cNvSpPr/>
            <p:nvPr/>
          </p:nvSpPr>
          <p:spPr bwMode="auto">
            <a:xfrm rot="5400000">
              <a:off x="2630104" y="97992"/>
              <a:ext cx="1506471" cy="1310630"/>
            </a:xfrm>
            <a:prstGeom prst="hexagon">
              <a:avLst>
                <a:gd name="adj" fmla="val 25000"/>
                <a:gd name="vf" fmla="val 115470"/>
              </a:avLst>
            </a:prstGeom>
            <a:solidFill>
              <a:srgbClr val="A8D08C"/>
            </a:solidFill>
            <a:ln>
              <a:noFill/>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b="1">
                <a:solidFill>
                  <a:schemeClr val="lt1"/>
                </a:solidFill>
                <a:latin typeface="Calibri"/>
                <a:ea typeface="Calibri"/>
                <a:cs typeface="Calibri"/>
              </a:endParaRPr>
            </a:p>
          </p:txBody>
        </p:sp>
        <p:sp>
          <p:nvSpPr>
            <p:cNvPr id="159" name="Google Shape;159;p6"/>
            <p:cNvSpPr/>
            <p:nvPr/>
          </p:nvSpPr>
          <p:spPr bwMode="auto">
            <a:xfrm>
              <a:off x="2932264" y="234830"/>
              <a:ext cx="902150" cy="1036955"/>
            </a:xfrm>
            <a:prstGeom prst="rect">
              <a:avLst/>
            </a:prstGeom>
            <a:solidFill>
              <a:srgbClr val="A8D08C"/>
            </a:solid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None/>
                <a:defRPr/>
              </a:pPr>
              <a:r>
                <a:rPr lang="en-US" sz="2400" b="1">
                  <a:solidFill>
                    <a:schemeClr val="bg1">
                      <a:lumMod val="50000"/>
                    </a:schemeClr>
                  </a:solidFill>
                  <a:latin typeface="Calibri"/>
                  <a:ea typeface="Calibri"/>
                  <a:cs typeface="Calibri"/>
                </a:rPr>
                <a:t>Organising</a:t>
              </a:r>
              <a:r>
                <a:rPr lang="en-US" sz="2400" b="1">
                  <a:solidFill>
                    <a:schemeClr val="dk1"/>
                  </a:solidFill>
                  <a:latin typeface="Calibri"/>
                  <a:ea typeface="Calibri"/>
                  <a:cs typeface="Calibri"/>
                </a:rPr>
                <a:t> </a:t>
              </a:r>
              <a:endParaRPr sz="2400" b="1">
                <a:solidFill>
                  <a:schemeClr val="dk1"/>
                </a:solidFill>
                <a:latin typeface="Calibri"/>
                <a:ea typeface="Calibri"/>
                <a:cs typeface="Calibri"/>
              </a:endParaRPr>
            </a:p>
          </p:txBody>
        </p:sp>
      </p:grpSp>
      <p:grpSp>
        <p:nvGrpSpPr>
          <p:cNvPr id="1608820837" name="Google Shape;160;p6"/>
          <p:cNvGrpSpPr/>
          <p:nvPr/>
        </p:nvGrpSpPr>
        <p:grpSpPr bwMode="auto">
          <a:xfrm>
            <a:off x="2857499" y="2789236"/>
            <a:ext cx="2148830" cy="1228659"/>
            <a:chOff x="2728025" y="71"/>
            <a:chExt cx="1310630" cy="1506471"/>
          </a:xfrm>
        </p:grpSpPr>
        <p:sp>
          <p:nvSpPr>
            <p:cNvPr id="161" name="Google Shape;161;p6"/>
            <p:cNvSpPr/>
            <p:nvPr/>
          </p:nvSpPr>
          <p:spPr bwMode="auto">
            <a:xfrm rot="5400000">
              <a:off x="2630104" y="97992"/>
              <a:ext cx="1506471" cy="1310630"/>
            </a:xfrm>
            <a:prstGeom prst="hexagon">
              <a:avLst>
                <a:gd name="adj" fmla="val 25000"/>
                <a:gd name="vf" fmla="val 115470"/>
              </a:avLst>
            </a:prstGeom>
            <a:solidFill>
              <a:srgbClr val="A8D08C"/>
            </a:solidFill>
            <a:ln>
              <a:noFill/>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b="1">
                <a:solidFill>
                  <a:schemeClr val="lt1"/>
                </a:solidFill>
                <a:latin typeface="Calibri"/>
                <a:ea typeface="Calibri"/>
                <a:cs typeface="Calibri"/>
              </a:endParaRPr>
            </a:p>
          </p:txBody>
        </p:sp>
        <p:sp>
          <p:nvSpPr>
            <p:cNvPr id="162" name="Google Shape;162;p6"/>
            <p:cNvSpPr/>
            <p:nvPr/>
          </p:nvSpPr>
          <p:spPr bwMode="auto">
            <a:xfrm>
              <a:off x="2932264" y="234830"/>
              <a:ext cx="902150" cy="1036955"/>
            </a:xfrm>
            <a:prstGeom prst="rect">
              <a:avLst/>
            </a:prstGeom>
            <a:solidFill>
              <a:srgbClr val="A8D08C"/>
            </a:solid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None/>
                <a:defRPr/>
              </a:pPr>
              <a:r>
                <a:rPr lang="en-US" sz="2400" b="1">
                  <a:solidFill>
                    <a:schemeClr val="bg1">
                      <a:lumMod val="50000"/>
                    </a:schemeClr>
                  </a:solidFill>
                  <a:latin typeface="Calibri"/>
                  <a:ea typeface="Calibri"/>
                  <a:cs typeface="Calibri"/>
                </a:rPr>
                <a:t>Staffing</a:t>
              </a:r>
              <a:r>
                <a:rPr lang="en-US" sz="2400" b="1">
                  <a:solidFill>
                    <a:schemeClr val="dk1"/>
                  </a:solidFill>
                  <a:latin typeface="Calibri"/>
                  <a:ea typeface="Calibri"/>
                  <a:cs typeface="Calibri"/>
                </a:rPr>
                <a:t> </a:t>
              </a:r>
              <a:endParaRPr sz="2400" b="1">
                <a:solidFill>
                  <a:schemeClr val="dk1"/>
                </a:solidFill>
                <a:latin typeface="Calibri"/>
                <a:ea typeface="Calibri"/>
                <a:cs typeface="Calibri"/>
              </a:endParaRPr>
            </a:p>
          </p:txBody>
        </p:sp>
      </p:grpSp>
      <p:grpSp>
        <p:nvGrpSpPr>
          <p:cNvPr id="2053179306" name="Google Shape;163;p6"/>
          <p:cNvGrpSpPr/>
          <p:nvPr/>
        </p:nvGrpSpPr>
        <p:grpSpPr bwMode="auto">
          <a:xfrm>
            <a:off x="1881501" y="3782497"/>
            <a:ext cx="2148830" cy="1228659"/>
            <a:chOff x="2728025" y="71"/>
            <a:chExt cx="1310630" cy="1506471"/>
          </a:xfrm>
        </p:grpSpPr>
        <p:sp>
          <p:nvSpPr>
            <p:cNvPr id="164" name="Google Shape;164;p6"/>
            <p:cNvSpPr/>
            <p:nvPr/>
          </p:nvSpPr>
          <p:spPr bwMode="auto">
            <a:xfrm rot="5400000">
              <a:off x="2630104" y="97992"/>
              <a:ext cx="1506471" cy="1310630"/>
            </a:xfrm>
            <a:prstGeom prst="hexagon">
              <a:avLst>
                <a:gd name="adj" fmla="val 25000"/>
                <a:gd name="vf" fmla="val 115470"/>
              </a:avLst>
            </a:prstGeom>
            <a:solidFill>
              <a:srgbClr val="A8D08C"/>
            </a:solidFill>
            <a:ln>
              <a:noFill/>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b="1">
                <a:solidFill>
                  <a:schemeClr val="lt1"/>
                </a:solidFill>
                <a:latin typeface="Calibri"/>
                <a:ea typeface="Calibri"/>
                <a:cs typeface="Calibri"/>
              </a:endParaRPr>
            </a:p>
          </p:txBody>
        </p:sp>
        <p:sp>
          <p:nvSpPr>
            <p:cNvPr id="165" name="Google Shape;165;p6"/>
            <p:cNvSpPr/>
            <p:nvPr/>
          </p:nvSpPr>
          <p:spPr bwMode="auto">
            <a:xfrm>
              <a:off x="2932264" y="234830"/>
              <a:ext cx="902150" cy="1036955"/>
            </a:xfrm>
            <a:prstGeom prst="rect">
              <a:avLst/>
            </a:prstGeom>
            <a:solidFill>
              <a:srgbClr val="A8D08C"/>
            </a:solid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None/>
                <a:defRPr/>
              </a:pPr>
              <a:r>
                <a:rPr lang="en-US" sz="2400" b="1">
                  <a:solidFill>
                    <a:schemeClr val="bg1">
                      <a:lumMod val="50000"/>
                    </a:schemeClr>
                  </a:solidFill>
                  <a:latin typeface="Calibri"/>
                  <a:ea typeface="Calibri"/>
                  <a:cs typeface="Calibri"/>
                </a:rPr>
                <a:t>Directing</a:t>
              </a:r>
              <a:endParaRPr sz="2400" b="1">
                <a:solidFill>
                  <a:schemeClr val="bg1">
                    <a:lumMod val="50000"/>
                  </a:schemeClr>
                </a:solidFill>
                <a:latin typeface="Calibri"/>
                <a:ea typeface="Calibri"/>
                <a:cs typeface="Calibri"/>
              </a:endParaRPr>
            </a:p>
          </p:txBody>
        </p:sp>
      </p:grpSp>
      <p:grpSp>
        <p:nvGrpSpPr>
          <p:cNvPr id="974864733" name="Google Shape;166;p6"/>
          <p:cNvGrpSpPr/>
          <p:nvPr/>
        </p:nvGrpSpPr>
        <p:grpSpPr bwMode="auto">
          <a:xfrm>
            <a:off x="730885" y="4732384"/>
            <a:ext cx="2148830" cy="1228659"/>
            <a:chOff x="2728025" y="71"/>
            <a:chExt cx="1310630" cy="1506471"/>
          </a:xfrm>
        </p:grpSpPr>
        <p:sp>
          <p:nvSpPr>
            <p:cNvPr id="167" name="Google Shape;167;p6"/>
            <p:cNvSpPr/>
            <p:nvPr/>
          </p:nvSpPr>
          <p:spPr bwMode="auto">
            <a:xfrm rot="5400000">
              <a:off x="2630104" y="97992"/>
              <a:ext cx="1506471" cy="1310630"/>
            </a:xfrm>
            <a:prstGeom prst="hexagon">
              <a:avLst>
                <a:gd name="adj" fmla="val 25000"/>
                <a:gd name="vf" fmla="val 115470"/>
              </a:avLst>
            </a:prstGeom>
            <a:solidFill>
              <a:srgbClr val="A8D08C"/>
            </a:solidFill>
            <a:ln>
              <a:noFill/>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b="1">
                <a:solidFill>
                  <a:schemeClr val="lt1"/>
                </a:solidFill>
                <a:latin typeface="Calibri"/>
                <a:ea typeface="Calibri"/>
                <a:cs typeface="Calibri"/>
              </a:endParaRPr>
            </a:p>
          </p:txBody>
        </p:sp>
        <p:sp>
          <p:nvSpPr>
            <p:cNvPr id="168" name="Google Shape;168;p6"/>
            <p:cNvSpPr/>
            <p:nvPr/>
          </p:nvSpPr>
          <p:spPr bwMode="auto">
            <a:xfrm>
              <a:off x="2820978" y="234831"/>
              <a:ext cx="1106391" cy="1036955"/>
            </a:xfrm>
            <a:prstGeom prst="rect">
              <a:avLst/>
            </a:prstGeom>
            <a:solidFill>
              <a:srgbClr val="A8D08C"/>
            </a:solid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None/>
                <a:defRPr/>
              </a:pPr>
              <a:r>
                <a:rPr lang="en-US" sz="2400" b="1">
                  <a:solidFill>
                    <a:schemeClr val="bg1">
                      <a:lumMod val="50000"/>
                    </a:schemeClr>
                  </a:solidFill>
                  <a:latin typeface="Calibri"/>
                  <a:ea typeface="Calibri"/>
                  <a:cs typeface="Calibri"/>
                </a:rPr>
                <a:t>Controlling</a:t>
              </a:r>
              <a:endParaRPr sz="2400" b="1">
                <a:solidFill>
                  <a:schemeClr val="bg1">
                    <a:lumMod val="50000"/>
                  </a:schemeClr>
                </a:solidFill>
                <a:latin typeface="Calibri"/>
                <a:ea typeface="Calibri"/>
                <a:cs typeface="Calibri"/>
              </a:endParaRPr>
            </a:p>
          </p:txBody>
        </p:sp>
      </p:grpSp>
      <p:grpSp>
        <p:nvGrpSpPr>
          <p:cNvPr id="499123787" name="Google Shape;169;p6"/>
          <p:cNvGrpSpPr/>
          <p:nvPr/>
        </p:nvGrpSpPr>
        <p:grpSpPr bwMode="auto">
          <a:xfrm>
            <a:off x="2138574" y="5615688"/>
            <a:ext cx="2148830" cy="1228659"/>
            <a:chOff x="2728025" y="71"/>
            <a:chExt cx="1310630" cy="1506471"/>
          </a:xfrm>
        </p:grpSpPr>
        <p:sp>
          <p:nvSpPr>
            <p:cNvPr id="170" name="Google Shape;170;p6"/>
            <p:cNvSpPr/>
            <p:nvPr/>
          </p:nvSpPr>
          <p:spPr bwMode="auto">
            <a:xfrm rot="5400000">
              <a:off x="2630104" y="97992"/>
              <a:ext cx="1506471" cy="1310630"/>
            </a:xfrm>
            <a:prstGeom prst="hexagon">
              <a:avLst>
                <a:gd name="adj" fmla="val 25000"/>
                <a:gd name="vf" fmla="val 115470"/>
              </a:avLst>
            </a:prstGeom>
            <a:solidFill>
              <a:srgbClr val="A8D08C"/>
            </a:solidFill>
            <a:ln>
              <a:noFill/>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b="1">
                <a:solidFill>
                  <a:schemeClr val="lt1"/>
                </a:solidFill>
                <a:latin typeface="Calibri"/>
                <a:ea typeface="Calibri"/>
                <a:cs typeface="Calibri"/>
              </a:endParaRPr>
            </a:p>
          </p:txBody>
        </p:sp>
        <p:sp>
          <p:nvSpPr>
            <p:cNvPr id="171" name="Google Shape;171;p6"/>
            <p:cNvSpPr/>
            <p:nvPr/>
          </p:nvSpPr>
          <p:spPr bwMode="auto">
            <a:xfrm>
              <a:off x="2820978" y="234831"/>
              <a:ext cx="1106391" cy="1036955"/>
            </a:xfrm>
            <a:prstGeom prst="rect">
              <a:avLst/>
            </a:prstGeom>
            <a:solidFill>
              <a:srgbClr val="A8D08C"/>
            </a:solid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None/>
                <a:defRPr/>
              </a:pPr>
              <a:r>
                <a:rPr lang="en-US" sz="2400" b="1">
                  <a:solidFill>
                    <a:schemeClr val="bg1">
                      <a:lumMod val="50000"/>
                    </a:schemeClr>
                  </a:solidFill>
                  <a:latin typeface="Calibri"/>
                  <a:ea typeface="Calibri"/>
                  <a:cs typeface="Calibri"/>
                </a:rPr>
                <a:t>Innovating</a:t>
              </a:r>
              <a:r>
                <a:rPr lang="en-US" sz="2400" b="1">
                  <a:solidFill>
                    <a:schemeClr val="dk1"/>
                  </a:solidFill>
                  <a:latin typeface="Calibri"/>
                  <a:ea typeface="Calibri"/>
                  <a:cs typeface="Calibri"/>
                </a:rPr>
                <a:t> </a:t>
              </a:r>
              <a:endParaRPr sz="2400" b="1">
                <a:solidFill>
                  <a:schemeClr val="dk1"/>
                </a:solidFill>
                <a:latin typeface="Calibri"/>
                <a:ea typeface="Calibri"/>
                <a:cs typeface="Calibri"/>
              </a:endParaRPr>
            </a:p>
          </p:txBody>
        </p:sp>
      </p:grpSp>
      <p:sp>
        <p:nvSpPr>
          <p:cNvPr id="881612198" name="TextBox 1"/>
          <p:cNvSpPr txBox="1"/>
          <p:nvPr/>
        </p:nvSpPr>
        <p:spPr bwMode="auto">
          <a:xfrm>
            <a:off x="2588105" y="1255842"/>
            <a:ext cx="6574271" cy="523220"/>
          </a:xfrm>
          <a:prstGeom prst="rect">
            <a:avLst/>
          </a:prstGeom>
          <a:noFill/>
        </p:spPr>
        <p:txBody>
          <a:bodyPr wrap="square" rtlCol="0">
            <a:spAutoFit/>
          </a:bodyPr>
          <a:lstStyle/>
          <a:p>
            <a:pPr>
              <a:defRPr/>
            </a:pPr>
            <a:r>
              <a:rPr lang="en-US" sz="2800">
                <a:solidFill>
                  <a:srgbClr val="FF0000"/>
                </a:solidFill>
              </a:rPr>
              <a:t>A discipline that involves:</a:t>
            </a:r>
            <a:endParaRPr lang="en-GB" sz="2800">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7709632"/>
                                        </p:tgtEl>
                                        <p:attrNameLst>
                                          <p:attrName>style.visibility</p:attrName>
                                        </p:attrNameLst>
                                      </p:cBhvr>
                                      <p:to>
                                        <p:strVal val="visible"/>
                                      </p:to>
                                    </p:set>
                                    <p:anim calcmode="lin" valueType="num">
                                      <p:cBhvr additive="base">
                                        <p:cTn id="7" dur="500" fill="hold"/>
                                        <p:tgtEl>
                                          <p:spTgt spid="27709632"/>
                                        </p:tgtEl>
                                        <p:attrNameLst>
                                          <p:attrName>ppt_x</p:attrName>
                                        </p:attrNameLst>
                                      </p:cBhvr>
                                      <p:tavLst>
                                        <p:tav tm="0">
                                          <p:val>
                                            <p:strVal val="#ppt_x"/>
                                          </p:val>
                                        </p:tav>
                                        <p:tav tm="100000">
                                          <p:val>
                                            <p:strVal val="#ppt_x"/>
                                          </p:val>
                                        </p:tav>
                                      </p:tavLst>
                                    </p:anim>
                                    <p:anim calcmode="lin" valueType="num">
                                      <p:cBhvr additive="base">
                                        <p:cTn id="8" dur="500" fill="hold"/>
                                        <p:tgtEl>
                                          <p:spTgt spid="2770963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09632" grpId="0"/>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86148455" name="Google Shape;149;p6"/>
          <p:cNvSpPr txBox="1">
            <a:spLocks noGrp="1"/>
          </p:cNvSpPr>
          <p:nvPr>
            <p:ph type="title"/>
          </p:nvPr>
        </p:nvSpPr>
        <p:spPr bwMode="auto">
          <a:xfrm>
            <a:off x="838200" y="365125"/>
            <a:ext cx="10515600" cy="78762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defRPr/>
            </a:pPr>
            <a:r>
              <a:rPr lang="en-US" b="1"/>
              <a:t>What is Project Management? </a:t>
            </a:r>
            <a:endParaRPr/>
          </a:p>
        </p:txBody>
      </p:sp>
      <p:sp>
        <p:nvSpPr>
          <p:cNvPr id="666019002" name="Google Shape;150;p6"/>
          <p:cNvSpPr txBox="1">
            <a:spLocks noGrp="1"/>
          </p:cNvSpPr>
          <p:nvPr>
            <p:ph type="body" idx="1"/>
          </p:nvPr>
        </p:nvSpPr>
        <p:spPr bwMode="auto">
          <a:xfrm>
            <a:off x="780810" y="2119313"/>
            <a:ext cx="6894549" cy="4679284"/>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ct val="100000"/>
              <a:buChar char="•"/>
              <a:defRPr/>
            </a:pPr>
            <a:r>
              <a:rPr lang="en-US" sz="2800" b="1">
                <a:solidFill>
                  <a:schemeClr val="tx1"/>
                </a:solidFill>
              </a:rPr>
              <a:t>Planning</a:t>
            </a:r>
            <a:r>
              <a:rPr lang="en-US" sz="2800">
                <a:solidFill>
                  <a:schemeClr val="tx1"/>
                </a:solidFill>
              </a:rPr>
              <a:t> - </a:t>
            </a:r>
            <a:r>
              <a:rPr lang="en-US" sz="2600">
                <a:solidFill>
                  <a:schemeClr val="tx1"/>
                </a:solidFill>
              </a:rPr>
              <a:t>deciding </a:t>
            </a:r>
            <a:r>
              <a:rPr lang="en-US" sz="2600" b="1">
                <a:solidFill>
                  <a:schemeClr val="tx1"/>
                </a:solidFill>
              </a:rPr>
              <a:t>what</a:t>
            </a:r>
            <a:r>
              <a:rPr lang="en-US" sz="2600">
                <a:solidFill>
                  <a:schemeClr val="tx1"/>
                </a:solidFill>
              </a:rPr>
              <a:t> needs to be done,                           </a:t>
            </a:r>
            <a:endParaRPr lang="en-US" sz="1600" i="1">
              <a:solidFill>
                <a:schemeClr val="bg1">
                  <a:lumMod val="50000"/>
                </a:schemeClr>
              </a:solidFill>
            </a:endParaRPr>
          </a:p>
          <a:p>
            <a:pPr marL="228600" lvl="0" indent="-228600" algn="l" rtl="0">
              <a:lnSpc>
                <a:spcPct val="90000"/>
              </a:lnSpc>
              <a:spcBef>
                <a:spcPts val="1000"/>
              </a:spcBef>
              <a:spcAft>
                <a:spcPts val="0"/>
              </a:spcAft>
              <a:buClr>
                <a:schemeClr val="dk1"/>
              </a:buClr>
              <a:buSzPct val="100000"/>
              <a:buChar char="•"/>
              <a:defRPr/>
            </a:pPr>
            <a:endParaRPr lang="en-US" sz="800" b="1"/>
          </a:p>
          <a:p>
            <a:pPr marL="228600" lvl="0" indent="-228600" algn="l" rtl="0">
              <a:lnSpc>
                <a:spcPct val="90000"/>
              </a:lnSpc>
              <a:spcBef>
                <a:spcPts val="1000"/>
              </a:spcBef>
              <a:spcAft>
                <a:spcPts val="0"/>
              </a:spcAft>
              <a:buClr>
                <a:schemeClr val="dk1"/>
              </a:buClr>
              <a:buSzPct val="100000"/>
              <a:buChar char="•"/>
              <a:defRPr/>
            </a:pPr>
            <a:r>
              <a:rPr lang="en-US" sz="2800" b="1"/>
              <a:t>Organising</a:t>
            </a:r>
            <a:r>
              <a:rPr lang="en-US" sz="2800"/>
              <a:t> - make arrangement</a:t>
            </a:r>
            <a:endParaRPr lang="en-US"/>
          </a:p>
          <a:p>
            <a:pPr marL="228600" lvl="0" indent="-228600" algn="l" rtl="0">
              <a:lnSpc>
                <a:spcPct val="90000"/>
              </a:lnSpc>
              <a:spcBef>
                <a:spcPts val="1800"/>
              </a:spcBef>
              <a:spcAft>
                <a:spcPts val="0"/>
              </a:spcAft>
              <a:buClr>
                <a:schemeClr val="dk1"/>
              </a:buClr>
              <a:buSzPct val="100000"/>
              <a:buChar char="•"/>
              <a:defRPr/>
            </a:pPr>
            <a:r>
              <a:rPr lang="en-US" sz="2800" b="1"/>
              <a:t>Staffing</a:t>
            </a:r>
            <a:r>
              <a:rPr lang="en-US" sz="2800"/>
              <a:t> - select personnel</a:t>
            </a:r>
            <a:endParaRPr/>
          </a:p>
          <a:p>
            <a:pPr marL="228600" lvl="0" indent="-228600" algn="l" rtl="0">
              <a:lnSpc>
                <a:spcPct val="90000"/>
              </a:lnSpc>
              <a:spcBef>
                <a:spcPts val="1000"/>
              </a:spcBef>
              <a:spcAft>
                <a:spcPts val="0"/>
              </a:spcAft>
              <a:buClr>
                <a:schemeClr val="dk1"/>
              </a:buClr>
              <a:buSzPct val="100000"/>
              <a:buChar char="•"/>
              <a:defRPr/>
            </a:pPr>
            <a:r>
              <a:rPr lang="en-US" sz="2800" b="1"/>
              <a:t>Directing</a:t>
            </a:r>
            <a:r>
              <a:rPr lang="en-US" sz="2800"/>
              <a:t> - give instructions</a:t>
            </a:r>
            <a:endParaRPr/>
          </a:p>
          <a:p>
            <a:pPr marL="228600" lvl="0" indent="-228600" algn="l" rtl="0">
              <a:lnSpc>
                <a:spcPct val="90000"/>
              </a:lnSpc>
              <a:spcBef>
                <a:spcPts val="1000"/>
              </a:spcBef>
              <a:spcAft>
                <a:spcPts val="0"/>
              </a:spcAft>
              <a:buClr>
                <a:schemeClr val="dk1"/>
              </a:buClr>
              <a:buSzPct val="100000"/>
              <a:buChar char="•"/>
              <a:defRPr/>
            </a:pPr>
            <a:r>
              <a:rPr lang="en-US" sz="2800" b="1"/>
              <a:t>Monitoring</a:t>
            </a:r>
            <a:r>
              <a:rPr lang="en-US" sz="2800"/>
              <a:t> - monitor progress</a:t>
            </a:r>
            <a:endParaRPr/>
          </a:p>
          <a:p>
            <a:pPr marL="228600" lvl="0" indent="-228600" algn="l" rtl="0">
              <a:lnSpc>
                <a:spcPct val="90000"/>
              </a:lnSpc>
              <a:spcBef>
                <a:spcPts val="1000"/>
              </a:spcBef>
              <a:spcAft>
                <a:spcPts val="0"/>
              </a:spcAft>
              <a:buClr>
                <a:schemeClr val="dk1"/>
              </a:buClr>
              <a:buSzPct val="100000"/>
              <a:buChar char="•"/>
              <a:defRPr/>
            </a:pPr>
            <a:r>
              <a:rPr lang="en-US" sz="2800" b="1"/>
              <a:t>Controlling</a:t>
            </a:r>
            <a:r>
              <a:rPr lang="en-US" sz="2800"/>
              <a:t> - remedy hold-ups</a:t>
            </a:r>
            <a:endParaRPr/>
          </a:p>
          <a:p>
            <a:pPr marL="228600" lvl="0" indent="-228600" algn="l" rtl="0">
              <a:lnSpc>
                <a:spcPct val="90000"/>
              </a:lnSpc>
              <a:spcBef>
                <a:spcPts val="1000"/>
              </a:spcBef>
              <a:spcAft>
                <a:spcPts val="0"/>
              </a:spcAft>
              <a:buClr>
                <a:schemeClr val="dk1"/>
              </a:buClr>
              <a:buSzPct val="100000"/>
              <a:buChar char="•"/>
              <a:defRPr/>
            </a:pPr>
            <a:r>
              <a:rPr lang="en-US" sz="2800" b="1"/>
              <a:t>Innovating</a:t>
            </a:r>
            <a:r>
              <a:rPr lang="en-US" sz="2800"/>
              <a:t> - coming up with new solutions</a:t>
            </a:r>
            <a:endParaRPr/>
          </a:p>
          <a:p>
            <a:pPr marL="228600" lvl="0" indent="-228600" algn="r" rtl="0">
              <a:lnSpc>
                <a:spcPct val="90000"/>
              </a:lnSpc>
              <a:spcBef>
                <a:spcPts val="1000"/>
              </a:spcBef>
              <a:spcAft>
                <a:spcPts val="0"/>
              </a:spcAft>
              <a:buClr>
                <a:schemeClr val="dk1"/>
              </a:buClr>
              <a:buSzPct val="100000"/>
              <a:buFont typeface="Calibri"/>
              <a:buNone/>
              <a:defRPr/>
            </a:pPr>
            <a:endParaRPr sz="2800"/>
          </a:p>
        </p:txBody>
      </p:sp>
      <p:sp>
        <p:nvSpPr>
          <p:cNvPr id="59039090" name="Google Shape;151;p6"/>
          <p:cNvSpPr txBox="1">
            <a:spLocks noGrp="1"/>
          </p:cNvSpPr>
          <p:nvPr>
            <p:ph type="sldNum" idx="12"/>
          </p:nvPr>
        </p:nvSpPr>
        <p:spPr bwMode="auto">
          <a:xfrm>
            <a:off x="38862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5</a:t>
            </a:fld>
            <a:endParaRPr/>
          </a:p>
        </p:txBody>
      </p:sp>
      <p:sp>
        <p:nvSpPr>
          <p:cNvPr id="1609899578" name="Google Shape;152;p6"/>
          <p:cNvSpPr txBox="1"/>
          <p:nvPr/>
        </p:nvSpPr>
        <p:spPr bwMode="auto">
          <a:xfrm>
            <a:off x="4267200" y="1066800"/>
            <a:ext cx="4191000" cy="3508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1.1 Introduction to Project Management</a:t>
            </a:r>
            <a:endParaRPr/>
          </a:p>
        </p:txBody>
      </p:sp>
      <p:grpSp>
        <p:nvGrpSpPr>
          <p:cNvPr id="1698870621" name="Google Shape;154;p6"/>
          <p:cNvGrpSpPr/>
          <p:nvPr/>
        </p:nvGrpSpPr>
        <p:grpSpPr bwMode="auto">
          <a:xfrm>
            <a:off x="7180977" y="1031559"/>
            <a:ext cx="2148830" cy="1228659"/>
            <a:chOff x="2728025" y="71"/>
            <a:chExt cx="1310630" cy="1506471"/>
          </a:xfrm>
        </p:grpSpPr>
        <p:sp>
          <p:nvSpPr>
            <p:cNvPr id="155" name="Google Shape;155;p6"/>
            <p:cNvSpPr/>
            <p:nvPr/>
          </p:nvSpPr>
          <p:spPr bwMode="auto">
            <a:xfrm rot="5400000">
              <a:off x="2630104" y="97992"/>
              <a:ext cx="1506471" cy="1310630"/>
            </a:xfrm>
            <a:prstGeom prst="hexagon">
              <a:avLst>
                <a:gd name="adj" fmla="val 25000"/>
                <a:gd name="vf" fmla="val 115470"/>
              </a:avLst>
            </a:prstGeom>
            <a:solidFill>
              <a:srgbClr val="A8D08C"/>
            </a:solidFill>
            <a:ln>
              <a:noFill/>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b="1">
                <a:solidFill>
                  <a:schemeClr val="dk1"/>
                </a:solidFill>
                <a:latin typeface="Calibri"/>
                <a:ea typeface="Calibri"/>
                <a:cs typeface="Calibri"/>
              </a:endParaRPr>
            </a:p>
          </p:txBody>
        </p:sp>
        <p:sp>
          <p:nvSpPr>
            <p:cNvPr id="156" name="Google Shape;156;p6"/>
            <p:cNvSpPr/>
            <p:nvPr/>
          </p:nvSpPr>
          <p:spPr bwMode="auto">
            <a:xfrm>
              <a:off x="2932264" y="234830"/>
              <a:ext cx="902150" cy="1036955"/>
            </a:xfrm>
            <a:prstGeom prst="rect">
              <a:avLst/>
            </a:prstGeom>
            <a:solidFill>
              <a:srgbClr val="A8D08C"/>
            </a:solid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None/>
                <a:defRPr/>
              </a:pPr>
              <a:r>
                <a:rPr lang="en-US" sz="2400" b="1">
                  <a:solidFill>
                    <a:schemeClr val="dk1"/>
                  </a:solidFill>
                  <a:latin typeface="Calibri"/>
                  <a:ea typeface="Calibri"/>
                  <a:cs typeface="Calibri"/>
                </a:rPr>
                <a:t>Planning</a:t>
              </a:r>
              <a:endParaRPr sz="2400" b="1">
                <a:solidFill>
                  <a:schemeClr val="dk1"/>
                </a:solidFill>
                <a:latin typeface="Calibri"/>
                <a:ea typeface="Calibri"/>
                <a:cs typeface="Calibri"/>
              </a:endParaRPr>
            </a:p>
          </p:txBody>
        </p:sp>
      </p:grpSp>
      <p:grpSp>
        <p:nvGrpSpPr>
          <p:cNvPr id="535221658" name="Google Shape;157;p6"/>
          <p:cNvGrpSpPr/>
          <p:nvPr/>
        </p:nvGrpSpPr>
        <p:grpSpPr bwMode="auto">
          <a:xfrm>
            <a:off x="8626676" y="1901092"/>
            <a:ext cx="2148830" cy="1228659"/>
            <a:chOff x="2728025" y="71"/>
            <a:chExt cx="1310630" cy="1506471"/>
          </a:xfrm>
        </p:grpSpPr>
        <p:sp>
          <p:nvSpPr>
            <p:cNvPr id="158" name="Google Shape;158;p6"/>
            <p:cNvSpPr/>
            <p:nvPr/>
          </p:nvSpPr>
          <p:spPr bwMode="auto">
            <a:xfrm rot="5400000">
              <a:off x="2630104" y="97992"/>
              <a:ext cx="1506471" cy="1310630"/>
            </a:xfrm>
            <a:prstGeom prst="hexagon">
              <a:avLst>
                <a:gd name="adj" fmla="val 25000"/>
                <a:gd name="vf" fmla="val 115470"/>
              </a:avLst>
            </a:prstGeom>
            <a:solidFill>
              <a:srgbClr val="A8D08C"/>
            </a:solidFill>
            <a:ln>
              <a:noFill/>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b="1">
                <a:solidFill>
                  <a:schemeClr val="lt1"/>
                </a:solidFill>
                <a:latin typeface="Calibri"/>
                <a:ea typeface="Calibri"/>
                <a:cs typeface="Calibri"/>
              </a:endParaRPr>
            </a:p>
          </p:txBody>
        </p:sp>
        <p:sp>
          <p:nvSpPr>
            <p:cNvPr id="159" name="Google Shape;159;p6"/>
            <p:cNvSpPr/>
            <p:nvPr/>
          </p:nvSpPr>
          <p:spPr bwMode="auto">
            <a:xfrm>
              <a:off x="2932264" y="234830"/>
              <a:ext cx="902150" cy="1036955"/>
            </a:xfrm>
            <a:prstGeom prst="rect">
              <a:avLst/>
            </a:prstGeom>
            <a:solidFill>
              <a:srgbClr val="A8D08C"/>
            </a:solid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None/>
                <a:defRPr/>
              </a:pPr>
              <a:r>
                <a:rPr lang="en-US" sz="2400" b="1">
                  <a:solidFill>
                    <a:schemeClr val="dk1"/>
                  </a:solidFill>
                  <a:latin typeface="Calibri"/>
                  <a:ea typeface="Calibri"/>
                  <a:cs typeface="Calibri"/>
                </a:rPr>
                <a:t>Organising </a:t>
              </a:r>
              <a:endParaRPr sz="2400" b="1">
                <a:solidFill>
                  <a:schemeClr val="dk1"/>
                </a:solidFill>
                <a:latin typeface="Calibri"/>
                <a:ea typeface="Calibri"/>
                <a:cs typeface="Calibri"/>
              </a:endParaRPr>
            </a:p>
          </p:txBody>
        </p:sp>
      </p:grpSp>
      <p:grpSp>
        <p:nvGrpSpPr>
          <p:cNvPr id="2024478243" name="Google Shape;160;p6"/>
          <p:cNvGrpSpPr/>
          <p:nvPr/>
        </p:nvGrpSpPr>
        <p:grpSpPr bwMode="auto">
          <a:xfrm>
            <a:off x="9922503" y="2808173"/>
            <a:ext cx="2148830" cy="1228659"/>
            <a:chOff x="2728025" y="71"/>
            <a:chExt cx="1310630" cy="1506471"/>
          </a:xfrm>
        </p:grpSpPr>
        <p:sp>
          <p:nvSpPr>
            <p:cNvPr id="161" name="Google Shape;161;p6"/>
            <p:cNvSpPr/>
            <p:nvPr/>
          </p:nvSpPr>
          <p:spPr bwMode="auto">
            <a:xfrm rot="5400000">
              <a:off x="2630104" y="97992"/>
              <a:ext cx="1506471" cy="1310630"/>
            </a:xfrm>
            <a:prstGeom prst="hexagon">
              <a:avLst>
                <a:gd name="adj" fmla="val 25000"/>
                <a:gd name="vf" fmla="val 115470"/>
              </a:avLst>
            </a:prstGeom>
            <a:solidFill>
              <a:srgbClr val="A8D08C"/>
            </a:solidFill>
            <a:ln>
              <a:noFill/>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b="1">
                <a:solidFill>
                  <a:schemeClr val="lt1"/>
                </a:solidFill>
                <a:latin typeface="Calibri"/>
                <a:ea typeface="Calibri"/>
                <a:cs typeface="Calibri"/>
              </a:endParaRPr>
            </a:p>
          </p:txBody>
        </p:sp>
        <p:sp>
          <p:nvSpPr>
            <p:cNvPr id="162" name="Google Shape;162;p6"/>
            <p:cNvSpPr/>
            <p:nvPr/>
          </p:nvSpPr>
          <p:spPr bwMode="auto">
            <a:xfrm>
              <a:off x="2932264" y="234830"/>
              <a:ext cx="902150" cy="1036955"/>
            </a:xfrm>
            <a:prstGeom prst="rect">
              <a:avLst/>
            </a:prstGeom>
            <a:solidFill>
              <a:srgbClr val="A8D08C"/>
            </a:solid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None/>
                <a:defRPr/>
              </a:pPr>
              <a:r>
                <a:rPr lang="en-US" sz="2400" b="1">
                  <a:solidFill>
                    <a:schemeClr val="dk1"/>
                  </a:solidFill>
                  <a:latin typeface="Calibri"/>
                  <a:ea typeface="Calibri"/>
                  <a:cs typeface="Calibri"/>
                </a:rPr>
                <a:t>Staffing </a:t>
              </a:r>
              <a:endParaRPr sz="2400" b="1">
                <a:solidFill>
                  <a:schemeClr val="dk1"/>
                </a:solidFill>
                <a:latin typeface="Calibri"/>
                <a:ea typeface="Calibri"/>
                <a:cs typeface="Calibri"/>
              </a:endParaRPr>
            </a:p>
          </p:txBody>
        </p:sp>
      </p:grpSp>
      <p:grpSp>
        <p:nvGrpSpPr>
          <p:cNvPr id="319823247" name="Google Shape;163;p6"/>
          <p:cNvGrpSpPr/>
          <p:nvPr/>
        </p:nvGrpSpPr>
        <p:grpSpPr bwMode="auto">
          <a:xfrm>
            <a:off x="8946505" y="3801434"/>
            <a:ext cx="2148830" cy="1228659"/>
            <a:chOff x="2728025" y="71"/>
            <a:chExt cx="1310630" cy="1506471"/>
          </a:xfrm>
        </p:grpSpPr>
        <p:sp>
          <p:nvSpPr>
            <p:cNvPr id="164" name="Google Shape;164;p6"/>
            <p:cNvSpPr/>
            <p:nvPr/>
          </p:nvSpPr>
          <p:spPr bwMode="auto">
            <a:xfrm rot="5400000">
              <a:off x="2630104" y="97992"/>
              <a:ext cx="1506471" cy="1310630"/>
            </a:xfrm>
            <a:prstGeom prst="hexagon">
              <a:avLst>
                <a:gd name="adj" fmla="val 25000"/>
                <a:gd name="vf" fmla="val 115470"/>
              </a:avLst>
            </a:prstGeom>
            <a:solidFill>
              <a:srgbClr val="A8D08C"/>
            </a:solidFill>
            <a:ln>
              <a:noFill/>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b="1">
                <a:solidFill>
                  <a:schemeClr val="lt1"/>
                </a:solidFill>
                <a:latin typeface="Calibri"/>
                <a:ea typeface="Calibri"/>
                <a:cs typeface="Calibri"/>
              </a:endParaRPr>
            </a:p>
          </p:txBody>
        </p:sp>
        <p:sp>
          <p:nvSpPr>
            <p:cNvPr id="165" name="Google Shape;165;p6"/>
            <p:cNvSpPr/>
            <p:nvPr/>
          </p:nvSpPr>
          <p:spPr bwMode="auto">
            <a:xfrm>
              <a:off x="2932264" y="234830"/>
              <a:ext cx="902150" cy="1036955"/>
            </a:xfrm>
            <a:prstGeom prst="rect">
              <a:avLst/>
            </a:prstGeom>
            <a:solidFill>
              <a:srgbClr val="A8D08C"/>
            </a:solid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None/>
                <a:defRPr/>
              </a:pPr>
              <a:r>
                <a:rPr lang="en-US" sz="2400" b="1">
                  <a:solidFill>
                    <a:schemeClr val="dk1"/>
                  </a:solidFill>
                  <a:latin typeface="Calibri"/>
                  <a:ea typeface="Calibri"/>
                  <a:cs typeface="Calibri"/>
                </a:rPr>
                <a:t>Directing</a:t>
              </a:r>
              <a:endParaRPr sz="2400" b="1">
                <a:solidFill>
                  <a:schemeClr val="dk1"/>
                </a:solidFill>
                <a:latin typeface="Calibri"/>
                <a:ea typeface="Calibri"/>
                <a:cs typeface="Calibri"/>
              </a:endParaRPr>
            </a:p>
          </p:txBody>
        </p:sp>
      </p:grpSp>
      <p:grpSp>
        <p:nvGrpSpPr>
          <p:cNvPr id="405983117" name="Google Shape;166;p6"/>
          <p:cNvGrpSpPr/>
          <p:nvPr/>
        </p:nvGrpSpPr>
        <p:grpSpPr bwMode="auto">
          <a:xfrm>
            <a:off x="7795889" y="4751321"/>
            <a:ext cx="2148830" cy="1228659"/>
            <a:chOff x="2728025" y="71"/>
            <a:chExt cx="1310630" cy="1506471"/>
          </a:xfrm>
        </p:grpSpPr>
        <p:sp>
          <p:nvSpPr>
            <p:cNvPr id="167" name="Google Shape;167;p6"/>
            <p:cNvSpPr/>
            <p:nvPr/>
          </p:nvSpPr>
          <p:spPr bwMode="auto">
            <a:xfrm rot="5400000">
              <a:off x="2630104" y="97992"/>
              <a:ext cx="1506471" cy="1310630"/>
            </a:xfrm>
            <a:prstGeom prst="hexagon">
              <a:avLst>
                <a:gd name="adj" fmla="val 25000"/>
                <a:gd name="vf" fmla="val 115470"/>
              </a:avLst>
            </a:prstGeom>
            <a:solidFill>
              <a:srgbClr val="A8D08C"/>
            </a:solidFill>
            <a:ln>
              <a:noFill/>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b="1">
                <a:solidFill>
                  <a:schemeClr val="lt1"/>
                </a:solidFill>
                <a:latin typeface="Calibri"/>
                <a:ea typeface="Calibri"/>
                <a:cs typeface="Calibri"/>
              </a:endParaRPr>
            </a:p>
          </p:txBody>
        </p:sp>
        <p:sp>
          <p:nvSpPr>
            <p:cNvPr id="168" name="Google Shape;168;p6"/>
            <p:cNvSpPr/>
            <p:nvPr/>
          </p:nvSpPr>
          <p:spPr bwMode="auto">
            <a:xfrm>
              <a:off x="2820978" y="234831"/>
              <a:ext cx="1106391" cy="1036955"/>
            </a:xfrm>
            <a:prstGeom prst="rect">
              <a:avLst/>
            </a:prstGeom>
            <a:solidFill>
              <a:srgbClr val="A8D08C"/>
            </a:solid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None/>
                <a:defRPr/>
              </a:pPr>
              <a:r>
                <a:rPr lang="en-US" sz="2400" b="1">
                  <a:solidFill>
                    <a:schemeClr val="dk1"/>
                  </a:solidFill>
                  <a:latin typeface="Calibri"/>
                  <a:ea typeface="Calibri"/>
                  <a:cs typeface="Calibri"/>
                </a:rPr>
                <a:t>Controlling</a:t>
              </a:r>
              <a:endParaRPr sz="2400" b="1">
                <a:solidFill>
                  <a:schemeClr val="dk1"/>
                </a:solidFill>
                <a:latin typeface="Calibri"/>
                <a:ea typeface="Calibri"/>
                <a:cs typeface="Calibri"/>
              </a:endParaRPr>
            </a:p>
          </p:txBody>
        </p:sp>
      </p:grpSp>
      <p:grpSp>
        <p:nvGrpSpPr>
          <p:cNvPr id="889864910" name="Google Shape;169;p6"/>
          <p:cNvGrpSpPr/>
          <p:nvPr/>
        </p:nvGrpSpPr>
        <p:grpSpPr bwMode="auto">
          <a:xfrm>
            <a:off x="9203578" y="5634625"/>
            <a:ext cx="2148830" cy="1228659"/>
            <a:chOff x="2728025" y="71"/>
            <a:chExt cx="1310630" cy="1506471"/>
          </a:xfrm>
        </p:grpSpPr>
        <p:sp>
          <p:nvSpPr>
            <p:cNvPr id="170" name="Google Shape;170;p6"/>
            <p:cNvSpPr/>
            <p:nvPr/>
          </p:nvSpPr>
          <p:spPr bwMode="auto">
            <a:xfrm rot="5400000">
              <a:off x="2630104" y="97992"/>
              <a:ext cx="1506471" cy="1310630"/>
            </a:xfrm>
            <a:prstGeom prst="hexagon">
              <a:avLst>
                <a:gd name="adj" fmla="val 25000"/>
                <a:gd name="vf" fmla="val 115470"/>
              </a:avLst>
            </a:prstGeom>
            <a:solidFill>
              <a:srgbClr val="A8D08C"/>
            </a:solidFill>
            <a:ln>
              <a:noFill/>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b="1">
                <a:solidFill>
                  <a:schemeClr val="lt1"/>
                </a:solidFill>
                <a:latin typeface="Calibri"/>
                <a:ea typeface="Calibri"/>
                <a:cs typeface="Calibri"/>
              </a:endParaRPr>
            </a:p>
          </p:txBody>
        </p:sp>
        <p:sp>
          <p:nvSpPr>
            <p:cNvPr id="171" name="Google Shape;171;p6"/>
            <p:cNvSpPr/>
            <p:nvPr/>
          </p:nvSpPr>
          <p:spPr bwMode="auto">
            <a:xfrm>
              <a:off x="2820978" y="234831"/>
              <a:ext cx="1106391" cy="1036955"/>
            </a:xfrm>
            <a:prstGeom prst="rect">
              <a:avLst/>
            </a:prstGeom>
            <a:solidFill>
              <a:srgbClr val="A8D08C"/>
            </a:solid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None/>
                <a:defRPr/>
              </a:pPr>
              <a:r>
                <a:rPr lang="en-US" sz="2400" b="1">
                  <a:solidFill>
                    <a:schemeClr val="dk1"/>
                  </a:solidFill>
                  <a:latin typeface="Calibri"/>
                  <a:ea typeface="Calibri"/>
                  <a:cs typeface="Calibri"/>
                </a:rPr>
                <a:t>Innovating </a:t>
              </a:r>
              <a:endParaRPr sz="2400" b="1">
                <a:solidFill>
                  <a:schemeClr val="dk1"/>
                </a:solidFill>
                <a:latin typeface="Calibri"/>
                <a:ea typeface="Calibri"/>
                <a:cs typeface="Calibri"/>
              </a:endParaRPr>
            </a:p>
          </p:txBody>
        </p:sp>
      </p:grpSp>
      <p:cxnSp>
        <p:nvCxnSpPr>
          <p:cNvPr id="956441888" name="Straight Connector 2"/>
          <p:cNvCxnSpPr/>
          <p:nvPr/>
        </p:nvCxnSpPr>
        <p:spPr bwMode="auto">
          <a:xfrm>
            <a:off x="2703105" y="2515869"/>
            <a:ext cx="438601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4542379" name="Straight Connector 3"/>
          <p:cNvCxnSpPr/>
          <p:nvPr/>
        </p:nvCxnSpPr>
        <p:spPr bwMode="auto">
          <a:xfrm>
            <a:off x="3111280" y="3231483"/>
            <a:ext cx="272770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1532351" name="Straight Connector 5"/>
          <p:cNvCxnSpPr/>
          <p:nvPr/>
        </p:nvCxnSpPr>
        <p:spPr bwMode="auto">
          <a:xfrm>
            <a:off x="2621691" y="3841428"/>
            <a:ext cx="219171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7302904" name="Straight Connector 7"/>
          <p:cNvCxnSpPr/>
          <p:nvPr/>
        </p:nvCxnSpPr>
        <p:spPr bwMode="auto">
          <a:xfrm>
            <a:off x="2801962" y="4353197"/>
            <a:ext cx="219171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8213644" name="Straight Connector 8"/>
          <p:cNvCxnSpPr/>
          <p:nvPr/>
        </p:nvCxnSpPr>
        <p:spPr bwMode="auto">
          <a:xfrm>
            <a:off x="3126783" y="4866291"/>
            <a:ext cx="219171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7004908" name="Straight Connector 9"/>
          <p:cNvCxnSpPr/>
          <p:nvPr/>
        </p:nvCxnSpPr>
        <p:spPr bwMode="auto">
          <a:xfrm>
            <a:off x="3126783" y="5380821"/>
            <a:ext cx="231570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0938979" name="Straight Connector 12"/>
          <p:cNvCxnSpPr/>
          <p:nvPr/>
        </p:nvCxnSpPr>
        <p:spPr bwMode="auto">
          <a:xfrm>
            <a:off x="3111280" y="5900588"/>
            <a:ext cx="410705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40566633" name="TextBox 1"/>
          <p:cNvSpPr txBox="1"/>
          <p:nvPr/>
        </p:nvSpPr>
        <p:spPr bwMode="auto">
          <a:xfrm>
            <a:off x="2588105" y="1255842"/>
            <a:ext cx="6574271" cy="523220"/>
          </a:xfrm>
          <a:prstGeom prst="rect">
            <a:avLst/>
          </a:prstGeom>
          <a:noFill/>
        </p:spPr>
        <p:txBody>
          <a:bodyPr wrap="square" rtlCol="0">
            <a:spAutoFit/>
          </a:bodyPr>
          <a:lstStyle/>
          <a:p>
            <a:pPr>
              <a:defRPr/>
            </a:pPr>
            <a:r>
              <a:rPr lang="en-US" sz="2800">
                <a:solidFill>
                  <a:srgbClr val="FF0000"/>
                </a:solidFill>
              </a:rPr>
              <a:t>A discipline that involves:</a:t>
            </a:r>
            <a:endParaRPr lang="en-GB" sz="2800">
              <a:solidFill>
                <a:srgbClr val="FF0000"/>
              </a:solidFill>
            </a:endParaRPr>
          </a:p>
        </p:txBody>
      </p:sp>
      <p:sp>
        <p:nvSpPr>
          <p:cNvPr id="1451951664" name="TextBox 4"/>
          <p:cNvSpPr txBox="1"/>
          <p:nvPr/>
        </p:nvSpPr>
        <p:spPr bwMode="auto">
          <a:xfrm>
            <a:off x="2907423" y="3219367"/>
            <a:ext cx="4724198" cy="307777"/>
          </a:xfrm>
          <a:prstGeom prst="rect">
            <a:avLst/>
          </a:prstGeom>
          <a:noFill/>
        </p:spPr>
        <p:txBody>
          <a:bodyPr wrap="square" rtlCol="0">
            <a:spAutoFit/>
          </a:bodyPr>
          <a:lstStyle/>
          <a:p>
            <a:pPr>
              <a:defRPr/>
            </a:pPr>
            <a:r>
              <a:rPr lang="en-MY" b="1" i="1"/>
              <a:t>When</a:t>
            </a:r>
            <a:r>
              <a:rPr lang="en-MY" i="1"/>
              <a:t> you want to do it? </a:t>
            </a:r>
            <a:r>
              <a:rPr lang="en-MY" b="1" i="1"/>
              <a:t>How</a:t>
            </a:r>
            <a:r>
              <a:rPr lang="en-MY" i="1"/>
              <a:t> you want to do it? </a:t>
            </a:r>
            <a:r>
              <a:rPr lang="en-MY" b="1" i="1"/>
              <a:t>Who</a:t>
            </a:r>
            <a:r>
              <a:rPr lang="en-MY" i="1"/>
              <a:t> ….</a:t>
            </a:r>
            <a:endParaRPr/>
          </a:p>
        </p:txBody>
      </p:sp>
      <p:sp>
        <p:nvSpPr>
          <p:cNvPr id="1170602930" name="TextBox 6"/>
          <p:cNvSpPr txBox="1"/>
          <p:nvPr/>
        </p:nvSpPr>
        <p:spPr bwMode="auto">
          <a:xfrm>
            <a:off x="2621691" y="2515452"/>
            <a:ext cx="2125130" cy="307777"/>
          </a:xfrm>
          <a:prstGeom prst="rect">
            <a:avLst/>
          </a:prstGeom>
          <a:noFill/>
        </p:spPr>
        <p:txBody>
          <a:bodyPr wrap="square" rtlCol="0">
            <a:spAutoFit/>
          </a:bodyPr>
          <a:lstStyle/>
          <a:p>
            <a:pPr>
              <a:defRPr/>
            </a:pPr>
            <a:r>
              <a:rPr lang="en-MY" b="1"/>
              <a:t>(then…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1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56441888"/>
                                        </p:tgtEl>
                                        <p:attrNameLst>
                                          <p:attrName>style.visibility</p:attrName>
                                        </p:attrNameLst>
                                      </p:cBhvr>
                                      <p:to>
                                        <p:strVal val="visible"/>
                                      </p:to>
                                    </p:set>
                                    <p:animEffect transition="in" filter="wipe(left)">
                                      <p:cBhvr>
                                        <p:cTn id="7" dur="500"/>
                                        <p:tgtEl>
                                          <p:spTgt spid="9564418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70602930"/>
                                        </p:tgtEl>
                                        <p:attrNameLst>
                                          <p:attrName>style.visibility</p:attrName>
                                        </p:attrNameLst>
                                      </p:cBhvr>
                                      <p:to>
                                        <p:strVal val="visible"/>
                                      </p:to>
                                    </p:set>
                                    <p:animEffect transition="in" filter="wipe(left)">
                                      <p:cBhvr>
                                        <p:cTn id="12" dur="500"/>
                                        <p:tgtEl>
                                          <p:spTgt spid="11706029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94542379"/>
                                        </p:tgtEl>
                                        <p:attrNameLst>
                                          <p:attrName>style.visibility</p:attrName>
                                        </p:attrNameLst>
                                      </p:cBhvr>
                                      <p:to>
                                        <p:strVal val="visible"/>
                                      </p:to>
                                    </p:set>
                                    <p:animEffect transition="in" filter="wipe(left)">
                                      <p:cBhvr>
                                        <p:cTn id="17" dur="500"/>
                                        <p:tgtEl>
                                          <p:spTgt spid="119454237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51951664"/>
                                        </p:tgtEl>
                                        <p:attrNameLst>
                                          <p:attrName>style.visibility</p:attrName>
                                        </p:attrNameLst>
                                      </p:cBhvr>
                                      <p:to>
                                        <p:strVal val="visible"/>
                                      </p:to>
                                    </p:set>
                                    <p:animEffect transition="in" filter="wipe(left)">
                                      <p:cBhvr>
                                        <p:cTn id="22" dur="500"/>
                                        <p:tgtEl>
                                          <p:spTgt spid="14519516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71532351"/>
                                        </p:tgtEl>
                                        <p:attrNameLst>
                                          <p:attrName>style.visibility</p:attrName>
                                        </p:attrNameLst>
                                      </p:cBhvr>
                                      <p:to>
                                        <p:strVal val="visible"/>
                                      </p:to>
                                    </p:set>
                                    <p:animEffect transition="in" filter="wipe(left)">
                                      <p:cBhvr>
                                        <p:cTn id="27" dur="500"/>
                                        <p:tgtEl>
                                          <p:spTgt spid="127153235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17302904"/>
                                        </p:tgtEl>
                                        <p:attrNameLst>
                                          <p:attrName>style.visibility</p:attrName>
                                        </p:attrNameLst>
                                      </p:cBhvr>
                                      <p:to>
                                        <p:strVal val="visible"/>
                                      </p:to>
                                    </p:set>
                                    <p:animEffect transition="in" filter="wipe(left)">
                                      <p:cBhvr>
                                        <p:cTn id="32" dur="500"/>
                                        <p:tgtEl>
                                          <p:spTgt spid="81730290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98213644"/>
                                        </p:tgtEl>
                                        <p:attrNameLst>
                                          <p:attrName>style.visibility</p:attrName>
                                        </p:attrNameLst>
                                      </p:cBhvr>
                                      <p:to>
                                        <p:strVal val="visible"/>
                                      </p:to>
                                    </p:set>
                                    <p:animEffect transition="in" filter="wipe(left)">
                                      <p:cBhvr>
                                        <p:cTn id="37" dur="500"/>
                                        <p:tgtEl>
                                          <p:spTgt spid="49821364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57004908"/>
                                        </p:tgtEl>
                                        <p:attrNameLst>
                                          <p:attrName>style.visibility</p:attrName>
                                        </p:attrNameLst>
                                      </p:cBhvr>
                                      <p:to>
                                        <p:strVal val="visible"/>
                                      </p:to>
                                    </p:set>
                                    <p:animEffect transition="in" filter="wipe(left)">
                                      <p:cBhvr>
                                        <p:cTn id="42" dur="500"/>
                                        <p:tgtEl>
                                          <p:spTgt spid="95700490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90938979"/>
                                        </p:tgtEl>
                                        <p:attrNameLst>
                                          <p:attrName>style.visibility</p:attrName>
                                        </p:attrNameLst>
                                      </p:cBhvr>
                                      <p:to>
                                        <p:strVal val="visible"/>
                                      </p:to>
                                    </p:set>
                                    <p:animEffect transition="in" filter="wipe(left)">
                                      <p:cBhvr>
                                        <p:cTn id="47" dur="500"/>
                                        <p:tgtEl>
                                          <p:spTgt spid="29093897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698870621"/>
                                        </p:tgtEl>
                                        <p:attrNameLst>
                                          <p:attrName>style.visibility</p:attrName>
                                        </p:attrNameLst>
                                      </p:cBhvr>
                                      <p:to>
                                        <p:strVal val="visible"/>
                                      </p:to>
                                    </p:set>
                                    <p:animEffect transition="in" filter="wipe(left)">
                                      <p:cBhvr>
                                        <p:cTn id="52" dur="500"/>
                                        <p:tgtEl>
                                          <p:spTgt spid="169887062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35221658"/>
                                        </p:tgtEl>
                                        <p:attrNameLst>
                                          <p:attrName>style.visibility</p:attrName>
                                        </p:attrNameLst>
                                      </p:cBhvr>
                                      <p:to>
                                        <p:strVal val="visible"/>
                                      </p:to>
                                    </p:set>
                                    <p:animEffect transition="in" filter="wipe(left)">
                                      <p:cBhvr>
                                        <p:cTn id="57" dur="500"/>
                                        <p:tgtEl>
                                          <p:spTgt spid="53522165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024478243"/>
                                        </p:tgtEl>
                                        <p:attrNameLst>
                                          <p:attrName>style.visibility</p:attrName>
                                        </p:attrNameLst>
                                      </p:cBhvr>
                                      <p:to>
                                        <p:strVal val="visible"/>
                                      </p:to>
                                    </p:set>
                                    <p:animEffect transition="in" filter="wipe(left)">
                                      <p:cBhvr>
                                        <p:cTn id="62" dur="500"/>
                                        <p:tgtEl>
                                          <p:spTgt spid="202447824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319823247"/>
                                        </p:tgtEl>
                                        <p:attrNameLst>
                                          <p:attrName>style.visibility</p:attrName>
                                        </p:attrNameLst>
                                      </p:cBhvr>
                                      <p:to>
                                        <p:strVal val="visible"/>
                                      </p:to>
                                    </p:set>
                                    <p:animEffect transition="in" filter="wipe(left)">
                                      <p:cBhvr>
                                        <p:cTn id="67" dur="500"/>
                                        <p:tgtEl>
                                          <p:spTgt spid="31982324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405983117"/>
                                        </p:tgtEl>
                                        <p:attrNameLst>
                                          <p:attrName>style.visibility</p:attrName>
                                        </p:attrNameLst>
                                      </p:cBhvr>
                                      <p:to>
                                        <p:strVal val="visible"/>
                                      </p:to>
                                    </p:set>
                                    <p:animEffect transition="in" filter="wipe(left)">
                                      <p:cBhvr>
                                        <p:cTn id="72" dur="500"/>
                                        <p:tgtEl>
                                          <p:spTgt spid="40598311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889864910"/>
                                        </p:tgtEl>
                                        <p:attrNameLst>
                                          <p:attrName>style.visibility</p:attrName>
                                        </p:attrNameLst>
                                      </p:cBhvr>
                                      <p:to>
                                        <p:strVal val="visible"/>
                                      </p:to>
                                    </p:set>
                                    <p:animEffect transition="in" filter="wipe(left)">
                                      <p:cBhvr>
                                        <p:cTn id="77" dur="500"/>
                                        <p:tgtEl>
                                          <p:spTgt spid="8898649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1951664" grpId="0"/>
      <p:bldP spid="1170602930" grpId="0"/>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3167851" name="Google Shape;129;p4"/>
          <p:cNvSpPr txBox="1">
            <a:spLocks noGrp="1"/>
          </p:cNvSpPr>
          <p:nvPr>
            <p:ph type="title"/>
          </p:nvPr>
        </p:nvSpPr>
        <p:spPr bwMode="auto">
          <a:xfrm>
            <a:off x="623807" y="12539"/>
            <a:ext cx="10439400" cy="92392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defRPr/>
            </a:pPr>
            <a:r>
              <a:rPr lang="en-US" b="1"/>
              <a:t>What is a Project?</a:t>
            </a:r>
            <a:endParaRPr/>
          </a:p>
        </p:txBody>
      </p:sp>
      <p:sp>
        <p:nvSpPr>
          <p:cNvPr id="917184215" name="Google Shape;130;p4"/>
          <p:cNvSpPr txBox="1">
            <a:spLocks noGrp="1"/>
          </p:cNvSpPr>
          <p:nvPr>
            <p:ph type="body" idx="1"/>
          </p:nvPr>
        </p:nvSpPr>
        <p:spPr bwMode="auto">
          <a:xfrm>
            <a:off x="838200" y="1647296"/>
            <a:ext cx="10835640" cy="213961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3200"/>
              <a:buChar char="•"/>
              <a:defRPr/>
            </a:pPr>
            <a:r>
              <a:rPr lang="en-US" sz="3200"/>
              <a:t>“A </a:t>
            </a:r>
            <a:r>
              <a:rPr lang="en-US" sz="3200" b="1"/>
              <a:t>specific</a:t>
            </a:r>
            <a:r>
              <a:rPr lang="en-US" sz="3200"/>
              <a:t> plan or design”</a:t>
            </a:r>
            <a:endParaRPr/>
          </a:p>
          <a:p>
            <a:pPr marL="228600" lvl="0" indent="-228600" algn="l" rtl="0">
              <a:lnSpc>
                <a:spcPct val="90000"/>
              </a:lnSpc>
              <a:spcBef>
                <a:spcPts val="1000"/>
              </a:spcBef>
              <a:spcAft>
                <a:spcPts val="0"/>
              </a:spcAft>
              <a:buClr>
                <a:schemeClr val="dk1"/>
              </a:buClr>
              <a:buSzPts val="3200"/>
              <a:buChar char="•"/>
              <a:defRPr/>
            </a:pPr>
            <a:r>
              <a:rPr lang="en-US" sz="3200"/>
              <a:t>“A </a:t>
            </a:r>
            <a:r>
              <a:rPr lang="en-US" sz="3200" b="1"/>
              <a:t>planned</a:t>
            </a:r>
            <a:r>
              <a:rPr lang="en-US" sz="3200"/>
              <a:t> undertaking”</a:t>
            </a:r>
            <a:endParaRPr/>
          </a:p>
          <a:p>
            <a:pPr marL="228600" lvl="0" indent="-228600" algn="l" rtl="0">
              <a:lnSpc>
                <a:spcPct val="90000"/>
              </a:lnSpc>
              <a:spcBef>
                <a:spcPts val="1000"/>
              </a:spcBef>
              <a:spcAft>
                <a:spcPts val="0"/>
              </a:spcAft>
              <a:buClr>
                <a:schemeClr val="dk1"/>
              </a:buClr>
              <a:buSzPts val="3200"/>
              <a:buChar char="•"/>
              <a:defRPr/>
            </a:pPr>
            <a:r>
              <a:rPr lang="en-US" sz="3200"/>
              <a:t>“A </a:t>
            </a:r>
            <a:r>
              <a:rPr lang="en-US" sz="3200" b="1"/>
              <a:t>large</a:t>
            </a:r>
            <a:r>
              <a:rPr lang="en-US" sz="3200"/>
              <a:t> undertaking”</a:t>
            </a:r>
            <a:endParaRPr sz="3200"/>
          </a:p>
        </p:txBody>
      </p:sp>
      <p:sp>
        <p:nvSpPr>
          <p:cNvPr id="1190465408" name="Google Shape;131;p4"/>
          <p:cNvSpPr txBox="1"/>
          <p:nvPr/>
        </p:nvSpPr>
        <p:spPr bwMode="auto">
          <a:xfrm>
            <a:off x="3956905" y="890687"/>
            <a:ext cx="4191000" cy="3508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1.1 Introduction to Project Management</a:t>
            </a:r>
            <a:endParaRPr/>
          </a:p>
        </p:txBody>
      </p:sp>
      <p:sp>
        <p:nvSpPr>
          <p:cNvPr id="62379672" name="Google Shape;132;p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6</a:t>
            </a:fld>
            <a:endParaRPr/>
          </a:p>
        </p:txBody>
      </p:sp>
      <p:pic>
        <p:nvPicPr>
          <p:cNvPr id="940382104" name="Google Shape;133;p4"/>
          <p:cNvPicPr/>
          <p:nvPr/>
        </p:nvPicPr>
        <p:blipFill rotWithShape="1">
          <a:blip r:embed="rId3">
            <a:alphaModFix/>
          </a:blip>
          <a:stretch/>
        </p:blipFill>
        <p:spPr bwMode="auto">
          <a:xfrm>
            <a:off x="0" y="3786909"/>
            <a:ext cx="12192000" cy="3071091"/>
          </a:xfrm>
          <a:prstGeom prst="rect">
            <a:avLst/>
          </a:prstGeom>
          <a:noFill/>
          <a:ln>
            <a:noFill/>
          </a:ln>
        </p:spPr>
      </p:pic>
      <p:cxnSp>
        <p:nvCxnSpPr>
          <p:cNvPr id="320408673" name="Google Shape;134;p4"/>
          <p:cNvCxnSpPr/>
          <p:nvPr/>
        </p:nvCxnSpPr>
        <p:spPr bwMode="auto">
          <a:xfrm rot="10800000">
            <a:off x="5540494" y="1491387"/>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109638596" name="TextBox 1"/>
          <p:cNvSpPr txBox="1"/>
          <p:nvPr/>
        </p:nvSpPr>
        <p:spPr bwMode="auto">
          <a:xfrm>
            <a:off x="6380004" y="1720855"/>
            <a:ext cx="5553688" cy="1631216"/>
          </a:xfrm>
          <a:prstGeom prst="rect">
            <a:avLst/>
          </a:prstGeom>
          <a:noFill/>
        </p:spPr>
        <p:txBody>
          <a:bodyPr wrap="square" rtlCol="0">
            <a:spAutoFit/>
          </a:bodyPr>
          <a:lstStyle/>
          <a:p>
            <a:pPr>
              <a:defRPr/>
            </a:pPr>
            <a:r>
              <a:rPr lang="en-MY" sz="2000" b="1">
                <a:solidFill>
                  <a:srgbClr val="FF0000"/>
                </a:solidFill>
              </a:rPr>
              <a:t>Examples of project</a:t>
            </a:r>
            <a:endParaRPr/>
          </a:p>
          <a:p>
            <a:pPr marL="285750" indent="-285750">
              <a:buFontTx/>
              <a:buChar char="-"/>
              <a:defRPr/>
            </a:pPr>
            <a:r>
              <a:rPr lang="en-MY" sz="2000">
                <a:solidFill>
                  <a:srgbClr val="FF0000"/>
                </a:solidFill>
              </a:rPr>
              <a:t>The ECRL (East Coast Rail Link)</a:t>
            </a:r>
            <a:endParaRPr/>
          </a:p>
          <a:p>
            <a:pPr marL="285750" indent="-285750">
              <a:buFontTx/>
              <a:buChar char="-"/>
              <a:defRPr/>
            </a:pPr>
            <a:endParaRPr lang="en-MY" sz="2000">
              <a:solidFill>
                <a:srgbClr val="FF0000"/>
              </a:solidFill>
            </a:endParaRPr>
          </a:p>
          <a:p>
            <a:pPr marL="285750" indent="-285750">
              <a:buFontTx/>
              <a:buChar char="-"/>
              <a:defRPr/>
            </a:pPr>
            <a:endParaRPr lang="en-MY" sz="2000">
              <a:solidFill>
                <a:srgbClr val="FF0000"/>
              </a:solidFill>
            </a:endParaRPr>
          </a:p>
          <a:p>
            <a:pPr marL="285750" indent="-285750">
              <a:buFontTx/>
              <a:buChar char="-"/>
              <a:defRPr/>
            </a:pPr>
            <a:endParaRPr lang="en-MY" sz="2000">
              <a:solidFill>
                <a:srgbClr val="FF0000"/>
              </a:solidFill>
            </a:endParaRPr>
          </a:p>
        </p:txBody>
      </p:sp>
      <p:sp>
        <p:nvSpPr>
          <p:cNvPr id="1520750135" name="TextBox 2"/>
          <p:cNvSpPr txBox="1"/>
          <p:nvPr/>
        </p:nvSpPr>
        <p:spPr bwMode="auto">
          <a:xfrm>
            <a:off x="6380004" y="2480833"/>
            <a:ext cx="5553688" cy="1138773"/>
          </a:xfrm>
          <a:prstGeom prst="rect">
            <a:avLst/>
          </a:prstGeom>
          <a:noFill/>
        </p:spPr>
        <p:txBody>
          <a:bodyPr wrap="square" rtlCol="0">
            <a:spAutoFit/>
          </a:bodyPr>
          <a:lstStyle/>
          <a:p>
            <a:pPr marL="285750" indent="-285750">
              <a:buFontTx/>
              <a:buChar char="-"/>
              <a:defRPr/>
            </a:pPr>
            <a:r>
              <a:rPr lang="en-MY" sz="2000">
                <a:solidFill>
                  <a:srgbClr val="FF0000"/>
                </a:solidFill>
              </a:rPr>
              <a:t>Developing the Huawei’s Harmony OS</a:t>
            </a:r>
            <a:endParaRPr/>
          </a:p>
          <a:p>
            <a:pPr marL="285750" indent="-285750">
              <a:buFontTx/>
              <a:buChar char="-"/>
              <a:defRPr/>
            </a:pPr>
            <a:endParaRPr lang="en-MY" sz="800">
              <a:solidFill>
                <a:srgbClr val="FF0000"/>
              </a:solidFill>
            </a:endParaRPr>
          </a:p>
          <a:p>
            <a:pPr marL="285750" indent="-285750">
              <a:buFontTx/>
              <a:buChar char="-"/>
              <a:defRPr/>
            </a:pPr>
            <a:r>
              <a:rPr lang="en-MY" sz="2000">
                <a:solidFill>
                  <a:srgbClr val="FF0000"/>
                </a:solidFill>
              </a:rPr>
              <a:t>_________</a:t>
            </a:r>
            <a:endParaRPr/>
          </a:p>
          <a:p>
            <a:pPr marL="285750" indent="-285750">
              <a:buFontTx/>
              <a:buChar char="-"/>
              <a:defRPr/>
            </a:pPr>
            <a:endParaRPr lang="en-MY" sz="2000">
              <a:solidFill>
                <a:srgbClr val="FF0000"/>
              </a:solidFill>
            </a:endParaRPr>
          </a:p>
        </p:txBody>
      </p:sp>
      <p:cxnSp>
        <p:nvCxnSpPr>
          <p:cNvPr id="46296761" name="Straight Connector 4"/>
          <p:cNvCxnSpPr/>
          <p:nvPr/>
        </p:nvCxnSpPr>
        <p:spPr bwMode="auto">
          <a:xfrm>
            <a:off x="10523220" y="2331720"/>
            <a:ext cx="274320"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603167851"/>
                                        </p:tgtEl>
                                        <p:attrNameLst>
                                          <p:attrName>style.visibility</p:attrName>
                                        </p:attrNameLst>
                                      </p:cBhvr>
                                      <p:to>
                                        <p:strVal val="visible"/>
                                      </p:to>
                                    </p:set>
                                    <p:anim calcmode="lin" valueType="num">
                                      <p:cBhvr additive="base">
                                        <p:cTn id="7" dur="500" fill="hold"/>
                                        <p:tgtEl>
                                          <p:spTgt spid="603167851"/>
                                        </p:tgtEl>
                                        <p:attrNameLst>
                                          <p:attrName>ppt_x</p:attrName>
                                        </p:attrNameLst>
                                      </p:cBhvr>
                                      <p:tavLst>
                                        <p:tav tm="0">
                                          <p:val>
                                            <p:strVal val="#ppt_x"/>
                                          </p:val>
                                        </p:tav>
                                        <p:tav tm="100000">
                                          <p:val>
                                            <p:strVal val="#ppt_x"/>
                                          </p:val>
                                        </p:tav>
                                      </p:tavLst>
                                    </p:anim>
                                    <p:anim calcmode="lin" valueType="num">
                                      <p:cBhvr additive="base">
                                        <p:cTn id="8" dur="500" fill="hold"/>
                                        <p:tgtEl>
                                          <p:spTgt spid="603167851"/>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917184215">
                                            <p:txEl>
                                              <p:pRg st="0" end="0"/>
                                            </p:txEl>
                                          </p:spTgt>
                                        </p:tgtEl>
                                        <p:attrNameLst>
                                          <p:attrName>style.visibility</p:attrName>
                                        </p:attrNameLst>
                                      </p:cBhvr>
                                      <p:to>
                                        <p:strVal val="visible"/>
                                      </p:to>
                                    </p:set>
                                    <p:animEffect transition="in" filter="wipe(left)">
                                      <p:cBhvr>
                                        <p:cTn id="13" dur="500"/>
                                        <p:tgtEl>
                                          <p:spTgt spid="917184215">
                                            <p:txEl>
                                              <p:pRg st="0" end="0"/>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917184215">
                                            <p:txEl>
                                              <p:pRg st="1" end="1"/>
                                            </p:txEl>
                                          </p:spTgt>
                                        </p:tgtEl>
                                        <p:attrNameLst>
                                          <p:attrName>style.visibility</p:attrName>
                                        </p:attrNameLst>
                                      </p:cBhvr>
                                      <p:to>
                                        <p:strVal val="visible"/>
                                      </p:to>
                                    </p:set>
                                    <p:animEffect transition="in" filter="wipe(left)">
                                      <p:cBhvr>
                                        <p:cTn id="16" dur="500"/>
                                        <p:tgtEl>
                                          <p:spTgt spid="917184215">
                                            <p:txEl>
                                              <p:pRg st="1" end="1"/>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917184215">
                                            <p:txEl>
                                              <p:pRg st="2" end="2"/>
                                            </p:txEl>
                                          </p:spTgt>
                                        </p:tgtEl>
                                        <p:attrNameLst>
                                          <p:attrName>style.visibility</p:attrName>
                                        </p:attrNameLst>
                                      </p:cBhvr>
                                      <p:to>
                                        <p:strVal val="visible"/>
                                      </p:to>
                                    </p:set>
                                    <p:animEffect transition="in" filter="wipe(left)">
                                      <p:cBhvr>
                                        <p:cTn id="19" dur="500"/>
                                        <p:tgtEl>
                                          <p:spTgt spid="917184215">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109638596"/>
                                        </p:tgtEl>
                                        <p:attrNameLst>
                                          <p:attrName>style.visibility</p:attrName>
                                        </p:attrNameLst>
                                      </p:cBhvr>
                                      <p:to>
                                        <p:strVal val="visible"/>
                                      </p:to>
                                    </p:set>
                                    <p:anim calcmode="lin" valueType="num">
                                      <p:cBhvr additive="base">
                                        <p:cTn id="24" dur="500" fill="hold"/>
                                        <p:tgtEl>
                                          <p:spTgt spid="1109638596"/>
                                        </p:tgtEl>
                                        <p:attrNameLst>
                                          <p:attrName>ppt_x</p:attrName>
                                        </p:attrNameLst>
                                      </p:cBhvr>
                                      <p:tavLst>
                                        <p:tav tm="0">
                                          <p:val>
                                            <p:strVal val="#ppt_x"/>
                                          </p:val>
                                        </p:tav>
                                        <p:tav tm="100000">
                                          <p:val>
                                            <p:strVal val="#ppt_x"/>
                                          </p:val>
                                        </p:tav>
                                      </p:tavLst>
                                    </p:anim>
                                    <p:anim calcmode="lin" valueType="num">
                                      <p:cBhvr additive="base">
                                        <p:cTn id="25" dur="500" fill="hold"/>
                                        <p:tgtEl>
                                          <p:spTgt spid="110963859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6296761"/>
                                        </p:tgtEl>
                                        <p:attrNameLst>
                                          <p:attrName>style.visibility</p:attrName>
                                        </p:attrNameLst>
                                      </p:cBhvr>
                                      <p:to>
                                        <p:strVal val="visible"/>
                                      </p:to>
                                    </p:set>
                                    <p:animEffect transition="in" filter="wipe(left)">
                                      <p:cBhvr>
                                        <p:cTn id="30" dur="500"/>
                                        <p:tgtEl>
                                          <p:spTgt spid="4629676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520750135">
                                            <p:txEl>
                                              <p:pRg st="0" end="0"/>
                                            </p:txEl>
                                          </p:spTgt>
                                        </p:tgtEl>
                                        <p:attrNameLst>
                                          <p:attrName>style.visibility</p:attrName>
                                        </p:attrNameLst>
                                      </p:cBhvr>
                                      <p:to>
                                        <p:strVal val="visible"/>
                                      </p:to>
                                    </p:set>
                                    <p:animEffect transition="in" filter="wipe(left)">
                                      <p:cBhvr>
                                        <p:cTn id="35" dur="500"/>
                                        <p:tgtEl>
                                          <p:spTgt spid="1520750135">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520750135">
                                            <p:txEl>
                                              <p:pRg st="2" end="2"/>
                                            </p:txEl>
                                          </p:spTgt>
                                        </p:tgtEl>
                                        <p:attrNameLst>
                                          <p:attrName>style.visibility</p:attrName>
                                        </p:attrNameLst>
                                      </p:cBhvr>
                                      <p:to>
                                        <p:strVal val="visible"/>
                                      </p:to>
                                    </p:set>
                                    <p:animEffect transition="in" filter="wipe(left)">
                                      <p:cBhvr>
                                        <p:cTn id="40" dur="500"/>
                                        <p:tgtEl>
                                          <p:spTgt spid="15207501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3167851" grpId="0"/>
      <p:bldP spid="917184215" grpId="0" uiExpand="1" build="p"/>
      <p:bldP spid="1109638596" grpId="0"/>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7595242" name="Google Shape;139;p5"/>
          <p:cNvSpPr txBox="1">
            <a:spLocks noGrp="1"/>
          </p:cNvSpPr>
          <p:nvPr>
            <p:ph type="title"/>
          </p:nvPr>
        </p:nvSpPr>
        <p:spPr bwMode="auto">
          <a:xfrm>
            <a:off x="412800" y="424195"/>
            <a:ext cx="6064200" cy="7981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defRPr/>
            </a:pPr>
            <a:r>
              <a:rPr lang="en-US" b="1"/>
              <a:t>Characteristics of Projects</a:t>
            </a:r>
            <a:endParaRPr/>
          </a:p>
        </p:txBody>
      </p:sp>
      <p:sp>
        <p:nvSpPr>
          <p:cNvPr id="201334698" name="Google Shape;141;p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7</a:t>
            </a:fld>
            <a:endParaRPr/>
          </a:p>
        </p:txBody>
      </p:sp>
      <p:sp>
        <p:nvSpPr>
          <p:cNvPr id="1780841232" name="Google Shape;142;p5"/>
          <p:cNvSpPr txBox="1"/>
          <p:nvPr/>
        </p:nvSpPr>
        <p:spPr bwMode="auto">
          <a:xfrm>
            <a:off x="1524000" y="1133002"/>
            <a:ext cx="4191000" cy="3508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1.1 Introduction to Project Management</a:t>
            </a:r>
            <a:endParaRPr/>
          </a:p>
        </p:txBody>
      </p:sp>
      <p:cxnSp>
        <p:nvCxnSpPr>
          <p:cNvPr id="1592278451" name="Google Shape;143;p5"/>
          <p:cNvCxnSpPr/>
          <p:nvPr/>
        </p:nvCxnSpPr>
        <p:spPr bwMode="auto">
          <a:xfrm rot="10800000">
            <a:off x="2743200" y="1524000"/>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443239005" name="Google Shape;144;p5"/>
          <p:cNvPicPr/>
          <p:nvPr/>
        </p:nvPicPr>
        <p:blipFill rotWithShape="1">
          <a:blip r:embed="rId3">
            <a:alphaModFix/>
          </a:blip>
          <a:stretch/>
        </p:blipFill>
        <p:spPr bwMode="auto">
          <a:xfrm>
            <a:off x="6477000" y="0"/>
            <a:ext cx="5638800" cy="6172200"/>
          </a:xfrm>
          <a:prstGeom prst="rect">
            <a:avLst/>
          </a:prstGeom>
          <a:noFill/>
          <a:ln>
            <a:noFill/>
          </a:ln>
        </p:spPr>
      </p:pic>
      <p:sp>
        <p:nvSpPr>
          <p:cNvPr id="1768980542" name="Google Shape;140;p5"/>
          <p:cNvSpPr txBox="1">
            <a:spLocks noGrp="1"/>
          </p:cNvSpPr>
          <p:nvPr>
            <p:ph type="body" idx="1"/>
          </p:nvPr>
        </p:nvSpPr>
        <p:spPr bwMode="auto">
          <a:xfrm>
            <a:off x="457200" y="1825624"/>
            <a:ext cx="7612380" cy="4727575"/>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ts val="2800"/>
              <a:buChar char="•"/>
              <a:defRPr/>
            </a:pPr>
            <a:r>
              <a:rPr lang="en-US" sz="2800"/>
              <a:t>Non-routine </a:t>
            </a:r>
            <a:r>
              <a:rPr lang="en-US" sz="2800" b="1"/>
              <a:t>(e.g. FYP)</a:t>
            </a:r>
            <a:endParaRPr b="1"/>
          </a:p>
          <a:p>
            <a:pPr marL="228600" lvl="0" indent="-228600" algn="l" rtl="0">
              <a:lnSpc>
                <a:spcPct val="90000"/>
              </a:lnSpc>
              <a:spcBef>
                <a:spcPts val="1000"/>
              </a:spcBef>
              <a:spcAft>
                <a:spcPts val="0"/>
              </a:spcAft>
              <a:buClr>
                <a:schemeClr val="dk1"/>
              </a:buClr>
              <a:buSzPts val="2800"/>
              <a:buChar char="•"/>
              <a:defRPr/>
            </a:pPr>
            <a:r>
              <a:rPr lang="en-US" sz="2800"/>
              <a:t>Planning is required </a:t>
            </a:r>
            <a:r>
              <a:rPr lang="en-US" sz="1700">
                <a:solidFill>
                  <a:srgbClr val="FF0000"/>
                </a:solidFill>
              </a:rPr>
              <a:t>(e.g. what needs to be done </a:t>
            </a:r>
            <a:r>
              <a:rPr lang="en-US" sz="1700">
                <a:solidFill>
                  <a:srgbClr val="FF0000"/>
                </a:solidFill>
              </a:rPr>
              <a:t>etc</a:t>
            </a:r>
            <a:r>
              <a:rPr lang="en-US" sz="1700">
                <a:solidFill>
                  <a:srgbClr val="FF0000"/>
                </a:solidFill>
              </a:rPr>
              <a:t>…)</a:t>
            </a:r>
            <a:endParaRPr sz="1700">
              <a:solidFill>
                <a:srgbClr val="FF0000"/>
              </a:solidFill>
            </a:endParaRPr>
          </a:p>
          <a:p>
            <a:pPr marL="228600" lvl="0" indent="-228600" algn="l" rtl="0">
              <a:lnSpc>
                <a:spcPct val="90000"/>
              </a:lnSpc>
              <a:spcBef>
                <a:spcPts val="1000"/>
              </a:spcBef>
              <a:spcAft>
                <a:spcPts val="0"/>
              </a:spcAft>
              <a:buClr>
                <a:schemeClr val="dk1"/>
              </a:buClr>
              <a:buSzPts val="2800"/>
              <a:buChar char="•"/>
              <a:defRPr/>
            </a:pPr>
            <a:r>
              <a:rPr lang="en-US" sz="2800"/>
              <a:t>Specific objectives to be met</a:t>
            </a:r>
            <a:endParaRPr/>
          </a:p>
          <a:p>
            <a:pPr marL="228600" lvl="0" indent="-228600" algn="l" rtl="0">
              <a:lnSpc>
                <a:spcPct val="90000"/>
              </a:lnSpc>
              <a:spcBef>
                <a:spcPts val="1000"/>
              </a:spcBef>
              <a:spcAft>
                <a:spcPts val="0"/>
              </a:spcAft>
              <a:buClr>
                <a:schemeClr val="dk1"/>
              </a:buClr>
              <a:buSzPts val="2800"/>
              <a:buChar char="•"/>
              <a:defRPr/>
            </a:pPr>
            <a:endParaRPr/>
          </a:p>
          <a:p>
            <a:pPr marL="228600" lvl="0" indent="-228600" algn="l" rtl="0">
              <a:lnSpc>
                <a:spcPct val="90000"/>
              </a:lnSpc>
              <a:spcBef>
                <a:spcPts val="1000"/>
              </a:spcBef>
              <a:spcAft>
                <a:spcPts val="0"/>
              </a:spcAft>
              <a:buClr>
                <a:schemeClr val="dk1"/>
              </a:buClr>
              <a:buSzPts val="2800"/>
              <a:buChar char="•"/>
              <a:defRPr/>
            </a:pPr>
            <a:r>
              <a:rPr lang="en-US" sz="2800"/>
              <a:t>Pre-determined time span </a:t>
            </a:r>
            <a:r>
              <a:rPr lang="en-US" sz="2800" b="1"/>
              <a:t>(e.g. FYP 9 months)</a:t>
            </a:r>
            <a:endParaRPr b="1"/>
          </a:p>
          <a:p>
            <a:pPr marL="228600" lvl="0" indent="-228600" algn="l" rtl="0">
              <a:lnSpc>
                <a:spcPct val="90000"/>
              </a:lnSpc>
              <a:spcBef>
                <a:spcPts val="1000"/>
              </a:spcBef>
              <a:spcAft>
                <a:spcPts val="0"/>
              </a:spcAft>
              <a:buClr>
                <a:schemeClr val="dk1"/>
              </a:buClr>
              <a:buSzPts val="2800"/>
              <a:buChar char="•"/>
              <a:defRPr/>
            </a:pPr>
            <a:r>
              <a:rPr lang="en-US" sz="2800"/>
              <a:t>Work is carried out for someone, i.e. clients</a:t>
            </a:r>
            <a:endParaRPr/>
          </a:p>
          <a:p>
            <a:pPr marL="228600" lvl="0" indent="-228600">
              <a:buSzPts val="2800"/>
              <a:defRPr/>
            </a:pPr>
            <a:r>
              <a:rPr lang="en-US" sz="2800"/>
              <a:t>Involves several specialisms </a:t>
            </a:r>
            <a:r>
              <a:rPr lang="en-US" sz="2800" b="1"/>
              <a:t>(e.g. database specialists, UI specialist, </a:t>
            </a:r>
            <a:r>
              <a:rPr lang="en-US" b="1"/>
              <a:t>Network specialist, </a:t>
            </a:r>
            <a:r>
              <a:rPr lang="en-US" sz="2800" b="1"/>
              <a:t>etc</a:t>
            </a:r>
            <a:r>
              <a:rPr lang="en-US" sz="2800" b="1"/>
              <a:t>)</a:t>
            </a:r>
            <a:endParaRPr b="1"/>
          </a:p>
          <a:p>
            <a:pPr marL="228600" lvl="0" indent="-228600" algn="l" rtl="0">
              <a:lnSpc>
                <a:spcPct val="90000"/>
              </a:lnSpc>
              <a:spcBef>
                <a:spcPts val="1000"/>
              </a:spcBef>
              <a:spcAft>
                <a:spcPts val="0"/>
              </a:spcAft>
              <a:buClr>
                <a:schemeClr val="dk1"/>
              </a:buClr>
              <a:buSzPts val="2800"/>
              <a:buChar char="•"/>
              <a:defRPr/>
            </a:pPr>
            <a:r>
              <a:rPr lang="en-US" sz="2800"/>
              <a:t>Involves several phases</a:t>
            </a:r>
            <a:r>
              <a:rPr lang="en-US" sz="2800" b="1"/>
              <a:t> (e.g. analysis, design, code, test, implement, </a:t>
            </a:r>
            <a:r>
              <a:rPr lang="en-US" sz="2800">
                <a:solidFill>
                  <a:srgbClr val="FF0000"/>
                </a:solidFill>
              </a:rPr>
              <a:t>________</a:t>
            </a:r>
            <a:r>
              <a:rPr lang="en-US" sz="2800" b="1"/>
              <a:t> )</a:t>
            </a:r>
            <a:endParaRPr b="1"/>
          </a:p>
          <a:p>
            <a:pPr marL="228600" lvl="0" indent="-228600" algn="l" rtl="0">
              <a:lnSpc>
                <a:spcPct val="90000"/>
              </a:lnSpc>
              <a:spcBef>
                <a:spcPts val="1000"/>
              </a:spcBef>
              <a:spcAft>
                <a:spcPts val="0"/>
              </a:spcAft>
              <a:buClr>
                <a:schemeClr val="dk1"/>
              </a:buClr>
              <a:buSzPts val="2800"/>
              <a:buChar char="•"/>
              <a:defRPr/>
            </a:pPr>
            <a:r>
              <a:rPr lang="en-US" sz="2800"/>
              <a:t>Resources constraints is common </a:t>
            </a:r>
            <a:endParaRPr/>
          </a:p>
          <a:p>
            <a:pPr marL="0" lvl="0" indent="0" algn="l" rtl="0">
              <a:lnSpc>
                <a:spcPct val="90000"/>
              </a:lnSpc>
              <a:spcBef>
                <a:spcPts val="0"/>
              </a:spcBef>
              <a:spcAft>
                <a:spcPts val="0"/>
              </a:spcAft>
              <a:buClr>
                <a:schemeClr val="dk1"/>
              </a:buClr>
              <a:buSzPts val="2800"/>
              <a:buNone/>
              <a:defRPr/>
            </a:pPr>
            <a:r>
              <a:rPr lang="en-US" b="1"/>
              <a:t>   </a:t>
            </a:r>
            <a:r>
              <a:rPr lang="en-US" sz="2800" b="1"/>
              <a:t>(e.g. Time, budget, staffs)</a:t>
            </a:r>
            <a:endParaRPr b="1"/>
          </a:p>
        </p:txBody>
      </p:sp>
      <p:sp>
        <p:nvSpPr>
          <p:cNvPr id="706083191" name="TextBox 1"/>
          <p:cNvSpPr txBox="1"/>
          <p:nvPr/>
        </p:nvSpPr>
        <p:spPr bwMode="auto">
          <a:xfrm>
            <a:off x="723901" y="2883961"/>
            <a:ext cx="5638800" cy="830997"/>
          </a:xfrm>
          <a:prstGeom prst="rect">
            <a:avLst/>
          </a:prstGeom>
          <a:noFill/>
        </p:spPr>
        <p:txBody>
          <a:bodyPr wrap="square" rtlCol="0">
            <a:spAutoFit/>
          </a:bodyPr>
          <a:lstStyle/>
          <a:p>
            <a:pPr>
              <a:defRPr/>
            </a:pPr>
            <a:r>
              <a:rPr lang="en-US" sz="1600" b="0" i="0">
                <a:solidFill>
                  <a:srgbClr val="FF0000"/>
                </a:solidFill>
                <a:latin typeface="Rubik"/>
              </a:rPr>
              <a:t>(e.g. Develop a student attendance system to reduce the amount of paper consumption by 99%)</a:t>
            </a:r>
            <a:endParaRPr/>
          </a:p>
          <a:p>
            <a:pPr>
              <a:defRPr/>
            </a:pPr>
            <a:endParaRPr lang="en-GB" sz="1600">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97595242"/>
                                        </p:tgtEl>
                                        <p:attrNameLst>
                                          <p:attrName>style.visibility</p:attrName>
                                        </p:attrNameLst>
                                      </p:cBhvr>
                                      <p:to>
                                        <p:strVal val="visible"/>
                                      </p:to>
                                    </p:set>
                                    <p:anim calcmode="lin" valueType="num">
                                      <p:cBhvr additive="base">
                                        <p:cTn id="7" dur="500" fill="hold"/>
                                        <p:tgtEl>
                                          <p:spTgt spid="597595242"/>
                                        </p:tgtEl>
                                        <p:attrNameLst>
                                          <p:attrName>ppt_x</p:attrName>
                                        </p:attrNameLst>
                                      </p:cBhvr>
                                      <p:tavLst>
                                        <p:tav tm="0">
                                          <p:val>
                                            <p:strVal val="#ppt_x"/>
                                          </p:val>
                                        </p:tav>
                                        <p:tav tm="100000">
                                          <p:val>
                                            <p:strVal val="#ppt_x"/>
                                          </p:val>
                                        </p:tav>
                                      </p:tavLst>
                                    </p:anim>
                                    <p:anim calcmode="lin" valueType="num">
                                      <p:cBhvr additive="base">
                                        <p:cTn id="8" dur="500" fill="hold"/>
                                        <p:tgtEl>
                                          <p:spTgt spid="59759524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6898054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6898054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6898054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06083191"/>
                                        </p:tgtEl>
                                        <p:attrNameLst>
                                          <p:attrName>style.visibility</p:attrName>
                                        </p:attrNameLst>
                                      </p:cBhvr>
                                      <p:to>
                                        <p:strVal val="visible"/>
                                      </p:to>
                                    </p:set>
                                    <p:animEffect transition="in" filter="wipe(left)">
                                      <p:cBhvr>
                                        <p:cTn id="25" dur="500"/>
                                        <p:tgtEl>
                                          <p:spTgt spid="706083191"/>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768980542">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768980542">
                                            <p:txEl>
                                              <p:pRg st="5" end="5"/>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768980542">
                                            <p:txEl>
                                              <p:pRg st="6" end="6"/>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768980542">
                                            <p:txEl>
                                              <p:pRg st="7" end="7"/>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768980542">
                                            <p:txEl>
                                              <p:pRg st="8" end="8"/>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76898054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7595242" grpId="0"/>
      <p:bldP spid="706083191" grpId="0"/>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14413369" name="Google Shape;176;p7"/>
          <p:cNvPicPr/>
          <p:nvPr/>
        </p:nvPicPr>
        <p:blipFill rotWithShape="1">
          <a:blip r:embed="rId3">
            <a:alphaModFix/>
          </a:blip>
          <a:stretch/>
        </p:blipFill>
        <p:spPr bwMode="auto">
          <a:xfrm>
            <a:off x="0" y="3730537"/>
            <a:ext cx="3979333" cy="3127463"/>
          </a:xfrm>
          <a:prstGeom prst="rect">
            <a:avLst/>
          </a:prstGeom>
          <a:noFill/>
          <a:ln>
            <a:noFill/>
          </a:ln>
        </p:spPr>
      </p:pic>
      <p:pic>
        <p:nvPicPr>
          <p:cNvPr id="1092580231" name="Google Shape;177;p7"/>
          <p:cNvPicPr/>
          <p:nvPr/>
        </p:nvPicPr>
        <p:blipFill rotWithShape="1">
          <a:blip r:embed="rId4">
            <a:alphaModFix/>
          </a:blip>
          <a:stretch/>
        </p:blipFill>
        <p:spPr bwMode="auto">
          <a:xfrm>
            <a:off x="3979333" y="3730537"/>
            <a:ext cx="8212667" cy="3127463"/>
          </a:xfrm>
          <a:prstGeom prst="rect">
            <a:avLst/>
          </a:prstGeom>
          <a:noFill/>
          <a:ln>
            <a:noFill/>
          </a:ln>
        </p:spPr>
      </p:pic>
      <p:sp>
        <p:nvSpPr>
          <p:cNvPr id="870388209" name="Google Shape;178;p7"/>
          <p:cNvSpPr txBox="1">
            <a:spLocks noGrp="1"/>
          </p:cNvSpPr>
          <p:nvPr>
            <p:ph type="title"/>
          </p:nvPr>
        </p:nvSpPr>
        <p:spPr bwMode="auto">
          <a:xfrm>
            <a:off x="838200" y="519112"/>
            <a:ext cx="10515600" cy="76041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defRPr/>
            </a:pPr>
            <a:r>
              <a:rPr lang="en-US" b="1"/>
              <a:t>Software vs Other Types of Projects</a:t>
            </a:r>
            <a:endParaRPr/>
          </a:p>
        </p:txBody>
      </p:sp>
      <p:sp>
        <p:nvSpPr>
          <p:cNvPr id="1517113354" name="Google Shape;180;p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8</a:t>
            </a:fld>
            <a:endParaRPr/>
          </a:p>
        </p:txBody>
      </p:sp>
      <p:sp>
        <p:nvSpPr>
          <p:cNvPr id="749173564" name="Google Shape;181;p7"/>
          <p:cNvSpPr txBox="1"/>
          <p:nvPr/>
        </p:nvSpPr>
        <p:spPr bwMode="auto">
          <a:xfrm>
            <a:off x="4038600" y="1143000"/>
            <a:ext cx="4191000" cy="3508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1.1 Introduction to Project Management</a:t>
            </a:r>
            <a:endParaRPr/>
          </a:p>
        </p:txBody>
      </p:sp>
      <p:cxnSp>
        <p:nvCxnSpPr>
          <p:cNvPr id="1216959324" name="Google Shape;182;p7"/>
          <p:cNvCxnSpPr/>
          <p:nvPr/>
        </p:nvCxnSpPr>
        <p:spPr bwMode="auto">
          <a:xfrm rot="10800000">
            <a:off x="5540494" y="1524000"/>
            <a:ext cx="1023822" cy="0"/>
          </a:xfrm>
          <a:prstGeom prst="straightConnector1">
            <a:avLst/>
          </a:prstGeom>
          <a:noFill/>
          <a:ln w="28575" cap="flat" cmpd="sng">
            <a:solidFill>
              <a:srgbClr val="3F3F3F"/>
            </a:solidFill>
            <a:prstDash val="solid"/>
            <a:miter lim="800000"/>
            <a:headEnd type="none" w="sm" len="sm"/>
            <a:tailEnd type="none" w="sm" len="sm"/>
          </a:ln>
        </p:spPr>
      </p:cxnSp>
      <p:graphicFrame>
        <p:nvGraphicFramePr>
          <p:cNvPr id="648527294" name="Table 1"/>
          <p:cNvGraphicFramePr>
            <a:graphicFrameLocks xmlns:a="http://schemas.openxmlformats.org/drawingml/2006/main" noGrp="1"/>
          </p:cNvGraphicFramePr>
          <p:nvPr/>
        </p:nvGraphicFramePr>
        <p:xfrm rot="0">
          <a:off x="666427" y="1993899"/>
          <a:ext cx="11065791" cy="916494"/>
        </p:xfrm>
        <a:graphic>
          <a:graphicData uri="http://schemas.openxmlformats.org/drawingml/2006/table">
            <a:tbl>
              <a:tblPr firstRow="1" firstCol="0" lastRow="0" lastCol="0" bandRow="1" bandCol="0">
                <a:tableStyleId>{4C38C2D8-9331-4F24-B9CF-3786705C414E}</a:tableStyleId>
              </a:tblPr>
              <a:tblGrid>
                <a:gridCol w="3688597"/>
                <a:gridCol w="3688597"/>
                <a:gridCol w="3688597"/>
              </a:tblGrid>
              <a:tr h="916494">
                <a:tc>
                  <a:txBody>
                    <a:bodyPr/>
                    <a:p>
                      <a:pPr>
                        <a:defRPr/>
                      </a:pPr>
                      <a:endParaRPr lang="en-GB" sz="2400"/>
                    </a:p>
                  </a:txBody>
                  <a:tcPr>
                    <a:solidFill>
                      <a:schemeClr val="accent1">
                        <a:lumMod val="20000"/>
                        <a:lumOff val="80000"/>
                      </a:schemeClr>
                    </a:solidFill>
                  </a:tcPr>
                </a:tc>
                <a:tc>
                  <a:txBody>
                    <a:bodyPr/>
                    <a:p>
                      <a:pPr>
                        <a:defRPr/>
                      </a:pPr>
                      <a:r>
                        <a:rPr lang="en-US" sz="2400">
                          <a:solidFill>
                            <a:srgbClr val="FF0000"/>
                          </a:solidFill>
                        </a:rPr>
                        <a:t>S</a:t>
                      </a:r>
                      <a:r>
                        <a:rPr lang="en-GB" sz="2400">
                          <a:solidFill>
                            <a:srgbClr val="FF0000"/>
                          </a:solidFill>
                        </a:rPr>
                        <a:t>oftware</a:t>
                      </a:r>
                      <a:r>
                        <a:rPr lang="en-GB" sz="2400">
                          <a:solidFill>
                            <a:srgbClr val="FF0000"/>
                          </a:solidFill>
                        </a:rPr>
                        <a:t> Project </a:t>
                      </a:r>
                      <a:r>
                        <a:rPr lang="en-GB" sz="1800">
                          <a:solidFill>
                            <a:srgbClr val="FF0000"/>
                          </a:solidFill>
                        </a:rPr>
                        <a:t>(e.g. developing XYZ operating system)</a:t>
                      </a:r>
                      <a:endParaRPr lang="en-US" sz="1800">
                        <a:solidFill>
                          <a:srgbClr val="FF0000"/>
                        </a:solidFill>
                      </a:endParaRPr>
                    </a:p>
                  </a:txBody>
                  <a:tcPr>
                    <a:solidFill>
                      <a:schemeClr val="accent1">
                        <a:lumMod val="20000"/>
                        <a:lumOff val="80000"/>
                      </a:schemeClr>
                    </a:solidFill>
                  </a:tcPr>
                </a:tc>
                <a:tc>
                  <a:txBody>
                    <a:bodyPr/>
                    <a:p>
                      <a:pPr>
                        <a:defRPr/>
                      </a:pPr>
                      <a:r>
                        <a:rPr lang="en-US" sz="2400">
                          <a:solidFill>
                            <a:srgbClr val="FF0000"/>
                          </a:solidFill>
                        </a:rPr>
                        <a:t>Other Types of Project</a:t>
                      </a:r>
                      <a:endParaRPr/>
                    </a:p>
                    <a:p>
                      <a:pPr>
                        <a:defRPr/>
                      </a:pPr>
                      <a:r>
                        <a:rPr lang="en-US" sz="1800">
                          <a:solidFill>
                            <a:srgbClr val="FF0000"/>
                          </a:solidFill>
                        </a:rPr>
                        <a:t>(e.g. construction project)</a:t>
                      </a:r>
                      <a:endParaRPr lang="en-GB" sz="1800">
                        <a:solidFill>
                          <a:srgbClr val="FF0000"/>
                        </a:solidFill>
                      </a:endParaRPr>
                    </a:p>
                  </a:txBody>
                  <a:tcPr>
                    <a:solidFill>
                      <a:schemeClr val="accent1">
                        <a:lumMod val="20000"/>
                        <a:lumOff val="80000"/>
                      </a:schemeClr>
                    </a:solidFill>
                  </a:tcPr>
                </a:tc>
              </a:tr>
            </a:tbl>
          </a:graphicData>
        </a:graphic>
      </p:graphicFrame>
      <p:graphicFrame>
        <p:nvGraphicFramePr>
          <p:cNvPr id="2046407382" name="Table 2"/>
          <p:cNvGraphicFramePr>
            <a:graphicFrameLocks xmlns:a="http://schemas.openxmlformats.org/drawingml/2006/main" noGrp="1"/>
          </p:cNvGraphicFramePr>
          <p:nvPr/>
        </p:nvGraphicFramePr>
        <p:xfrm rot="0">
          <a:off x="666426" y="3817278"/>
          <a:ext cx="11065791" cy="1043036"/>
        </p:xfrm>
        <a:graphic>
          <a:graphicData uri="http://schemas.openxmlformats.org/drawingml/2006/table">
            <a:tbl>
              <a:tblPr firstRow="1" firstCol="0" lastRow="0" lastCol="0" bandRow="1" bandCol="0">
                <a:tableStyleId>{4C38C2D8-9331-4F24-B9CF-3786705C414E}</a:tableStyleId>
              </a:tblPr>
              <a:tblGrid>
                <a:gridCol w="3688597"/>
                <a:gridCol w="3688597"/>
                <a:gridCol w="3688597"/>
              </a:tblGrid>
              <a:tr h="1043036">
                <a:tc>
                  <a:txBody>
                    <a:bodyPr/>
                    <a:p>
                      <a:pPr>
                        <a:defRPr/>
                      </a:pPr>
                      <a:r>
                        <a:rPr lang="en-US" sz="2400" b="1">
                          <a:solidFill>
                            <a:srgbClr val="FF0000"/>
                          </a:solidFill>
                        </a:rPr>
                        <a:t>Conformity</a:t>
                      </a:r>
                      <a:endParaRPr lang="en-GB" sz="2400">
                        <a:solidFill>
                          <a:srgbClr val="FF0000"/>
                        </a:solidFill>
                      </a:endParaRPr>
                    </a:p>
                  </a:txBody>
                  <a:tcPr>
                    <a:solidFill>
                      <a:schemeClr val="bg1"/>
                    </a:solidFill>
                  </a:tcPr>
                </a:tc>
                <a:tc>
                  <a:txBody>
                    <a:bodyPr/>
                    <a:p>
                      <a:pPr>
                        <a:defRPr/>
                      </a:pPr>
                      <a:r>
                        <a:rPr lang="en-US" sz="2000" b="1"/>
                        <a:t>have to conform to </a:t>
                      </a:r>
                      <a:r>
                        <a:rPr lang="en-US" sz="2000" b="1" u="sng"/>
                        <a:t>clients </a:t>
                      </a:r>
                      <a:r>
                        <a:rPr lang="en-US" sz="2000" b="1"/>
                        <a:t>requirements</a:t>
                      </a:r>
                      <a:endParaRPr lang="en-GB" sz="2000" b="1"/>
                    </a:p>
                  </a:txBody>
                  <a:tcPr>
                    <a:solidFill>
                      <a:schemeClr val="bg1"/>
                    </a:solidFill>
                  </a:tcPr>
                </a:tc>
                <a:tc>
                  <a:txBody>
                    <a:bodyPr/>
                    <a:p>
                      <a:pPr marL="0" marR="0" lvl="0" indent="0" algn="l" defTabSz="914400" rtl="0">
                        <a:lnSpc>
                          <a:spcPct val="100000"/>
                        </a:lnSpc>
                        <a:spcBef>
                          <a:spcPts val="0"/>
                        </a:spcBef>
                        <a:spcAft>
                          <a:spcPts val="0"/>
                        </a:spcAft>
                        <a:buClr>
                          <a:srgbClr val="000000"/>
                        </a:buClr>
                        <a:buSzTx/>
                        <a:buFont typeface="Arial"/>
                        <a:buNone/>
                        <a:defRPr/>
                      </a:pPr>
                      <a:r>
                        <a:rPr lang="en-US" sz="2000" b="1"/>
                        <a:t>have to conform to </a:t>
                      </a:r>
                      <a:r>
                        <a:rPr lang="en-US" sz="2000" b="1" u="sng"/>
                        <a:t>physical laws</a:t>
                      </a:r>
                      <a:r>
                        <a:rPr lang="en-US" sz="2000" b="1"/>
                        <a:t> (e.g. gravity law)</a:t>
                      </a:r>
                      <a:endParaRPr/>
                    </a:p>
                  </a:txBody>
                  <a:tcPr>
                    <a:solidFill>
                      <a:schemeClr val="bg1"/>
                    </a:solidFill>
                  </a:tcPr>
                </a:tc>
              </a:tr>
            </a:tbl>
          </a:graphicData>
        </a:graphic>
      </p:graphicFrame>
      <p:graphicFrame>
        <p:nvGraphicFramePr>
          <p:cNvPr id="2085953240" name="Table 3"/>
          <p:cNvGraphicFramePr>
            <a:graphicFrameLocks xmlns:a="http://schemas.openxmlformats.org/drawingml/2006/main" noGrp="1"/>
          </p:cNvGraphicFramePr>
          <p:nvPr/>
        </p:nvGraphicFramePr>
        <p:xfrm rot="0">
          <a:off x="666425" y="4890131"/>
          <a:ext cx="11065791" cy="1035588"/>
        </p:xfrm>
        <a:graphic>
          <a:graphicData uri="http://schemas.openxmlformats.org/drawingml/2006/table">
            <a:tbl>
              <a:tblPr firstRow="1" firstCol="0" lastRow="0" lastCol="0" bandRow="1" bandCol="0">
                <a:tableStyleId>{4C38C2D8-9331-4F24-B9CF-3786705C414E}</a:tableStyleId>
              </a:tblPr>
              <a:tblGrid>
                <a:gridCol w="3688597"/>
                <a:gridCol w="3688597"/>
                <a:gridCol w="3688597"/>
              </a:tblGrid>
              <a:tr h="1035588">
                <a:tc>
                  <a:txBody>
                    <a:bodyPr/>
                    <a:p>
                      <a:pPr>
                        <a:defRPr/>
                      </a:pPr>
                      <a:r>
                        <a:rPr lang="en-US" sz="2400" b="1">
                          <a:solidFill>
                            <a:srgbClr val="FF0000"/>
                          </a:solidFill>
                        </a:rPr>
                        <a:t>Complexity</a:t>
                      </a:r>
                      <a:endParaRPr lang="en-GB" sz="2400">
                        <a:solidFill>
                          <a:srgbClr val="FF0000"/>
                        </a:solidFill>
                      </a:endParaRPr>
                    </a:p>
                  </a:txBody>
                  <a:tcPr>
                    <a:solidFill>
                      <a:schemeClr val="bg1"/>
                    </a:solidFill>
                  </a:tcPr>
                </a:tc>
                <a:tc>
                  <a:txBody>
                    <a:bodyPr/>
                    <a:p>
                      <a:pPr>
                        <a:defRPr/>
                      </a:pPr>
                      <a:r>
                        <a:rPr lang="en-US" sz="2000" b="1"/>
                        <a:t>Have </a:t>
                      </a:r>
                      <a:r>
                        <a:rPr lang="en-US" sz="2000" b="1" u="sng"/>
                        <a:t>more complexity </a:t>
                      </a:r>
                      <a:r>
                        <a:rPr lang="en-US" sz="2000" b="1"/>
                        <a:t>than other engineered artefacts </a:t>
                      </a:r>
                      <a:endParaRPr lang="en-GB" sz="2000" b="1"/>
                    </a:p>
                  </a:txBody>
                  <a:tcPr>
                    <a:solidFill>
                      <a:schemeClr val="bg1"/>
                    </a:solidFill>
                  </a:tcPr>
                </a:tc>
                <a:tc>
                  <a:txBody>
                    <a:bodyPr/>
                    <a:p>
                      <a:pPr marL="0" marR="0" lvl="0" indent="0" algn="l" defTabSz="914400" rtl="0">
                        <a:lnSpc>
                          <a:spcPct val="100000"/>
                        </a:lnSpc>
                        <a:spcBef>
                          <a:spcPts val="0"/>
                        </a:spcBef>
                        <a:spcAft>
                          <a:spcPts val="0"/>
                        </a:spcAft>
                        <a:buClr>
                          <a:srgbClr val="000000"/>
                        </a:buClr>
                        <a:buSzTx/>
                        <a:buFont typeface="Arial"/>
                        <a:buNone/>
                        <a:defRPr/>
                      </a:pPr>
                      <a:r>
                        <a:rPr lang="en-US" sz="2000" b="1" u="sng"/>
                        <a:t>less complex </a:t>
                      </a:r>
                      <a:r>
                        <a:rPr lang="en-US" sz="2000" b="1"/>
                        <a:t>than software project</a:t>
                      </a:r>
                      <a:endParaRPr lang="en-GB" sz="2000" b="1"/>
                    </a:p>
                  </a:txBody>
                  <a:tcPr>
                    <a:solidFill>
                      <a:schemeClr val="bg1"/>
                    </a:solidFill>
                  </a:tcPr>
                </a:tc>
              </a:tr>
            </a:tbl>
          </a:graphicData>
        </a:graphic>
      </p:graphicFrame>
      <p:graphicFrame>
        <p:nvGraphicFramePr>
          <p:cNvPr id="1328767792" name="Table 4"/>
          <p:cNvGraphicFramePr>
            <a:graphicFrameLocks xmlns:a="http://schemas.openxmlformats.org/drawingml/2006/main" noGrp="1"/>
          </p:cNvGraphicFramePr>
          <p:nvPr/>
        </p:nvGraphicFramePr>
        <p:xfrm rot="0">
          <a:off x="666425" y="5950335"/>
          <a:ext cx="11065791" cy="701040"/>
        </p:xfrm>
        <a:graphic>
          <a:graphicData uri="http://schemas.openxmlformats.org/drawingml/2006/table">
            <a:tbl>
              <a:tblPr firstRow="1" firstCol="0" lastRow="0" lastCol="0" bandRow="1" bandCol="0">
                <a:tableStyleId>{4C38C2D8-9331-4F24-B9CF-3786705C414E}</a:tableStyleId>
              </a:tblPr>
              <a:tblGrid>
                <a:gridCol w="3688597"/>
                <a:gridCol w="3688597"/>
                <a:gridCol w="3688597"/>
              </a:tblGrid>
              <a:tr h="627706">
                <a:tc>
                  <a:txBody>
                    <a:bodyPr/>
                    <a:p>
                      <a:pPr marL="0" marR="0" lvl="0" indent="0" algn="l" defTabSz="914400" rtl="0">
                        <a:lnSpc>
                          <a:spcPct val="100000"/>
                        </a:lnSpc>
                        <a:spcBef>
                          <a:spcPts val="0"/>
                        </a:spcBef>
                        <a:spcAft>
                          <a:spcPts val="0"/>
                        </a:spcAft>
                        <a:buClr>
                          <a:srgbClr val="000000"/>
                        </a:buClr>
                        <a:buSzTx/>
                        <a:buFont typeface="Arial"/>
                        <a:buNone/>
                        <a:defRPr/>
                      </a:pPr>
                      <a:r>
                        <a:rPr lang="en-US" sz="2400" b="1">
                          <a:solidFill>
                            <a:srgbClr val="FF0000"/>
                          </a:solidFill>
                        </a:rPr>
                        <a:t>Flexibility</a:t>
                      </a:r>
                      <a:endParaRPr lang="en-GB" sz="2400">
                        <a:solidFill>
                          <a:srgbClr val="FF0000"/>
                        </a:solidFill>
                      </a:endParaRPr>
                    </a:p>
                  </a:txBody>
                  <a:tcPr>
                    <a:solidFill>
                      <a:schemeClr val="bg1"/>
                    </a:solidFill>
                  </a:tcPr>
                </a:tc>
                <a:tc>
                  <a:txBody>
                    <a:bodyPr/>
                    <a:p>
                      <a:pPr>
                        <a:defRPr/>
                      </a:pPr>
                      <a:r>
                        <a:rPr lang="en-US" sz="2000" b="1" u="sng"/>
                        <a:t>Easier</a:t>
                      </a:r>
                      <a:r>
                        <a:rPr lang="en-US" sz="2000" b="1"/>
                        <a:t> to change</a:t>
                      </a:r>
                      <a:endParaRPr lang="en-GB" sz="2000" b="1"/>
                    </a:p>
                  </a:txBody>
                  <a:tcPr>
                    <a:solidFill>
                      <a:schemeClr val="bg1"/>
                    </a:solidFill>
                  </a:tcPr>
                </a:tc>
                <a:tc>
                  <a:txBody>
                    <a:bodyPr/>
                    <a:p>
                      <a:pPr>
                        <a:defRPr/>
                      </a:pPr>
                      <a:r>
                        <a:rPr lang="en-US" sz="2000" b="1" u="sng"/>
                        <a:t>Difficult</a:t>
                      </a:r>
                      <a:r>
                        <a:rPr lang="en-US" sz="2000" b="1"/>
                        <a:t> to change once it is completed</a:t>
                      </a:r>
                      <a:endParaRPr lang="en-GB" sz="2000" b="1"/>
                    </a:p>
                  </a:txBody>
                  <a:tcPr>
                    <a:solidFill>
                      <a:schemeClr val="bg1"/>
                    </a:solidFill>
                  </a:tcPr>
                </a:tc>
              </a:tr>
            </a:tbl>
          </a:graphicData>
        </a:graphic>
      </p:graphicFrame>
      <p:graphicFrame>
        <p:nvGraphicFramePr>
          <p:cNvPr id="1182702492" name="Table 5"/>
          <p:cNvGraphicFramePr>
            <a:graphicFrameLocks xmlns:a="http://schemas.openxmlformats.org/drawingml/2006/main" noGrp="1"/>
          </p:cNvGraphicFramePr>
          <p:nvPr/>
        </p:nvGraphicFramePr>
        <p:xfrm rot="0">
          <a:off x="666425" y="2920332"/>
          <a:ext cx="11065791" cy="877068"/>
        </p:xfrm>
        <a:graphic>
          <a:graphicData uri="http://schemas.openxmlformats.org/drawingml/2006/table">
            <a:tbl>
              <a:tblPr firstRow="1" firstCol="0" lastRow="0" lastCol="0" bandRow="1" bandCol="0">
                <a:tableStyleId>{4C38C2D8-9331-4F24-B9CF-3786705C414E}</a:tableStyleId>
              </a:tblPr>
              <a:tblGrid>
                <a:gridCol w="3688597"/>
                <a:gridCol w="3688597"/>
                <a:gridCol w="3688597"/>
              </a:tblGrid>
              <a:tr h="877068">
                <a:tc>
                  <a:txBody>
                    <a:bodyPr/>
                    <a:p>
                      <a:pPr>
                        <a:defRPr/>
                      </a:pPr>
                      <a:r>
                        <a:rPr lang="en-US" sz="2400" b="1">
                          <a:solidFill>
                            <a:srgbClr val="FF0000"/>
                          </a:solidFill>
                        </a:rPr>
                        <a:t>Invisibility</a:t>
                      </a:r>
                      <a:endParaRPr lang="en-GB" sz="2400">
                        <a:solidFill>
                          <a:srgbClr val="FF0000"/>
                        </a:solidFill>
                      </a:endParaRPr>
                    </a:p>
                  </a:txBody>
                  <a:tcPr>
                    <a:solidFill>
                      <a:schemeClr val="bg1"/>
                    </a:solidFill>
                  </a:tcPr>
                </a:tc>
                <a:tc>
                  <a:txBody>
                    <a:bodyPr/>
                    <a:p>
                      <a:pPr>
                        <a:defRPr/>
                      </a:pPr>
                      <a:r>
                        <a:rPr lang="en-US" sz="2000" b="1" u="none"/>
                        <a:t>progress</a:t>
                      </a:r>
                      <a:r>
                        <a:rPr lang="en-US" sz="2000" b="1"/>
                        <a:t> </a:t>
                      </a:r>
                      <a:r>
                        <a:rPr lang="en-US" sz="2000" b="1" u="sng"/>
                        <a:t>is not </a:t>
                      </a:r>
                      <a:r>
                        <a:rPr lang="en-US" sz="2000" b="1"/>
                        <a:t>immediately visible </a:t>
                      </a:r>
                      <a:r>
                        <a:rPr lang="en-US" sz="2000" b="0" i="1"/>
                        <a:t>(no physical form)</a:t>
                      </a:r>
                      <a:endParaRPr lang="en-GB" sz="2000" b="0" i="1"/>
                    </a:p>
                  </a:txBody>
                  <a:tcPr>
                    <a:solidFill>
                      <a:schemeClr val="bg1"/>
                    </a:solidFill>
                  </a:tcPr>
                </a:tc>
                <a:tc>
                  <a:txBody>
                    <a:bodyPr/>
                    <a:p>
                      <a:pPr>
                        <a:defRPr/>
                      </a:pPr>
                      <a:r>
                        <a:rPr lang="en-US" sz="2000" b="1" u="none"/>
                        <a:t>progress</a:t>
                      </a:r>
                      <a:r>
                        <a:rPr lang="en-US" sz="2000" b="1"/>
                        <a:t> </a:t>
                      </a:r>
                      <a:r>
                        <a:rPr lang="en-US" sz="2000" b="1" u="sng"/>
                        <a:t>is</a:t>
                      </a:r>
                      <a:r>
                        <a:rPr lang="en-US" sz="2000" b="1"/>
                        <a:t> immediately visible </a:t>
                      </a:r>
                      <a:r>
                        <a:rPr lang="en-US" sz="2000" b="0" i="1"/>
                        <a:t>(have physical form)</a:t>
                      </a:r>
                      <a:endParaRPr lang="en-GB" sz="2000" b="0" i="1"/>
                    </a:p>
                  </a:txBody>
                  <a:tcPr>
                    <a:solidFill>
                      <a:schemeClr val="bg1"/>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wipe dir="r"/>
      </p:transition>
    </mc:Choice>
    <mc:Fallback>
      <p:transition spd="slow" advClick="1">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870388209"/>
                                        </p:tgtEl>
                                        <p:attrNameLst>
                                          <p:attrName>style.visibility</p:attrName>
                                        </p:attrNameLst>
                                      </p:cBhvr>
                                      <p:to>
                                        <p:strVal val="visible"/>
                                      </p:to>
                                    </p:set>
                                    <p:anim calcmode="lin" valueType="num">
                                      <p:cBhvr additive="base">
                                        <p:cTn id="7" dur="500" fill="hold"/>
                                        <p:tgtEl>
                                          <p:spTgt spid="870388209"/>
                                        </p:tgtEl>
                                        <p:attrNameLst>
                                          <p:attrName>ppt_x</p:attrName>
                                        </p:attrNameLst>
                                      </p:cBhvr>
                                      <p:tavLst>
                                        <p:tav tm="0">
                                          <p:val>
                                            <p:strVal val="#ppt_x"/>
                                          </p:val>
                                        </p:tav>
                                        <p:tav tm="100000">
                                          <p:val>
                                            <p:strVal val="#ppt_x"/>
                                          </p:val>
                                        </p:tav>
                                      </p:tavLst>
                                    </p:anim>
                                    <p:anim calcmode="lin" valueType="num">
                                      <p:cBhvr additive="base">
                                        <p:cTn id="8" dur="500" fill="hold"/>
                                        <p:tgtEl>
                                          <p:spTgt spid="87038820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182702492"/>
                                        </p:tgtEl>
                                        <p:attrNameLst>
                                          <p:attrName>style.visibility</p:attrName>
                                        </p:attrNameLst>
                                      </p:cBhvr>
                                      <p:to>
                                        <p:strVal val="visible"/>
                                      </p:to>
                                    </p:set>
                                    <p:animEffect transition="in" filter="wipe(left)">
                                      <p:cBhvr>
                                        <p:cTn id="13" dur="500"/>
                                        <p:tgtEl>
                                          <p:spTgt spid="118270249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046407382"/>
                                        </p:tgtEl>
                                        <p:attrNameLst>
                                          <p:attrName>style.visibility</p:attrName>
                                        </p:attrNameLst>
                                      </p:cBhvr>
                                      <p:to>
                                        <p:strVal val="visible"/>
                                      </p:to>
                                    </p:set>
                                    <p:animEffect transition="in" filter="wipe(left)">
                                      <p:cBhvr>
                                        <p:cTn id="18" dur="500"/>
                                        <p:tgtEl>
                                          <p:spTgt spid="204640738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085953240"/>
                                        </p:tgtEl>
                                        <p:attrNameLst>
                                          <p:attrName>style.visibility</p:attrName>
                                        </p:attrNameLst>
                                      </p:cBhvr>
                                      <p:to>
                                        <p:strVal val="visible"/>
                                      </p:to>
                                    </p:set>
                                    <p:animEffect transition="in" filter="wipe(left)">
                                      <p:cBhvr>
                                        <p:cTn id="23" dur="500"/>
                                        <p:tgtEl>
                                          <p:spTgt spid="208595324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328767792"/>
                                        </p:tgtEl>
                                        <p:attrNameLst>
                                          <p:attrName>style.visibility</p:attrName>
                                        </p:attrNameLst>
                                      </p:cBhvr>
                                      <p:to>
                                        <p:strVal val="visible"/>
                                      </p:to>
                                    </p:set>
                                    <p:animEffect transition="in" filter="wipe(left)">
                                      <p:cBhvr>
                                        <p:cTn id="28" dur="500"/>
                                        <p:tgtEl>
                                          <p:spTgt spid="13287677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388209" grpId="0"/>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cxnSp>
        <p:nvCxnSpPr>
          <p:cNvPr id="1925075407" name="Google Shape;188;p8"/>
          <p:cNvCxnSpPr/>
          <p:nvPr/>
        </p:nvCxnSpPr>
        <p:spPr bwMode="auto">
          <a:xfrm rot="10800000">
            <a:off x="5540494" y="1447800"/>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2117387107" name="Google Shape;189;p8"/>
          <p:cNvSpPr txBox="1">
            <a:spLocks noGrp="1"/>
          </p:cNvSpPr>
          <p:nvPr>
            <p:ph type="body" idx="1"/>
          </p:nvPr>
        </p:nvSpPr>
        <p:spPr bwMode="auto">
          <a:xfrm>
            <a:off x="533400" y="1689893"/>
            <a:ext cx="11353800" cy="40433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defRPr/>
            </a:pPr>
            <a:r>
              <a:rPr lang="en-US" sz="2800">
                <a:solidFill>
                  <a:srgbClr val="FF0000"/>
                </a:solidFill>
              </a:rPr>
              <a:t>Project managers need to face 3 major constraints:</a:t>
            </a:r>
            <a:endParaRPr>
              <a:solidFill>
                <a:srgbClr val="FF0000"/>
              </a:solidFill>
            </a:endParaRPr>
          </a:p>
          <a:p>
            <a:pPr marL="685800" lvl="1" indent="-228600" algn="l" rtl="0">
              <a:lnSpc>
                <a:spcPct val="90000"/>
              </a:lnSpc>
              <a:spcBef>
                <a:spcPts val="500"/>
              </a:spcBef>
              <a:spcAft>
                <a:spcPts val="0"/>
              </a:spcAft>
              <a:buClr>
                <a:schemeClr val="dk1"/>
              </a:buClr>
              <a:buSzPts val="2400"/>
              <a:buFont typeface="Calibri"/>
              <a:buNone/>
              <a:defRPr/>
            </a:pPr>
            <a:endParaRPr lang="en-US" sz="2400"/>
          </a:p>
          <a:p>
            <a:pPr marL="685800" lvl="1" indent="-228600" algn="l" rtl="0">
              <a:lnSpc>
                <a:spcPct val="90000"/>
              </a:lnSpc>
              <a:spcBef>
                <a:spcPts val="500"/>
              </a:spcBef>
              <a:spcAft>
                <a:spcPts val="0"/>
              </a:spcAft>
              <a:buClr>
                <a:schemeClr val="dk1"/>
              </a:buClr>
              <a:buSzPts val="2400"/>
              <a:buFont typeface="Calibri"/>
              <a:buNone/>
              <a:defRPr/>
            </a:pPr>
            <a:endParaRPr lang="en-US"/>
          </a:p>
          <a:p>
            <a:pPr marL="685800" lvl="1" indent="-228600" algn="l" rtl="0">
              <a:lnSpc>
                <a:spcPct val="90000"/>
              </a:lnSpc>
              <a:spcBef>
                <a:spcPts val="500"/>
              </a:spcBef>
              <a:spcAft>
                <a:spcPts val="0"/>
              </a:spcAft>
              <a:buClr>
                <a:schemeClr val="dk1"/>
              </a:buClr>
              <a:buSzPts val="2400"/>
              <a:buFont typeface="Calibri"/>
              <a:buNone/>
              <a:defRPr/>
            </a:pPr>
            <a:endParaRPr lang="en-US" sz="2400"/>
          </a:p>
          <a:p>
            <a:pPr marL="685800" lvl="1" indent="-228600" algn="l" rtl="0">
              <a:lnSpc>
                <a:spcPct val="90000"/>
              </a:lnSpc>
              <a:spcBef>
                <a:spcPts val="500"/>
              </a:spcBef>
              <a:spcAft>
                <a:spcPts val="0"/>
              </a:spcAft>
              <a:buClr>
                <a:schemeClr val="dk1"/>
              </a:buClr>
              <a:buSzPts val="2400"/>
              <a:buFont typeface="Calibri"/>
              <a:buNone/>
              <a:defRPr/>
            </a:pPr>
            <a:endParaRPr lang="en-US" sz="2400"/>
          </a:p>
          <a:p>
            <a:pPr marL="685800" lvl="1" indent="-228600" algn="l" rtl="0">
              <a:lnSpc>
                <a:spcPct val="90000"/>
              </a:lnSpc>
              <a:spcBef>
                <a:spcPts val="500"/>
              </a:spcBef>
              <a:spcAft>
                <a:spcPts val="0"/>
              </a:spcAft>
              <a:buClr>
                <a:schemeClr val="dk1"/>
              </a:buClr>
              <a:buSzPts val="2400"/>
              <a:buFont typeface="Calibri"/>
              <a:buNone/>
              <a:defRPr/>
            </a:pPr>
            <a:endParaRPr sz="2400"/>
          </a:p>
          <a:p>
            <a:pPr marL="228600" lvl="0" indent="-228600" algn="l" rtl="0">
              <a:lnSpc>
                <a:spcPct val="90000"/>
              </a:lnSpc>
              <a:spcBef>
                <a:spcPts val="1000"/>
              </a:spcBef>
              <a:spcAft>
                <a:spcPts val="0"/>
              </a:spcAft>
              <a:buClr>
                <a:schemeClr val="dk1"/>
              </a:buClr>
              <a:buSzPts val="2800"/>
              <a:buChar char="•"/>
              <a:defRPr/>
            </a:pPr>
            <a:r>
              <a:rPr lang="en-US" sz="2800">
                <a:solidFill>
                  <a:schemeClr val="tx1"/>
                </a:solidFill>
              </a:rPr>
              <a:t>Project managers’ mantra: </a:t>
            </a:r>
            <a:endParaRPr/>
          </a:p>
          <a:p>
            <a:pPr marL="228600" lvl="0" indent="-228600" algn="l" rtl="0">
              <a:lnSpc>
                <a:spcPct val="50000"/>
              </a:lnSpc>
              <a:spcBef>
                <a:spcPts val="1000"/>
              </a:spcBef>
              <a:spcAft>
                <a:spcPts val="0"/>
              </a:spcAft>
              <a:buClr>
                <a:schemeClr val="dk1"/>
              </a:buClr>
              <a:buSzPts val="2800"/>
              <a:buFont typeface="Calibri"/>
              <a:buNone/>
              <a:defRPr/>
            </a:pPr>
            <a:r>
              <a:rPr lang="en-US" sz="2800">
                <a:solidFill>
                  <a:srgbClr val="FF0000"/>
                </a:solidFill>
              </a:rPr>
              <a:t>	</a:t>
            </a:r>
            <a:r>
              <a:rPr lang="en-US" sz="2400">
                <a:solidFill>
                  <a:schemeClr val="tx1"/>
                </a:solidFill>
                <a:latin typeface="Arial Rounded"/>
                <a:ea typeface="Arial Rounded"/>
                <a:cs typeface="Arial Rounded"/>
              </a:rPr>
              <a:t>To develop a system </a:t>
            </a:r>
            <a:r>
              <a:rPr lang="en-US" sz="2400">
                <a:solidFill>
                  <a:srgbClr val="FF0000"/>
                </a:solidFill>
                <a:latin typeface="Arial Rounded"/>
                <a:ea typeface="Arial Rounded"/>
                <a:cs typeface="Arial Rounded"/>
              </a:rPr>
              <a:t>[on </a:t>
            </a:r>
            <a:r>
              <a:rPr lang="en-US" sz="2400" b="1">
                <a:solidFill>
                  <a:srgbClr val="FF0000"/>
                </a:solidFill>
                <a:latin typeface="Arial Rounded"/>
                <a:ea typeface="Arial Rounded"/>
                <a:cs typeface="Arial Rounded"/>
              </a:rPr>
              <a:t>time</a:t>
            </a:r>
            <a:r>
              <a:rPr lang="en-US" sz="2400">
                <a:solidFill>
                  <a:srgbClr val="FF0000"/>
                </a:solidFill>
                <a:latin typeface="Arial Rounded"/>
                <a:ea typeface="Arial Rounded"/>
                <a:cs typeface="Arial Rounded"/>
              </a:rPr>
              <a:t>, within </a:t>
            </a:r>
            <a:r>
              <a:rPr lang="en-US" sz="2400" b="1">
                <a:solidFill>
                  <a:srgbClr val="FF0000"/>
                </a:solidFill>
                <a:latin typeface="Arial Rounded"/>
                <a:ea typeface="Arial Rounded"/>
                <a:cs typeface="Arial Rounded"/>
              </a:rPr>
              <a:t>budget</a:t>
            </a:r>
            <a:r>
              <a:rPr lang="en-US" sz="2400">
                <a:solidFill>
                  <a:srgbClr val="FF0000"/>
                </a:solidFill>
                <a:latin typeface="Arial Rounded"/>
                <a:ea typeface="Arial Rounded"/>
                <a:cs typeface="Arial Rounded"/>
              </a:rPr>
              <a:t> and to the required </a:t>
            </a:r>
            <a:r>
              <a:rPr lang="en-US" sz="2400" b="1">
                <a:solidFill>
                  <a:srgbClr val="FF0000"/>
                </a:solidFill>
                <a:latin typeface="Arial Rounded"/>
                <a:ea typeface="Arial Rounded"/>
                <a:cs typeface="Arial Rounded"/>
              </a:rPr>
              <a:t>quality]</a:t>
            </a:r>
            <a:br>
              <a:rPr lang="en-US" sz="2800" b="1">
                <a:solidFill>
                  <a:srgbClr val="FF0000"/>
                </a:solidFill>
                <a:latin typeface="Arial Rounded"/>
                <a:ea typeface="Arial Rounded"/>
                <a:cs typeface="Arial Rounded"/>
              </a:rPr>
            </a:br>
            <a:endParaRPr sz="2800" b="1" i="1">
              <a:solidFill>
                <a:srgbClr val="FF0000"/>
              </a:solidFill>
              <a:latin typeface="Arial Rounded"/>
              <a:ea typeface="Arial Rounded"/>
              <a:cs typeface="Arial Rounded"/>
            </a:endParaRPr>
          </a:p>
        </p:txBody>
      </p:sp>
      <p:sp>
        <p:nvSpPr>
          <p:cNvPr id="234925538" name="Google Shape;190;p8"/>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9</a:t>
            </a:fld>
            <a:endParaRPr/>
          </a:p>
        </p:txBody>
      </p:sp>
      <p:sp>
        <p:nvSpPr>
          <p:cNvPr id="1430511744" name="Google Shape;191;p8"/>
          <p:cNvSpPr txBox="1"/>
          <p:nvPr/>
        </p:nvSpPr>
        <p:spPr bwMode="auto">
          <a:xfrm>
            <a:off x="4267200" y="1066800"/>
            <a:ext cx="4191000" cy="3508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1.1 Introduction to Project Management</a:t>
            </a:r>
            <a:endParaRPr/>
          </a:p>
        </p:txBody>
      </p:sp>
      <p:sp>
        <p:nvSpPr>
          <p:cNvPr id="1607341774" name="Google Shape;192;p8"/>
          <p:cNvSpPr txBox="1">
            <a:spLocks noGrp="1"/>
          </p:cNvSpPr>
          <p:nvPr>
            <p:ph type="title"/>
          </p:nvPr>
        </p:nvSpPr>
        <p:spPr bwMode="auto">
          <a:xfrm>
            <a:off x="838200" y="517525"/>
            <a:ext cx="10515600" cy="54927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Calibri"/>
              <a:buNone/>
              <a:defRPr/>
            </a:pPr>
            <a:r>
              <a:rPr lang="en-US" b="1"/>
              <a:t>Constraints in Projects</a:t>
            </a:r>
            <a:endParaRPr/>
          </a:p>
        </p:txBody>
      </p:sp>
      <p:grpSp>
        <p:nvGrpSpPr>
          <p:cNvPr id="647581363" name="Google Shape;193;p8"/>
          <p:cNvGrpSpPr/>
          <p:nvPr/>
        </p:nvGrpSpPr>
        <p:grpSpPr bwMode="auto">
          <a:xfrm>
            <a:off x="3906975" y="2010251"/>
            <a:ext cx="3893964" cy="1942901"/>
            <a:chOff x="4331224" y="2002826"/>
            <a:chExt cx="3893964" cy="1942901"/>
          </a:xfrm>
        </p:grpSpPr>
        <p:sp>
          <p:nvSpPr>
            <p:cNvPr id="194" name="Google Shape;194;p8"/>
            <p:cNvSpPr/>
            <p:nvPr/>
          </p:nvSpPr>
          <p:spPr bwMode="auto">
            <a:xfrm>
              <a:off x="5518723" y="2391136"/>
              <a:ext cx="1524000" cy="1282336"/>
            </a:xfrm>
            <a:prstGeom prst="triangle">
              <a:avLst>
                <a:gd name="adj" fmla="val 50000"/>
              </a:avLst>
            </a:prstGeom>
            <a:solidFill>
              <a:schemeClr val="accent2">
                <a:lumMod val="60000"/>
                <a:lumOff val="40000"/>
              </a:schemeClr>
            </a:solidFill>
            <a:ln w="2857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defRPr/>
              </a:pPr>
              <a:r>
                <a:rPr lang="en-US" sz="1800">
                  <a:solidFill>
                    <a:schemeClr val="lt1"/>
                  </a:solidFill>
                  <a:latin typeface="Calibri"/>
                  <a:ea typeface="Calibri"/>
                  <a:cs typeface="Calibri"/>
                </a:rPr>
                <a:t>              </a:t>
              </a:r>
              <a:endParaRPr sz="1800">
                <a:solidFill>
                  <a:schemeClr val="lt1"/>
                </a:solidFill>
                <a:latin typeface="Calibri"/>
                <a:ea typeface="Calibri"/>
                <a:cs typeface="Calibri"/>
              </a:endParaRPr>
            </a:p>
          </p:txBody>
        </p:sp>
        <p:sp>
          <p:nvSpPr>
            <p:cNvPr id="195" name="Google Shape;195;p8"/>
            <p:cNvSpPr/>
            <p:nvPr/>
          </p:nvSpPr>
          <p:spPr bwMode="auto">
            <a:xfrm>
              <a:off x="7071026" y="3301627"/>
              <a:ext cx="1154162" cy="424732"/>
            </a:xfrm>
            <a:prstGeom prst="rect">
              <a:avLst/>
            </a:prstGeom>
            <a:noFill/>
            <a:ln>
              <a:noFill/>
            </a:ln>
          </p:spPr>
          <p:txBody>
            <a:bodyPr spcFirstLastPara="1" wrap="square" lIns="91425" tIns="45700" rIns="91425" bIns="45700" anchor="t" anchorCtr="0">
              <a:spAutoFit/>
            </a:bodyPr>
            <a:lstStyle/>
            <a:p>
              <a:pPr marL="36512" marR="0" lvl="1" indent="0" algn="l" rtl="0">
                <a:lnSpc>
                  <a:spcPct val="90000"/>
                </a:lnSpc>
                <a:spcBef>
                  <a:spcPts val="0"/>
                </a:spcBef>
                <a:spcAft>
                  <a:spcPts val="0"/>
                </a:spcAft>
                <a:buNone/>
                <a:defRPr/>
              </a:pPr>
              <a:r>
                <a:rPr lang="en-US" sz="2400" b="1" i="0" u="none" strike="noStrike" cap="none">
                  <a:solidFill>
                    <a:schemeClr val="dk1"/>
                  </a:solidFill>
                  <a:latin typeface="Calibri"/>
                  <a:ea typeface="Calibri"/>
                  <a:cs typeface="Calibri"/>
                </a:rPr>
                <a:t>Quality</a:t>
              </a:r>
              <a:endParaRPr/>
            </a:p>
          </p:txBody>
        </p:sp>
        <p:sp>
          <p:nvSpPr>
            <p:cNvPr id="196" name="Google Shape;196;p8"/>
            <p:cNvSpPr/>
            <p:nvPr/>
          </p:nvSpPr>
          <p:spPr bwMode="auto">
            <a:xfrm>
              <a:off x="4331224" y="3299438"/>
              <a:ext cx="1524000" cy="646290"/>
            </a:xfrm>
            <a:prstGeom prst="rect">
              <a:avLst/>
            </a:prstGeom>
            <a:noFill/>
            <a:ln>
              <a:noFill/>
            </a:ln>
          </p:spPr>
          <p:txBody>
            <a:bodyPr spcFirstLastPara="1" wrap="square" lIns="91425" tIns="45700" rIns="91425" bIns="45700" anchor="t" anchorCtr="0">
              <a:spAutoFit/>
            </a:bodyPr>
            <a:lstStyle/>
            <a:p>
              <a:pPr marL="36512" marR="0" lvl="1" indent="0" algn="l" rtl="0">
                <a:lnSpc>
                  <a:spcPct val="90000"/>
                </a:lnSpc>
                <a:spcBef>
                  <a:spcPts val="0"/>
                </a:spcBef>
                <a:spcAft>
                  <a:spcPts val="0"/>
                </a:spcAft>
                <a:buNone/>
                <a:defRPr/>
              </a:pPr>
              <a:r>
                <a:rPr lang="en-US" sz="2400" b="1" i="0" strike="noStrike" cap="none">
                  <a:solidFill>
                    <a:schemeClr val="tx1"/>
                  </a:solidFill>
                  <a:latin typeface="Calibri"/>
                  <a:ea typeface="Calibri"/>
                  <a:cs typeface="Calibri"/>
                </a:rPr>
                <a:t>Budget</a:t>
              </a:r>
              <a:r>
                <a:rPr lang="en-US" sz="2400" b="1" i="0" u="sng" strike="noStrike" cap="none">
                  <a:solidFill>
                    <a:srgbClr val="FF0000"/>
                  </a:solidFill>
                  <a:latin typeface="Calibri"/>
                  <a:ea typeface="Calibri"/>
                  <a:cs typeface="Calibri"/>
                </a:rPr>
                <a:t> </a:t>
              </a:r>
              <a:r>
                <a:rPr lang="en-US" sz="1600" b="1" i="0" strike="sngStrike" cap="none">
                  <a:solidFill>
                    <a:schemeClr val="tx1"/>
                  </a:solidFill>
                  <a:latin typeface="Calibri"/>
                  <a:ea typeface="Calibri"/>
                  <a:cs typeface="Calibri"/>
                </a:rPr>
                <a:t>(Cost</a:t>
              </a:r>
              <a:r>
                <a:rPr lang="en-US" sz="1600" b="1" strike="sngStrike">
                  <a:solidFill>
                    <a:schemeClr val="tx1"/>
                  </a:solidFill>
                  <a:latin typeface="Calibri"/>
                  <a:ea typeface="Calibri"/>
                  <a:cs typeface="Calibri"/>
                </a:rPr>
                <a:t>)</a:t>
              </a:r>
              <a:endParaRPr sz="1600" b="1" i="0" strike="sngStrike" cap="none">
                <a:solidFill>
                  <a:schemeClr val="tx1"/>
                </a:solidFill>
                <a:latin typeface="Calibri"/>
                <a:ea typeface="Calibri"/>
                <a:cs typeface="Calibri"/>
              </a:endParaRPr>
            </a:p>
          </p:txBody>
        </p:sp>
        <p:sp>
          <p:nvSpPr>
            <p:cNvPr id="197" name="Google Shape;197;p8"/>
            <p:cNvSpPr/>
            <p:nvPr/>
          </p:nvSpPr>
          <p:spPr bwMode="auto">
            <a:xfrm>
              <a:off x="5855224" y="2002826"/>
              <a:ext cx="854401" cy="424732"/>
            </a:xfrm>
            <a:prstGeom prst="rect">
              <a:avLst/>
            </a:prstGeom>
            <a:noFill/>
            <a:ln>
              <a:noFill/>
            </a:ln>
          </p:spPr>
          <p:txBody>
            <a:bodyPr spcFirstLastPara="1" wrap="square" lIns="91425" tIns="45700" rIns="91425" bIns="45700" anchor="t" anchorCtr="0">
              <a:spAutoFit/>
            </a:bodyPr>
            <a:lstStyle/>
            <a:p>
              <a:pPr marL="36512" marR="0" lvl="1" indent="0" algn="l" rtl="0">
                <a:lnSpc>
                  <a:spcPct val="90000"/>
                </a:lnSpc>
                <a:spcBef>
                  <a:spcPts val="0"/>
                </a:spcBef>
                <a:spcAft>
                  <a:spcPts val="0"/>
                </a:spcAft>
                <a:buNone/>
                <a:defRPr/>
              </a:pPr>
              <a:r>
                <a:rPr lang="en-US" sz="2400" b="1" i="0" u="none" strike="noStrike" cap="none">
                  <a:solidFill>
                    <a:schemeClr val="dk1"/>
                  </a:solidFill>
                  <a:latin typeface="Calibri"/>
                  <a:ea typeface="Calibri"/>
                  <a:cs typeface="Calibri"/>
                </a:rPr>
                <a:t>Time</a:t>
              </a:r>
              <a:endParaRPr sz="2400" b="1" i="0" u="none" strike="noStrike" cap="none">
                <a:solidFill>
                  <a:schemeClr val="dk1"/>
                </a:solidFill>
                <a:latin typeface="Calibri"/>
                <a:ea typeface="Calibri"/>
                <a:cs typeface="Calibri"/>
              </a:endParaRPr>
            </a:p>
          </p:txBody>
        </p:sp>
      </p:grpSp>
      <p:sp>
        <p:nvSpPr>
          <p:cNvPr id="121493934" name="TextBox 1"/>
          <p:cNvSpPr txBox="1"/>
          <p:nvPr/>
        </p:nvSpPr>
        <p:spPr bwMode="auto">
          <a:xfrm>
            <a:off x="549969" y="5743195"/>
            <a:ext cx="4210874" cy="461665"/>
          </a:xfrm>
          <a:prstGeom prst="rect">
            <a:avLst/>
          </a:prstGeom>
          <a:noFill/>
        </p:spPr>
        <p:txBody>
          <a:bodyPr wrap="square" rtlCol="0">
            <a:spAutoFit/>
          </a:bodyPr>
          <a:lstStyle/>
          <a:p>
            <a:pPr>
              <a:defRPr/>
            </a:pPr>
            <a:r>
              <a:rPr lang="en-MY" sz="2400">
                <a:solidFill>
                  <a:schemeClr val="tx1"/>
                </a:solidFill>
              </a:rPr>
              <a:t>FYP students, your mantra =</a:t>
            </a:r>
            <a:endParaRPr/>
          </a:p>
        </p:txBody>
      </p:sp>
      <p:sp>
        <p:nvSpPr>
          <p:cNvPr id="1344668075" name="TextBox 2"/>
          <p:cNvSpPr txBox="1"/>
          <p:nvPr/>
        </p:nvSpPr>
        <p:spPr bwMode="auto">
          <a:xfrm>
            <a:off x="4489176" y="5710066"/>
            <a:ext cx="7398024" cy="830997"/>
          </a:xfrm>
          <a:prstGeom prst="rect">
            <a:avLst/>
          </a:prstGeom>
          <a:noFill/>
        </p:spPr>
        <p:txBody>
          <a:bodyPr wrap="square" rtlCol="0">
            <a:spAutoFit/>
          </a:bodyPr>
          <a:lstStyle/>
          <a:p>
            <a:pPr>
              <a:defRPr/>
            </a:pPr>
            <a:r>
              <a:rPr lang="en-US" sz="2400">
                <a:solidFill>
                  <a:srgbClr val="FF0000"/>
                </a:solidFill>
                <a:latin typeface="Arial Rounded"/>
                <a:ea typeface="Arial Rounded"/>
                <a:cs typeface="Arial Rounded"/>
              </a:rPr>
              <a:t>To complete FYP project </a:t>
            </a:r>
            <a:r>
              <a:rPr lang="en-US" sz="2400" b="1" u="sng">
                <a:solidFill>
                  <a:srgbClr val="FF0000"/>
                </a:solidFill>
                <a:latin typeface="Arial Rounded"/>
                <a:ea typeface="Arial Rounded"/>
                <a:cs typeface="Arial Rounded"/>
              </a:rPr>
              <a:t>scope</a:t>
            </a:r>
            <a:r>
              <a:rPr lang="en-US" sz="2400">
                <a:solidFill>
                  <a:srgbClr val="FF0000"/>
                </a:solidFill>
                <a:latin typeface="Arial Rounded"/>
                <a:ea typeface="Arial Rounded"/>
                <a:cs typeface="Arial Rounded"/>
              </a:rPr>
              <a:t> on </a:t>
            </a:r>
            <a:r>
              <a:rPr lang="en-US" sz="2400" b="1" u="sng">
                <a:solidFill>
                  <a:srgbClr val="FF0000"/>
                </a:solidFill>
                <a:latin typeface="Arial Rounded"/>
                <a:ea typeface="Arial Rounded"/>
                <a:cs typeface="Arial Rounded"/>
              </a:rPr>
              <a:t>time </a:t>
            </a:r>
            <a:r>
              <a:rPr lang="en-US" sz="2400">
                <a:solidFill>
                  <a:srgbClr val="FF0000"/>
                </a:solidFill>
                <a:latin typeface="Arial Rounded"/>
                <a:ea typeface="Arial Rounded"/>
                <a:cs typeface="Arial Rounded"/>
              </a:rPr>
              <a:t>and to the required </a:t>
            </a:r>
            <a:r>
              <a:rPr lang="en-US" sz="2400" b="1" u="sng">
                <a:solidFill>
                  <a:srgbClr val="FF0000"/>
                </a:solidFill>
                <a:latin typeface="Arial Rounded"/>
                <a:ea typeface="Arial Rounded"/>
                <a:cs typeface="Arial Rounded"/>
              </a:rPr>
              <a:t>quality</a:t>
            </a:r>
            <a:endParaRPr lang="en-MY" sz="2400">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607341774"/>
                                        </p:tgtEl>
                                        <p:attrNameLst>
                                          <p:attrName>style.visibility</p:attrName>
                                        </p:attrNameLst>
                                      </p:cBhvr>
                                      <p:to>
                                        <p:strVal val="visible"/>
                                      </p:to>
                                    </p:set>
                                    <p:anim calcmode="lin" valueType="num">
                                      <p:cBhvr additive="base">
                                        <p:cTn id="7" dur="500" fill="hold"/>
                                        <p:tgtEl>
                                          <p:spTgt spid="1607341774"/>
                                        </p:tgtEl>
                                        <p:attrNameLst>
                                          <p:attrName>ppt_x</p:attrName>
                                        </p:attrNameLst>
                                      </p:cBhvr>
                                      <p:tavLst>
                                        <p:tav tm="0">
                                          <p:val>
                                            <p:strVal val="#ppt_x"/>
                                          </p:val>
                                        </p:tav>
                                        <p:tav tm="100000">
                                          <p:val>
                                            <p:strVal val="#ppt_x"/>
                                          </p:val>
                                        </p:tav>
                                      </p:tavLst>
                                    </p:anim>
                                    <p:anim calcmode="lin" valueType="num">
                                      <p:cBhvr additive="base">
                                        <p:cTn id="8" dur="500" fill="hold"/>
                                        <p:tgtEl>
                                          <p:spTgt spid="160734177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647581363"/>
                                        </p:tgtEl>
                                        <p:attrNameLst>
                                          <p:attrName>style.visibility</p:attrName>
                                        </p:attrNameLst>
                                      </p:cBhvr>
                                      <p:to>
                                        <p:strVal val="visible"/>
                                      </p:to>
                                    </p:set>
                                    <p:animEffect transition="in" filter="wipe(left)">
                                      <p:cBhvr>
                                        <p:cTn id="13" dur="500"/>
                                        <p:tgtEl>
                                          <p:spTgt spid="64758136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117387107">
                                            <p:txEl>
                                              <p:pRg st="6" end="6"/>
                                            </p:txEl>
                                          </p:spTgt>
                                        </p:tgtEl>
                                        <p:attrNameLst>
                                          <p:attrName>style.visibility</p:attrName>
                                        </p:attrNameLst>
                                      </p:cBhvr>
                                      <p:to>
                                        <p:strVal val="visible"/>
                                      </p:to>
                                    </p:set>
                                    <p:animEffect transition="in" filter="wipe(left)">
                                      <p:cBhvr>
                                        <p:cTn id="18" dur="500"/>
                                        <p:tgtEl>
                                          <p:spTgt spid="2117387107">
                                            <p:txEl>
                                              <p:pRg st="6" end="6"/>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2117387107">
                                            <p:txEl>
                                              <p:pRg st="7" end="7"/>
                                            </p:txEl>
                                          </p:spTgt>
                                        </p:tgtEl>
                                        <p:attrNameLst>
                                          <p:attrName>style.visibility</p:attrName>
                                        </p:attrNameLst>
                                      </p:cBhvr>
                                      <p:to>
                                        <p:strVal val="visible"/>
                                      </p:to>
                                    </p:set>
                                    <p:animEffect transition="in" filter="wipe(left)">
                                      <p:cBhvr>
                                        <p:cTn id="21" dur="500"/>
                                        <p:tgtEl>
                                          <p:spTgt spid="2117387107">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21493934"/>
                                        </p:tgtEl>
                                        <p:attrNameLst>
                                          <p:attrName>style.visibility</p:attrName>
                                        </p:attrNameLst>
                                      </p:cBhvr>
                                      <p:to>
                                        <p:strVal val="visible"/>
                                      </p:to>
                                    </p:set>
                                    <p:animEffect transition="in" filter="wipe(left)">
                                      <p:cBhvr>
                                        <p:cTn id="26" dur="500"/>
                                        <p:tgtEl>
                                          <p:spTgt spid="121493934"/>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44668075"/>
                                        </p:tgtEl>
                                        <p:attrNameLst>
                                          <p:attrName>style.visibility</p:attrName>
                                        </p:attrNameLst>
                                      </p:cBhvr>
                                      <p:to>
                                        <p:strVal val="visible"/>
                                      </p:to>
                                    </p:set>
                                    <p:anim calcmode="lin" valueType="num">
                                      <p:cBhvr additive="base">
                                        <p:cTn id="31" dur="500" fill="hold"/>
                                        <p:tgtEl>
                                          <p:spTgt spid="1344668075"/>
                                        </p:tgtEl>
                                        <p:attrNameLst>
                                          <p:attrName>ppt_x</p:attrName>
                                        </p:attrNameLst>
                                      </p:cBhvr>
                                      <p:tavLst>
                                        <p:tav tm="0">
                                          <p:val>
                                            <p:strVal val="#ppt_x"/>
                                          </p:val>
                                        </p:tav>
                                        <p:tav tm="100000">
                                          <p:val>
                                            <p:strVal val="#ppt_x"/>
                                          </p:val>
                                        </p:tav>
                                      </p:tavLst>
                                    </p:anim>
                                    <p:anim calcmode="lin" valueType="num">
                                      <p:cBhvr additive="base">
                                        <p:cTn id="32" dur="500" fill="hold"/>
                                        <p:tgtEl>
                                          <p:spTgt spid="13446680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341774" grpId="0"/>
      <p:bldP spid="121493934" grpId="0"/>
      <p:bldP spid="1344668075" grpId="0"/>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332186176" name="Google Shape;202;p9"/>
          <p:cNvGrpSpPr/>
          <p:nvPr/>
        </p:nvGrpSpPr>
        <p:grpSpPr bwMode="auto">
          <a:xfrm>
            <a:off x="609606" y="915259"/>
            <a:ext cx="11082262" cy="2056491"/>
            <a:chOff x="533406" y="859"/>
            <a:chExt cx="11082262" cy="2056491"/>
          </a:xfrm>
        </p:grpSpPr>
        <p:sp>
          <p:nvSpPr>
            <p:cNvPr id="203" name="Google Shape;203;p9"/>
            <p:cNvSpPr/>
            <p:nvPr/>
          </p:nvSpPr>
          <p:spPr bwMode="auto">
            <a:xfrm>
              <a:off x="6122139" y="561767"/>
              <a:ext cx="4041475" cy="442926"/>
            </a:xfrm>
            <a:custGeom>
              <a:avLst/>
              <a:gdLst/>
              <a:ahLst/>
              <a:cxnLst/>
              <a:rect l="l" t="t" r="r" b="b"/>
              <a:pathLst>
                <a:path w="120000" h="120000" fill="norm" stroke="1" extrusionOk="0">
                  <a:moveTo>
                    <a:pt x="0" y="0"/>
                  </a:moveTo>
                  <a:lnTo>
                    <a:pt x="0" y="60110"/>
                  </a:lnTo>
                  <a:lnTo>
                    <a:pt x="120000" y="60110"/>
                  </a:lnTo>
                  <a:lnTo>
                    <a:pt x="120000" y="120000"/>
                  </a:lnTo>
                </a:path>
              </a:pathLst>
            </a:custGeom>
            <a:noFill/>
            <a:ln w="12700" cap="flat" cmpd="sng">
              <a:solidFill>
                <a:srgbClr val="354254"/>
              </a:solidFill>
              <a:prstDash val="solid"/>
              <a:miter lim="800000"/>
              <a:headEnd type="none" w="sm" len="sm"/>
              <a:tailEnd type="none" w="sm" len="sm"/>
            </a:ln>
          </p:spPr>
          <p:txBody>
            <a:bodyPr/>
            <a:lstStyle/>
            <a:p>
              <a:pPr>
                <a:defRPr/>
              </a:pPr>
              <a:endParaRPr lang="en-GB"/>
            </a:p>
          </p:txBody>
        </p:sp>
        <p:sp>
          <p:nvSpPr>
            <p:cNvPr id="204" name="Google Shape;204;p9"/>
            <p:cNvSpPr/>
            <p:nvPr/>
          </p:nvSpPr>
          <p:spPr bwMode="auto">
            <a:xfrm>
              <a:off x="5951714" y="561767"/>
              <a:ext cx="170425" cy="442115"/>
            </a:xfrm>
            <a:custGeom>
              <a:avLst/>
              <a:gdLst/>
              <a:ahLst/>
              <a:cxnLst/>
              <a:rect l="l" t="t" r="r" b="b"/>
              <a:pathLst>
                <a:path w="120000" h="120000" fill="norm" stroke="1" extrusionOk="0">
                  <a:moveTo>
                    <a:pt x="120000" y="0"/>
                  </a:moveTo>
                  <a:lnTo>
                    <a:pt x="120000" y="60000"/>
                  </a:lnTo>
                  <a:lnTo>
                    <a:pt x="0" y="60000"/>
                  </a:lnTo>
                  <a:lnTo>
                    <a:pt x="0" y="120000"/>
                  </a:lnTo>
                </a:path>
              </a:pathLst>
            </a:custGeom>
            <a:noFill/>
            <a:ln w="12700" cap="flat" cmpd="sng">
              <a:solidFill>
                <a:srgbClr val="354254"/>
              </a:solidFill>
              <a:prstDash val="solid"/>
              <a:miter lim="800000"/>
              <a:headEnd type="none" w="sm" len="sm"/>
              <a:tailEnd type="none" w="sm" len="sm"/>
            </a:ln>
          </p:spPr>
          <p:txBody>
            <a:bodyPr/>
            <a:lstStyle/>
            <a:p>
              <a:pPr>
                <a:defRPr/>
              </a:pPr>
              <a:endParaRPr lang="en-GB"/>
            </a:p>
          </p:txBody>
        </p:sp>
        <p:sp>
          <p:nvSpPr>
            <p:cNvPr id="205" name="Google Shape;205;p9"/>
            <p:cNvSpPr/>
            <p:nvPr/>
          </p:nvSpPr>
          <p:spPr bwMode="auto">
            <a:xfrm>
              <a:off x="1917375" y="561767"/>
              <a:ext cx="4204763" cy="442926"/>
            </a:xfrm>
            <a:custGeom>
              <a:avLst/>
              <a:gdLst/>
              <a:ahLst/>
              <a:cxnLst/>
              <a:rect l="l" t="t" r="r" b="b"/>
              <a:pathLst>
                <a:path w="120000" h="120000" fill="norm" stroke="1" extrusionOk="0">
                  <a:moveTo>
                    <a:pt x="120000" y="0"/>
                  </a:moveTo>
                  <a:lnTo>
                    <a:pt x="120000" y="60110"/>
                  </a:lnTo>
                  <a:lnTo>
                    <a:pt x="0" y="60110"/>
                  </a:lnTo>
                  <a:lnTo>
                    <a:pt x="0" y="120000"/>
                  </a:lnTo>
                </a:path>
              </a:pathLst>
            </a:custGeom>
            <a:noFill/>
            <a:ln w="12700" cap="flat" cmpd="sng">
              <a:solidFill>
                <a:srgbClr val="354254"/>
              </a:solidFill>
              <a:prstDash val="solid"/>
              <a:miter lim="800000"/>
              <a:headEnd type="none" w="sm" len="sm"/>
              <a:tailEnd type="none" w="sm" len="sm"/>
            </a:ln>
          </p:spPr>
          <p:txBody>
            <a:bodyPr/>
            <a:lstStyle/>
            <a:p>
              <a:pPr>
                <a:defRPr/>
              </a:pPr>
              <a:endParaRPr lang="en-GB"/>
            </a:p>
          </p:txBody>
        </p:sp>
        <p:sp>
          <p:nvSpPr>
            <p:cNvPr id="206" name="Google Shape;206;p9"/>
            <p:cNvSpPr/>
            <p:nvPr/>
          </p:nvSpPr>
          <p:spPr bwMode="auto">
            <a:xfrm>
              <a:off x="3902002" y="859"/>
              <a:ext cx="4440274" cy="560908"/>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07" name="Google Shape;207;p9"/>
            <p:cNvSpPr txBox="1"/>
            <p:nvPr/>
          </p:nvSpPr>
          <p:spPr bwMode="auto">
            <a:xfrm>
              <a:off x="3902002" y="859"/>
              <a:ext cx="4440274" cy="560908"/>
            </a:xfrm>
            <a:prstGeom prst="rect">
              <a:avLst/>
            </a:prstGeom>
            <a:noFill/>
            <a:ln>
              <a:noFill/>
            </a:ln>
          </p:spPr>
          <p:txBody>
            <a:bodyPr spcFirstLastPara="1" wrap="square" lIns="12700" tIns="12700" rIns="12700" bIns="12700" anchor="ctr" anchorCtr="0">
              <a:noAutofit/>
            </a:bodyPr>
            <a:lstStyle/>
            <a:p>
              <a:pPr marL="0" marR="0" lvl="0" indent="0" algn="ctr" rtl="0">
                <a:lnSpc>
                  <a:spcPct val="90000"/>
                </a:lnSpc>
                <a:spcBef>
                  <a:spcPts val="0"/>
                </a:spcBef>
                <a:spcAft>
                  <a:spcPts val="0"/>
                </a:spcAft>
                <a:buNone/>
                <a:defRPr/>
              </a:pPr>
              <a:r>
                <a:rPr lang="en-US" sz="2000">
                  <a:solidFill>
                    <a:srgbClr val="FFFF00"/>
                  </a:solidFill>
                  <a:latin typeface="Calibri"/>
                  <a:ea typeface="Calibri"/>
                  <a:cs typeface="Calibri"/>
                </a:rPr>
                <a:t>Challenges in Software Projects</a:t>
              </a:r>
              <a:endParaRPr sz="2000">
                <a:solidFill>
                  <a:srgbClr val="FFFF00"/>
                </a:solidFill>
                <a:latin typeface="Calibri"/>
                <a:ea typeface="Calibri"/>
                <a:cs typeface="Calibri"/>
              </a:endParaRPr>
            </a:p>
          </p:txBody>
        </p:sp>
        <p:sp>
          <p:nvSpPr>
            <p:cNvPr id="208" name="Google Shape;208;p9"/>
            <p:cNvSpPr/>
            <p:nvPr/>
          </p:nvSpPr>
          <p:spPr bwMode="auto">
            <a:xfrm>
              <a:off x="533406" y="1004694"/>
              <a:ext cx="2767939" cy="1052656"/>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09" name="Google Shape;209;p9"/>
            <p:cNvSpPr txBox="1"/>
            <p:nvPr/>
          </p:nvSpPr>
          <p:spPr bwMode="auto">
            <a:xfrm>
              <a:off x="533406" y="1004694"/>
              <a:ext cx="2767939" cy="1052656"/>
            </a:xfrm>
            <a:prstGeom prst="rect">
              <a:avLst/>
            </a:prstGeom>
            <a:noFill/>
            <a:ln>
              <a:noFill/>
            </a:ln>
          </p:spPr>
          <p:txBody>
            <a:bodyPr spcFirstLastPara="1" wrap="square" lIns="12700" tIns="12700" rIns="12700" bIns="12700" anchor="ctr" anchorCtr="0">
              <a:noAutofit/>
            </a:bodyPr>
            <a:lstStyle/>
            <a:p>
              <a:pPr marL="0" marR="0" lvl="0" indent="0" algn="ctr" rtl="0">
                <a:lnSpc>
                  <a:spcPct val="90000"/>
                </a:lnSpc>
                <a:spcBef>
                  <a:spcPts val="0"/>
                </a:spcBef>
                <a:spcAft>
                  <a:spcPts val="0"/>
                </a:spcAft>
                <a:buNone/>
                <a:defRPr/>
              </a:pPr>
              <a:r>
                <a:rPr lang="en-US" sz="2000">
                  <a:solidFill>
                    <a:schemeClr val="lt1"/>
                  </a:solidFill>
                  <a:latin typeface="Calibri"/>
                  <a:ea typeface="Calibri"/>
                  <a:cs typeface="Calibri"/>
                </a:rPr>
                <a:t>Challenges faced by </a:t>
              </a:r>
              <a:r>
                <a:rPr lang="en-US" sz="2000" b="1">
                  <a:solidFill>
                    <a:srgbClr val="FFFF00"/>
                  </a:solidFill>
                  <a:latin typeface="Calibri"/>
                  <a:ea typeface="Calibri"/>
                  <a:cs typeface="Calibri"/>
                </a:rPr>
                <a:t>project manager</a:t>
              </a:r>
              <a:endParaRPr sz="2000">
                <a:solidFill>
                  <a:srgbClr val="FFFF00"/>
                </a:solidFill>
                <a:latin typeface="Calibri"/>
                <a:ea typeface="Calibri"/>
                <a:cs typeface="Calibri"/>
              </a:endParaRPr>
            </a:p>
          </p:txBody>
        </p:sp>
        <p:sp>
          <p:nvSpPr>
            <p:cNvPr id="210" name="Google Shape;210;p9"/>
            <p:cNvSpPr/>
            <p:nvPr/>
          </p:nvSpPr>
          <p:spPr bwMode="auto">
            <a:xfrm>
              <a:off x="4221451" y="1003883"/>
              <a:ext cx="3460524" cy="1052656"/>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11" name="Google Shape;211;p9"/>
            <p:cNvSpPr txBox="1"/>
            <p:nvPr/>
          </p:nvSpPr>
          <p:spPr bwMode="auto">
            <a:xfrm>
              <a:off x="4221451" y="1003883"/>
              <a:ext cx="3460524" cy="1052656"/>
            </a:xfrm>
            <a:prstGeom prst="rect">
              <a:avLst/>
            </a:prstGeom>
            <a:noFill/>
            <a:ln>
              <a:noFill/>
            </a:ln>
          </p:spPr>
          <p:txBody>
            <a:bodyPr spcFirstLastPara="1" wrap="square" lIns="12700" tIns="12700" rIns="12700" bIns="12700" anchor="ctr" anchorCtr="0">
              <a:noAutofit/>
            </a:bodyPr>
            <a:lstStyle/>
            <a:p>
              <a:pPr marL="0" marR="0" lvl="0" indent="0" algn="ctr" rtl="0">
                <a:lnSpc>
                  <a:spcPct val="90000"/>
                </a:lnSpc>
                <a:spcBef>
                  <a:spcPts val="0"/>
                </a:spcBef>
                <a:spcAft>
                  <a:spcPts val="0"/>
                </a:spcAft>
                <a:buNone/>
                <a:defRPr/>
              </a:pPr>
              <a:r>
                <a:rPr lang="en-US" sz="2000">
                  <a:solidFill>
                    <a:schemeClr val="lt1"/>
                  </a:solidFill>
                  <a:latin typeface="Calibri"/>
                  <a:ea typeface="Calibri"/>
                  <a:cs typeface="Calibri"/>
                </a:rPr>
                <a:t>Challenges faced by </a:t>
              </a:r>
              <a:r>
                <a:rPr lang="en-US" sz="2000" b="1">
                  <a:solidFill>
                    <a:srgbClr val="FFFF00"/>
                  </a:solidFill>
                  <a:latin typeface="Calibri"/>
                  <a:ea typeface="Calibri"/>
                  <a:cs typeface="Calibri"/>
                </a:rPr>
                <a:t>developers</a:t>
              </a:r>
              <a:endParaRPr sz="2000">
                <a:solidFill>
                  <a:srgbClr val="FFFF00"/>
                </a:solidFill>
                <a:latin typeface="Calibri"/>
                <a:ea typeface="Calibri"/>
                <a:cs typeface="Calibri"/>
              </a:endParaRPr>
            </a:p>
          </p:txBody>
        </p:sp>
        <p:sp>
          <p:nvSpPr>
            <p:cNvPr id="212" name="Google Shape;212;p9"/>
            <p:cNvSpPr/>
            <p:nvPr/>
          </p:nvSpPr>
          <p:spPr bwMode="auto">
            <a:xfrm>
              <a:off x="8711558" y="1004694"/>
              <a:ext cx="2904110" cy="1052656"/>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13" name="Google Shape;213;p9"/>
            <p:cNvSpPr txBox="1"/>
            <p:nvPr/>
          </p:nvSpPr>
          <p:spPr bwMode="auto">
            <a:xfrm>
              <a:off x="8711558" y="1004694"/>
              <a:ext cx="2904110" cy="1052656"/>
            </a:xfrm>
            <a:prstGeom prst="rect">
              <a:avLst/>
            </a:prstGeom>
            <a:noFill/>
            <a:ln>
              <a:noFill/>
            </a:ln>
          </p:spPr>
          <p:txBody>
            <a:bodyPr spcFirstLastPara="1" wrap="square" lIns="12700" tIns="12700" rIns="12700" bIns="12700" anchor="ctr" anchorCtr="0">
              <a:noAutofit/>
            </a:bodyPr>
            <a:lstStyle/>
            <a:p>
              <a:pPr marL="0" marR="0" lvl="0" indent="0" algn="ctr" rtl="0">
                <a:lnSpc>
                  <a:spcPct val="90000"/>
                </a:lnSpc>
                <a:spcBef>
                  <a:spcPts val="0"/>
                </a:spcBef>
                <a:spcAft>
                  <a:spcPts val="0"/>
                </a:spcAft>
                <a:buNone/>
                <a:defRPr/>
              </a:pPr>
              <a:r>
                <a:rPr lang="en-US" sz="2000">
                  <a:solidFill>
                    <a:schemeClr val="lt1"/>
                  </a:solidFill>
                  <a:latin typeface="Calibri"/>
                  <a:ea typeface="Calibri"/>
                  <a:cs typeface="Calibri"/>
                </a:rPr>
                <a:t>Challenges faced by </a:t>
              </a:r>
              <a:r>
                <a:rPr lang="en-US" sz="2000" b="1">
                  <a:solidFill>
                    <a:srgbClr val="FFFF00"/>
                  </a:solidFill>
                  <a:latin typeface="Calibri"/>
                  <a:ea typeface="Calibri"/>
                  <a:cs typeface="Calibri"/>
                </a:rPr>
                <a:t>customers</a:t>
              </a:r>
              <a:endParaRPr sz="2000">
                <a:solidFill>
                  <a:srgbClr val="FFFF00"/>
                </a:solidFill>
                <a:latin typeface="Calibri"/>
                <a:ea typeface="Calibri"/>
                <a:cs typeface="Calibri"/>
              </a:endParaRPr>
            </a:p>
          </p:txBody>
        </p:sp>
      </p:grpSp>
      <p:sp>
        <p:nvSpPr>
          <p:cNvPr id="587775166" name="Google Shape;214;p9"/>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solidFill>
                  <a:schemeClr val="dk1"/>
                </a:solidFill>
              </a:rPr>
              <a:t>10</a:t>
            </a:fld>
            <a:endParaRPr>
              <a:solidFill>
                <a:schemeClr val="dk1"/>
              </a:solidFill>
            </a:endParaRPr>
          </a:p>
        </p:txBody>
      </p:sp>
      <p:sp>
        <p:nvSpPr>
          <p:cNvPr id="765120392" name="Google Shape;215;p9"/>
          <p:cNvSpPr txBox="1"/>
          <p:nvPr/>
        </p:nvSpPr>
        <p:spPr bwMode="auto">
          <a:xfrm>
            <a:off x="8001000" y="74614"/>
            <a:ext cx="4191000" cy="35083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1.1 Introduction to Project Management</a:t>
            </a:r>
            <a:endParaRPr/>
          </a:p>
        </p:txBody>
      </p:sp>
      <p:sp>
        <p:nvSpPr>
          <p:cNvPr id="1442045524" name="Google Shape;216;p9"/>
          <p:cNvSpPr txBox="1"/>
          <p:nvPr/>
        </p:nvSpPr>
        <p:spPr bwMode="auto">
          <a:xfrm>
            <a:off x="381000" y="2970939"/>
            <a:ext cx="3350342" cy="3748743"/>
          </a:xfrm>
          <a:prstGeom prst="rect">
            <a:avLst/>
          </a:prstGeom>
          <a:noFill/>
          <a:ln>
            <a:noFill/>
          </a:ln>
        </p:spPr>
        <p:txBody>
          <a:bodyPr spcFirstLastPara="1" wrap="square" lIns="91425" tIns="45700" rIns="91425" bIns="45700" anchor="t" anchorCtr="0">
            <a:normAutofit/>
          </a:bodyPr>
          <a:lstStyle/>
          <a:p>
            <a:pPr marL="176213" marR="0" lvl="0" indent="-176213" algn="l" rtl="0">
              <a:lnSpc>
                <a:spcPct val="90000"/>
              </a:lnSpc>
              <a:spcBef>
                <a:spcPts val="0"/>
              </a:spcBef>
              <a:spcAft>
                <a:spcPts val="0"/>
              </a:spcAft>
              <a:buClr>
                <a:schemeClr val="dk1"/>
              </a:buClr>
              <a:buSzPts val="1800"/>
              <a:buFont typeface="Arial"/>
              <a:buChar char="•"/>
              <a:defRPr/>
            </a:pPr>
            <a:r>
              <a:rPr lang="en-US" sz="1800">
                <a:solidFill>
                  <a:schemeClr val="dk1"/>
                </a:solidFill>
                <a:latin typeface="Calibri"/>
                <a:ea typeface="Calibri"/>
                <a:cs typeface="Calibri"/>
              </a:rPr>
              <a:t>Poor estimates and plans</a:t>
            </a:r>
            <a:endParaRPr/>
          </a:p>
          <a:p>
            <a:pPr marL="176213" marR="0" lvl="0" indent="-176213" algn="l" rtl="0">
              <a:lnSpc>
                <a:spcPct val="90000"/>
              </a:lnSpc>
              <a:spcBef>
                <a:spcPts val="0"/>
              </a:spcBef>
              <a:spcAft>
                <a:spcPts val="0"/>
              </a:spcAft>
              <a:buClr>
                <a:schemeClr val="dk1"/>
              </a:buClr>
              <a:buSzPts val="1800"/>
              <a:buFont typeface="Arial"/>
              <a:buChar char="•"/>
              <a:defRPr/>
            </a:pPr>
            <a:r>
              <a:rPr lang="en-US" sz="1800">
                <a:solidFill>
                  <a:schemeClr val="dk1"/>
                </a:solidFill>
                <a:latin typeface="Calibri"/>
                <a:ea typeface="Calibri"/>
                <a:cs typeface="Calibri"/>
              </a:rPr>
              <a:t>Lack of quality standards and measures</a:t>
            </a:r>
            <a:endParaRPr/>
          </a:p>
          <a:p>
            <a:pPr marL="176213" marR="0" lvl="0" indent="-176213" algn="l" rtl="0">
              <a:lnSpc>
                <a:spcPct val="90000"/>
              </a:lnSpc>
              <a:spcBef>
                <a:spcPts val="0"/>
              </a:spcBef>
              <a:spcAft>
                <a:spcPts val="0"/>
              </a:spcAft>
              <a:buClr>
                <a:schemeClr val="dk1"/>
              </a:buClr>
              <a:buSzPts val="1800"/>
              <a:buFont typeface="Arial"/>
              <a:buChar char="•"/>
              <a:defRPr/>
            </a:pPr>
            <a:r>
              <a:rPr lang="en-US" sz="1800">
                <a:solidFill>
                  <a:schemeClr val="dk1"/>
                </a:solidFill>
                <a:latin typeface="Calibri"/>
                <a:ea typeface="Calibri"/>
                <a:cs typeface="Calibri"/>
              </a:rPr>
              <a:t>Lack of guidance about making </a:t>
            </a:r>
            <a:r>
              <a:rPr lang="en-US" sz="1800">
                <a:solidFill>
                  <a:schemeClr val="dk1"/>
                </a:solidFill>
                <a:latin typeface="Calibri"/>
                <a:ea typeface="Calibri"/>
                <a:cs typeface="Calibri"/>
              </a:rPr>
              <a:t>organisational</a:t>
            </a:r>
            <a:r>
              <a:rPr lang="en-US" sz="1800">
                <a:solidFill>
                  <a:schemeClr val="dk1"/>
                </a:solidFill>
                <a:latin typeface="Calibri"/>
                <a:ea typeface="Calibri"/>
                <a:cs typeface="Calibri"/>
              </a:rPr>
              <a:t> decisions</a:t>
            </a:r>
            <a:endParaRPr/>
          </a:p>
          <a:p>
            <a:pPr marL="176213" marR="0" lvl="0" indent="-176213" algn="l" rtl="0">
              <a:lnSpc>
                <a:spcPct val="90000"/>
              </a:lnSpc>
              <a:spcBef>
                <a:spcPts val="0"/>
              </a:spcBef>
              <a:spcAft>
                <a:spcPts val="0"/>
              </a:spcAft>
              <a:buClr>
                <a:schemeClr val="dk1"/>
              </a:buClr>
              <a:buSzPts val="1800"/>
              <a:buFont typeface="Arial"/>
              <a:buChar char="•"/>
              <a:defRPr/>
            </a:pPr>
            <a:r>
              <a:rPr lang="en-US" sz="1800">
                <a:solidFill>
                  <a:schemeClr val="dk1"/>
                </a:solidFill>
                <a:latin typeface="Calibri"/>
                <a:ea typeface="Calibri"/>
                <a:cs typeface="Calibri"/>
              </a:rPr>
              <a:t>Lack of techniques to make progress visible</a:t>
            </a:r>
            <a:endParaRPr/>
          </a:p>
          <a:p>
            <a:pPr marL="176213" marR="0" lvl="0" indent="-176213" algn="l" rtl="0">
              <a:lnSpc>
                <a:spcPct val="90000"/>
              </a:lnSpc>
              <a:spcBef>
                <a:spcPts val="0"/>
              </a:spcBef>
              <a:spcAft>
                <a:spcPts val="0"/>
              </a:spcAft>
              <a:buClr>
                <a:schemeClr val="dk1"/>
              </a:buClr>
              <a:buSzPts val="1800"/>
              <a:buFont typeface="Arial"/>
              <a:buChar char="•"/>
              <a:defRPr/>
            </a:pPr>
            <a:r>
              <a:rPr lang="en-US" sz="1800">
                <a:solidFill>
                  <a:schemeClr val="dk1"/>
                </a:solidFill>
                <a:latin typeface="Calibri"/>
                <a:ea typeface="Calibri"/>
                <a:cs typeface="Calibri"/>
              </a:rPr>
              <a:t>Poor role definition – who does what?</a:t>
            </a:r>
            <a:endParaRPr/>
          </a:p>
          <a:p>
            <a:pPr marL="176213" marR="0" lvl="0" indent="-176213" algn="l" rtl="0">
              <a:lnSpc>
                <a:spcPct val="90000"/>
              </a:lnSpc>
              <a:spcBef>
                <a:spcPts val="0"/>
              </a:spcBef>
              <a:spcAft>
                <a:spcPts val="0"/>
              </a:spcAft>
              <a:buClr>
                <a:schemeClr val="dk1"/>
              </a:buClr>
              <a:buSzPts val="1800"/>
              <a:buFont typeface="Arial"/>
              <a:buChar char="•"/>
              <a:defRPr/>
            </a:pPr>
            <a:r>
              <a:rPr lang="en-US" sz="1800">
                <a:solidFill>
                  <a:schemeClr val="dk1"/>
                </a:solidFill>
                <a:latin typeface="Calibri"/>
                <a:ea typeface="Calibri"/>
                <a:cs typeface="Calibri"/>
              </a:rPr>
              <a:t>Incorrect success criteria</a:t>
            </a:r>
            <a:endParaRPr/>
          </a:p>
          <a:p>
            <a:pPr marL="176213" marR="0" lvl="0" indent="-176213" algn="l" rtl="0">
              <a:lnSpc>
                <a:spcPct val="90000"/>
              </a:lnSpc>
              <a:spcBef>
                <a:spcPts val="0"/>
              </a:spcBef>
              <a:spcAft>
                <a:spcPts val="0"/>
              </a:spcAft>
              <a:buClr>
                <a:schemeClr val="dk1"/>
              </a:buClr>
              <a:buSzPts val="1800"/>
              <a:buFont typeface="Arial"/>
              <a:buChar char="•"/>
              <a:defRPr/>
            </a:pPr>
            <a:r>
              <a:rPr lang="en-US" sz="2000">
                <a:solidFill>
                  <a:srgbClr val="FF0000"/>
                </a:solidFill>
              </a:rPr>
              <a:t>Impossible deadlines</a:t>
            </a:r>
            <a:endParaRPr/>
          </a:p>
          <a:p>
            <a:pPr marL="176213" marR="0" lvl="0" indent="-176213" algn="l" rtl="0">
              <a:lnSpc>
                <a:spcPct val="90000"/>
              </a:lnSpc>
              <a:spcBef>
                <a:spcPts val="0"/>
              </a:spcBef>
              <a:spcAft>
                <a:spcPts val="0"/>
              </a:spcAft>
              <a:buClr>
                <a:schemeClr val="dk1"/>
              </a:buClr>
              <a:buSzPts val="1800"/>
              <a:buFont typeface="Arial"/>
              <a:buChar char="•"/>
              <a:defRPr/>
            </a:pPr>
            <a:r>
              <a:rPr lang="en-US" sz="2000">
                <a:solidFill>
                  <a:srgbClr val="FF0000"/>
                </a:solidFill>
              </a:rPr>
              <a:t>Scope changes (affect ?)</a:t>
            </a:r>
            <a:endParaRPr/>
          </a:p>
          <a:p>
            <a:pPr marL="176213" marR="0" lvl="0" indent="-176213" algn="l" rtl="0">
              <a:lnSpc>
                <a:spcPct val="90000"/>
              </a:lnSpc>
              <a:spcBef>
                <a:spcPts val="0"/>
              </a:spcBef>
              <a:spcAft>
                <a:spcPts val="0"/>
              </a:spcAft>
              <a:buClr>
                <a:schemeClr val="dk1"/>
              </a:buClr>
              <a:buSzPts val="1800"/>
              <a:buFont typeface="Arial"/>
              <a:buChar char="•"/>
              <a:defRPr/>
            </a:pPr>
            <a:r>
              <a:rPr lang="en-US" sz="2000">
                <a:solidFill>
                  <a:srgbClr val="FF0000"/>
                </a:solidFill>
              </a:rPr>
              <a:t>Resource </a:t>
            </a:r>
            <a:r>
              <a:rPr lang="en-US" sz="2000" u="sng">
                <a:solidFill>
                  <a:srgbClr val="FF0000"/>
                </a:solidFill>
              </a:rPr>
              <a:t>constraints</a:t>
            </a:r>
            <a:endParaRPr sz="2000" u="sng">
              <a:solidFill>
                <a:srgbClr val="FF0000"/>
              </a:solidFill>
            </a:endParaRPr>
          </a:p>
        </p:txBody>
      </p:sp>
      <p:sp>
        <p:nvSpPr>
          <p:cNvPr id="117665992" name="Google Shape;217;p9"/>
          <p:cNvSpPr txBox="1"/>
          <p:nvPr/>
        </p:nvSpPr>
        <p:spPr bwMode="auto">
          <a:xfrm>
            <a:off x="4343400" y="2969807"/>
            <a:ext cx="3962400" cy="3751667"/>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chemeClr val="dk1"/>
              </a:buClr>
              <a:buSzPts val="1800"/>
              <a:buFont typeface="Arial"/>
              <a:buChar char="•"/>
              <a:defRPr/>
            </a:pPr>
            <a:r>
              <a:rPr lang="en-US" sz="1800">
                <a:solidFill>
                  <a:schemeClr val="dk1"/>
                </a:solidFill>
                <a:latin typeface="Calibri"/>
                <a:ea typeface="Calibri"/>
                <a:cs typeface="Calibri"/>
              </a:rPr>
              <a:t>Inadequate specification of work</a:t>
            </a:r>
            <a:endParaRPr/>
          </a:p>
          <a:p>
            <a:pPr marL="228600" marR="0" lvl="0" indent="-228600" algn="l" rtl="0">
              <a:lnSpc>
                <a:spcPct val="90000"/>
              </a:lnSpc>
              <a:spcBef>
                <a:spcPts val="0"/>
              </a:spcBef>
              <a:spcAft>
                <a:spcPts val="0"/>
              </a:spcAft>
              <a:buClr>
                <a:schemeClr val="dk1"/>
              </a:buClr>
              <a:buSzPts val="1800"/>
              <a:buFont typeface="Arial"/>
              <a:buChar char="•"/>
              <a:defRPr/>
            </a:pPr>
            <a:r>
              <a:rPr lang="en-US" sz="1800">
                <a:solidFill>
                  <a:schemeClr val="tx1"/>
                </a:solidFill>
                <a:latin typeface="Calibri"/>
                <a:ea typeface="Calibri"/>
                <a:cs typeface="Calibri"/>
              </a:rPr>
              <a:t>Management ignorance of IT</a:t>
            </a:r>
            <a:endParaRPr sz="1800">
              <a:solidFill>
                <a:schemeClr val="tx1"/>
              </a:solidFill>
            </a:endParaRPr>
          </a:p>
          <a:p>
            <a:pPr marL="228600" marR="0" lvl="0" indent="-228600" algn="l" rtl="0">
              <a:lnSpc>
                <a:spcPct val="90000"/>
              </a:lnSpc>
              <a:spcBef>
                <a:spcPts val="0"/>
              </a:spcBef>
              <a:spcAft>
                <a:spcPts val="0"/>
              </a:spcAft>
              <a:buClr>
                <a:schemeClr val="dk1"/>
              </a:buClr>
              <a:buSzPts val="1800"/>
              <a:buFont typeface="Arial"/>
              <a:buChar char="•"/>
              <a:defRPr/>
            </a:pPr>
            <a:r>
              <a:rPr lang="en-US" sz="1800">
                <a:solidFill>
                  <a:schemeClr val="dk1"/>
                </a:solidFill>
                <a:latin typeface="Calibri"/>
                <a:ea typeface="Calibri"/>
                <a:cs typeface="Calibri"/>
              </a:rPr>
              <a:t>Lack of knowledge of application area</a:t>
            </a:r>
            <a:endParaRPr/>
          </a:p>
          <a:p>
            <a:pPr marL="228600" marR="0" lvl="0" indent="-228600" algn="l" rtl="0">
              <a:lnSpc>
                <a:spcPct val="90000"/>
              </a:lnSpc>
              <a:spcBef>
                <a:spcPts val="0"/>
              </a:spcBef>
              <a:spcAft>
                <a:spcPts val="0"/>
              </a:spcAft>
              <a:buClr>
                <a:schemeClr val="dk1"/>
              </a:buClr>
              <a:buSzPts val="1800"/>
              <a:buFont typeface="Arial"/>
              <a:buChar char="•"/>
              <a:defRPr/>
            </a:pPr>
            <a:r>
              <a:rPr lang="en-US" sz="1800">
                <a:solidFill>
                  <a:schemeClr val="dk1"/>
                </a:solidFill>
                <a:latin typeface="Calibri"/>
                <a:ea typeface="Calibri"/>
                <a:cs typeface="Calibri"/>
              </a:rPr>
              <a:t>Lack of standards</a:t>
            </a:r>
            <a:endParaRPr/>
          </a:p>
          <a:p>
            <a:pPr marL="228600" marR="0" lvl="0" indent="-228600" algn="l" rtl="0">
              <a:lnSpc>
                <a:spcPct val="90000"/>
              </a:lnSpc>
              <a:spcBef>
                <a:spcPts val="0"/>
              </a:spcBef>
              <a:spcAft>
                <a:spcPts val="0"/>
              </a:spcAft>
              <a:buClr>
                <a:schemeClr val="dk1"/>
              </a:buClr>
              <a:buSzPts val="1800"/>
              <a:buFont typeface="Arial"/>
              <a:buChar char="•"/>
              <a:defRPr/>
            </a:pPr>
            <a:r>
              <a:rPr lang="en-US" sz="1800">
                <a:solidFill>
                  <a:schemeClr val="dk1"/>
                </a:solidFill>
                <a:latin typeface="Calibri"/>
                <a:ea typeface="Calibri"/>
                <a:cs typeface="Calibri"/>
              </a:rPr>
              <a:t>Lack of up-to-date documentations</a:t>
            </a:r>
            <a:endParaRPr/>
          </a:p>
          <a:p>
            <a:pPr marL="228600" marR="0" lvl="0" indent="-228600" algn="l" rtl="0">
              <a:lnSpc>
                <a:spcPct val="90000"/>
              </a:lnSpc>
              <a:spcBef>
                <a:spcPts val="0"/>
              </a:spcBef>
              <a:spcAft>
                <a:spcPts val="0"/>
              </a:spcAft>
              <a:buClr>
                <a:schemeClr val="dk1"/>
              </a:buClr>
              <a:buSzPts val="1800"/>
              <a:buFont typeface="Arial"/>
              <a:buChar char="•"/>
              <a:defRPr/>
            </a:pPr>
            <a:r>
              <a:rPr lang="en-US" sz="1800">
                <a:solidFill>
                  <a:srgbClr val="FF0000"/>
                </a:solidFill>
                <a:latin typeface="Calibri"/>
                <a:ea typeface="Calibri"/>
                <a:cs typeface="Calibri"/>
              </a:rPr>
              <a:t>Preceding activities not completed on time </a:t>
            </a:r>
            <a:r>
              <a:rPr lang="en-US" sz="1800" b="1">
                <a:solidFill>
                  <a:srgbClr val="FF0000"/>
                </a:solidFill>
                <a:latin typeface="Calibri"/>
                <a:ea typeface="Calibri"/>
                <a:cs typeface="Calibri"/>
              </a:rPr>
              <a:t>(This will cause what problem?)</a:t>
            </a:r>
            <a:endParaRPr sz="1800" b="1">
              <a:solidFill>
                <a:srgbClr val="FF0000"/>
              </a:solidFill>
            </a:endParaRPr>
          </a:p>
          <a:p>
            <a:pPr marL="228600" marR="0" lvl="0" indent="-228600" algn="l" rtl="0">
              <a:lnSpc>
                <a:spcPct val="90000"/>
              </a:lnSpc>
              <a:spcBef>
                <a:spcPts val="0"/>
              </a:spcBef>
              <a:spcAft>
                <a:spcPts val="0"/>
              </a:spcAft>
              <a:buClr>
                <a:schemeClr val="dk1"/>
              </a:buClr>
              <a:buSzPts val="1800"/>
              <a:buFont typeface="Arial"/>
              <a:buChar char="•"/>
              <a:defRPr/>
            </a:pPr>
            <a:r>
              <a:rPr lang="en-US" sz="1800">
                <a:solidFill>
                  <a:schemeClr val="dk1"/>
                </a:solidFill>
                <a:latin typeface="Calibri"/>
                <a:ea typeface="Calibri"/>
                <a:cs typeface="Calibri"/>
              </a:rPr>
              <a:t>Narrow scope of technical expertise</a:t>
            </a:r>
            <a:endParaRPr/>
          </a:p>
          <a:p>
            <a:pPr marL="228600" marR="0" lvl="0" indent="-228600" algn="l" rtl="0">
              <a:lnSpc>
                <a:spcPct val="90000"/>
              </a:lnSpc>
              <a:spcBef>
                <a:spcPts val="0"/>
              </a:spcBef>
              <a:spcAft>
                <a:spcPts val="0"/>
              </a:spcAft>
              <a:buClr>
                <a:schemeClr val="dk1"/>
              </a:buClr>
              <a:buSzPts val="1800"/>
              <a:buFont typeface="Arial"/>
              <a:buChar char="•"/>
              <a:defRPr/>
            </a:pPr>
            <a:r>
              <a:rPr lang="en-US" sz="1800">
                <a:solidFill>
                  <a:schemeClr val="dk1"/>
                </a:solidFill>
                <a:latin typeface="Calibri"/>
                <a:ea typeface="Calibri"/>
                <a:cs typeface="Calibri"/>
              </a:rPr>
              <a:t>Changing user requirement</a:t>
            </a:r>
            <a:endParaRPr/>
          </a:p>
          <a:p>
            <a:pPr marL="228600" marR="0" lvl="0" indent="-228600" algn="l" rtl="0">
              <a:lnSpc>
                <a:spcPct val="90000"/>
              </a:lnSpc>
              <a:spcBef>
                <a:spcPts val="0"/>
              </a:spcBef>
              <a:spcAft>
                <a:spcPts val="0"/>
              </a:spcAft>
              <a:buClr>
                <a:schemeClr val="dk1"/>
              </a:buClr>
              <a:buSzPts val="1800"/>
              <a:buFont typeface="Arial"/>
              <a:buChar char="•"/>
              <a:defRPr/>
            </a:pPr>
            <a:r>
              <a:rPr lang="en-US" sz="1800">
                <a:solidFill>
                  <a:srgbClr val="FF0000"/>
                </a:solidFill>
                <a:latin typeface="Calibri"/>
                <a:ea typeface="Calibri"/>
                <a:cs typeface="Calibri"/>
              </a:rPr>
              <a:t>Deadline pressure</a:t>
            </a:r>
            <a:endParaRPr sz="1800">
              <a:solidFill>
                <a:srgbClr val="FF0000"/>
              </a:solidFill>
            </a:endParaRPr>
          </a:p>
          <a:p>
            <a:pPr marL="228600" marR="0" lvl="0" indent="-228600" algn="l" rtl="0">
              <a:lnSpc>
                <a:spcPct val="90000"/>
              </a:lnSpc>
              <a:spcBef>
                <a:spcPts val="0"/>
              </a:spcBef>
              <a:spcAft>
                <a:spcPts val="0"/>
              </a:spcAft>
              <a:buClr>
                <a:schemeClr val="dk1"/>
              </a:buClr>
              <a:buSzPts val="1800"/>
              <a:buFont typeface="Arial"/>
              <a:buChar char="•"/>
              <a:defRPr/>
            </a:pPr>
            <a:r>
              <a:rPr lang="en-US" sz="1800">
                <a:solidFill>
                  <a:srgbClr val="FF0000"/>
                </a:solidFill>
                <a:latin typeface="Calibri"/>
                <a:ea typeface="Calibri"/>
                <a:cs typeface="Calibri"/>
              </a:rPr>
              <a:t>Lack of skill</a:t>
            </a:r>
            <a:endParaRPr sz="1800">
              <a:solidFill>
                <a:srgbClr val="FF0000"/>
              </a:solidFill>
            </a:endParaRPr>
          </a:p>
          <a:p>
            <a:pPr marL="228600" marR="0" lvl="0" indent="-228600" algn="l" rtl="0">
              <a:lnSpc>
                <a:spcPct val="90000"/>
              </a:lnSpc>
              <a:spcBef>
                <a:spcPts val="0"/>
              </a:spcBef>
              <a:spcAft>
                <a:spcPts val="0"/>
              </a:spcAft>
              <a:buClr>
                <a:schemeClr val="dk1"/>
              </a:buClr>
              <a:buSzPts val="1800"/>
              <a:buFont typeface="Arial"/>
              <a:buChar char="•"/>
              <a:defRPr/>
            </a:pPr>
            <a:r>
              <a:rPr lang="en-US" sz="1800">
                <a:solidFill>
                  <a:schemeClr val="dk1"/>
                </a:solidFill>
                <a:latin typeface="Calibri"/>
                <a:ea typeface="Calibri"/>
                <a:cs typeface="Calibri"/>
              </a:rPr>
              <a:t>Lack of communication</a:t>
            </a:r>
            <a:endParaRPr/>
          </a:p>
        </p:txBody>
      </p:sp>
      <p:sp>
        <p:nvSpPr>
          <p:cNvPr id="416371083" name="Google Shape;218;p9"/>
          <p:cNvSpPr txBox="1"/>
          <p:nvPr/>
        </p:nvSpPr>
        <p:spPr bwMode="auto">
          <a:xfrm>
            <a:off x="8799871" y="3219449"/>
            <a:ext cx="2819400" cy="3476113"/>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chemeClr val="dk1"/>
              </a:buClr>
              <a:buSzPts val="1800"/>
              <a:buFont typeface="Arial"/>
              <a:buChar char="•"/>
              <a:defRPr/>
            </a:pPr>
            <a:r>
              <a:rPr lang="en-US" sz="1800">
                <a:solidFill>
                  <a:srgbClr val="FF0000"/>
                </a:solidFill>
                <a:latin typeface="Calibri"/>
                <a:ea typeface="Calibri"/>
                <a:cs typeface="Calibri"/>
              </a:rPr>
              <a:t>The software</a:t>
            </a:r>
            <a:endParaRPr/>
          </a:p>
          <a:p>
            <a:pPr marL="179388" marR="0" lvl="0" algn="l" rtl="0">
              <a:lnSpc>
                <a:spcPct val="90000"/>
              </a:lnSpc>
              <a:spcBef>
                <a:spcPts val="0"/>
              </a:spcBef>
              <a:spcAft>
                <a:spcPts val="0"/>
              </a:spcAft>
              <a:buClr>
                <a:schemeClr val="dk1"/>
              </a:buClr>
              <a:buSzPts val="1800"/>
              <a:defRPr/>
            </a:pPr>
            <a:r>
              <a:rPr lang="en-US" sz="1800">
                <a:solidFill>
                  <a:srgbClr val="FF0000"/>
                </a:solidFill>
                <a:latin typeface="Calibri"/>
                <a:ea typeface="Calibri"/>
                <a:cs typeface="Calibri"/>
              </a:rPr>
              <a:t> project is behind schedule</a:t>
            </a:r>
            <a:endParaRPr/>
          </a:p>
          <a:p>
            <a:pPr marL="179388" marR="0" lvl="0" algn="l" rtl="0">
              <a:lnSpc>
                <a:spcPct val="90000"/>
              </a:lnSpc>
              <a:spcBef>
                <a:spcPts val="0"/>
              </a:spcBef>
              <a:spcAft>
                <a:spcPts val="0"/>
              </a:spcAft>
              <a:buClr>
                <a:schemeClr val="dk1"/>
              </a:buClr>
              <a:buSzPts val="1800"/>
              <a:defRPr/>
            </a:pPr>
            <a:r>
              <a:rPr lang="en-US" sz="1800" b="1">
                <a:solidFill>
                  <a:srgbClr val="FF0000"/>
                </a:solidFill>
                <a:latin typeface="Calibri"/>
                <a:ea typeface="Calibri"/>
                <a:cs typeface="Calibri"/>
              </a:rPr>
              <a:t>(problem = ?)</a:t>
            </a:r>
            <a:endParaRPr/>
          </a:p>
          <a:p>
            <a:pPr marL="228600" marR="0" lvl="0" indent="-228600" algn="l" rtl="0">
              <a:lnSpc>
                <a:spcPct val="90000"/>
              </a:lnSpc>
              <a:spcBef>
                <a:spcPts val="0"/>
              </a:spcBef>
              <a:spcAft>
                <a:spcPts val="0"/>
              </a:spcAft>
              <a:buClr>
                <a:schemeClr val="dk1"/>
              </a:buClr>
              <a:buSzPts val="1800"/>
              <a:buFont typeface="Arial"/>
              <a:buChar char="•"/>
              <a:defRPr/>
            </a:pPr>
            <a:endParaRPr sz="1800" b="1">
              <a:solidFill>
                <a:srgbClr val="FF0000"/>
              </a:solidFill>
            </a:endParaRPr>
          </a:p>
          <a:p>
            <a:pPr marL="228600" marR="0" lvl="0" indent="-228600" algn="l" rtl="0">
              <a:lnSpc>
                <a:spcPct val="90000"/>
              </a:lnSpc>
              <a:spcBef>
                <a:spcPts val="1000"/>
              </a:spcBef>
              <a:spcAft>
                <a:spcPts val="0"/>
              </a:spcAft>
              <a:buClr>
                <a:schemeClr val="dk1"/>
              </a:buClr>
              <a:buSzPts val="1800"/>
              <a:buFont typeface="Arial"/>
              <a:buChar char="•"/>
              <a:defRPr/>
            </a:pPr>
            <a:r>
              <a:rPr lang="en-US" sz="1800">
                <a:solidFill>
                  <a:srgbClr val="FF0000"/>
                </a:solidFill>
                <a:latin typeface="Calibri"/>
                <a:ea typeface="Calibri"/>
                <a:cs typeface="Calibri"/>
              </a:rPr>
              <a:t>The developed software no longer meets the needs of the organization</a:t>
            </a:r>
            <a:endParaRPr sz="1800">
              <a:solidFill>
                <a:srgbClr val="FF0000"/>
              </a:solidFill>
            </a:endParaRPr>
          </a:p>
          <a:p>
            <a:pPr marL="228600" marR="0" lvl="0" indent="-228600" algn="l" rtl="0">
              <a:lnSpc>
                <a:spcPct val="90000"/>
              </a:lnSpc>
              <a:spcBef>
                <a:spcPts val="1000"/>
              </a:spcBef>
              <a:spcAft>
                <a:spcPts val="0"/>
              </a:spcAft>
              <a:buClr>
                <a:schemeClr val="dk1"/>
              </a:buClr>
              <a:buSzPts val="1800"/>
              <a:buFont typeface="Arial"/>
              <a:buChar char="•"/>
              <a:defRPr/>
            </a:pPr>
            <a:r>
              <a:rPr lang="en-US" sz="1800" b="1">
                <a:solidFill>
                  <a:srgbClr val="0000FF"/>
                </a:solidFill>
                <a:latin typeface="Calibri"/>
                <a:ea typeface="Calibri"/>
                <a:cs typeface="Calibri"/>
              </a:rPr>
              <a:t>The </a:t>
            </a:r>
            <a:r>
              <a:rPr lang="en-US" sz="1800" b="1" u="sng">
                <a:solidFill>
                  <a:srgbClr val="0000FF"/>
                </a:solidFill>
                <a:latin typeface="Calibri"/>
                <a:ea typeface="Calibri"/>
                <a:cs typeface="Calibri"/>
              </a:rPr>
              <a:t>cost</a:t>
            </a:r>
            <a:r>
              <a:rPr lang="en-US" sz="1800" b="1">
                <a:solidFill>
                  <a:srgbClr val="0000FF"/>
                </a:solidFill>
                <a:latin typeface="Calibri"/>
                <a:ea typeface="Calibri"/>
                <a:cs typeface="Calibri"/>
              </a:rPr>
              <a:t> of the project has exceeded its allotted </a:t>
            </a:r>
            <a:r>
              <a:rPr lang="en-US" sz="1800" b="1" u="sng">
                <a:solidFill>
                  <a:srgbClr val="0000FF"/>
                </a:solidFill>
                <a:latin typeface="Calibri"/>
                <a:ea typeface="Calibri"/>
                <a:cs typeface="Calibri"/>
              </a:rPr>
              <a:t>budget</a:t>
            </a:r>
            <a:endParaRPr sz="1800" b="1" u="sng">
              <a:solidFill>
                <a:srgbClr val="0000FF"/>
              </a:solidFill>
            </a:endParaRPr>
          </a:p>
        </p:txBody>
      </p:sp>
      <p:sp>
        <p:nvSpPr>
          <p:cNvPr id="1105302896" name="TextBox 1"/>
          <p:cNvSpPr txBox="1"/>
          <p:nvPr/>
        </p:nvSpPr>
        <p:spPr bwMode="auto">
          <a:xfrm>
            <a:off x="10701846" y="3210084"/>
            <a:ext cx="1411495" cy="1169551"/>
          </a:xfrm>
          <a:prstGeom prst="rect">
            <a:avLst/>
          </a:prstGeom>
          <a:noFill/>
        </p:spPr>
        <p:txBody>
          <a:bodyPr wrap="square" rtlCol="0">
            <a:spAutoFit/>
          </a:bodyPr>
          <a:lstStyle/>
          <a:p>
            <a:pPr>
              <a:defRPr/>
            </a:pPr>
            <a:r>
              <a:rPr lang="en-MY"/>
              <a:t>(e.g. need to wait for 1 more month then only can use the software)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332186176"/>
                                        </p:tgtEl>
                                        <p:attrNameLst>
                                          <p:attrName>style.visibility</p:attrName>
                                        </p:attrNameLst>
                                      </p:cBhvr>
                                      <p:to>
                                        <p:strVal val="visible"/>
                                      </p:to>
                                    </p:set>
                                    <p:anim calcmode="lin" valueType="num">
                                      <p:cBhvr additive="base">
                                        <p:cTn id="7" dur="500" fill="hold"/>
                                        <p:tgtEl>
                                          <p:spTgt spid="1332186176"/>
                                        </p:tgtEl>
                                        <p:attrNameLst>
                                          <p:attrName>ppt_x</p:attrName>
                                        </p:attrNameLst>
                                      </p:cBhvr>
                                      <p:tavLst>
                                        <p:tav tm="0">
                                          <p:val>
                                            <p:strVal val="#ppt_x"/>
                                          </p:val>
                                        </p:tav>
                                        <p:tav tm="100000">
                                          <p:val>
                                            <p:strVal val="#ppt_x"/>
                                          </p:val>
                                        </p:tav>
                                      </p:tavLst>
                                    </p:anim>
                                    <p:anim calcmode="lin" valueType="num">
                                      <p:cBhvr additive="base">
                                        <p:cTn id="8" dur="500" fill="hold"/>
                                        <p:tgtEl>
                                          <p:spTgt spid="133218617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42045524">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42045524">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42045524">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42045524">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42045524">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42045524">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42045524">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42045524">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42045524">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7665992">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7665992">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7665992">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7665992">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17665992">
                                            <p:txEl>
                                              <p:pRg st="4" end="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7665992">
                                            <p:txEl>
                                              <p:pRg st="5" end="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7665992">
                                            <p:txEl>
                                              <p:pRg st="6" end="6"/>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7665992">
                                            <p:txEl>
                                              <p:pRg st="7" end="7"/>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17665992">
                                            <p:txEl>
                                              <p:pRg st="8" end="8"/>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7665992">
                                            <p:txEl>
                                              <p:pRg st="9" end="9"/>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7665992">
                                            <p:txEl>
                                              <p:pRg st="10" end="1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16371083">
                                            <p:txEl>
                                              <p:pRg st="0" end="0"/>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16371083">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416371083">
                                            <p:txEl>
                                              <p:pRg st="2" end="2"/>
                                            </p:txEl>
                                          </p:spTgt>
                                        </p:tgtEl>
                                        <p:attrNameLst>
                                          <p:attrName>style.visibility</p:attrName>
                                        </p:attrNameLst>
                                      </p:cBhvr>
                                      <p:to>
                                        <p:strVal val="visible"/>
                                      </p:to>
                                    </p:set>
                                    <p:animEffect transition="in" filter="wipe(left)">
                                      <p:cBhvr>
                                        <p:cTn id="63" dur="500"/>
                                        <p:tgtEl>
                                          <p:spTgt spid="416371083">
                                            <p:txEl>
                                              <p:pRg st="2" end="2"/>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105302896"/>
                                        </p:tgtEl>
                                        <p:attrNameLst>
                                          <p:attrName>style.visibility</p:attrName>
                                        </p:attrNameLst>
                                      </p:cBhvr>
                                      <p:to>
                                        <p:strVal val="visible"/>
                                      </p:to>
                                    </p:set>
                                    <p:animEffect transition="in" filter="wipe(left)">
                                      <p:cBhvr>
                                        <p:cTn id="68" dur="500"/>
                                        <p:tgtEl>
                                          <p:spTgt spid="1105302896"/>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416371083">
                                            <p:txEl>
                                              <p:pRg st="4" end="4"/>
                                            </p:txEl>
                                          </p:spTgt>
                                        </p:tgtEl>
                                        <p:attrNameLst>
                                          <p:attrName>style.visibility</p:attrName>
                                        </p:attrNameLst>
                                      </p:cBhvr>
                                      <p:to>
                                        <p:strVal val="visible"/>
                                      </p:to>
                                    </p:set>
                                    <p:animEffect transition="in" filter="wipe(left)">
                                      <p:cBhvr>
                                        <p:cTn id="73" dur="500"/>
                                        <p:tgtEl>
                                          <p:spTgt spid="416371083">
                                            <p:txEl>
                                              <p:pRg st="4" end="4"/>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nodeType="clickEffect">
                                  <p:stCondLst>
                                    <p:cond delay="0"/>
                                  </p:stCondLst>
                                  <p:childTnLst>
                                    <p:set>
                                      <p:cBhvr>
                                        <p:cTn id="77" dur="1" fill="hold">
                                          <p:stCondLst>
                                            <p:cond delay="0"/>
                                          </p:stCondLst>
                                        </p:cTn>
                                        <p:tgtEl>
                                          <p:spTgt spid="416371083">
                                            <p:txEl>
                                              <p:pRg st="5" end="5"/>
                                            </p:txEl>
                                          </p:spTgt>
                                        </p:tgtEl>
                                        <p:attrNameLst>
                                          <p:attrName>style.visibility</p:attrName>
                                        </p:attrNameLst>
                                      </p:cBhvr>
                                      <p:to>
                                        <p:strVal val="visible"/>
                                      </p:to>
                                    </p:set>
                                    <p:anim calcmode="lin" valueType="num">
                                      <p:cBhvr additive="base">
                                        <p:cTn id="78" dur="500" fill="hold"/>
                                        <p:tgtEl>
                                          <p:spTgt spid="416371083">
                                            <p:txEl>
                                              <p:pRg st="5" end="5"/>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41637108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302896" grpId="0"/>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43143995" name="Google Shape;223;p10"/>
          <p:cNvSpPr txBox="1">
            <a:spLocks noGrp="1"/>
          </p:cNvSpPr>
          <p:nvPr>
            <p:ph type="ctrTitle"/>
          </p:nvPr>
        </p:nvSpPr>
        <p:spPr bwMode="auto">
          <a:xfrm>
            <a:off x="5791200" y="1295400"/>
            <a:ext cx="6019800" cy="11430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chemeClr val="dk1"/>
              </a:buClr>
              <a:buSzPct val="100000"/>
              <a:buFont typeface="Calibri"/>
              <a:buNone/>
              <a:defRPr/>
            </a:pPr>
            <a:r>
              <a:rPr lang="en-US" sz="4400" b="1"/>
              <a:t>1.2 Project Life Cycle</a:t>
            </a:r>
            <a:br>
              <a:rPr lang="en-US" sz="4400" b="1"/>
            </a:br>
            <a:endParaRPr sz="4400" b="1"/>
          </a:p>
        </p:txBody>
      </p:sp>
      <p:sp>
        <p:nvSpPr>
          <p:cNvPr id="978072901" name="Google Shape;224;p10"/>
          <p:cNvSpPr txBox="1">
            <a:spLocks noGrp="1"/>
          </p:cNvSpPr>
          <p:nvPr>
            <p:ph type="subTitle" idx="1"/>
          </p:nvPr>
        </p:nvSpPr>
        <p:spPr bwMode="auto">
          <a:xfrm>
            <a:off x="5791200" y="2895600"/>
            <a:ext cx="6400800" cy="2057400"/>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Clr>
                <a:schemeClr val="dk1"/>
              </a:buClr>
              <a:buSzPts val="2800"/>
              <a:buFont typeface="Arial"/>
              <a:buChar char="•"/>
              <a:defRPr/>
            </a:pPr>
            <a:r>
              <a:rPr lang="en-US" sz="2800">
                <a:solidFill>
                  <a:schemeClr val="bg1">
                    <a:lumMod val="50000"/>
                  </a:schemeClr>
                </a:solidFill>
              </a:rPr>
              <a:t>Generic Project Process Model</a:t>
            </a:r>
            <a:endParaRPr>
              <a:solidFill>
                <a:schemeClr val="bg1">
                  <a:lumMod val="50000"/>
                </a:schemeClr>
              </a:solidFill>
            </a:endParaRPr>
          </a:p>
          <a:p>
            <a:pPr marL="457200" lvl="0" indent="-457200" algn="l" rtl="0">
              <a:lnSpc>
                <a:spcPct val="90000"/>
              </a:lnSpc>
              <a:spcBef>
                <a:spcPts val="1000"/>
              </a:spcBef>
              <a:spcAft>
                <a:spcPts val="0"/>
              </a:spcAft>
              <a:buClr>
                <a:schemeClr val="dk1"/>
              </a:buClr>
              <a:buSzPts val="2800"/>
              <a:buFont typeface="Arial"/>
              <a:buChar char="•"/>
              <a:defRPr/>
            </a:pPr>
            <a:r>
              <a:rPr lang="en-US" sz="2800">
                <a:solidFill>
                  <a:schemeClr val="bg1">
                    <a:lumMod val="50000"/>
                  </a:schemeClr>
                </a:solidFill>
              </a:rPr>
              <a:t>Project Life Cycle Processes</a:t>
            </a:r>
            <a:endParaRPr>
              <a:solidFill>
                <a:schemeClr val="bg1">
                  <a:lumMod val="50000"/>
                </a:schemeClr>
              </a:solidFill>
            </a:endParaRPr>
          </a:p>
          <a:p>
            <a:pPr marL="457200" lvl="0" indent="-457200" algn="l" rtl="0">
              <a:lnSpc>
                <a:spcPct val="90000"/>
              </a:lnSpc>
              <a:spcBef>
                <a:spcPts val="1000"/>
              </a:spcBef>
              <a:spcAft>
                <a:spcPts val="0"/>
              </a:spcAft>
              <a:buClr>
                <a:schemeClr val="dk1"/>
              </a:buClr>
              <a:buSzPts val="2800"/>
              <a:buFont typeface="Arial"/>
              <a:buChar char="•"/>
              <a:defRPr/>
            </a:pPr>
            <a:r>
              <a:rPr lang="en-US" sz="2800">
                <a:solidFill>
                  <a:schemeClr val="bg1">
                    <a:lumMod val="50000"/>
                  </a:schemeClr>
                </a:solidFill>
              </a:rPr>
              <a:t>RFP and Proposals</a:t>
            </a:r>
            <a:endParaRPr>
              <a:solidFill>
                <a:schemeClr val="bg1">
                  <a:lumMod val="50000"/>
                </a:schemeClr>
              </a:solidFill>
            </a:endParaRPr>
          </a:p>
        </p:txBody>
      </p:sp>
      <p:sp>
        <p:nvSpPr>
          <p:cNvPr id="1825827489" name="Google Shape;225;p10"/>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11</a:t>
            </a:fld>
            <a:endParaRPr/>
          </a:p>
        </p:txBody>
      </p:sp>
      <p:pic>
        <p:nvPicPr>
          <p:cNvPr id="57555140" name="Google Shape;226;p10"/>
          <p:cNvPicPr/>
          <p:nvPr/>
        </p:nvPicPr>
        <p:blipFill rotWithShape="1">
          <a:blip r:embed="rId3">
            <a:alphaModFix/>
          </a:blip>
          <a:stretch/>
        </p:blipFill>
        <p:spPr bwMode="auto">
          <a:xfrm>
            <a:off x="0" y="1"/>
            <a:ext cx="5638800" cy="6858000"/>
          </a:xfrm>
          <a:prstGeom prst="rect">
            <a:avLst/>
          </a:prstGeom>
          <a:noFill/>
          <a:ln>
            <a:noFill/>
          </a:ln>
        </p:spPr>
      </p:pic>
      <p:cxnSp>
        <p:nvCxnSpPr>
          <p:cNvPr id="533270928" name="Google Shape;227;p10"/>
          <p:cNvCxnSpPr/>
          <p:nvPr/>
        </p:nvCxnSpPr>
        <p:spPr bwMode="auto">
          <a:xfrm rot="10800000">
            <a:off x="7086600" y="2057400"/>
            <a:ext cx="1023822" cy="0"/>
          </a:xfrm>
          <a:prstGeom prst="straightConnector1">
            <a:avLst/>
          </a:prstGeom>
          <a:noFill/>
          <a:ln w="28575" cap="flat" cmpd="sng">
            <a:solidFill>
              <a:srgbClr val="3F3F3F"/>
            </a:solidFill>
            <a:prstDash val="solid"/>
            <a:miter lim="800000"/>
            <a:headEnd type="none" w="sm" len="sm"/>
            <a:tailEnd type="none" w="sm" len="sm"/>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643143995"/>
                                        </p:tgtEl>
                                        <p:attrNameLst>
                                          <p:attrName>style.visibility</p:attrName>
                                        </p:attrNameLst>
                                      </p:cBhvr>
                                      <p:to>
                                        <p:strVal val="visible"/>
                                      </p:to>
                                    </p:set>
                                    <p:anim calcmode="lin" valueType="num">
                                      <p:cBhvr additive="base">
                                        <p:cTn id="7" dur="500" fill="hold"/>
                                        <p:tgtEl>
                                          <p:spTgt spid="1643143995"/>
                                        </p:tgtEl>
                                        <p:attrNameLst>
                                          <p:attrName>ppt_x</p:attrName>
                                        </p:attrNameLst>
                                      </p:cBhvr>
                                      <p:tavLst>
                                        <p:tav tm="0">
                                          <p:val>
                                            <p:strVal val="#ppt_x"/>
                                          </p:val>
                                        </p:tav>
                                        <p:tav tm="100000">
                                          <p:val>
                                            <p:strVal val="#ppt_x"/>
                                          </p:val>
                                        </p:tav>
                                      </p:tavLst>
                                    </p:anim>
                                    <p:anim calcmode="lin" valueType="num">
                                      <p:cBhvr additive="base">
                                        <p:cTn id="8" dur="500" fill="hold"/>
                                        <p:tgtEl>
                                          <p:spTgt spid="164314399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3143995" grpId="0"/>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27607811" name="Google Shape;233;p11"/>
          <p:cNvPicPr/>
          <p:nvPr/>
        </p:nvPicPr>
        <p:blipFill rotWithShape="1">
          <a:blip r:embed="rId3">
            <a:alphaModFix/>
          </a:blip>
          <a:srcRect l="0" t="1" r="0" b="60239"/>
          <a:stretch/>
        </p:blipFill>
        <p:spPr bwMode="auto">
          <a:xfrm>
            <a:off x="0" y="5550319"/>
            <a:ext cx="4072467" cy="1307681"/>
          </a:xfrm>
          <a:prstGeom prst="rect">
            <a:avLst/>
          </a:prstGeom>
          <a:noFill/>
          <a:ln>
            <a:noFill/>
          </a:ln>
        </p:spPr>
      </p:pic>
      <p:pic>
        <p:nvPicPr>
          <p:cNvPr id="1116972522" name="Google Shape;234;p11"/>
          <p:cNvPicPr/>
          <p:nvPr/>
        </p:nvPicPr>
        <p:blipFill rotWithShape="1">
          <a:blip r:embed="rId4">
            <a:alphaModFix/>
          </a:blip>
          <a:srcRect l="0" t="1" r="0" b="60239"/>
          <a:stretch/>
        </p:blipFill>
        <p:spPr bwMode="auto">
          <a:xfrm>
            <a:off x="4059767" y="5550319"/>
            <a:ext cx="4072467" cy="1307681"/>
          </a:xfrm>
          <a:prstGeom prst="rect">
            <a:avLst/>
          </a:prstGeom>
          <a:noFill/>
          <a:ln>
            <a:noFill/>
          </a:ln>
        </p:spPr>
      </p:pic>
      <p:pic>
        <p:nvPicPr>
          <p:cNvPr id="882564672" name="Google Shape;235;p11"/>
          <p:cNvPicPr/>
          <p:nvPr/>
        </p:nvPicPr>
        <p:blipFill rotWithShape="1">
          <a:blip r:embed="rId5">
            <a:alphaModFix/>
          </a:blip>
          <a:srcRect l="0" t="0" r="0" b="60239"/>
          <a:stretch/>
        </p:blipFill>
        <p:spPr bwMode="auto">
          <a:xfrm>
            <a:off x="8132233" y="5550319"/>
            <a:ext cx="4059767" cy="1307681"/>
          </a:xfrm>
          <a:prstGeom prst="rect">
            <a:avLst/>
          </a:prstGeom>
          <a:noFill/>
          <a:ln>
            <a:noFill/>
          </a:ln>
        </p:spPr>
      </p:pic>
      <p:grpSp>
        <p:nvGrpSpPr>
          <p:cNvPr id="255765467" name="Google Shape;236;p11"/>
          <p:cNvGrpSpPr/>
          <p:nvPr/>
        </p:nvGrpSpPr>
        <p:grpSpPr bwMode="auto">
          <a:xfrm>
            <a:off x="4102101" y="1837800"/>
            <a:ext cx="7785099" cy="4201983"/>
            <a:chOff x="328972" y="1973960"/>
            <a:chExt cx="7785099" cy="4201983"/>
          </a:xfrm>
        </p:grpSpPr>
        <p:cxnSp>
          <p:nvCxnSpPr>
            <p:cNvPr id="237" name="Google Shape;237;p11"/>
            <p:cNvCxnSpPr/>
            <p:nvPr/>
          </p:nvCxnSpPr>
          <p:spPr bwMode="auto">
            <a:xfrm>
              <a:off x="1103671" y="5413942"/>
              <a:ext cx="6629400" cy="0"/>
            </a:xfrm>
            <a:prstGeom prst="straightConnector1">
              <a:avLst/>
            </a:prstGeom>
            <a:noFill/>
            <a:ln w="9525" cap="flat" cmpd="sng">
              <a:solidFill>
                <a:schemeClr val="dk1"/>
              </a:solidFill>
              <a:prstDash val="solid"/>
              <a:round/>
              <a:headEnd type="none" w="med" len="med"/>
              <a:tailEnd type="triangle" w="med" len="med"/>
            </a:ln>
          </p:spPr>
        </p:cxnSp>
        <p:cxnSp>
          <p:nvCxnSpPr>
            <p:cNvPr id="238" name="Google Shape;238;p11"/>
            <p:cNvCxnSpPr/>
            <p:nvPr/>
          </p:nvCxnSpPr>
          <p:spPr bwMode="auto">
            <a:xfrm rot="10800000">
              <a:off x="1103671" y="1973960"/>
              <a:ext cx="0" cy="3420000"/>
            </a:xfrm>
            <a:prstGeom prst="straightConnector1">
              <a:avLst/>
            </a:prstGeom>
            <a:noFill/>
            <a:ln w="9525" cap="flat" cmpd="sng">
              <a:solidFill>
                <a:schemeClr val="dk1"/>
              </a:solidFill>
              <a:prstDash val="solid"/>
              <a:round/>
              <a:headEnd type="none" w="med" len="med"/>
              <a:tailEnd type="triangle" w="med" len="med"/>
            </a:ln>
          </p:spPr>
        </p:cxnSp>
        <p:sp>
          <p:nvSpPr>
            <p:cNvPr id="239" name="Google Shape;239;p11"/>
            <p:cNvSpPr txBox="1"/>
            <p:nvPr/>
          </p:nvSpPr>
          <p:spPr bwMode="auto">
            <a:xfrm>
              <a:off x="328972" y="2017527"/>
              <a:ext cx="17525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Times New Roman"/>
                <a:buNone/>
                <a:defRPr/>
              </a:pPr>
              <a:r>
                <a:rPr lang="en-US" sz="1800">
                  <a:solidFill>
                    <a:schemeClr val="dk1"/>
                  </a:solidFill>
                  <a:latin typeface="Times New Roman"/>
                  <a:ea typeface="Times New Roman"/>
                  <a:cs typeface="Times New Roman"/>
                </a:rPr>
                <a:t>Effort</a:t>
              </a:r>
              <a:endParaRPr sz="2400">
                <a:solidFill>
                  <a:schemeClr val="dk1"/>
                </a:solidFill>
                <a:latin typeface="Times New Roman"/>
                <a:ea typeface="Times New Roman"/>
                <a:cs typeface="Times New Roman"/>
              </a:endParaRPr>
            </a:p>
          </p:txBody>
        </p:sp>
        <p:sp>
          <p:nvSpPr>
            <p:cNvPr id="240" name="Google Shape;240;p11"/>
            <p:cNvSpPr txBox="1"/>
            <p:nvPr/>
          </p:nvSpPr>
          <p:spPr bwMode="auto">
            <a:xfrm>
              <a:off x="7123471" y="5437379"/>
              <a:ext cx="9906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Times New Roman"/>
                <a:buNone/>
                <a:defRPr/>
              </a:pPr>
              <a:r>
                <a:rPr lang="en-US" sz="1800">
                  <a:solidFill>
                    <a:schemeClr val="dk1"/>
                  </a:solidFill>
                  <a:latin typeface="Times New Roman"/>
                  <a:ea typeface="Times New Roman"/>
                  <a:cs typeface="Times New Roman"/>
                </a:rPr>
                <a:t>Time</a:t>
              </a:r>
              <a:endParaRPr sz="2400">
                <a:solidFill>
                  <a:schemeClr val="dk1"/>
                </a:solidFill>
                <a:latin typeface="Times New Roman"/>
                <a:ea typeface="Times New Roman"/>
                <a:cs typeface="Times New Roman"/>
              </a:endParaRPr>
            </a:p>
          </p:txBody>
        </p:sp>
        <p:cxnSp>
          <p:nvCxnSpPr>
            <p:cNvPr id="241" name="Google Shape;241;p11"/>
            <p:cNvCxnSpPr/>
            <p:nvPr/>
          </p:nvCxnSpPr>
          <p:spPr bwMode="auto">
            <a:xfrm>
              <a:off x="2094271" y="2289743"/>
              <a:ext cx="0" cy="3124200"/>
            </a:xfrm>
            <a:prstGeom prst="straightConnector1">
              <a:avLst/>
            </a:prstGeom>
            <a:noFill/>
            <a:ln w="9525" cap="flat" cmpd="sng">
              <a:solidFill>
                <a:schemeClr val="dk1"/>
              </a:solidFill>
              <a:prstDash val="solid"/>
              <a:round/>
              <a:headEnd type="none" w="med" len="med"/>
              <a:tailEnd type="none" w="med" len="med"/>
            </a:ln>
          </p:spPr>
        </p:cxnSp>
        <p:cxnSp>
          <p:nvCxnSpPr>
            <p:cNvPr id="242" name="Google Shape;242;p11"/>
            <p:cNvCxnSpPr/>
            <p:nvPr/>
          </p:nvCxnSpPr>
          <p:spPr bwMode="auto">
            <a:xfrm>
              <a:off x="3008671" y="2289743"/>
              <a:ext cx="0" cy="3124200"/>
            </a:xfrm>
            <a:prstGeom prst="straightConnector1">
              <a:avLst/>
            </a:prstGeom>
            <a:noFill/>
            <a:ln w="9525" cap="flat" cmpd="sng">
              <a:solidFill>
                <a:schemeClr val="dk1"/>
              </a:solidFill>
              <a:prstDash val="solid"/>
              <a:round/>
              <a:headEnd type="none" w="med" len="med"/>
              <a:tailEnd type="none" w="med" len="med"/>
            </a:ln>
          </p:spPr>
        </p:cxnSp>
        <p:cxnSp>
          <p:nvCxnSpPr>
            <p:cNvPr id="243" name="Google Shape;243;p11"/>
            <p:cNvCxnSpPr/>
            <p:nvPr/>
          </p:nvCxnSpPr>
          <p:spPr bwMode="auto">
            <a:xfrm>
              <a:off x="5828071" y="2289743"/>
              <a:ext cx="0" cy="3124200"/>
            </a:xfrm>
            <a:prstGeom prst="straightConnector1">
              <a:avLst/>
            </a:prstGeom>
            <a:noFill/>
            <a:ln w="9525" cap="flat" cmpd="sng">
              <a:solidFill>
                <a:schemeClr val="dk1"/>
              </a:solidFill>
              <a:prstDash val="solid"/>
              <a:round/>
              <a:headEnd type="none" w="med" len="med"/>
              <a:tailEnd type="none" w="med" len="med"/>
            </a:ln>
          </p:spPr>
        </p:cxnSp>
        <p:sp>
          <p:nvSpPr>
            <p:cNvPr id="244" name="Google Shape;244;p11"/>
            <p:cNvSpPr/>
            <p:nvPr/>
          </p:nvSpPr>
          <p:spPr bwMode="auto">
            <a:xfrm>
              <a:off x="1103671" y="2624706"/>
              <a:ext cx="6108700" cy="2779712"/>
            </a:xfrm>
            <a:custGeom>
              <a:avLst/>
              <a:gdLst/>
              <a:ahLst/>
              <a:cxnLst/>
              <a:rect l="l" t="t" r="r" b="b"/>
              <a:pathLst>
                <a:path w="3848" h="1751" fill="norm" stroke="1" extrusionOk="0">
                  <a:moveTo>
                    <a:pt x="0" y="1751"/>
                  </a:moveTo>
                  <a:cubicBezTo>
                    <a:pt x="23" y="1736"/>
                    <a:pt x="46" y="1720"/>
                    <a:pt x="69" y="1705"/>
                  </a:cubicBezTo>
                  <a:cubicBezTo>
                    <a:pt x="81" y="1697"/>
                    <a:pt x="104" y="1682"/>
                    <a:pt x="104" y="1682"/>
                  </a:cubicBezTo>
                  <a:cubicBezTo>
                    <a:pt x="158" y="1602"/>
                    <a:pt x="194" y="1553"/>
                    <a:pt x="276" y="1498"/>
                  </a:cubicBezTo>
                  <a:cubicBezTo>
                    <a:pt x="289" y="1489"/>
                    <a:pt x="346" y="1478"/>
                    <a:pt x="357" y="1475"/>
                  </a:cubicBezTo>
                  <a:cubicBezTo>
                    <a:pt x="380" y="1468"/>
                    <a:pt x="426" y="1452"/>
                    <a:pt x="426" y="1452"/>
                  </a:cubicBezTo>
                  <a:cubicBezTo>
                    <a:pt x="448" y="1438"/>
                    <a:pt x="475" y="1433"/>
                    <a:pt x="495" y="1417"/>
                  </a:cubicBezTo>
                  <a:cubicBezTo>
                    <a:pt x="506" y="1408"/>
                    <a:pt x="508" y="1392"/>
                    <a:pt x="518" y="1383"/>
                  </a:cubicBezTo>
                  <a:cubicBezTo>
                    <a:pt x="575" y="1334"/>
                    <a:pt x="656" y="1301"/>
                    <a:pt x="726" y="1279"/>
                  </a:cubicBezTo>
                  <a:cubicBezTo>
                    <a:pt x="767" y="1251"/>
                    <a:pt x="816" y="1225"/>
                    <a:pt x="864" y="1210"/>
                  </a:cubicBezTo>
                  <a:cubicBezTo>
                    <a:pt x="902" y="1185"/>
                    <a:pt x="930" y="1154"/>
                    <a:pt x="968" y="1129"/>
                  </a:cubicBezTo>
                  <a:cubicBezTo>
                    <a:pt x="976" y="1118"/>
                    <a:pt x="981" y="1104"/>
                    <a:pt x="991" y="1095"/>
                  </a:cubicBezTo>
                  <a:cubicBezTo>
                    <a:pt x="1012" y="1077"/>
                    <a:pt x="1060" y="1049"/>
                    <a:pt x="1060" y="1049"/>
                  </a:cubicBezTo>
                  <a:cubicBezTo>
                    <a:pt x="1068" y="1037"/>
                    <a:pt x="1073" y="1023"/>
                    <a:pt x="1083" y="1014"/>
                  </a:cubicBezTo>
                  <a:cubicBezTo>
                    <a:pt x="1104" y="996"/>
                    <a:pt x="1152" y="968"/>
                    <a:pt x="1152" y="968"/>
                  </a:cubicBezTo>
                  <a:cubicBezTo>
                    <a:pt x="1160" y="956"/>
                    <a:pt x="1165" y="943"/>
                    <a:pt x="1175" y="933"/>
                  </a:cubicBezTo>
                  <a:cubicBezTo>
                    <a:pt x="1185" y="923"/>
                    <a:pt x="1201" y="921"/>
                    <a:pt x="1210" y="910"/>
                  </a:cubicBezTo>
                  <a:cubicBezTo>
                    <a:pt x="1274" y="831"/>
                    <a:pt x="1154" y="920"/>
                    <a:pt x="1256" y="853"/>
                  </a:cubicBezTo>
                  <a:cubicBezTo>
                    <a:pt x="1283" y="767"/>
                    <a:pt x="1243" y="868"/>
                    <a:pt x="1302" y="795"/>
                  </a:cubicBezTo>
                  <a:cubicBezTo>
                    <a:pt x="1347" y="739"/>
                    <a:pt x="1270" y="776"/>
                    <a:pt x="1348" y="749"/>
                  </a:cubicBezTo>
                  <a:cubicBezTo>
                    <a:pt x="1375" y="663"/>
                    <a:pt x="1335" y="764"/>
                    <a:pt x="1394" y="691"/>
                  </a:cubicBezTo>
                  <a:cubicBezTo>
                    <a:pt x="1401" y="682"/>
                    <a:pt x="1400" y="668"/>
                    <a:pt x="1405" y="657"/>
                  </a:cubicBezTo>
                  <a:cubicBezTo>
                    <a:pt x="1411" y="644"/>
                    <a:pt x="1422" y="634"/>
                    <a:pt x="1428" y="622"/>
                  </a:cubicBezTo>
                  <a:cubicBezTo>
                    <a:pt x="1455" y="569"/>
                    <a:pt x="1463" y="527"/>
                    <a:pt x="1521" y="507"/>
                  </a:cubicBezTo>
                  <a:cubicBezTo>
                    <a:pt x="1550" y="416"/>
                    <a:pt x="1506" y="524"/>
                    <a:pt x="1567" y="461"/>
                  </a:cubicBezTo>
                  <a:cubicBezTo>
                    <a:pt x="1626" y="400"/>
                    <a:pt x="1522" y="444"/>
                    <a:pt x="1613" y="415"/>
                  </a:cubicBezTo>
                  <a:cubicBezTo>
                    <a:pt x="1680" y="313"/>
                    <a:pt x="1591" y="433"/>
                    <a:pt x="1670" y="369"/>
                  </a:cubicBezTo>
                  <a:cubicBezTo>
                    <a:pt x="1743" y="310"/>
                    <a:pt x="1642" y="350"/>
                    <a:pt x="1728" y="323"/>
                  </a:cubicBezTo>
                  <a:cubicBezTo>
                    <a:pt x="1761" y="290"/>
                    <a:pt x="1781" y="257"/>
                    <a:pt x="1820" y="231"/>
                  </a:cubicBezTo>
                  <a:cubicBezTo>
                    <a:pt x="1851" y="142"/>
                    <a:pt x="1806" y="248"/>
                    <a:pt x="1866" y="173"/>
                  </a:cubicBezTo>
                  <a:cubicBezTo>
                    <a:pt x="1910" y="118"/>
                    <a:pt x="1839" y="151"/>
                    <a:pt x="1912" y="127"/>
                  </a:cubicBezTo>
                  <a:cubicBezTo>
                    <a:pt x="1976" y="29"/>
                    <a:pt x="2173" y="16"/>
                    <a:pt x="2281" y="0"/>
                  </a:cubicBezTo>
                  <a:cubicBezTo>
                    <a:pt x="2493" y="16"/>
                    <a:pt x="2387" y="6"/>
                    <a:pt x="2511" y="46"/>
                  </a:cubicBezTo>
                  <a:cubicBezTo>
                    <a:pt x="2532" y="67"/>
                    <a:pt x="2561" y="81"/>
                    <a:pt x="2580" y="104"/>
                  </a:cubicBezTo>
                  <a:cubicBezTo>
                    <a:pt x="2642" y="181"/>
                    <a:pt x="2529" y="97"/>
                    <a:pt x="2627" y="161"/>
                  </a:cubicBezTo>
                  <a:cubicBezTo>
                    <a:pt x="2642" y="208"/>
                    <a:pt x="2655" y="227"/>
                    <a:pt x="2696" y="254"/>
                  </a:cubicBezTo>
                  <a:cubicBezTo>
                    <a:pt x="2717" y="319"/>
                    <a:pt x="2692" y="258"/>
                    <a:pt x="2742" y="323"/>
                  </a:cubicBezTo>
                  <a:cubicBezTo>
                    <a:pt x="2815" y="416"/>
                    <a:pt x="2756" y="370"/>
                    <a:pt x="2822" y="415"/>
                  </a:cubicBezTo>
                  <a:cubicBezTo>
                    <a:pt x="2839" y="462"/>
                    <a:pt x="2875" y="500"/>
                    <a:pt x="2903" y="542"/>
                  </a:cubicBezTo>
                  <a:cubicBezTo>
                    <a:pt x="2911" y="553"/>
                    <a:pt x="2926" y="576"/>
                    <a:pt x="2926" y="576"/>
                  </a:cubicBezTo>
                  <a:cubicBezTo>
                    <a:pt x="2935" y="611"/>
                    <a:pt x="2943" y="658"/>
                    <a:pt x="2961" y="691"/>
                  </a:cubicBezTo>
                  <a:cubicBezTo>
                    <a:pt x="2975" y="715"/>
                    <a:pt x="3007" y="761"/>
                    <a:pt x="3007" y="761"/>
                  </a:cubicBezTo>
                  <a:cubicBezTo>
                    <a:pt x="3011" y="772"/>
                    <a:pt x="3012" y="785"/>
                    <a:pt x="3018" y="795"/>
                  </a:cubicBezTo>
                  <a:cubicBezTo>
                    <a:pt x="3031" y="819"/>
                    <a:pt x="3055" y="838"/>
                    <a:pt x="3064" y="864"/>
                  </a:cubicBezTo>
                  <a:cubicBezTo>
                    <a:pt x="3119" y="1029"/>
                    <a:pt x="3058" y="865"/>
                    <a:pt x="3110" y="968"/>
                  </a:cubicBezTo>
                  <a:cubicBezTo>
                    <a:pt x="3128" y="1004"/>
                    <a:pt x="3125" y="1048"/>
                    <a:pt x="3145" y="1083"/>
                  </a:cubicBezTo>
                  <a:cubicBezTo>
                    <a:pt x="3182" y="1149"/>
                    <a:pt x="3230" y="1236"/>
                    <a:pt x="3295" y="1279"/>
                  </a:cubicBezTo>
                  <a:cubicBezTo>
                    <a:pt x="3326" y="1325"/>
                    <a:pt x="3317" y="1340"/>
                    <a:pt x="3364" y="1371"/>
                  </a:cubicBezTo>
                  <a:cubicBezTo>
                    <a:pt x="3388" y="1447"/>
                    <a:pt x="3354" y="1373"/>
                    <a:pt x="3410" y="1417"/>
                  </a:cubicBezTo>
                  <a:cubicBezTo>
                    <a:pt x="3421" y="1426"/>
                    <a:pt x="3422" y="1443"/>
                    <a:pt x="3433" y="1452"/>
                  </a:cubicBezTo>
                  <a:cubicBezTo>
                    <a:pt x="3452" y="1467"/>
                    <a:pt x="3479" y="1467"/>
                    <a:pt x="3502" y="1475"/>
                  </a:cubicBezTo>
                  <a:cubicBezTo>
                    <a:pt x="3537" y="1509"/>
                    <a:pt x="3566" y="1518"/>
                    <a:pt x="3606" y="1544"/>
                  </a:cubicBezTo>
                  <a:cubicBezTo>
                    <a:pt x="3633" y="1584"/>
                    <a:pt x="3651" y="1609"/>
                    <a:pt x="3698" y="1625"/>
                  </a:cubicBezTo>
                  <a:cubicBezTo>
                    <a:pt x="3749" y="1701"/>
                    <a:pt x="3689" y="1626"/>
                    <a:pt x="3756" y="1671"/>
                  </a:cubicBezTo>
                  <a:cubicBezTo>
                    <a:pt x="3778" y="1685"/>
                    <a:pt x="3828" y="1731"/>
                    <a:pt x="3848" y="1751"/>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a:solidFill>
                  <a:schemeClr val="dk1"/>
                </a:solidFill>
                <a:latin typeface="Calibri"/>
                <a:ea typeface="Calibri"/>
                <a:cs typeface="Calibri"/>
              </a:endParaRPr>
            </a:p>
          </p:txBody>
        </p:sp>
        <p:sp>
          <p:nvSpPr>
            <p:cNvPr id="245" name="Google Shape;245;p11"/>
            <p:cNvSpPr txBox="1"/>
            <p:nvPr/>
          </p:nvSpPr>
          <p:spPr bwMode="auto">
            <a:xfrm>
              <a:off x="1205272" y="2877259"/>
              <a:ext cx="8382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400"/>
                <a:buFont typeface="Times New Roman"/>
                <a:buNone/>
                <a:defRPr/>
              </a:pPr>
              <a:r>
                <a:rPr lang="en-US" sz="1400">
                  <a:solidFill>
                    <a:schemeClr val="dk1"/>
                  </a:solidFill>
                  <a:latin typeface="Times New Roman"/>
                  <a:ea typeface="Times New Roman"/>
                  <a:cs typeface="Times New Roman"/>
                </a:rPr>
                <a:t>Identify a Need</a:t>
              </a:r>
              <a:endParaRPr/>
            </a:p>
          </p:txBody>
        </p:sp>
        <p:sp>
          <p:nvSpPr>
            <p:cNvPr id="246" name="Google Shape;246;p11"/>
            <p:cNvSpPr txBox="1"/>
            <p:nvPr/>
          </p:nvSpPr>
          <p:spPr bwMode="auto">
            <a:xfrm>
              <a:off x="2170471" y="2746943"/>
              <a:ext cx="838200"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400"/>
                <a:buFont typeface="Times New Roman"/>
                <a:buNone/>
                <a:defRPr/>
              </a:pPr>
              <a:r>
                <a:rPr lang="en-US" sz="1400">
                  <a:solidFill>
                    <a:schemeClr val="dk1"/>
                  </a:solidFill>
                  <a:latin typeface="Times New Roman"/>
                  <a:ea typeface="Times New Roman"/>
                  <a:cs typeface="Times New Roman"/>
                </a:rPr>
                <a:t>Develop proposed solution</a:t>
              </a:r>
              <a:endParaRPr/>
            </a:p>
          </p:txBody>
        </p:sp>
        <p:sp>
          <p:nvSpPr>
            <p:cNvPr id="247" name="Google Shape;247;p11"/>
            <p:cNvSpPr txBox="1"/>
            <p:nvPr/>
          </p:nvSpPr>
          <p:spPr bwMode="auto">
            <a:xfrm>
              <a:off x="3846871" y="3138870"/>
              <a:ext cx="1828800"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400"/>
                <a:buFont typeface="Times New Roman"/>
                <a:buNone/>
                <a:defRPr/>
              </a:pPr>
              <a:r>
                <a:rPr lang="en-US" sz="1400">
                  <a:solidFill>
                    <a:schemeClr val="dk1"/>
                  </a:solidFill>
                  <a:latin typeface="Times New Roman"/>
                  <a:ea typeface="Times New Roman"/>
                  <a:cs typeface="Times New Roman"/>
                </a:rPr>
                <a:t>Perform the project</a:t>
              </a:r>
              <a:endParaRPr/>
            </a:p>
          </p:txBody>
        </p:sp>
        <p:sp>
          <p:nvSpPr>
            <p:cNvPr id="248" name="Google Shape;248;p11"/>
            <p:cNvSpPr txBox="1"/>
            <p:nvPr/>
          </p:nvSpPr>
          <p:spPr bwMode="auto">
            <a:xfrm>
              <a:off x="6190020" y="2887063"/>
              <a:ext cx="11430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400"/>
                <a:buFont typeface="Times New Roman"/>
                <a:buNone/>
                <a:defRPr/>
              </a:pPr>
              <a:r>
                <a:rPr lang="en-US" sz="1400">
                  <a:solidFill>
                    <a:schemeClr val="dk1"/>
                  </a:solidFill>
                  <a:latin typeface="Times New Roman"/>
                  <a:ea typeface="Times New Roman"/>
                  <a:cs typeface="Times New Roman"/>
                </a:rPr>
                <a:t>Terminate the project</a:t>
              </a:r>
              <a:endParaRPr/>
            </a:p>
          </p:txBody>
        </p:sp>
        <p:sp>
          <p:nvSpPr>
            <p:cNvPr id="249" name="Google Shape;249;p11"/>
            <p:cNvSpPr txBox="1"/>
            <p:nvPr/>
          </p:nvSpPr>
          <p:spPr bwMode="auto">
            <a:xfrm>
              <a:off x="1234872" y="5391975"/>
              <a:ext cx="8509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imes New Roman"/>
                <a:buNone/>
                <a:defRPr/>
              </a:pPr>
              <a:r>
                <a:rPr lang="en-US" sz="2000" i="1">
                  <a:solidFill>
                    <a:schemeClr val="dk1"/>
                  </a:solidFill>
                  <a:latin typeface="Times New Roman"/>
                  <a:ea typeface="Times New Roman"/>
                  <a:cs typeface="Times New Roman"/>
                </a:rPr>
                <a:t>RFP</a:t>
              </a:r>
              <a:endParaRPr sz="2400" i="1">
                <a:solidFill>
                  <a:schemeClr val="dk1"/>
                </a:solidFill>
                <a:latin typeface="Times New Roman"/>
                <a:ea typeface="Times New Roman"/>
                <a:cs typeface="Times New Roman"/>
              </a:endParaRPr>
            </a:p>
          </p:txBody>
        </p:sp>
        <p:sp>
          <p:nvSpPr>
            <p:cNvPr id="250" name="Google Shape;250;p11"/>
            <p:cNvSpPr txBox="1"/>
            <p:nvPr/>
          </p:nvSpPr>
          <p:spPr bwMode="auto">
            <a:xfrm>
              <a:off x="2094271" y="5718743"/>
              <a:ext cx="9906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400"/>
                <a:buFont typeface="Times New Roman"/>
                <a:buNone/>
                <a:defRPr/>
              </a:pPr>
              <a:endParaRPr sz="2400">
                <a:solidFill>
                  <a:schemeClr val="dk1"/>
                </a:solidFill>
                <a:latin typeface="Times New Roman"/>
                <a:ea typeface="Times New Roman"/>
                <a:cs typeface="Times New Roman"/>
              </a:endParaRPr>
            </a:p>
          </p:txBody>
        </p:sp>
        <p:sp>
          <p:nvSpPr>
            <p:cNvPr id="251" name="Google Shape;251;p11"/>
            <p:cNvSpPr txBox="1"/>
            <p:nvPr/>
          </p:nvSpPr>
          <p:spPr bwMode="auto">
            <a:xfrm>
              <a:off x="2094271" y="5642543"/>
              <a:ext cx="7620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400"/>
                <a:buFont typeface="Times New Roman"/>
                <a:buNone/>
                <a:defRPr/>
              </a:pPr>
              <a:endParaRPr sz="2400">
                <a:solidFill>
                  <a:schemeClr val="dk1"/>
                </a:solidFill>
                <a:latin typeface="Times New Roman"/>
                <a:ea typeface="Times New Roman"/>
                <a:cs typeface="Times New Roman"/>
              </a:endParaRPr>
            </a:p>
          </p:txBody>
        </p:sp>
        <p:sp>
          <p:nvSpPr>
            <p:cNvPr id="252" name="Google Shape;252;p11"/>
            <p:cNvSpPr txBox="1"/>
            <p:nvPr/>
          </p:nvSpPr>
          <p:spPr bwMode="auto">
            <a:xfrm>
              <a:off x="1963705" y="5391975"/>
              <a:ext cx="14478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imes New Roman"/>
                <a:buNone/>
                <a:defRPr/>
              </a:pPr>
              <a:r>
                <a:rPr lang="en-US" sz="2000" i="1">
                  <a:solidFill>
                    <a:schemeClr val="dk1"/>
                  </a:solidFill>
                  <a:latin typeface="Times New Roman"/>
                  <a:ea typeface="Times New Roman"/>
                  <a:cs typeface="Times New Roman"/>
                </a:rPr>
                <a:t>Proposal</a:t>
              </a:r>
              <a:endParaRPr sz="2400" i="1">
                <a:solidFill>
                  <a:schemeClr val="dk1"/>
                </a:solidFill>
                <a:latin typeface="Times New Roman"/>
                <a:ea typeface="Times New Roman"/>
                <a:cs typeface="Times New Roman"/>
              </a:endParaRPr>
            </a:p>
          </p:txBody>
        </p:sp>
        <p:sp>
          <p:nvSpPr>
            <p:cNvPr id="253" name="Google Shape;253;p11"/>
            <p:cNvSpPr txBox="1"/>
            <p:nvPr/>
          </p:nvSpPr>
          <p:spPr bwMode="auto">
            <a:xfrm>
              <a:off x="3880705" y="5393960"/>
              <a:ext cx="20447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imes New Roman"/>
                <a:buNone/>
                <a:defRPr/>
              </a:pPr>
              <a:r>
                <a:rPr lang="en-US" sz="2000" b="1" i="1">
                  <a:solidFill>
                    <a:schemeClr val="dk1"/>
                  </a:solidFill>
                  <a:latin typeface="Times New Roman"/>
                  <a:ea typeface="Times New Roman"/>
                  <a:cs typeface="Times New Roman"/>
                </a:rPr>
                <a:t>SD</a:t>
              </a:r>
              <a:r>
                <a:rPr lang="en-US" sz="2000" b="1" i="1" u="sng">
                  <a:solidFill>
                    <a:schemeClr val="dk1"/>
                  </a:solidFill>
                  <a:latin typeface="Times New Roman"/>
                  <a:ea typeface="Times New Roman"/>
                  <a:cs typeface="Times New Roman"/>
                </a:rPr>
                <a:t>LC</a:t>
              </a:r>
              <a:endParaRPr sz="2400" b="1" i="1" u="sng">
                <a:solidFill>
                  <a:schemeClr val="dk1"/>
                </a:solidFill>
                <a:latin typeface="Times New Roman"/>
                <a:ea typeface="Times New Roman"/>
                <a:cs typeface="Times New Roman"/>
              </a:endParaRPr>
            </a:p>
          </p:txBody>
        </p:sp>
      </p:grpSp>
      <p:sp>
        <p:nvSpPr>
          <p:cNvPr id="671636736" name="Google Shape;254;p1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12</a:t>
            </a:fld>
            <a:endParaRPr/>
          </a:p>
        </p:txBody>
      </p:sp>
      <p:sp>
        <p:nvSpPr>
          <p:cNvPr id="2053269778" name="Google Shape;255;p11"/>
          <p:cNvSpPr txBox="1"/>
          <p:nvPr/>
        </p:nvSpPr>
        <p:spPr bwMode="auto">
          <a:xfrm>
            <a:off x="4000500" y="741445"/>
            <a:ext cx="3886200"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1.2 Project Life Cycle</a:t>
            </a:r>
            <a:endParaRPr/>
          </a:p>
        </p:txBody>
      </p:sp>
      <p:sp>
        <p:nvSpPr>
          <p:cNvPr id="14224590" name="Google Shape;256;p11"/>
          <p:cNvSpPr txBox="1"/>
          <p:nvPr/>
        </p:nvSpPr>
        <p:spPr bwMode="auto">
          <a:xfrm>
            <a:off x="483010" y="316637"/>
            <a:ext cx="11023190" cy="531645"/>
          </a:xfrm>
          <a:prstGeom prst="rect">
            <a:avLst/>
          </a:prstGeom>
          <a:noFill/>
          <a:ln>
            <a:noFill/>
          </a:ln>
        </p:spPr>
        <p:txBody>
          <a:bodyPr spcFirstLastPara="1" wrap="square" lIns="91425" tIns="45700" rIns="91425" bIns="45700" anchor="ctr" anchorCtr="0">
            <a:normAutofit fontScale="92500" lnSpcReduction="10000"/>
          </a:bodyPr>
          <a:lstStyle/>
          <a:p>
            <a:pPr marL="0" marR="0" lvl="0" indent="0" algn="ctr" rtl="0">
              <a:lnSpc>
                <a:spcPct val="90000"/>
              </a:lnSpc>
              <a:spcBef>
                <a:spcPts val="0"/>
              </a:spcBef>
              <a:spcAft>
                <a:spcPts val="0"/>
              </a:spcAft>
              <a:buClr>
                <a:schemeClr val="dk1"/>
              </a:buClr>
              <a:buSzPct val="100000"/>
              <a:buFont typeface="Calibri"/>
              <a:buNone/>
              <a:defRPr/>
            </a:pPr>
            <a:r>
              <a:rPr lang="en-US" sz="3600" b="1">
                <a:solidFill>
                  <a:schemeClr val="dk1"/>
                </a:solidFill>
                <a:latin typeface="Calibri"/>
                <a:ea typeface="Calibri"/>
                <a:cs typeface="Calibri"/>
              </a:rPr>
              <a:t>Generic Project Process Model</a:t>
            </a:r>
            <a:endParaRPr sz="3600" b="1">
              <a:solidFill>
                <a:schemeClr val="dk1"/>
              </a:solidFill>
              <a:latin typeface="Calibri"/>
              <a:ea typeface="Calibri"/>
              <a:cs typeface="Calibri"/>
            </a:endParaRPr>
          </a:p>
        </p:txBody>
      </p:sp>
      <p:sp>
        <p:nvSpPr>
          <p:cNvPr id="549945679" name="Google Shape;257;p11"/>
          <p:cNvSpPr txBox="1"/>
          <p:nvPr/>
        </p:nvSpPr>
        <p:spPr bwMode="auto">
          <a:xfrm>
            <a:off x="349714" y="1658320"/>
            <a:ext cx="3677432" cy="562407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900"/>
              </a:spcBef>
              <a:spcAft>
                <a:spcPts val="0"/>
              </a:spcAft>
              <a:buClr>
                <a:schemeClr val="dk1"/>
              </a:buClr>
              <a:buSzPts val="2800"/>
              <a:buFont typeface="Arial"/>
              <a:buNone/>
              <a:defRPr/>
            </a:pPr>
            <a:r>
              <a:rPr lang="en-US" sz="3200" b="1">
                <a:solidFill>
                  <a:schemeClr val="dk1"/>
                </a:solidFill>
                <a:latin typeface="Calibri"/>
                <a:ea typeface="Calibri"/>
                <a:cs typeface="Calibri"/>
              </a:rPr>
              <a:t>The project </a:t>
            </a:r>
            <a:r>
              <a:rPr lang="en-US" sz="3200" b="1" u="sng">
                <a:solidFill>
                  <a:schemeClr val="dk1"/>
                </a:solidFill>
                <a:latin typeface="Calibri"/>
                <a:ea typeface="Calibri"/>
                <a:cs typeface="Calibri"/>
              </a:rPr>
              <a:t>life cycle </a:t>
            </a:r>
            <a:endParaRPr/>
          </a:p>
          <a:p>
            <a:pPr marL="0" marR="0" lvl="0" indent="0" algn="l" rtl="0">
              <a:lnSpc>
                <a:spcPct val="90000"/>
              </a:lnSpc>
              <a:spcBef>
                <a:spcPts val="900"/>
              </a:spcBef>
              <a:spcAft>
                <a:spcPts val="0"/>
              </a:spcAft>
              <a:buClr>
                <a:schemeClr val="dk1"/>
              </a:buClr>
              <a:buSzPts val="2800"/>
              <a:buFont typeface="Arial"/>
              <a:buNone/>
              <a:defRPr/>
            </a:pPr>
            <a:r>
              <a:rPr lang="en-US" sz="3200" b="1">
                <a:solidFill>
                  <a:schemeClr val="dk1"/>
                </a:solidFill>
                <a:latin typeface="Calibri"/>
                <a:ea typeface="Calibri"/>
                <a:cs typeface="Calibri"/>
              </a:rPr>
              <a:t>4 stages:</a:t>
            </a:r>
            <a:endParaRPr sz="3200" b="1"/>
          </a:p>
          <a:p>
            <a:pPr marL="354013" marR="0" lvl="1" indent="-354013" algn="l" rtl="0">
              <a:lnSpc>
                <a:spcPct val="90000"/>
              </a:lnSpc>
              <a:spcBef>
                <a:spcPts val="900"/>
              </a:spcBef>
              <a:spcAft>
                <a:spcPts val="0"/>
              </a:spcAft>
              <a:buClr>
                <a:schemeClr val="dk1"/>
              </a:buClr>
              <a:buSzPts val="2400"/>
              <a:buFont typeface="Arial"/>
              <a:buChar char="•"/>
              <a:defRPr/>
            </a:pPr>
            <a:r>
              <a:rPr lang="en-US" sz="2400" i="0" u="none" strike="noStrike" cap="none">
                <a:solidFill>
                  <a:srgbClr val="0000FF"/>
                </a:solidFill>
                <a:latin typeface="Calibri"/>
                <a:ea typeface="Calibri"/>
                <a:cs typeface="Calibri"/>
              </a:rPr>
              <a:t>Identify a need</a:t>
            </a:r>
            <a:endParaRPr sz="2400">
              <a:solidFill>
                <a:srgbClr val="0000FF"/>
              </a:solidFill>
            </a:endParaRPr>
          </a:p>
          <a:p>
            <a:pPr marL="354013" marR="0" lvl="1" indent="-354013" algn="l" rtl="0">
              <a:lnSpc>
                <a:spcPct val="90000"/>
              </a:lnSpc>
              <a:spcBef>
                <a:spcPts val="900"/>
              </a:spcBef>
              <a:spcAft>
                <a:spcPts val="0"/>
              </a:spcAft>
              <a:buClr>
                <a:schemeClr val="dk1"/>
              </a:buClr>
              <a:buSzPts val="2400"/>
              <a:buFont typeface="Arial"/>
              <a:buChar char="•"/>
              <a:defRPr/>
            </a:pPr>
            <a:r>
              <a:rPr lang="en-US" sz="2400" i="0" u="none" strike="noStrike" cap="none">
                <a:solidFill>
                  <a:srgbClr val="0000FF"/>
                </a:solidFill>
                <a:latin typeface="Calibri"/>
                <a:ea typeface="Calibri"/>
                <a:cs typeface="Calibri"/>
              </a:rPr>
              <a:t>Develop proposed solution</a:t>
            </a:r>
            <a:endParaRPr sz="2400">
              <a:solidFill>
                <a:srgbClr val="0000FF"/>
              </a:solidFill>
            </a:endParaRPr>
          </a:p>
          <a:p>
            <a:pPr marL="354013" marR="0" lvl="1" indent="-354013" algn="l" rtl="0">
              <a:lnSpc>
                <a:spcPct val="90000"/>
              </a:lnSpc>
              <a:spcBef>
                <a:spcPts val="900"/>
              </a:spcBef>
              <a:spcAft>
                <a:spcPts val="0"/>
              </a:spcAft>
              <a:buClr>
                <a:schemeClr val="dk1"/>
              </a:buClr>
              <a:buSzPts val="2400"/>
              <a:buFont typeface="Arial"/>
              <a:buChar char="•"/>
              <a:defRPr/>
            </a:pPr>
            <a:r>
              <a:rPr lang="en-US" sz="2400" i="0" u="none" strike="noStrike" cap="none">
                <a:solidFill>
                  <a:srgbClr val="0000FF"/>
                </a:solidFill>
                <a:latin typeface="Calibri"/>
                <a:ea typeface="Calibri"/>
                <a:cs typeface="Calibri"/>
              </a:rPr>
              <a:t>Perform the project</a:t>
            </a:r>
            <a:endParaRPr sz="2400">
              <a:solidFill>
                <a:srgbClr val="0000FF"/>
              </a:solidFill>
            </a:endParaRPr>
          </a:p>
          <a:p>
            <a:pPr marL="354013" marR="0" lvl="1" indent="-354013" algn="l" rtl="0">
              <a:lnSpc>
                <a:spcPct val="90000"/>
              </a:lnSpc>
              <a:spcBef>
                <a:spcPts val="900"/>
              </a:spcBef>
              <a:spcAft>
                <a:spcPts val="0"/>
              </a:spcAft>
              <a:buClr>
                <a:schemeClr val="dk1"/>
              </a:buClr>
              <a:buSzPts val="2400"/>
              <a:buFont typeface="Arial"/>
              <a:buChar char="•"/>
              <a:defRPr/>
            </a:pPr>
            <a:r>
              <a:rPr lang="en-US" sz="2400" i="0" u="none" strike="noStrike" cap="none">
                <a:solidFill>
                  <a:srgbClr val="0000FF"/>
                </a:solidFill>
                <a:latin typeface="Calibri"/>
                <a:ea typeface="Calibri"/>
                <a:cs typeface="Calibri"/>
              </a:rPr>
              <a:t>Terminate the project</a:t>
            </a:r>
            <a:endParaRPr sz="2400">
              <a:solidFill>
                <a:srgbClr val="0000FF"/>
              </a:solidFill>
            </a:endParaRPr>
          </a:p>
          <a:p>
            <a:pPr marL="1371600" marR="0" lvl="2" indent="-457200" algn="l" rtl="0">
              <a:lnSpc>
                <a:spcPct val="90000"/>
              </a:lnSpc>
              <a:spcBef>
                <a:spcPts val="500"/>
              </a:spcBef>
              <a:spcAft>
                <a:spcPts val="0"/>
              </a:spcAft>
              <a:buClr>
                <a:schemeClr val="dk1"/>
              </a:buClr>
              <a:buSzPts val="2800"/>
              <a:buFont typeface="Arial"/>
              <a:buNone/>
              <a:defRPr/>
            </a:pPr>
            <a:endParaRPr sz="2800" b="0" i="0" u="none" strike="noStrike" cap="none">
              <a:solidFill>
                <a:schemeClr val="dk1"/>
              </a:solidFill>
              <a:latin typeface="Calibri"/>
              <a:ea typeface="Calibri"/>
              <a:cs typeface="Calibri"/>
            </a:endParaRPr>
          </a:p>
          <a:p>
            <a:pPr marL="1371600" marR="0" lvl="2" indent="-457200" algn="l" rtl="0">
              <a:lnSpc>
                <a:spcPct val="90000"/>
              </a:lnSpc>
              <a:spcBef>
                <a:spcPts val="500"/>
              </a:spcBef>
              <a:spcAft>
                <a:spcPts val="0"/>
              </a:spcAft>
              <a:buClr>
                <a:schemeClr val="dk1"/>
              </a:buClr>
              <a:buSzPts val="2800"/>
              <a:buFont typeface="Arial"/>
              <a:buNone/>
              <a:defRPr/>
            </a:pPr>
            <a:endParaRPr sz="2800" b="0" i="0" u="none" strike="noStrike" cap="none">
              <a:solidFill>
                <a:schemeClr val="dk1"/>
              </a:solidFill>
              <a:latin typeface="Calibri"/>
              <a:ea typeface="Calibri"/>
              <a:cs typeface="Calibri"/>
            </a:endParaRPr>
          </a:p>
          <a:p>
            <a:pPr marL="1371600" marR="0" lvl="2" indent="-457200" algn="l" rtl="0">
              <a:lnSpc>
                <a:spcPct val="90000"/>
              </a:lnSpc>
              <a:spcBef>
                <a:spcPts val="500"/>
              </a:spcBef>
              <a:spcAft>
                <a:spcPts val="0"/>
              </a:spcAft>
              <a:buClr>
                <a:schemeClr val="dk1"/>
              </a:buClr>
              <a:buSzPts val="2800"/>
              <a:buFont typeface="Arial"/>
              <a:buNone/>
              <a:defRPr/>
            </a:pPr>
            <a:endParaRPr sz="2800" b="0" i="0" u="none" strike="noStrike" cap="none">
              <a:solidFill>
                <a:schemeClr val="dk1"/>
              </a:solidFill>
              <a:latin typeface="Calibri"/>
              <a:ea typeface="Calibri"/>
              <a:cs typeface="Calibri"/>
            </a:endParaRPr>
          </a:p>
          <a:p>
            <a:pPr marL="1371600" marR="0" lvl="2" indent="-457200" algn="l" rtl="0">
              <a:lnSpc>
                <a:spcPct val="90000"/>
              </a:lnSpc>
              <a:spcBef>
                <a:spcPts val="500"/>
              </a:spcBef>
              <a:spcAft>
                <a:spcPts val="0"/>
              </a:spcAft>
              <a:buClr>
                <a:schemeClr val="dk1"/>
              </a:buClr>
              <a:buSzPts val="2800"/>
              <a:buFont typeface="Arial"/>
              <a:buNone/>
              <a:defRPr/>
            </a:pPr>
            <a:endParaRPr sz="2800" b="0" i="0" u="none" strike="noStrike" cap="none">
              <a:solidFill>
                <a:schemeClr val="dk1"/>
              </a:solidFill>
              <a:latin typeface="Calibri"/>
              <a:ea typeface="Calibri"/>
              <a:cs typeface="Calibri"/>
            </a:endParaRPr>
          </a:p>
        </p:txBody>
      </p:sp>
      <p:cxnSp>
        <p:nvCxnSpPr>
          <p:cNvPr id="1124903674" name="Google Shape;258;p11"/>
          <p:cNvCxnSpPr/>
          <p:nvPr/>
        </p:nvCxnSpPr>
        <p:spPr bwMode="auto">
          <a:xfrm rot="10800000">
            <a:off x="5365294" y="1143000"/>
            <a:ext cx="1023822" cy="0"/>
          </a:xfrm>
          <a:prstGeom prst="straightConnector1">
            <a:avLst/>
          </a:prstGeom>
          <a:noFill/>
          <a:ln w="28575" cap="flat" cmpd="sng">
            <a:solidFill>
              <a:srgbClr val="3F3F3F"/>
            </a:solidFill>
            <a:prstDash val="solid"/>
            <a:miter lim="800000"/>
            <a:headEnd type="none" w="sm" len="sm"/>
            <a:tailEnd type="none" w="sm" len="sm"/>
          </a:ln>
        </p:spPr>
      </p:cxnSp>
      <p:cxnSp>
        <p:nvCxnSpPr>
          <p:cNvPr id="1390080220" name="Straight Connector 2"/>
          <p:cNvCxnSpPr/>
          <p:nvPr/>
        </p:nvCxnSpPr>
        <p:spPr bwMode="auto">
          <a:xfrm>
            <a:off x="5016044" y="3274123"/>
            <a:ext cx="541580"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12482247" name="Straight Connector 4"/>
          <p:cNvCxnSpPr/>
          <p:nvPr/>
        </p:nvCxnSpPr>
        <p:spPr bwMode="auto">
          <a:xfrm>
            <a:off x="6087820" y="3307510"/>
            <a:ext cx="541580"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22967605" name="Straight Connector 5"/>
          <p:cNvCxnSpPr/>
          <p:nvPr/>
        </p:nvCxnSpPr>
        <p:spPr bwMode="auto">
          <a:xfrm>
            <a:off x="7688020" y="3361307"/>
            <a:ext cx="1379780"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76768634" name="Straight Connector 7"/>
          <p:cNvCxnSpPr/>
          <p:nvPr/>
        </p:nvCxnSpPr>
        <p:spPr bwMode="auto">
          <a:xfrm>
            <a:off x="10024820" y="3316017"/>
            <a:ext cx="738430"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12254697" name="Straight Connector 9"/>
          <p:cNvCxnSpPr/>
          <p:nvPr/>
        </p:nvCxnSpPr>
        <p:spPr bwMode="auto">
          <a:xfrm>
            <a:off x="4138369" y="2250699"/>
            <a:ext cx="586031"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17443671" name="Straight Connector 11"/>
          <p:cNvCxnSpPr/>
          <p:nvPr/>
        </p:nvCxnSpPr>
        <p:spPr bwMode="auto">
          <a:xfrm>
            <a:off x="10934683" y="5627110"/>
            <a:ext cx="586031"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806457453" name="TextBox 12"/>
          <p:cNvSpPr txBox="1"/>
          <p:nvPr/>
        </p:nvSpPr>
        <p:spPr bwMode="auto">
          <a:xfrm>
            <a:off x="6665234" y="5520422"/>
            <a:ext cx="3069167" cy="307777"/>
          </a:xfrm>
          <a:prstGeom prst="rect">
            <a:avLst/>
          </a:prstGeom>
          <a:noFill/>
        </p:spPr>
        <p:txBody>
          <a:bodyPr wrap="square" rtlCol="0">
            <a:spAutoFit/>
          </a:bodyPr>
          <a:lstStyle/>
          <a:p>
            <a:pPr>
              <a:defRPr/>
            </a:pPr>
            <a:r>
              <a:rPr lang="en-US" b="1" i="1"/>
              <a:t> </a:t>
            </a:r>
            <a:r>
              <a:rPr lang="en-US" b="1" i="1"/>
              <a:t> Ana – des – cod – </a:t>
            </a:r>
            <a:r>
              <a:rPr lang="en-US" b="1" i="1"/>
              <a:t>tes</a:t>
            </a:r>
            <a:r>
              <a:rPr lang="en-US" b="1" i="1"/>
              <a:t> – imp  </a:t>
            </a:r>
            <a:r>
              <a:rPr lang="en-US" b="1" i="1"/>
              <a:t></a:t>
            </a:r>
            <a:endParaRPr lang="en-GB" b="1" i="1"/>
          </a:p>
        </p:txBody>
      </p:sp>
      <p:sp>
        <p:nvSpPr>
          <p:cNvPr id="1112595991" name="TextBox 1"/>
          <p:cNvSpPr txBox="1"/>
          <p:nvPr/>
        </p:nvSpPr>
        <p:spPr bwMode="auto">
          <a:xfrm>
            <a:off x="351934" y="5281333"/>
            <a:ext cx="4222701" cy="646331"/>
          </a:xfrm>
          <a:prstGeom prst="rect">
            <a:avLst/>
          </a:prstGeom>
          <a:solidFill>
            <a:schemeClr val="bg1"/>
          </a:solidFill>
        </p:spPr>
        <p:txBody>
          <a:bodyPr wrap="square" rtlCol="0">
            <a:spAutoFit/>
          </a:bodyPr>
          <a:lstStyle/>
          <a:p>
            <a:pPr>
              <a:defRPr/>
            </a:pPr>
            <a:r>
              <a:rPr lang="en-US" sz="1800" i="1">
                <a:solidFill>
                  <a:srgbClr val="0000FF"/>
                </a:solidFill>
              </a:rPr>
              <a:t>A good project is one that has successfully fulfilled the identified </a:t>
            </a:r>
            <a:r>
              <a:rPr lang="en-US" sz="1800" b="1" i="1">
                <a:solidFill>
                  <a:srgbClr val="0000FF"/>
                </a:solidFill>
              </a:rPr>
              <a:t>need</a:t>
            </a:r>
            <a:r>
              <a:rPr lang="en-US" sz="1800" i="1">
                <a:solidFill>
                  <a:srgbClr val="0000FF"/>
                </a:solidFill>
              </a:rPr>
              <a:t>!</a:t>
            </a:r>
            <a:endParaRPr lang="en-GB" sz="1800" i="1">
              <a:solidFill>
                <a:srgbClr val="0000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549945679">
                                            <p:txEl>
                                              <p:pRg st="1" end="1"/>
                                            </p:txEl>
                                          </p:spTgt>
                                        </p:tgtEl>
                                        <p:attrNameLst>
                                          <p:attrName>style.visibility</p:attrName>
                                        </p:attrNameLst>
                                      </p:cBhvr>
                                      <p:to>
                                        <p:strVal val="visible"/>
                                      </p:to>
                                    </p:set>
                                    <p:animEffect transition="in" filter="fade">
                                      <p:cBhvr>
                                        <p:cTn id="7" dur="1000"/>
                                        <p:tgtEl>
                                          <p:spTgt spid="549945679">
                                            <p:txEl>
                                              <p:pRg st="1" end="1"/>
                                            </p:txEl>
                                          </p:spTgt>
                                        </p:tgtEl>
                                      </p:cBhvr>
                                    </p:animEffect>
                                    <p:anim calcmode="lin" valueType="num">
                                      <p:cBhvr>
                                        <p:cTn id="8" dur="1000" fill="hold"/>
                                        <p:tgtEl>
                                          <p:spTgt spid="549945679">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4994567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1390080220"/>
                                        </p:tgtEl>
                                        <p:attrNameLst>
                                          <p:attrName>style.visibility</p:attrName>
                                        </p:attrNameLst>
                                      </p:cBhvr>
                                      <p:to>
                                        <p:strVal val="visible"/>
                                      </p:to>
                                    </p:set>
                                    <p:animEffect transition="in" filter="wipe(left)">
                                      <p:cBhvr>
                                        <p:cTn id="14" dur="500"/>
                                        <p:tgtEl>
                                          <p:spTgt spid="139008022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012482247"/>
                                        </p:tgtEl>
                                        <p:attrNameLst>
                                          <p:attrName>style.visibility</p:attrName>
                                        </p:attrNameLst>
                                      </p:cBhvr>
                                      <p:to>
                                        <p:strVal val="visible"/>
                                      </p:to>
                                    </p:set>
                                    <p:animEffect transition="in" filter="wipe(left)">
                                      <p:cBhvr>
                                        <p:cTn id="19" dur="500"/>
                                        <p:tgtEl>
                                          <p:spTgt spid="101248224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922967605"/>
                                        </p:tgtEl>
                                        <p:attrNameLst>
                                          <p:attrName>style.visibility</p:attrName>
                                        </p:attrNameLst>
                                      </p:cBhvr>
                                      <p:to>
                                        <p:strVal val="visible"/>
                                      </p:to>
                                    </p:set>
                                    <p:animEffect transition="in" filter="wipe(left)">
                                      <p:cBhvr>
                                        <p:cTn id="24" dur="500"/>
                                        <p:tgtEl>
                                          <p:spTgt spid="92296760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76768634"/>
                                        </p:tgtEl>
                                        <p:attrNameLst>
                                          <p:attrName>style.visibility</p:attrName>
                                        </p:attrNameLst>
                                      </p:cBhvr>
                                      <p:to>
                                        <p:strVal val="visible"/>
                                      </p:to>
                                    </p:set>
                                    <p:animEffect transition="in" filter="wipe(left)">
                                      <p:cBhvr>
                                        <p:cTn id="29" dur="500"/>
                                        <p:tgtEl>
                                          <p:spTgt spid="17676863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12254697"/>
                                        </p:tgtEl>
                                        <p:attrNameLst>
                                          <p:attrName>style.visibility</p:attrName>
                                        </p:attrNameLst>
                                      </p:cBhvr>
                                      <p:to>
                                        <p:strVal val="visible"/>
                                      </p:to>
                                    </p:set>
                                    <p:animEffect transition="in" filter="wipe(left)">
                                      <p:cBhvr>
                                        <p:cTn id="34" dur="500"/>
                                        <p:tgtEl>
                                          <p:spTgt spid="11225469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017443671"/>
                                        </p:tgtEl>
                                        <p:attrNameLst>
                                          <p:attrName>style.visibility</p:attrName>
                                        </p:attrNameLst>
                                      </p:cBhvr>
                                      <p:to>
                                        <p:strVal val="visible"/>
                                      </p:to>
                                    </p:set>
                                    <p:animEffect transition="in" filter="wipe(left)">
                                      <p:cBhvr>
                                        <p:cTn id="39" dur="500"/>
                                        <p:tgtEl>
                                          <p:spTgt spid="101744367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806457453"/>
                                        </p:tgtEl>
                                        <p:attrNameLst>
                                          <p:attrName>style.visibility</p:attrName>
                                        </p:attrNameLst>
                                      </p:cBhvr>
                                      <p:to>
                                        <p:strVal val="visible"/>
                                      </p:to>
                                    </p:set>
                                    <p:animEffect transition="in" filter="wipe(left)">
                                      <p:cBhvr>
                                        <p:cTn id="44" dur="500"/>
                                        <p:tgtEl>
                                          <p:spTgt spid="806457453"/>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112595991"/>
                                        </p:tgtEl>
                                        <p:attrNameLst>
                                          <p:attrName>style.visibility</p:attrName>
                                        </p:attrNameLst>
                                      </p:cBhvr>
                                      <p:to>
                                        <p:strVal val="visible"/>
                                      </p:to>
                                    </p:set>
                                    <p:anim calcmode="lin" valueType="num">
                                      <p:cBhvr additive="base">
                                        <p:cTn id="49" dur="500" fill="hold"/>
                                        <p:tgtEl>
                                          <p:spTgt spid="1112595991"/>
                                        </p:tgtEl>
                                        <p:attrNameLst>
                                          <p:attrName>ppt_x</p:attrName>
                                        </p:attrNameLst>
                                      </p:cBhvr>
                                      <p:tavLst>
                                        <p:tav tm="0">
                                          <p:val>
                                            <p:strVal val="#ppt_x"/>
                                          </p:val>
                                        </p:tav>
                                        <p:tav tm="100000">
                                          <p:val>
                                            <p:strVal val="#ppt_x"/>
                                          </p:val>
                                        </p:tav>
                                      </p:tavLst>
                                    </p:anim>
                                    <p:anim calcmode="lin" valueType="num">
                                      <p:cBhvr additive="base">
                                        <p:cTn id="50" dur="500" fill="hold"/>
                                        <p:tgtEl>
                                          <p:spTgt spid="11125959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6457453" grpId="0"/>
      <p:bldP spid="1112595991" grpId="0" animBg="1"/>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2832219" name="Google Shape;264;p12"/>
          <p:cNvSpPr txBox="1">
            <a:spLocks noGrp="1"/>
          </p:cNvSpPr>
          <p:nvPr>
            <p:ph type="title" idx="4294967295"/>
          </p:nvPr>
        </p:nvSpPr>
        <p:spPr bwMode="auto">
          <a:xfrm>
            <a:off x="838200" y="228600"/>
            <a:ext cx="10007600" cy="64659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Calibri"/>
              <a:buNone/>
              <a:defRPr/>
            </a:pPr>
            <a:r>
              <a:rPr lang="en-US" sz="3600" b="1"/>
              <a:t>Project Life Cycle </a:t>
            </a:r>
            <a:r>
              <a:rPr lang="en-US" sz="3600" b="1" u="sng">
                <a:solidFill>
                  <a:srgbClr val="0000FF"/>
                </a:solidFill>
              </a:rPr>
              <a:t>Processes</a:t>
            </a:r>
            <a:endParaRPr u="sng">
              <a:solidFill>
                <a:srgbClr val="0000FF"/>
              </a:solidFill>
            </a:endParaRPr>
          </a:p>
        </p:txBody>
      </p:sp>
      <p:pic>
        <p:nvPicPr>
          <p:cNvPr id="1833898127" name="Google Shape;265;p12"/>
          <p:cNvPicPr>
            <a:picLocks noGrp="1"/>
          </p:cNvPicPr>
          <p:nvPr>
            <p:ph type="body" idx="4294967295"/>
          </p:nvPr>
        </p:nvPicPr>
        <p:blipFill rotWithShape="1">
          <a:blip r:embed="rId3">
            <a:alphaModFix/>
          </a:blip>
          <a:stretch/>
        </p:blipFill>
        <p:spPr bwMode="auto">
          <a:xfrm>
            <a:off x="2541130" y="2612712"/>
            <a:ext cx="6213475" cy="3505199"/>
          </a:xfrm>
          <a:prstGeom prst="rect">
            <a:avLst/>
          </a:prstGeom>
          <a:noFill/>
          <a:ln>
            <a:noFill/>
          </a:ln>
        </p:spPr>
      </p:pic>
      <p:sp>
        <p:nvSpPr>
          <p:cNvPr id="2010527804" name="Google Shape;266;p12"/>
          <p:cNvSpPr/>
          <p:nvPr/>
        </p:nvSpPr>
        <p:spPr bwMode="auto">
          <a:xfrm>
            <a:off x="3462385" y="3054831"/>
            <a:ext cx="5029200" cy="2387600"/>
          </a:xfrm>
          <a:custGeom>
            <a:avLst/>
            <a:gdLst/>
            <a:ahLst/>
            <a:cxnLst/>
            <a:rect l="l" t="t" r="r" b="b"/>
            <a:pathLst>
              <a:path w="3840" h="1552" fill="norm" stroke="1" extrusionOk="0">
                <a:moveTo>
                  <a:pt x="0" y="1504"/>
                </a:moveTo>
                <a:cubicBezTo>
                  <a:pt x="92" y="1292"/>
                  <a:pt x="184" y="1080"/>
                  <a:pt x="336" y="928"/>
                </a:cubicBezTo>
                <a:cubicBezTo>
                  <a:pt x="488" y="776"/>
                  <a:pt x="656" y="736"/>
                  <a:pt x="912" y="592"/>
                </a:cubicBezTo>
                <a:cubicBezTo>
                  <a:pt x="1168" y="448"/>
                  <a:pt x="1576" y="128"/>
                  <a:pt x="1872" y="64"/>
                </a:cubicBezTo>
                <a:cubicBezTo>
                  <a:pt x="2168" y="0"/>
                  <a:pt x="2408" y="72"/>
                  <a:pt x="2688" y="208"/>
                </a:cubicBezTo>
                <a:cubicBezTo>
                  <a:pt x="2968" y="344"/>
                  <a:pt x="3360" y="656"/>
                  <a:pt x="3552" y="880"/>
                </a:cubicBezTo>
                <a:cubicBezTo>
                  <a:pt x="3744" y="1104"/>
                  <a:pt x="3792" y="1440"/>
                  <a:pt x="3840" y="1552"/>
                </a:cubicBezTo>
              </a:path>
            </a:pathLst>
          </a:custGeom>
          <a:no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a:solidFill>
                <a:schemeClr val="dk1"/>
              </a:solidFill>
              <a:latin typeface="Calibri"/>
              <a:ea typeface="Calibri"/>
              <a:cs typeface="Calibri"/>
            </a:endParaRPr>
          </a:p>
        </p:txBody>
      </p:sp>
      <p:sp>
        <p:nvSpPr>
          <p:cNvPr id="798204771" name="Google Shape;268;p12"/>
          <p:cNvSpPr txBox="1"/>
          <p:nvPr/>
        </p:nvSpPr>
        <p:spPr bwMode="auto">
          <a:xfrm>
            <a:off x="2803385" y="5717862"/>
            <a:ext cx="5181600"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000"/>
              <a:buFont typeface="Times New Roman"/>
              <a:buNone/>
              <a:defRPr/>
            </a:pPr>
            <a:r>
              <a:rPr lang="en-US" sz="2000">
                <a:solidFill>
                  <a:schemeClr val="dk1"/>
                </a:solidFill>
                <a:latin typeface="Times New Roman"/>
                <a:ea typeface="Times New Roman"/>
                <a:cs typeface="Times New Roman"/>
              </a:rPr>
              <a:t>Project Management Process Groups</a:t>
            </a:r>
            <a:endParaRPr/>
          </a:p>
        </p:txBody>
      </p:sp>
      <p:sp>
        <p:nvSpPr>
          <p:cNvPr id="1590977486" name="Google Shape;269;p12"/>
          <p:cNvSpPr/>
          <p:nvPr/>
        </p:nvSpPr>
        <p:spPr bwMode="auto">
          <a:xfrm>
            <a:off x="838200" y="4460952"/>
            <a:ext cx="2148879" cy="762000"/>
          </a:xfrm>
          <a:custGeom>
            <a:avLst/>
            <a:gdLst/>
            <a:ahLst/>
            <a:cxnLst/>
            <a:rect l="l" t="t" r="r" b="b"/>
            <a:pathLst>
              <a:path w="120000" h="120000" fill="norm" stroke="1" extrusionOk="0">
                <a:moveTo>
                  <a:pt x="0" y="0"/>
                </a:moveTo>
                <a:lnTo>
                  <a:pt x="120000" y="0"/>
                </a:lnTo>
                <a:lnTo>
                  <a:pt x="120000" y="120000"/>
                </a:lnTo>
                <a:lnTo>
                  <a:pt x="0" y="120000"/>
                </a:lnTo>
                <a:close/>
              </a:path>
              <a:path w="120000" h="120000" fill="none" stroke="1" extrusionOk="0">
                <a:moveTo>
                  <a:pt x="121076" y="100039"/>
                </a:moveTo>
                <a:lnTo>
                  <a:pt x="162616" y="37523"/>
                </a:lnTo>
              </a:path>
            </a:pathLst>
          </a:custGeom>
          <a:solidFill>
            <a:schemeClr val="accent6">
              <a:lumMod val="40000"/>
              <a:lumOff val="60000"/>
            </a:schemeClr>
          </a:solidFill>
          <a:ln w="2857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400"/>
              <a:buFont typeface="Noto Sans Symbols"/>
              <a:buChar char="✔"/>
              <a:defRPr/>
            </a:pPr>
            <a:r>
              <a:rPr lang="en-US" sz="1600" b="1">
                <a:solidFill>
                  <a:schemeClr val="dk1"/>
                </a:solidFill>
                <a:latin typeface="Calibri"/>
                <a:ea typeface="Calibri"/>
                <a:cs typeface="Calibri"/>
              </a:rPr>
              <a:t>Identify a need </a:t>
            </a:r>
            <a:endParaRPr sz="1600" b="1"/>
          </a:p>
          <a:p>
            <a:pPr marL="285750" marR="0" lvl="0" indent="-285750" algn="l" rtl="0">
              <a:spcBef>
                <a:spcPts val="0"/>
              </a:spcBef>
              <a:spcAft>
                <a:spcPts val="0"/>
              </a:spcAft>
              <a:buClr>
                <a:schemeClr val="dk1"/>
              </a:buClr>
              <a:buSzPts val="1400"/>
              <a:buFont typeface="Noto Sans Symbols"/>
              <a:buChar char="✔"/>
              <a:defRPr/>
            </a:pPr>
            <a:r>
              <a:rPr lang="en-US" sz="1600" b="1">
                <a:solidFill>
                  <a:schemeClr val="dk1"/>
                </a:solidFill>
                <a:latin typeface="Calibri"/>
                <a:ea typeface="Calibri"/>
                <a:cs typeface="Calibri"/>
              </a:rPr>
              <a:t>Develop proposed solution</a:t>
            </a:r>
            <a:endParaRPr sz="1600" b="1"/>
          </a:p>
        </p:txBody>
      </p:sp>
      <p:sp>
        <p:nvSpPr>
          <p:cNvPr id="2125688932" name="Google Shape;270;p12"/>
          <p:cNvSpPr/>
          <p:nvPr/>
        </p:nvSpPr>
        <p:spPr bwMode="auto">
          <a:xfrm>
            <a:off x="2987079" y="2212663"/>
            <a:ext cx="1568906" cy="574675"/>
          </a:xfrm>
          <a:custGeom>
            <a:avLst/>
            <a:gdLst/>
            <a:ahLst/>
            <a:cxnLst/>
            <a:rect l="l" t="t" r="r" b="b"/>
            <a:pathLst>
              <a:path w="120000" h="120000" fill="norm" stroke="1" extrusionOk="0">
                <a:moveTo>
                  <a:pt x="0" y="0"/>
                </a:moveTo>
                <a:lnTo>
                  <a:pt x="120000" y="0"/>
                </a:lnTo>
                <a:lnTo>
                  <a:pt x="120000" y="120000"/>
                </a:lnTo>
                <a:lnTo>
                  <a:pt x="0" y="120000"/>
                </a:lnTo>
                <a:close/>
              </a:path>
              <a:path w="120000" h="120000" fill="none" stroke="1" extrusionOk="0">
                <a:moveTo>
                  <a:pt x="119845" y="38383"/>
                </a:moveTo>
                <a:lnTo>
                  <a:pt x="243334" y="232572"/>
                </a:lnTo>
              </a:path>
            </a:pathLst>
          </a:custGeom>
          <a:solidFill>
            <a:schemeClr val="accent6">
              <a:lumMod val="40000"/>
              <a:lumOff val="60000"/>
            </a:schemeClr>
          </a:solidFill>
          <a:ln w="2857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400"/>
              <a:buFont typeface="Noto Sans Symbols"/>
              <a:buChar char="✔"/>
              <a:defRPr/>
            </a:pPr>
            <a:r>
              <a:rPr lang="en-US" sz="1600" b="1">
                <a:solidFill>
                  <a:schemeClr val="dk1"/>
                </a:solidFill>
                <a:latin typeface="Calibri"/>
                <a:ea typeface="Calibri"/>
                <a:cs typeface="Calibri"/>
              </a:rPr>
              <a:t>Perform the project</a:t>
            </a:r>
            <a:endParaRPr sz="1600" b="1"/>
          </a:p>
        </p:txBody>
      </p:sp>
      <p:cxnSp>
        <p:nvCxnSpPr>
          <p:cNvPr id="24829712" name="Google Shape;271;p12"/>
          <p:cNvCxnSpPr/>
          <p:nvPr/>
        </p:nvCxnSpPr>
        <p:spPr bwMode="auto">
          <a:xfrm>
            <a:off x="3870185" y="2787338"/>
            <a:ext cx="838200" cy="1115100"/>
          </a:xfrm>
          <a:prstGeom prst="straightConnector1">
            <a:avLst/>
          </a:prstGeom>
          <a:noFill/>
          <a:ln w="28575" cap="flat" cmpd="sng">
            <a:solidFill>
              <a:schemeClr val="dk1"/>
            </a:solidFill>
            <a:prstDash val="solid"/>
            <a:round/>
            <a:headEnd type="none" w="med" len="med"/>
            <a:tailEnd type="none" w="med" len="med"/>
          </a:ln>
        </p:spPr>
      </p:cxnSp>
      <p:sp>
        <p:nvSpPr>
          <p:cNvPr id="1353209381" name="Google Shape;272;p12"/>
          <p:cNvSpPr/>
          <p:nvPr/>
        </p:nvSpPr>
        <p:spPr bwMode="auto">
          <a:xfrm>
            <a:off x="8476654" y="2710438"/>
            <a:ext cx="1447800" cy="546100"/>
          </a:xfrm>
          <a:custGeom>
            <a:avLst/>
            <a:gdLst/>
            <a:ahLst/>
            <a:cxnLst/>
            <a:rect l="l" t="t" r="r" b="b"/>
            <a:pathLst>
              <a:path w="120000" h="120000" fill="norm" stroke="1" extrusionOk="0">
                <a:moveTo>
                  <a:pt x="0" y="0"/>
                </a:moveTo>
                <a:lnTo>
                  <a:pt x="120000" y="0"/>
                </a:lnTo>
                <a:lnTo>
                  <a:pt x="120000" y="120000"/>
                </a:lnTo>
                <a:lnTo>
                  <a:pt x="0" y="120000"/>
                </a:lnTo>
                <a:close/>
              </a:path>
              <a:path w="120000" h="120000" fill="none" stroke="1" extrusionOk="0">
                <a:moveTo>
                  <a:pt x="54616" y="121672"/>
                </a:moveTo>
                <a:lnTo>
                  <a:pt x="-2956" y="337291"/>
                </a:lnTo>
              </a:path>
            </a:pathLst>
          </a:custGeom>
          <a:solidFill>
            <a:schemeClr val="accent6">
              <a:lumMod val="40000"/>
              <a:lumOff val="60000"/>
            </a:schemeClr>
          </a:solidFill>
          <a:ln w="2857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285750" marR="0" lvl="0" indent="-285750" algn="l" rtl="0">
              <a:spcBef>
                <a:spcPts val="0"/>
              </a:spcBef>
              <a:spcAft>
                <a:spcPts val="0"/>
              </a:spcAft>
              <a:buClr>
                <a:schemeClr val="dk1"/>
              </a:buClr>
              <a:buSzPts val="1400"/>
              <a:buFont typeface="Noto Sans Symbols"/>
              <a:buChar char="✔"/>
              <a:defRPr/>
            </a:pPr>
            <a:r>
              <a:rPr lang="en-US" sz="1600" b="1">
                <a:solidFill>
                  <a:schemeClr val="dk1"/>
                </a:solidFill>
                <a:latin typeface="Calibri"/>
                <a:ea typeface="Calibri"/>
                <a:cs typeface="Calibri"/>
              </a:rPr>
              <a:t>Terminate the project</a:t>
            </a:r>
            <a:endParaRPr sz="1600" b="1"/>
          </a:p>
        </p:txBody>
      </p:sp>
      <p:sp>
        <p:nvSpPr>
          <p:cNvPr id="652843557" name="Google Shape;273;p1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13</a:t>
            </a:fld>
            <a:endParaRPr/>
          </a:p>
        </p:txBody>
      </p:sp>
      <p:sp>
        <p:nvSpPr>
          <p:cNvPr id="81641162" name="Google Shape;274;p12"/>
          <p:cNvSpPr txBox="1"/>
          <p:nvPr/>
        </p:nvSpPr>
        <p:spPr bwMode="auto">
          <a:xfrm>
            <a:off x="8529663" y="376046"/>
            <a:ext cx="3886199" cy="1528017"/>
          </a:xfrm>
          <a:prstGeom prst="rect">
            <a:avLst/>
          </a:prstGeom>
          <a:noFill/>
          <a:ln>
            <a:noFill/>
          </a:ln>
        </p:spPr>
        <p:txBody>
          <a:bodyPr spcFirstLastPara="1" wrap="square" lIns="91425" tIns="45700" rIns="91425" bIns="45700" anchor="t" anchorCtr="0">
            <a:noAutofit/>
          </a:bodyPr>
          <a:lstStyle/>
          <a:p>
            <a:pPr marL="457200" marR="0" lvl="0" indent="-457200" algn="l" rtl="0">
              <a:lnSpc>
                <a:spcPct val="90000"/>
              </a:lnSpc>
              <a:spcBef>
                <a:spcPts val="0"/>
              </a:spcBef>
              <a:spcAft>
                <a:spcPts val="0"/>
              </a:spcAft>
              <a:buClr>
                <a:schemeClr val="dk1"/>
              </a:buClr>
              <a:buSzPts val="3200"/>
              <a:buFont typeface="Arial"/>
              <a:buAutoNum type="alphaLcParenBoth"/>
              <a:defRPr/>
            </a:pPr>
            <a:r>
              <a:rPr lang="en-US" sz="1800">
                <a:solidFill>
                  <a:srgbClr val="0000FF"/>
                </a:solidFill>
                <a:latin typeface="Calibri"/>
                <a:ea typeface="Calibri"/>
                <a:cs typeface="Calibri"/>
              </a:rPr>
              <a:t>Initiating Processes</a:t>
            </a:r>
            <a:endParaRPr sz="1800">
              <a:solidFill>
                <a:srgbClr val="0000FF"/>
              </a:solidFill>
            </a:endParaRPr>
          </a:p>
          <a:p>
            <a:pPr marL="514350" marR="0" lvl="0" indent="-514350" algn="l" rtl="0">
              <a:lnSpc>
                <a:spcPct val="90000"/>
              </a:lnSpc>
              <a:spcBef>
                <a:spcPts val="1000"/>
              </a:spcBef>
              <a:spcAft>
                <a:spcPts val="0"/>
              </a:spcAft>
              <a:buClr>
                <a:schemeClr val="dk1"/>
              </a:buClr>
              <a:buSzPts val="3200"/>
              <a:buFont typeface="Arial"/>
              <a:buAutoNum type="alphaLcParenBoth"/>
              <a:defRPr/>
            </a:pPr>
            <a:r>
              <a:rPr lang="en-US" sz="1800">
                <a:solidFill>
                  <a:srgbClr val="0000FF"/>
                </a:solidFill>
                <a:latin typeface="Calibri"/>
                <a:ea typeface="Calibri"/>
                <a:cs typeface="Calibri"/>
              </a:rPr>
              <a:t>Planning Processes</a:t>
            </a:r>
            <a:endParaRPr sz="1800">
              <a:solidFill>
                <a:srgbClr val="0000FF"/>
              </a:solidFill>
            </a:endParaRPr>
          </a:p>
          <a:p>
            <a:pPr marL="514350" marR="0" lvl="0" indent="-514350" algn="l" rtl="0">
              <a:lnSpc>
                <a:spcPct val="90000"/>
              </a:lnSpc>
              <a:spcBef>
                <a:spcPts val="1000"/>
              </a:spcBef>
              <a:spcAft>
                <a:spcPts val="0"/>
              </a:spcAft>
              <a:buClr>
                <a:schemeClr val="dk1"/>
              </a:buClr>
              <a:buSzPts val="3200"/>
              <a:buFont typeface="Arial"/>
              <a:buAutoNum type="alphaLcParenBoth"/>
              <a:defRPr/>
            </a:pPr>
            <a:r>
              <a:rPr lang="en-US" sz="1800">
                <a:solidFill>
                  <a:srgbClr val="0000FF"/>
                </a:solidFill>
                <a:latin typeface="Calibri"/>
                <a:ea typeface="Calibri"/>
                <a:cs typeface="Calibri"/>
              </a:rPr>
              <a:t>Executing Processes</a:t>
            </a:r>
            <a:endParaRPr sz="1800">
              <a:solidFill>
                <a:srgbClr val="0000FF"/>
              </a:solidFill>
            </a:endParaRPr>
          </a:p>
          <a:p>
            <a:pPr marL="514350" marR="0" lvl="0" indent="-514350" algn="l" rtl="0">
              <a:lnSpc>
                <a:spcPct val="90000"/>
              </a:lnSpc>
              <a:spcBef>
                <a:spcPts val="1000"/>
              </a:spcBef>
              <a:spcAft>
                <a:spcPts val="0"/>
              </a:spcAft>
              <a:buClr>
                <a:schemeClr val="dk1"/>
              </a:buClr>
              <a:buSzPts val="3200"/>
              <a:buFont typeface="Arial"/>
              <a:buAutoNum type="alphaLcParenBoth"/>
              <a:defRPr/>
            </a:pPr>
            <a:r>
              <a:rPr lang="en-US" sz="1800">
                <a:solidFill>
                  <a:srgbClr val="0000FF"/>
                </a:solidFill>
                <a:latin typeface="Calibri"/>
                <a:ea typeface="Calibri"/>
                <a:cs typeface="Calibri"/>
              </a:rPr>
              <a:t>Monitoring &amp; Controlling Processes</a:t>
            </a:r>
            <a:endParaRPr sz="1800">
              <a:solidFill>
                <a:srgbClr val="0000FF"/>
              </a:solidFill>
            </a:endParaRPr>
          </a:p>
          <a:p>
            <a:pPr marL="514350" marR="0" lvl="0" indent="-514350" algn="l" rtl="0">
              <a:lnSpc>
                <a:spcPct val="90000"/>
              </a:lnSpc>
              <a:spcBef>
                <a:spcPts val="1000"/>
              </a:spcBef>
              <a:spcAft>
                <a:spcPts val="0"/>
              </a:spcAft>
              <a:buClr>
                <a:schemeClr val="dk1"/>
              </a:buClr>
              <a:buSzPts val="3200"/>
              <a:buFont typeface="Arial"/>
              <a:buAutoNum type="alphaLcParenBoth"/>
              <a:defRPr/>
            </a:pPr>
            <a:r>
              <a:rPr lang="en-US" sz="1800">
                <a:solidFill>
                  <a:srgbClr val="0000FF"/>
                </a:solidFill>
                <a:latin typeface="Calibri"/>
                <a:ea typeface="Calibri"/>
                <a:cs typeface="Calibri"/>
              </a:rPr>
              <a:t>Closing Processes</a:t>
            </a:r>
            <a:endParaRPr sz="1800">
              <a:solidFill>
                <a:srgbClr val="0000FF"/>
              </a:solidFill>
              <a:latin typeface="Calibri"/>
              <a:ea typeface="Calibri"/>
              <a:cs typeface="Calibri"/>
            </a:endParaRPr>
          </a:p>
        </p:txBody>
      </p:sp>
      <p:sp>
        <p:nvSpPr>
          <p:cNvPr id="883461750" name="Google Shape;275;p12"/>
          <p:cNvSpPr txBox="1"/>
          <p:nvPr/>
        </p:nvSpPr>
        <p:spPr bwMode="auto">
          <a:xfrm>
            <a:off x="4000500" y="741445"/>
            <a:ext cx="3886200"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1.2 Project Life Cycle</a:t>
            </a:r>
            <a:endParaRPr/>
          </a:p>
        </p:txBody>
      </p:sp>
      <p:sp>
        <p:nvSpPr>
          <p:cNvPr id="1625473992" name="TextBox 1"/>
          <p:cNvSpPr txBox="1"/>
          <p:nvPr/>
        </p:nvSpPr>
        <p:spPr bwMode="auto">
          <a:xfrm>
            <a:off x="5672381" y="4293028"/>
            <a:ext cx="1198536" cy="584775"/>
          </a:xfrm>
          <a:prstGeom prst="rect">
            <a:avLst/>
          </a:prstGeom>
          <a:noFill/>
        </p:spPr>
        <p:txBody>
          <a:bodyPr wrap="square" rtlCol="0">
            <a:spAutoFit/>
          </a:bodyPr>
          <a:lstStyle/>
          <a:p>
            <a:pPr>
              <a:defRPr/>
            </a:pPr>
            <a:r>
              <a:rPr lang="en-US" sz="1600"/>
              <a:t>Monitoring &amp;</a:t>
            </a:r>
            <a:endParaRPr lang="en-GB" sz="1600"/>
          </a:p>
        </p:txBody>
      </p:sp>
      <p:cxnSp>
        <p:nvCxnSpPr>
          <p:cNvPr id="263487698" name="Google Shape;271;p12"/>
          <p:cNvCxnSpPr/>
          <p:nvPr/>
        </p:nvCxnSpPr>
        <p:spPr bwMode="auto">
          <a:xfrm>
            <a:off x="4555985" y="2771920"/>
            <a:ext cx="1382851" cy="1515149"/>
          </a:xfrm>
          <a:prstGeom prst="straightConnector1">
            <a:avLst/>
          </a:prstGeom>
          <a:noFill/>
          <a:ln w="28575" cap="flat" cmpd="sng">
            <a:solidFill>
              <a:schemeClr val="dk1"/>
            </a:solidFill>
            <a:prstDash val="solid"/>
            <a:round/>
            <a:headEnd type="none" w="med" len="med"/>
            <a:tailEnd type="none" w="med" len="med"/>
          </a:ln>
        </p:spPr>
      </p:cxnSp>
      <p:sp>
        <p:nvSpPr>
          <p:cNvPr id="1139435606" name="Oval 3"/>
          <p:cNvSpPr/>
          <p:nvPr/>
        </p:nvSpPr>
        <p:spPr bwMode="auto">
          <a:xfrm>
            <a:off x="3462385" y="4246831"/>
            <a:ext cx="922216" cy="520889"/>
          </a:xfrm>
          <a:prstGeom prst="ellipse">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238967328" name="Oval 5"/>
          <p:cNvSpPr/>
          <p:nvPr/>
        </p:nvSpPr>
        <p:spPr bwMode="auto">
          <a:xfrm>
            <a:off x="4407265" y="3814190"/>
            <a:ext cx="922216" cy="520889"/>
          </a:xfrm>
          <a:prstGeom prst="ellipse">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767378944" name="Oval 6"/>
          <p:cNvSpPr/>
          <p:nvPr/>
        </p:nvSpPr>
        <p:spPr bwMode="auto">
          <a:xfrm>
            <a:off x="5937875" y="3132248"/>
            <a:ext cx="922216" cy="520889"/>
          </a:xfrm>
          <a:prstGeom prst="ellipse">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873636291" name="Oval 7"/>
          <p:cNvSpPr/>
          <p:nvPr/>
        </p:nvSpPr>
        <p:spPr bwMode="auto">
          <a:xfrm>
            <a:off x="7502791" y="3940063"/>
            <a:ext cx="922216" cy="520889"/>
          </a:xfrm>
          <a:prstGeom prst="ellipse">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503076382" name="Oval 8"/>
          <p:cNvSpPr/>
          <p:nvPr/>
        </p:nvSpPr>
        <p:spPr bwMode="auto">
          <a:xfrm>
            <a:off x="5695043" y="4215689"/>
            <a:ext cx="1294616" cy="936662"/>
          </a:xfrm>
          <a:prstGeom prst="ellipse">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242832219"/>
                                        </p:tgtEl>
                                        <p:attrNameLst>
                                          <p:attrName>style.visibility</p:attrName>
                                        </p:attrNameLst>
                                      </p:cBhvr>
                                      <p:to>
                                        <p:strVal val="visible"/>
                                      </p:to>
                                    </p:set>
                                    <p:anim calcmode="lin" valueType="num">
                                      <p:cBhvr additive="base">
                                        <p:cTn id="7" dur="500" fill="hold"/>
                                        <p:tgtEl>
                                          <p:spTgt spid="1242832219"/>
                                        </p:tgtEl>
                                        <p:attrNameLst>
                                          <p:attrName>ppt_x</p:attrName>
                                        </p:attrNameLst>
                                      </p:cBhvr>
                                      <p:tavLst>
                                        <p:tav tm="0">
                                          <p:val>
                                            <p:strVal val="#ppt_x"/>
                                          </p:val>
                                        </p:tav>
                                        <p:tav tm="100000">
                                          <p:val>
                                            <p:strVal val="#ppt_x"/>
                                          </p:val>
                                        </p:tav>
                                      </p:tavLst>
                                    </p:anim>
                                    <p:anim calcmode="lin" valueType="num">
                                      <p:cBhvr additive="base">
                                        <p:cTn id="8" dur="500" fill="hold"/>
                                        <p:tgtEl>
                                          <p:spTgt spid="124283221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2832219" grpId="0"/>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67044983" name="Google Shape;282;p13"/>
          <p:cNvSpPr txBox="1">
            <a:spLocks noGrp="1"/>
          </p:cNvSpPr>
          <p:nvPr>
            <p:ph type="title" idx="4294967295"/>
          </p:nvPr>
        </p:nvSpPr>
        <p:spPr bwMode="auto">
          <a:xfrm>
            <a:off x="533400" y="228600"/>
            <a:ext cx="11201400" cy="88260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Calibri"/>
              <a:buNone/>
              <a:defRPr/>
            </a:pPr>
            <a:r>
              <a:rPr lang="en-US" sz="4000" b="1"/>
              <a:t>(a) Initiating</a:t>
            </a:r>
            <a:endParaRPr/>
          </a:p>
        </p:txBody>
      </p:sp>
      <p:sp>
        <p:nvSpPr>
          <p:cNvPr id="972007280" name="Google Shape;283;p13"/>
          <p:cNvSpPr txBox="1">
            <a:spLocks noGrp="1"/>
          </p:cNvSpPr>
          <p:nvPr>
            <p:ph type="body" idx="4294967295"/>
          </p:nvPr>
        </p:nvSpPr>
        <p:spPr bwMode="auto">
          <a:xfrm>
            <a:off x="304800" y="1630362"/>
            <a:ext cx="11582400" cy="3061269"/>
          </a:xfrm>
          <a:prstGeom prst="rect">
            <a:avLst/>
          </a:prstGeom>
          <a:noFill/>
          <a:ln>
            <a:noFill/>
          </a:ln>
        </p:spPr>
        <p:txBody>
          <a:bodyPr spcFirstLastPara="1" wrap="square" lIns="91425" tIns="45700" rIns="91425" bIns="45700" anchor="t" anchorCtr="0">
            <a:normAutofit/>
          </a:bodyPr>
          <a:lstStyle/>
          <a:p>
            <a:pPr marL="228600" lvl="0" indent="-228600">
              <a:spcBef>
                <a:spcPts val="0"/>
              </a:spcBef>
              <a:defRPr/>
            </a:pPr>
            <a:r>
              <a:rPr lang="en-US">
                <a:solidFill>
                  <a:srgbClr val="FF0000"/>
                </a:solidFill>
              </a:rPr>
              <a:t>Conduct a </a:t>
            </a:r>
            <a:r>
              <a:rPr lang="en-US">
                <a:solidFill>
                  <a:schemeClr val="tx1"/>
                </a:solidFill>
                <a:highlight>
                  <a:srgbClr val="FFFF00"/>
                </a:highlight>
              </a:rPr>
              <a:t>kick-off meeting </a:t>
            </a:r>
            <a:r>
              <a:rPr lang="en-US">
                <a:solidFill>
                  <a:schemeClr val="tx1"/>
                </a:solidFill>
              </a:rPr>
              <a:t>to establish </a:t>
            </a:r>
            <a:r>
              <a:rPr lang="en-US" b="1">
                <a:solidFill>
                  <a:schemeClr val="tx1"/>
                </a:solidFill>
              </a:rPr>
              <a:t>customer’s needs, goals, requirements and expected benefits. </a:t>
            </a:r>
            <a:endParaRPr b="1">
              <a:solidFill>
                <a:schemeClr val="tx1"/>
              </a:solidFill>
            </a:endParaRPr>
          </a:p>
          <a:p>
            <a:pPr marL="228600" lvl="0" indent="-228600" algn="l" rtl="0">
              <a:lnSpc>
                <a:spcPct val="90000"/>
              </a:lnSpc>
              <a:spcBef>
                <a:spcPts val="1000"/>
              </a:spcBef>
              <a:spcAft>
                <a:spcPts val="0"/>
              </a:spcAft>
              <a:buClr>
                <a:schemeClr val="dk1"/>
              </a:buClr>
              <a:buSzPts val="2800"/>
              <a:buChar char="•"/>
              <a:defRPr/>
            </a:pPr>
            <a:r>
              <a:rPr lang="en-US">
                <a:solidFill>
                  <a:srgbClr val="FF0000"/>
                </a:solidFill>
              </a:rPr>
              <a:t>Then 1 or 2 more meetings </a:t>
            </a:r>
            <a:r>
              <a:rPr lang="en-US" b="1">
                <a:solidFill>
                  <a:schemeClr val="tx1"/>
                </a:solidFill>
              </a:rPr>
              <a:t>to</a:t>
            </a:r>
            <a:r>
              <a:rPr lang="en-US" b="1">
                <a:solidFill>
                  <a:srgbClr val="FF0000"/>
                </a:solidFill>
              </a:rPr>
              <a:t> </a:t>
            </a:r>
            <a:r>
              <a:rPr lang="en-US" b="1">
                <a:highlight>
                  <a:srgbClr val="FFFF00"/>
                </a:highlight>
              </a:rPr>
              <a:t>streamline </a:t>
            </a:r>
            <a:r>
              <a:rPr lang="en-US" b="1"/>
              <a:t>the project </a:t>
            </a:r>
            <a:r>
              <a:rPr lang="en-US" b="1">
                <a:highlight>
                  <a:srgbClr val="FFFF00"/>
                </a:highlight>
              </a:rPr>
              <a:t>requirements </a:t>
            </a:r>
            <a:endParaRPr b="1"/>
          </a:p>
          <a:p>
            <a:pPr marL="228600" lvl="0" indent="-228600" algn="l" rtl="0">
              <a:lnSpc>
                <a:spcPct val="90000"/>
              </a:lnSpc>
              <a:spcBef>
                <a:spcPts val="1000"/>
              </a:spcBef>
              <a:spcAft>
                <a:spcPts val="0"/>
              </a:spcAft>
              <a:buClr>
                <a:schemeClr val="dk1"/>
              </a:buClr>
              <a:buSzPts val="2800"/>
              <a:buChar char="•"/>
              <a:defRPr/>
            </a:pPr>
            <a:r>
              <a:rPr lang="en-US">
                <a:solidFill>
                  <a:srgbClr val="FF0000"/>
                </a:solidFill>
              </a:rPr>
              <a:t>Output</a:t>
            </a:r>
            <a:r>
              <a:rPr lang="en-US"/>
              <a:t>: </a:t>
            </a:r>
            <a:r>
              <a:rPr lang="en-US" b="1">
                <a:solidFill>
                  <a:schemeClr val="tx1"/>
                </a:solidFill>
              </a:rPr>
              <a:t>Project </a:t>
            </a:r>
            <a:r>
              <a:rPr lang="en-US" b="1">
                <a:solidFill>
                  <a:schemeClr val="tx1"/>
                </a:solidFill>
                <a:highlight>
                  <a:srgbClr val="FFFF00"/>
                </a:highlight>
              </a:rPr>
              <a:t>Charter</a:t>
            </a:r>
            <a:endParaRPr b="1">
              <a:solidFill>
                <a:schemeClr val="tx1"/>
              </a:solidFill>
            </a:endParaRPr>
          </a:p>
          <a:p>
            <a:pPr marL="179388" lvl="0" indent="0" algn="l" rtl="0">
              <a:lnSpc>
                <a:spcPct val="90000"/>
              </a:lnSpc>
              <a:spcBef>
                <a:spcPts val="1000"/>
              </a:spcBef>
              <a:spcAft>
                <a:spcPts val="0"/>
              </a:spcAft>
              <a:buClr>
                <a:schemeClr val="dk1"/>
              </a:buClr>
              <a:buSzPts val="2000"/>
              <a:buNone/>
              <a:defRPr/>
            </a:pPr>
            <a:r>
              <a:rPr lang="en-US" sz="2000" i="1"/>
              <a:t>Note: a project charter </a:t>
            </a:r>
            <a:r>
              <a:rPr lang="en-US" sz="2000" b="1" i="1" u="sng"/>
              <a:t>is a formal</a:t>
            </a:r>
            <a:r>
              <a:rPr lang="en-US" sz="2000" i="1" u="sng"/>
              <a:t> </a:t>
            </a:r>
            <a:r>
              <a:rPr lang="en-US" sz="2000" b="1" i="1" u="sng"/>
              <a:t>project</a:t>
            </a:r>
            <a:r>
              <a:rPr lang="en-US" sz="2000" i="1" u="sng"/>
              <a:t> </a:t>
            </a:r>
            <a:r>
              <a:rPr lang="en-US" sz="2000" i="1"/>
              <a:t>authorization which </a:t>
            </a:r>
            <a:r>
              <a:rPr lang="en-US" sz="2000" b="1" i="1" u="sng"/>
              <a:t>documents</a:t>
            </a:r>
            <a:r>
              <a:rPr lang="en-US" sz="2000" i="1"/>
              <a:t> the shared understanding of a </a:t>
            </a:r>
            <a:r>
              <a:rPr lang="en-US" sz="2000" b="1" i="1"/>
              <a:t>project’s scope, </a:t>
            </a:r>
            <a:r>
              <a:rPr lang="en-US" sz="2000" i="1"/>
              <a:t>development and </a:t>
            </a:r>
            <a:r>
              <a:rPr lang="en-US" sz="2000" b="1" i="1"/>
              <a:t>objectives, </a:t>
            </a:r>
            <a:r>
              <a:rPr lang="en-US" sz="2000" i="1"/>
              <a:t>while</a:t>
            </a:r>
            <a:r>
              <a:rPr lang="en-US" sz="2000" b="1" i="1"/>
              <a:t> </a:t>
            </a:r>
            <a:r>
              <a:rPr lang="en-US" sz="2000" i="1"/>
              <a:t>also defining the </a:t>
            </a:r>
            <a:r>
              <a:rPr lang="en-US" sz="2000" b="1" i="1"/>
              <a:t>roles and responsibilities of each party involved</a:t>
            </a:r>
            <a:r>
              <a:rPr lang="en-US" sz="2000" i="1"/>
              <a:t>. (</a:t>
            </a:r>
            <a:r>
              <a:rPr lang="en-US" sz="2000"/>
              <a:t>https://thedigitalprojectmanager.com/project-charter/)</a:t>
            </a:r>
            <a:endParaRPr/>
          </a:p>
          <a:p>
            <a:pPr marL="179388" lvl="0" indent="0" algn="l" rtl="0">
              <a:lnSpc>
                <a:spcPct val="90000"/>
              </a:lnSpc>
              <a:spcBef>
                <a:spcPts val="1000"/>
              </a:spcBef>
              <a:spcAft>
                <a:spcPts val="0"/>
              </a:spcAft>
              <a:buClr>
                <a:schemeClr val="dk1"/>
              </a:buClr>
              <a:buSzPts val="2000"/>
              <a:buNone/>
              <a:defRPr/>
            </a:pPr>
            <a:endParaRPr sz="2000" i="1"/>
          </a:p>
        </p:txBody>
      </p:sp>
      <p:sp>
        <p:nvSpPr>
          <p:cNvPr id="826316211" name="Google Shape;284;p1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14</a:t>
            </a:fld>
            <a:endParaRPr/>
          </a:p>
        </p:txBody>
      </p:sp>
      <p:pic>
        <p:nvPicPr>
          <p:cNvPr id="1124501416" name="Google Shape;285;p13"/>
          <p:cNvPicPr/>
          <p:nvPr/>
        </p:nvPicPr>
        <p:blipFill rotWithShape="1">
          <a:blip r:embed="rId3">
            <a:alphaModFix/>
          </a:blip>
          <a:srcRect l="0" t="-751" r="0" b="35489"/>
          <a:stretch/>
        </p:blipFill>
        <p:spPr bwMode="auto">
          <a:xfrm>
            <a:off x="0" y="4875827"/>
            <a:ext cx="12192000" cy="2004291"/>
          </a:xfrm>
          <a:prstGeom prst="rect">
            <a:avLst/>
          </a:prstGeom>
          <a:noFill/>
          <a:ln>
            <a:noFill/>
          </a:ln>
        </p:spPr>
      </p:pic>
      <p:sp>
        <p:nvSpPr>
          <p:cNvPr id="1787840457" name="Google Shape;286;p13"/>
          <p:cNvSpPr txBox="1"/>
          <p:nvPr/>
        </p:nvSpPr>
        <p:spPr bwMode="auto">
          <a:xfrm>
            <a:off x="4114800" y="914400"/>
            <a:ext cx="3886200"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Project Life Cycle Processes</a:t>
            </a:r>
            <a:endParaRPr/>
          </a:p>
        </p:txBody>
      </p:sp>
      <p:cxnSp>
        <p:nvCxnSpPr>
          <p:cNvPr id="927921" name="Google Shape;287;p13"/>
          <p:cNvCxnSpPr/>
          <p:nvPr/>
        </p:nvCxnSpPr>
        <p:spPr bwMode="auto">
          <a:xfrm rot="10800000">
            <a:off x="5545989" y="1295400"/>
            <a:ext cx="1023822" cy="0"/>
          </a:xfrm>
          <a:prstGeom prst="straightConnector1">
            <a:avLst/>
          </a:prstGeom>
          <a:noFill/>
          <a:ln w="28575" cap="flat" cmpd="sng">
            <a:solidFill>
              <a:srgbClr val="3F3F3F"/>
            </a:solidFill>
            <a:prstDash val="solid"/>
            <a:miter lim="800000"/>
            <a:headEnd type="none" w="sm" len="sm"/>
            <a:tailEnd type="none" w="sm" len="sm"/>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567044983"/>
                                        </p:tgtEl>
                                        <p:attrNameLst>
                                          <p:attrName>style.visibility</p:attrName>
                                        </p:attrNameLst>
                                      </p:cBhvr>
                                      <p:to>
                                        <p:strVal val="visible"/>
                                      </p:to>
                                    </p:set>
                                    <p:anim calcmode="lin" valueType="num">
                                      <p:cBhvr additive="base">
                                        <p:cTn id="7" dur="500" fill="hold"/>
                                        <p:tgtEl>
                                          <p:spTgt spid="1567044983"/>
                                        </p:tgtEl>
                                        <p:attrNameLst>
                                          <p:attrName>ppt_x</p:attrName>
                                        </p:attrNameLst>
                                      </p:cBhvr>
                                      <p:tavLst>
                                        <p:tav tm="0">
                                          <p:val>
                                            <p:strVal val="#ppt_x"/>
                                          </p:val>
                                        </p:tav>
                                        <p:tav tm="100000">
                                          <p:val>
                                            <p:strVal val="#ppt_x"/>
                                          </p:val>
                                        </p:tav>
                                      </p:tavLst>
                                    </p:anim>
                                    <p:anim calcmode="lin" valueType="num">
                                      <p:cBhvr additive="base">
                                        <p:cTn id="8" dur="500" fill="hold"/>
                                        <p:tgtEl>
                                          <p:spTgt spid="156704498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72007280">
                                            <p:txEl>
                                              <p:pRg st="2" end="2"/>
                                            </p:txEl>
                                          </p:spTgt>
                                        </p:tgtEl>
                                        <p:attrNameLst>
                                          <p:attrName>style.visibility</p:attrName>
                                        </p:attrNameLst>
                                      </p:cBhvr>
                                      <p:to>
                                        <p:strVal val="visible"/>
                                      </p:to>
                                    </p:set>
                                    <p:anim calcmode="lin" valueType="num">
                                      <p:cBhvr additive="base">
                                        <p:cTn id="13" dur="500" fill="hold"/>
                                        <p:tgtEl>
                                          <p:spTgt spid="97200728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72007280">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72007280">
                                            <p:txEl>
                                              <p:pRg st="3" end="3"/>
                                            </p:txEl>
                                          </p:spTgt>
                                        </p:tgtEl>
                                        <p:attrNameLst>
                                          <p:attrName>style.visibility</p:attrName>
                                        </p:attrNameLst>
                                      </p:cBhvr>
                                      <p:to>
                                        <p:strVal val="visible"/>
                                      </p:to>
                                    </p:set>
                                    <p:anim calcmode="lin" valueType="num">
                                      <p:cBhvr additive="base">
                                        <p:cTn id="17" dur="500" fill="hold"/>
                                        <p:tgtEl>
                                          <p:spTgt spid="972007280">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7200728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7044983" grpId="0"/>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7839717" name="Google Shape;293;p14"/>
          <p:cNvPicPr/>
          <p:nvPr/>
        </p:nvPicPr>
        <p:blipFill rotWithShape="1">
          <a:blip r:embed="rId3">
            <a:alphaModFix/>
          </a:blip>
          <a:srcRect l="0" t="-751" r="0" b="35489"/>
          <a:stretch/>
        </p:blipFill>
        <p:spPr bwMode="auto">
          <a:xfrm>
            <a:off x="0" y="4875827"/>
            <a:ext cx="12192000" cy="2004291"/>
          </a:xfrm>
          <a:prstGeom prst="rect">
            <a:avLst/>
          </a:prstGeom>
          <a:noFill/>
          <a:ln>
            <a:noFill/>
          </a:ln>
        </p:spPr>
      </p:pic>
      <p:sp>
        <p:nvSpPr>
          <p:cNvPr id="1235715732" name="Google Shape;294;p14"/>
          <p:cNvSpPr txBox="1">
            <a:spLocks noGrp="1"/>
          </p:cNvSpPr>
          <p:nvPr>
            <p:ph type="title" idx="4294967295"/>
          </p:nvPr>
        </p:nvSpPr>
        <p:spPr bwMode="auto">
          <a:xfrm>
            <a:off x="990600" y="304800"/>
            <a:ext cx="9982200" cy="762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defRPr/>
            </a:pPr>
            <a:r>
              <a:rPr lang="en-US" b="1"/>
              <a:t>(b) Planning</a:t>
            </a:r>
            <a:endParaRPr/>
          </a:p>
        </p:txBody>
      </p:sp>
      <p:sp>
        <p:nvSpPr>
          <p:cNvPr id="785222067" name="Google Shape;295;p14"/>
          <p:cNvSpPr txBox="1">
            <a:spLocks noGrp="1"/>
          </p:cNvSpPr>
          <p:nvPr>
            <p:ph type="body" idx="4294967295"/>
          </p:nvPr>
        </p:nvSpPr>
        <p:spPr bwMode="auto">
          <a:xfrm>
            <a:off x="381000" y="1772158"/>
            <a:ext cx="11582400" cy="2945025"/>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90000"/>
              </a:lnSpc>
              <a:spcBef>
                <a:spcPts val="0"/>
              </a:spcBef>
              <a:spcAft>
                <a:spcPts val="0"/>
              </a:spcAft>
              <a:buClr>
                <a:schemeClr val="dk1"/>
              </a:buClr>
              <a:buSzPts val="2800"/>
              <a:buChar char="•"/>
              <a:defRPr/>
            </a:pPr>
            <a:r>
              <a:rPr lang="en-US" b="1">
                <a:solidFill>
                  <a:srgbClr val="FF0000"/>
                </a:solidFill>
              </a:rPr>
              <a:t>Create</a:t>
            </a:r>
            <a:r>
              <a:rPr lang="en-US">
                <a:solidFill>
                  <a:srgbClr val="FF0000"/>
                </a:solidFill>
              </a:rPr>
              <a:t> </a:t>
            </a:r>
            <a:r>
              <a:rPr lang="en-US" b="1">
                <a:solidFill>
                  <a:srgbClr val="FF0000"/>
                </a:solidFill>
              </a:rPr>
              <a:t>a </a:t>
            </a:r>
            <a:r>
              <a:rPr lang="en-US" b="1">
                <a:solidFill>
                  <a:srgbClr val="C00000"/>
                </a:solidFill>
              </a:rPr>
              <a:t>Project Management Plan</a:t>
            </a:r>
            <a:r>
              <a:rPr lang="en-US" b="1"/>
              <a:t> </a:t>
            </a:r>
            <a:r>
              <a:rPr lang="en-US"/>
              <a:t>(</a:t>
            </a:r>
            <a:r>
              <a:rPr lang="en-US">
                <a:highlight>
                  <a:srgbClr val="FFFF00"/>
                </a:highlight>
              </a:rPr>
              <a:t>PMP</a:t>
            </a:r>
            <a:r>
              <a:rPr lang="en-US"/>
              <a:t>) and kept it </a:t>
            </a:r>
            <a:r>
              <a:rPr lang="en-US">
                <a:highlight>
                  <a:srgbClr val="FFFF00"/>
                </a:highlight>
              </a:rPr>
              <a:t>up-to-date</a:t>
            </a:r>
            <a:r>
              <a:rPr lang="en-US"/>
              <a:t> as the project </a:t>
            </a:r>
            <a:r>
              <a:rPr lang="en-US">
                <a:highlight>
                  <a:srgbClr val="FFFF00"/>
                </a:highlight>
              </a:rPr>
              <a:t>progresses</a:t>
            </a:r>
            <a:r>
              <a:rPr lang="en-US"/>
              <a:t>. </a:t>
            </a:r>
            <a:endParaRPr/>
          </a:p>
          <a:p>
            <a:pPr marL="228600" lvl="0" indent="-228600" algn="just">
              <a:defRPr/>
            </a:pPr>
            <a:r>
              <a:rPr lang="en-US"/>
              <a:t>PMP</a:t>
            </a:r>
            <a:r>
              <a:rPr lang="en-US" b="1"/>
              <a:t> </a:t>
            </a:r>
            <a:r>
              <a:rPr lang="en-US" b="1" u="sng"/>
              <a:t>contains</a:t>
            </a:r>
            <a:r>
              <a:rPr lang="en-US" b="1"/>
              <a:t> </a:t>
            </a:r>
            <a:r>
              <a:rPr lang="en-US"/>
              <a:t>sufficient details to </a:t>
            </a:r>
            <a:r>
              <a:rPr lang="en-US">
                <a:highlight>
                  <a:srgbClr val="FFFF00"/>
                </a:highlight>
              </a:rPr>
              <a:t>monitor </a:t>
            </a:r>
            <a:r>
              <a:rPr lang="en-US"/>
              <a:t>and exercise </a:t>
            </a:r>
            <a:r>
              <a:rPr lang="en-US">
                <a:highlight>
                  <a:srgbClr val="FFFF00"/>
                </a:highlight>
              </a:rPr>
              <a:t>control </a:t>
            </a:r>
            <a:r>
              <a:rPr lang="en-US"/>
              <a:t>over the project execution e.g. </a:t>
            </a:r>
            <a:r>
              <a:rPr lang="en-US" b="1"/>
              <a:t>project</a:t>
            </a:r>
            <a:r>
              <a:rPr lang="en-US"/>
              <a:t> </a:t>
            </a:r>
            <a:r>
              <a:rPr lang="en-US" b="1"/>
              <a:t>schedules, milestones, project team members, and all other project related information. </a:t>
            </a:r>
            <a:endParaRPr b="1"/>
          </a:p>
          <a:p>
            <a:pPr marL="228600" lvl="0" indent="-228600" algn="just" rtl="0">
              <a:lnSpc>
                <a:spcPct val="90000"/>
              </a:lnSpc>
              <a:spcBef>
                <a:spcPts val="1000"/>
              </a:spcBef>
              <a:spcAft>
                <a:spcPts val="0"/>
              </a:spcAft>
              <a:buClr>
                <a:schemeClr val="dk1"/>
              </a:buClr>
              <a:buSzPts val="2800"/>
              <a:buChar char="•"/>
              <a:defRPr/>
            </a:pPr>
            <a:r>
              <a:rPr lang="en-US"/>
              <a:t>In maintenance projects, the detailed schedule is dynamically updated as and when maintenance requests are received and delivered.</a:t>
            </a:r>
            <a:endParaRPr/>
          </a:p>
          <a:p>
            <a:pPr marL="0" lvl="0" indent="0" algn="just" rtl="0">
              <a:lnSpc>
                <a:spcPct val="90000"/>
              </a:lnSpc>
              <a:spcBef>
                <a:spcPts val="1000"/>
              </a:spcBef>
              <a:spcAft>
                <a:spcPts val="0"/>
              </a:spcAft>
              <a:buClr>
                <a:schemeClr val="dk1"/>
              </a:buClr>
              <a:buSzPts val="2000"/>
              <a:buNone/>
              <a:defRPr/>
            </a:pPr>
            <a:endParaRPr sz="2000" i="1"/>
          </a:p>
        </p:txBody>
      </p:sp>
      <p:sp>
        <p:nvSpPr>
          <p:cNvPr id="1838445928" name="Google Shape;296;p1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15</a:t>
            </a:fld>
            <a:endParaRPr/>
          </a:p>
        </p:txBody>
      </p:sp>
      <p:sp>
        <p:nvSpPr>
          <p:cNvPr id="1497447918" name="Google Shape;297;p14"/>
          <p:cNvSpPr txBox="1"/>
          <p:nvPr/>
        </p:nvSpPr>
        <p:spPr bwMode="auto">
          <a:xfrm>
            <a:off x="4114800" y="990600"/>
            <a:ext cx="3886200"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Project Life Cycle Processes</a:t>
            </a:r>
            <a:endParaRPr/>
          </a:p>
        </p:txBody>
      </p:sp>
      <p:cxnSp>
        <p:nvCxnSpPr>
          <p:cNvPr id="588664707" name="Google Shape;298;p14"/>
          <p:cNvCxnSpPr/>
          <p:nvPr/>
        </p:nvCxnSpPr>
        <p:spPr bwMode="auto">
          <a:xfrm rot="10800000">
            <a:off x="5545989" y="1371600"/>
            <a:ext cx="1023822" cy="0"/>
          </a:xfrm>
          <a:prstGeom prst="straightConnector1">
            <a:avLst/>
          </a:prstGeom>
          <a:noFill/>
          <a:ln w="28575" cap="flat" cmpd="sng">
            <a:solidFill>
              <a:srgbClr val="3F3F3F"/>
            </a:solidFill>
            <a:prstDash val="solid"/>
            <a:miter lim="800000"/>
            <a:headEnd type="none" w="sm" len="sm"/>
            <a:tailEnd type="none" w="sm" len="sm"/>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3791815" name="Google Shape;304;p15"/>
          <p:cNvSpPr txBox="1">
            <a:spLocks noGrp="1"/>
          </p:cNvSpPr>
          <p:nvPr>
            <p:ph type="title" idx="4294967295"/>
          </p:nvPr>
        </p:nvSpPr>
        <p:spPr bwMode="auto">
          <a:xfrm>
            <a:off x="914400" y="304800"/>
            <a:ext cx="10287000" cy="6858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Calibri"/>
              <a:buNone/>
              <a:defRPr/>
            </a:pPr>
            <a:r>
              <a:rPr lang="en-US" b="1"/>
              <a:t>(c) Executing</a:t>
            </a:r>
            <a:endParaRPr/>
          </a:p>
        </p:txBody>
      </p:sp>
      <p:sp>
        <p:nvSpPr>
          <p:cNvPr id="836916786" name="Google Shape;305;p15"/>
          <p:cNvSpPr txBox="1">
            <a:spLocks noGrp="1"/>
          </p:cNvSpPr>
          <p:nvPr>
            <p:ph type="body" idx="4294967295"/>
          </p:nvPr>
        </p:nvSpPr>
        <p:spPr bwMode="auto">
          <a:xfrm>
            <a:off x="381000" y="1630361"/>
            <a:ext cx="11430000" cy="2967723"/>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defRPr/>
            </a:pPr>
            <a:r>
              <a:rPr lang="en-US"/>
              <a:t>Once the plan is in place - </a:t>
            </a:r>
            <a:r>
              <a:rPr lang="en-US">
                <a:solidFill>
                  <a:srgbClr val="FF0000"/>
                </a:solidFill>
              </a:rPr>
              <a:t>execute the project </a:t>
            </a:r>
            <a:endParaRPr>
              <a:solidFill>
                <a:srgbClr val="FF0000"/>
              </a:solidFill>
            </a:endParaRPr>
          </a:p>
          <a:p>
            <a:pPr marL="228600" lvl="0" indent="-228600" algn="l" rtl="0">
              <a:lnSpc>
                <a:spcPct val="90000"/>
              </a:lnSpc>
              <a:spcBef>
                <a:spcPts val="1000"/>
              </a:spcBef>
              <a:spcAft>
                <a:spcPts val="0"/>
              </a:spcAft>
              <a:buClr>
                <a:schemeClr val="dk1"/>
              </a:buClr>
              <a:buSzPct val="100000"/>
              <a:buChar char="•"/>
              <a:defRPr/>
            </a:pPr>
            <a:r>
              <a:rPr lang="en-US"/>
              <a:t>The Project Manager </a:t>
            </a:r>
            <a:r>
              <a:rPr lang="en-US">
                <a:highlight>
                  <a:srgbClr val="FFFF00"/>
                </a:highlight>
              </a:rPr>
              <a:t>evaluates </a:t>
            </a:r>
            <a:r>
              <a:rPr lang="en-US">
                <a:solidFill>
                  <a:schemeClr val="tx1"/>
                </a:solidFill>
                <a:highlight>
                  <a:srgbClr val="FFFF00"/>
                </a:highlight>
              </a:rPr>
              <a:t>adherence</a:t>
            </a:r>
            <a:r>
              <a:rPr lang="en-US"/>
              <a:t> to the project planning process and the work products and services of the process to the applicable requirements, objectives, and standards, and addresses noncompliance. </a:t>
            </a:r>
            <a:endParaRPr/>
          </a:p>
          <a:p>
            <a:pPr marL="228600" lvl="0" indent="-228600" algn="l" rtl="0">
              <a:lnSpc>
                <a:spcPct val="90000"/>
              </a:lnSpc>
              <a:spcBef>
                <a:spcPts val="1000"/>
              </a:spcBef>
              <a:spcAft>
                <a:spcPts val="0"/>
              </a:spcAft>
              <a:buClr>
                <a:schemeClr val="dk1"/>
              </a:buClr>
              <a:buSzPct val="100000"/>
              <a:buChar char="•"/>
              <a:defRPr/>
            </a:pPr>
            <a:r>
              <a:rPr lang="en-US"/>
              <a:t>By ensuring adherence to the plan, information will be available to accurately </a:t>
            </a:r>
            <a:r>
              <a:rPr lang="en-US">
                <a:highlight>
                  <a:srgbClr val="FFFF00"/>
                </a:highlight>
              </a:rPr>
              <a:t>identify issues</a:t>
            </a:r>
            <a:r>
              <a:rPr lang="en-US"/>
              <a:t> and problems in their early stages and minimize </a:t>
            </a:r>
            <a:r>
              <a:rPr lang="en-US">
                <a:highlight>
                  <a:srgbClr val="FFFF00"/>
                </a:highlight>
              </a:rPr>
              <a:t>risks</a:t>
            </a:r>
            <a:r>
              <a:rPr lang="en-US"/>
              <a:t>.</a:t>
            </a:r>
            <a:endParaRPr/>
          </a:p>
          <a:p>
            <a:pPr marL="228600" lvl="0" indent="-228600" algn="l" rtl="0">
              <a:lnSpc>
                <a:spcPct val="90000"/>
              </a:lnSpc>
              <a:spcBef>
                <a:spcPts val="1000"/>
              </a:spcBef>
              <a:spcAft>
                <a:spcPts val="0"/>
              </a:spcAft>
              <a:buClr>
                <a:schemeClr val="dk1"/>
              </a:buClr>
              <a:buSzPct val="100000"/>
              <a:buChar char="•"/>
              <a:defRPr/>
            </a:pPr>
            <a:r>
              <a:rPr lang="en-US" b="1">
                <a:solidFill>
                  <a:srgbClr val="FF0000"/>
                </a:solidFill>
              </a:rPr>
              <a:t>Output</a:t>
            </a:r>
            <a:r>
              <a:rPr lang="en-US"/>
              <a:t>: </a:t>
            </a:r>
            <a:r>
              <a:rPr lang="en-US" b="1">
                <a:solidFill>
                  <a:schemeClr val="tx1"/>
                </a:solidFill>
              </a:rPr>
              <a:t>work results</a:t>
            </a:r>
            <a:endParaRPr b="1">
              <a:solidFill>
                <a:schemeClr val="tx1"/>
              </a:solidFill>
            </a:endParaRPr>
          </a:p>
          <a:p>
            <a:pPr marL="0" lvl="0" indent="0" algn="l" rtl="0">
              <a:lnSpc>
                <a:spcPct val="90000"/>
              </a:lnSpc>
              <a:spcBef>
                <a:spcPts val="1000"/>
              </a:spcBef>
              <a:spcAft>
                <a:spcPts val="0"/>
              </a:spcAft>
              <a:buClr>
                <a:schemeClr val="dk1"/>
              </a:buClr>
              <a:buSzPct val="100000"/>
              <a:buNone/>
              <a:defRPr/>
            </a:pPr>
            <a:endParaRPr sz="2000" i="1"/>
          </a:p>
        </p:txBody>
      </p:sp>
      <p:sp>
        <p:nvSpPr>
          <p:cNvPr id="1407267387" name="Google Shape;306;p1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16</a:t>
            </a:fld>
            <a:endParaRPr/>
          </a:p>
        </p:txBody>
      </p:sp>
      <p:pic>
        <p:nvPicPr>
          <p:cNvPr id="112369868" name="Google Shape;307;p15"/>
          <p:cNvPicPr/>
          <p:nvPr/>
        </p:nvPicPr>
        <p:blipFill rotWithShape="1">
          <a:blip r:embed="rId3">
            <a:alphaModFix/>
          </a:blip>
          <a:srcRect l="0" t="-751" r="0" b="35489"/>
          <a:stretch/>
        </p:blipFill>
        <p:spPr bwMode="auto">
          <a:xfrm>
            <a:off x="0" y="4875827"/>
            <a:ext cx="12192000" cy="2004291"/>
          </a:xfrm>
          <a:prstGeom prst="rect">
            <a:avLst/>
          </a:prstGeom>
          <a:noFill/>
          <a:ln>
            <a:noFill/>
          </a:ln>
        </p:spPr>
      </p:pic>
      <p:sp>
        <p:nvSpPr>
          <p:cNvPr id="295125559" name="Google Shape;308;p15"/>
          <p:cNvSpPr txBox="1"/>
          <p:nvPr/>
        </p:nvSpPr>
        <p:spPr bwMode="auto">
          <a:xfrm>
            <a:off x="4114800" y="914400"/>
            <a:ext cx="3886200"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Project Life Cycle Processes</a:t>
            </a:r>
            <a:endParaRPr/>
          </a:p>
        </p:txBody>
      </p:sp>
      <p:cxnSp>
        <p:nvCxnSpPr>
          <p:cNvPr id="1345272656" name="Google Shape;309;p15"/>
          <p:cNvCxnSpPr/>
          <p:nvPr/>
        </p:nvCxnSpPr>
        <p:spPr bwMode="auto">
          <a:xfrm rot="10800000">
            <a:off x="5545989" y="1295400"/>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573665910" name="TextBox 1"/>
          <p:cNvSpPr txBox="1"/>
          <p:nvPr/>
        </p:nvSpPr>
        <p:spPr bwMode="auto">
          <a:xfrm>
            <a:off x="588939" y="4355024"/>
            <a:ext cx="8741041" cy="400110"/>
          </a:xfrm>
          <a:prstGeom prst="rect">
            <a:avLst/>
          </a:prstGeom>
          <a:noFill/>
        </p:spPr>
        <p:txBody>
          <a:bodyPr wrap="square" rtlCol="0">
            <a:spAutoFit/>
          </a:bodyPr>
          <a:lstStyle/>
          <a:p>
            <a:pPr>
              <a:defRPr/>
            </a:pPr>
            <a:r>
              <a:rPr lang="en-US" sz="2000" i="1">
                <a:solidFill>
                  <a:srgbClr val="FF0000"/>
                </a:solidFill>
              </a:rPr>
              <a:t>(Give some examples of FYP </a:t>
            </a:r>
            <a:r>
              <a:rPr lang="en-US" sz="2000" b="1" i="1">
                <a:solidFill>
                  <a:srgbClr val="FF0000"/>
                </a:solidFill>
              </a:rPr>
              <a:t>work results </a:t>
            </a:r>
            <a:r>
              <a:rPr lang="en-US" sz="2000" i="1">
                <a:solidFill>
                  <a:srgbClr val="FF0000"/>
                </a:solidFill>
              </a:rPr>
              <a:t>= ? ____________ )</a:t>
            </a:r>
            <a:endParaRPr lang="en-GB" sz="2000" i="1">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665910"/>
                                        </p:tgtEl>
                                        <p:attrNameLst>
                                          <p:attrName>style.visibility</p:attrName>
                                        </p:attrNameLst>
                                      </p:cBhvr>
                                      <p:to>
                                        <p:strVal val="visible"/>
                                      </p:to>
                                    </p:set>
                                    <p:animEffect transition="in" filter="wipe(left)">
                                      <p:cBhvr>
                                        <p:cTn id="7" dur="500"/>
                                        <p:tgtEl>
                                          <p:spTgt spid="5736659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665910" grpId="0"/>
    </p:bldLst>
  </p:timing>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09910749" name="Google Shape;315;p16"/>
          <p:cNvSpPr txBox="1">
            <a:spLocks noGrp="1"/>
          </p:cNvSpPr>
          <p:nvPr>
            <p:ph type="title" idx="4294967295"/>
          </p:nvPr>
        </p:nvSpPr>
        <p:spPr bwMode="auto">
          <a:xfrm>
            <a:off x="990600" y="176273"/>
            <a:ext cx="10210800" cy="99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Calibri"/>
              <a:buNone/>
              <a:defRPr/>
            </a:pPr>
            <a:r>
              <a:rPr lang="en-US" sz="4000" b="1"/>
              <a:t>(d) Monitoring &amp; </a:t>
            </a:r>
            <a:r>
              <a:rPr lang="en-US" sz="3600" b="1"/>
              <a:t>Controlling</a:t>
            </a:r>
            <a:endParaRPr sz="4000" b="1"/>
          </a:p>
        </p:txBody>
      </p:sp>
      <p:sp>
        <p:nvSpPr>
          <p:cNvPr id="523838919" name="Google Shape;316;p16"/>
          <p:cNvSpPr txBox="1">
            <a:spLocks noGrp="1"/>
          </p:cNvSpPr>
          <p:nvPr>
            <p:ph type="body" idx="4294967295"/>
          </p:nvPr>
        </p:nvSpPr>
        <p:spPr bwMode="auto">
          <a:xfrm>
            <a:off x="533399" y="1706562"/>
            <a:ext cx="11343861" cy="2789238"/>
          </a:xfrm>
          <a:prstGeom prst="rect">
            <a:avLst/>
          </a:prstGeom>
          <a:noFill/>
          <a:ln>
            <a:noFill/>
          </a:ln>
        </p:spPr>
        <p:txBody>
          <a:bodyPr spcFirstLastPara="1" vertOverflow="overflow" horzOverflow="overflow" vert="horz" wrap="square" lIns="91424" tIns="45699" rIns="91424" bIns="45699" numCol="1" spcCol="0" rtlCol="0" fromWordArt="0" anchor="t" anchorCtr="0" forceAA="0" upright="0" compatLnSpc="0">
            <a:normAutofit fontScale="80000" lnSpcReduction="4000"/>
          </a:bodyPr>
          <a:lstStyle/>
          <a:p>
            <a:pPr marL="228600" lvl="0" indent="-228600" algn="l" rtl="0">
              <a:lnSpc>
                <a:spcPct val="90000"/>
              </a:lnSpc>
              <a:spcBef>
                <a:spcPts val="0"/>
              </a:spcBef>
              <a:spcAft>
                <a:spcPts val="0"/>
              </a:spcAft>
              <a:buClr>
                <a:schemeClr val="dk1"/>
              </a:buClr>
              <a:buSzPct val="100000"/>
              <a:buChar char="•"/>
              <a:defRPr/>
            </a:pPr>
            <a:r>
              <a:rPr lang="en-US"/>
              <a:t>During the project execution, the Project Manager monitor the progress against the plan </a:t>
            </a:r>
            <a:r>
              <a:rPr lang="en-US" b="1">
                <a:solidFill>
                  <a:srgbClr val="FF0000"/>
                </a:solidFill>
              </a:rPr>
              <a:t>(</a:t>
            </a:r>
            <a:r>
              <a:rPr lang="en-US" b="1" u="sng">
                <a:solidFill>
                  <a:srgbClr val="FF0000"/>
                </a:solidFill>
              </a:rPr>
              <a:t>means</a:t>
            </a:r>
            <a:r>
              <a:rPr lang="en-US" b="1"/>
              <a:t> </a:t>
            </a:r>
            <a:r>
              <a:rPr lang="en-US" b="1">
                <a:solidFill>
                  <a:srgbClr val="FF0000"/>
                </a:solidFill>
              </a:rPr>
              <a:t>c</a:t>
            </a:r>
            <a:r>
              <a:rPr lang="en-US">
                <a:solidFill>
                  <a:srgbClr val="FF0000"/>
                </a:solidFill>
              </a:rPr>
              <a:t>heck if “project progress” = “What has been planned”</a:t>
            </a:r>
            <a:endParaRPr/>
          </a:p>
          <a:p>
            <a:pPr marL="0" lvl="0" indent="0" algn="l" rtl="0">
              <a:lnSpc>
                <a:spcPct val="110000"/>
              </a:lnSpc>
              <a:spcBef>
                <a:spcPts val="0"/>
              </a:spcBef>
              <a:spcAft>
                <a:spcPts val="0"/>
              </a:spcAft>
              <a:buClr>
                <a:schemeClr val="dk1"/>
              </a:buClr>
              <a:buSzPct val="100000"/>
              <a:buNone/>
              <a:defRPr/>
            </a:pPr>
            <a:r>
              <a:rPr lang="en-US">
                <a:solidFill>
                  <a:srgbClr val="FF0000"/>
                </a:solidFill>
              </a:rPr>
              <a:t>   e.g. tasks completed on time?, if </a:t>
            </a:r>
            <a:r>
              <a:rPr lang="en-US">
                <a:solidFill>
                  <a:srgbClr val="FF0000"/>
                </a:solidFill>
              </a:rPr>
              <a:t>ans</a:t>
            </a:r>
            <a:r>
              <a:rPr lang="en-US">
                <a:solidFill>
                  <a:srgbClr val="FF0000"/>
                </a:solidFill>
              </a:rPr>
              <a:t> = “No”... )</a:t>
            </a:r>
            <a:endParaRPr/>
          </a:p>
          <a:p>
            <a:pPr marL="228600" lvl="0" indent="-228600" algn="l" rtl="0">
              <a:lnSpc>
                <a:spcPct val="90000"/>
              </a:lnSpc>
              <a:spcBef>
                <a:spcPts val="0"/>
              </a:spcBef>
              <a:spcAft>
                <a:spcPts val="0"/>
              </a:spcAft>
              <a:buClr>
                <a:schemeClr val="dk1"/>
              </a:buClr>
              <a:buSzPct val="100000"/>
              <a:buChar char="•"/>
              <a:defRPr/>
            </a:pPr>
            <a:r>
              <a:rPr lang="en-US"/>
              <a:t>For this, the Project Manager </a:t>
            </a:r>
            <a:r>
              <a:rPr lang="en-US"/>
              <a:t>gathers </a:t>
            </a:r>
            <a:r>
              <a:rPr lang="en-US"/>
              <a:t>the information needed, analyzes it and </a:t>
            </a:r>
            <a:r>
              <a:rPr lang="en-US"/>
              <a:t>identifies </a:t>
            </a:r>
            <a:r>
              <a:rPr lang="en-US"/>
              <a:t>any </a:t>
            </a:r>
            <a:r>
              <a:rPr lang="en-US">
                <a:highlight>
                  <a:srgbClr val="FFFF00"/>
                </a:highlight>
              </a:rPr>
              <a:t>deviati</a:t>
            </a:r>
            <a:r>
              <a:rPr lang="en-US">
                <a:highlight>
                  <a:srgbClr val="FFFF00"/>
                </a:highlight>
              </a:rPr>
              <a:t>ons</a:t>
            </a:r>
            <a:r>
              <a:rPr lang="en-US">
                <a:highlight>
                  <a:srgbClr val="FFFF00"/>
                </a:highlight>
              </a:rPr>
              <a:t> </a:t>
            </a:r>
            <a:r>
              <a:rPr lang="en-US" sz="2800" b="0" i="0" u="none" strike="noStrike" cap="none" spc="0">
                <a:solidFill>
                  <a:schemeClr val="dk1"/>
                </a:solidFill>
                <a:highlight>
                  <a:srgbClr val="FFFF00"/>
                </a:highlight>
                <a:latin typeface="Calibri"/>
                <a:ea typeface="Calibri"/>
                <a:cs typeface="Calibri"/>
              </a:rPr>
              <a:t>signi</a:t>
            </a:r>
            <a:r>
              <a:rPr lang="en-US" sz="2800" b="0" i="0" u="none" strike="noStrike" cap="none" spc="0">
                <a:solidFill>
                  <a:schemeClr val="dk1"/>
                </a:solidFill>
                <a:highlight>
                  <a:srgbClr val="FFFF00"/>
                </a:highlight>
                <a:latin typeface="Calibri"/>
                <a:ea typeface="Calibri"/>
                <a:cs typeface="Calibri"/>
              </a:rPr>
              <a:t>ficant</a:t>
            </a:r>
            <a:r>
              <a:rPr lang="en-US" sz="2800" b="0" i="0" u="none" strike="noStrike" cap="none" spc="0">
                <a:solidFill>
                  <a:schemeClr val="dk1"/>
                </a:solidFill>
                <a:latin typeface="Calibri"/>
                <a:ea typeface="Calibri"/>
                <a:cs typeface="Calibri"/>
              </a:rPr>
              <a:t> (</a:t>
            </a:r>
            <a:r>
              <a:rPr lang="en-US" sz="2200" b="0" i="0" u="none" strike="noStrike" cap="none" spc="0">
                <a:solidFill>
                  <a:schemeClr val="dk1"/>
                </a:solidFill>
                <a:latin typeface="Calibri"/>
                <a:ea typeface="Calibri"/>
                <a:cs typeface="Calibri"/>
              </a:rPr>
              <a:t>重大的偏差</a:t>
            </a:r>
            <a:r>
              <a:rPr lang="en-US"/>
              <a:t>)</a:t>
            </a:r>
            <a:r>
              <a:rPr lang="en-US"/>
              <a:t>.</a:t>
            </a:r>
            <a:endParaRPr/>
          </a:p>
          <a:p>
            <a:pPr marL="228600" lvl="0" indent="-228600" algn="l" rtl="0">
              <a:lnSpc>
                <a:spcPct val="90000"/>
              </a:lnSpc>
              <a:spcBef>
                <a:spcPts val="1000"/>
              </a:spcBef>
              <a:spcAft>
                <a:spcPts val="0"/>
              </a:spcAft>
              <a:buClr>
                <a:srgbClr val="C00000"/>
              </a:buClr>
              <a:buSzPct val="100000"/>
              <a:buChar char="•"/>
              <a:defRPr/>
            </a:pPr>
            <a:r>
              <a:rPr lang="en-US">
                <a:solidFill>
                  <a:srgbClr val="FF0000"/>
                </a:solidFill>
              </a:rPr>
              <a:t>Take </a:t>
            </a:r>
            <a:r>
              <a:rPr lang="en-US">
                <a:solidFill>
                  <a:srgbClr val="FF0000"/>
                </a:solidFill>
                <a:highlight>
                  <a:srgbClr val="FFFF00"/>
                </a:highlight>
              </a:rPr>
              <a:t>corrective actions</a:t>
            </a:r>
            <a:r>
              <a:rPr lang="en-US">
                <a:solidFill>
                  <a:srgbClr val="FF0000"/>
                </a:solidFill>
              </a:rPr>
              <a:t> </a:t>
            </a:r>
            <a:r>
              <a:rPr lang="en-US"/>
              <a:t>to </a:t>
            </a:r>
            <a:r>
              <a:rPr lang="en-US">
                <a:highlight>
                  <a:srgbClr val="FFFF00"/>
                </a:highlight>
              </a:rPr>
              <a:t>solve </a:t>
            </a:r>
            <a:r>
              <a:rPr lang="en-US"/>
              <a:t>identified issues. This may include re-planning and establishing new agreements.</a:t>
            </a:r>
            <a:endParaRPr/>
          </a:p>
          <a:p>
            <a:pPr marL="228600" lvl="0" indent="-228600" algn="l" rtl="0">
              <a:lnSpc>
                <a:spcPct val="90000"/>
              </a:lnSpc>
              <a:spcBef>
                <a:spcPts val="1000"/>
              </a:spcBef>
              <a:spcAft>
                <a:spcPts val="0"/>
              </a:spcAft>
              <a:buClr>
                <a:schemeClr val="dk1"/>
              </a:buClr>
              <a:buSzPct val="100000"/>
              <a:buChar char="•"/>
              <a:defRPr/>
            </a:pPr>
            <a:r>
              <a:rPr lang="en-US" b="1">
                <a:solidFill>
                  <a:srgbClr val="FF0000"/>
                </a:solidFill>
              </a:rPr>
              <a:t>Output</a:t>
            </a:r>
            <a:r>
              <a:rPr lang="en-US"/>
              <a:t>: </a:t>
            </a:r>
            <a:r>
              <a:rPr lang="en-US" b="1">
                <a:solidFill>
                  <a:schemeClr val="tx1"/>
                </a:solidFill>
              </a:rPr>
              <a:t>overall health of project</a:t>
            </a:r>
            <a:endParaRPr sz="2000" i="1"/>
          </a:p>
        </p:txBody>
      </p:sp>
      <p:sp>
        <p:nvSpPr>
          <p:cNvPr id="807637258" name="Google Shape;317;p1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17</a:t>
            </a:fld>
            <a:endParaRPr/>
          </a:p>
        </p:txBody>
      </p:sp>
      <p:sp>
        <p:nvSpPr>
          <p:cNvPr id="833807147" name="Google Shape;318;p16"/>
          <p:cNvSpPr txBox="1"/>
          <p:nvPr/>
        </p:nvSpPr>
        <p:spPr bwMode="auto">
          <a:xfrm>
            <a:off x="4114800" y="914400"/>
            <a:ext cx="3886200"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Project Life Cycle Processes</a:t>
            </a:r>
            <a:endParaRPr/>
          </a:p>
        </p:txBody>
      </p:sp>
      <p:cxnSp>
        <p:nvCxnSpPr>
          <p:cNvPr id="960576362" name="Google Shape;319;p16"/>
          <p:cNvCxnSpPr/>
          <p:nvPr/>
        </p:nvCxnSpPr>
        <p:spPr bwMode="auto">
          <a:xfrm rot="10800000">
            <a:off x="5545989" y="1295400"/>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598372453" name="Google Shape;320;p16"/>
          <p:cNvPicPr/>
          <p:nvPr/>
        </p:nvPicPr>
        <p:blipFill rotWithShape="1">
          <a:blip r:embed="rId3">
            <a:alphaModFix/>
          </a:blip>
          <a:srcRect l="0" t="-751" r="0" b="35489"/>
          <a:stretch/>
        </p:blipFill>
        <p:spPr bwMode="auto">
          <a:xfrm>
            <a:off x="0" y="4875827"/>
            <a:ext cx="12192000" cy="2004291"/>
          </a:xfrm>
          <a:prstGeom prst="rect">
            <a:avLst/>
          </a:prstGeom>
          <a:noFill/>
          <a:ln>
            <a:noFill/>
          </a:ln>
        </p:spPr>
      </p:pic>
      <p:sp>
        <p:nvSpPr>
          <p:cNvPr id="1586954365" name="TextBox 1"/>
          <p:cNvSpPr txBox="1"/>
          <p:nvPr/>
        </p:nvSpPr>
        <p:spPr bwMode="auto">
          <a:xfrm>
            <a:off x="5340626" y="3943530"/>
            <a:ext cx="6536634" cy="707886"/>
          </a:xfrm>
          <a:prstGeom prst="rect">
            <a:avLst/>
          </a:prstGeom>
          <a:noFill/>
        </p:spPr>
        <p:txBody>
          <a:bodyPr wrap="square" rtlCol="0">
            <a:spAutoFit/>
          </a:bodyPr>
          <a:lstStyle/>
          <a:p>
            <a:pPr>
              <a:defRPr/>
            </a:pPr>
            <a:r>
              <a:rPr lang="en-US" sz="2000" b="1">
                <a:solidFill>
                  <a:schemeClr val="tx1"/>
                </a:solidFill>
              </a:rPr>
              <a:t>(e.g. healthy if project is on time and within budget)</a:t>
            </a:r>
            <a:endParaRPr/>
          </a:p>
          <a:p>
            <a:pPr>
              <a:defRPr/>
            </a:pPr>
            <a:endParaRPr lang="en-MY" sz="2000"/>
          </a:p>
        </p:txBody>
      </p:sp>
      <p:sp>
        <p:nvSpPr>
          <p:cNvPr id="1118168357" name="TextBox 2"/>
          <p:cNvSpPr txBox="1"/>
          <p:nvPr/>
        </p:nvSpPr>
        <p:spPr bwMode="auto">
          <a:xfrm>
            <a:off x="815051" y="4300563"/>
            <a:ext cx="6013174" cy="830997"/>
          </a:xfrm>
          <a:prstGeom prst="rect">
            <a:avLst/>
          </a:prstGeom>
          <a:noFill/>
        </p:spPr>
        <p:txBody>
          <a:bodyPr wrap="square" rtlCol="0">
            <a:spAutoFit/>
          </a:bodyPr>
          <a:lstStyle/>
          <a:p>
            <a:pPr>
              <a:defRPr/>
            </a:pPr>
            <a:r>
              <a:rPr lang="en-US" sz="2400" i="1">
                <a:solidFill>
                  <a:srgbClr val="FF0000"/>
                </a:solidFill>
              </a:rPr>
              <a:t>(What is the overall health of your FYP?)</a:t>
            </a:r>
            <a:endParaRPr/>
          </a:p>
          <a:p>
            <a:pPr>
              <a:defRPr/>
            </a:pPr>
            <a:endParaRPr lang="en-MY" sz="2400" i="1">
              <a:solidFill>
                <a:srgbClr val="FF0000"/>
              </a:solidFill>
            </a:endParaRPr>
          </a:p>
        </p:txBody>
      </p:sp>
      <p:cxnSp>
        <p:nvCxnSpPr>
          <p:cNvPr id="1300302752" name="Straight Connector 4">
            <a:hlinkClick r:id="rId4" action="ppaction://hlinkfile"/>
          </p:cNvPr>
          <p:cNvCxnSpPr/>
          <p:nvPr/>
        </p:nvCxnSpPr>
        <p:spPr bwMode="auto">
          <a:xfrm>
            <a:off x="7702826" y="2534478"/>
            <a:ext cx="298174" cy="0"/>
          </a:xfrm>
          <a:prstGeom prst="line">
            <a:avLst/>
          </a:prstGeom>
          <a:ln w="285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009910749"/>
                                        </p:tgtEl>
                                        <p:attrNameLst>
                                          <p:attrName>style.visibility</p:attrName>
                                        </p:attrNameLst>
                                      </p:cBhvr>
                                      <p:to>
                                        <p:strVal val="visible"/>
                                      </p:to>
                                    </p:set>
                                    <p:anim calcmode="lin" valueType="num">
                                      <p:cBhvr additive="base">
                                        <p:cTn id="7" dur="500" fill="hold"/>
                                        <p:tgtEl>
                                          <p:spTgt spid="2009910749"/>
                                        </p:tgtEl>
                                        <p:attrNameLst>
                                          <p:attrName>ppt_x</p:attrName>
                                        </p:attrNameLst>
                                      </p:cBhvr>
                                      <p:tavLst>
                                        <p:tav tm="0">
                                          <p:val>
                                            <p:strVal val="#ppt_x"/>
                                          </p:val>
                                        </p:tav>
                                        <p:tav tm="100000">
                                          <p:val>
                                            <p:strVal val="#ppt_x"/>
                                          </p:val>
                                        </p:tav>
                                      </p:tavLst>
                                    </p:anim>
                                    <p:anim calcmode="lin" valueType="num">
                                      <p:cBhvr additive="base">
                                        <p:cTn id="8" dur="500" fill="hold"/>
                                        <p:tgtEl>
                                          <p:spTgt spid="200991074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523838919">
                                            <p:txEl>
                                              <p:pRg st="0" end="0"/>
                                            </p:txEl>
                                          </p:spTgt>
                                        </p:tgtEl>
                                        <p:attrNameLst>
                                          <p:attrName>style.visibility</p:attrName>
                                        </p:attrNameLst>
                                      </p:cBhvr>
                                      <p:to>
                                        <p:strVal val="visible"/>
                                      </p:to>
                                    </p:set>
                                    <p:animEffect transition="in" filter="wipe(left)">
                                      <p:cBhvr>
                                        <p:cTn id="13" dur="500"/>
                                        <p:tgtEl>
                                          <p:spTgt spid="523838919">
                                            <p:txEl>
                                              <p:pRg st="0" end="0"/>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523838919">
                                            <p:txEl>
                                              <p:pRg st="1" end="1"/>
                                            </p:txEl>
                                          </p:spTgt>
                                        </p:tgtEl>
                                        <p:attrNameLst>
                                          <p:attrName>style.visibility</p:attrName>
                                        </p:attrNameLst>
                                      </p:cBhvr>
                                      <p:to>
                                        <p:strVal val="visible"/>
                                      </p:to>
                                    </p:set>
                                    <p:animEffect transition="in" filter="wipe(left)">
                                      <p:cBhvr>
                                        <p:cTn id="16" dur="500"/>
                                        <p:tgtEl>
                                          <p:spTgt spid="523838919">
                                            <p:txEl>
                                              <p:pRg st="1" end="1"/>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523838919">
                                            <p:txEl>
                                              <p:pRg st="2" end="2"/>
                                            </p:txEl>
                                          </p:spTgt>
                                        </p:tgtEl>
                                        <p:attrNameLst>
                                          <p:attrName>style.visibility</p:attrName>
                                        </p:attrNameLst>
                                      </p:cBhvr>
                                      <p:to>
                                        <p:strVal val="visible"/>
                                      </p:to>
                                    </p:set>
                                    <p:animEffect transition="in" filter="wipe(left)">
                                      <p:cBhvr>
                                        <p:cTn id="19" dur="500"/>
                                        <p:tgtEl>
                                          <p:spTgt spid="523838919">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523838919">
                                            <p:txEl>
                                              <p:pRg st="3" end="3"/>
                                            </p:txEl>
                                          </p:spTgt>
                                        </p:tgtEl>
                                        <p:attrNameLst>
                                          <p:attrName>style.visibility</p:attrName>
                                        </p:attrNameLst>
                                      </p:cBhvr>
                                      <p:to>
                                        <p:strVal val="visible"/>
                                      </p:to>
                                    </p:set>
                                    <p:animEffect transition="in" filter="wipe(left)">
                                      <p:cBhvr>
                                        <p:cTn id="24" dur="500"/>
                                        <p:tgtEl>
                                          <p:spTgt spid="523838919">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523838919">
                                            <p:txEl>
                                              <p:pRg st="4" end="4"/>
                                            </p:txEl>
                                          </p:spTgt>
                                        </p:tgtEl>
                                        <p:attrNameLst>
                                          <p:attrName>style.visibility</p:attrName>
                                        </p:attrNameLst>
                                      </p:cBhvr>
                                      <p:to>
                                        <p:strVal val="visible"/>
                                      </p:to>
                                    </p:set>
                                    <p:animEffect transition="in" filter="wipe(left)">
                                      <p:cBhvr>
                                        <p:cTn id="29" dur="500"/>
                                        <p:tgtEl>
                                          <p:spTgt spid="523838919">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586954365"/>
                                        </p:tgtEl>
                                        <p:attrNameLst>
                                          <p:attrName>style.visibility</p:attrName>
                                        </p:attrNameLst>
                                      </p:cBhvr>
                                      <p:to>
                                        <p:strVal val="visible"/>
                                      </p:to>
                                    </p:set>
                                    <p:animEffect transition="in" filter="wipe(left)">
                                      <p:cBhvr>
                                        <p:cTn id="34" dur="500"/>
                                        <p:tgtEl>
                                          <p:spTgt spid="1586954365"/>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118168357"/>
                                        </p:tgtEl>
                                        <p:attrNameLst>
                                          <p:attrName>style.visibility</p:attrName>
                                        </p:attrNameLst>
                                      </p:cBhvr>
                                      <p:to>
                                        <p:strVal val="visible"/>
                                      </p:to>
                                    </p:set>
                                    <p:anim calcmode="lin" valueType="num">
                                      <p:cBhvr additive="base">
                                        <p:cTn id="39" dur="500" fill="hold"/>
                                        <p:tgtEl>
                                          <p:spTgt spid="1118168357"/>
                                        </p:tgtEl>
                                        <p:attrNameLst>
                                          <p:attrName>ppt_x</p:attrName>
                                        </p:attrNameLst>
                                      </p:cBhvr>
                                      <p:tavLst>
                                        <p:tav tm="0">
                                          <p:val>
                                            <p:strVal val="#ppt_x"/>
                                          </p:val>
                                        </p:tav>
                                        <p:tav tm="100000">
                                          <p:val>
                                            <p:strVal val="#ppt_x"/>
                                          </p:val>
                                        </p:tav>
                                      </p:tavLst>
                                    </p:anim>
                                    <p:anim calcmode="lin" valueType="num">
                                      <p:cBhvr additive="base">
                                        <p:cTn id="40" dur="500" fill="hold"/>
                                        <p:tgtEl>
                                          <p:spTgt spid="11181683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9910749" grpId="0"/>
      <p:bldP spid="1586954365" grpId="0"/>
      <p:bldP spid="1118168357" grpId="0"/>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1875257" name="Google Shape;326;p17"/>
          <p:cNvSpPr txBox="1">
            <a:spLocks noGrp="1"/>
          </p:cNvSpPr>
          <p:nvPr>
            <p:ph type="title" idx="4294967295"/>
          </p:nvPr>
        </p:nvSpPr>
        <p:spPr bwMode="auto">
          <a:xfrm>
            <a:off x="990600" y="152400"/>
            <a:ext cx="10058400" cy="990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defRPr/>
            </a:pPr>
            <a:r>
              <a:rPr lang="en-US" b="1"/>
              <a:t>(e) Closing</a:t>
            </a:r>
            <a:endParaRPr/>
          </a:p>
        </p:txBody>
      </p:sp>
      <p:sp>
        <p:nvSpPr>
          <p:cNvPr id="1393483618" name="Google Shape;327;p17"/>
          <p:cNvSpPr txBox="1">
            <a:spLocks noGrp="1"/>
          </p:cNvSpPr>
          <p:nvPr>
            <p:ph type="body" idx="4294967295"/>
          </p:nvPr>
        </p:nvSpPr>
        <p:spPr bwMode="auto">
          <a:xfrm>
            <a:off x="533400" y="1935161"/>
            <a:ext cx="11049000" cy="2940665"/>
          </a:xfrm>
          <a:prstGeom prst="rect">
            <a:avLst/>
          </a:prstGeom>
          <a:noFill/>
          <a:ln>
            <a:noFill/>
          </a:ln>
        </p:spPr>
        <p:txBody>
          <a:bodyPr spcFirstLastPara="1" vertOverflow="overflow" horzOverflow="overflow" vert="horz" wrap="square" lIns="91424" tIns="45699" rIns="91424" bIns="45699" numCol="1" spcCol="0" rtlCol="0" fromWordArt="0" anchor="t" anchorCtr="0" forceAA="0" upright="0" compatLnSpc="0">
            <a:normAutofit fontScale="85000" lnSpcReduction="3000"/>
          </a:bodyPr>
          <a:lstStyle/>
          <a:p>
            <a:pPr marL="228600" lvl="0" indent="-228600" algn="l" rtl="0">
              <a:lnSpc>
                <a:spcPct val="90000"/>
              </a:lnSpc>
              <a:spcBef>
                <a:spcPts val="0"/>
              </a:spcBef>
              <a:spcAft>
                <a:spcPts val="0"/>
              </a:spcAft>
              <a:buClr>
                <a:schemeClr val="dk1"/>
              </a:buClr>
              <a:buSzPts val="2800"/>
              <a:buChar char="•"/>
              <a:defRPr/>
            </a:pPr>
            <a:r>
              <a:rPr lang="en-US" b="1"/>
              <a:t>When the project is completed </a:t>
            </a:r>
            <a:r>
              <a:rPr lang="en-US"/>
              <a:t>the Project Manager </a:t>
            </a:r>
            <a:r>
              <a:rPr lang="en-US">
                <a:highlight>
                  <a:srgbClr val="FFFF00"/>
                </a:highlight>
              </a:rPr>
              <a:t>gathers </a:t>
            </a:r>
            <a:r>
              <a:rPr lang="en-US"/>
              <a:t>the project related data and documents. </a:t>
            </a:r>
            <a:endParaRPr/>
          </a:p>
          <a:p>
            <a:pPr marL="228600" lvl="0" indent="-228600" algn="l" rtl="0">
              <a:lnSpc>
                <a:spcPct val="90000"/>
              </a:lnSpc>
              <a:spcBef>
                <a:spcPts val="1000"/>
              </a:spcBef>
              <a:spcAft>
                <a:spcPts val="0"/>
              </a:spcAft>
              <a:buClr>
                <a:schemeClr val="dk1"/>
              </a:buClr>
              <a:buSzPts val="2800"/>
              <a:buChar char="•"/>
              <a:defRPr/>
            </a:pPr>
            <a:r>
              <a:rPr lang="en-US">
                <a:solidFill>
                  <a:srgbClr val="FF0000"/>
                </a:solidFill>
                <a:highlight>
                  <a:srgbClr val="FFFF00"/>
                </a:highlight>
              </a:rPr>
              <a:t>Handover </a:t>
            </a:r>
            <a:r>
              <a:rPr lang="en-US">
                <a:solidFill>
                  <a:srgbClr val="FF0000"/>
                </a:solidFill>
              </a:rPr>
              <a:t>the project’s </a:t>
            </a:r>
            <a:r>
              <a:rPr lang="en-US" b="1" u="sng">
                <a:solidFill>
                  <a:srgbClr val="FF0000"/>
                </a:solidFill>
              </a:rPr>
              <a:t>product</a:t>
            </a:r>
            <a:r>
              <a:rPr lang="en-US">
                <a:solidFill>
                  <a:srgbClr val="FF0000"/>
                </a:solidFill>
              </a:rPr>
              <a:t> to the customer</a:t>
            </a:r>
            <a:endParaRPr/>
          </a:p>
          <a:p>
            <a:pPr marL="268288" lvl="0" indent="0" algn="l" rtl="0">
              <a:lnSpc>
                <a:spcPct val="90000"/>
              </a:lnSpc>
              <a:spcBef>
                <a:spcPts val="1000"/>
              </a:spcBef>
              <a:spcAft>
                <a:spcPts val="0"/>
              </a:spcAft>
              <a:buClr>
                <a:schemeClr val="dk1"/>
              </a:buClr>
              <a:buSzPts val="2800"/>
              <a:buNone/>
              <a:defRPr/>
            </a:pPr>
            <a:r>
              <a:rPr lang="en-US" i="1">
                <a:solidFill>
                  <a:schemeClr val="tx1"/>
                </a:solidFill>
              </a:rPr>
              <a:t>(e.g. completed software, ________________ )</a:t>
            </a:r>
            <a:endParaRPr/>
          </a:p>
          <a:p>
            <a:pPr marL="228600" lvl="0" indent="-228600" algn="l" rtl="0">
              <a:lnSpc>
                <a:spcPct val="90000"/>
              </a:lnSpc>
              <a:spcBef>
                <a:spcPts val="1000"/>
              </a:spcBef>
              <a:spcAft>
                <a:spcPts val="0"/>
              </a:spcAft>
              <a:buClr>
                <a:schemeClr val="dk1"/>
              </a:buClr>
              <a:buSzPts val="2800"/>
              <a:buChar char="•"/>
              <a:defRPr/>
            </a:pPr>
            <a:r>
              <a:rPr lang="en-US">
                <a:solidFill>
                  <a:srgbClr val="FF0000"/>
                </a:solidFill>
              </a:rPr>
              <a:t>Conduct post project </a:t>
            </a:r>
            <a:r>
              <a:rPr lang="en-US">
                <a:solidFill>
                  <a:srgbClr val="FF0000"/>
                </a:solidFill>
              </a:rPr>
              <a:t>review </a:t>
            </a:r>
            <a:r>
              <a:rPr lang="en-US">
                <a:solidFill>
                  <a:srgbClr val="FF0000"/>
                </a:solidFill>
              </a:rPr>
              <a:t>(</a:t>
            </a:r>
            <a:r>
              <a:rPr lang="en-US">
                <a:solidFill>
                  <a:srgbClr val="FF0000"/>
                </a:solidFill>
                <a:highlight>
                  <a:srgbClr val="FFFF00"/>
                </a:highlight>
              </a:rPr>
              <a:t>self refection</a:t>
            </a:r>
            <a:r>
              <a:rPr lang="en-US">
                <a:solidFill>
                  <a:srgbClr val="FF0000"/>
                </a:solidFill>
              </a:rPr>
              <a:t>).</a:t>
            </a:r>
            <a:endParaRPr/>
          </a:p>
          <a:p>
            <a:pPr marL="228600" indent="-228600">
              <a:defRPr/>
            </a:pPr>
            <a:r>
              <a:rPr lang="en-US">
                <a:solidFill>
                  <a:srgbClr val="FF0000"/>
                </a:solidFill>
                <a:highlight>
                  <a:srgbClr val="FFFF00"/>
                </a:highlight>
              </a:rPr>
              <a:t>Redeploy(</a:t>
            </a:r>
            <a:r>
              <a:rPr lang="en-US" sz="2800" b="0" i="0" u="none" strike="noStrike" cap="none" spc="0">
                <a:solidFill>
                  <a:srgbClr val="FF0000"/>
                </a:solidFill>
                <a:highlight>
                  <a:srgbClr val="FFFF00"/>
                </a:highlight>
                <a:latin typeface="Calibri"/>
                <a:ea typeface="Calibri"/>
                <a:cs typeface="Calibri"/>
              </a:rPr>
              <a:t>重新调配</a:t>
            </a:r>
            <a:r>
              <a:rPr lang="en-US">
                <a:solidFill>
                  <a:srgbClr val="FF0000"/>
                </a:solidFill>
                <a:highlight>
                  <a:srgbClr val="FFFF00"/>
                </a:highlight>
              </a:rPr>
              <a:t>)</a:t>
            </a:r>
            <a:r>
              <a:rPr lang="en-US">
                <a:solidFill>
                  <a:srgbClr val="FF0000"/>
                </a:solidFill>
              </a:rPr>
              <a:t> project resources</a:t>
            </a:r>
            <a:endParaRPr>
              <a:solidFill>
                <a:srgbClr val="FF0000"/>
              </a:solidFill>
            </a:endParaRPr>
          </a:p>
          <a:p>
            <a:pPr marL="0" lvl="0" indent="0" algn="l" rtl="0">
              <a:lnSpc>
                <a:spcPct val="90000"/>
              </a:lnSpc>
              <a:spcBef>
                <a:spcPts val="1000"/>
              </a:spcBef>
              <a:spcAft>
                <a:spcPts val="0"/>
              </a:spcAft>
              <a:buClr>
                <a:schemeClr val="dk1"/>
              </a:buClr>
              <a:buSzPts val="2000"/>
              <a:buNone/>
              <a:defRPr/>
            </a:pPr>
            <a:endParaRPr sz="2000" i="1"/>
          </a:p>
        </p:txBody>
      </p:sp>
      <p:sp>
        <p:nvSpPr>
          <p:cNvPr id="840634849" name="Google Shape;328;p1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18</a:t>
            </a:fld>
            <a:endParaRPr/>
          </a:p>
        </p:txBody>
      </p:sp>
      <p:sp>
        <p:nvSpPr>
          <p:cNvPr id="1923380310" name="Google Shape;329;p17"/>
          <p:cNvSpPr txBox="1"/>
          <p:nvPr/>
        </p:nvSpPr>
        <p:spPr bwMode="auto">
          <a:xfrm>
            <a:off x="4114800" y="914400"/>
            <a:ext cx="3886200"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Project Life Cycle Processes</a:t>
            </a:r>
            <a:endParaRPr/>
          </a:p>
        </p:txBody>
      </p:sp>
      <p:cxnSp>
        <p:nvCxnSpPr>
          <p:cNvPr id="684839053" name="Google Shape;330;p17"/>
          <p:cNvCxnSpPr/>
          <p:nvPr/>
        </p:nvCxnSpPr>
        <p:spPr bwMode="auto">
          <a:xfrm rot="10800000">
            <a:off x="5545989" y="1295400"/>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1785545209" name="Google Shape;331;p17"/>
          <p:cNvPicPr/>
          <p:nvPr/>
        </p:nvPicPr>
        <p:blipFill rotWithShape="1">
          <a:blip r:embed="rId3">
            <a:alphaModFix/>
          </a:blip>
          <a:srcRect l="0" t="-751" r="0" b="35489"/>
          <a:stretch/>
        </p:blipFill>
        <p:spPr bwMode="auto">
          <a:xfrm>
            <a:off x="0" y="4875827"/>
            <a:ext cx="12192000" cy="2004291"/>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61875257"/>
                                        </p:tgtEl>
                                        <p:attrNameLst>
                                          <p:attrName>style.visibility</p:attrName>
                                        </p:attrNameLst>
                                      </p:cBhvr>
                                      <p:to>
                                        <p:strVal val="visible"/>
                                      </p:to>
                                    </p:set>
                                    <p:anim calcmode="lin" valueType="num">
                                      <p:cBhvr additive="base">
                                        <p:cTn id="7" dur="500" fill="hold"/>
                                        <p:tgtEl>
                                          <p:spTgt spid="1061875257"/>
                                        </p:tgtEl>
                                        <p:attrNameLst>
                                          <p:attrName>ppt_x</p:attrName>
                                        </p:attrNameLst>
                                      </p:cBhvr>
                                      <p:tavLst>
                                        <p:tav tm="0">
                                          <p:val>
                                            <p:strVal val="#ppt_x"/>
                                          </p:val>
                                        </p:tav>
                                        <p:tav tm="100000">
                                          <p:val>
                                            <p:strVal val="#ppt_x"/>
                                          </p:val>
                                        </p:tav>
                                      </p:tavLst>
                                    </p:anim>
                                    <p:anim calcmode="lin" valueType="num">
                                      <p:cBhvr additive="base">
                                        <p:cTn id="8" dur="500" fill="hold"/>
                                        <p:tgtEl>
                                          <p:spTgt spid="106187525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393483618">
                                            <p:txEl>
                                              <p:pRg st="0" end="0"/>
                                            </p:txEl>
                                          </p:spTgt>
                                        </p:tgtEl>
                                        <p:attrNameLst>
                                          <p:attrName>style.visibility</p:attrName>
                                        </p:attrNameLst>
                                      </p:cBhvr>
                                      <p:to>
                                        <p:strVal val="visible"/>
                                      </p:to>
                                    </p:set>
                                    <p:animEffect transition="in" filter="wipe(left)">
                                      <p:cBhvr>
                                        <p:cTn id="13" dur="500"/>
                                        <p:tgtEl>
                                          <p:spTgt spid="1393483618">
                                            <p:txEl>
                                              <p:pRg st="0" end="0"/>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1393483618">
                                            <p:txEl>
                                              <p:pRg st="1" end="1"/>
                                            </p:txEl>
                                          </p:spTgt>
                                        </p:tgtEl>
                                        <p:attrNameLst>
                                          <p:attrName>style.visibility</p:attrName>
                                        </p:attrNameLst>
                                      </p:cBhvr>
                                      <p:to>
                                        <p:strVal val="visible"/>
                                      </p:to>
                                    </p:set>
                                    <p:animEffect transition="in" filter="wipe(left)">
                                      <p:cBhvr>
                                        <p:cTn id="16" dur="500"/>
                                        <p:tgtEl>
                                          <p:spTgt spid="1393483618">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393483618">
                                            <p:txEl>
                                              <p:pRg st="2" end="2"/>
                                            </p:txEl>
                                          </p:spTgt>
                                        </p:tgtEl>
                                        <p:attrNameLst>
                                          <p:attrName>style.visibility</p:attrName>
                                        </p:attrNameLst>
                                      </p:cBhvr>
                                      <p:to>
                                        <p:strVal val="visible"/>
                                      </p:to>
                                    </p:set>
                                    <p:animEffect transition="in" filter="wipe(left)">
                                      <p:cBhvr>
                                        <p:cTn id="21" dur="500"/>
                                        <p:tgtEl>
                                          <p:spTgt spid="1393483618">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393483618">
                                            <p:txEl>
                                              <p:pRg st="3" end="3"/>
                                            </p:txEl>
                                          </p:spTgt>
                                        </p:tgtEl>
                                        <p:attrNameLst>
                                          <p:attrName>style.visibility</p:attrName>
                                        </p:attrNameLst>
                                      </p:cBhvr>
                                      <p:to>
                                        <p:strVal val="visible"/>
                                      </p:to>
                                    </p:set>
                                    <p:animEffect transition="in" filter="wipe(left)">
                                      <p:cBhvr>
                                        <p:cTn id="26" dur="500"/>
                                        <p:tgtEl>
                                          <p:spTgt spid="1393483618">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93483618">
                                            <p:txEl>
                                              <p:pRg st="4" end="4"/>
                                            </p:txEl>
                                          </p:spTgt>
                                        </p:tgtEl>
                                        <p:attrNameLst>
                                          <p:attrName>style.visibility</p:attrName>
                                        </p:attrNameLst>
                                      </p:cBhvr>
                                      <p:to>
                                        <p:strVal val="visible"/>
                                      </p:to>
                                    </p:set>
                                    <p:anim calcmode="lin" valueType="num">
                                      <p:cBhvr additive="base">
                                        <p:cTn id="31" dur="500" fill="hold"/>
                                        <p:tgtEl>
                                          <p:spTgt spid="139348361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9348361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1875257" grpId="0"/>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2654485" name="Google Shape;264;p12"/>
          <p:cNvSpPr txBox="1">
            <a:spLocks noGrp="1"/>
          </p:cNvSpPr>
          <p:nvPr>
            <p:ph type="title" idx="4294967295"/>
          </p:nvPr>
        </p:nvSpPr>
        <p:spPr bwMode="auto">
          <a:xfrm>
            <a:off x="838200" y="228600"/>
            <a:ext cx="10007600" cy="64659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Calibri"/>
              <a:buNone/>
              <a:defRPr/>
            </a:pPr>
            <a:r>
              <a:rPr lang="en-US" sz="3600" b="1"/>
              <a:t>Project Life Cycle </a:t>
            </a:r>
            <a:r>
              <a:rPr lang="en-US" sz="3600" b="1" u="sng">
                <a:solidFill>
                  <a:srgbClr val="0000FF"/>
                </a:solidFill>
              </a:rPr>
              <a:t>Processes</a:t>
            </a:r>
            <a:endParaRPr u="sng">
              <a:solidFill>
                <a:srgbClr val="0000FF"/>
              </a:solidFill>
            </a:endParaRPr>
          </a:p>
        </p:txBody>
      </p:sp>
      <p:pic>
        <p:nvPicPr>
          <p:cNvPr id="504584585" name="Google Shape;265;p12"/>
          <p:cNvPicPr>
            <a:picLocks noGrp="1"/>
          </p:cNvPicPr>
          <p:nvPr>
            <p:ph type="body" idx="4294967295"/>
          </p:nvPr>
        </p:nvPicPr>
        <p:blipFill rotWithShape="1">
          <a:blip r:embed="rId3">
            <a:alphaModFix/>
          </a:blip>
          <a:stretch/>
        </p:blipFill>
        <p:spPr bwMode="auto">
          <a:xfrm>
            <a:off x="2541130" y="2612712"/>
            <a:ext cx="6213475" cy="3505199"/>
          </a:xfrm>
          <a:prstGeom prst="rect">
            <a:avLst/>
          </a:prstGeom>
          <a:noFill/>
          <a:ln>
            <a:noFill/>
          </a:ln>
        </p:spPr>
      </p:pic>
      <p:sp>
        <p:nvSpPr>
          <p:cNvPr id="1402915663" name="Google Shape;266;p12"/>
          <p:cNvSpPr/>
          <p:nvPr/>
        </p:nvSpPr>
        <p:spPr bwMode="auto">
          <a:xfrm>
            <a:off x="3462385" y="3054831"/>
            <a:ext cx="5029200" cy="2387600"/>
          </a:xfrm>
          <a:custGeom>
            <a:avLst/>
            <a:gdLst/>
            <a:ahLst/>
            <a:cxnLst/>
            <a:rect l="l" t="t" r="r" b="b"/>
            <a:pathLst>
              <a:path w="3840" h="1552" fill="norm" stroke="1" extrusionOk="0">
                <a:moveTo>
                  <a:pt x="0" y="1504"/>
                </a:moveTo>
                <a:cubicBezTo>
                  <a:pt x="92" y="1292"/>
                  <a:pt x="184" y="1080"/>
                  <a:pt x="336" y="928"/>
                </a:cubicBezTo>
                <a:cubicBezTo>
                  <a:pt x="488" y="776"/>
                  <a:pt x="656" y="736"/>
                  <a:pt x="912" y="592"/>
                </a:cubicBezTo>
                <a:cubicBezTo>
                  <a:pt x="1168" y="448"/>
                  <a:pt x="1576" y="128"/>
                  <a:pt x="1872" y="64"/>
                </a:cubicBezTo>
                <a:cubicBezTo>
                  <a:pt x="2168" y="0"/>
                  <a:pt x="2408" y="72"/>
                  <a:pt x="2688" y="208"/>
                </a:cubicBezTo>
                <a:cubicBezTo>
                  <a:pt x="2968" y="344"/>
                  <a:pt x="3360" y="656"/>
                  <a:pt x="3552" y="880"/>
                </a:cubicBezTo>
                <a:cubicBezTo>
                  <a:pt x="3744" y="1104"/>
                  <a:pt x="3792" y="1440"/>
                  <a:pt x="3840" y="1552"/>
                </a:cubicBezTo>
              </a:path>
            </a:pathLst>
          </a:custGeom>
          <a:no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a:solidFill>
                <a:schemeClr val="dk1"/>
              </a:solidFill>
              <a:latin typeface="Calibri"/>
              <a:ea typeface="Calibri"/>
              <a:cs typeface="Calibri"/>
            </a:endParaRPr>
          </a:p>
        </p:txBody>
      </p:sp>
      <p:sp>
        <p:nvSpPr>
          <p:cNvPr id="2009631529" name="Google Shape;268;p12"/>
          <p:cNvSpPr txBox="1"/>
          <p:nvPr/>
        </p:nvSpPr>
        <p:spPr bwMode="auto">
          <a:xfrm>
            <a:off x="2803385" y="5717862"/>
            <a:ext cx="5181600" cy="4000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000"/>
              <a:buFont typeface="Times New Roman"/>
              <a:buNone/>
              <a:defRPr/>
            </a:pPr>
            <a:r>
              <a:rPr lang="en-US" sz="2000">
                <a:solidFill>
                  <a:schemeClr val="dk1"/>
                </a:solidFill>
                <a:latin typeface="Times New Roman"/>
                <a:ea typeface="Times New Roman"/>
                <a:cs typeface="Times New Roman"/>
              </a:rPr>
              <a:t>Project Management Process Groups</a:t>
            </a:r>
            <a:endParaRPr/>
          </a:p>
        </p:txBody>
      </p:sp>
      <p:sp>
        <p:nvSpPr>
          <p:cNvPr id="953876934" name="Google Shape;269;p12"/>
          <p:cNvSpPr/>
          <p:nvPr/>
        </p:nvSpPr>
        <p:spPr bwMode="auto">
          <a:xfrm>
            <a:off x="838200" y="4460952"/>
            <a:ext cx="2148879" cy="762000"/>
          </a:xfrm>
          <a:custGeom>
            <a:avLst/>
            <a:gdLst/>
            <a:ahLst/>
            <a:cxnLst/>
            <a:rect l="l" t="t" r="r" b="b"/>
            <a:pathLst>
              <a:path w="120000" h="120000" fill="norm" stroke="1" extrusionOk="0">
                <a:moveTo>
                  <a:pt x="0" y="0"/>
                </a:moveTo>
                <a:lnTo>
                  <a:pt x="120000" y="0"/>
                </a:lnTo>
                <a:lnTo>
                  <a:pt x="120000" y="120000"/>
                </a:lnTo>
                <a:lnTo>
                  <a:pt x="0" y="120000"/>
                </a:lnTo>
                <a:close/>
              </a:path>
              <a:path w="120000" h="120000" fill="none" stroke="1" extrusionOk="0">
                <a:moveTo>
                  <a:pt x="121076" y="100039"/>
                </a:moveTo>
                <a:lnTo>
                  <a:pt x="162616" y="37523"/>
                </a:lnTo>
              </a:path>
            </a:pathLst>
          </a:custGeom>
          <a:solidFill>
            <a:schemeClr val="accent6">
              <a:lumMod val="40000"/>
              <a:lumOff val="60000"/>
            </a:schemeClr>
          </a:solidFill>
          <a:ln w="2857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R="0" lvl="0" algn="l" rtl="0">
              <a:spcBef>
                <a:spcPts val="0"/>
              </a:spcBef>
              <a:spcAft>
                <a:spcPts val="0"/>
              </a:spcAft>
              <a:buClr>
                <a:schemeClr val="dk1"/>
              </a:buClr>
              <a:buSzPts val="1400"/>
              <a:defRPr/>
            </a:pPr>
            <a:r>
              <a:rPr lang="en-US" sz="1600" b="1">
                <a:solidFill>
                  <a:schemeClr val="dk1"/>
                </a:solidFill>
                <a:latin typeface="Calibri"/>
                <a:ea typeface="Calibri"/>
                <a:cs typeface="Calibri"/>
              </a:rPr>
              <a:t>1. Identify a need </a:t>
            </a:r>
            <a:endParaRPr sz="1600" b="1"/>
          </a:p>
          <a:p>
            <a:pPr marL="179388" marR="0" lvl="0" indent="-179388" algn="l" rtl="0">
              <a:spcBef>
                <a:spcPts val="0"/>
              </a:spcBef>
              <a:spcAft>
                <a:spcPts val="0"/>
              </a:spcAft>
              <a:buClr>
                <a:schemeClr val="dk1"/>
              </a:buClr>
              <a:buSzPts val="1400"/>
              <a:defRPr/>
            </a:pPr>
            <a:r>
              <a:rPr lang="en-US" sz="1600" b="1">
                <a:solidFill>
                  <a:schemeClr val="dk1"/>
                </a:solidFill>
                <a:latin typeface="Calibri"/>
                <a:ea typeface="Calibri"/>
                <a:cs typeface="Calibri"/>
              </a:rPr>
              <a:t>2. Develop proposed solution</a:t>
            </a:r>
            <a:endParaRPr sz="1600" b="1"/>
          </a:p>
        </p:txBody>
      </p:sp>
      <p:sp>
        <p:nvSpPr>
          <p:cNvPr id="1277791262" name="Google Shape;270;p12"/>
          <p:cNvSpPr/>
          <p:nvPr/>
        </p:nvSpPr>
        <p:spPr bwMode="auto">
          <a:xfrm>
            <a:off x="2987079" y="2212663"/>
            <a:ext cx="1568906" cy="574675"/>
          </a:xfrm>
          <a:custGeom>
            <a:avLst/>
            <a:gdLst/>
            <a:ahLst/>
            <a:cxnLst/>
            <a:rect l="l" t="t" r="r" b="b"/>
            <a:pathLst>
              <a:path w="120000" h="120000" fill="norm" stroke="1" extrusionOk="0">
                <a:moveTo>
                  <a:pt x="0" y="0"/>
                </a:moveTo>
                <a:lnTo>
                  <a:pt x="120000" y="0"/>
                </a:lnTo>
                <a:lnTo>
                  <a:pt x="120000" y="120000"/>
                </a:lnTo>
                <a:lnTo>
                  <a:pt x="0" y="120000"/>
                </a:lnTo>
                <a:close/>
              </a:path>
              <a:path w="120000" h="120000" fill="none" stroke="1" extrusionOk="0">
                <a:moveTo>
                  <a:pt x="119845" y="38383"/>
                </a:moveTo>
                <a:lnTo>
                  <a:pt x="243334" y="232572"/>
                </a:lnTo>
              </a:path>
            </a:pathLst>
          </a:custGeom>
          <a:solidFill>
            <a:schemeClr val="accent6">
              <a:lumMod val="40000"/>
              <a:lumOff val="60000"/>
            </a:schemeClr>
          </a:solidFill>
          <a:ln w="2857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179388" marR="0" lvl="0" indent="-179388" algn="l" rtl="0">
              <a:spcBef>
                <a:spcPts val="0"/>
              </a:spcBef>
              <a:spcAft>
                <a:spcPts val="0"/>
              </a:spcAft>
              <a:buClr>
                <a:schemeClr val="dk1"/>
              </a:buClr>
              <a:buSzPts val="1400"/>
              <a:defRPr/>
            </a:pPr>
            <a:r>
              <a:rPr lang="en-US" sz="1600" b="1">
                <a:solidFill>
                  <a:schemeClr val="dk1"/>
                </a:solidFill>
                <a:latin typeface="Calibri"/>
                <a:ea typeface="Calibri"/>
                <a:cs typeface="Calibri"/>
              </a:rPr>
              <a:t>3. Perform the project</a:t>
            </a:r>
            <a:endParaRPr sz="1600" b="1"/>
          </a:p>
        </p:txBody>
      </p:sp>
      <p:cxnSp>
        <p:nvCxnSpPr>
          <p:cNvPr id="1180255715" name="Google Shape;271;p12"/>
          <p:cNvCxnSpPr/>
          <p:nvPr/>
        </p:nvCxnSpPr>
        <p:spPr bwMode="auto">
          <a:xfrm>
            <a:off x="3870185" y="2787338"/>
            <a:ext cx="838200" cy="1115100"/>
          </a:xfrm>
          <a:prstGeom prst="straightConnector1">
            <a:avLst/>
          </a:prstGeom>
          <a:noFill/>
          <a:ln w="28575" cap="flat" cmpd="sng">
            <a:solidFill>
              <a:schemeClr val="dk1"/>
            </a:solidFill>
            <a:prstDash val="solid"/>
            <a:round/>
            <a:headEnd type="none" w="med" len="med"/>
            <a:tailEnd type="none" w="med" len="med"/>
          </a:ln>
        </p:spPr>
      </p:cxnSp>
      <p:sp>
        <p:nvSpPr>
          <p:cNvPr id="1959565865" name="Google Shape;272;p12"/>
          <p:cNvSpPr/>
          <p:nvPr/>
        </p:nvSpPr>
        <p:spPr bwMode="auto">
          <a:xfrm>
            <a:off x="8476654" y="2710438"/>
            <a:ext cx="1447800" cy="546100"/>
          </a:xfrm>
          <a:custGeom>
            <a:avLst/>
            <a:gdLst/>
            <a:ahLst/>
            <a:cxnLst/>
            <a:rect l="l" t="t" r="r" b="b"/>
            <a:pathLst>
              <a:path w="120000" h="120000" fill="norm" stroke="1" extrusionOk="0">
                <a:moveTo>
                  <a:pt x="0" y="0"/>
                </a:moveTo>
                <a:lnTo>
                  <a:pt x="120000" y="0"/>
                </a:lnTo>
                <a:lnTo>
                  <a:pt x="120000" y="120000"/>
                </a:lnTo>
                <a:lnTo>
                  <a:pt x="0" y="120000"/>
                </a:lnTo>
                <a:close/>
              </a:path>
              <a:path w="120000" h="120000" fill="none" stroke="1" extrusionOk="0">
                <a:moveTo>
                  <a:pt x="54616" y="121672"/>
                </a:moveTo>
                <a:lnTo>
                  <a:pt x="-2956" y="337291"/>
                </a:lnTo>
              </a:path>
            </a:pathLst>
          </a:custGeom>
          <a:solidFill>
            <a:schemeClr val="accent6">
              <a:lumMod val="40000"/>
              <a:lumOff val="60000"/>
            </a:schemeClr>
          </a:solidFill>
          <a:ln w="2857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179388" marR="0" lvl="0" indent="-179388" algn="l" rtl="0">
              <a:spcBef>
                <a:spcPts val="0"/>
              </a:spcBef>
              <a:spcAft>
                <a:spcPts val="0"/>
              </a:spcAft>
              <a:buClr>
                <a:schemeClr val="dk1"/>
              </a:buClr>
              <a:buSzPts val="1400"/>
              <a:defRPr/>
            </a:pPr>
            <a:r>
              <a:rPr lang="en-US" sz="1600" b="1">
                <a:solidFill>
                  <a:schemeClr val="dk1"/>
                </a:solidFill>
                <a:latin typeface="Calibri"/>
                <a:ea typeface="Calibri"/>
                <a:cs typeface="Calibri"/>
              </a:rPr>
              <a:t>4. Terminate the project</a:t>
            </a:r>
            <a:endParaRPr sz="1600" b="1"/>
          </a:p>
        </p:txBody>
      </p:sp>
      <p:sp>
        <p:nvSpPr>
          <p:cNvPr id="1765283006" name="Google Shape;273;p1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19</a:t>
            </a:fld>
            <a:endParaRPr/>
          </a:p>
        </p:txBody>
      </p:sp>
      <p:sp>
        <p:nvSpPr>
          <p:cNvPr id="437721023" name="Google Shape;274;p12"/>
          <p:cNvSpPr txBox="1"/>
          <p:nvPr/>
        </p:nvSpPr>
        <p:spPr bwMode="auto">
          <a:xfrm>
            <a:off x="8610600" y="413952"/>
            <a:ext cx="3886199" cy="1528017"/>
          </a:xfrm>
          <a:prstGeom prst="rect">
            <a:avLst/>
          </a:prstGeom>
          <a:noFill/>
          <a:ln>
            <a:noFill/>
          </a:ln>
        </p:spPr>
        <p:txBody>
          <a:bodyPr spcFirstLastPara="1" wrap="square" lIns="91425" tIns="45700" rIns="91425" bIns="45700" anchor="t" anchorCtr="0">
            <a:noAutofit/>
          </a:bodyPr>
          <a:lstStyle/>
          <a:p>
            <a:pPr marL="457200" marR="0" lvl="0" indent="-457200" algn="l" rtl="0">
              <a:lnSpc>
                <a:spcPct val="90000"/>
              </a:lnSpc>
              <a:spcBef>
                <a:spcPts val="0"/>
              </a:spcBef>
              <a:spcAft>
                <a:spcPts val="0"/>
              </a:spcAft>
              <a:buClr>
                <a:schemeClr val="dk1"/>
              </a:buClr>
              <a:buSzPts val="3200"/>
              <a:buFont typeface="Arial"/>
              <a:buAutoNum type="alphaLcParenBoth"/>
              <a:defRPr/>
            </a:pPr>
            <a:r>
              <a:rPr lang="en-US" sz="1600">
                <a:solidFill>
                  <a:srgbClr val="0000FF"/>
                </a:solidFill>
                <a:latin typeface="Calibri"/>
                <a:ea typeface="Calibri"/>
                <a:cs typeface="Calibri"/>
              </a:rPr>
              <a:t>Initiating Processes</a:t>
            </a:r>
            <a:endParaRPr sz="1600">
              <a:solidFill>
                <a:srgbClr val="0000FF"/>
              </a:solidFill>
            </a:endParaRPr>
          </a:p>
          <a:p>
            <a:pPr marL="514350" marR="0" lvl="0" indent="-514350" algn="l" rtl="0">
              <a:lnSpc>
                <a:spcPct val="90000"/>
              </a:lnSpc>
              <a:spcBef>
                <a:spcPts val="1000"/>
              </a:spcBef>
              <a:spcAft>
                <a:spcPts val="0"/>
              </a:spcAft>
              <a:buClr>
                <a:schemeClr val="dk1"/>
              </a:buClr>
              <a:buSzPts val="3200"/>
              <a:buFont typeface="Arial"/>
              <a:buAutoNum type="alphaLcParenBoth"/>
              <a:defRPr/>
            </a:pPr>
            <a:r>
              <a:rPr lang="en-US" sz="1600">
                <a:solidFill>
                  <a:srgbClr val="0000FF"/>
                </a:solidFill>
                <a:latin typeface="Calibri"/>
                <a:ea typeface="Calibri"/>
                <a:cs typeface="Calibri"/>
              </a:rPr>
              <a:t>Planning Processes</a:t>
            </a:r>
            <a:endParaRPr sz="1600">
              <a:solidFill>
                <a:srgbClr val="0000FF"/>
              </a:solidFill>
            </a:endParaRPr>
          </a:p>
          <a:p>
            <a:pPr marL="514350" marR="0" lvl="0" indent="-514350" algn="l" rtl="0">
              <a:lnSpc>
                <a:spcPct val="90000"/>
              </a:lnSpc>
              <a:spcBef>
                <a:spcPts val="1000"/>
              </a:spcBef>
              <a:spcAft>
                <a:spcPts val="0"/>
              </a:spcAft>
              <a:buClr>
                <a:schemeClr val="dk1"/>
              </a:buClr>
              <a:buSzPts val="3200"/>
              <a:buFont typeface="Arial"/>
              <a:buAutoNum type="alphaLcParenBoth"/>
              <a:defRPr/>
            </a:pPr>
            <a:r>
              <a:rPr lang="en-US" sz="1600">
                <a:solidFill>
                  <a:srgbClr val="0000FF"/>
                </a:solidFill>
                <a:latin typeface="Calibri"/>
                <a:ea typeface="Calibri"/>
                <a:cs typeface="Calibri"/>
              </a:rPr>
              <a:t>Executing Processes</a:t>
            </a:r>
            <a:endParaRPr sz="1600">
              <a:solidFill>
                <a:srgbClr val="0000FF"/>
              </a:solidFill>
            </a:endParaRPr>
          </a:p>
          <a:p>
            <a:pPr marL="514350" marR="0" lvl="0" indent="-514350" algn="l" rtl="0">
              <a:lnSpc>
                <a:spcPct val="90000"/>
              </a:lnSpc>
              <a:spcBef>
                <a:spcPts val="1000"/>
              </a:spcBef>
              <a:spcAft>
                <a:spcPts val="0"/>
              </a:spcAft>
              <a:buClr>
                <a:schemeClr val="dk1"/>
              </a:buClr>
              <a:buSzPts val="3200"/>
              <a:buFont typeface="Arial"/>
              <a:buAutoNum type="alphaLcParenBoth"/>
              <a:defRPr/>
            </a:pPr>
            <a:r>
              <a:rPr lang="en-US" sz="1600">
                <a:solidFill>
                  <a:srgbClr val="0000FF"/>
                </a:solidFill>
                <a:latin typeface="Calibri"/>
                <a:ea typeface="Calibri"/>
                <a:cs typeface="Calibri"/>
              </a:rPr>
              <a:t>Monitoring &amp; Controlling Processes</a:t>
            </a:r>
            <a:endParaRPr sz="1600">
              <a:solidFill>
                <a:srgbClr val="0000FF"/>
              </a:solidFill>
            </a:endParaRPr>
          </a:p>
          <a:p>
            <a:pPr marL="514350" marR="0" lvl="0" indent="-514350" algn="l" rtl="0">
              <a:lnSpc>
                <a:spcPct val="90000"/>
              </a:lnSpc>
              <a:spcBef>
                <a:spcPts val="1000"/>
              </a:spcBef>
              <a:spcAft>
                <a:spcPts val="0"/>
              </a:spcAft>
              <a:buClr>
                <a:schemeClr val="dk1"/>
              </a:buClr>
              <a:buSzPts val="3200"/>
              <a:buFont typeface="Arial"/>
              <a:buAutoNum type="alphaLcParenBoth"/>
              <a:defRPr/>
            </a:pPr>
            <a:r>
              <a:rPr lang="en-US" sz="1600">
                <a:solidFill>
                  <a:srgbClr val="0000FF"/>
                </a:solidFill>
                <a:latin typeface="Calibri"/>
                <a:ea typeface="Calibri"/>
                <a:cs typeface="Calibri"/>
              </a:rPr>
              <a:t>Closing Processes</a:t>
            </a:r>
            <a:endParaRPr sz="1600">
              <a:solidFill>
                <a:srgbClr val="0000FF"/>
              </a:solidFill>
              <a:latin typeface="Calibri"/>
              <a:ea typeface="Calibri"/>
              <a:cs typeface="Calibri"/>
            </a:endParaRPr>
          </a:p>
        </p:txBody>
      </p:sp>
      <p:sp>
        <p:nvSpPr>
          <p:cNvPr id="1338722048" name="Google Shape;275;p12"/>
          <p:cNvSpPr txBox="1"/>
          <p:nvPr/>
        </p:nvSpPr>
        <p:spPr bwMode="auto">
          <a:xfrm>
            <a:off x="4000500" y="741445"/>
            <a:ext cx="3886200"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1.2 Project Life Cycle</a:t>
            </a:r>
            <a:endParaRPr/>
          </a:p>
        </p:txBody>
      </p:sp>
      <p:sp>
        <p:nvSpPr>
          <p:cNvPr id="62833741" name="TextBox 1"/>
          <p:cNvSpPr txBox="1"/>
          <p:nvPr/>
        </p:nvSpPr>
        <p:spPr bwMode="auto">
          <a:xfrm>
            <a:off x="5672381" y="4293028"/>
            <a:ext cx="1198536" cy="584775"/>
          </a:xfrm>
          <a:prstGeom prst="rect">
            <a:avLst/>
          </a:prstGeom>
          <a:noFill/>
        </p:spPr>
        <p:txBody>
          <a:bodyPr wrap="square" rtlCol="0">
            <a:spAutoFit/>
          </a:bodyPr>
          <a:lstStyle/>
          <a:p>
            <a:pPr>
              <a:defRPr/>
            </a:pPr>
            <a:r>
              <a:rPr lang="en-US" sz="1600"/>
              <a:t>Monitoring &amp;</a:t>
            </a:r>
            <a:endParaRPr lang="en-GB" sz="1600"/>
          </a:p>
        </p:txBody>
      </p:sp>
      <p:cxnSp>
        <p:nvCxnSpPr>
          <p:cNvPr id="167546805" name="Google Shape;271;p12"/>
          <p:cNvCxnSpPr/>
          <p:nvPr/>
        </p:nvCxnSpPr>
        <p:spPr bwMode="auto">
          <a:xfrm>
            <a:off x="4555985" y="2771920"/>
            <a:ext cx="1382851" cy="1515149"/>
          </a:xfrm>
          <a:prstGeom prst="straightConnector1">
            <a:avLst/>
          </a:prstGeom>
          <a:noFill/>
          <a:ln w="28575" cap="flat" cmpd="sng">
            <a:solidFill>
              <a:schemeClr val="dk1"/>
            </a:solidFill>
            <a:prstDash val="solid"/>
            <a:round/>
            <a:headEnd type="none" w="med" len="med"/>
            <a:tailEnd type="none" w="med" len="med"/>
          </a:ln>
        </p:spPr>
      </p:cxnSp>
      <p:sp>
        <p:nvSpPr>
          <p:cNvPr id="1270669068" name="Oval 3"/>
          <p:cNvSpPr/>
          <p:nvPr/>
        </p:nvSpPr>
        <p:spPr bwMode="auto">
          <a:xfrm>
            <a:off x="3462385" y="4246831"/>
            <a:ext cx="922216" cy="520889"/>
          </a:xfrm>
          <a:prstGeom prst="ellipse">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242035473" name="Oval 5"/>
          <p:cNvSpPr/>
          <p:nvPr/>
        </p:nvSpPr>
        <p:spPr bwMode="auto">
          <a:xfrm>
            <a:off x="4407265" y="3814190"/>
            <a:ext cx="922216" cy="520889"/>
          </a:xfrm>
          <a:prstGeom prst="ellipse">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268601824" name="Oval 6"/>
          <p:cNvSpPr/>
          <p:nvPr/>
        </p:nvSpPr>
        <p:spPr bwMode="auto">
          <a:xfrm>
            <a:off x="5937875" y="3132248"/>
            <a:ext cx="922216" cy="520889"/>
          </a:xfrm>
          <a:prstGeom prst="ellipse">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77853366" name="Oval 7"/>
          <p:cNvSpPr/>
          <p:nvPr/>
        </p:nvSpPr>
        <p:spPr bwMode="auto">
          <a:xfrm>
            <a:off x="7502791" y="3940063"/>
            <a:ext cx="922216" cy="520889"/>
          </a:xfrm>
          <a:prstGeom prst="ellipse">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589194609" name="Oval 8"/>
          <p:cNvSpPr/>
          <p:nvPr/>
        </p:nvSpPr>
        <p:spPr bwMode="auto">
          <a:xfrm>
            <a:off x="5695043" y="4215689"/>
            <a:ext cx="1294616" cy="936662"/>
          </a:xfrm>
          <a:prstGeom prst="ellipse">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41402072" name="TextBox 4"/>
          <p:cNvSpPr txBox="1"/>
          <p:nvPr/>
        </p:nvSpPr>
        <p:spPr bwMode="auto">
          <a:xfrm>
            <a:off x="419928" y="301953"/>
            <a:ext cx="1852544" cy="1077218"/>
          </a:xfrm>
          <a:prstGeom prst="rect">
            <a:avLst/>
          </a:prstGeom>
          <a:noFill/>
        </p:spPr>
        <p:txBody>
          <a:bodyPr wrap="square" rtlCol="0">
            <a:spAutoFit/>
          </a:bodyPr>
          <a:lstStyle/>
          <a:p>
            <a:pPr>
              <a:defRPr/>
            </a:pPr>
            <a:r>
              <a:rPr lang="en-MY" sz="3200" b="1">
                <a:solidFill>
                  <a:srgbClr val="FF00FF"/>
                </a:solidFill>
              </a:rPr>
              <a:t>Quick</a:t>
            </a:r>
            <a:endParaRPr/>
          </a:p>
          <a:p>
            <a:pPr>
              <a:defRPr/>
            </a:pPr>
            <a:r>
              <a:rPr lang="en-MY" sz="3200" b="1">
                <a:solidFill>
                  <a:srgbClr val="FF00FF"/>
                </a:solidFill>
              </a:rPr>
              <a:t>Review</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41402072"/>
                                        </p:tgtEl>
                                        <p:attrNameLst>
                                          <p:attrName>style.visibility</p:attrName>
                                        </p:attrNameLst>
                                      </p:cBhvr>
                                      <p:to>
                                        <p:strVal val="visible"/>
                                      </p:to>
                                    </p:set>
                                    <p:anim calcmode="lin" valueType="num">
                                      <p:cBhvr additive="base">
                                        <p:cTn id="7" dur="500" fill="hold"/>
                                        <p:tgtEl>
                                          <p:spTgt spid="41402072"/>
                                        </p:tgtEl>
                                        <p:attrNameLst>
                                          <p:attrName>ppt_x</p:attrName>
                                        </p:attrNameLst>
                                      </p:cBhvr>
                                      <p:tavLst>
                                        <p:tav tm="0">
                                          <p:val>
                                            <p:strVal val="#ppt_x"/>
                                          </p:val>
                                        </p:tav>
                                        <p:tav tm="100000">
                                          <p:val>
                                            <p:strVal val="#ppt_x"/>
                                          </p:val>
                                        </p:tav>
                                      </p:tavLst>
                                    </p:anim>
                                    <p:anim calcmode="lin" valueType="num">
                                      <p:cBhvr additive="base">
                                        <p:cTn id="8" dur="500" fill="hold"/>
                                        <p:tgtEl>
                                          <p:spTgt spid="4140207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02072" grpId="0"/>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36616084" name="Google Shape;347;p19"/>
          <p:cNvSpPr txBox="1">
            <a:spLocks noGrp="1"/>
          </p:cNvSpPr>
          <p:nvPr>
            <p:ph type="ctrTitle"/>
          </p:nvPr>
        </p:nvSpPr>
        <p:spPr bwMode="auto">
          <a:xfrm>
            <a:off x="5791200" y="1066800"/>
            <a:ext cx="6248400" cy="1163637"/>
          </a:xfrm>
          <a:prstGeom prst="rect">
            <a:avLst/>
          </a:prstGeom>
          <a:noFill/>
          <a:ln>
            <a:noFill/>
          </a:ln>
        </p:spPr>
        <p:txBody>
          <a:bodyPr spcFirstLastPara="1" wrap="square" lIns="91425" tIns="45700" rIns="91425" bIns="45700" anchor="b" anchorCtr="0">
            <a:normAutofit/>
          </a:bodyPr>
          <a:lstStyle/>
          <a:p>
            <a:pPr marL="719138" lvl="0" indent="-719138" algn="l" rtl="0">
              <a:lnSpc>
                <a:spcPct val="90000"/>
              </a:lnSpc>
              <a:spcBef>
                <a:spcPts val="0"/>
              </a:spcBef>
              <a:spcAft>
                <a:spcPts val="0"/>
              </a:spcAft>
              <a:buClr>
                <a:schemeClr val="dk1"/>
              </a:buClr>
              <a:buSzPts val="3800"/>
              <a:buFont typeface="Calibri"/>
              <a:buNone/>
              <a:defRPr/>
            </a:pPr>
            <a:r>
              <a:rPr lang="en-US" sz="3800" b="1"/>
              <a:t>1.3 Project Appraisal</a:t>
            </a:r>
            <a:endParaRPr strike="sngStrike"/>
          </a:p>
        </p:txBody>
      </p:sp>
      <p:sp>
        <p:nvSpPr>
          <p:cNvPr id="1462614400" name="Google Shape;348;p19"/>
          <p:cNvSpPr txBox="1">
            <a:spLocks noGrp="1"/>
          </p:cNvSpPr>
          <p:nvPr>
            <p:ph type="subTitle" idx="1"/>
          </p:nvPr>
        </p:nvSpPr>
        <p:spPr bwMode="auto">
          <a:xfrm>
            <a:off x="6011075" y="2667000"/>
            <a:ext cx="5334000" cy="3821114"/>
          </a:xfrm>
          <a:prstGeom prst="rect">
            <a:avLst/>
          </a:prstGeom>
          <a:noFill/>
          <a:ln>
            <a:noFill/>
          </a:ln>
        </p:spPr>
        <p:txBody>
          <a:bodyPr spcFirstLastPara="1" wrap="square" lIns="91425" tIns="45700" rIns="91425" bIns="45700" anchor="t" anchorCtr="0">
            <a:noAutofit/>
          </a:bodyPr>
          <a:lstStyle/>
          <a:p>
            <a:pPr marL="355600" lvl="0" indent="-355600" algn="l">
              <a:spcBef>
                <a:spcPts val="0"/>
              </a:spcBef>
              <a:buFont typeface="Arial"/>
              <a:buChar char="•"/>
              <a:defRPr/>
            </a:pPr>
            <a:r>
              <a:rPr lang="en-US" sz="2800"/>
              <a:t>Cash Flow Forecasting</a:t>
            </a:r>
            <a:endParaRPr sz="2800"/>
          </a:p>
          <a:p>
            <a:pPr marL="355600" lvl="0" indent="-355600" algn="l" rtl="0">
              <a:lnSpc>
                <a:spcPct val="90000"/>
              </a:lnSpc>
              <a:spcBef>
                <a:spcPts val="1000"/>
              </a:spcBef>
              <a:spcAft>
                <a:spcPts val="0"/>
              </a:spcAft>
              <a:buClr>
                <a:schemeClr val="dk1"/>
              </a:buClr>
              <a:buSzPts val="2400"/>
              <a:buFont typeface="Arial"/>
              <a:buChar char="•"/>
              <a:defRPr/>
            </a:pPr>
            <a:r>
              <a:rPr lang="en-US" sz="2800"/>
              <a:t>Cost &amp; Benefit Analysis</a:t>
            </a:r>
            <a:endParaRPr/>
          </a:p>
          <a:p>
            <a:pPr marL="355600" lvl="0" indent="-355600" algn="l" rtl="0">
              <a:lnSpc>
                <a:spcPct val="90000"/>
              </a:lnSpc>
              <a:spcBef>
                <a:spcPts val="1000"/>
              </a:spcBef>
              <a:spcAft>
                <a:spcPts val="0"/>
              </a:spcAft>
              <a:buClr>
                <a:schemeClr val="dk1"/>
              </a:buClr>
              <a:buSzPts val="2400"/>
              <a:buFont typeface="Arial"/>
              <a:buChar char="•"/>
              <a:defRPr/>
            </a:pPr>
            <a:r>
              <a:rPr lang="en-US" sz="2800"/>
              <a:t>Financial Techniques</a:t>
            </a:r>
            <a:endParaRPr sz="2800"/>
          </a:p>
          <a:p>
            <a:pPr marL="812800" lvl="1" indent="-355600" algn="l">
              <a:spcBef>
                <a:spcPts val="1000"/>
              </a:spcBef>
              <a:buSzPts val="2400"/>
              <a:buFont typeface="Arial"/>
              <a:buChar char="•"/>
              <a:defRPr/>
            </a:pPr>
            <a:r>
              <a:rPr lang="en-US" sz="2400"/>
              <a:t>Net Profit</a:t>
            </a:r>
            <a:endParaRPr sz="2400"/>
          </a:p>
          <a:p>
            <a:pPr marL="812800" lvl="1" indent="-355600" algn="l">
              <a:spcBef>
                <a:spcPts val="1000"/>
              </a:spcBef>
              <a:buSzPts val="2400"/>
              <a:buFont typeface="Arial"/>
              <a:buChar char="•"/>
              <a:defRPr/>
            </a:pPr>
            <a:r>
              <a:rPr lang="en-US" sz="2400"/>
              <a:t>Payback Period</a:t>
            </a:r>
            <a:endParaRPr sz="2400"/>
          </a:p>
          <a:p>
            <a:pPr marL="812800" lvl="1" indent="-355600" algn="l">
              <a:spcBef>
                <a:spcPts val="1000"/>
              </a:spcBef>
              <a:buSzPts val="2400"/>
              <a:buFont typeface="Arial"/>
              <a:buChar char="•"/>
              <a:defRPr/>
            </a:pPr>
            <a:r>
              <a:rPr lang="en-US" sz="2400"/>
              <a:t>Return on Investment (ROI)</a:t>
            </a:r>
            <a:endParaRPr sz="2400"/>
          </a:p>
          <a:p>
            <a:pPr marL="812800" lvl="1" indent="-355600" algn="l">
              <a:spcBef>
                <a:spcPts val="1000"/>
              </a:spcBef>
              <a:buSzPts val="2400"/>
              <a:buFont typeface="Arial"/>
              <a:buChar char="•"/>
              <a:defRPr/>
            </a:pPr>
            <a:r>
              <a:rPr lang="en-US" sz="2400"/>
              <a:t>Net Present Value (NPV)</a:t>
            </a:r>
            <a:endParaRPr/>
          </a:p>
          <a:p>
            <a:pPr marL="342900" indent="-342900" algn="l">
              <a:buFont typeface="Arial"/>
              <a:buChar char="•"/>
              <a:defRPr/>
            </a:pPr>
            <a:r>
              <a:rPr lang="en-US"/>
              <a:t>Weighted Scoring Model</a:t>
            </a:r>
            <a:endParaRPr/>
          </a:p>
        </p:txBody>
      </p:sp>
      <p:sp>
        <p:nvSpPr>
          <p:cNvPr id="2115031727" name="Google Shape;349;p19"/>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20</a:t>
            </a:fld>
            <a:endParaRPr/>
          </a:p>
        </p:txBody>
      </p:sp>
      <p:pic>
        <p:nvPicPr>
          <p:cNvPr id="2027532439" name="Google Shape;350;p19"/>
          <p:cNvPicPr/>
          <p:nvPr/>
        </p:nvPicPr>
        <p:blipFill rotWithShape="1">
          <a:blip r:embed="rId3">
            <a:alphaModFix/>
          </a:blip>
          <a:stretch/>
        </p:blipFill>
        <p:spPr bwMode="auto">
          <a:xfrm>
            <a:off x="0" y="1"/>
            <a:ext cx="5638800" cy="6858000"/>
          </a:xfrm>
          <a:prstGeom prst="rect">
            <a:avLst/>
          </a:prstGeom>
          <a:noFill/>
          <a:ln>
            <a:noFill/>
          </a:ln>
        </p:spPr>
      </p:pic>
      <p:cxnSp>
        <p:nvCxnSpPr>
          <p:cNvPr id="1294887352" name="Google Shape;351;p19"/>
          <p:cNvCxnSpPr/>
          <p:nvPr/>
        </p:nvCxnSpPr>
        <p:spPr bwMode="auto">
          <a:xfrm rot="10800000">
            <a:off x="7772400" y="2362199"/>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640573713" name="Right Brace 1"/>
          <p:cNvSpPr/>
          <p:nvPr/>
        </p:nvSpPr>
        <p:spPr bwMode="auto">
          <a:xfrm>
            <a:off x="9799983" y="2524538"/>
            <a:ext cx="626165" cy="3963575"/>
          </a:xfrm>
          <a:prstGeom prst="rightBrace">
            <a:avLst>
              <a:gd name="adj1" fmla="val 8333"/>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MY"/>
          </a:p>
        </p:txBody>
      </p:sp>
      <p:sp>
        <p:nvSpPr>
          <p:cNvPr id="799369551" name="TextBox 2"/>
          <p:cNvSpPr txBox="1"/>
          <p:nvPr/>
        </p:nvSpPr>
        <p:spPr bwMode="auto">
          <a:xfrm>
            <a:off x="10406270" y="2600898"/>
            <a:ext cx="1510748" cy="1446550"/>
          </a:xfrm>
          <a:prstGeom prst="rect">
            <a:avLst/>
          </a:prstGeom>
          <a:noFill/>
        </p:spPr>
        <p:txBody>
          <a:bodyPr wrap="square" rtlCol="0">
            <a:spAutoFit/>
          </a:bodyPr>
          <a:lstStyle/>
          <a:p>
            <a:pPr>
              <a:defRPr/>
            </a:pPr>
            <a:r>
              <a:rPr lang="en-MY" sz="2200">
                <a:solidFill>
                  <a:srgbClr val="FF0000"/>
                </a:solidFill>
              </a:rPr>
              <a:t>Things to do </a:t>
            </a:r>
            <a:r>
              <a:rPr lang="en-MY" sz="2200" b="1">
                <a:solidFill>
                  <a:srgbClr val="FF0000"/>
                </a:solidFill>
              </a:rPr>
              <a:t>before</a:t>
            </a:r>
            <a:r>
              <a:rPr lang="en-MY" sz="2200">
                <a:solidFill>
                  <a:srgbClr val="FF0000"/>
                </a:solidFill>
              </a:rPr>
              <a:t> project starts</a:t>
            </a:r>
            <a:endParaRPr/>
          </a:p>
        </p:txBody>
      </p:sp>
      <p:sp>
        <p:nvSpPr>
          <p:cNvPr id="402018078" name="TextBox 3"/>
          <p:cNvSpPr txBox="1"/>
          <p:nvPr/>
        </p:nvSpPr>
        <p:spPr bwMode="auto">
          <a:xfrm>
            <a:off x="10401300" y="4001031"/>
            <a:ext cx="1750944" cy="1785104"/>
          </a:xfrm>
          <a:prstGeom prst="rect">
            <a:avLst/>
          </a:prstGeom>
          <a:noFill/>
        </p:spPr>
        <p:txBody>
          <a:bodyPr wrap="square" rtlCol="0">
            <a:spAutoFit/>
          </a:bodyPr>
          <a:lstStyle/>
          <a:p>
            <a:pPr>
              <a:defRPr/>
            </a:pPr>
            <a:r>
              <a:rPr lang="en-US" sz="2200">
                <a:solidFill>
                  <a:srgbClr val="FF0000"/>
                </a:solidFill>
              </a:rPr>
              <a:t>to </a:t>
            </a:r>
            <a:r>
              <a:rPr lang="en-US" sz="2200" b="1">
                <a:solidFill>
                  <a:srgbClr val="FF0000"/>
                </a:solidFill>
              </a:rPr>
              <a:t>save</a:t>
            </a:r>
            <a:r>
              <a:rPr lang="en-US" sz="2200">
                <a:solidFill>
                  <a:srgbClr val="FF0000"/>
                </a:solidFill>
              </a:rPr>
              <a:t> the </a:t>
            </a:r>
            <a:r>
              <a:rPr lang="en-US" sz="2200">
                <a:solidFill>
                  <a:srgbClr val="FF0000"/>
                </a:solidFill>
              </a:rPr>
              <a:t>organisation</a:t>
            </a:r>
            <a:r>
              <a:rPr lang="en-US" sz="2200">
                <a:solidFill>
                  <a:srgbClr val="FF0000"/>
                </a:solidFill>
              </a:rPr>
              <a:t> from a bad decision or investment.</a:t>
            </a:r>
            <a:endParaRPr lang="en-MY" sz="2200">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36616084"/>
                                        </p:tgtEl>
                                        <p:attrNameLst>
                                          <p:attrName>style.visibility</p:attrName>
                                        </p:attrNameLst>
                                      </p:cBhvr>
                                      <p:to>
                                        <p:strVal val="visible"/>
                                      </p:to>
                                    </p:set>
                                    <p:anim calcmode="lin" valueType="num">
                                      <p:cBhvr additive="base">
                                        <p:cTn id="7" dur="500" fill="hold"/>
                                        <p:tgtEl>
                                          <p:spTgt spid="236616084"/>
                                        </p:tgtEl>
                                        <p:attrNameLst>
                                          <p:attrName>ppt_x</p:attrName>
                                        </p:attrNameLst>
                                      </p:cBhvr>
                                      <p:tavLst>
                                        <p:tav tm="0">
                                          <p:val>
                                            <p:strVal val="#ppt_x"/>
                                          </p:val>
                                        </p:tav>
                                        <p:tav tm="100000">
                                          <p:val>
                                            <p:strVal val="#ppt_x"/>
                                          </p:val>
                                        </p:tav>
                                      </p:tavLst>
                                    </p:anim>
                                    <p:anim calcmode="lin" valueType="num">
                                      <p:cBhvr additive="base">
                                        <p:cTn id="8" dur="500" fill="hold"/>
                                        <p:tgtEl>
                                          <p:spTgt spid="23661608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640573713"/>
                                        </p:tgtEl>
                                        <p:attrNameLst>
                                          <p:attrName>style.visibility</p:attrName>
                                        </p:attrNameLst>
                                      </p:cBhvr>
                                      <p:to>
                                        <p:strVal val="visible"/>
                                      </p:to>
                                    </p:set>
                                    <p:animEffect transition="in" filter="wipe(left)">
                                      <p:cBhvr>
                                        <p:cTn id="13" dur="500"/>
                                        <p:tgtEl>
                                          <p:spTgt spid="640573713"/>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799369551"/>
                                        </p:tgtEl>
                                        <p:attrNameLst>
                                          <p:attrName>style.visibility</p:attrName>
                                        </p:attrNameLst>
                                      </p:cBhvr>
                                      <p:to>
                                        <p:strVal val="visible"/>
                                      </p:to>
                                    </p:set>
                                    <p:animEffect transition="in" filter="wipe(left)">
                                      <p:cBhvr>
                                        <p:cTn id="16" dur="500"/>
                                        <p:tgtEl>
                                          <p:spTgt spid="799369551"/>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402018078"/>
                                        </p:tgtEl>
                                        <p:attrNameLst>
                                          <p:attrName>style.visibility</p:attrName>
                                        </p:attrNameLst>
                                      </p:cBhvr>
                                      <p:to>
                                        <p:strVal val="visible"/>
                                      </p:to>
                                    </p:set>
                                    <p:anim calcmode="lin" valueType="num">
                                      <p:cBhvr additive="base">
                                        <p:cTn id="21" dur="500" fill="hold"/>
                                        <p:tgtEl>
                                          <p:spTgt spid="402018078"/>
                                        </p:tgtEl>
                                        <p:attrNameLst>
                                          <p:attrName>ppt_x</p:attrName>
                                        </p:attrNameLst>
                                      </p:cBhvr>
                                      <p:tavLst>
                                        <p:tav tm="0">
                                          <p:val>
                                            <p:strVal val="#ppt_x"/>
                                          </p:val>
                                        </p:tav>
                                        <p:tav tm="100000">
                                          <p:val>
                                            <p:strVal val="#ppt_x"/>
                                          </p:val>
                                        </p:tav>
                                      </p:tavLst>
                                    </p:anim>
                                    <p:anim calcmode="lin" valueType="num">
                                      <p:cBhvr additive="base">
                                        <p:cTn id="22" dur="500" fill="hold"/>
                                        <p:tgtEl>
                                          <p:spTgt spid="4020180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616084" grpId="0"/>
      <p:bldP spid="640573713" grpId="0" animBg="1"/>
      <p:bldP spid="799369551" grpId="0"/>
      <p:bldP spid="402018078" grpId="0"/>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cxnSp>
        <p:nvCxnSpPr>
          <p:cNvPr id="1186478443" name="Google Shape;357;p20"/>
          <p:cNvCxnSpPr/>
          <p:nvPr/>
        </p:nvCxnSpPr>
        <p:spPr bwMode="auto">
          <a:xfrm>
            <a:off x="3505199" y="1905000"/>
            <a:ext cx="0" cy="2590800"/>
          </a:xfrm>
          <a:prstGeom prst="straightConnector1">
            <a:avLst/>
          </a:prstGeom>
          <a:noFill/>
          <a:ln w="9525" cap="flat" cmpd="sng">
            <a:solidFill>
              <a:schemeClr val="dk1"/>
            </a:solidFill>
            <a:prstDash val="solid"/>
            <a:round/>
            <a:headEnd type="none" w="med" len="med"/>
            <a:tailEnd type="none" w="med" len="med"/>
          </a:ln>
        </p:spPr>
      </p:cxnSp>
      <p:cxnSp>
        <p:nvCxnSpPr>
          <p:cNvPr id="2104386181" name="Google Shape;358;p20"/>
          <p:cNvCxnSpPr/>
          <p:nvPr/>
        </p:nvCxnSpPr>
        <p:spPr bwMode="auto">
          <a:xfrm>
            <a:off x="2819400" y="3124200"/>
            <a:ext cx="6781800" cy="0"/>
          </a:xfrm>
          <a:prstGeom prst="straightConnector1">
            <a:avLst/>
          </a:prstGeom>
          <a:noFill/>
          <a:ln w="9525" cap="flat" cmpd="sng">
            <a:solidFill>
              <a:schemeClr val="dk1"/>
            </a:solidFill>
            <a:prstDash val="solid"/>
            <a:round/>
            <a:headEnd type="none" w="med" len="med"/>
            <a:tailEnd type="none" w="med" len="med"/>
          </a:ln>
        </p:spPr>
      </p:cxnSp>
      <p:sp>
        <p:nvSpPr>
          <p:cNvPr id="1621764468" name="Google Shape;359;p20"/>
          <p:cNvSpPr/>
          <p:nvPr/>
        </p:nvSpPr>
        <p:spPr bwMode="auto">
          <a:xfrm>
            <a:off x="3505199" y="3124200"/>
            <a:ext cx="1295400" cy="787400"/>
          </a:xfrm>
          <a:custGeom>
            <a:avLst/>
            <a:gdLst/>
            <a:ahLst/>
            <a:cxnLst/>
            <a:rect l="l" t="t" r="r" b="b"/>
            <a:pathLst>
              <a:path w="816" h="496" fill="norm" stroke="1" extrusionOk="0">
                <a:moveTo>
                  <a:pt x="0" y="0"/>
                </a:moveTo>
                <a:cubicBezTo>
                  <a:pt x="76" y="156"/>
                  <a:pt x="152" y="312"/>
                  <a:pt x="240" y="384"/>
                </a:cubicBezTo>
                <a:cubicBezTo>
                  <a:pt x="328" y="456"/>
                  <a:pt x="432" y="496"/>
                  <a:pt x="528" y="432"/>
                </a:cubicBezTo>
                <a:cubicBezTo>
                  <a:pt x="624" y="368"/>
                  <a:pt x="768" y="72"/>
                  <a:pt x="816" y="0"/>
                </a:cubicBezTo>
              </a:path>
            </a:pathLst>
          </a:custGeom>
          <a:noFill/>
          <a:ln w="2857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a:solidFill>
                <a:schemeClr val="dk1"/>
              </a:solidFill>
              <a:latin typeface="Calibri"/>
              <a:ea typeface="Calibri"/>
              <a:cs typeface="Calibri"/>
            </a:endParaRPr>
          </a:p>
        </p:txBody>
      </p:sp>
      <p:sp>
        <p:nvSpPr>
          <p:cNvPr id="1224070794" name="Google Shape;360;p20"/>
          <p:cNvSpPr/>
          <p:nvPr/>
        </p:nvSpPr>
        <p:spPr bwMode="auto">
          <a:xfrm>
            <a:off x="4800600" y="2082800"/>
            <a:ext cx="3581400" cy="1041400"/>
          </a:xfrm>
          <a:custGeom>
            <a:avLst/>
            <a:gdLst/>
            <a:ahLst/>
            <a:cxnLst/>
            <a:rect l="l" t="t" r="r" b="b"/>
            <a:pathLst>
              <a:path w="2256" h="656" fill="norm" stroke="1" extrusionOk="0">
                <a:moveTo>
                  <a:pt x="0" y="656"/>
                </a:moveTo>
                <a:cubicBezTo>
                  <a:pt x="68" y="464"/>
                  <a:pt x="136" y="272"/>
                  <a:pt x="240" y="176"/>
                </a:cubicBezTo>
                <a:cubicBezTo>
                  <a:pt x="344" y="80"/>
                  <a:pt x="288" y="0"/>
                  <a:pt x="624" y="80"/>
                </a:cubicBezTo>
                <a:cubicBezTo>
                  <a:pt x="960" y="160"/>
                  <a:pt x="1984" y="560"/>
                  <a:pt x="2256" y="656"/>
                </a:cubicBezTo>
              </a:path>
            </a:pathLst>
          </a:custGeom>
          <a:noFill/>
          <a:ln w="57150" cap="flat" cmpd="sng">
            <a:solidFill>
              <a:srgbClr val="0000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a:solidFill>
                <a:schemeClr val="dk1"/>
              </a:solidFill>
              <a:latin typeface="Calibri"/>
              <a:ea typeface="Calibri"/>
              <a:cs typeface="Calibri"/>
            </a:endParaRPr>
          </a:p>
        </p:txBody>
      </p:sp>
      <p:sp>
        <p:nvSpPr>
          <p:cNvPr id="1425457526" name="Google Shape;361;p20"/>
          <p:cNvSpPr/>
          <p:nvPr/>
        </p:nvSpPr>
        <p:spPr bwMode="auto">
          <a:xfrm>
            <a:off x="8382000" y="3124200"/>
            <a:ext cx="1066800" cy="495300"/>
          </a:xfrm>
          <a:custGeom>
            <a:avLst/>
            <a:gdLst/>
            <a:ahLst/>
            <a:cxnLst/>
            <a:rect l="l" t="t" r="r" b="b"/>
            <a:pathLst>
              <a:path w="672" h="312" fill="norm" stroke="1" extrusionOk="0">
                <a:moveTo>
                  <a:pt x="0" y="0"/>
                </a:moveTo>
                <a:cubicBezTo>
                  <a:pt x="56" y="48"/>
                  <a:pt x="112" y="96"/>
                  <a:pt x="192" y="144"/>
                </a:cubicBezTo>
                <a:cubicBezTo>
                  <a:pt x="272" y="192"/>
                  <a:pt x="400" y="312"/>
                  <a:pt x="480" y="288"/>
                </a:cubicBezTo>
                <a:cubicBezTo>
                  <a:pt x="560" y="264"/>
                  <a:pt x="616" y="132"/>
                  <a:pt x="672" y="0"/>
                </a:cubicBezTo>
              </a:path>
            </a:pathLst>
          </a:custGeom>
          <a:noFill/>
          <a:ln w="381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a:solidFill>
                <a:schemeClr val="dk1"/>
              </a:solidFill>
              <a:latin typeface="Calibri"/>
              <a:ea typeface="Calibri"/>
              <a:cs typeface="Calibri"/>
            </a:endParaRPr>
          </a:p>
        </p:txBody>
      </p:sp>
      <p:sp>
        <p:nvSpPr>
          <p:cNvPr id="2127778612" name="Google Shape;362;p20"/>
          <p:cNvSpPr txBox="1"/>
          <p:nvPr/>
        </p:nvSpPr>
        <p:spPr bwMode="auto">
          <a:xfrm>
            <a:off x="9596086" y="2949442"/>
            <a:ext cx="2057400" cy="33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600"/>
              <a:buFont typeface="Times New Roman"/>
              <a:buNone/>
              <a:defRPr/>
            </a:pPr>
            <a:r>
              <a:rPr lang="en-US" sz="1600">
                <a:solidFill>
                  <a:schemeClr val="dk1"/>
                </a:solidFill>
                <a:latin typeface="Times New Roman"/>
                <a:ea typeface="Times New Roman"/>
                <a:cs typeface="Times New Roman"/>
              </a:rPr>
              <a:t>Time</a:t>
            </a:r>
            <a:endParaRPr sz="1600">
              <a:solidFill>
                <a:schemeClr val="dk1"/>
              </a:solidFill>
              <a:latin typeface="Times New Roman"/>
              <a:ea typeface="Times New Roman"/>
              <a:cs typeface="Times New Roman"/>
            </a:endParaRPr>
          </a:p>
        </p:txBody>
      </p:sp>
      <p:sp>
        <p:nvSpPr>
          <p:cNvPr id="1608180301" name="Google Shape;364;p20"/>
          <p:cNvSpPr txBox="1"/>
          <p:nvPr/>
        </p:nvSpPr>
        <p:spPr bwMode="auto">
          <a:xfrm rot="-5400000">
            <a:off x="2461419" y="3710782"/>
            <a:ext cx="1357313" cy="33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600"/>
              <a:buFont typeface="Times New Roman"/>
              <a:buNone/>
              <a:defRPr/>
            </a:pPr>
            <a:r>
              <a:rPr lang="en-US" sz="1600">
                <a:solidFill>
                  <a:schemeClr val="dk1"/>
                </a:solidFill>
                <a:latin typeface="Times New Roman"/>
                <a:ea typeface="Times New Roman"/>
                <a:cs typeface="Times New Roman"/>
              </a:rPr>
              <a:t>Expenditure</a:t>
            </a:r>
            <a:endParaRPr sz="1600">
              <a:solidFill>
                <a:schemeClr val="dk1"/>
              </a:solidFill>
              <a:latin typeface="Times New Roman"/>
              <a:ea typeface="Times New Roman"/>
              <a:cs typeface="Times New Roman"/>
            </a:endParaRPr>
          </a:p>
        </p:txBody>
      </p:sp>
      <p:sp>
        <p:nvSpPr>
          <p:cNvPr id="1028739806" name="Google Shape;365;p20"/>
          <p:cNvSpPr txBox="1"/>
          <p:nvPr/>
        </p:nvSpPr>
        <p:spPr bwMode="auto">
          <a:xfrm rot="-5400000">
            <a:off x="2590800" y="2286000"/>
            <a:ext cx="1098550" cy="33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600"/>
              <a:buFont typeface="Times New Roman"/>
              <a:buNone/>
              <a:defRPr/>
            </a:pPr>
            <a:r>
              <a:rPr lang="en-US" sz="1600">
                <a:solidFill>
                  <a:schemeClr val="dk1"/>
                </a:solidFill>
                <a:latin typeface="Times New Roman"/>
                <a:ea typeface="Times New Roman"/>
                <a:cs typeface="Times New Roman"/>
              </a:rPr>
              <a:t>Income</a:t>
            </a:r>
            <a:endParaRPr sz="1600">
              <a:solidFill>
                <a:schemeClr val="dk1"/>
              </a:solidFill>
              <a:latin typeface="Times New Roman"/>
              <a:ea typeface="Times New Roman"/>
              <a:cs typeface="Times New Roman"/>
            </a:endParaRPr>
          </a:p>
        </p:txBody>
      </p:sp>
      <p:sp>
        <p:nvSpPr>
          <p:cNvPr id="787236648" name="Google Shape;366;p20"/>
          <p:cNvSpPr txBox="1"/>
          <p:nvPr/>
        </p:nvSpPr>
        <p:spPr bwMode="auto">
          <a:xfrm>
            <a:off x="7948525" y="3630746"/>
            <a:ext cx="2795675" cy="1277232"/>
          </a:xfrm>
          <a:prstGeom prst="rect">
            <a:avLst/>
          </a:prstGeom>
          <a:noFill/>
          <a:ln>
            <a:noFill/>
          </a:ln>
        </p:spPr>
        <p:txBody>
          <a:bodyPr spcFirstLastPara="1" wrap="square" lIns="91425" tIns="45700" rIns="91425" bIns="45700" anchor="t" anchorCtr="0">
            <a:spAutoFit/>
          </a:bodyPr>
          <a:lstStyle/>
          <a:p>
            <a:pPr marR="0" lvl="0" algn="l" rtl="0">
              <a:spcBef>
                <a:spcPts val="600"/>
              </a:spcBef>
              <a:spcAft>
                <a:spcPts val="0"/>
              </a:spcAft>
              <a:buClr>
                <a:schemeClr val="dk1"/>
              </a:buClr>
              <a:buSzPts val="2400"/>
              <a:defRPr/>
            </a:pPr>
            <a:r>
              <a:rPr lang="en-US" sz="2400" b="1">
                <a:solidFill>
                  <a:srgbClr val="FF0000"/>
                </a:solidFill>
                <a:latin typeface="Times New Roman"/>
                <a:ea typeface="Times New Roman"/>
                <a:cs typeface="Times New Roman"/>
              </a:rPr>
              <a:t>Decommissioning cost </a:t>
            </a:r>
            <a:r>
              <a:rPr lang="en-US" sz="2400">
                <a:solidFill>
                  <a:srgbClr val="FF0000"/>
                </a:solidFill>
                <a:latin typeface="Times New Roman"/>
                <a:ea typeface="Times New Roman"/>
                <a:cs typeface="Times New Roman"/>
              </a:rPr>
              <a:t>at the end of product’s life</a:t>
            </a:r>
            <a:endParaRPr sz="2400">
              <a:solidFill>
                <a:srgbClr val="FF0000"/>
              </a:solidFill>
              <a:latin typeface="Times New Roman"/>
              <a:ea typeface="Times New Roman"/>
              <a:cs typeface="Times New Roman"/>
            </a:endParaRPr>
          </a:p>
        </p:txBody>
      </p:sp>
      <p:sp>
        <p:nvSpPr>
          <p:cNvPr id="2028446968" name="Google Shape;367;p20"/>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21</a:t>
            </a:fld>
            <a:endParaRPr/>
          </a:p>
        </p:txBody>
      </p:sp>
      <p:sp>
        <p:nvSpPr>
          <p:cNvPr id="1792525047" name="Google Shape;368;p20"/>
          <p:cNvSpPr txBox="1"/>
          <p:nvPr/>
        </p:nvSpPr>
        <p:spPr bwMode="auto">
          <a:xfrm>
            <a:off x="1295400" y="528260"/>
            <a:ext cx="10515600" cy="584200"/>
          </a:xfrm>
          <a:prstGeom prst="rect">
            <a:avLst/>
          </a:prstGeom>
          <a:noFill/>
          <a:ln>
            <a:noFill/>
          </a:ln>
        </p:spPr>
        <p:txBody>
          <a:bodyPr spcFirstLastPara="1" wrap="square" lIns="91425" tIns="45700" rIns="91425" bIns="45700" anchor="ctr" anchorCtr="0">
            <a:normAutofit fontScale="92500" lnSpcReduction="20000"/>
          </a:bodyPr>
          <a:lstStyle/>
          <a:p>
            <a:pPr>
              <a:lnSpc>
                <a:spcPct val="90000"/>
              </a:lnSpc>
              <a:buClr>
                <a:schemeClr val="dk1"/>
              </a:buClr>
              <a:buSzPct val="100000"/>
              <a:defRPr/>
            </a:pPr>
            <a:r>
              <a:rPr lang="en-US" sz="4400"/>
              <a:t> Cash Flow </a:t>
            </a:r>
            <a:r>
              <a:rPr lang="en-US" sz="4400" b="1"/>
              <a:t>Forecasting</a:t>
            </a:r>
            <a:endParaRPr/>
          </a:p>
          <a:p>
            <a:pPr marL="0" marR="0" lvl="0" indent="0" algn="l" rtl="0">
              <a:lnSpc>
                <a:spcPct val="90000"/>
              </a:lnSpc>
              <a:spcBef>
                <a:spcPts val="0"/>
              </a:spcBef>
              <a:spcAft>
                <a:spcPts val="0"/>
              </a:spcAft>
              <a:buClr>
                <a:schemeClr val="dk1"/>
              </a:buClr>
              <a:buSzPct val="100000"/>
              <a:buFont typeface="Calibri"/>
              <a:buNone/>
              <a:defRPr/>
            </a:pPr>
            <a:endParaRPr/>
          </a:p>
        </p:txBody>
      </p:sp>
      <p:cxnSp>
        <p:nvCxnSpPr>
          <p:cNvPr id="653927153" name="Google Shape;369;p20"/>
          <p:cNvCxnSpPr/>
          <p:nvPr/>
        </p:nvCxnSpPr>
        <p:spPr bwMode="auto">
          <a:xfrm rot="10800000">
            <a:off x="1447800" y="1112460"/>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350544197" name="Google Shape;370;p20"/>
          <p:cNvGrpSpPr/>
          <p:nvPr/>
        </p:nvGrpSpPr>
        <p:grpSpPr bwMode="auto">
          <a:xfrm>
            <a:off x="10463125" y="31325"/>
            <a:ext cx="1754971" cy="6826674"/>
            <a:chOff x="10463125" y="31325"/>
            <a:chExt cx="1754971" cy="6826674"/>
          </a:xfrm>
        </p:grpSpPr>
        <p:pic>
          <p:nvPicPr>
            <p:cNvPr id="371" name="Google Shape;371;p20"/>
            <p:cNvPicPr/>
            <p:nvPr/>
          </p:nvPicPr>
          <p:blipFill rotWithShape="1">
            <a:blip r:embed="rId3">
              <a:alphaModFix/>
            </a:blip>
            <a:stretch/>
          </p:blipFill>
          <p:spPr bwMode="auto">
            <a:xfrm>
              <a:off x="10463125" y="3764687"/>
              <a:ext cx="1740050" cy="3093313"/>
            </a:xfrm>
            <a:prstGeom prst="rect">
              <a:avLst/>
            </a:prstGeom>
            <a:noFill/>
            <a:ln>
              <a:noFill/>
            </a:ln>
          </p:spPr>
        </p:pic>
        <p:pic>
          <p:nvPicPr>
            <p:cNvPr id="372" name="Google Shape;372;p20"/>
            <p:cNvPicPr/>
            <p:nvPr/>
          </p:nvPicPr>
          <p:blipFill rotWithShape="1">
            <a:blip r:embed="rId4">
              <a:alphaModFix/>
            </a:blip>
            <a:srcRect l="0" t="0" r="0" b="-186"/>
            <a:stretch/>
          </p:blipFill>
          <p:spPr bwMode="auto">
            <a:xfrm>
              <a:off x="10478046" y="660128"/>
              <a:ext cx="1740050" cy="3093313"/>
            </a:xfrm>
            <a:prstGeom prst="rect">
              <a:avLst/>
            </a:prstGeom>
            <a:noFill/>
            <a:ln>
              <a:noFill/>
            </a:ln>
          </p:spPr>
        </p:pic>
        <p:pic>
          <p:nvPicPr>
            <p:cNvPr id="373" name="Google Shape;373;p20"/>
            <p:cNvPicPr/>
            <p:nvPr/>
          </p:nvPicPr>
          <p:blipFill rotWithShape="1">
            <a:blip r:embed="rId5">
              <a:alphaModFix/>
            </a:blip>
            <a:srcRect l="0" t="0" r="0" b="78842"/>
            <a:stretch/>
          </p:blipFill>
          <p:spPr bwMode="auto">
            <a:xfrm>
              <a:off x="10478046" y="31325"/>
              <a:ext cx="1740050" cy="654475"/>
            </a:xfrm>
            <a:prstGeom prst="rect">
              <a:avLst/>
            </a:prstGeom>
            <a:noFill/>
            <a:ln>
              <a:noFill/>
            </a:ln>
          </p:spPr>
        </p:pic>
      </p:grpSp>
      <p:sp>
        <p:nvSpPr>
          <p:cNvPr id="1040909374" name="Google Shape;374;p20"/>
          <p:cNvSpPr txBox="1"/>
          <p:nvPr/>
        </p:nvSpPr>
        <p:spPr bwMode="auto">
          <a:xfrm>
            <a:off x="10478046" y="0"/>
            <a:ext cx="1713954" cy="615513"/>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Clr>
                <a:schemeClr val="lt1"/>
              </a:buClr>
              <a:buSzPts val="1700"/>
              <a:buFont typeface="Arimo"/>
              <a:buNone/>
              <a:defRPr/>
            </a:pPr>
            <a:r>
              <a:rPr lang="en-US" sz="1700">
                <a:solidFill>
                  <a:schemeClr val="lt1"/>
                </a:solidFill>
                <a:latin typeface="Arimo"/>
                <a:ea typeface="Arimo"/>
                <a:cs typeface="Arimo"/>
              </a:rPr>
              <a:t>1.3 Project Appraisal</a:t>
            </a:r>
            <a:endParaRPr/>
          </a:p>
        </p:txBody>
      </p:sp>
      <p:sp>
        <p:nvSpPr>
          <p:cNvPr id="380064110" name="Google Shape;366;p20"/>
          <p:cNvSpPr txBox="1"/>
          <p:nvPr/>
        </p:nvSpPr>
        <p:spPr bwMode="auto">
          <a:xfrm>
            <a:off x="3505199" y="3902889"/>
            <a:ext cx="2590800" cy="1569620"/>
          </a:xfrm>
          <a:prstGeom prst="rect">
            <a:avLst/>
          </a:prstGeom>
          <a:noFill/>
          <a:ln>
            <a:noFill/>
          </a:ln>
        </p:spPr>
        <p:txBody>
          <a:bodyPr spcFirstLastPara="1" wrap="square" lIns="91425" tIns="45700" rIns="91425" bIns="45700" anchor="t" anchorCtr="0">
            <a:spAutoFit/>
          </a:bodyPr>
          <a:lstStyle/>
          <a:p>
            <a:pPr lvl="0">
              <a:buClr>
                <a:schemeClr val="dk1"/>
              </a:buClr>
              <a:buSzPts val="2400"/>
              <a:defRPr/>
            </a:pPr>
            <a:r>
              <a:rPr lang="en-US" sz="2400" b="1">
                <a:solidFill>
                  <a:srgbClr val="FF0000"/>
                </a:solidFill>
                <a:latin typeface="Times New Roman"/>
                <a:ea typeface="Times New Roman"/>
                <a:cs typeface="Times New Roman"/>
              </a:rPr>
              <a:t>Negative cash flow </a:t>
            </a:r>
            <a:r>
              <a:rPr lang="en-US" sz="2400">
                <a:solidFill>
                  <a:srgbClr val="FF0000"/>
                </a:solidFill>
                <a:latin typeface="Times New Roman"/>
                <a:ea typeface="Times New Roman"/>
                <a:cs typeface="Times New Roman"/>
              </a:rPr>
              <a:t>during Product development</a:t>
            </a:r>
            <a:endParaRPr>
              <a:solidFill>
                <a:srgbClr val="FF0000"/>
              </a:solidFill>
            </a:endParaRPr>
          </a:p>
        </p:txBody>
      </p:sp>
      <p:sp>
        <p:nvSpPr>
          <p:cNvPr id="1119413538" name="Google Shape;366;p20"/>
          <p:cNvSpPr txBox="1"/>
          <p:nvPr/>
        </p:nvSpPr>
        <p:spPr bwMode="auto">
          <a:xfrm>
            <a:off x="4800600" y="1173749"/>
            <a:ext cx="4610099" cy="907900"/>
          </a:xfrm>
          <a:prstGeom prst="rect">
            <a:avLst/>
          </a:prstGeom>
          <a:noFill/>
          <a:ln>
            <a:noFill/>
          </a:ln>
        </p:spPr>
        <p:txBody>
          <a:bodyPr spcFirstLastPara="1" wrap="square" lIns="91425" tIns="45700" rIns="91425" bIns="45700" anchor="t" anchorCtr="0">
            <a:spAutoFit/>
          </a:bodyPr>
          <a:lstStyle/>
          <a:p>
            <a:pPr marR="0" lvl="0" algn="l" rtl="0">
              <a:spcBef>
                <a:spcPts val="600"/>
              </a:spcBef>
              <a:spcAft>
                <a:spcPts val="0"/>
              </a:spcAft>
              <a:buClr>
                <a:schemeClr val="dk1"/>
              </a:buClr>
              <a:buSzPts val="2400"/>
              <a:defRPr/>
            </a:pPr>
            <a:r>
              <a:rPr lang="en-US" sz="2400" b="1">
                <a:solidFill>
                  <a:srgbClr val="0000FF"/>
                </a:solidFill>
                <a:latin typeface="Times New Roman"/>
                <a:ea typeface="Times New Roman"/>
                <a:cs typeface="Times New Roman"/>
              </a:rPr>
              <a:t>Positive cash flow </a:t>
            </a:r>
            <a:r>
              <a:rPr lang="en-US" sz="2400">
                <a:solidFill>
                  <a:srgbClr val="0000FF"/>
                </a:solidFill>
                <a:latin typeface="Times New Roman"/>
                <a:ea typeface="Times New Roman"/>
                <a:cs typeface="Times New Roman"/>
              </a:rPr>
              <a:t>during the product’s operating life</a:t>
            </a:r>
            <a:endParaRPr>
              <a:solidFill>
                <a:srgbClr val="0000FF"/>
              </a:solidFill>
            </a:endParaRPr>
          </a:p>
        </p:txBody>
      </p:sp>
      <p:sp>
        <p:nvSpPr>
          <p:cNvPr id="1070259379" name="Google Shape;368;p20"/>
          <p:cNvSpPr txBox="1"/>
          <p:nvPr/>
        </p:nvSpPr>
        <p:spPr bwMode="auto">
          <a:xfrm>
            <a:off x="3352800" y="5799414"/>
            <a:ext cx="8584095" cy="584200"/>
          </a:xfrm>
          <a:prstGeom prst="rect">
            <a:avLst/>
          </a:prstGeom>
          <a:noFill/>
          <a:ln>
            <a:noFill/>
          </a:ln>
        </p:spPr>
        <p:txBody>
          <a:bodyPr spcFirstLastPara="1" wrap="square" lIns="91425" tIns="45700" rIns="91425" bIns="45700" anchor="ctr" anchorCtr="0">
            <a:normAutofit/>
          </a:bodyPr>
          <a:lstStyle/>
          <a:p>
            <a:pPr>
              <a:lnSpc>
                <a:spcPct val="90000"/>
              </a:lnSpc>
              <a:buClr>
                <a:schemeClr val="dk1"/>
              </a:buClr>
              <a:buSzPct val="100000"/>
              <a:defRPr/>
            </a:pPr>
            <a:r>
              <a:rPr lang="en-US" sz="2800"/>
              <a:t> Cash Flow Forecasting is …</a:t>
            </a:r>
            <a:endParaRPr/>
          </a:p>
          <a:p>
            <a:pPr marL="0" marR="0" lvl="0" indent="0" algn="l" rtl="0">
              <a:lnSpc>
                <a:spcPct val="90000"/>
              </a:lnSpc>
              <a:spcBef>
                <a:spcPts val="0"/>
              </a:spcBef>
              <a:spcAft>
                <a:spcPts val="0"/>
              </a:spcAft>
              <a:buClr>
                <a:schemeClr val="dk1"/>
              </a:buClr>
              <a:buSzPct val="100000"/>
              <a:buFont typeface="Calibri"/>
              <a:buNone/>
              <a:defRPr/>
            </a:pPr>
            <a:endParaRPr sz="2800"/>
          </a:p>
        </p:txBody>
      </p:sp>
      <p:cxnSp>
        <p:nvCxnSpPr>
          <p:cNvPr id="841454335" name="Straight Connector 5">
            <a:hlinkClick r:id="rId6" action="ppaction://hlinkfile"/>
          </p:cNvPr>
          <p:cNvCxnSpPr/>
          <p:nvPr/>
        </p:nvCxnSpPr>
        <p:spPr bwMode="auto">
          <a:xfrm>
            <a:off x="9763933" y="4742481"/>
            <a:ext cx="309966" cy="0"/>
          </a:xfrm>
          <a:prstGeom prst="line">
            <a:avLst/>
          </a:prstGeom>
          <a:ln w="28575"/>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21764468"/>
                                        </p:tgtEl>
                                        <p:attrNameLst>
                                          <p:attrName>style.visibility</p:attrName>
                                        </p:attrNameLst>
                                      </p:cBhvr>
                                      <p:to>
                                        <p:strVal val="visible"/>
                                      </p:to>
                                    </p:set>
                                    <p:animEffect transition="in" filter="wipe(left)">
                                      <p:cBhvr>
                                        <p:cTn id="7" dur="500"/>
                                        <p:tgtEl>
                                          <p:spTgt spid="1621764468"/>
                                        </p:tgtEl>
                                      </p:cBhvr>
                                    </p:animEffect>
                                  </p:childTnLst>
                                </p:cTn>
                              </p:par>
                              <p:par>
                                <p:cTn id="8" presetID="2" presetClass="entr" presetSubtype="1" fill="hold" grpId="0" nodeType="withEffect">
                                  <p:stCondLst>
                                    <p:cond delay="0"/>
                                  </p:stCondLst>
                                  <p:childTnLst>
                                    <p:set>
                                      <p:cBhvr>
                                        <p:cTn id="9" dur="1" fill="hold">
                                          <p:stCondLst>
                                            <p:cond delay="0"/>
                                          </p:stCondLst>
                                        </p:cTn>
                                        <p:tgtEl>
                                          <p:spTgt spid="1792525047"/>
                                        </p:tgtEl>
                                        <p:attrNameLst>
                                          <p:attrName>style.visibility</p:attrName>
                                        </p:attrNameLst>
                                      </p:cBhvr>
                                      <p:to>
                                        <p:strVal val="visible"/>
                                      </p:to>
                                    </p:set>
                                    <p:anim calcmode="lin" valueType="num">
                                      <p:cBhvr additive="base">
                                        <p:cTn id="10" dur="500" fill="hold"/>
                                        <p:tgtEl>
                                          <p:spTgt spid="1792525047"/>
                                        </p:tgtEl>
                                        <p:attrNameLst>
                                          <p:attrName>ppt_x</p:attrName>
                                        </p:attrNameLst>
                                      </p:cBhvr>
                                      <p:tavLst>
                                        <p:tav tm="0">
                                          <p:val>
                                            <p:strVal val="#ppt_x"/>
                                          </p:val>
                                        </p:tav>
                                        <p:tav tm="100000">
                                          <p:val>
                                            <p:strVal val="#ppt_x"/>
                                          </p:val>
                                        </p:tav>
                                      </p:tavLst>
                                    </p:anim>
                                    <p:anim calcmode="lin" valueType="num">
                                      <p:cBhvr additive="base">
                                        <p:cTn id="11" dur="500" fill="hold"/>
                                        <p:tgtEl>
                                          <p:spTgt spid="1792525047"/>
                                        </p:tgtEl>
                                        <p:attrNameLst>
                                          <p:attrName>ppt_y</p:attrName>
                                        </p:attrNameLst>
                                      </p:cBhvr>
                                      <p:tavLst>
                                        <p:tav tm="0">
                                          <p:val>
                                            <p:strVal val="0-#ppt_h/2"/>
                                          </p:val>
                                        </p:tav>
                                        <p:tav tm="100000">
                                          <p:val>
                                            <p:strVal val="#ppt_y"/>
                                          </p:val>
                                        </p:tav>
                                      </p:tavLst>
                                    </p:anim>
                                  </p:childTnLst>
                                </p:cTn>
                              </p:par>
                              <p:par>
                                <p:cTn id="12" presetID="22" presetClass="entr" presetSubtype="8" fill="hold" nodeType="withEffect">
                                  <p:stCondLst>
                                    <p:cond delay="0"/>
                                  </p:stCondLst>
                                  <p:childTnLst>
                                    <p:set>
                                      <p:cBhvr>
                                        <p:cTn id="13" dur="1" fill="hold">
                                          <p:stCondLst>
                                            <p:cond delay="0"/>
                                          </p:stCondLst>
                                        </p:cTn>
                                        <p:tgtEl>
                                          <p:spTgt spid="1224070794"/>
                                        </p:tgtEl>
                                        <p:attrNameLst>
                                          <p:attrName>style.visibility</p:attrName>
                                        </p:attrNameLst>
                                      </p:cBhvr>
                                      <p:to>
                                        <p:strVal val="visible"/>
                                      </p:to>
                                    </p:set>
                                    <p:animEffect transition="in" filter="wipe(left)">
                                      <p:cBhvr>
                                        <p:cTn id="14" dur="500"/>
                                        <p:tgtEl>
                                          <p:spTgt spid="1224070794"/>
                                        </p:tgtEl>
                                      </p:cBhvr>
                                    </p:animEffect>
                                  </p:childTnLst>
                                </p:cTn>
                              </p:par>
                              <p:par>
                                <p:cTn id="15" presetID="22" presetClass="entr" presetSubtype="8" fill="hold" nodeType="withEffect">
                                  <p:stCondLst>
                                    <p:cond delay="0"/>
                                  </p:stCondLst>
                                  <p:childTnLst>
                                    <p:set>
                                      <p:cBhvr>
                                        <p:cTn id="16" dur="1" fill="hold">
                                          <p:stCondLst>
                                            <p:cond delay="0"/>
                                          </p:stCondLst>
                                        </p:cTn>
                                        <p:tgtEl>
                                          <p:spTgt spid="1425457526"/>
                                        </p:tgtEl>
                                        <p:attrNameLst>
                                          <p:attrName>style.visibility</p:attrName>
                                        </p:attrNameLst>
                                      </p:cBhvr>
                                      <p:to>
                                        <p:strVal val="visible"/>
                                      </p:to>
                                    </p:set>
                                    <p:animEffect transition="in" filter="wipe(left)">
                                      <p:cBhvr>
                                        <p:cTn id="17" dur="500"/>
                                        <p:tgtEl>
                                          <p:spTgt spid="14254575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80064110"/>
                                        </p:tgtEl>
                                        <p:attrNameLst>
                                          <p:attrName>style.visibility</p:attrName>
                                        </p:attrNameLst>
                                      </p:cBhvr>
                                      <p:to>
                                        <p:strVal val="visible"/>
                                      </p:to>
                                    </p:set>
                                    <p:animEffect transition="in" filter="wipe(left)">
                                      <p:cBhvr>
                                        <p:cTn id="22" dur="500"/>
                                        <p:tgtEl>
                                          <p:spTgt spid="3800641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19413538"/>
                                        </p:tgtEl>
                                        <p:attrNameLst>
                                          <p:attrName>style.visibility</p:attrName>
                                        </p:attrNameLst>
                                      </p:cBhvr>
                                      <p:to>
                                        <p:strVal val="visible"/>
                                      </p:to>
                                    </p:set>
                                    <p:animEffect transition="in" filter="wipe(left)">
                                      <p:cBhvr>
                                        <p:cTn id="27" dur="500"/>
                                        <p:tgtEl>
                                          <p:spTgt spid="111941353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87236648"/>
                                        </p:tgtEl>
                                        <p:attrNameLst>
                                          <p:attrName>style.visibility</p:attrName>
                                        </p:attrNameLst>
                                      </p:cBhvr>
                                      <p:to>
                                        <p:strVal val="visible"/>
                                      </p:to>
                                    </p:set>
                                    <p:animEffect transition="in" filter="wipe(left)">
                                      <p:cBhvr>
                                        <p:cTn id="32" dur="500"/>
                                        <p:tgtEl>
                                          <p:spTgt spid="78723664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41454335"/>
                                        </p:tgtEl>
                                        <p:attrNameLst>
                                          <p:attrName>style.visibility</p:attrName>
                                        </p:attrNameLst>
                                      </p:cBhvr>
                                      <p:to>
                                        <p:strVal val="visible"/>
                                      </p:to>
                                    </p:set>
                                    <p:animEffect transition="in" filter="wipe(left)">
                                      <p:cBhvr>
                                        <p:cTn id="37" dur="500"/>
                                        <p:tgtEl>
                                          <p:spTgt spid="841454335"/>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070259379"/>
                                        </p:tgtEl>
                                        <p:attrNameLst>
                                          <p:attrName>style.visibility</p:attrName>
                                        </p:attrNameLst>
                                      </p:cBhvr>
                                      <p:to>
                                        <p:strVal val="visible"/>
                                      </p:to>
                                    </p:set>
                                    <p:anim calcmode="lin" valueType="num">
                                      <p:cBhvr additive="base">
                                        <p:cTn id="42" dur="500" fill="hold"/>
                                        <p:tgtEl>
                                          <p:spTgt spid="1070259379"/>
                                        </p:tgtEl>
                                        <p:attrNameLst>
                                          <p:attrName>ppt_x</p:attrName>
                                        </p:attrNameLst>
                                      </p:cBhvr>
                                      <p:tavLst>
                                        <p:tav tm="0">
                                          <p:val>
                                            <p:strVal val="#ppt_x"/>
                                          </p:val>
                                        </p:tav>
                                        <p:tav tm="100000">
                                          <p:val>
                                            <p:strVal val="#ppt_x"/>
                                          </p:val>
                                        </p:tav>
                                      </p:tavLst>
                                    </p:anim>
                                    <p:anim calcmode="lin" valueType="num">
                                      <p:cBhvr additive="base">
                                        <p:cTn id="43" dur="500" fill="hold"/>
                                        <p:tgtEl>
                                          <p:spTgt spid="10702593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1764468" grpId="0" animBg="1"/>
      <p:bldP spid="787236648" grpId="0"/>
      <p:bldP spid="1792525047" grpId="0"/>
      <p:bldP spid="380064110" grpId="0"/>
      <p:bldP spid="1119413538" grpId="0"/>
      <p:bldP spid="1070259379" grpId="0"/>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57188824" name="Google Shape;379;p21"/>
          <p:cNvSpPr txBox="1">
            <a:spLocks noGrp="1"/>
          </p:cNvSpPr>
          <p:nvPr>
            <p:ph type="title"/>
          </p:nvPr>
        </p:nvSpPr>
        <p:spPr bwMode="auto">
          <a:xfrm>
            <a:off x="685800" y="517570"/>
            <a:ext cx="9144000" cy="762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defRPr/>
            </a:pPr>
            <a:r>
              <a:rPr lang="en-US" b="1"/>
              <a:t>Cost &amp; Benefit Analysis</a:t>
            </a:r>
            <a:endParaRPr/>
          </a:p>
        </p:txBody>
      </p:sp>
      <p:sp>
        <p:nvSpPr>
          <p:cNvPr id="1139102" name="Google Shape;380;p2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22</a:t>
            </a:fld>
            <a:endParaRPr/>
          </a:p>
        </p:txBody>
      </p:sp>
      <p:sp>
        <p:nvSpPr>
          <p:cNvPr id="315967463" name="Google Shape;381;p21"/>
          <p:cNvSpPr txBox="1"/>
          <p:nvPr/>
        </p:nvSpPr>
        <p:spPr bwMode="auto">
          <a:xfrm>
            <a:off x="685800" y="1736770"/>
            <a:ext cx="9525000" cy="4206830"/>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chemeClr val="dk1"/>
              </a:buClr>
              <a:buSzPts val="2800"/>
              <a:buFont typeface="Arial"/>
              <a:buChar char="•"/>
              <a:defRPr/>
            </a:pPr>
            <a:r>
              <a:rPr lang="en-US" sz="2800">
                <a:solidFill>
                  <a:schemeClr val="bg1">
                    <a:lumMod val="50000"/>
                  </a:schemeClr>
                </a:solidFill>
                <a:latin typeface="Calibri"/>
                <a:ea typeface="Calibri"/>
                <a:cs typeface="Calibri"/>
              </a:rPr>
              <a:t>A </a:t>
            </a:r>
            <a:r>
              <a:rPr lang="en-US" sz="2800">
                <a:solidFill>
                  <a:schemeClr val="bg1">
                    <a:lumMod val="50000"/>
                  </a:schemeClr>
                </a:solidFill>
                <a:highlight>
                  <a:srgbClr val="FFFF00"/>
                </a:highlight>
                <a:latin typeface="Calibri"/>
                <a:ea typeface="Calibri"/>
                <a:cs typeface="Calibri"/>
              </a:rPr>
              <a:t>comparative assessment </a:t>
            </a:r>
            <a:r>
              <a:rPr lang="en-US" sz="2800">
                <a:solidFill>
                  <a:schemeClr val="bg1">
                    <a:lumMod val="50000"/>
                  </a:schemeClr>
                </a:solidFill>
                <a:latin typeface="Calibri"/>
                <a:ea typeface="Calibri"/>
                <a:cs typeface="Calibri"/>
              </a:rPr>
              <a:t>of all the benefits you anticipate from the project and all the costs required to introduce the project, perform it and support the changes resulting from it.</a:t>
            </a:r>
            <a:endParaRPr>
              <a:solidFill>
                <a:schemeClr val="bg1">
                  <a:lumMod val="50000"/>
                </a:schemeClr>
              </a:solidFill>
            </a:endParaRPr>
          </a:p>
          <a:p>
            <a:pPr marL="228600" marR="0" lvl="0" indent="-228600" algn="l" rtl="0">
              <a:lnSpc>
                <a:spcPct val="90000"/>
              </a:lnSpc>
              <a:spcBef>
                <a:spcPts val="1000"/>
              </a:spcBef>
              <a:spcAft>
                <a:spcPts val="0"/>
              </a:spcAft>
              <a:buClr>
                <a:schemeClr val="dk1"/>
              </a:buClr>
              <a:buSzPts val="2800"/>
              <a:buFont typeface="Arial"/>
              <a:buChar char="•"/>
              <a:defRPr/>
            </a:pPr>
            <a:r>
              <a:rPr lang="en-US" sz="2800">
                <a:solidFill>
                  <a:schemeClr val="bg1">
                    <a:lumMod val="50000"/>
                  </a:schemeClr>
                </a:solidFill>
                <a:latin typeface="Calibri"/>
                <a:ea typeface="Calibri"/>
                <a:cs typeface="Calibri"/>
              </a:rPr>
              <a:t>Helps you to</a:t>
            </a:r>
            <a:endParaRPr>
              <a:solidFill>
                <a:schemeClr val="bg1">
                  <a:lumMod val="50000"/>
                </a:schemeClr>
              </a:solidFill>
            </a:endParaRPr>
          </a:p>
          <a:p>
            <a:pPr marL="685800" marR="0" lvl="1" indent="-414338" algn="l" rtl="0">
              <a:lnSpc>
                <a:spcPct val="90000"/>
              </a:lnSpc>
              <a:spcBef>
                <a:spcPts val="500"/>
              </a:spcBef>
              <a:spcAft>
                <a:spcPts val="0"/>
              </a:spcAft>
              <a:buClr>
                <a:schemeClr val="dk1"/>
              </a:buClr>
              <a:buSzPts val="2400"/>
              <a:buFont typeface="Courier New"/>
              <a:buChar char="o"/>
              <a:defRPr/>
            </a:pPr>
            <a:r>
              <a:rPr lang="en-US" sz="2400" i="0" u="none" strike="noStrike" cap="none">
                <a:solidFill>
                  <a:schemeClr val="bg1">
                    <a:lumMod val="50000"/>
                  </a:schemeClr>
                </a:solidFill>
                <a:latin typeface="Calibri"/>
                <a:ea typeface="Calibri"/>
                <a:cs typeface="Calibri"/>
              </a:rPr>
              <a:t>Decide whether to </a:t>
            </a:r>
            <a:r>
              <a:rPr lang="en-US" sz="2400" i="0" u="none" strike="noStrike" cap="none">
                <a:solidFill>
                  <a:schemeClr val="bg1">
                    <a:lumMod val="50000"/>
                  </a:schemeClr>
                </a:solidFill>
                <a:highlight>
                  <a:srgbClr val="FFFF00"/>
                </a:highlight>
                <a:latin typeface="Calibri"/>
                <a:ea typeface="Calibri"/>
                <a:cs typeface="Calibri"/>
              </a:rPr>
              <a:t>undertake </a:t>
            </a:r>
            <a:r>
              <a:rPr lang="en-US" sz="2400" i="0" u="none" strike="noStrike" cap="none">
                <a:solidFill>
                  <a:schemeClr val="bg1">
                    <a:lumMod val="50000"/>
                  </a:schemeClr>
                </a:solidFill>
                <a:latin typeface="Calibri"/>
                <a:ea typeface="Calibri"/>
                <a:cs typeface="Calibri"/>
              </a:rPr>
              <a:t>a project or decide which of several projects to undertake.</a:t>
            </a:r>
            <a:endParaRPr>
              <a:solidFill>
                <a:schemeClr val="bg1">
                  <a:lumMod val="50000"/>
                </a:schemeClr>
              </a:solidFill>
            </a:endParaRPr>
          </a:p>
          <a:p>
            <a:pPr marL="685800" marR="0" lvl="1" indent="-414338" algn="l" rtl="0">
              <a:lnSpc>
                <a:spcPct val="90000"/>
              </a:lnSpc>
              <a:spcBef>
                <a:spcPts val="500"/>
              </a:spcBef>
              <a:spcAft>
                <a:spcPts val="0"/>
              </a:spcAft>
              <a:buClr>
                <a:schemeClr val="dk1"/>
              </a:buClr>
              <a:buSzPts val="2400"/>
              <a:buFont typeface="Courier New"/>
              <a:buChar char="o"/>
              <a:defRPr/>
            </a:pPr>
            <a:r>
              <a:rPr lang="en-US" sz="2400" i="0" u="none" strike="noStrike" cap="none">
                <a:solidFill>
                  <a:schemeClr val="bg1">
                    <a:lumMod val="50000"/>
                  </a:schemeClr>
                </a:solidFill>
                <a:latin typeface="Calibri"/>
                <a:ea typeface="Calibri"/>
                <a:cs typeface="Calibri"/>
              </a:rPr>
              <a:t>Frame appropriate project </a:t>
            </a:r>
            <a:r>
              <a:rPr lang="en-US" sz="2400" i="0" u="none" strike="noStrike" cap="none">
                <a:solidFill>
                  <a:schemeClr val="bg1">
                    <a:lumMod val="50000"/>
                  </a:schemeClr>
                </a:solidFill>
                <a:highlight>
                  <a:srgbClr val="FFFF00"/>
                </a:highlight>
                <a:latin typeface="Calibri"/>
                <a:ea typeface="Calibri"/>
                <a:cs typeface="Calibri"/>
              </a:rPr>
              <a:t>objectives</a:t>
            </a:r>
            <a:r>
              <a:rPr lang="en-US" sz="2400" i="0" u="none" strike="noStrike" cap="none">
                <a:solidFill>
                  <a:schemeClr val="bg1">
                    <a:lumMod val="50000"/>
                  </a:schemeClr>
                </a:solidFill>
                <a:latin typeface="Calibri"/>
                <a:ea typeface="Calibri"/>
                <a:cs typeface="Calibri"/>
              </a:rPr>
              <a:t>.</a:t>
            </a:r>
            <a:endParaRPr>
              <a:solidFill>
                <a:schemeClr val="bg1">
                  <a:lumMod val="50000"/>
                </a:schemeClr>
              </a:solidFill>
            </a:endParaRPr>
          </a:p>
          <a:p>
            <a:pPr marL="685800" marR="0" lvl="1" indent="-414338" algn="l" rtl="0">
              <a:lnSpc>
                <a:spcPct val="90000"/>
              </a:lnSpc>
              <a:spcBef>
                <a:spcPts val="500"/>
              </a:spcBef>
              <a:spcAft>
                <a:spcPts val="0"/>
              </a:spcAft>
              <a:buClr>
                <a:schemeClr val="dk1"/>
              </a:buClr>
              <a:buSzPts val="2400"/>
              <a:buFont typeface="Courier New"/>
              <a:buChar char="o"/>
              <a:defRPr/>
            </a:pPr>
            <a:r>
              <a:rPr lang="en-US" sz="2400" i="0" u="none" strike="noStrike" cap="none">
                <a:solidFill>
                  <a:schemeClr val="bg1">
                    <a:lumMod val="50000"/>
                  </a:schemeClr>
                </a:solidFill>
                <a:latin typeface="Calibri"/>
                <a:ea typeface="Calibri"/>
                <a:cs typeface="Calibri"/>
              </a:rPr>
              <a:t>Develop appropriate before and after measures of project </a:t>
            </a:r>
            <a:r>
              <a:rPr lang="en-US" sz="2400" i="0" u="none" strike="noStrike" cap="none">
                <a:solidFill>
                  <a:schemeClr val="bg1">
                    <a:lumMod val="50000"/>
                  </a:schemeClr>
                </a:solidFill>
                <a:highlight>
                  <a:srgbClr val="FFFF00"/>
                </a:highlight>
                <a:latin typeface="Calibri"/>
                <a:ea typeface="Calibri"/>
                <a:cs typeface="Calibri"/>
              </a:rPr>
              <a:t>success</a:t>
            </a:r>
            <a:r>
              <a:rPr lang="en-US" sz="2400" i="0" u="none" strike="noStrike" cap="none">
                <a:solidFill>
                  <a:schemeClr val="bg1">
                    <a:lumMod val="50000"/>
                  </a:schemeClr>
                </a:solidFill>
                <a:latin typeface="Calibri"/>
                <a:ea typeface="Calibri"/>
                <a:cs typeface="Calibri"/>
              </a:rPr>
              <a:t>.</a:t>
            </a:r>
            <a:endParaRPr>
              <a:solidFill>
                <a:schemeClr val="bg1">
                  <a:lumMod val="50000"/>
                </a:schemeClr>
              </a:solidFill>
            </a:endParaRPr>
          </a:p>
          <a:p>
            <a:pPr marL="685800" marR="0" lvl="1" indent="-414338" algn="l" rtl="0">
              <a:lnSpc>
                <a:spcPct val="90000"/>
              </a:lnSpc>
              <a:spcBef>
                <a:spcPts val="500"/>
              </a:spcBef>
              <a:spcAft>
                <a:spcPts val="0"/>
              </a:spcAft>
              <a:buClr>
                <a:schemeClr val="dk1"/>
              </a:buClr>
              <a:buSzPts val="2400"/>
              <a:buFont typeface="Courier New"/>
              <a:buChar char="o"/>
              <a:defRPr/>
            </a:pPr>
            <a:r>
              <a:rPr lang="en-US" sz="2400" i="0" u="none" strike="noStrike" cap="none">
                <a:solidFill>
                  <a:schemeClr val="bg1">
                    <a:lumMod val="50000"/>
                  </a:schemeClr>
                </a:solidFill>
                <a:latin typeface="Calibri"/>
                <a:ea typeface="Calibri"/>
                <a:cs typeface="Calibri"/>
              </a:rPr>
              <a:t>Prepare estimates of the </a:t>
            </a:r>
            <a:r>
              <a:rPr lang="en-US" sz="2400" i="0" u="none" strike="noStrike" cap="none">
                <a:solidFill>
                  <a:schemeClr val="bg1">
                    <a:lumMod val="50000"/>
                  </a:schemeClr>
                </a:solidFill>
                <a:highlight>
                  <a:srgbClr val="FFFF00"/>
                </a:highlight>
                <a:latin typeface="Calibri"/>
                <a:ea typeface="Calibri"/>
                <a:cs typeface="Calibri"/>
              </a:rPr>
              <a:t>resources required</a:t>
            </a:r>
            <a:r>
              <a:rPr lang="en-US" sz="2400" i="0" u="none" strike="noStrike" cap="none">
                <a:solidFill>
                  <a:schemeClr val="bg1">
                    <a:lumMod val="50000"/>
                  </a:schemeClr>
                </a:solidFill>
                <a:latin typeface="Calibri"/>
                <a:ea typeface="Calibri"/>
                <a:cs typeface="Calibri"/>
              </a:rPr>
              <a:t> to perform the project work.</a:t>
            </a:r>
            <a:endParaRPr>
              <a:solidFill>
                <a:schemeClr val="bg1">
                  <a:lumMod val="50000"/>
                </a:schemeClr>
              </a:solidFill>
            </a:endParaRPr>
          </a:p>
          <a:p>
            <a:pPr marL="228600" marR="0" lvl="0" indent="-50800" algn="l" rtl="0">
              <a:lnSpc>
                <a:spcPct val="90000"/>
              </a:lnSpc>
              <a:spcBef>
                <a:spcPts val="1000"/>
              </a:spcBef>
              <a:spcAft>
                <a:spcPts val="0"/>
              </a:spcAft>
              <a:buClr>
                <a:schemeClr val="dk1"/>
              </a:buClr>
              <a:buSzPts val="2800"/>
              <a:buFont typeface="Arial"/>
              <a:buNone/>
              <a:defRPr/>
            </a:pPr>
            <a:endParaRPr sz="2800">
              <a:solidFill>
                <a:schemeClr val="dk1"/>
              </a:solidFill>
              <a:latin typeface="Calibri"/>
              <a:ea typeface="Calibri"/>
              <a:cs typeface="Calibri"/>
            </a:endParaRPr>
          </a:p>
          <a:p>
            <a:pPr marL="0" marR="0" lvl="0" indent="0" algn="l" rtl="0">
              <a:lnSpc>
                <a:spcPct val="90000"/>
              </a:lnSpc>
              <a:spcBef>
                <a:spcPts val="1000"/>
              </a:spcBef>
              <a:spcAft>
                <a:spcPts val="0"/>
              </a:spcAft>
              <a:buClr>
                <a:schemeClr val="dk1"/>
              </a:buClr>
              <a:buSzPts val="2000"/>
              <a:buFont typeface="Arial"/>
              <a:buNone/>
              <a:defRPr/>
            </a:pPr>
            <a:endParaRPr sz="2000" i="1">
              <a:solidFill>
                <a:schemeClr val="dk1"/>
              </a:solidFill>
              <a:latin typeface="Calibri"/>
              <a:ea typeface="Calibri"/>
              <a:cs typeface="Calibri"/>
            </a:endParaRPr>
          </a:p>
        </p:txBody>
      </p:sp>
      <p:cxnSp>
        <p:nvCxnSpPr>
          <p:cNvPr id="863077647" name="Google Shape;382;p21"/>
          <p:cNvCxnSpPr/>
          <p:nvPr/>
        </p:nvCxnSpPr>
        <p:spPr bwMode="auto">
          <a:xfrm rot="10800000">
            <a:off x="838200" y="1254265"/>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1502863591" name="Google Shape;383;p21"/>
          <p:cNvGrpSpPr/>
          <p:nvPr/>
        </p:nvGrpSpPr>
        <p:grpSpPr bwMode="auto">
          <a:xfrm>
            <a:off x="10463125" y="0"/>
            <a:ext cx="1754971" cy="6858000"/>
            <a:chOff x="10463125" y="0"/>
            <a:chExt cx="1754971" cy="6858000"/>
          </a:xfrm>
        </p:grpSpPr>
        <p:grpSp>
          <p:nvGrpSpPr>
            <p:cNvPr id="384" name="Google Shape;384;p21"/>
            <p:cNvGrpSpPr/>
            <p:nvPr/>
          </p:nvGrpSpPr>
          <p:grpSpPr bwMode="auto">
            <a:xfrm>
              <a:off x="10463125" y="31325"/>
              <a:ext cx="1754971" cy="6826674"/>
              <a:chOff x="10463125" y="31325"/>
              <a:chExt cx="1754971" cy="6826674"/>
            </a:xfrm>
          </p:grpSpPr>
          <p:pic>
            <p:nvPicPr>
              <p:cNvPr id="385" name="Google Shape;385;p21"/>
              <p:cNvPicPr/>
              <p:nvPr/>
            </p:nvPicPr>
            <p:blipFill rotWithShape="1">
              <a:blip r:embed="rId3">
                <a:alphaModFix/>
              </a:blip>
              <a:stretch/>
            </p:blipFill>
            <p:spPr bwMode="auto">
              <a:xfrm>
                <a:off x="10463125" y="3764687"/>
                <a:ext cx="1740050" cy="3093313"/>
              </a:xfrm>
              <a:prstGeom prst="rect">
                <a:avLst/>
              </a:prstGeom>
              <a:noFill/>
              <a:ln>
                <a:noFill/>
              </a:ln>
            </p:spPr>
          </p:pic>
          <p:pic>
            <p:nvPicPr>
              <p:cNvPr id="386" name="Google Shape;386;p21"/>
              <p:cNvPicPr/>
              <p:nvPr/>
            </p:nvPicPr>
            <p:blipFill rotWithShape="1">
              <a:blip r:embed="rId4">
                <a:alphaModFix/>
              </a:blip>
              <a:srcRect l="0" t="0" r="0" b="-186"/>
              <a:stretch/>
            </p:blipFill>
            <p:spPr bwMode="auto">
              <a:xfrm>
                <a:off x="10478046" y="660128"/>
                <a:ext cx="1740050" cy="3093313"/>
              </a:xfrm>
              <a:prstGeom prst="rect">
                <a:avLst/>
              </a:prstGeom>
              <a:noFill/>
              <a:ln>
                <a:noFill/>
              </a:ln>
            </p:spPr>
          </p:pic>
          <p:pic>
            <p:nvPicPr>
              <p:cNvPr id="387" name="Google Shape;387;p21"/>
              <p:cNvPicPr/>
              <p:nvPr/>
            </p:nvPicPr>
            <p:blipFill rotWithShape="1">
              <a:blip r:embed="rId5">
                <a:alphaModFix/>
              </a:blip>
              <a:srcRect l="0" t="0" r="0" b="78842"/>
              <a:stretch/>
            </p:blipFill>
            <p:spPr bwMode="auto">
              <a:xfrm>
                <a:off x="10478046" y="31325"/>
                <a:ext cx="1740050" cy="654475"/>
              </a:xfrm>
              <a:prstGeom prst="rect">
                <a:avLst/>
              </a:prstGeom>
              <a:noFill/>
              <a:ln>
                <a:noFill/>
              </a:ln>
            </p:spPr>
          </p:pic>
        </p:grpSp>
        <p:sp>
          <p:nvSpPr>
            <p:cNvPr id="388" name="Google Shape;388;p21"/>
            <p:cNvSpPr txBox="1"/>
            <p:nvPr/>
          </p:nvSpPr>
          <p:spPr bwMode="auto">
            <a:xfrm>
              <a:off x="10478046" y="0"/>
              <a:ext cx="1713954" cy="615513"/>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Clr>
                  <a:schemeClr val="lt1"/>
                </a:buClr>
                <a:buSzPts val="1700"/>
                <a:buFont typeface="Arimo"/>
                <a:buNone/>
                <a:defRPr/>
              </a:pPr>
              <a:r>
                <a:rPr lang="en-US" sz="1700">
                  <a:solidFill>
                    <a:schemeClr val="lt1"/>
                  </a:solidFill>
                  <a:latin typeface="Arimo"/>
                  <a:ea typeface="Arimo"/>
                  <a:cs typeface="Arimo"/>
                </a:rPr>
                <a:t>1.3 Project Appraisal</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957188824"/>
                                        </p:tgtEl>
                                        <p:attrNameLst>
                                          <p:attrName>style.visibility</p:attrName>
                                        </p:attrNameLst>
                                      </p:cBhvr>
                                      <p:to>
                                        <p:strVal val="visible"/>
                                      </p:to>
                                    </p:set>
                                    <p:anim calcmode="lin" valueType="num">
                                      <p:cBhvr additive="base">
                                        <p:cTn id="7" dur="500" fill="hold"/>
                                        <p:tgtEl>
                                          <p:spTgt spid="1957188824"/>
                                        </p:tgtEl>
                                        <p:attrNameLst>
                                          <p:attrName>ppt_x</p:attrName>
                                        </p:attrNameLst>
                                      </p:cBhvr>
                                      <p:tavLst>
                                        <p:tav tm="0">
                                          <p:val>
                                            <p:strVal val="#ppt_x"/>
                                          </p:val>
                                        </p:tav>
                                        <p:tav tm="100000">
                                          <p:val>
                                            <p:strVal val="#ppt_x"/>
                                          </p:val>
                                        </p:tav>
                                      </p:tavLst>
                                    </p:anim>
                                    <p:anim calcmode="lin" valueType="num">
                                      <p:cBhvr additive="base">
                                        <p:cTn id="8" dur="500" fill="hold"/>
                                        <p:tgtEl>
                                          <p:spTgt spid="195718882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7188824" grpId="0"/>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04909570" name="Google Shape;407;p23"/>
          <p:cNvSpPr txBox="1">
            <a:spLocks noGrp="1"/>
          </p:cNvSpPr>
          <p:nvPr>
            <p:ph type="title"/>
          </p:nvPr>
        </p:nvSpPr>
        <p:spPr bwMode="auto">
          <a:xfrm>
            <a:off x="1524000" y="381000"/>
            <a:ext cx="8686800" cy="5334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Calibri"/>
              <a:buNone/>
              <a:defRPr/>
            </a:pPr>
            <a:r>
              <a:rPr lang="en-US" b="1"/>
              <a:t>Cost &amp; Benefit Analysis - Examples</a:t>
            </a:r>
            <a:endParaRPr/>
          </a:p>
        </p:txBody>
      </p:sp>
      <p:graphicFrame>
        <p:nvGraphicFramePr>
          <p:cNvPr id="1935994558" name="Google Shape;408;p23"/>
          <p:cNvGraphicFramePr>
            <a:graphicFrameLocks xmlns:a="http://schemas.openxmlformats.org/drawingml/2006/main" noChangeAspect="1"/>
          </p:cNvGraphicFramePr>
          <p:nvPr/>
        </p:nvGraphicFramePr>
        <p:xfrm>
          <a:off x="609600" y="1676401"/>
          <a:ext cx="11324120" cy="4152980"/>
        </p:xfrm>
        <a:graphic>
          <a:graphicData uri="http://schemas.openxmlformats.org/presentationml/2006/ole">
            <p:oleObj name="oleObj" r:id="rId4" imgW="11323955" imgH="4152900" progId="OrgPlusWOPX.4">
              <p:embed/>
              <p:pic>
                <p:nvPicPr>
                  <p:cNvPr id="1935994558" name="Google Shape;408;p23"/>
                  <p:cNvPicPr/>
                  <p:nvPr/>
                </p:nvPicPr>
                <p:blipFill rotWithShape="1">
                  <a:blip r:embed="rId3">
                    <a:alphaModFix/>
                  </a:blip>
                  <a:stretch/>
                </p:blipFill>
                <p:spPr bwMode="auto">
                  <a:xfrm>
                    <a:off x="609600" y="1676401"/>
                    <a:ext cx="11324120" cy="4152980"/>
                  </a:xfrm>
                  <a:prstGeom prst="rect">
                    <a:avLst/>
                  </a:prstGeom>
                  <a:noFill/>
                  <a:ln>
                    <a:noFill/>
                  </a:ln>
                </p:spPr>
              </p:pic>
            </p:oleObj>
          </a:graphicData>
        </a:graphic>
      </p:graphicFrame>
      <p:sp>
        <p:nvSpPr>
          <p:cNvPr id="2011791192" name="Google Shape;409;p2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23</a:t>
            </a:fld>
            <a:endParaRPr/>
          </a:p>
        </p:txBody>
      </p:sp>
      <p:cxnSp>
        <p:nvCxnSpPr>
          <p:cNvPr id="1084644707" name="Google Shape;410;p23"/>
          <p:cNvCxnSpPr/>
          <p:nvPr/>
        </p:nvCxnSpPr>
        <p:spPr bwMode="auto">
          <a:xfrm rot="10800000">
            <a:off x="5715000" y="1143000"/>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343252270" name="Oval 1"/>
          <p:cNvSpPr/>
          <p:nvPr/>
        </p:nvSpPr>
        <p:spPr bwMode="auto">
          <a:xfrm>
            <a:off x="2842591" y="2613991"/>
            <a:ext cx="1013792" cy="5334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120521042" name="TextBox 3"/>
          <p:cNvSpPr txBox="1"/>
          <p:nvPr/>
        </p:nvSpPr>
        <p:spPr bwMode="auto">
          <a:xfrm>
            <a:off x="-16629" y="4441177"/>
            <a:ext cx="1472339" cy="338554"/>
          </a:xfrm>
          <a:prstGeom prst="rect">
            <a:avLst/>
          </a:prstGeom>
          <a:noFill/>
        </p:spPr>
        <p:txBody>
          <a:bodyPr wrap="square" rtlCol="0">
            <a:spAutoFit/>
          </a:bodyPr>
          <a:lstStyle/>
          <a:p>
            <a:pPr>
              <a:defRPr/>
            </a:pPr>
            <a:r>
              <a:rPr lang="en-US" sz="1600"/>
              <a:t>- To conduct</a:t>
            </a:r>
            <a:endParaRPr lang="en-GB" sz="1600"/>
          </a:p>
        </p:txBody>
      </p:sp>
      <p:sp>
        <p:nvSpPr>
          <p:cNvPr id="515524151" name="TextBox 5"/>
          <p:cNvSpPr txBox="1"/>
          <p:nvPr/>
        </p:nvSpPr>
        <p:spPr bwMode="auto">
          <a:xfrm>
            <a:off x="1140308" y="4741961"/>
            <a:ext cx="285750" cy="307777"/>
          </a:xfrm>
          <a:prstGeom prst="rect">
            <a:avLst/>
          </a:prstGeom>
          <a:noFill/>
        </p:spPr>
        <p:txBody>
          <a:bodyPr wrap="square" rtlCol="0">
            <a:spAutoFit/>
          </a:bodyPr>
          <a:lstStyle/>
          <a:p>
            <a:pPr>
              <a:defRPr/>
            </a:pPr>
            <a:r>
              <a:rPr lang="en-US"/>
              <a:t>-</a:t>
            </a:r>
            <a:endParaRPr lang="en-GB"/>
          </a:p>
        </p:txBody>
      </p:sp>
      <p:sp>
        <p:nvSpPr>
          <p:cNvPr id="2084716722" name="TextBox 7"/>
          <p:cNvSpPr txBox="1"/>
          <p:nvPr/>
        </p:nvSpPr>
        <p:spPr bwMode="auto">
          <a:xfrm>
            <a:off x="1365278" y="5083043"/>
            <a:ext cx="285750" cy="307777"/>
          </a:xfrm>
          <a:prstGeom prst="rect">
            <a:avLst/>
          </a:prstGeom>
          <a:noFill/>
        </p:spPr>
        <p:txBody>
          <a:bodyPr wrap="square" rtlCol="0">
            <a:spAutoFit/>
          </a:bodyPr>
          <a:lstStyle/>
          <a:p>
            <a:pPr>
              <a:defRPr/>
            </a:pPr>
            <a:r>
              <a:rPr lang="en-US"/>
              <a:t>-</a:t>
            </a:r>
            <a:endParaRPr lang="en-GB"/>
          </a:p>
        </p:txBody>
      </p:sp>
      <p:sp>
        <p:nvSpPr>
          <p:cNvPr id="1642491052" name="Rectangle 10"/>
          <p:cNvSpPr/>
          <p:nvPr/>
        </p:nvSpPr>
        <p:spPr bwMode="auto">
          <a:xfrm>
            <a:off x="6240354" y="3147391"/>
            <a:ext cx="5791200" cy="28615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680978958" name="TextBox 2"/>
          <p:cNvSpPr txBox="1"/>
          <p:nvPr/>
        </p:nvSpPr>
        <p:spPr bwMode="auto">
          <a:xfrm>
            <a:off x="2528266" y="4779731"/>
            <a:ext cx="1615109" cy="1815882"/>
          </a:xfrm>
          <a:prstGeom prst="rect">
            <a:avLst/>
          </a:prstGeom>
          <a:noFill/>
        </p:spPr>
        <p:txBody>
          <a:bodyPr wrap="square" rtlCol="0">
            <a:spAutoFit/>
          </a:bodyPr>
          <a:lstStyle/>
          <a:p>
            <a:pPr>
              <a:defRPr/>
            </a:pPr>
            <a:r>
              <a:rPr lang="en-US" i="1"/>
              <a:t>(</a:t>
            </a:r>
            <a:r>
              <a:rPr lang="en-US" b="1" i="1" u="sng"/>
              <a:t>e.g. </a:t>
            </a:r>
            <a:r>
              <a:rPr lang="en-US" b="1" i="1"/>
              <a:t>Consultation with security experts</a:t>
            </a:r>
            <a:r>
              <a:rPr lang="en-US" i="1"/>
              <a:t> to perform a security assessment and implement best practices)</a:t>
            </a:r>
            <a:endParaRPr lang="en-GB" i="1"/>
          </a:p>
        </p:txBody>
      </p:sp>
      <p:sp>
        <p:nvSpPr>
          <p:cNvPr id="617258568" name="Oval 4"/>
          <p:cNvSpPr/>
          <p:nvPr/>
        </p:nvSpPr>
        <p:spPr bwMode="auto">
          <a:xfrm>
            <a:off x="160446" y="3391527"/>
            <a:ext cx="3169162" cy="243785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1398273844" name="Oval 6"/>
          <p:cNvSpPr/>
          <p:nvPr/>
        </p:nvSpPr>
        <p:spPr bwMode="auto">
          <a:xfrm>
            <a:off x="3853069" y="3416087"/>
            <a:ext cx="2014331" cy="221939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604909570"/>
                                        </p:tgtEl>
                                        <p:attrNameLst>
                                          <p:attrName>style.visibility</p:attrName>
                                        </p:attrNameLst>
                                      </p:cBhvr>
                                      <p:to>
                                        <p:strVal val="visible"/>
                                      </p:to>
                                    </p:set>
                                    <p:anim calcmode="lin" valueType="num">
                                      <p:cBhvr additive="base">
                                        <p:cTn id="7" dur="500" fill="hold"/>
                                        <p:tgtEl>
                                          <p:spTgt spid="1604909570"/>
                                        </p:tgtEl>
                                        <p:attrNameLst>
                                          <p:attrName>ppt_x</p:attrName>
                                        </p:attrNameLst>
                                      </p:cBhvr>
                                      <p:tavLst>
                                        <p:tav tm="0">
                                          <p:val>
                                            <p:strVal val="#ppt_x"/>
                                          </p:val>
                                        </p:tav>
                                        <p:tav tm="100000">
                                          <p:val>
                                            <p:strVal val="#ppt_x"/>
                                          </p:val>
                                        </p:tav>
                                      </p:tavLst>
                                    </p:anim>
                                    <p:anim calcmode="lin" valueType="num">
                                      <p:cBhvr additive="base">
                                        <p:cTn id="8" dur="500" fill="hold"/>
                                        <p:tgtEl>
                                          <p:spTgt spid="160490957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43252270"/>
                                        </p:tgtEl>
                                        <p:attrNameLst>
                                          <p:attrName>style.visibility</p:attrName>
                                        </p:attrNameLst>
                                      </p:cBhvr>
                                      <p:to>
                                        <p:strVal val="visible"/>
                                      </p:to>
                                    </p:set>
                                    <p:animEffect transition="in" filter="wipe(left)">
                                      <p:cBhvr>
                                        <p:cTn id="13" dur="500"/>
                                        <p:tgtEl>
                                          <p:spTgt spid="134325227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17258568"/>
                                        </p:tgtEl>
                                        <p:attrNameLst>
                                          <p:attrName>style.visibility</p:attrName>
                                        </p:attrNameLst>
                                      </p:cBhvr>
                                      <p:to>
                                        <p:strVal val="visible"/>
                                      </p:to>
                                    </p:set>
                                    <p:animEffect transition="in" filter="wipe(left)">
                                      <p:cBhvr>
                                        <p:cTn id="18" dur="500"/>
                                        <p:tgtEl>
                                          <p:spTgt spid="61725856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98273844"/>
                                        </p:tgtEl>
                                        <p:attrNameLst>
                                          <p:attrName>style.visibility</p:attrName>
                                        </p:attrNameLst>
                                      </p:cBhvr>
                                      <p:to>
                                        <p:strVal val="visible"/>
                                      </p:to>
                                    </p:set>
                                    <p:animEffect transition="in" filter="wipe(left)">
                                      <p:cBhvr>
                                        <p:cTn id="23" dur="500"/>
                                        <p:tgtEl>
                                          <p:spTgt spid="1398273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4909570" grpId="0"/>
      <p:bldP spid="1343252270" grpId="0" animBg="1"/>
      <p:bldP spid="617258568" grpId="0" animBg="1"/>
      <p:bldP spid="1398273844" grpId="0" animBg="1"/>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2236549" name="Google Shape;407;p23"/>
          <p:cNvSpPr txBox="1">
            <a:spLocks noGrp="1"/>
          </p:cNvSpPr>
          <p:nvPr>
            <p:ph type="title"/>
          </p:nvPr>
        </p:nvSpPr>
        <p:spPr bwMode="auto">
          <a:xfrm>
            <a:off x="1524000" y="381000"/>
            <a:ext cx="8686800" cy="5334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ct val="100000"/>
              <a:buFont typeface="Calibri"/>
              <a:buNone/>
              <a:defRPr/>
            </a:pPr>
            <a:r>
              <a:rPr lang="en-US" b="1"/>
              <a:t>Cost &amp; Benefit Analysis - Examples</a:t>
            </a:r>
            <a:endParaRPr/>
          </a:p>
        </p:txBody>
      </p:sp>
      <p:graphicFrame>
        <p:nvGraphicFramePr>
          <p:cNvPr id="1170324862" name="Google Shape;408;p23"/>
          <p:cNvGraphicFramePr>
            <a:graphicFrameLocks xmlns:a="http://schemas.openxmlformats.org/drawingml/2006/main" noChangeAspect="1"/>
          </p:cNvGraphicFramePr>
          <p:nvPr/>
        </p:nvGraphicFramePr>
        <p:xfrm>
          <a:off x="609600" y="1676401"/>
          <a:ext cx="11324120" cy="4152980"/>
        </p:xfrm>
        <a:graphic>
          <a:graphicData uri="http://schemas.openxmlformats.org/presentationml/2006/ole">
            <p:oleObj name="oleObj" r:id="rId4" imgW="11323955" imgH="4152900" progId="OrgPlusWOPX.4">
              <p:embed/>
              <p:pic>
                <p:nvPicPr>
                  <p:cNvPr id="1170324862" name="Google Shape;408;p23"/>
                  <p:cNvPicPr/>
                  <p:nvPr/>
                </p:nvPicPr>
                <p:blipFill rotWithShape="1">
                  <a:blip r:embed="rId3">
                    <a:alphaModFix/>
                  </a:blip>
                  <a:stretch/>
                </p:blipFill>
                <p:spPr bwMode="auto">
                  <a:xfrm>
                    <a:off x="609600" y="1676401"/>
                    <a:ext cx="11324120" cy="4152980"/>
                  </a:xfrm>
                  <a:prstGeom prst="rect">
                    <a:avLst/>
                  </a:prstGeom>
                  <a:noFill/>
                  <a:ln>
                    <a:noFill/>
                  </a:ln>
                </p:spPr>
              </p:pic>
            </p:oleObj>
          </a:graphicData>
        </a:graphic>
      </p:graphicFrame>
      <p:sp>
        <p:nvSpPr>
          <p:cNvPr id="192620189" name="Google Shape;409;p2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24</a:t>
            </a:fld>
            <a:endParaRPr/>
          </a:p>
        </p:txBody>
      </p:sp>
      <p:cxnSp>
        <p:nvCxnSpPr>
          <p:cNvPr id="1797236851" name="Google Shape;410;p23"/>
          <p:cNvCxnSpPr/>
          <p:nvPr/>
        </p:nvCxnSpPr>
        <p:spPr bwMode="auto">
          <a:xfrm rot="10800000">
            <a:off x="5715000" y="1143000"/>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678119799" name="Oval 1"/>
          <p:cNvSpPr/>
          <p:nvPr/>
        </p:nvSpPr>
        <p:spPr bwMode="auto">
          <a:xfrm>
            <a:off x="8610600" y="2613991"/>
            <a:ext cx="1013792" cy="5334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1393772803" name="TextBox 3"/>
          <p:cNvSpPr txBox="1"/>
          <p:nvPr/>
        </p:nvSpPr>
        <p:spPr bwMode="auto">
          <a:xfrm>
            <a:off x="-16629" y="4441177"/>
            <a:ext cx="1472339" cy="338554"/>
          </a:xfrm>
          <a:prstGeom prst="rect">
            <a:avLst/>
          </a:prstGeom>
          <a:noFill/>
        </p:spPr>
        <p:txBody>
          <a:bodyPr wrap="square" rtlCol="0">
            <a:spAutoFit/>
          </a:bodyPr>
          <a:lstStyle/>
          <a:p>
            <a:pPr>
              <a:defRPr/>
            </a:pPr>
            <a:r>
              <a:rPr lang="en-US" sz="1600"/>
              <a:t>- To conduct</a:t>
            </a:r>
            <a:endParaRPr lang="en-GB" sz="1600"/>
          </a:p>
        </p:txBody>
      </p:sp>
      <p:sp>
        <p:nvSpPr>
          <p:cNvPr id="1472144380" name="TextBox 4"/>
          <p:cNvSpPr txBox="1"/>
          <p:nvPr/>
        </p:nvSpPr>
        <p:spPr bwMode="auto">
          <a:xfrm>
            <a:off x="2528266" y="4779731"/>
            <a:ext cx="1615109" cy="1815882"/>
          </a:xfrm>
          <a:prstGeom prst="rect">
            <a:avLst/>
          </a:prstGeom>
          <a:noFill/>
        </p:spPr>
        <p:txBody>
          <a:bodyPr wrap="square" rtlCol="0">
            <a:spAutoFit/>
          </a:bodyPr>
          <a:lstStyle/>
          <a:p>
            <a:pPr>
              <a:defRPr/>
            </a:pPr>
            <a:r>
              <a:rPr lang="en-US" i="1"/>
              <a:t>(</a:t>
            </a:r>
            <a:r>
              <a:rPr lang="en-US" b="1" i="1" u="sng"/>
              <a:t>e.g. </a:t>
            </a:r>
            <a:r>
              <a:rPr lang="en-US" b="1" i="1"/>
              <a:t>Consultation with security experts</a:t>
            </a:r>
            <a:r>
              <a:rPr lang="en-US" i="1"/>
              <a:t> to perform a security assessment and implement best practices)</a:t>
            </a:r>
            <a:endParaRPr lang="en-GB" i="1"/>
          </a:p>
        </p:txBody>
      </p:sp>
      <p:sp>
        <p:nvSpPr>
          <p:cNvPr id="1930483517" name="TextBox 5"/>
          <p:cNvSpPr txBox="1"/>
          <p:nvPr/>
        </p:nvSpPr>
        <p:spPr bwMode="auto">
          <a:xfrm>
            <a:off x="1140308" y="4741961"/>
            <a:ext cx="285750" cy="307777"/>
          </a:xfrm>
          <a:prstGeom prst="rect">
            <a:avLst/>
          </a:prstGeom>
          <a:noFill/>
        </p:spPr>
        <p:txBody>
          <a:bodyPr wrap="square" rtlCol="0">
            <a:spAutoFit/>
          </a:bodyPr>
          <a:lstStyle/>
          <a:p>
            <a:pPr>
              <a:defRPr/>
            </a:pPr>
            <a:r>
              <a:rPr lang="en-US"/>
              <a:t>-</a:t>
            </a:r>
            <a:endParaRPr lang="en-GB"/>
          </a:p>
        </p:txBody>
      </p:sp>
      <p:sp>
        <p:nvSpPr>
          <p:cNvPr id="1537852852" name="TextBox 7"/>
          <p:cNvSpPr txBox="1"/>
          <p:nvPr/>
        </p:nvSpPr>
        <p:spPr bwMode="auto">
          <a:xfrm>
            <a:off x="1365278" y="5083043"/>
            <a:ext cx="285750" cy="307777"/>
          </a:xfrm>
          <a:prstGeom prst="rect">
            <a:avLst/>
          </a:prstGeom>
          <a:noFill/>
        </p:spPr>
        <p:txBody>
          <a:bodyPr wrap="square" rtlCol="0">
            <a:spAutoFit/>
          </a:bodyPr>
          <a:lstStyle/>
          <a:p>
            <a:pPr>
              <a:defRPr/>
            </a:pPr>
            <a:r>
              <a:rPr lang="en-US"/>
              <a:t>-</a:t>
            </a:r>
            <a:endParaRPr lang="en-GB"/>
          </a:p>
        </p:txBody>
      </p:sp>
      <p:sp>
        <p:nvSpPr>
          <p:cNvPr id="727024172" name="TextBox 2"/>
          <p:cNvSpPr txBox="1"/>
          <p:nvPr/>
        </p:nvSpPr>
        <p:spPr bwMode="auto">
          <a:xfrm>
            <a:off x="6813919" y="4765216"/>
            <a:ext cx="2141396" cy="523220"/>
          </a:xfrm>
          <a:prstGeom prst="rect">
            <a:avLst/>
          </a:prstGeom>
          <a:solidFill>
            <a:schemeClr val="accent5">
              <a:lumMod val="40000"/>
              <a:lumOff val="60000"/>
            </a:schemeClr>
          </a:solidFill>
        </p:spPr>
        <p:txBody>
          <a:bodyPr wrap="square" rtlCol="0">
            <a:spAutoFit/>
          </a:bodyPr>
          <a:lstStyle/>
          <a:p>
            <a:pPr>
              <a:defRPr/>
            </a:pPr>
            <a:r>
              <a:rPr lang="en-US" i="1">
                <a:solidFill>
                  <a:srgbClr val="FF0000"/>
                </a:solidFill>
              </a:rPr>
              <a:t>(Amt of money saved as a result automation)</a:t>
            </a:r>
            <a:endParaRPr lang="en-GB" i="1">
              <a:solidFill>
                <a:srgbClr val="FF0000"/>
              </a:solidFill>
            </a:endParaRPr>
          </a:p>
        </p:txBody>
      </p:sp>
      <p:cxnSp>
        <p:nvCxnSpPr>
          <p:cNvPr id="2136058535" name="Straight Connector 8"/>
          <p:cNvCxnSpPr/>
          <p:nvPr/>
        </p:nvCxnSpPr>
        <p:spPr bwMode="auto">
          <a:xfrm>
            <a:off x="6400798" y="4948140"/>
            <a:ext cx="36705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24783770" name="TextBox 9"/>
          <p:cNvSpPr txBox="1"/>
          <p:nvPr/>
        </p:nvSpPr>
        <p:spPr bwMode="auto">
          <a:xfrm>
            <a:off x="6813919" y="5390820"/>
            <a:ext cx="2141396" cy="553998"/>
          </a:xfrm>
          <a:prstGeom prst="rect">
            <a:avLst/>
          </a:prstGeom>
          <a:solidFill>
            <a:schemeClr val="accent5">
              <a:lumMod val="40000"/>
              <a:lumOff val="60000"/>
            </a:schemeClr>
          </a:solidFill>
        </p:spPr>
        <p:txBody>
          <a:bodyPr wrap="square" rtlCol="0">
            <a:spAutoFit/>
          </a:bodyPr>
          <a:lstStyle/>
          <a:p>
            <a:pPr>
              <a:defRPr/>
            </a:pPr>
            <a:r>
              <a:rPr lang="en-US" sz="1600" b="1">
                <a:solidFill>
                  <a:srgbClr val="FF0000"/>
                </a:solidFill>
              </a:rPr>
              <a:t>Increase in revenue</a:t>
            </a:r>
            <a:endParaRPr/>
          </a:p>
          <a:p>
            <a:pPr>
              <a:defRPr/>
            </a:pPr>
            <a:r>
              <a:rPr lang="en-US" i="1">
                <a:solidFill>
                  <a:srgbClr val="FF0000"/>
                </a:solidFill>
              </a:rPr>
              <a:t>(more sales)</a:t>
            </a:r>
            <a:endParaRPr lang="en-GB" i="1">
              <a:solidFill>
                <a:srgbClr val="FF0000"/>
              </a:solidFill>
            </a:endParaRPr>
          </a:p>
        </p:txBody>
      </p:sp>
      <p:cxnSp>
        <p:nvCxnSpPr>
          <p:cNvPr id="739381136" name="Straight Arrow Connector 11"/>
          <p:cNvCxnSpPr/>
          <p:nvPr/>
        </p:nvCxnSpPr>
        <p:spPr bwMode="auto">
          <a:xfrm flipV="1">
            <a:off x="9550399" y="4470205"/>
            <a:ext cx="0" cy="3007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2759778" name="TextBox 14"/>
          <p:cNvSpPr txBox="1"/>
          <p:nvPr/>
        </p:nvSpPr>
        <p:spPr bwMode="auto">
          <a:xfrm>
            <a:off x="9667934" y="4779732"/>
            <a:ext cx="2141396" cy="369332"/>
          </a:xfrm>
          <a:prstGeom prst="rect">
            <a:avLst/>
          </a:prstGeom>
          <a:solidFill>
            <a:schemeClr val="accent5">
              <a:lumMod val="40000"/>
              <a:lumOff val="60000"/>
            </a:schemeClr>
          </a:solidFill>
        </p:spPr>
        <p:txBody>
          <a:bodyPr wrap="square" rtlCol="0">
            <a:spAutoFit/>
          </a:bodyPr>
          <a:lstStyle/>
          <a:p>
            <a:pPr>
              <a:defRPr/>
            </a:pPr>
            <a:r>
              <a:rPr lang="en-US" sz="1800"/>
              <a:t>Better reputation</a:t>
            </a:r>
            <a:endParaRPr lang="en-GB" sz="1800"/>
          </a:p>
        </p:txBody>
      </p:sp>
      <p:sp>
        <p:nvSpPr>
          <p:cNvPr id="1963075303" name="Oval 6"/>
          <p:cNvSpPr/>
          <p:nvPr/>
        </p:nvSpPr>
        <p:spPr bwMode="auto">
          <a:xfrm>
            <a:off x="6767850" y="3435629"/>
            <a:ext cx="2014331" cy="56335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39215143" name="Oval 10"/>
          <p:cNvSpPr/>
          <p:nvPr/>
        </p:nvSpPr>
        <p:spPr bwMode="auto">
          <a:xfrm>
            <a:off x="9568069" y="3450145"/>
            <a:ext cx="2014331" cy="563355"/>
          </a:xfrm>
          <a:prstGeom prst="ellipse">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78119799"/>
                                        </p:tgtEl>
                                        <p:attrNameLst>
                                          <p:attrName>style.visibility</p:attrName>
                                        </p:attrNameLst>
                                      </p:cBhvr>
                                      <p:to>
                                        <p:strVal val="visible"/>
                                      </p:to>
                                    </p:set>
                                    <p:animEffect transition="in" filter="wipe(left)">
                                      <p:cBhvr>
                                        <p:cTn id="7" dur="500"/>
                                        <p:tgtEl>
                                          <p:spTgt spid="16781197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63075303"/>
                                        </p:tgtEl>
                                        <p:attrNameLst>
                                          <p:attrName>style.visibility</p:attrName>
                                        </p:attrNameLst>
                                      </p:cBhvr>
                                      <p:to>
                                        <p:strVal val="visible"/>
                                      </p:to>
                                    </p:set>
                                    <p:animEffect transition="in" filter="wipe(left)">
                                      <p:cBhvr>
                                        <p:cTn id="12" dur="500"/>
                                        <p:tgtEl>
                                          <p:spTgt spid="19630753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9215143"/>
                                        </p:tgtEl>
                                        <p:attrNameLst>
                                          <p:attrName>style.visibility</p:attrName>
                                        </p:attrNameLst>
                                      </p:cBhvr>
                                      <p:to>
                                        <p:strVal val="visible"/>
                                      </p:to>
                                    </p:set>
                                    <p:animEffect transition="in" filter="wipe(left)">
                                      <p:cBhvr>
                                        <p:cTn id="17" dur="500"/>
                                        <p:tgtEl>
                                          <p:spTgt spid="39215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8119799" grpId="0" animBg="1"/>
      <p:bldP spid="1963075303" grpId="0" animBg="1"/>
      <p:bldP spid="39215143" grpId="0" animBg="1"/>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21103052" name="Google Shape;347;p19"/>
          <p:cNvSpPr txBox="1">
            <a:spLocks noGrp="1"/>
          </p:cNvSpPr>
          <p:nvPr>
            <p:ph type="ctrTitle"/>
          </p:nvPr>
        </p:nvSpPr>
        <p:spPr bwMode="auto">
          <a:xfrm>
            <a:off x="5791200" y="1066800"/>
            <a:ext cx="6248400" cy="1163637"/>
          </a:xfrm>
          <a:prstGeom prst="rect">
            <a:avLst/>
          </a:prstGeom>
          <a:noFill/>
          <a:ln>
            <a:noFill/>
          </a:ln>
        </p:spPr>
        <p:txBody>
          <a:bodyPr spcFirstLastPara="1" wrap="square" lIns="91425" tIns="45700" rIns="91425" bIns="45700" anchor="b" anchorCtr="0">
            <a:normAutofit/>
          </a:bodyPr>
          <a:lstStyle/>
          <a:p>
            <a:pPr marL="719138" lvl="0" indent="-719138" algn="l" rtl="0">
              <a:lnSpc>
                <a:spcPct val="90000"/>
              </a:lnSpc>
              <a:spcBef>
                <a:spcPts val="0"/>
              </a:spcBef>
              <a:spcAft>
                <a:spcPts val="0"/>
              </a:spcAft>
              <a:buClr>
                <a:schemeClr val="dk1"/>
              </a:buClr>
              <a:buSzPts val="3800"/>
              <a:buFont typeface="Calibri"/>
              <a:buNone/>
              <a:defRPr/>
            </a:pPr>
            <a:r>
              <a:rPr lang="en-US" sz="3800" b="1"/>
              <a:t>1.3 Project Appraisal</a:t>
            </a:r>
            <a:endParaRPr strike="sngStrike"/>
          </a:p>
        </p:txBody>
      </p:sp>
      <p:sp>
        <p:nvSpPr>
          <p:cNvPr id="2126261642" name="Google Shape;348;p19"/>
          <p:cNvSpPr txBox="1">
            <a:spLocks noGrp="1"/>
          </p:cNvSpPr>
          <p:nvPr>
            <p:ph type="subTitle" idx="1"/>
          </p:nvPr>
        </p:nvSpPr>
        <p:spPr bwMode="auto">
          <a:xfrm>
            <a:off x="6011075" y="2667000"/>
            <a:ext cx="5334000" cy="3821114"/>
          </a:xfrm>
          <a:prstGeom prst="rect">
            <a:avLst/>
          </a:prstGeom>
          <a:noFill/>
          <a:ln>
            <a:noFill/>
          </a:ln>
        </p:spPr>
        <p:txBody>
          <a:bodyPr spcFirstLastPara="1" wrap="square" lIns="91425" tIns="45700" rIns="91425" bIns="45700" anchor="t" anchorCtr="0">
            <a:noAutofit/>
          </a:bodyPr>
          <a:lstStyle/>
          <a:p>
            <a:pPr marL="355600" lvl="0" indent="-355600" algn="l">
              <a:spcBef>
                <a:spcPts val="0"/>
              </a:spcBef>
              <a:buFont typeface="Arial"/>
              <a:buChar char="•"/>
              <a:defRPr/>
            </a:pPr>
            <a:r>
              <a:rPr lang="en-US" sz="2800">
                <a:solidFill>
                  <a:schemeClr val="bg1">
                    <a:lumMod val="50000"/>
                  </a:schemeClr>
                </a:solidFill>
              </a:rPr>
              <a:t>Cash Flow Forecasting</a:t>
            </a:r>
            <a:endParaRPr sz="2800">
              <a:solidFill>
                <a:schemeClr val="bg1">
                  <a:lumMod val="50000"/>
                </a:schemeClr>
              </a:solidFill>
            </a:endParaRPr>
          </a:p>
          <a:p>
            <a:pPr marL="355600" lvl="0" indent="-355600" algn="l" rtl="0">
              <a:lnSpc>
                <a:spcPct val="90000"/>
              </a:lnSpc>
              <a:spcBef>
                <a:spcPts val="1000"/>
              </a:spcBef>
              <a:spcAft>
                <a:spcPts val="0"/>
              </a:spcAft>
              <a:buClr>
                <a:schemeClr val="dk1"/>
              </a:buClr>
              <a:buSzPts val="2400"/>
              <a:buFont typeface="Arial"/>
              <a:buChar char="•"/>
              <a:defRPr/>
            </a:pPr>
            <a:r>
              <a:rPr lang="en-US" sz="2800">
                <a:solidFill>
                  <a:schemeClr val="bg1">
                    <a:lumMod val="50000"/>
                  </a:schemeClr>
                </a:solidFill>
              </a:rPr>
              <a:t>Cost &amp; Benefit Analysis</a:t>
            </a:r>
            <a:endParaRPr/>
          </a:p>
          <a:p>
            <a:pPr marL="355600" lvl="0" indent="-355600" algn="l" rtl="0">
              <a:lnSpc>
                <a:spcPct val="90000"/>
              </a:lnSpc>
              <a:spcBef>
                <a:spcPts val="1000"/>
              </a:spcBef>
              <a:spcAft>
                <a:spcPts val="0"/>
              </a:spcAft>
              <a:buClr>
                <a:schemeClr val="dk1"/>
              </a:buClr>
              <a:buSzPts val="2400"/>
              <a:buFont typeface="Arial"/>
              <a:buChar char="•"/>
              <a:defRPr/>
            </a:pPr>
            <a:r>
              <a:rPr lang="en-US" sz="2800" b="1"/>
              <a:t>Financial Techniques</a:t>
            </a:r>
            <a:endParaRPr sz="2800" b="1"/>
          </a:p>
          <a:p>
            <a:pPr marL="812800" lvl="1" indent="-355600" algn="l">
              <a:spcBef>
                <a:spcPts val="1000"/>
              </a:spcBef>
              <a:buSzPts val="2400"/>
              <a:buFont typeface="Arial"/>
              <a:buChar char="•"/>
              <a:defRPr/>
            </a:pPr>
            <a:r>
              <a:rPr lang="en-US" sz="2400"/>
              <a:t>Net Profit</a:t>
            </a:r>
            <a:endParaRPr sz="2400"/>
          </a:p>
          <a:p>
            <a:pPr marL="812800" lvl="1" indent="-355600" algn="l">
              <a:spcBef>
                <a:spcPts val="1000"/>
              </a:spcBef>
              <a:buSzPts val="2400"/>
              <a:buFont typeface="Arial"/>
              <a:buChar char="•"/>
              <a:defRPr/>
            </a:pPr>
            <a:r>
              <a:rPr lang="en-US" sz="2400"/>
              <a:t>Payback Period</a:t>
            </a:r>
            <a:endParaRPr sz="2400"/>
          </a:p>
          <a:p>
            <a:pPr marL="812800" lvl="1" indent="-355600" algn="l">
              <a:spcBef>
                <a:spcPts val="1000"/>
              </a:spcBef>
              <a:buSzPts val="2400"/>
              <a:buFont typeface="Arial"/>
              <a:buChar char="•"/>
              <a:defRPr/>
            </a:pPr>
            <a:r>
              <a:rPr lang="en-US" sz="2400"/>
              <a:t>Return on Investment (ROI)</a:t>
            </a:r>
            <a:endParaRPr sz="2400"/>
          </a:p>
          <a:p>
            <a:pPr marL="812800" lvl="1" indent="-355600" algn="l">
              <a:spcBef>
                <a:spcPts val="1000"/>
              </a:spcBef>
              <a:buSzPts val="2400"/>
              <a:buFont typeface="Arial"/>
              <a:buChar char="•"/>
              <a:defRPr/>
            </a:pPr>
            <a:r>
              <a:rPr lang="en-US" sz="2400"/>
              <a:t>Net Present Value (NPV)</a:t>
            </a:r>
            <a:endParaRPr sz="2400"/>
          </a:p>
        </p:txBody>
      </p:sp>
      <p:sp>
        <p:nvSpPr>
          <p:cNvPr id="1469412345" name="Google Shape;349;p19"/>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25</a:t>
            </a:fld>
            <a:endParaRPr/>
          </a:p>
        </p:txBody>
      </p:sp>
      <p:pic>
        <p:nvPicPr>
          <p:cNvPr id="759734554" name="Google Shape;350;p19"/>
          <p:cNvPicPr/>
          <p:nvPr/>
        </p:nvPicPr>
        <p:blipFill rotWithShape="1">
          <a:blip r:embed="rId3">
            <a:alphaModFix/>
          </a:blip>
          <a:stretch/>
        </p:blipFill>
        <p:spPr bwMode="auto">
          <a:xfrm>
            <a:off x="0" y="1"/>
            <a:ext cx="5638800" cy="6858000"/>
          </a:xfrm>
          <a:prstGeom prst="rect">
            <a:avLst/>
          </a:prstGeom>
          <a:noFill/>
          <a:ln>
            <a:noFill/>
          </a:ln>
        </p:spPr>
      </p:pic>
      <p:sp>
        <p:nvSpPr>
          <p:cNvPr id="1816608409" name="Right Brace 1"/>
          <p:cNvSpPr/>
          <p:nvPr/>
        </p:nvSpPr>
        <p:spPr bwMode="auto">
          <a:xfrm>
            <a:off x="10323443" y="4253947"/>
            <a:ext cx="363550" cy="1674671"/>
          </a:xfrm>
          <a:prstGeom prst="rightBrace">
            <a:avLst>
              <a:gd name="adj1" fmla="val 833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MY"/>
          </a:p>
        </p:txBody>
      </p:sp>
      <p:sp>
        <p:nvSpPr>
          <p:cNvPr id="567818115" name="TextBox 2"/>
          <p:cNvSpPr txBox="1"/>
          <p:nvPr/>
        </p:nvSpPr>
        <p:spPr bwMode="auto">
          <a:xfrm>
            <a:off x="10695718" y="4577557"/>
            <a:ext cx="1496282" cy="923330"/>
          </a:xfrm>
          <a:prstGeom prst="rect">
            <a:avLst/>
          </a:prstGeom>
          <a:noFill/>
        </p:spPr>
        <p:txBody>
          <a:bodyPr wrap="square" rtlCol="0">
            <a:spAutoFit/>
          </a:bodyPr>
          <a:lstStyle/>
          <a:p>
            <a:pPr>
              <a:defRPr/>
            </a:pPr>
            <a:r>
              <a:rPr lang="en-MY" sz="1800" b="1" i="1"/>
              <a:t>Measure project profitability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l"/>
      </p:transition>
    </mc:Choice>
    <mc:Fallback>
      <p:transition spd="slow" advClick="1">
        <p:push dir="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821103052"/>
                                        </p:tgtEl>
                                        <p:attrNameLst>
                                          <p:attrName>style.visibility</p:attrName>
                                        </p:attrNameLst>
                                      </p:cBhvr>
                                      <p:to>
                                        <p:strVal val="visible"/>
                                      </p:to>
                                    </p:set>
                                    <p:anim calcmode="lin" valueType="num">
                                      <p:cBhvr additive="base">
                                        <p:cTn id="7" dur="500" fill="hold"/>
                                        <p:tgtEl>
                                          <p:spTgt spid="1821103052"/>
                                        </p:tgtEl>
                                        <p:attrNameLst>
                                          <p:attrName>ppt_x</p:attrName>
                                        </p:attrNameLst>
                                      </p:cBhvr>
                                      <p:tavLst>
                                        <p:tav tm="0">
                                          <p:val>
                                            <p:strVal val="#ppt_x"/>
                                          </p:val>
                                        </p:tav>
                                        <p:tav tm="100000">
                                          <p:val>
                                            <p:strVal val="#ppt_x"/>
                                          </p:val>
                                        </p:tav>
                                      </p:tavLst>
                                    </p:anim>
                                    <p:anim calcmode="lin" valueType="num">
                                      <p:cBhvr additive="base">
                                        <p:cTn id="8" dur="500" fill="hold"/>
                                        <p:tgtEl>
                                          <p:spTgt spid="182110305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126261642">
                                            <p:txEl>
                                              <p:pRg st="2" end="2"/>
                                            </p:txEl>
                                          </p:spTgt>
                                        </p:tgtEl>
                                        <p:attrNameLst>
                                          <p:attrName>style.visibility</p:attrName>
                                        </p:attrNameLst>
                                      </p:cBhvr>
                                      <p:to>
                                        <p:strVal val="visible"/>
                                      </p:to>
                                    </p:set>
                                    <p:anim calcmode="lin" valueType="num">
                                      <p:cBhvr additive="base">
                                        <p:cTn id="13" dur="500" fill="hold"/>
                                        <p:tgtEl>
                                          <p:spTgt spid="212626164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26261642">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126261642">
                                            <p:txEl>
                                              <p:pRg st="3" end="3"/>
                                            </p:txEl>
                                          </p:spTgt>
                                        </p:tgtEl>
                                        <p:attrNameLst>
                                          <p:attrName>style.visibility</p:attrName>
                                        </p:attrNameLst>
                                      </p:cBhvr>
                                      <p:to>
                                        <p:strVal val="visible"/>
                                      </p:to>
                                    </p:set>
                                    <p:anim calcmode="lin" valueType="num">
                                      <p:cBhvr additive="base">
                                        <p:cTn id="17" dur="500" fill="hold"/>
                                        <p:tgtEl>
                                          <p:spTgt spid="2126261642">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126261642">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126261642">
                                            <p:txEl>
                                              <p:pRg st="4" end="4"/>
                                            </p:txEl>
                                          </p:spTgt>
                                        </p:tgtEl>
                                        <p:attrNameLst>
                                          <p:attrName>style.visibility</p:attrName>
                                        </p:attrNameLst>
                                      </p:cBhvr>
                                      <p:to>
                                        <p:strVal val="visible"/>
                                      </p:to>
                                    </p:set>
                                    <p:anim calcmode="lin" valueType="num">
                                      <p:cBhvr additive="base">
                                        <p:cTn id="21" dur="500" fill="hold"/>
                                        <p:tgtEl>
                                          <p:spTgt spid="2126261642">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126261642">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126261642">
                                            <p:txEl>
                                              <p:pRg st="5" end="5"/>
                                            </p:txEl>
                                          </p:spTgt>
                                        </p:tgtEl>
                                        <p:attrNameLst>
                                          <p:attrName>style.visibility</p:attrName>
                                        </p:attrNameLst>
                                      </p:cBhvr>
                                      <p:to>
                                        <p:strVal val="visible"/>
                                      </p:to>
                                    </p:set>
                                    <p:anim calcmode="lin" valueType="num">
                                      <p:cBhvr additive="base">
                                        <p:cTn id="25" dur="500" fill="hold"/>
                                        <p:tgtEl>
                                          <p:spTgt spid="2126261642">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126261642">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126261642">
                                            <p:txEl>
                                              <p:pRg st="6" end="6"/>
                                            </p:txEl>
                                          </p:spTgt>
                                        </p:tgtEl>
                                        <p:attrNameLst>
                                          <p:attrName>style.visibility</p:attrName>
                                        </p:attrNameLst>
                                      </p:cBhvr>
                                      <p:to>
                                        <p:strVal val="visible"/>
                                      </p:to>
                                    </p:set>
                                    <p:anim calcmode="lin" valueType="num">
                                      <p:cBhvr additive="base">
                                        <p:cTn id="29" dur="500" fill="hold"/>
                                        <p:tgtEl>
                                          <p:spTgt spid="2126261642">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12626164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grpId="0" nodeType="clickEffect">
                                  <p:stCondLst>
                                    <p:cond delay="0"/>
                                  </p:stCondLst>
                                  <p:childTnLst>
                                    <p:set>
                                      <p:cBhvr>
                                        <p:cTn id="34" dur="1" fill="hold">
                                          <p:stCondLst>
                                            <p:cond delay="0"/>
                                          </p:stCondLst>
                                        </p:cTn>
                                        <p:tgtEl>
                                          <p:spTgt spid="1816608409"/>
                                        </p:tgtEl>
                                        <p:attrNameLst>
                                          <p:attrName>style.visibility</p:attrName>
                                        </p:attrNameLst>
                                      </p:cBhvr>
                                      <p:to>
                                        <p:strVal val="visible"/>
                                      </p:to>
                                    </p:set>
                                    <p:animEffect transition="in" filter="wipe(right)">
                                      <p:cBhvr>
                                        <p:cTn id="35" dur="500"/>
                                        <p:tgtEl>
                                          <p:spTgt spid="1816608409"/>
                                        </p:tgtEl>
                                      </p:cBhvr>
                                    </p:animEffect>
                                  </p:childTnLst>
                                </p:cTn>
                              </p:par>
                              <p:par>
                                <p:cTn id="36" presetID="22" presetClass="entr" presetSubtype="2" fill="hold" grpId="0" nodeType="withEffect">
                                  <p:stCondLst>
                                    <p:cond delay="0"/>
                                  </p:stCondLst>
                                  <p:childTnLst>
                                    <p:set>
                                      <p:cBhvr>
                                        <p:cTn id="37" dur="1" fill="hold">
                                          <p:stCondLst>
                                            <p:cond delay="0"/>
                                          </p:stCondLst>
                                        </p:cTn>
                                        <p:tgtEl>
                                          <p:spTgt spid="567818115"/>
                                        </p:tgtEl>
                                        <p:attrNameLst>
                                          <p:attrName>style.visibility</p:attrName>
                                        </p:attrNameLst>
                                      </p:cBhvr>
                                      <p:to>
                                        <p:strVal val="visible"/>
                                      </p:to>
                                    </p:set>
                                    <p:animEffect transition="in" filter="wipe(right)">
                                      <p:cBhvr>
                                        <p:cTn id="38" dur="500"/>
                                        <p:tgtEl>
                                          <p:spTgt spid="567818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1103052" grpId="0"/>
      <p:bldP spid="1816608409" grpId="0" animBg="1"/>
      <p:bldP spid="567818115" grpId="0"/>
    </p:bld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6450764" name="Google Shape;416;p24"/>
          <p:cNvSpPr txBox="1">
            <a:spLocks noGrp="1"/>
          </p:cNvSpPr>
          <p:nvPr>
            <p:ph type="title"/>
          </p:nvPr>
        </p:nvSpPr>
        <p:spPr bwMode="auto">
          <a:xfrm>
            <a:off x="2743200" y="457200"/>
            <a:ext cx="4038600" cy="533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defRPr/>
            </a:pPr>
            <a:r>
              <a:rPr lang="en-US" b="1"/>
              <a:t>Net Profit (NP)</a:t>
            </a:r>
            <a:endParaRPr b="1"/>
          </a:p>
        </p:txBody>
      </p:sp>
      <p:graphicFrame>
        <p:nvGraphicFramePr>
          <p:cNvPr id="11023251" name="Google Shape;417;p24"/>
          <p:cNvGraphicFramePr>
            <a:graphicFrameLocks xmlns:a="http://schemas.openxmlformats.org/drawingml/2006/main"/>
          </p:cNvGraphicFramePr>
          <p:nvPr/>
        </p:nvGraphicFramePr>
        <p:xfrm rot="0">
          <a:off x="3048000" y="2870292"/>
          <a:ext cx="7619975" cy="731600"/>
        </p:xfrm>
        <a:graphic>
          <a:graphicData uri="http://schemas.openxmlformats.org/drawingml/2006/table">
            <a:tbl>
              <a:tblPr firstRow="0" firstCol="0" lastRow="0" lastCol="0" bandRow="0" bandCol="0">
                <a:tableStyleId>{4C38C2D8-9331-4F24-B9CF-3786705C414E}</a:tableStyleId>
                <a:noFill/>
              </a:tblPr>
              <a:tblGrid>
                <a:gridCol w="1349375"/>
                <a:gridCol w="1699950"/>
                <a:gridCol w="1521350"/>
                <a:gridCol w="1524650"/>
                <a:gridCol w="1524650"/>
              </a:tblGrid>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Year</a:t>
                      </a:r>
                      <a:endParaRPr b="1"/>
                    </a:p>
                  </a:txBody>
                  <a:tcPr marL="91450" marR="91450" marT="45725" marB="45725">
                    <a:lnL w="28575"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Project 1</a:t>
                      </a:r>
                      <a:endParaRPr b="1"/>
                    </a:p>
                  </a:txBody>
                  <a:tcPr marL="91450" marR="91450" marT="45725" marB="45725">
                    <a:lnL w="12700"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Project 2</a:t>
                      </a:r>
                      <a:endParaRPr b="1"/>
                    </a:p>
                  </a:txBody>
                  <a:tcPr marL="91450" marR="91450" marT="45725" marB="45725">
                    <a:lnL w="12700"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Project 3</a:t>
                      </a:r>
                      <a:endParaRPr b="1"/>
                    </a:p>
                  </a:txBody>
                  <a:tcPr marL="91450" marR="91450" marT="45725" marB="45725">
                    <a:lnL w="12700"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Project 4</a:t>
                      </a:r>
                      <a:endParaRPr b="1"/>
                    </a:p>
                  </a:txBody>
                  <a:tcPr marL="91450" marR="91450" marT="45725" marB="45725">
                    <a:lnL w="12700" algn="ctr">
                      <a:solidFill>
                        <a:schemeClr val="dk1"/>
                      </a:solidFill>
                    </a:lnL>
                    <a:lnR w="28575" algn="ctr">
                      <a:solidFill>
                        <a:schemeClr val="dk1"/>
                      </a:solidFill>
                    </a:lnR>
                    <a:lnT w="28575" algn="ctr">
                      <a:solidFill>
                        <a:schemeClr val="dk1"/>
                      </a:solidFill>
                    </a:lnT>
                    <a:lnB w="12700" algn="ctr">
                      <a:solidFill>
                        <a:schemeClr val="dk1"/>
                      </a:solidFill>
                    </a:lnB>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0</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rgbClr val="FF0000"/>
                          </a:solidFill>
                          <a:latin typeface="Arial"/>
                          <a:ea typeface="Arial"/>
                          <a:cs typeface="Arial"/>
                        </a:rPr>
                        <a:t>-</a:t>
                      </a:r>
                      <a:r>
                        <a:rPr lang="en-US" sz="1800" b="0" i="0" u="none" strike="noStrike" cap="none">
                          <a:solidFill>
                            <a:schemeClr val="dk1"/>
                          </a:solidFill>
                          <a:latin typeface="Arial"/>
                          <a:ea typeface="Arial"/>
                          <a:cs typeface="Arial"/>
                        </a:rPr>
                        <a:t>100,000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rgbClr val="FF0000"/>
                          </a:solidFill>
                          <a:latin typeface="Arial"/>
                          <a:ea typeface="Arial"/>
                          <a:cs typeface="Arial"/>
                        </a:rPr>
                        <a:t>-</a:t>
                      </a:r>
                      <a:r>
                        <a:rPr lang="en-US" sz="1800" b="0" i="0" u="none" strike="noStrike" cap="none">
                          <a:solidFill>
                            <a:schemeClr val="dk1"/>
                          </a:solidFill>
                          <a:latin typeface="Arial"/>
                          <a:ea typeface="Arial"/>
                          <a:cs typeface="Arial"/>
                        </a:rPr>
                        <a:t>1,000,000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rgbClr val="FF0000"/>
                          </a:solidFill>
                          <a:latin typeface="Arial"/>
                          <a:ea typeface="Arial"/>
                          <a:cs typeface="Arial"/>
                        </a:rPr>
                        <a:t>-</a:t>
                      </a:r>
                      <a:r>
                        <a:rPr lang="en-US" sz="1800" b="0" i="0" u="none" strike="noStrike" cap="none">
                          <a:solidFill>
                            <a:schemeClr val="dk1"/>
                          </a:solidFill>
                          <a:latin typeface="Arial"/>
                          <a:ea typeface="Arial"/>
                          <a:cs typeface="Arial"/>
                        </a:rPr>
                        <a:t>100,000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rgbClr val="FF0000"/>
                          </a:solidFill>
                          <a:latin typeface="Arial"/>
                          <a:ea typeface="Arial"/>
                          <a:cs typeface="Arial"/>
                        </a:rPr>
                        <a:t>-</a:t>
                      </a:r>
                      <a:r>
                        <a:rPr lang="en-US" sz="1800" b="0" i="0" u="none" strike="noStrike" cap="none">
                          <a:solidFill>
                            <a:schemeClr val="dk1"/>
                          </a:solidFill>
                          <a:latin typeface="Arial"/>
                          <a:ea typeface="Arial"/>
                          <a:cs typeface="Arial"/>
                        </a:rPr>
                        <a:t>120,000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tcPr>
                </a:tc>
              </a:tr>
            </a:tbl>
          </a:graphicData>
        </a:graphic>
      </p:graphicFrame>
      <p:sp>
        <p:nvSpPr>
          <p:cNvPr id="1261852427" name="Google Shape;418;p24"/>
          <p:cNvSpPr txBox="1"/>
          <p:nvPr/>
        </p:nvSpPr>
        <p:spPr bwMode="auto">
          <a:xfrm>
            <a:off x="3048000" y="5862280"/>
            <a:ext cx="8763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Times New Roman"/>
              <a:buNone/>
              <a:defRPr/>
            </a:pPr>
            <a:r>
              <a:rPr lang="en-US" sz="1800">
                <a:solidFill>
                  <a:schemeClr val="dk1"/>
                </a:solidFill>
                <a:latin typeface="Times New Roman"/>
                <a:ea typeface="Times New Roman"/>
                <a:cs typeface="Times New Roman"/>
              </a:rPr>
              <a:t>Table 1.1 4 project cash flow projections – </a:t>
            </a:r>
            <a:r>
              <a:rPr lang="en-US" sz="1800" b="1">
                <a:solidFill>
                  <a:schemeClr val="dk1"/>
                </a:solidFill>
                <a:latin typeface="Times New Roman"/>
                <a:ea typeface="Times New Roman"/>
                <a:cs typeface="Times New Roman"/>
              </a:rPr>
              <a:t>figures are end of year totals </a:t>
            </a:r>
            <a:r>
              <a:rPr lang="en-US" sz="1800">
                <a:solidFill>
                  <a:schemeClr val="dk1"/>
                </a:solidFill>
                <a:latin typeface="Times New Roman"/>
                <a:ea typeface="Times New Roman"/>
                <a:cs typeface="Times New Roman"/>
              </a:rPr>
              <a:t>(RM)</a:t>
            </a:r>
            <a:endParaRPr/>
          </a:p>
        </p:txBody>
      </p:sp>
      <p:sp>
        <p:nvSpPr>
          <p:cNvPr id="1473511031" name="Google Shape;419;p2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26</a:t>
            </a:fld>
            <a:endParaRPr/>
          </a:p>
        </p:txBody>
      </p:sp>
      <p:sp>
        <p:nvSpPr>
          <p:cNvPr id="571381899" name="Google Shape;420;p24"/>
          <p:cNvSpPr txBox="1"/>
          <p:nvPr/>
        </p:nvSpPr>
        <p:spPr bwMode="auto">
          <a:xfrm>
            <a:off x="2782649" y="964852"/>
            <a:ext cx="4191000"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1.3 Project Appraisal</a:t>
            </a:r>
            <a:endParaRPr/>
          </a:p>
        </p:txBody>
      </p:sp>
      <p:sp>
        <p:nvSpPr>
          <p:cNvPr id="1370175024" name="Google Shape;421;p24"/>
          <p:cNvSpPr txBox="1"/>
          <p:nvPr/>
        </p:nvSpPr>
        <p:spPr bwMode="auto">
          <a:xfrm>
            <a:off x="2782649" y="1703110"/>
            <a:ext cx="9134368" cy="1199814"/>
          </a:xfrm>
          <a:prstGeom prst="rect">
            <a:avLst/>
          </a:prstGeom>
          <a:noFill/>
          <a:ln>
            <a:noFill/>
          </a:ln>
        </p:spPr>
        <p:txBody>
          <a:bodyPr spcFirstLastPara="1" wrap="square" lIns="91425" tIns="45700" rIns="91425" bIns="45700" anchor="t" anchorCtr="0">
            <a:normAutofit fontScale="92500"/>
          </a:bodyPr>
          <a:lstStyle/>
          <a:p>
            <a:pPr lvl="0">
              <a:lnSpc>
                <a:spcPct val="90000"/>
              </a:lnSpc>
              <a:buClr>
                <a:schemeClr val="dk1"/>
              </a:buClr>
              <a:buSzPts val="2800"/>
              <a:defRPr/>
            </a:pPr>
            <a:r>
              <a:rPr lang="en-US" sz="2800" b="1">
                <a:solidFill>
                  <a:schemeClr val="dk1"/>
                </a:solidFill>
                <a:latin typeface="Calibri"/>
                <a:ea typeface="Calibri"/>
                <a:cs typeface="Calibri"/>
              </a:rPr>
              <a:t>Net profit = </a:t>
            </a:r>
            <a:r>
              <a:rPr lang="en-US" sz="2800">
                <a:solidFill>
                  <a:srgbClr val="C00000"/>
                </a:solidFill>
                <a:latin typeface="Calibri"/>
                <a:ea typeface="Calibri"/>
                <a:cs typeface="Calibri"/>
              </a:rPr>
              <a:t>total income </a:t>
            </a:r>
            <a:r>
              <a:rPr lang="en-US" sz="2800" b="1">
                <a:solidFill>
                  <a:srgbClr val="FF0000"/>
                </a:solidFill>
                <a:latin typeface="Calibri"/>
                <a:ea typeface="Calibri"/>
                <a:cs typeface="Calibri"/>
              </a:rPr>
              <a:t>- </a:t>
            </a:r>
            <a:r>
              <a:rPr lang="en-US" sz="2800">
                <a:solidFill>
                  <a:srgbClr val="FF0000"/>
                </a:solidFill>
                <a:latin typeface="Calibri"/>
                <a:ea typeface="Calibri"/>
                <a:cs typeface="Calibri"/>
              </a:rPr>
              <a:t> </a:t>
            </a:r>
            <a:r>
              <a:rPr lang="en-US" sz="2800">
                <a:solidFill>
                  <a:srgbClr val="C00000"/>
                </a:solidFill>
                <a:latin typeface="Calibri"/>
                <a:ea typeface="Calibri"/>
                <a:cs typeface="Calibri"/>
              </a:rPr>
              <a:t>total </a:t>
            </a:r>
            <a:r>
              <a:rPr lang="en-US" sz="2800">
                <a:solidFill>
                  <a:srgbClr val="FF0000"/>
                </a:solidFill>
                <a:latin typeface="Calibri"/>
                <a:ea typeface="Calibri"/>
                <a:cs typeface="Calibri"/>
              </a:rPr>
              <a:t>costs </a:t>
            </a:r>
            <a:r>
              <a:rPr lang="en-US" sz="2800">
                <a:solidFill>
                  <a:schemeClr val="dk1"/>
                </a:solidFill>
                <a:latin typeface="Calibri"/>
                <a:ea typeface="Calibri"/>
                <a:cs typeface="Calibri"/>
              </a:rPr>
              <a:t>(</a:t>
            </a:r>
            <a:r>
              <a:rPr lang="en-US" sz="2800" b="1">
                <a:solidFill>
                  <a:schemeClr val="dk1"/>
                </a:solidFill>
                <a:latin typeface="Calibri"/>
                <a:ea typeface="Calibri"/>
                <a:cs typeface="Calibri"/>
              </a:rPr>
              <a:t>over the </a:t>
            </a:r>
            <a:r>
              <a:rPr lang="en-US" sz="2800" b="1" u="sng">
                <a:solidFill>
                  <a:schemeClr val="dk1"/>
                </a:solidFill>
                <a:latin typeface="Calibri"/>
                <a:ea typeface="Calibri"/>
                <a:cs typeface="Calibri"/>
              </a:rPr>
              <a:t>life</a:t>
            </a:r>
            <a:r>
              <a:rPr lang="en-US" sz="2800" b="1">
                <a:solidFill>
                  <a:schemeClr val="dk1"/>
                </a:solidFill>
                <a:latin typeface="Calibri"/>
                <a:ea typeface="Calibri"/>
                <a:cs typeface="Calibri"/>
              </a:rPr>
              <a:t> of the project)</a:t>
            </a:r>
            <a:endParaRPr/>
          </a:p>
          <a:p>
            <a:pPr lvl="0">
              <a:lnSpc>
                <a:spcPct val="50000"/>
              </a:lnSpc>
              <a:buClr>
                <a:schemeClr val="dk1"/>
              </a:buClr>
              <a:buSzPts val="2800"/>
              <a:defRPr/>
            </a:pPr>
            <a:endParaRPr lang="en-US" sz="2800">
              <a:solidFill>
                <a:schemeClr val="dk1"/>
              </a:solidFill>
              <a:latin typeface="Calibri"/>
              <a:ea typeface="Calibri"/>
              <a:cs typeface="Calibri"/>
            </a:endParaRPr>
          </a:p>
          <a:p>
            <a:pPr marR="0" lvl="0" algn="l" rtl="0">
              <a:lnSpc>
                <a:spcPct val="50000"/>
              </a:lnSpc>
              <a:spcBef>
                <a:spcPts val="0"/>
              </a:spcBef>
              <a:spcAft>
                <a:spcPts val="0"/>
              </a:spcAft>
              <a:buClr>
                <a:schemeClr val="dk1"/>
              </a:buClr>
              <a:buSzPts val="2800"/>
              <a:defRPr/>
            </a:pPr>
            <a:endParaRPr lang="en-US" sz="2800">
              <a:solidFill>
                <a:schemeClr val="dk1"/>
              </a:solidFill>
              <a:latin typeface="Calibri"/>
              <a:ea typeface="Calibri"/>
              <a:cs typeface="Calibri"/>
            </a:endParaRPr>
          </a:p>
          <a:p>
            <a:pPr marR="0" lvl="0" algn="l" rtl="0">
              <a:lnSpc>
                <a:spcPct val="50000"/>
              </a:lnSpc>
              <a:spcBef>
                <a:spcPts val="0"/>
              </a:spcBef>
              <a:spcAft>
                <a:spcPts val="0"/>
              </a:spcAft>
              <a:buClr>
                <a:schemeClr val="dk1"/>
              </a:buClr>
              <a:buSzPts val="2800"/>
              <a:defRPr/>
            </a:pPr>
            <a:r>
              <a:rPr lang="en-US" sz="2400" i="1">
                <a:solidFill>
                  <a:srgbClr val="FF0000"/>
                </a:solidFill>
                <a:latin typeface="Calibri"/>
                <a:ea typeface="Calibri"/>
                <a:cs typeface="Calibri"/>
              </a:rPr>
              <a:t> E.g. (negative sign = cost)</a:t>
            </a:r>
            <a:endParaRPr sz="2400" i="1">
              <a:solidFill>
                <a:srgbClr val="FF0000"/>
              </a:solidFill>
            </a:endParaRPr>
          </a:p>
        </p:txBody>
      </p:sp>
      <p:cxnSp>
        <p:nvCxnSpPr>
          <p:cNvPr id="754499500" name="Google Shape;422;p24"/>
          <p:cNvCxnSpPr/>
          <p:nvPr/>
        </p:nvCxnSpPr>
        <p:spPr bwMode="auto">
          <a:xfrm rot="10800000">
            <a:off x="2895600" y="1371600"/>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951189304" name="Google Shape;423;p24"/>
          <p:cNvGrpSpPr/>
          <p:nvPr/>
        </p:nvGrpSpPr>
        <p:grpSpPr bwMode="auto">
          <a:xfrm>
            <a:off x="0" y="6980"/>
            <a:ext cx="2209800" cy="6851020"/>
            <a:chOff x="0" y="6980"/>
            <a:chExt cx="2209800" cy="6851020"/>
          </a:xfrm>
        </p:grpSpPr>
        <p:pic>
          <p:nvPicPr>
            <p:cNvPr id="424" name="Google Shape;424;p24"/>
            <p:cNvPicPr/>
            <p:nvPr/>
          </p:nvPicPr>
          <p:blipFill rotWithShape="1">
            <a:blip r:embed="rId3">
              <a:alphaModFix/>
            </a:blip>
            <a:srcRect l="23750" t="0" r="39999" b="0"/>
            <a:stretch/>
          </p:blipFill>
          <p:spPr bwMode="auto">
            <a:xfrm>
              <a:off x="0" y="2800350"/>
              <a:ext cx="2209800" cy="4057650"/>
            </a:xfrm>
            <a:prstGeom prst="rect">
              <a:avLst/>
            </a:prstGeom>
            <a:noFill/>
            <a:ln>
              <a:noFill/>
            </a:ln>
          </p:spPr>
        </p:pic>
        <p:pic>
          <p:nvPicPr>
            <p:cNvPr id="425" name="Google Shape;425;p24"/>
            <p:cNvPicPr/>
            <p:nvPr/>
          </p:nvPicPr>
          <p:blipFill rotWithShape="1">
            <a:blip r:embed="rId4">
              <a:alphaModFix/>
            </a:blip>
            <a:srcRect l="8750" t="0" r="55000" b="0"/>
            <a:stretch/>
          </p:blipFill>
          <p:spPr bwMode="auto">
            <a:xfrm>
              <a:off x="0" y="6980"/>
              <a:ext cx="2209800" cy="3590925"/>
            </a:xfrm>
            <a:prstGeom prst="rect">
              <a:avLst/>
            </a:prstGeom>
            <a:noFill/>
            <a:ln>
              <a:noFill/>
            </a:ln>
          </p:spPr>
        </p:pic>
      </p:grpSp>
      <p:sp>
        <p:nvSpPr>
          <p:cNvPr id="1680933472" name="Google Shape;418;p24"/>
          <p:cNvSpPr txBox="1"/>
          <p:nvPr/>
        </p:nvSpPr>
        <p:spPr bwMode="auto">
          <a:xfrm>
            <a:off x="2944678" y="6216154"/>
            <a:ext cx="87630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Times New Roman"/>
              <a:buNone/>
              <a:defRPr/>
            </a:pPr>
            <a:r>
              <a:rPr lang="en-US" sz="2000">
                <a:solidFill>
                  <a:srgbClr val="FF0000"/>
                </a:solidFill>
                <a:latin typeface="Times New Roman"/>
                <a:ea typeface="Times New Roman"/>
                <a:cs typeface="Times New Roman"/>
              </a:rPr>
              <a:t>Based on NP technique alone which project you would approve for development?</a:t>
            </a:r>
            <a:endParaRPr sz="2000">
              <a:solidFill>
                <a:srgbClr val="FF0000"/>
              </a:solidFill>
            </a:endParaRPr>
          </a:p>
        </p:txBody>
      </p:sp>
      <p:graphicFrame>
        <p:nvGraphicFramePr>
          <p:cNvPr id="263634103" name="Table 2"/>
          <p:cNvGraphicFramePr>
            <a:graphicFrameLocks xmlns:a="http://schemas.openxmlformats.org/drawingml/2006/main" noGrp="1"/>
          </p:cNvGraphicFramePr>
          <p:nvPr/>
        </p:nvGraphicFramePr>
        <p:xfrm rot="0">
          <a:off x="3048000" y="3624706"/>
          <a:ext cx="3049325" cy="1863300"/>
        </p:xfrm>
        <a:graphic>
          <a:graphicData uri="http://schemas.openxmlformats.org/drawingml/2006/table">
            <a:tbl>
              <a:tblPr firstRow="0" firstCol="0" lastRow="0" lastCol="0" bandRow="0" bandCol="0">
                <a:tableStyleId>{4C38C2D8-9331-4F24-B9CF-3786705C414E}</a:tableStyleId>
                <a:noFill/>
              </a:tblPr>
              <a:tblGrid>
                <a:gridCol w="1349375"/>
                <a:gridCol w="1699950"/>
              </a:tblGrid>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4</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r>
              <a:tr h="4001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5</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r>
            </a:tbl>
          </a:graphicData>
        </a:graphic>
      </p:graphicFrame>
      <p:graphicFrame>
        <p:nvGraphicFramePr>
          <p:cNvPr id="120409979" name="Table 3"/>
          <p:cNvGraphicFramePr>
            <a:graphicFrameLocks xmlns:a="http://schemas.openxmlformats.org/drawingml/2006/main" noGrp="1"/>
          </p:cNvGraphicFramePr>
          <p:nvPr/>
        </p:nvGraphicFramePr>
        <p:xfrm rot="0">
          <a:off x="3047999" y="5515384"/>
          <a:ext cx="3049325" cy="365800"/>
        </p:xfrm>
        <a:graphic>
          <a:graphicData uri="http://schemas.openxmlformats.org/drawingml/2006/table">
            <a:tbl>
              <a:tblPr firstRow="0" firstCol="0" lastRow="0" lastCol="0" bandRow="0" bandCol="0">
                <a:tableStyleId>{4C38C2D8-9331-4F24-B9CF-3786705C414E}</a:tableStyleId>
                <a:noFill/>
              </a:tblPr>
              <a:tblGrid>
                <a:gridCol w="1349375"/>
                <a:gridCol w="1699950"/>
              </a:tblGrid>
              <a:tr h="365800">
                <a:tc>
                  <a:txBody>
                    <a:bodyPr/>
                    <a:p>
                      <a:pPr marL="0" marR="0" lvl="0" indent="0" algn="l"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Net Profit</a:t>
                      </a:r>
                      <a:endParaRPr/>
                    </a:p>
                  </a:txBody>
                  <a:tcPr marL="91450" marR="91450" marT="45725" marB="45725">
                    <a:lnL w="28575"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50,000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28575" algn="ctr">
                      <a:solidFill>
                        <a:schemeClr val="dk1"/>
                      </a:solidFill>
                    </a:lnB>
                  </a:tcPr>
                </a:tc>
              </a:tr>
            </a:tbl>
          </a:graphicData>
        </a:graphic>
      </p:graphicFrame>
      <p:graphicFrame>
        <p:nvGraphicFramePr>
          <p:cNvPr id="1717169782" name="Table 4"/>
          <p:cNvGraphicFramePr>
            <a:graphicFrameLocks xmlns:a="http://schemas.openxmlformats.org/drawingml/2006/main" noGrp="1"/>
          </p:cNvGraphicFramePr>
          <p:nvPr/>
        </p:nvGraphicFramePr>
        <p:xfrm rot="0">
          <a:off x="6092805" y="3622885"/>
          <a:ext cx="4570650" cy="1863300"/>
        </p:xfrm>
        <a:graphic>
          <a:graphicData uri="http://schemas.openxmlformats.org/drawingml/2006/table">
            <a:tbl>
              <a:tblPr firstRow="0" firstCol="0" lastRow="0" lastCol="0" bandRow="0" bandCol="0">
                <a:tableStyleId>{4C38C2D8-9331-4F24-B9CF-3786705C414E}</a:tableStyleId>
                <a:noFill/>
              </a:tblPr>
              <a:tblGrid>
                <a:gridCol w="1521350"/>
                <a:gridCol w="1524650"/>
                <a:gridCol w="1524650"/>
              </a:tblGrid>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4001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75,000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tcPr>
                </a:tc>
              </a:tr>
            </a:tbl>
          </a:graphicData>
        </a:graphic>
      </p:graphicFrame>
      <p:graphicFrame>
        <p:nvGraphicFramePr>
          <p:cNvPr id="1577818" name="Table 5"/>
          <p:cNvGraphicFramePr>
            <a:graphicFrameLocks xmlns:a="http://schemas.openxmlformats.org/drawingml/2006/main" noGrp="1"/>
          </p:cNvGraphicFramePr>
          <p:nvPr/>
        </p:nvGraphicFramePr>
        <p:xfrm rot="0">
          <a:off x="6092805" y="5512237"/>
          <a:ext cx="4570650" cy="365800"/>
        </p:xfrm>
        <a:graphic>
          <a:graphicData uri="http://schemas.openxmlformats.org/drawingml/2006/table">
            <a:tbl>
              <a:tblPr firstRow="0" firstCol="0" lastRow="0" lastCol="0" bandRow="0" bandCol="0">
                <a:tableStyleId>{4C38C2D8-9331-4F24-B9CF-3786705C414E}</a:tableStyleId>
                <a:noFill/>
              </a:tblPr>
              <a:tblGrid>
                <a:gridCol w="1521350"/>
                <a:gridCol w="1524650"/>
                <a:gridCol w="1524650"/>
              </a:tblGrid>
              <a:tr h="365800">
                <a:tc>
                  <a:txBody>
                    <a:bodyPr/>
                    <a:p>
                      <a:pPr marL="0" marR="0" lvl="0" indent="0" algn="l"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100,000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50,000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75,000</a:t>
                      </a:r>
                      <a:endParaRPr/>
                    </a:p>
                  </a:txBody>
                  <a:tcPr marL="91450" marR="91450" marT="45725" marB="45725">
                    <a:lnL w="12700" algn="ctr">
                      <a:solidFill>
                        <a:schemeClr val="dk1"/>
                      </a:solidFill>
                    </a:lnL>
                    <a:lnR w="28575" algn="ctr">
                      <a:solidFill>
                        <a:schemeClr val="dk1"/>
                      </a:solidFill>
                    </a:lnR>
                    <a:lnT w="12700" algn="ctr">
                      <a:solidFill>
                        <a:schemeClr val="dk1"/>
                      </a:solidFill>
                    </a:lnT>
                    <a:lnB w="28575" algn="ctr">
                      <a:solidFill>
                        <a:schemeClr val="dk1"/>
                      </a:solidFill>
                    </a:lnB>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806450764"/>
                                        </p:tgtEl>
                                        <p:attrNameLst>
                                          <p:attrName>style.visibility</p:attrName>
                                        </p:attrNameLst>
                                      </p:cBhvr>
                                      <p:to>
                                        <p:strVal val="visible"/>
                                      </p:to>
                                    </p:set>
                                    <p:anim calcmode="lin" valueType="num">
                                      <p:cBhvr additive="base">
                                        <p:cTn id="7" dur="500" fill="hold"/>
                                        <p:tgtEl>
                                          <p:spTgt spid="1806450764"/>
                                        </p:tgtEl>
                                        <p:attrNameLst>
                                          <p:attrName>ppt_x</p:attrName>
                                        </p:attrNameLst>
                                      </p:cBhvr>
                                      <p:tavLst>
                                        <p:tav tm="0">
                                          <p:val>
                                            <p:strVal val="#ppt_x"/>
                                          </p:val>
                                        </p:tav>
                                        <p:tav tm="100000">
                                          <p:val>
                                            <p:strVal val="#ppt_x"/>
                                          </p:val>
                                        </p:tav>
                                      </p:tavLst>
                                    </p:anim>
                                    <p:anim calcmode="lin" valueType="num">
                                      <p:cBhvr additive="base">
                                        <p:cTn id="8" dur="500" fill="hold"/>
                                        <p:tgtEl>
                                          <p:spTgt spid="1806450764"/>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1023251"/>
                                        </p:tgtEl>
                                        <p:attrNameLst>
                                          <p:attrName>style.visibility</p:attrName>
                                        </p:attrNameLst>
                                      </p:cBhvr>
                                      <p:to>
                                        <p:strVal val="visible"/>
                                      </p:to>
                                    </p:set>
                                    <p:animEffect transition="in" filter="wipe(left)">
                                      <p:cBhvr>
                                        <p:cTn id="13" dur="500"/>
                                        <p:tgtEl>
                                          <p:spTgt spid="11023251"/>
                                        </p:tgtEl>
                                      </p:cBhvr>
                                    </p:animEffect>
                                  </p:childTnLst>
                                </p:cTn>
                              </p:par>
                              <p:par>
                                <p:cTn id="14" presetID="22" presetClass="entr" presetSubtype="8" fill="hold" nodeType="withEffect">
                                  <p:stCondLst>
                                    <p:cond delay="0"/>
                                  </p:stCondLst>
                                  <p:childTnLst>
                                    <p:set>
                                      <p:cBhvr>
                                        <p:cTn id="15" dur="1" fill="hold">
                                          <p:stCondLst>
                                            <p:cond delay="0"/>
                                          </p:stCondLst>
                                        </p:cTn>
                                        <p:tgtEl>
                                          <p:spTgt spid="1370175024">
                                            <p:txEl>
                                              <p:pRg st="3" end="3"/>
                                            </p:txEl>
                                          </p:spTgt>
                                        </p:tgtEl>
                                        <p:attrNameLst>
                                          <p:attrName>style.visibility</p:attrName>
                                        </p:attrNameLst>
                                      </p:cBhvr>
                                      <p:to>
                                        <p:strVal val="visible"/>
                                      </p:to>
                                    </p:set>
                                    <p:animEffect transition="in" filter="wipe(left)">
                                      <p:cBhvr>
                                        <p:cTn id="16" dur="500"/>
                                        <p:tgtEl>
                                          <p:spTgt spid="137017502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63634103"/>
                                        </p:tgtEl>
                                        <p:attrNameLst>
                                          <p:attrName>style.visibility</p:attrName>
                                        </p:attrNameLst>
                                      </p:cBhvr>
                                      <p:to>
                                        <p:strVal val="visible"/>
                                      </p:to>
                                    </p:set>
                                    <p:animEffect transition="in" filter="wipe(left)">
                                      <p:cBhvr>
                                        <p:cTn id="21" dur="500"/>
                                        <p:tgtEl>
                                          <p:spTgt spid="26363410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717169782"/>
                                        </p:tgtEl>
                                        <p:attrNameLst>
                                          <p:attrName>style.visibility</p:attrName>
                                        </p:attrNameLst>
                                      </p:cBhvr>
                                      <p:to>
                                        <p:strVal val="visible"/>
                                      </p:to>
                                    </p:set>
                                    <p:animEffect transition="in" filter="wipe(left)">
                                      <p:cBhvr>
                                        <p:cTn id="26" dur="500"/>
                                        <p:tgtEl>
                                          <p:spTgt spid="171716978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20409979"/>
                                        </p:tgtEl>
                                        <p:attrNameLst>
                                          <p:attrName>style.visibility</p:attrName>
                                        </p:attrNameLst>
                                      </p:cBhvr>
                                      <p:to>
                                        <p:strVal val="visible"/>
                                      </p:to>
                                    </p:set>
                                    <p:animEffect transition="in" filter="wipe(left)">
                                      <p:cBhvr>
                                        <p:cTn id="31" dur="500"/>
                                        <p:tgtEl>
                                          <p:spTgt spid="12040997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577818"/>
                                        </p:tgtEl>
                                        <p:attrNameLst>
                                          <p:attrName>style.visibility</p:attrName>
                                        </p:attrNameLst>
                                      </p:cBhvr>
                                      <p:to>
                                        <p:strVal val="visible"/>
                                      </p:to>
                                    </p:set>
                                    <p:animEffect transition="in" filter="wipe(left)">
                                      <p:cBhvr>
                                        <p:cTn id="36" dur="500"/>
                                        <p:tgtEl>
                                          <p:spTgt spid="157781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261852427"/>
                                        </p:tgtEl>
                                        <p:attrNameLst>
                                          <p:attrName>style.visibility</p:attrName>
                                        </p:attrNameLst>
                                      </p:cBhvr>
                                      <p:to>
                                        <p:strVal val="visible"/>
                                      </p:to>
                                    </p:set>
                                    <p:animEffect transition="in" filter="wipe(left)">
                                      <p:cBhvr>
                                        <p:cTn id="41" dur="500"/>
                                        <p:tgtEl>
                                          <p:spTgt spid="1261852427"/>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680933472"/>
                                        </p:tgtEl>
                                        <p:attrNameLst>
                                          <p:attrName>style.visibility</p:attrName>
                                        </p:attrNameLst>
                                      </p:cBhvr>
                                      <p:to>
                                        <p:strVal val="visible"/>
                                      </p:to>
                                    </p:set>
                                    <p:anim calcmode="lin" valueType="num">
                                      <p:cBhvr additive="base">
                                        <p:cTn id="46" dur="500" fill="hold"/>
                                        <p:tgtEl>
                                          <p:spTgt spid="1680933472"/>
                                        </p:tgtEl>
                                        <p:attrNameLst>
                                          <p:attrName>ppt_x</p:attrName>
                                        </p:attrNameLst>
                                      </p:cBhvr>
                                      <p:tavLst>
                                        <p:tav tm="0">
                                          <p:val>
                                            <p:strVal val="#ppt_x"/>
                                          </p:val>
                                        </p:tav>
                                        <p:tav tm="100000">
                                          <p:val>
                                            <p:strVal val="#ppt_x"/>
                                          </p:val>
                                        </p:tav>
                                      </p:tavLst>
                                    </p:anim>
                                    <p:anim calcmode="lin" valueType="num">
                                      <p:cBhvr additive="base">
                                        <p:cTn id="47" dur="500" fill="hold"/>
                                        <p:tgtEl>
                                          <p:spTgt spid="16809334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6450764" grpId="0"/>
      <p:bldP spid="1261852427" grpId="0"/>
      <p:bldP spid="1680933472" grpId="0"/>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08246784" name="Google Shape;416;p24"/>
          <p:cNvSpPr txBox="1">
            <a:spLocks noGrp="1"/>
          </p:cNvSpPr>
          <p:nvPr>
            <p:ph type="title"/>
          </p:nvPr>
        </p:nvSpPr>
        <p:spPr bwMode="auto">
          <a:xfrm>
            <a:off x="2743200" y="457200"/>
            <a:ext cx="4038600" cy="533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defRPr/>
            </a:pPr>
            <a:r>
              <a:rPr lang="en-US" b="1"/>
              <a:t>Net Profit</a:t>
            </a:r>
            <a:endParaRPr b="1"/>
          </a:p>
        </p:txBody>
      </p:sp>
      <p:graphicFrame>
        <p:nvGraphicFramePr>
          <p:cNvPr id="224946351" name="Google Shape;417;p24"/>
          <p:cNvGraphicFramePr>
            <a:graphicFrameLocks xmlns:a="http://schemas.openxmlformats.org/drawingml/2006/main"/>
          </p:cNvGraphicFramePr>
          <p:nvPr/>
        </p:nvGraphicFramePr>
        <p:xfrm rot="0">
          <a:off x="2895600" y="1371600"/>
          <a:ext cx="7619975" cy="2960699"/>
        </p:xfrm>
        <a:graphic>
          <a:graphicData uri="http://schemas.openxmlformats.org/drawingml/2006/table">
            <a:tbl>
              <a:tblPr firstRow="0" firstCol="0" lastRow="0" lastCol="0" bandRow="0" bandCol="0">
                <a:tableStyleId>{4C38C2D8-9331-4F24-B9CF-3786705C414E}</a:tableStyleId>
                <a:noFill/>
              </a:tblPr>
              <a:tblGrid>
                <a:gridCol w="1349375"/>
                <a:gridCol w="1699950"/>
                <a:gridCol w="1521350"/>
                <a:gridCol w="1524650"/>
                <a:gridCol w="1524650"/>
              </a:tblGrid>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Year</a:t>
                      </a:r>
                      <a:endParaRPr b="1"/>
                    </a:p>
                  </a:txBody>
                  <a:tcPr marL="91450" marR="91450" marT="45725" marB="45725">
                    <a:lnL w="28575"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1" u="none" strike="noStrike" cap="none">
                          <a:solidFill>
                            <a:schemeClr val="dk1"/>
                          </a:solidFill>
                          <a:latin typeface="Arial"/>
                          <a:ea typeface="Arial"/>
                          <a:cs typeface="Arial"/>
                        </a:rPr>
                        <a:t>Project 1</a:t>
                      </a:r>
                      <a:endParaRPr b="1" i="1"/>
                    </a:p>
                  </a:txBody>
                  <a:tcPr marL="91450" marR="91450" marT="45725" marB="45725">
                    <a:lnL w="12700"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Project 2</a:t>
                      </a:r>
                      <a:endParaRPr b="1"/>
                    </a:p>
                  </a:txBody>
                  <a:tcPr marL="91450" marR="91450" marT="45725" marB="45725">
                    <a:lnL w="12700"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1" u="none" strike="noStrike" cap="none">
                          <a:solidFill>
                            <a:schemeClr val="dk1"/>
                          </a:solidFill>
                          <a:latin typeface="Arial"/>
                          <a:ea typeface="Arial"/>
                          <a:cs typeface="Arial"/>
                        </a:rPr>
                        <a:t>Project 3</a:t>
                      </a:r>
                      <a:endParaRPr b="1" i="1"/>
                    </a:p>
                  </a:txBody>
                  <a:tcPr marL="91450" marR="91450" marT="45725" marB="45725">
                    <a:lnL w="12700"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Project 4</a:t>
                      </a:r>
                      <a:endParaRPr b="1"/>
                    </a:p>
                  </a:txBody>
                  <a:tcPr marL="91450" marR="91450" marT="45725" marB="45725">
                    <a:lnL w="12700" algn="ctr">
                      <a:solidFill>
                        <a:schemeClr val="dk1"/>
                      </a:solidFill>
                    </a:lnL>
                    <a:lnR w="28575" algn="ctr">
                      <a:solidFill>
                        <a:schemeClr val="dk1"/>
                      </a:solidFill>
                    </a:lnR>
                    <a:lnT w="28575" algn="ctr">
                      <a:solidFill>
                        <a:schemeClr val="dk1"/>
                      </a:solidFill>
                    </a:lnT>
                    <a:lnB w="12700" algn="ctr">
                      <a:solidFill>
                        <a:schemeClr val="dk1"/>
                      </a:solidFill>
                    </a:lnB>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0</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1" u="none" strike="noStrike" cap="none">
                          <a:solidFill>
                            <a:schemeClr val="dk1"/>
                          </a:solidFill>
                          <a:latin typeface="Arial"/>
                          <a:ea typeface="Arial"/>
                          <a:cs typeface="Arial"/>
                        </a:rPr>
                        <a:t>-100,000</a:t>
                      </a:r>
                      <a:endParaRPr i="1"/>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1" u="none" strike="noStrike" cap="none">
                          <a:solidFill>
                            <a:schemeClr val="dk1"/>
                          </a:solidFill>
                          <a:latin typeface="Arial"/>
                          <a:ea typeface="Arial"/>
                          <a:cs typeface="Arial"/>
                        </a:rPr>
                        <a:t>-100,000</a:t>
                      </a:r>
                      <a:endParaRPr i="1"/>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-120,000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1" u="none" strike="noStrike" cap="none">
                          <a:solidFill>
                            <a:schemeClr val="dk1"/>
                          </a:solidFill>
                          <a:latin typeface="Arial"/>
                          <a:ea typeface="Arial"/>
                          <a:cs typeface="Arial"/>
                        </a:rPr>
                        <a:t>10,000</a:t>
                      </a:r>
                      <a:endParaRPr i="1"/>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1" u="none" strike="noStrike" cap="none">
                          <a:solidFill>
                            <a:schemeClr val="dk1"/>
                          </a:solidFill>
                          <a:latin typeface="Arial"/>
                          <a:ea typeface="Arial"/>
                          <a:cs typeface="Arial"/>
                        </a:rPr>
                        <a:t>30,000</a:t>
                      </a:r>
                      <a:endParaRPr i="1"/>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1" u="none" strike="noStrike" cap="none">
                          <a:solidFill>
                            <a:schemeClr val="dk1"/>
                          </a:solidFill>
                          <a:latin typeface="Arial"/>
                          <a:ea typeface="Arial"/>
                          <a:cs typeface="Arial"/>
                        </a:rPr>
                        <a:t>10,000</a:t>
                      </a:r>
                      <a:endParaRPr i="1"/>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1" u="none" strike="noStrike" cap="none">
                          <a:solidFill>
                            <a:schemeClr val="dk1"/>
                          </a:solidFill>
                          <a:latin typeface="Arial"/>
                          <a:ea typeface="Arial"/>
                          <a:cs typeface="Arial"/>
                        </a:rPr>
                        <a:t>30,000</a:t>
                      </a:r>
                      <a:endParaRPr i="1"/>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1" u="none" strike="noStrike" cap="none">
                          <a:solidFill>
                            <a:schemeClr val="dk1"/>
                          </a:solidFill>
                          <a:latin typeface="Arial"/>
                          <a:ea typeface="Arial"/>
                          <a:cs typeface="Arial"/>
                        </a:rPr>
                        <a:t>10,000</a:t>
                      </a:r>
                      <a:endParaRPr i="1"/>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1" u="none" strike="noStrike" cap="none">
                          <a:solidFill>
                            <a:schemeClr val="dk1"/>
                          </a:solidFill>
                          <a:latin typeface="Arial"/>
                          <a:ea typeface="Arial"/>
                          <a:cs typeface="Arial"/>
                        </a:rPr>
                        <a:t>30,000</a:t>
                      </a:r>
                      <a:endParaRPr i="1"/>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4</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1" u="none" strike="noStrike" cap="none">
                          <a:solidFill>
                            <a:schemeClr val="dk1"/>
                          </a:solidFill>
                          <a:latin typeface="Arial"/>
                          <a:ea typeface="Arial"/>
                          <a:cs typeface="Arial"/>
                        </a:rPr>
                        <a:t>20,000</a:t>
                      </a:r>
                      <a:endParaRPr i="1"/>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1" u="none" strike="noStrike" cap="none">
                          <a:solidFill>
                            <a:schemeClr val="dk1"/>
                          </a:solidFill>
                          <a:latin typeface="Arial"/>
                          <a:ea typeface="Arial"/>
                          <a:cs typeface="Arial"/>
                        </a:rPr>
                        <a:t>30,000</a:t>
                      </a:r>
                      <a:endParaRPr i="1"/>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400100">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5</a:t>
                      </a:r>
                      <a:endParaRPr b="1"/>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1" u="none" strike="noStrike" cap="none">
                          <a:solidFill>
                            <a:schemeClr val="dk1"/>
                          </a:solidFill>
                          <a:latin typeface="Arial"/>
                          <a:ea typeface="Arial"/>
                          <a:cs typeface="Arial"/>
                        </a:rPr>
                        <a:t>100,000</a:t>
                      </a:r>
                      <a:endParaRPr b="1" i="1"/>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300,000</a:t>
                      </a:r>
                      <a:endParaRPr b="1"/>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1" u="none" strike="noStrike" cap="none">
                          <a:solidFill>
                            <a:schemeClr val="dk1"/>
                          </a:solidFill>
                          <a:latin typeface="Arial"/>
                          <a:ea typeface="Arial"/>
                          <a:cs typeface="Arial"/>
                        </a:rPr>
                        <a:t>30,000</a:t>
                      </a:r>
                      <a:endParaRPr i="1"/>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75,000</a:t>
                      </a:r>
                      <a:endParaRPr b="1"/>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800">
                <a:tc>
                  <a:txBody>
                    <a:bodyPr/>
                    <a:p>
                      <a:pPr marL="0" marR="0" lvl="0" indent="0" algn="l"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Net Profit</a:t>
                      </a:r>
                      <a:endParaRPr/>
                    </a:p>
                  </a:txBody>
                  <a:tcPr marL="91450" marR="91450" marT="45725" marB="45725">
                    <a:lnL w="28575"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1" i="1" u="none" strike="noStrike" cap="none">
                          <a:solidFill>
                            <a:srgbClr val="C00000"/>
                          </a:solidFill>
                          <a:latin typeface="Arial"/>
                          <a:ea typeface="Arial"/>
                          <a:cs typeface="Arial"/>
                        </a:rPr>
                        <a:t>50,000</a:t>
                      </a:r>
                      <a:endParaRPr i="1"/>
                    </a:p>
                  </a:txBody>
                  <a:tcPr marL="91450" marR="91450" marT="45725" marB="45725">
                    <a:lnL w="12700"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1" i="0" u="none" strike="noStrike" cap="none">
                          <a:solidFill>
                            <a:schemeClr val="tx1"/>
                          </a:solidFill>
                          <a:latin typeface="Arial"/>
                          <a:ea typeface="Arial"/>
                          <a:cs typeface="Arial"/>
                        </a:rPr>
                        <a:t>100,000</a:t>
                      </a:r>
                      <a:endParaRPr>
                        <a:solidFill>
                          <a:schemeClr val="tx1"/>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1" i="1" u="none" strike="noStrike" cap="none">
                          <a:solidFill>
                            <a:srgbClr val="C00000"/>
                          </a:solidFill>
                          <a:latin typeface="Arial"/>
                          <a:ea typeface="Arial"/>
                          <a:cs typeface="Arial"/>
                        </a:rPr>
                        <a:t>50,000</a:t>
                      </a:r>
                      <a:endParaRPr i="1"/>
                    </a:p>
                  </a:txBody>
                  <a:tcPr marL="91450" marR="91450" marT="45725" marB="45725">
                    <a:lnL w="12700"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1" i="0" u="none" strike="noStrike" cap="none">
                          <a:solidFill>
                            <a:schemeClr val="tx1"/>
                          </a:solidFill>
                          <a:latin typeface="Arial"/>
                          <a:ea typeface="Arial"/>
                          <a:cs typeface="Arial"/>
                        </a:rPr>
                        <a:t>75,000</a:t>
                      </a:r>
                      <a:endParaRPr>
                        <a:solidFill>
                          <a:schemeClr val="tx1"/>
                        </a:solidFill>
                      </a:endParaRPr>
                    </a:p>
                  </a:txBody>
                  <a:tcPr marL="91450" marR="91450" marT="45725" marB="45725">
                    <a:lnL w="12700" algn="ctr">
                      <a:solidFill>
                        <a:schemeClr val="dk1"/>
                      </a:solidFill>
                    </a:lnL>
                    <a:lnR w="28575" algn="ctr">
                      <a:solidFill>
                        <a:schemeClr val="dk1"/>
                      </a:solidFill>
                    </a:lnR>
                    <a:lnT w="12700" algn="ctr">
                      <a:solidFill>
                        <a:schemeClr val="dk1"/>
                      </a:solidFill>
                    </a:lnT>
                    <a:lnB w="28575" algn="ctr">
                      <a:solidFill>
                        <a:schemeClr val="dk1"/>
                      </a:solidFill>
                    </a:lnB>
                  </a:tcPr>
                </a:tc>
              </a:tr>
            </a:tbl>
          </a:graphicData>
        </a:graphic>
      </p:graphicFrame>
      <p:sp>
        <p:nvSpPr>
          <p:cNvPr id="1166730351" name="Google Shape;419;p2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27</a:t>
            </a:fld>
            <a:endParaRPr/>
          </a:p>
        </p:txBody>
      </p:sp>
      <p:sp>
        <p:nvSpPr>
          <p:cNvPr id="423340439" name="Google Shape;420;p24"/>
          <p:cNvSpPr txBox="1"/>
          <p:nvPr/>
        </p:nvSpPr>
        <p:spPr bwMode="auto">
          <a:xfrm>
            <a:off x="2782649" y="964852"/>
            <a:ext cx="4191000"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1.3 Project Appraisal</a:t>
            </a:r>
            <a:endParaRPr/>
          </a:p>
        </p:txBody>
      </p:sp>
      <p:cxnSp>
        <p:nvCxnSpPr>
          <p:cNvPr id="1075546318" name="Google Shape;422;p24"/>
          <p:cNvCxnSpPr/>
          <p:nvPr/>
        </p:nvCxnSpPr>
        <p:spPr bwMode="auto">
          <a:xfrm rot="10800000">
            <a:off x="2895600" y="1371600"/>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1627697807" name="Google Shape;423;p24"/>
          <p:cNvGrpSpPr/>
          <p:nvPr/>
        </p:nvGrpSpPr>
        <p:grpSpPr bwMode="auto">
          <a:xfrm>
            <a:off x="0" y="6980"/>
            <a:ext cx="2209800" cy="6851020"/>
            <a:chOff x="0" y="6980"/>
            <a:chExt cx="2209800" cy="6851020"/>
          </a:xfrm>
        </p:grpSpPr>
        <p:pic>
          <p:nvPicPr>
            <p:cNvPr id="424" name="Google Shape;424;p24"/>
            <p:cNvPicPr/>
            <p:nvPr/>
          </p:nvPicPr>
          <p:blipFill rotWithShape="1">
            <a:blip r:embed="rId3">
              <a:alphaModFix/>
            </a:blip>
            <a:srcRect l="23750" t="0" r="39999" b="0"/>
            <a:stretch/>
          </p:blipFill>
          <p:spPr bwMode="auto">
            <a:xfrm>
              <a:off x="0" y="2800350"/>
              <a:ext cx="2209800" cy="4057650"/>
            </a:xfrm>
            <a:prstGeom prst="rect">
              <a:avLst/>
            </a:prstGeom>
            <a:noFill/>
            <a:ln>
              <a:noFill/>
            </a:ln>
          </p:spPr>
        </p:pic>
        <p:pic>
          <p:nvPicPr>
            <p:cNvPr id="425" name="Google Shape;425;p24"/>
            <p:cNvPicPr/>
            <p:nvPr/>
          </p:nvPicPr>
          <p:blipFill rotWithShape="1">
            <a:blip r:embed="rId4">
              <a:alphaModFix/>
            </a:blip>
            <a:srcRect l="8750" t="0" r="55000" b="0"/>
            <a:stretch/>
          </p:blipFill>
          <p:spPr bwMode="auto">
            <a:xfrm>
              <a:off x="0" y="6980"/>
              <a:ext cx="2209800" cy="3590925"/>
            </a:xfrm>
            <a:prstGeom prst="rect">
              <a:avLst/>
            </a:prstGeom>
            <a:noFill/>
            <a:ln>
              <a:noFill/>
            </a:ln>
          </p:spPr>
        </p:pic>
      </p:grpSp>
      <p:sp>
        <p:nvSpPr>
          <p:cNvPr id="1063462437" name="Google Shape;434;p25"/>
          <p:cNvSpPr txBox="1"/>
          <p:nvPr/>
        </p:nvSpPr>
        <p:spPr bwMode="auto">
          <a:xfrm>
            <a:off x="2814522" y="4573668"/>
            <a:ext cx="1339024" cy="2147807"/>
          </a:xfrm>
          <a:prstGeom prst="rect">
            <a:avLst/>
          </a:prstGeom>
          <a:noFill/>
          <a:ln>
            <a:noFill/>
          </a:ln>
        </p:spPr>
        <p:txBody>
          <a:bodyPr spcFirstLastPara="1" wrap="square" lIns="91425" tIns="45700" rIns="91425" bIns="45700" anchor="t" anchorCtr="0">
            <a:normAutofit/>
          </a:bodyPr>
          <a:lstStyle/>
          <a:p>
            <a:pPr marR="0" lvl="0" algn="l" rtl="0">
              <a:lnSpc>
                <a:spcPct val="80000"/>
              </a:lnSpc>
              <a:spcBef>
                <a:spcPts val="0"/>
              </a:spcBef>
              <a:spcAft>
                <a:spcPts val="0"/>
              </a:spcAft>
              <a:buClr>
                <a:schemeClr val="dk1"/>
              </a:buClr>
              <a:buSzPts val="2800"/>
              <a:defRPr/>
            </a:pPr>
            <a:r>
              <a:rPr lang="en-US" sz="1800" b="1" u="sng">
                <a:solidFill>
                  <a:schemeClr val="dk1"/>
                </a:solidFill>
                <a:latin typeface="Calibri"/>
                <a:ea typeface="Calibri"/>
                <a:cs typeface="Calibri"/>
              </a:rPr>
              <a:t>Advantages</a:t>
            </a:r>
            <a:endParaRPr sz="1800" b="1" u="sng"/>
          </a:p>
          <a:p>
            <a:pPr>
              <a:lnSpc>
                <a:spcPct val="80000"/>
              </a:lnSpc>
              <a:spcBef>
                <a:spcPts val="500"/>
              </a:spcBef>
              <a:buClr>
                <a:schemeClr val="dk1"/>
              </a:buClr>
              <a:buSzPts val="2400"/>
              <a:defRPr/>
            </a:pPr>
            <a:r>
              <a:rPr lang="en-US" sz="1600" b="0" i="0" u="none" strike="noStrike" cap="none">
                <a:solidFill>
                  <a:schemeClr val="dk1"/>
                </a:solidFill>
                <a:latin typeface="Calibri"/>
                <a:ea typeface="Calibri"/>
                <a:cs typeface="Calibri"/>
              </a:rPr>
              <a:t>Easy to calculate and intuitive. </a:t>
            </a:r>
            <a:endParaRPr sz="1600"/>
          </a:p>
        </p:txBody>
      </p:sp>
      <p:sp>
        <p:nvSpPr>
          <p:cNvPr id="2060734809" name="Google Shape;434;p25"/>
          <p:cNvSpPr txBox="1"/>
          <p:nvPr/>
        </p:nvSpPr>
        <p:spPr bwMode="auto">
          <a:xfrm>
            <a:off x="4153546" y="4412496"/>
            <a:ext cx="8089147" cy="2147807"/>
          </a:xfrm>
          <a:prstGeom prst="rect">
            <a:avLst/>
          </a:prstGeom>
          <a:noFill/>
          <a:ln>
            <a:noFill/>
          </a:ln>
        </p:spPr>
        <p:txBody>
          <a:bodyPr spcFirstLastPara="1" wrap="square" lIns="91425" tIns="45700" rIns="91425" bIns="45700" anchor="t" anchorCtr="0">
            <a:noAutofit/>
          </a:bodyPr>
          <a:lstStyle/>
          <a:p>
            <a:pPr marR="0" lvl="0" algn="l" rtl="0">
              <a:lnSpc>
                <a:spcPct val="80000"/>
              </a:lnSpc>
              <a:spcBef>
                <a:spcPts val="1000"/>
              </a:spcBef>
              <a:spcAft>
                <a:spcPts val="0"/>
              </a:spcAft>
              <a:buClr>
                <a:schemeClr val="dk1"/>
              </a:buClr>
              <a:buSzPts val="2800"/>
              <a:defRPr/>
            </a:pPr>
            <a:r>
              <a:rPr lang="en-US" sz="1600" b="1" u="sng">
                <a:solidFill>
                  <a:schemeClr val="dk1"/>
                </a:solidFill>
                <a:latin typeface="Calibri"/>
                <a:ea typeface="Calibri"/>
                <a:cs typeface="Calibri"/>
              </a:rPr>
              <a:t>Disadvantages</a:t>
            </a:r>
            <a:endParaRPr sz="1600" b="1" u="sng"/>
          </a:p>
          <a:p>
            <a:pPr marL="179388" indent="-179388">
              <a:lnSpc>
                <a:spcPct val="80000"/>
              </a:lnSpc>
              <a:spcBef>
                <a:spcPts val="500"/>
              </a:spcBef>
              <a:buClr>
                <a:schemeClr val="dk1"/>
              </a:buClr>
              <a:buSzPts val="2000"/>
              <a:buFont typeface="Arial"/>
              <a:buChar char="•"/>
              <a:defRPr/>
            </a:pPr>
            <a:r>
              <a:rPr lang="en-US" sz="1600" b="1">
                <a:solidFill>
                  <a:schemeClr val="tx1"/>
                </a:solidFill>
                <a:latin typeface="Calibri"/>
                <a:ea typeface="Calibri"/>
                <a:cs typeface="Calibri"/>
              </a:rPr>
              <a:t>NP technique does not consider the time value of money (See Project 2, Year 5) </a:t>
            </a:r>
            <a:endParaRPr/>
          </a:p>
          <a:p>
            <a:pPr>
              <a:lnSpc>
                <a:spcPct val="80000"/>
              </a:lnSpc>
              <a:spcBef>
                <a:spcPts val="500"/>
              </a:spcBef>
              <a:buClr>
                <a:schemeClr val="dk1"/>
              </a:buClr>
              <a:buSzPts val="2000"/>
              <a:defRPr/>
            </a:pPr>
            <a:r>
              <a:rPr lang="en-US" sz="1600" b="1" i="1">
                <a:solidFill>
                  <a:schemeClr val="tx1"/>
                </a:solidFill>
                <a:latin typeface="Calibri"/>
                <a:cs typeface="Calibri"/>
              </a:rPr>
              <a:t>    </a:t>
            </a:r>
            <a:r>
              <a:rPr lang="en-US" sz="1600" i="1">
                <a:latin typeface="Calibri"/>
                <a:cs typeface="Calibri"/>
              </a:rPr>
              <a:t>(</a:t>
            </a:r>
            <a:r>
              <a:rPr lang="en-US" sz="1600" i="1" u="sng">
                <a:latin typeface="Calibri"/>
                <a:cs typeface="Calibri"/>
              </a:rPr>
              <a:t>note</a:t>
            </a:r>
            <a:r>
              <a:rPr lang="en-US" sz="1600" i="1">
                <a:latin typeface="Calibri"/>
                <a:cs typeface="Calibri"/>
              </a:rPr>
              <a:t>: the value of a dollar received in the future is not the same as a dollar received today)</a:t>
            </a:r>
            <a:endParaRPr lang="en-US" sz="1600" b="1" i="1">
              <a:solidFill>
                <a:schemeClr val="tx1"/>
              </a:solidFill>
              <a:latin typeface="Calibri"/>
              <a:cs typeface="Calibri"/>
            </a:endParaRPr>
          </a:p>
          <a:p>
            <a:pPr marL="185738" indent="-185738">
              <a:lnSpc>
                <a:spcPct val="80000"/>
              </a:lnSpc>
              <a:spcBef>
                <a:spcPts val="1200"/>
              </a:spcBef>
              <a:buClr>
                <a:schemeClr val="dk1"/>
              </a:buClr>
              <a:buSzPts val="2400"/>
              <a:buFont typeface="Arial"/>
              <a:buChar char="•"/>
              <a:defRPr/>
            </a:pPr>
            <a:r>
              <a:rPr lang="en-US" sz="1600" b="1" i="0" u="none" strike="noStrike" cap="none">
                <a:solidFill>
                  <a:schemeClr val="dk1"/>
                </a:solidFill>
                <a:latin typeface="Calibri"/>
                <a:ea typeface="Calibri"/>
                <a:cs typeface="Calibri"/>
              </a:rPr>
              <a:t>Project 1 &amp; 3 </a:t>
            </a:r>
            <a:r>
              <a:rPr lang="en-US" sz="1600" b="0" i="0" u="none" strike="noStrike" cap="none">
                <a:solidFill>
                  <a:schemeClr val="dk1"/>
                </a:solidFill>
                <a:latin typeface="Calibri"/>
                <a:ea typeface="Calibri"/>
                <a:cs typeface="Calibri"/>
              </a:rPr>
              <a:t>have equal cost &amp; net profit but are both projects equally preferable?</a:t>
            </a:r>
            <a:endParaRPr/>
          </a:p>
          <a:p>
            <a:pPr>
              <a:lnSpc>
                <a:spcPct val="80000"/>
              </a:lnSpc>
              <a:buClr>
                <a:schemeClr val="dk1"/>
              </a:buClr>
              <a:buSzPts val="2400"/>
              <a:defRPr/>
            </a:pPr>
            <a:r>
              <a:rPr lang="en-US" sz="1600" i="1">
                <a:solidFill>
                  <a:srgbClr val="FF0000"/>
                </a:solidFill>
                <a:latin typeface="Calibri"/>
                <a:cs typeface="Calibri"/>
              </a:rPr>
              <a:t>     To </a:t>
            </a:r>
            <a:r>
              <a:rPr lang="en-US" sz="1600" i="1">
                <a:solidFill>
                  <a:srgbClr val="FF0000"/>
                </a:solidFill>
                <a:latin typeface="Calibri"/>
                <a:cs typeface="Calibri"/>
              </a:rPr>
              <a:t>ans</a:t>
            </a:r>
            <a:r>
              <a:rPr lang="en-US" sz="1600" i="1">
                <a:solidFill>
                  <a:srgbClr val="FF0000"/>
                </a:solidFill>
                <a:latin typeface="Calibri"/>
                <a:cs typeface="Calibri"/>
              </a:rPr>
              <a:t> this question you need to </a:t>
            </a:r>
            <a:r>
              <a:rPr lang="en-US" sz="1600" i="1">
                <a:solidFill>
                  <a:srgbClr val="FF0000"/>
                </a:solidFill>
                <a:latin typeface="Calibri"/>
                <a:cs typeface="Calibri"/>
              </a:rPr>
              <a:t>analyse</a:t>
            </a:r>
            <a:r>
              <a:rPr lang="en-US" sz="1600" i="1">
                <a:solidFill>
                  <a:srgbClr val="FF0000"/>
                </a:solidFill>
                <a:latin typeface="Calibri"/>
                <a:cs typeface="Calibri"/>
              </a:rPr>
              <a:t> further</a:t>
            </a:r>
            <a:endParaRPr sz="1600" i="1">
              <a:solidFill>
                <a:srgbClr val="FF0000"/>
              </a:solidFill>
            </a:endParaRPr>
          </a:p>
          <a:p>
            <a:pPr marL="252413" lvl="2">
              <a:lnSpc>
                <a:spcPct val="80000"/>
              </a:lnSpc>
              <a:spcBef>
                <a:spcPts val="500"/>
              </a:spcBef>
              <a:buClr>
                <a:schemeClr val="dk1"/>
              </a:buClr>
              <a:buSzPts val="2000"/>
              <a:defRPr/>
            </a:pPr>
            <a:r>
              <a:rPr lang="en-US" b="1" i="0" u="none" strike="noStrike" cap="none">
                <a:solidFill>
                  <a:schemeClr val="bg1">
                    <a:lumMod val="50000"/>
                  </a:schemeClr>
                </a:solidFill>
                <a:latin typeface="Calibri"/>
                <a:ea typeface="Calibri"/>
                <a:cs typeface="Calibri"/>
              </a:rPr>
              <a:t>(Project 1 </a:t>
            </a:r>
            <a:r>
              <a:rPr lang="en-US" b="0" i="0" u="none" strike="noStrike" cap="none">
                <a:solidFill>
                  <a:schemeClr val="bg1">
                    <a:lumMod val="50000"/>
                  </a:schemeClr>
                </a:solidFill>
                <a:latin typeface="Calibri"/>
                <a:ea typeface="Calibri"/>
                <a:cs typeface="Calibri"/>
              </a:rPr>
              <a:t>has bulk of income occurs late in the life of the project. Having to wait longer for a return is a disadvantage. </a:t>
            </a:r>
            <a:r>
              <a:rPr lang="en-US" b="1" i="0" u="none" strike="noStrike" cap="none">
                <a:solidFill>
                  <a:schemeClr val="bg1">
                    <a:lumMod val="50000"/>
                  </a:schemeClr>
                </a:solidFill>
                <a:latin typeface="Calibri"/>
                <a:ea typeface="Calibri"/>
                <a:cs typeface="Calibri"/>
              </a:rPr>
              <a:t>Project 3 </a:t>
            </a:r>
            <a:r>
              <a:rPr lang="en-US" b="0" i="0" u="none" strike="noStrike" cap="none">
                <a:solidFill>
                  <a:schemeClr val="bg1">
                    <a:lumMod val="50000"/>
                  </a:schemeClr>
                </a:solidFill>
                <a:latin typeface="Calibri"/>
                <a:ea typeface="Calibri"/>
                <a:cs typeface="Calibri"/>
              </a:rPr>
              <a:t>returns a steady income throughout its life. Thus, project 1 &amp; 3 are not equally preferable</a:t>
            </a:r>
            <a:r>
              <a:rPr lang="en-US">
                <a:solidFill>
                  <a:schemeClr val="bg1">
                    <a:lumMod val="50000"/>
                  </a:schemeClr>
                </a:solidFill>
                <a:latin typeface="Calibri"/>
                <a:ea typeface="Calibri"/>
                <a:cs typeface="Calibri"/>
              </a:rPr>
              <a:t>)</a:t>
            </a:r>
            <a:endParaRPr lang="en-US" b="0" i="0" u="none" strike="noStrike" cap="none">
              <a:solidFill>
                <a:schemeClr val="bg1">
                  <a:lumMod val="50000"/>
                </a:schemeClr>
              </a:solidFill>
              <a:latin typeface="Calibri"/>
              <a:ea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63462437"/>
                                        </p:tgtEl>
                                        <p:attrNameLst>
                                          <p:attrName>style.visibility</p:attrName>
                                        </p:attrNameLst>
                                      </p:cBhvr>
                                      <p:to>
                                        <p:strVal val="visible"/>
                                      </p:to>
                                    </p:set>
                                    <p:animEffect transition="in" filter="wipe(left)">
                                      <p:cBhvr>
                                        <p:cTn id="7" dur="500"/>
                                        <p:tgtEl>
                                          <p:spTgt spid="10634624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60734809">
                                            <p:txEl>
                                              <p:pRg st="0" end="0"/>
                                            </p:txEl>
                                          </p:spTgt>
                                        </p:tgtEl>
                                        <p:attrNameLst>
                                          <p:attrName>style.visibility</p:attrName>
                                        </p:attrNameLst>
                                      </p:cBhvr>
                                      <p:to>
                                        <p:strVal val="visible"/>
                                      </p:to>
                                    </p:set>
                                    <p:animEffect transition="in" filter="wipe(left)">
                                      <p:cBhvr>
                                        <p:cTn id="12" dur="500"/>
                                        <p:tgtEl>
                                          <p:spTgt spid="2060734809">
                                            <p:txEl>
                                              <p:pRg st="0" end="0"/>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2060734809">
                                            <p:txEl>
                                              <p:pRg st="1" end="1"/>
                                            </p:txEl>
                                          </p:spTgt>
                                        </p:tgtEl>
                                        <p:attrNameLst>
                                          <p:attrName>style.visibility</p:attrName>
                                        </p:attrNameLst>
                                      </p:cBhvr>
                                      <p:to>
                                        <p:strVal val="visible"/>
                                      </p:to>
                                    </p:set>
                                    <p:animEffect transition="in" filter="wipe(left)">
                                      <p:cBhvr>
                                        <p:cTn id="15" dur="500"/>
                                        <p:tgtEl>
                                          <p:spTgt spid="2060734809">
                                            <p:txEl>
                                              <p:pRg st="1" end="1"/>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2060734809">
                                            <p:txEl>
                                              <p:pRg st="2" end="2"/>
                                            </p:txEl>
                                          </p:spTgt>
                                        </p:tgtEl>
                                        <p:attrNameLst>
                                          <p:attrName>style.visibility</p:attrName>
                                        </p:attrNameLst>
                                      </p:cBhvr>
                                      <p:to>
                                        <p:strVal val="visible"/>
                                      </p:to>
                                    </p:set>
                                    <p:animEffect transition="in" filter="wipe(left)">
                                      <p:cBhvr>
                                        <p:cTn id="18" dur="500"/>
                                        <p:tgtEl>
                                          <p:spTgt spid="206073480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060734809">
                                            <p:txEl>
                                              <p:pRg st="3" end="3"/>
                                            </p:txEl>
                                          </p:spTgt>
                                        </p:tgtEl>
                                        <p:attrNameLst>
                                          <p:attrName>style.visibility</p:attrName>
                                        </p:attrNameLst>
                                      </p:cBhvr>
                                      <p:to>
                                        <p:strVal val="visible"/>
                                      </p:to>
                                    </p:set>
                                    <p:animEffect transition="in" filter="wipe(left)">
                                      <p:cBhvr>
                                        <p:cTn id="23" dur="500"/>
                                        <p:tgtEl>
                                          <p:spTgt spid="206073480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060734809">
                                            <p:txEl>
                                              <p:pRg st="4" end="4"/>
                                            </p:txEl>
                                          </p:spTgt>
                                        </p:tgtEl>
                                        <p:attrNameLst>
                                          <p:attrName>style.visibility</p:attrName>
                                        </p:attrNameLst>
                                      </p:cBhvr>
                                      <p:to>
                                        <p:strVal val="visible"/>
                                      </p:to>
                                    </p:set>
                                    <p:animEffect transition="in" filter="wipe(left)">
                                      <p:cBhvr>
                                        <p:cTn id="28" dur="500"/>
                                        <p:tgtEl>
                                          <p:spTgt spid="2060734809">
                                            <p:txEl>
                                              <p:pRg st="4" end="4"/>
                                            </p:txEl>
                                          </p:spTgt>
                                        </p:tgtEl>
                                      </p:cBhvr>
                                    </p:animEffect>
                                  </p:childTnLst>
                                </p:cTn>
                              </p:par>
                              <p:par>
                                <p:cTn id="29" presetID="22" presetClass="entr" presetSubtype="8" fill="hold" nodeType="withEffect">
                                  <p:stCondLst>
                                    <p:cond delay="0"/>
                                  </p:stCondLst>
                                  <p:childTnLst>
                                    <p:set>
                                      <p:cBhvr>
                                        <p:cTn id="30" dur="1" fill="hold">
                                          <p:stCondLst>
                                            <p:cond delay="0"/>
                                          </p:stCondLst>
                                        </p:cTn>
                                        <p:tgtEl>
                                          <p:spTgt spid="2060734809">
                                            <p:txEl>
                                              <p:pRg st="5" end="5"/>
                                            </p:txEl>
                                          </p:spTgt>
                                        </p:tgtEl>
                                        <p:attrNameLst>
                                          <p:attrName>style.visibility</p:attrName>
                                        </p:attrNameLst>
                                      </p:cBhvr>
                                      <p:to>
                                        <p:strVal val="visible"/>
                                      </p:to>
                                    </p:set>
                                    <p:animEffect transition="in" filter="wipe(left)">
                                      <p:cBhvr>
                                        <p:cTn id="31" dur="500"/>
                                        <p:tgtEl>
                                          <p:spTgt spid="206073480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3462437" grpId="0"/>
    </p:bld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23519076" name="Google Shape;444;p26"/>
          <p:cNvSpPr txBox="1">
            <a:spLocks noGrp="1"/>
          </p:cNvSpPr>
          <p:nvPr>
            <p:ph type="title"/>
          </p:nvPr>
        </p:nvSpPr>
        <p:spPr bwMode="auto">
          <a:xfrm>
            <a:off x="2743200" y="457200"/>
            <a:ext cx="4038600" cy="533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defRPr/>
            </a:pPr>
            <a:r>
              <a:rPr lang="en-US" b="1"/>
              <a:t>Payback Period</a:t>
            </a:r>
            <a:endParaRPr b="1"/>
          </a:p>
        </p:txBody>
      </p:sp>
      <p:sp>
        <p:nvSpPr>
          <p:cNvPr id="925103342" name="Google Shape;445;p2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28</a:t>
            </a:fld>
            <a:endParaRPr/>
          </a:p>
        </p:txBody>
      </p:sp>
      <p:sp>
        <p:nvSpPr>
          <p:cNvPr id="1646201707" name="Google Shape;446;p26"/>
          <p:cNvSpPr txBox="1"/>
          <p:nvPr/>
        </p:nvSpPr>
        <p:spPr bwMode="auto">
          <a:xfrm>
            <a:off x="2782649" y="964852"/>
            <a:ext cx="4191000"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1.3 Project Appraisal</a:t>
            </a:r>
            <a:endParaRPr/>
          </a:p>
        </p:txBody>
      </p:sp>
      <p:sp>
        <p:nvSpPr>
          <p:cNvPr id="1470338188" name="Google Shape;447;p26"/>
          <p:cNvSpPr txBox="1"/>
          <p:nvPr/>
        </p:nvSpPr>
        <p:spPr bwMode="auto">
          <a:xfrm>
            <a:off x="2767048" y="1981200"/>
            <a:ext cx="9196351" cy="4800600"/>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chemeClr val="dk1"/>
              </a:buClr>
              <a:buSzPts val="2800"/>
              <a:buFont typeface="Arial"/>
              <a:buChar char="•"/>
              <a:defRPr/>
            </a:pPr>
            <a:r>
              <a:rPr lang="en-US" sz="2800" b="1">
                <a:solidFill>
                  <a:srgbClr val="FF0000"/>
                </a:solidFill>
                <a:latin typeface="Calibri"/>
                <a:ea typeface="Calibri"/>
                <a:cs typeface="Calibri"/>
              </a:rPr>
              <a:t>Calculate the </a:t>
            </a:r>
            <a:r>
              <a:rPr lang="en-US" sz="2800" b="1" u="sng">
                <a:solidFill>
                  <a:srgbClr val="FF0000"/>
                </a:solidFill>
                <a:latin typeface="Calibri"/>
                <a:ea typeface="Calibri"/>
                <a:cs typeface="Calibri"/>
              </a:rPr>
              <a:t>time</a:t>
            </a:r>
            <a:r>
              <a:rPr lang="en-US" sz="2800" b="1">
                <a:solidFill>
                  <a:srgbClr val="FF0000"/>
                </a:solidFill>
                <a:latin typeface="Calibri"/>
                <a:ea typeface="Calibri"/>
                <a:cs typeface="Calibri"/>
              </a:rPr>
              <a:t> needed to </a:t>
            </a:r>
            <a:r>
              <a:rPr lang="en-US" sz="2800" b="1">
                <a:solidFill>
                  <a:srgbClr val="C00000"/>
                </a:solidFill>
                <a:latin typeface="Calibri"/>
                <a:ea typeface="Calibri"/>
                <a:cs typeface="Calibri"/>
              </a:rPr>
              <a:t>break even </a:t>
            </a:r>
            <a:r>
              <a:rPr lang="en-US" sz="2800">
                <a:solidFill>
                  <a:schemeClr val="tx1"/>
                </a:solidFill>
                <a:latin typeface="Calibri"/>
                <a:ea typeface="Calibri"/>
                <a:cs typeface="Calibri"/>
              </a:rPr>
              <a:t>or pay back </a:t>
            </a:r>
            <a:r>
              <a:rPr lang="en-US" sz="2800">
                <a:solidFill>
                  <a:schemeClr val="dk1"/>
                </a:solidFill>
                <a:latin typeface="Calibri"/>
                <a:ea typeface="Calibri"/>
                <a:cs typeface="Calibri"/>
              </a:rPr>
              <a:t>the initial investment.</a:t>
            </a:r>
            <a:endParaRPr/>
          </a:p>
          <a:p>
            <a:pPr marL="228600" marR="0" lvl="0" indent="-228600" algn="l" rtl="0">
              <a:lnSpc>
                <a:spcPct val="90000"/>
              </a:lnSpc>
              <a:spcBef>
                <a:spcPts val="1000"/>
              </a:spcBef>
              <a:spcAft>
                <a:spcPts val="0"/>
              </a:spcAft>
              <a:buClr>
                <a:schemeClr val="dk1"/>
              </a:buClr>
              <a:buSzPts val="2800"/>
              <a:buFont typeface="Arial"/>
              <a:buChar char="•"/>
              <a:defRPr/>
            </a:pPr>
            <a:r>
              <a:rPr lang="en-US" sz="2800" b="1">
                <a:solidFill>
                  <a:schemeClr val="tx1"/>
                </a:solidFill>
                <a:latin typeface="Calibri"/>
                <a:ea typeface="Calibri"/>
                <a:cs typeface="Calibri"/>
              </a:rPr>
              <a:t>Normally project with the shortest payback period will be chosen </a:t>
            </a:r>
            <a:r>
              <a:rPr lang="en-US" sz="2800">
                <a:solidFill>
                  <a:schemeClr val="dk1"/>
                </a:solidFill>
                <a:latin typeface="Calibri"/>
                <a:ea typeface="Calibri"/>
                <a:cs typeface="Calibri"/>
              </a:rPr>
              <a:t>on the basis that an organization will wish to minimize the time that a project is ‘in debt’.</a:t>
            </a:r>
            <a:endParaRPr/>
          </a:p>
          <a:p>
            <a:pPr marL="228600" marR="0" lvl="0" indent="-228600" algn="l" rtl="0">
              <a:lnSpc>
                <a:spcPct val="90000"/>
              </a:lnSpc>
              <a:spcBef>
                <a:spcPts val="1000"/>
              </a:spcBef>
              <a:spcAft>
                <a:spcPts val="0"/>
              </a:spcAft>
              <a:buClr>
                <a:schemeClr val="dk1"/>
              </a:buClr>
              <a:buSzPts val="2800"/>
              <a:buFont typeface="Arial"/>
              <a:buChar char="•"/>
              <a:defRPr/>
            </a:pPr>
            <a:r>
              <a:rPr lang="en-US" sz="2800" b="1">
                <a:solidFill>
                  <a:srgbClr val="FF0000"/>
                </a:solidFill>
                <a:latin typeface="Calibri"/>
                <a:ea typeface="Calibri"/>
                <a:cs typeface="Calibri"/>
              </a:rPr>
              <a:t>How to calculate payback period?</a:t>
            </a:r>
            <a:endParaRPr/>
          </a:p>
          <a:p>
            <a:pPr marL="261938" lvl="2">
              <a:lnSpc>
                <a:spcPct val="90000"/>
              </a:lnSpc>
              <a:spcBef>
                <a:spcPts val="1000"/>
              </a:spcBef>
              <a:buClr>
                <a:schemeClr val="dk1"/>
              </a:buClr>
              <a:buSzPts val="2800"/>
              <a:defRPr/>
            </a:pPr>
            <a:r>
              <a:rPr lang="en-US" sz="2400">
                <a:solidFill>
                  <a:schemeClr val="dk1"/>
                </a:solidFill>
                <a:latin typeface="Calibri"/>
                <a:ea typeface="Calibri"/>
                <a:cs typeface="Calibri"/>
              </a:rPr>
              <a:t>(</a:t>
            </a:r>
            <a:r>
              <a:rPr lang="en-US" sz="2400" b="1">
                <a:solidFill>
                  <a:schemeClr val="dk1"/>
                </a:solidFill>
                <a:latin typeface="Calibri"/>
                <a:ea typeface="Calibri"/>
                <a:cs typeface="Calibri"/>
              </a:rPr>
              <a:t>Subtract </a:t>
            </a:r>
            <a:r>
              <a:rPr lang="en-US" sz="2400">
                <a:solidFill>
                  <a:schemeClr val="dk1"/>
                </a:solidFill>
                <a:latin typeface="Calibri"/>
                <a:ea typeface="Calibri"/>
                <a:cs typeface="Calibri"/>
              </a:rPr>
              <a:t>each individual annual </a:t>
            </a:r>
            <a:r>
              <a:rPr lang="en-US" sz="2400" b="1">
                <a:solidFill>
                  <a:schemeClr val="dk1"/>
                </a:solidFill>
                <a:latin typeface="Calibri"/>
                <a:ea typeface="Calibri"/>
                <a:cs typeface="Calibri"/>
              </a:rPr>
              <a:t>cash </a:t>
            </a:r>
            <a:r>
              <a:rPr lang="en-US" sz="2400" b="1">
                <a:solidFill>
                  <a:srgbClr val="FF0000"/>
                </a:solidFill>
                <a:latin typeface="Calibri"/>
                <a:ea typeface="Calibri"/>
                <a:cs typeface="Calibri"/>
              </a:rPr>
              <a:t>inflow</a:t>
            </a:r>
            <a:r>
              <a:rPr lang="en-US" sz="2400">
                <a:solidFill>
                  <a:schemeClr val="dk1"/>
                </a:solidFill>
                <a:latin typeface="Calibri"/>
                <a:ea typeface="Calibri"/>
                <a:cs typeface="Calibri"/>
              </a:rPr>
              <a:t> </a:t>
            </a:r>
            <a:r>
              <a:rPr lang="en-US" sz="2400" b="1">
                <a:solidFill>
                  <a:schemeClr val="dk1"/>
                </a:solidFill>
                <a:latin typeface="Calibri"/>
                <a:ea typeface="Calibri"/>
                <a:cs typeface="Calibri"/>
              </a:rPr>
              <a:t>from</a:t>
            </a:r>
            <a:r>
              <a:rPr lang="en-US" sz="2400">
                <a:solidFill>
                  <a:schemeClr val="dk1"/>
                </a:solidFill>
                <a:latin typeface="Calibri"/>
                <a:ea typeface="Calibri"/>
                <a:cs typeface="Calibri"/>
              </a:rPr>
              <a:t> the initial </a:t>
            </a:r>
            <a:r>
              <a:rPr lang="en-US" sz="2400" b="1">
                <a:solidFill>
                  <a:schemeClr val="dk1"/>
                </a:solidFill>
                <a:latin typeface="Calibri"/>
                <a:ea typeface="Calibri"/>
                <a:cs typeface="Calibri"/>
              </a:rPr>
              <a:t>cash</a:t>
            </a:r>
            <a:r>
              <a:rPr lang="en-US" sz="2400">
                <a:solidFill>
                  <a:schemeClr val="dk1"/>
                </a:solidFill>
                <a:latin typeface="Calibri"/>
                <a:ea typeface="Calibri"/>
                <a:cs typeface="Calibri"/>
              </a:rPr>
              <a:t> </a:t>
            </a:r>
            <a:r>
              <a:rPr lang="en-US" sz="2400" b="1">
                <a:solidFill>
                  <a:srgbClr val="FF0000"/>
                </a:solidFill>
                <a:latin typeface="Calibri"/>
                <a:ea typeface="Calibri"/>
                <a:cs typeface="Calibri"/>
              </a:rPr>
              <a:t>outflow</a:t>
            </a:r>
            <a:r>
              <a:rPr lang="en-US" sz="2400">
                <a:solidFill>
                  <a:schemeClr val="dk1"/>
                </a:solidFill>
                <a:latin typeface="Calibri"/>
                <a:ea typeface="Calibri"/>
                <a:cs typeface="Calibri"/>
              </a:rPr>
              <a:t>, </a:t>
            </a:r>
            <a:r>
              <a:rPr lang="en-US" sz="2400" b="1">
                <a:solidFill>
                  <a:schemeClr val="dk1"/>
                </a:solidFill>
                <a:latin typeface="Calibri"/>
                <a:ea typeface="Calibri"/>
                <a:cs typeface="Calibri"/>
              </a:rPr>
              <a:t>until the payback period is achieved</a:t>
            </a:r>
            <a:r>
              <a:rPr lang="en-US" sz="2400">
                <a:solidFill>
                  <a:schemeClr val="dk1"/>
                </a:solidFill>
                <a:latin typeface="Calibri"/>
                <a:ea typeface="Calibri"/>
                <a:cs typeface="Calibri"/>
              </a:rPr>
              <a:t>) </a:t>
            </a:r>
            <a:endParaRPr sz="2400">
              <a:solidFill>
                <a:schemeClr val="dk1"/>
              </a:solidFill>
              <a:latin typeface="Calibri"/>
              <a:ea typeface="Calibri"/>
              <a:cs typeface="Calibri"/>
            </a:endParaRPr>
          </a:p>
        </p:txBody>
      </p:sp>
      <p:cxnSp>
        <p:nvCxnSpPr>
          <p:cNvPr id="1525109363" name="Google Shape;448;p26"/>
          <p:cNvCxnSpPr/>
          <p:nvPr/>
        </p:nvCxnSpPr>
        <p:spPr bwMode="auto">
          <a:xfrm rot="10800000">
            <a:off x="2895600" y="1371600"/>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1016793227" name="Google Shape;449;p26"/>
          <p:cNvGrpSpPr/>
          <p:nvPr/>
        </p:nvGrpSpPr>
        <p:grpSpPr bwMode="auto">
          <a:xfrm>
            <a:off x="0" y="6980"/>
            <a:ext cx="2209800" cy="6851020"/>
            <a:chOff x="0" y="6980"/>
            <a:chExt cx="2209800" cy="6851020"/>
          </a:xfrm>
        </p:grpSpPr>
        <p:pic>
          <p:nvPicPr>
            <p:cNvPr id="450" name="Google Shape;450;p26"/>
            <p:cNvPicPr/>
            <p:nvPr/>
          </p:nvPicPr>
          <p:blipFill rotWithShape="1">
            <a:blip r:embed="rId3">
              <a:alphaModFix/>
            </a:blip>
            <a:srcRect l="23750" t="0" r="39999" b="0"/>
            <a:stretch/>
          </p:blipFill>
          <p:spPr bwMode="auto">
            <a:xfrm>
              <a:off x="0" y="2800350"/>
              <a:ext cx="2209800" cy="4057650"/>
            </a:xfrm>
            <a:prstGeom prst="rect">
              <a:avLst/>
            </a:prstGeom>
            <a:noFill/>
            <a:ln>
              <a:noFill/>
            </a:ln>
          </p:spPr>
        </p:pic>
        <p:pic>
          <p:nvPicPr>
            <p:cNvPr id="451" name="Google Shape;451;p26"/>
            <p:cNvPicPr/>
            <p:nvPr/>
          </p:nvPicPr>
          <p:blipFill rotWithShape="1">
            <a:blip r:embed="rId4">
              <a:alphaModFix/>
            </a:blip>
            <a:srcRect l="8750" t="0" r="55000" b="0"/>
            <a:stretch/>
          </p:blipFill>
          <p:spPr bwMode="auto">
            <a:xfrm>
              <a:off x="0" y="6980"/>
              <a:ext cx="2209800" cy="3590925"/>
            </a:xfrm>
            <a:prstGeom prst="rect">
              <a:avLst/>
            </a:prstGeom>
            <a:noFill/>
            <a:ln>
              <a:noFill/>
            </a:ln>
          </p:spPr>
        </p:pic>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l"/>
      </p:transition>
    </mc:Choice>
    <mc:Fallback>
      <p:transition spd="slow" advClick="1">
        <p:push dir="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123519076"/>
                                        </p:tgtEl>
                                        <p:attrNameLst>
                                          <p:attrName>style.visibility</p:attrName>
                                        </p:attrNameLst>
                                      </p:cBhvr>
                                      <p:to>
                                        <p:strVal val="visible"/>
                                      </p:to>
                                    </p:set>
                                    <p:anim calcmode="lin" valueType="num">
                                      <p:cBhvr additive="base">
                                        <p:cTn id="7" dur="500" fill="hold"/>
                                        <p:tgtEl>
                                          <p:spTgt spid="2123519076"/>
                                        </p:tgtEl>
                                        <p:attrNameLst>
                                          <p:attrName>ppt_x</p:attrName>
                                        </p:attrNameLst>
                                      </p:cBhvr>
                                      <p:tavLst>
                                        <p:tav tm="0">
                                          <p:val>
                                            <p:strVal val="#ppt_x"/>
                                          </p:val>
                                        </p:tav>
                                        <p:tav tm="100000">
                                          <p:val>
                                            <p:strVal val="#ppt_x"/>
                                          </p:val>
                                        </p:tav>
                                      </p:tavLst>
                                    </p:anim>
                                    <p:anim calcmode="lin" valueType="num">
                                      <p:cBhvr additive="base">
                                        <p:cTn id="8" dur="500" fill="hold"/>
                                        <p:tgtEl>
                                          <p:spTgt spid="212351907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70338188">
                                            <p:txEl>
                                              <p:pRg st="0" end="0"/>
                                            </p:txEl>
                                          </p:spTgt>
                                        </p:tgtEl>
                                        <p:attrNameLst>
                                          <p:attrName>style.visibility</p:attrName>
                                        </p:attrNameLst>
                                      </p:cBhvr>
                                      <p:to>
                                        <p:strVal val="visible"/>
                                      </p:to>
                                    </p:set>
                                    <p:animEffect transition="in" filter="fade">
                                      <p:cBhvr>
                                        <p:cTn id="13" dur="500"/>
                                        <p:tgtEl>
                                          <p:spTgt spid="1470338188">
                                            <p:txEl>
                                              <p:pRg st="0" end="0"/>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470338188">
                                            <p:txEl>
                                              <p:pRg st="1" end="1"/>
                                            </p:txEl>
                                          </p:spTgt>
                                        </p:tgtEl>
                                        <p:attrNameLst>
                                          <p:attrName>style.visibility</p:attrName>
                                        </p:attrNameLst>
                                      </p:cBhvr>
                                      <p:to>
                                        <p:strVal val="visible"/>
                                      </p:to>
                                    </p:set>
                                    <p:animEffect transition="in" filter="fade">
                                      <p:cBhvr>
                                        <p:cTn id="16" dur="500"/>
                                        <p:tgtEl>
                                          <p:spTgt spid="1470338188">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470338188">
                                            <p:txEl>
                                              <p:pRg st="2" end="2"/>
                                            </p:txEl>
                                          </p:spTgt>
                                        </p:tgtEl>
                                        <p:attrNameLst>
                                          <p:attrName>style.visibility</p:attrName>
                                        </p:attrNameLst>
                                      </p:cBhvr>
                                      <p:to>
                                        <p:strVal val="visible"/>
                                      </p:to>
                                    </p:set>
                                    <p:animEffect transition="in" filter="fade">
                                      <p:cBhvr>
                                        <p:cTn id="21" dur="500"/>
                                        <p:tgtEl>
                                          <p:spTgt spid="1470338188">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470338188">
                                            <p:txEl>
                                              <p:pRg st="3" end="3"/>
                                            </p:txEl>
                                          </p:spTgt>
                                        </p:tgtEl>
                                        <p:attrNameLst>
                                          <p:attrName>style.visibility</p:attrName>
                                        </p:attrNameLst>
                                      </p:cBhvr>
                                      <p:to>
                                        <p:strVal val="visible"/>
                                      </p:to>
                                    </p:set>
                                    <p:animEffect transition="in" filter="fade">
                                      <p:cBhvr>
                                        <p:cTn id="26" dur="500"/>
                                        <p:tgtEl>
                                          <p:spTgt spid="147033818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3519076" grpId="0"/>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7908727" name="Google Shape;457;p27"/>
          <p:cNvSpPr txBox="1">
            <a:spLocks noGrp="1"/>
          </p:cNvSpPr>
          <p:nvPr>
            <p:ph type="title"/>
          </p:nvPr>
        </p:nvSpPr>
        <p:spPr bwMode="auto">
          <a:xfrm>
            <a:off x="2743200" y="457200"/>
            <a:ext cx="4038600" cy="533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defRPr/>
            </a:pPr>
            <a:r>
              <a:rPr lang="en-US" b="1"/>
              <a:t>Payback Period</a:t>
            </a:r>
            <a:endParaRPr b="1"/>
          </a:p>
        </p:txBody>
      </p:sp>
      <p:sp>
        <p:nvSpPr>
          <p:cNvPr id="1397639038" name="Google Shape;458;p2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29</a:t>
            </a:fld>
            <a:endParaRPr/>
          </a:p>
        </p:txBody>
      </p:sp>
      <p:sp>
        <p:nvSpPr>
          <p:cNvPr id="46441171" name="Google Shape;459;p27"/>
          <p:cNvSpPr txBox="1"/>
          <p:nvPr/>
        </p:nvSpPr>
        <p:spPr bwMode="auto">
          <a:xfrm>
            <a:off x="2782649" y="964852"/>
            <a:ext cx="4191000"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1.3 Project Appraisal</a:t>
            </a:r>
            <a:endParaRPr/>
          </a:p>
        </p:txBody>
      </p:sp>
      <p:cxnSp>
        <p:nvCxnSpPr>
          <p:cNvPr id="416115198" name="Google Shape;460;p27"/>
          <p:cNvCxnSpPr/>
          <p:nvPr/>
        </p:nvCxnSpPr>
        <p:spPr bwMode="auto">
          <a:xfrm rot="10800000">
            <a:off x="2895600" y="1371600"/>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1466773418" name="Google Shape;461;p27"/>
          <p:cNvGrpSpPr/>
          <p:nvPr/>
        </p:nvGrpSpPr>
        <p:grpSpPr bwMode="auto">
          <a:xfrm>
            <a:off x="0" y="6980"/>
            <a:ext cx="2209800" cy="6851020"/>
            <a:chOff x="0" y="6980"/>
            <a:chExt cx="2209800" cy="6851020"/>
          </a:xfrm>
        </p:grpSpPr>
        <p:pic>
          <p:nvPicPr>
            <p:cNvPr id="462" name="Google Shape;462;p27"/>
            <p:cNvPicPr/>
            <p:nvPr/>
          </p:nvPicPr>
          <p:blipFill rotWithShape="1">
            <a:blip r:embed="rId3">
              <a:alphaModFix/>
            </a:blip>
            <a:srcRect l="23750" t="0" r="39999" b="0"/>
            <a:stretch/>
          </p:blipFill>
          <p:spPr bwMode="auto">
            <a:xfrm>
              <a:off x="0" y="2800350"/>
              <a:ext cx="2209800" cy="4057650"/>
            </a:xfrm>
            <a:prstGeom prst="rect">
              <a:avLst/>
            </a:prstGeom>
            <a:noFill/>
            <a:ln>
              <a:noFill/>
            </a:ln>
          </p:spPr>
        </p:pic>
        <p:pic>
          <p:nvPicPr>
            <p:cNvPr id="463" name="Google Shape;463;p27"/>
            <p:cNvPicPr/>
            <p:nvPr/>
          </p:nvPicPr>
          <p:blipFill rotWithShape="1">
            <a:blip r:embed="rId4">
              <a:alphaModFix/>
            </a:blip>
            <a:srcRect l="8750" t="0" r="55000" b="0"/>
            <a:stretch/>
          </p:blipFill>
          <p:spPr bwMode="auto">
            <a:xfrm>
              <a:off x="0" y="6980"/>
              <a:ext cx="2209800" cy="3590925"/>
            </a:xfrm>
            <a:prstGeom prst="rect">
              <a:avLst/>
            </a:prstGeom>
            <a:noFill/>
            <a:ln>
              <a:noFill/>
            </a:ln>
          </p:spPr>
        </p:pic>
      </p:grpSp>
      <p:graphicFrame>
        <p:nvGraphicFramePr>
          <p:cNvPr id="651975878" name="Google Shape;464;p27"/>
          <p:cNvGraphicFramePr>
            <a:graphicFrameLocks xmlns:a="http://schemas.openxmlformats.org/drawingml/2006/main"/>
          </p:cNvGraphicFramePr>
          <p:nvPr/>
        </p:nvGraphicFramePr>
        <p:xfrm rot="0">
          <a:off x="2895600" y="1828800"/>
          <a:ext cx="7315200" cy="2960670"/>
        </p:xfrm>
        <a:graphic>
          <a:graphicData uri="http://schemas.openxmlformats.org/drawingml/2006/table">
            <a:tbl>
              <a:tblPr firstRow="0" firstCol="0" lastRow="0" lastCol="0" bandRow="0" bandCol="0">
                <a:tableStyleId>{4C38C2D8-9331-4F24-B9CF-3786705C414E}</a:tableStyleId>
                <a:noFill/>
              </a:tblPr>
              <a:tblGrid>
                <a:gridCol w="1143000"/>
                <a:gridCol w="1784350"/>
                <a:gridCol w="1460500"/>
                <a:gridCol w="1463675"/>
                <a:gridCol w="1463675"/>
              </a:tblGrid>
              <a:tr h="228600">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Year</a:t>
                      </a:r>
                      <a:endParaRPr b="1"/>
                    </a:p>
                  </a:txBody>
                  <a:tcPr marL="91450" marR="91450" marT="45725" marB="45725">
                    <a:lnL w="28575" algn="ctr">
                      <a:solidFill>
                        <a:schemeClr val="dk1"/>
                      </a:solidFill>
                    </a:lnL>
                    <a:lnR w="12700" algn="ctr">
                      <a:solidFill>
                        <a:schemeClr val="dk1"/>
                      </a:solidFill>
                    </a:lnR>
                    <a:lnT w="28575"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Project 1</a:t>
                      </a:r>
                      <a:endParaRPr b="1"/>
                    </a:p>
                  </a:txBody>
                  <a:tcPr marL="91450" marR="91450" marT="45725" marB="45725">
                    <a:lnL w="12700" algn="ctr">
                      <a:solidFill>
                        <a:schemeClr val="dk1"/>
                      </a:solidFill>
                    </a:lnL>
                    <a:lnR w="12700" algn="ctr">
                      <a:solidFill>
                        <a:schemeClr val="dk1"/>
                      </a:solidFill>
                    </a:lnR>
                    <a:lnT w="28575"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Project 2</a:t>
                      </a:r>
                      <a:endParaRPr b="1"/>
                    </a:p>
                  </a:txBody>
                  <a:tcPr marL="91450" marR="91450" marT="45725" marB="45725">
                    <a:lnL w="12700" algn="ctr">
                      <a:solidFill>
                        <a:schemeClr val="dk1"/>
                      </a:solidFill>
                    </a:lnL>
                    <a:lnR w="12700" algn="ctr">
                      <a:solidFill>
                        <a:schemeClr val="dk1"/>
                      </a:solidFill>
                    </a:lnR>
                    <a:lnT w="28575"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Project 3</a:t>
                      </a:r>
                      <a:endParaRPr b="1"/>
                    </a:p>
                  </a:txBody>
                  <a:tcPr marL="91450" marR="91450" marT="45725" marB="45725">
                    <a:lnL w="12700" algn="ctr">
                      <a:solidFill>
                        <a:schemeClr val="dk1"/>
                      </a:solidFill>
                    </a:lnL>
                    <a:lnR w="12700" algn="ctr">
                      <a:solidFill>
                        <a:schemeClr val="dk1"/>
                      </a:solidFill>
                    </a:lnR>
                    <a:lnT w="28575"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Project 4</a:t>
                      </a:r>
                      <a:endParaRPr b="1"/>
                    </a:p>
                  </a:txBody>
                  <a:tcPr marL="91450" marR="91450" marT="45725" marB="45725">
                    <a:lnL w="12700" algn="ctr">
                      <a:solidFill>
                        <a:schemeClr val="dk1"/>
                      </a:solidFill>
                    </a:lnL>
                    <a:lnR w="28575" algn="ctr">
                      <a:solidFill>
                        <a:schemeClr val="dk1"/>
                      </a:solidFill>
                    </a:lnR>
                    <a:lnT w="28575" algn="ctr">
                      <a:solidFill>
                        <a:schemeClr val="dk1"/>
                      </a:solidFill>
                    </a:lnT>
                    <a:lnB w="12700" algn="ctr">
                      <a:solidFill>
                        <a:schemeClr val="dk1"/>
                      </a:solidFill>
                    </a:lnB>
                    <a:solidFill>
                      <a:schemeClr val="lt1"/>
                    </a:solidFill>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0</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-1,000,000</a:t>
                      </a:r>
                      <a:endParaRPr b="0"/>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a:t>
                      </a:r>
                      <a:endParaRPr b="0"/>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-120,000</a:t>
                      </a:r>
                      <a:endParaRPr b="0"/>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solidFill>
                      <a:schemeClr val="lt1"/>
                    </a:solidFill>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b="0"/>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b="0"/>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b="0"/>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solidFill>
                      <a:schemeClr val="lt1"/>
                    </a:solidFill>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solidFill>
                      <a:schemeClr val="lt1"/>
                    </a:solidFill>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solidFill>
                      <a:schemeClr val="lt1"/>
                    </a:solidFill>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4</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tx1"/>
                          </a:solidFill>
                          <a:latin typeface="Arial"/>
                          <a:ea typeface="Arial"/>
                          <a:cs typeface="Arial"/>
                        </a:rPr>
                        <a:t>20,000</a:t>
                      </a:r>
                      <a:endParaRPr b="0">
                        <a:solidFill>
                          <a:schemeClr val="tx1"/>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tx1"/>
                          </a:solidFill>
                          <a:latin typeface="Arial"/>
                          <a:ea typeface="Arial"/>
                          <a:cs typeface="Arial"/>
                        </a:rPr>
                        <a:t>200,000</a:t>
                      </a:r>
                      <a:endParaRPr b="0">
                        <a:solidFill>
                          <a:schemeClr val="tx1"/>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0" i="0" u="none" strike="noStrike" cap="none">
                          <a:solidFill>
                            <a:schemeClr val="tx1"/>
                          </a:solidFill>
                          <a:latin typeface="Arial"/>
                          <a:ea typeface="Arial"/>
                          <a:cs typeface="Arial"/>
                        </a:rPr>
                        <a:t>30,000</a:t>
                      </a:r>
                      <a:endParaRPr b="0">
                        <a:solidFill>
                          <a:schemeClr val="tx1"/>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tx1"/>
                          </a:solidFill>
                          <a:latin typeface="Arial"/>
                          <a:ea typeface="Arial"/>
                          <a:cs typeface="Arial"/>
                        </a:rPr>
                        <a:t>30,000</a:t>
                      </a:r>
                      <a:endParaRPr b="0">
                        <a:solidFill>
                          <a:schemeClr val="tx1"/>
                        </a:solidFill>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solidFill>
                      <a:schemeClr val="lt1"/>
                    </a:solidFill>
                  </a:tcPr>
                </a:tc>
              </a:tr>
              <a:tr h="4001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5</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0" i="0" u="none" strike="noStrike" cap="none">
                          <a:solidFill>
                            <a:schemeClr val="tx1"/>
                          </a:solidFill>
                          <a:latin typeface="Arial"/>
                          <a:ea typeface="Arial"/>
                          <a:cs typeface="Arial"/>
                        </a:rPr>
                        <a:t>100,000</a:t>
                      </a:r>
                      <a:endParaRPr b="0">
                        <a:solidFill>
                          <a:schemeClr val="tx1"/>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0" i="0" u="none" strike="noStrike" cap="none">
                          <a:solidFill>
                            <a:schemeClr val="tx1"/>
                          </a:solidFill>
                          <a:latin typeface="Arial"/>
                          <a:ea typeface="Arial"/>
                          <a:cs typeface="Arial"/>
                        </a:rPr>
                        <a:t>300,000</a:t>
                      </a:r>
                      <a:endParaRPr b="0">
                        <a:solidFill>
                          <a:schemeClr val="tx1"/>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tx1"/>
                          </a:solidFill>
                          <a:latin typeface="Arial"/>
                          <a:ea typeface="Arial"/>
                          <a:cs typeface="Arial"/>
                        </a:rPr>
                        <a:t>30,000</a:t>
                      </a:r>
                      <a:endParaRPr b="0">
                        <a:solidFill>
                          <a:schemeClr val="tx1"/>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0" i="0" u="none" strike="noStrike" cap="none">
                          <a:solidFill>
                            <a:schemeClr val="tx1"/>
                          </a:solidFill>
                          <a:latin typeface="Arial"/>
                          <a:ea typeface="Arial"/>
                          <a:cs typeface="Arial"/>
                        </a:rPr>
                        <a:t>75,000</a:t>
                      </a:r>
                      <a:endParaRPr b="0">
                        <a:solidFill>
                          <a:schemeClr val="tx1"/>
                        </a:solidFill>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solidFill>
                      <a:schemeClr val="lt1"/>
                    </a:solidFill>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600" b="1" i="0" u="none" strike="noStrike" cap="none">
                          <a:solidFill>
                            <a:schemeClr val="tx1"/>
                          </a:solidFill>
                          <a:latin typeface="Arial"/>
                          <a:ea typeface="Arial"/>
                          <a:cs typeface="Arial"/>
                        </a:rPr>
                        <a:t>Net Profit</a:t>
                      </a:r>
                      <a:endParaRPr sz="1600" b="1">
                        <a:solidFill>
                          <a:schemeClr val="tx1"/>
                        </a:solidFill>
                      </a:endParaRPr>
                    </a:p>
                  </a:txBody>
                  <a:tcPr marL="91450" marR="91450" marT="45725" marB="45725">
                    <a:lnL w="28575" algn="ctr">
                      <a:solidFill>
                        <a:schemeClr val="dk1"/>
                      </a:solidFill>
                    </a:lnL>
                    <a:lnR w="12700" algn="ctr">
                      <a:solidFill>
                        <a:schemeClr val="dk1"/>
                      </a:solidFill>
                    </a:lnR>
                    <a:lnT w="12700" algn="ctr">
                      <a:solidFill>
                        <a:schemeClr val="dk1"/>
                      </a:solidFill>
                    </a:lnT>
                    <a:lnB w="28575"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tx1"/>
                          </a:solidFill>
                          <a:latin typeface="Arial"/>
                          <a:ea typeface="Arial"/>
                          <a:cs typeface="Arial"/>
                        </a:rPr>
                        <a:t>50,000</a:t>
                      </a:r>
                      <a:endParaRPr b="1">
                        <a:solidFill>
                          <a:schemeClr val="tx1"/>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28575" algn="ctr">
                      <a:solidFill>
                        <a:schemeClr val="dk1"/>
                      </a:solidFill>
                    </a:lnB>
                    <a:solidFill>
                      <a:schemeClr val="lt1"/>
                    </a:solidFill>
                  </a:tcPr>
                </a:tc>
                <a:tc>
                  <a:txBody>
                    <a:bodyPr/>
                    <a:p>
                      <a:pPr marL="0" marR="0" lvl="0" indent="0" algn="l" rtl="0">
                        <a:lnSpc>
                          <a:spcPct val="100000"/>
                        </a:lnSpc>
                        <a:spcBef>
                          <a:spcPts val="0"/>
                        </a:spcBef>
                        <a:spcAft>
                          <a:spcPts val="0"/>
                        </a:spcAft>
                        <a:buClr>
                          <a:srgbClr val="3333CC"/>
                        </a:buClr>
                        <a:buSzPts val="1800"/>
                        <a:buFont typeface="Arial"/>
                        <a:buNone/>
                        <a:defRPr/>
                      </a:pPr>
                      <a:r>
                        <a:rPr lang="en-US" sz="1800" b="1" i="0" u="none" strike="noStrike" cap="none">
                          <a:solidFill>
                            <a:schemeClr val="tx1"/>
                          </a:solidFill>
                          <a:latin typeface="Arial"/>
                          <a:ea typeface="Arial"/>
                          <a:cs typeface="Arial"/>
                        </a:rPr>
                        <a:t>100,000</a:t>
                      </a:r>
                      <a:endParaRPr b="1">
                        <a:solidFill>
                          <a:schemeClr val="tx1"/>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28575" algn="ctr">
                      <a:solidFill>
                        <a:schemeClr val="dk1"/>
                      </a:solidFill>
                    </a:lnB>
                    <a:solidFill>
                      <a:schemeClr val="lt1"/>
                    </a:solidFill>
                  </a:tcPr>
                </a:tc>
                <a:tc>
                  <a:txBody>
                    <a:bodyPr/>
                    <a:p>
                      <a:pPr marL="0" marR="0" lvl="0" indent="0" algn="l" rtl="0">
                        <a:lnSpc>
                          <a:spcPct val="100000"/>
                        </a:lnSpc>
                        <a:spcBef>
                          <a:spcPts val="0"/>
                        </a:spcBef>
                        <a:spcAft>
                          <a:spcPts val="0"/>
                        </a:spcAft>
                        <a:buClr>
                          <a:srgbClr val="3333CC"/>
                        </a:buClr>
                        <a:buSzPts val="1800"/>
                        <a:buFont typeface="Arial"/>
                        <a:buNone/>
                        <a:defRPr/>
                      </a:pPr>
                      <a:r>
                        <a:rPr lang="en-US" sz="1800" b="1" i="0" u="none" strike="noStrike" cap="none">
                          <a:solidFill>
                            <a:schemeClr val="tx1"/>
                          </a:solidFill>
                          <a:latin typeface="Arial"/>
                          <a:ea typeface="Arial"/>
                          <a:cs typeface="Arial"/>
                        </a:rPr>
                        <a:t>50,000</a:t>
                      </a:r>
                      <a:endParaRPr b="1">
                        <a:solidFill>
                          <a:schemeClr val="tx1"/>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28575"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tx1"/>
                          </a:solidFill>
                          <a:latin typeface="Arial"/>
                          <a:ea typeface="Arial"/>
                          <a:cs typeface="Arial"/>
                        </a:rPr>
                        <a:t>75,000</a:t>
                      </a:r>
                      <a:endParaRPr b="1">
                        <a:solidFill>
                          <a:schemeClr val="tx1"/>
                        </a:solidFill>
                      </a:endParaRPr>
                    </a:p>
                  </a:txBody>
                  <a:tcPr marL="91450" marR="91450" marT="45725" marB="45725">
                    <a:lnL w="12700" algn="ctr">
                      <a:solidFill>
                        <a:schemeClr val="dk1"/>
                      </a:solidFill>
                    </a:lnL>
                    <a:lnR w="28575" algn="ctr">
                      <a:solidFill>
                        <a:schemeClr val="dk1"/>
                      </a:solidFill>
                    </a:lnR>
                    <a:lnT w="12700" algn="ctr">
                      <a:solidFill>
                        <a:schemeClr val="dk1"/>
                      </a:solidFill>
                    </a:lnT>
                    <a:lnB w="28575" algn="ctr">
                      <a:solidFill>
                        <a:schemeClr val="dk1"/>
                      </a:solidFill>
                    </a:lnB>
                    <a:solidFill>
                      <a:schemeClr val="lt1"/>
                    </a:solidFill>
                  </a:tcPr>
                </a:tc>
              </a:tr>
            </a:tbl>
          </a:graphicData>
        </a:graphic>
      </p:graphicFrame>
      <p:sp>
        <p:nvSpPr>
          <p:cNvPr id="774837640" name="Google Shape;466;p27"/>
          <p:cNvSpPr txBox="1"/>
          <p:nvPr/>
        </p:nvSpPr>
        <p:spPr bwMode="auto">
          <a:xfrm>
            <a:off x="2800049" y="4865374"/>
            <a:ext cx="757237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600"/>
              <a:buFont typeface="Times New Roman"/>
              <a:buNone/>
              <a:defRPr/>
            </a:pPr>
            <a:r>
              <a:rPr lang="en-US" sz="1600">
                <a:solidFill>
                  <a:schemeClr val="dk1"/>
                </a:solidFill>
                <a:latin typeface="Times New Roman"/>
                <a:ea typeface="Times New Roman"/>
                <a:cs typeface="Times New Roman"/>
              </a:rPr>
              <a:t>Table 1.2 Four project cash flow projections – </a:t>
            </a:r>
            <a:r>
              <a:rPr lang="en-US" sz="1600">
                <a:solidFill>
                  <a:schemeClr val="tx1"/>
                </a:solidFill>
                <a:latin typeface="Times New Roman"/>
                <a:ea typeface="Times New Roman"/>
                <a:cs typeface="Times New Roman"/>
              </a:rPr>
              <a:t>figures are end of year totals (RM)</a:t>
            </a:r>
            <a:endParaRPr>
              <a:solidFill>
                <a:schemeClr val="tx1"/>
              </a:solidFill>
            </a:endParaRPr>
          </a:p>
        </p:txBody>
      </p:sp>
      <p:sp>
        <p:nvSpPr>
          <p:cNvPr id="711519616" name="Google Shape;465;p27"/>
          <p:cNvSpPr txBox="1"/>
          <p:nvPr/>
        </p:nvSpPr>
        <p:spPr bwMode="auto">
          <a:xfrm>
            <a:off x="2797163" y="1392988"/>
            <a:ext cx="7119258" cy="914400"/>
          </a:xfrm>
          <a:prstGeom prst="rect">
            <a:avLst/>
          </a:prstGeom>
          <a:noFill/>
          <a:ln>
            <a:noFill/>
          </a:ln>
        </p:spPr>
        <p:txBody>
          <a:bodyPr spcFirstLastPara="1" wrap="square" lIns="91425" tIns="45700" rIns="91425" bIns="45700" anchor="t" anchorCtr="0">
            <a:noAutofit/>
          </a:bodyPr>
          <a:lstStyle/>
          <a:p>
            <a:pPr marR="0" lvl="0" algn="l" rtl="0">
              <a:lnSpc>
                <a:spcPct val="90000"/>
              </a:lnSpc>
              <a:spcBef>
                <a:spcPts val="0"/>
              </a:spcBef>
              <a:spcAft>
                <a:spcPts val="0"/>
              </a:spcAft>
              <a:buClr>
                <a:schemeClr val="dk1"/>
              </a:buClr>
              <a:buSzPts val="2000"/>
              <a:defRPr/>
            </a:pPr>
            <a:r>
              <a:rPr lang="en-US" sz="2400" b="1">
                <a:solidFill>
                  <a:srgbClr val="FF0000"/>
                </a:solidFill>
                <a:latin typeface="Calibri"/>
                <a:ea typeface="Calibri"/>
                <a:cs typeface="Calibri"/>
              </a:rPr>
              <a:t>What is the payback period for Project 1, 2, 3 and 4?</a:t>
            </a:r>
            <a:endParaRPr sz="2400">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711519616">
                                            <p:txEl>
                                              <p:pRg st="0" end="0"/>
                                            </p:txEl>
                                          </p:spTgt>
                                        </p:tgtEl>
                                        <p:attrNameLst>
                                          <p:attrName>style.visibility</p:attrName>
                                        </p:attrNameLst>
                                      </p:cBhvr>
                                      <p:to>
                                        <p:strVal val="visible"/>
                                      </p:to>
                                    </p:set>
                                    <p:anim calcmode="lin" valueType="num">
                                      <p:cBhvr additive="base">
                                        <p:cTn id="7" dur="500" fill="hold"/>
                                        <p:tgtEl>
                                          <p:spTgt spid="7115196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1519616">
                                            <p:txEl>
                                              <p:pRg st="0" end="0"/>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123433" name="Google Shape;457;p27"/>
          <p:cNvSpPr txBox="1">
            <a:spLocks noGrp="1"/>
          </p:cNvSpPr>
          <p:nvPr>
            <p:ph type="title"/>
          </p:nvPr>
        </p:nvSpPr>
        <p:spPr bwMode="auto">
          <a:xfrm>
            <a:off x="2743200" y="457200"/>
            <a:ext cx="4038600" cy="533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defRPr/>
            </a:pPr>
            <a:r>
              <a:rPr lang="en-US" b="1"/>
              <a:t>Payback Period</a:t>
            </a:r>
            <a:endParaRPr b="1"/>
          </a:p>
        </p:txBody>
      </p:sp>
      <p:sp>
        <p:nvSpPr>
          <p:cNvPr id="715567724" name="Google Shape;458;p2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30</a:t>
            </a:fld>
            <a:endParaRPr/>
          </a:p>
        </p:txBody>
      </p:sp>
      <p:sp>
        <p:nvSpPr>
          <p:cNvPr id="1625676436" name="Google Shape;459;p27"/>
          <p:cNvSpPr txBox="1"/>
          <p:nvPr/>
        </p:nvSpPr>
        <p:spPr bwMode="auto">
          <a:xfrm>
            <a:off x="2782649" y="964852"/>
            <a:ext cx="4191000"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1.3 Project Appraisal</a:t>
            </a:r>
            <a:endParaRPr/>
          </a:p>
        </p:txBody>
      </p:sp>
      <p:cxnSp>
        <p:nvCxnSpPr>
          <p:cNvPr id="404728804" name="Google Shape;460;p27"/>
          <p:cNvCxnSpPr/>
          <p:nvPr/>
        </p:nvCxnSpPr>
        <p:spPr bwMode="auto">
          <a:xfrm rot="10800000">
            <a:off x="2895600" y="1371600"/>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1053389866" name="Google Shape;461;p27"/>
          <p:cNvGrpSpPr/>
          <p:nvPr/>
        </p:nvGrpSpPr>
        <p:grpSpPr bwMode="auto">
          <a:xfrm>
            <a:off x="0" y="6980"/>
            <a:ext cx="2209800" cy="6851020"/>
            <a:chOff x="0" y="6980"/>
            <a:chExt cx="2209800" cy="6851020"/>
          </a:xfrm>
        </p:grpSpPr>
        <p:pic>
          <p:nvPicPr>
            <p:cNvPr id="462" name="Google Shape;462;p27"/>
            <p:cNvPicPr/>
            <p:nvPr/>
          </p:nvPicPr>
          <p:blipFill rotWithShape="1">
            <a:blip r:embed="rId3">
              <a:alphaModFix/>
            </a:blip>
            <a:srcRect l="23750" t="0" r="39999" b="0"/>
            <a:stretch/>
          </p:blipFill>
          <p:spPr bwMode="auto">
            <a:xfrm>
              <a:off x="0" y="2800350"/>
              <a:ext cx="2209800" cy="4057650"/>
            </a:xfrm>
            <a:prstGeom prst="rect">
              <a:avLst/>
            </a:prstGeom>
            <a:noFill/>
            <a:ln>
              <a:noFill/>
            </a:ln>
          </p:spPr>
        </p:pic>
        <p:pic>
          <p:nvPicPr>
            <p:cNvPr id="463" name="Google Shape;463;p27"/>
            <p:cNvPicPr/>
            <p:nvPr/>
          </p:nvPicPr>
          <p:blipFill rotWithShape="1">
            <a:blip r:embed="rId4">
              <a:alphaModFix/>
            </a:blip>
            <a:srcRect l="8750" t="0" r="55000" b="0"/>
            <a:stretch/>
          </p:blipFill>
          <p:spPr bwMode="auto">
            <a:xfrm>
              <a:off x="0" y="6980"/>
              <a:ext cx="2209800" cy="3590925"/>
            </a:xfrm>
            <a:prstGeom prst="rect">
              <a:avLst/>
            </a:prstGeom>
            <a:noFill/>
            <a:ln>
              <a:noFill/>
            </a:ln>
          </p:spPr>
        </p:pic>
      </p:grpSp>
      <p:graphicFrame>
        <p:nvGraphicFramePr>
          <p:cNvPr id="1682804814" name="Google Shape;464;p27"/>
          <p:cNvGraphicFramePr>
            <a:graphicFrameLocks xmlns:a="http://schemas.openxmlformats.org/drawingml/2006/main"/>
          </p:cNvGraphicFramePr>
          <p:nvPr/>
        </p:nvGraphicFramePr>
        <p:xfrm rot="0">
          <a:off x="2895600" y="1828800"/>
          <a:ext cx="7315200" cy="2960670"/>
        </p:xfrm>
        <a:graphic>
          <a:graphicData uri="http://schemas.openxmlformats.org/drawingml/2006/table">
            <a:tbl>
              <a:tblPr firstRow="0" firstCol="0" lastRow="0" lastCol="0" bandRow="0" bandCol="0">
                <a:tableStyleId>{4C38C2D8-9331-4F24-B9CF-3786705C414E}</a:tableStyleId>
                <a:noFill/>
              </a:tblPr>
              <a:tblGrid>
                <a:gridCol w="1143000"/>
                <a:gridCol w="1784350"/>
                <a:gridCol w="1460500"/>
                <a:gridCol w="1463675"/>
                <a:gridCol w="1463675"/>
              </a:tblGrid>
              <a:tr h="228600">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Year</a:t>
                      </a:r>
                      <a:endParaRPr b="1"/>
                    </a:p>
                  </a:txBody>
                  <a:tcPr marL="91450" marR="91450" marT="45725" marB="45725">
                    <a:lnL w="28575" algn="ctr">
                      <a:solidFill>
                        <a:schemeClr val="dk1"/>
                      </a:solidFill>
                    </a:lnL>
                    <a:lnR w="12700" algn="ctr">
                      <a:solidFill>
                        <a:schemeClr val="dk1"/>
                      </a:solidFill>
                    </a:lnR>
                    <a:lnT w="28575"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Project 1</a:t>
                      </a:r>
                      <a:endParaRPr b="1"/>
                    </a:p>
                  </a:txBody>
                  <a:tcPr marL="91450" marR="91450" marT="45725" marB="45725">
                    <a:lnL w="12700" algn="ctr">
                      <a:solidFill>
                        <a:schemeClr val="dk1"/>
                      </a:solidFill>
                    </a:lnL>
                    <a:lnR w="12700" algn="ctr">
                      <a:solidFill>
                        <a:schemeClr val="dk1"/>
                      </a:solidFill>
                    </a:lnR>
                    <a:lnT w="28575"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tx1"/>
                          </a:solidFill>
                          <a:latin typeface="Arial"/>
                          <a:ea typeface="Arial"/>
                          <a:cs typeface="Arial"/>
                        </a:rPr>
                        <a:t>Project 2</a:t>
                      </a:r>
                      <a:endParaRPr b="1">
                        <a:solidFill>
                          <a:schemeClr val="tx1"/>
                        </a:solidFill>
                      </a:endParaRPr>
                    </a:p>
                  </a:txBody>
                  <a:tcPr marL="91450" marR="91450" marT="45725" marB="45725">
                    <a:lnL w="12700" algn="ctr">
                      <a:solidFill>
                        <a:schemeClr val="dk1"/>
                      </a:solidFill>
                    </a:lnL>
                    <a:lnR w="12700" algn="ctr">
                      <a:solidFill>
                        <a:schemeClr val="dk1"/>
                      </a:solidFill>
                    </a:lnR>
                    <a:lnT w="28575"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tx1"/>
                          </a:solidFill>
                          <a:latin typeface="Arial"/>
                          <a:ea typeface="Arial"/>
                          <a:cs typeface="Arial"/>
                        </a:rPr>
                        <a:t>Project 3</a:t>
                      </a:r>
                      <a:endParaRPr b="1">
                        <a:solidFill>
                          <a:schemeClr val="tx1"/>
                        </a:solidFill>
                      </a:endParaRPr>
                    </a:p>
                  </a:txBody>
                  <a:tcPr marL="91450" marR="91450" marT="45725" marB="45725">
                    <a:lnL w="12700" algn="ctr">
                      <a:solidFill>
                        <a:schemeClr val="dk1"/>
                      </a:solidFill>
                    </a:lnL>
                    <a:lnR w="12700" algn="ctr">
                      <a:solidFill>
                        <a:schemeClr val="dk1"/>
                      </a:solidFill>
                    </a:lnR>
                    <a:lnT w="28575"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tx1"/>
                          </a:solidFill>
                          <a:latin typeface="Arial"/>
                          <a:ea typeface="Arial"/>
                          <a:cs typeface="Arial"/>
                        </a:rPr>
                        <a:t>Project 4</a:t>
                      </a:r>
                      <a:endParaRPr b="1">
                        <a:solidFill>
                          <a:schemeClr val="tx1"/>
                        </a:solidFill>
                      </a:endParaRPr>
                    </a:p>
                  </a:txBody>
                  <a:tcPr marL="91450" marR="91450" marT="45725" marB="45725">
                    <a:lnL w="12700" algn="ctr">
                      <a:solidFill>
                        <a:schemeClr val="dk1"/>
                      </a:solidFill>
                    </a:lnL>
                    <a:lnR w="28575" algn="ctr">
                      <a:solidFill>
                        <a:schemeClr val="dk1"/>
                      </a:solidFill>
                    </a:lnR>
                    <a:lnT w="28575" algn="ctr">
                      <a:solidFill>
                        <a:schemeClr val="dk1"/>
                      </a:solidFill>
                    </a:lnT>
                    <a:lnB w="12700" algn="ctr">
                      <a:solidFill>
                        <a:schemeClr val="dk1"/>
                      </a:solidFill>
                    </a:lnB>
                    <a:solidFill>
                      <a:schemeClr val="lt1"/>
                    </a:solidFill>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0</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-120,000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solidFill>
                      <a:schemeClr val="lt1"/>
                    </a:solidFill>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solidFill>
                      <a:schemeClr val="lt1"/>
                    </a:solidFill>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solidFill>
                      <a:schemeClr val="lt1"/>
                    </a:solidFill>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solidFill>
                      <a:schemeClr val="lt1"/>
                    </a:solidFill>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4</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30,000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rgbClr val="C00000"/>
                          </a:solidFill>
                          <a:latin typeface="Arial"/>
                          <a:ea typeface="Arial"/>
                          <a:cs typeface="Arial"/>
                        </a:rPr>
                        <a:t>30,000</a:t>
                      </a:r>
                      <a:endParaRPr b="1">
                        <a:solidFill>
                          <a:srgbClr val="C00000"/>
                        </a:solidFill>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solidFill>
                      <a:schemeClr val="lt1"/>
                    </a:solidFill>
                  </a:tcPr>
                </a:tc>
              </a:tr>
              <a:tr h="4001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5</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100,000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300,000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0" i="0" u="none" strike="noStrike" cap="none">
                          <a:solidFill>
                            <a:schemeClr val="tx1"/>
                          </a:solidFill>
                          <a:latin typeface="Arial"/>
                          <a:ea typeface="Arial"/>
                          <a:cs typeface="Arial"/>
                        </a:rPr>
                        <a:t>75,000</a:t>
                      </a:r>
                      <a:endParaRPr b="0">
                        <a:solidFill>
                          <a:schemeClr val="tx1"/>
                        </a:solidFill>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solidFill>
                      <a:schemeClr val="lt1"/>
                    </a:solidFill>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600" b="1" i="0" u="none" strike="noStrike" cap="none">
                          <a:solidFill>
                            <a:schemeClr val="tx1"/>
                          </a:solidFill>
                          <a:latin typeface="Arial"/>
                          <a:ea typeface="Arial"/>
                          <a:cs typeface="Arial"/>
                        </a:rPr>
                        <a:t>Net Profit</a:t>
                      </a:r>
                      <a:endParaRPr sz="1600" b="1">
                        <a:solidFill>
                          <a:schemeClr val="tx1"/>
                        </a:solidFill>
                      </a:endParaRPr>
                    </a:p>
                  </a:txBody>
                  <a:tcPr marL="91450" marR="91450" marT="45725" marB="45725">
                    <a:lnL w="28575" algn="ctr">
                      <a:solidFill>
                        <a:schemeClr val="dk1"/>
                      </a:solidFill>
                    </a:lnL>
                    <a:lnR w="12700" algn="ctr">
                      <a:solidFill>
                        <a:schemeClr val="dk1"/>
                      </a:solidFill>
                    </a:lnR>
                    <a:lnT w="12700" algn="ctr">
                      <a:solidFill>
                        <a:schemeClr val="dk1"/>
                      </a:solidFill>
                    </a:lnT>
                    <a:lnB w="28575"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tx1"/>
                          </a:solidFill>
                          <a:latin typeface="Arial"/>
                          <a:ea typeface="Arial"/>
                          <a:cs typeface="Arial"/>
                        </a:rPr>
                        <a:t>50,000</a:t>
                      </a:r>
                      <a:endParaRPr b="1">
                        <a:solidFill>
                          <a:schemeClr val="tx1"/>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28575" algn="ctr">
                      <a:solidFill>
                        <a:schemeClr val="dk1"/>
                      </a:solidFill>
                    </a:lnB>
                    <a:solidFill>
                      <a:schemeClr val="lt1"/>
                    </a:solidFill>
                  </a:tcPr>
                </a:tc>
                <a:tc>
                  <a:txBody>
                    <a:bodyPr/>
                    <a:p>
                      <a:pPr marL="0" marR="0" lvl="0" indent="0" algn="l" rtl="0">
                        <a:lnSpc>
                          <a:spcPct val="100000"/>
                        </a:lnSpc>
                        <a:spcBef>
                          <a:spcPts val="0"/>
                        </a:spcBef>
                        <a:spcAft>
                          <a:spcPts val="0"/>
                        </a:spcAft>
                        <a:buClr>
                          <a:srgbClr val="3333CC"/>
                        </a:buClr>
                        <a:buSzPts val="1800"/>
                        <a:buFont typeface="Arial"/>
                        <a:buNone/>
                        <a:defRPr/>
                      </a:pPr>
                      <a:r>
                        <a:rPr lang="en-US" sz="1800" b="1" i="1" u="none" strike="noStrike" cap="none">
                          <a:solidFill>
                            <a:schemeClr val="tx1"/>
                          </a:solidFill>
                          <a:latin typeface="Arial"/>
                          <a:ea typeface="Arial"/>
                          <a:cs typeface="Arial"/>
                        </a:rPr>
                        <a:t>100,000</a:t>
                      </a:r>
                      <a:endParaRPr b="1" i="1">
                        <a:solidFill>
                          <a:schemeClr val="tx1"/>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28575" algn="ctr">
                      <a:solidFill>
                        <a:schemeClr val="dk1"/>
                      </a:solidFill>
                    </a:lnB>
                    <a:solidFill>
                      <a:schemeClr val="lt1"/>
                    </a:solidFill>
                  </a:tcPr>
                </a:tc>
                <a:tc>
                  <a:txBody>
                    <a:bodyPr/>
                    <a:p>
                      <a:pPr marL="0" marR="0" lvl="0" indent="0" algn="l" rtl="0">
                        <a:lnSpc>
                          <a:spcPct val="100000"/>
                        </a:lnSpc>
                        <a:spcBef>
                          <a:spcPts val="0"/>
                        </a:spcBef>
                        <a:spcAft>
                          <a:spcPts val="0"/>
                        </a:spcAft>
                        <a:buClr>
                          <a:srgbClr val="3333CC"/>
                        </a:buClr>
                        <a:buSzPts val="1800"/>
                        <a:buFont typeface="Arial"/>
                        <a:buNone/>
                        <a:defRPr/>
                      </a:pPr>
                      <a:r>
                        <a:rPr lang="en-US" sz="1800" b="1" i="0" u="none" strike="noStrike" cap="none">
                          <a:solidFill>
                            <a:schemeClr val="tx1"/>
                          </a:solidFill>
                          <a:latin typeface="Arial"/>
                          <a:ea typeface="Arial"/>
                          <a:cs typeface="Arial"/>
                        </a:rPr>
                        <a:t>50,000</a:t>
                      </a:r>
                      <a:endParaRPr b="1">
                        <a:solidFill>
                          <a:schemeClr val="tx1"/>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28575"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1" u="none" strike="noStrike" cap="none">
                          <a:solidFill>
                            <a:schemeClr val="tx1"/>
                          </a:solidFill>
                          <a:latin typeface="Arial"/>
                          <a:ea typeface="Arial"/>
                          <a:cs typeface="Arial"/>
                        </a:rPr>
                        <a:t>75,000</a:t>
                      </a:r>
                      <a:endParaRPr b="1" i="1">
                        <a:solidFill>
                          <a:schemeClr val="tx1"/>
                        </a:solidFill>
                      </a:endParaRPr>
                    </a:p>
                  </a:txBody>
                  <a:tcPr marL="91450" marR="91450" marT="45725" marB="45725">
                    <a:lnL w="12700" algn="ctr">
                      <a:solidFill>
                        <a:schemeClr val="dk1"/>
                      </a:solidFill>
                    </a:lnL>
                    <a:lnR w="28575" algn="ctr">
                      <a:solidFill>
                        <a:schemeClr val="dk1"/>
                      </a:solidFill>
                    </a:lnR>
                    <a:lnT w="12700" algn="ctr">
                      <a:solidFill>
                        <a:schemeClr val="dk1"/>
                      </a:solidFill>
                    </a:lnT>
                    <a:lnB w="28575" algn="ctr">
                      <a:solidFill>
                        <a:schemeClr val="dk1"/>
                      </a:solidFill>
                    </a:lnB>
                    <a:solidFill>
                      <a:schemeClr val="lt1"/>
                    </a:solidFill>
                  </a:tcPr>
                </a:tc>
              </a:tr>
            </a:tbl>
          </a:graphicData>
        </a:graphic>
      </p:graphicFrame>
      <p:sp>
        <p:nvSpPr>
          <p:cNvPr id="69200234" name="Google Shape;465;p27"/>
          <p:cNvSpPr txBox="1"/>
          <p:nvPr/>
        </p:nvSpPr>
        <p:spPr bwMode="auto">
          <a:xfrm>
            <a:off x="2753621" y="5355774"/>
            <a:ext cx="9753601" cy="9144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dk1"/>
              </a:buClr>
              <a:buSzPts val="2000"/>
              <a:buFont typeface="Arial"/>
              <a:buChar char="•"/>
              <a:defRPr/>
            </a:pPr>
            <a:r>
              <a:rPr lang="en-US" sz="2000" b="1">
                <a:solidFill>
                  <a:schemeClr val="dk1"/>
                </a:solidFill>
                <a:latin typeface="Calibri"/>
                <a:ea typeface="Calibri"/>
                <a:cs typeface="Calibri"/>
              </a:rPr>
              <a:t>Using payback period technique</a:t>
            </a:r>
            <a:r>
              <a:rPr lang="en-US" sz="2000">
                <a:solidFill>
                  <a:schemeClr val="dk1"/>
                </a:solidFill>
                <a:latin typeface="Calibri"/>
                <a:ea typeface="Calibri"/>
                <a:cs typeface="Calibri"/>
              </a:rPr>
              <a:t>, </a:t>
            </a:r>
            <a:r>
              <a:rPr lang="en-US" sz="2000" b="1" u="sng">
                <a:solidFill>
                  <a:srgbClr val="FF0000"/>
                </a:solidFill>
                <a:latin typeface="Calibri"/>
                <a:ea typeface="Calibri"/>
                <a:cs typeface="Calibri"/>
              </a:rPr>
              <a:t>Project 3 </a:t>
            </a:r>
            <a:r>
              <a:rPr lang="en-US" sz="2000">
                <a:solidFill>
                  <a:srgbClr val="FF0000"/>
                </a:solidFill>
                <a:latin typeface="Calibri"/>
                <a:ea typeface="Calibri"/>
                <a:cs typeface="Calibri"/>
              </a:rPr>
              <a:t>has the shortest payback period</a:t>
            </a:r>
            <a:r>
              <a:rPr lang="en-US" sz="2000" b="1">
                <a:solidFill>
                  <a:srgbClr val="FF0000"/>
                </a:solidFill>
                <a:latin typeface="Calibri"/>
                <a:ea typeface="Calibri"/>
                <a:cs typeface="Calibri"/>
              </a:rPr>
              <a:t>.</a:t>
            </a:r>
            <a:endParaRPr/>
          </a:p>
          <a:p>
            <a:pPr marR="0" lvl="0" algn="l" rtl="0">
              <a:lnSpc>
                <a:spcPct val="90000"/>
              </a:lnSpc>
              <a:spcBef>
                <a:spcPts val="0"/>
              </a:spcBef>
              <a:spcAft>
                <a:spcPts val="0"/>
              </a:spcAft>
              <a:buClr>
                <a:schemeClr val="dk1"/>
              </a:buClr>
              <a:buSzPts val="2000"/>
              <a:defRPr/>
            </a:pPr>
            <a:r>
              <a:rPr lang="en-US" sz="2000" i="1">
                <a:solidFill>
                  <a:srgbClr val="FF0000"/>
                </a:solidFill>
                <a:latin typeface="Calibri"/>
                <a:ea typeface="Calibri"/>
                <a:cs typeface="Calibri"/>
              </a:rPr>
              <a:t>    (Project 3 breakeven in </a:t>
            </a:r>
            <a:r>
              <a:rPr lang="en-US" sz="2000" b="1" i="1">
                <a:solidFill>
                  <a:srgbClr val="FF0000"/>
                </a:solidFill>
                <a:latin typeface="Calibri"/>
                <a:ea typeface="Calibri"/>
                <a:cs typeface="Calibri"/>
              </a:rPr>
              <a:t>early Y4</a:t>
            </a:r>
            <a:r>
              <a:rPr lang="en-US" sz="2000" i="1">
                <a:solidFill>
                  <a:srgbClr val="FF0000"/>
                </a:solidFill>
                <a:latin typeface="Calibri"/>
                <a:ea typeface="Calibri"/>
                <a:cs typeface="Calibri"/>
              </a:rPr>
              <a:t>. Project 4 breakeven at the </a:t>
            </a:r>
            <a:r>
              <a:rPr lang="en-US" sz="2000" b="1" i="1">
                <a:solidFill>
                  <a:srgbClr val="FF0000"/>
                </a:solidFill>
                <a:latin typeface="Calibri"/>
                <a:ea typeface="Calibri"/>
                <a:cs typeface="Calibri"/>
              </a:rPr>
              <a:t>end of Y4</a:t>
            </a:r>
            <a:r>
              <a:rPr lang="en-US" sz="2000" i="1">
                <a:solidFill>
                  <a:srgbClr val="FF0000"/>
                </a:solidFill>
                <a:latin typeface="Calibri"/>
                <a:ea typeface="Calibri"/>
                <a:cs typeface="Calibri"/>
              </a:rPr>
              <a:t>)</a:t>
            </a:r>
            <a:endParaRPr sz="2000" i="1">
              <a:solidFill>
                <a:srgbClr val="FF0000"/>
              </a:solidFill>
              <a:latin typeface="Calibri"/>
              <a:ea typeface="Calibri"/>
              <a:cs typeface="Calibri"/>
            </a:endParaRPr>
          </a:p>
          <a:p>
            <a:pPr marL="228600" marR="0" lvl="0" indent="-228600" algn="l" rtl="0">
              <a:lnSpc>
                <a:spcPct val="90000"/>
              </a:lnSpc>
              <a:spcBef>
                <a:spcPts val="1000"/>
              </a:spcBef>
              <a:spcAft>
                <a:spcPts val="0"/>
              </a:spcAft>
              <a:buClr>
                <a:schemeClr val="dk1"/>
              </a:buClr>
              <a:buSzPts val="2000"/>
              <a:buFont typeface="Arial"/>
              <a:buChar char="•"/>
              <a:defRPr/>
            </a:pPr>
            <a:r>
              <a:rPr lang="en-US" sz="2000">
                <a:solidFill>
                  <a:schemeClr val="dk1"/>
                </a:solidFill>
                <a:latin typeface="Calibri"/>
                <a:ea typeface="Calibri"/>
                <a:cs typeface="Calibri"/>
              </a:rPr>
              <a:t>But </a:t>
            </a:r>
            <a:r>
              <a:rPr lang="en-US" sz="2000" b="1">
                <a:solidFill>
                  <a:srgbClr val="0000FF"/>
                </a:solidFill>
                <a:latin typeface="Calibri"/>
                <a:ea typeface="Calibri"/>
                <a:cs typeface="Calibri"/>
              </a:rPr>
              <a:t>Net Profit </a:t>
            </a:r>
            <a:r>
              <a:rPr lang="en-US" sz="2000">
                <a:solidFill>
                  <a:schemeClr val="dk1"/>
                </a:solidFill>
                <a:latin typeface="Calibri"/>
                <a:ea typeface="Calibri"/>
                <a:cs typeface="Calibri"/>
              </a:rPr>
              <a:t>analysis shows that  </a:t>
            </a:r>
            <a:r>
              <a:rPr lang="en-US" sz="2000" b="1">
                <a:solidFill>
                  <a:srgbClr val="0000FF"/>
                </a:solidFill>
                <a:latin typeface="Calibri"/>
                <a:ea typeface="Calibri"/>
                <a:cs typeface="Calibri"/>
              </a:rPr>
              <a:t>Project 2 and</a:t>
            </a:r>
            <a:r>
              <a:rPr lang="en-US" sz="2000" b="1">
                <a:solidFill>
                  <a:srgbClr val="FF0000"/>
                </a:solidFill>
                <a:latin typeface="Calibri"/>
                <a:ea typeface="Calibri"/>
                <a:cs typeface="Calibri"/>
              </a:rPr>
              <a:t> </a:t>
            </a:r>
            <a:r>
              <a:rPr lang="en-US" sz="2000" b="1">
                <a:solidFill>
                  <a:srgbClr val="0000FF"/>
                </a:solidFill>
                <a:latin typeface="Calibri"/>
                <a:ea typeface="Calibri"/>
                <a:cs typeface="Calibri"/>
              </a:rPr>
              <a:t>Project 4</a:t>
            </a:r>
            <a:r>
              <a:rPr lang="en-US" sz="2000" b="1">
                <a:solidFill>
                  <a:srgbClr val="FF0000"/>
                </a:solidFill>
                <a:latin typeface="Calibri"/>
                <a:ea typeface="Calibri"/>
                <a:cs typeface="Calibri"/>
              </a:rPr>
              <a:t> </a:t>
            </a:r>
            <a:r>
              <a:rPr lang="en-US" sz="2000">
                <a:solidFill>
                  <a:schemeClr val="dk1"/>
                </a:solidFill>
                <a:latin typeface="Calibri"/>
                <a:ea typeface="Calibri"/>
                <a:cs typeface="Calibri"/>
              </a:rPr>
              <a:t>are more profitable than Project 3.</a:t>
            </a:r>
            <a:endParaRPr sz="2000"/>
          </a:p>
        </p:txBody>
      </p:sp>
      <p:sp>
        <p:nvSpPr>
          <p:cNvPr id="179081778" name="Google Shape;466;p27"/>
          <p:cNvSpPr txBox="1"/>
          <p:nvPr/>
        </p:nvSpPr>
        <p:spPr bwMode="auto">
          <a:xfrm>
            <a:off x="2800049" y="4865374"/>
            <a:ext cx="7572376"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600"/>
              <a:buFont typeface="Times New Roman"/>
              <a:buNone/>
              <a:defRPr/>
            </a:pPr>
            <a:r>
              <a:rPr lang="en-US" sz="1600">
                <a:solidFill>
                  <a:schemeClr val="dk1"/>
                </a:solidFill>
                <a:latin typeface="Times New Roman"/>
                <a:ea typeface="Times New Roman"/>
                <a:cs typeface="Times New Roman"/>
              </a:rPr>
              <a:t>Table 1.2 Four project cash flow projections – figures are end of year totals (RM)</a:t>
            </a:r>
            <a:endParaRPr/>
          </a:p>
        </p:txBody>
      </p:sp>
      <p:sp>
        <p:nvSpPr>
          <p:cNvPr id="138118985" name="Google Shape;465;p27"/>
          <p:cNvSpPr txBox="1"/>
          <p:nvPr/>
        </p:nvSpPr>
        <p:spPr bwMode="auto">
          <a:xfrm>
            <a:off x="2797163" y="1392988"/>
            <a:ext cx="7119258" cy="433459"/>
          </a:xfrm>
          <a:prstGeom prst="rect">
            <a:avLst/>
          </a:prstGeom>
          <a:noFill/>
          <a:ln>
            <a:noFill/>
          </a:ln>
        </p:spPr>
        <p:txBody>
          <a:bodyPr spcFirstLastPara="1" wrap="square" lIns="91425" tIns="45700" rIns="91425" bIns="45700" anchor="t" anchorCtr="0">
            <a:noAutofit/>
          </a:bodyPr>
          <a:lstStyle/>
          <a:p>
            <a:pPr marR="0" lvl="0" algn="l" rtl="0">
              <a:lnSpc>
                <a:spcPct val="90000"/>
              </a:lnSpc>
              <a:spcBef>
                <a:spcPts val="0"/>
              </a:spcBef>
              <a:spcAft>
                <a:spcPts val="0"/>
              </a:spcAft>
              <a:buClr>
                <a:schemeClr val="dk1"/>
              </a:buClr>
              <a:buSzPts val="2000"/>
              <a:defRPr/>
            </a:pPr>
            <a:r>
              <a:rPr lang="en-US" sz="2400" b="1">
                <a:solidFill>
                  <a:srgbClr val="FF0000"/>
                </a:solidFill>
                <a:latin typeface="Calibri"/>
                <a:ea typeface="Calibri"/>
                <a:cs typeface="Calibri"/>
              </a:rPr>
              <a:t>What is the payback period for Project 1, 2, 3 and 4?</a:t>
            </a:r>
            <a:endParaRPr sz="2400">
              <a:solidFill>
                <a:srgbClr val="FF0000"/>
              </a:solidFill>
            </a:endParaRPr>
          </a:p>
        </p:txBody>
      </p:sp>
      <p:graphicFrame>
        <p:nvGraphicFramePr>
          <p:cNvPr id="1100720034" name="Table 2"/>
          <p:cNvGraphicFramePr>
            <a:graphicFrameLocks xmlns:a="http://schemas.openxmlformats.org/drawingml/2006/main" noGrp="1"/>
          </p:cNvGraphicFramePr>
          <p:nvPr/>
        </p:nvGraphicFramePr>
        <p:xfrm rot="0">
          <a:off x="2895600" y="4440988"/>
          <a:ext cx="7315200" cy="365800"/>
        </p:xfrm>
        <a:graphic>
          <a:graphicData uri="http://schemas.openxmlformats.org/drawingml/2006/table">
            <a:tbl>
              <a:tblPr firstRow="0" firstCol="0" lastRow="0" lastCol="0" bandRow="0" bandCol="0">
                <a:tableStyleId>{4C38C2D8-9331-4F24-B9CF-3786705C414E}</a:tableStyleId>
                <a:noFill/>
              </a:tblPr>
              <a:tblGrid>
                <a:gridCol w="1143000"/>
                <a:gridCol w="1784350"/>
                <a:gridCol w="1460500"/>
                <a:gridCol w="1463675"/>
                <a:gridCol w="1463675"/>
              </a:tblGrid>
              <a:tr h="365800">
                <a:tc>
                  <a:txBody>
                    <a:bodyPr/>
                    <a:p>
                      <a:pPr marL="0" marR="0" lvl="0" indent="0" algn="l" rtl="0">
                        <a:lnSpc>
                          <a:spcPct val="100000"/>
                        </a:lnSpc>
                        <a:spcBef>
                          <a:spcPts val="0"/>
                        </a:spcBef>
                        <a:spcAft>
                          <a:spcPts val="0"/>
                        </a:spcAft>
                        <a:buClr>
                          <a:schemeClr val="dk1"/>
                        </a:buClr>
                        <a:buSzPts val="1800"/>
                        <a:buFont typeface="Arial"/>
                        <a:buNone/>
                        <a:defRPr/>
                      </a:pPr>
                      <a:r>
                        <a:rPr lang="en-US" sz="1600" b="1" i="0" u="none" strike="noStrike" cap="none">
                          <a:solidFill>
                            <a:srgbClr val="0000FF"/>
                          </a:solidFill>
                          <a:latin typeface="Arial"/>
                          <a:ea typeface="Arial"/>
                          <a:cs typeface="Arial"/>
                        </a:rPr>
                        <a:t>Net Profit</a:t>
                      </a:r>
                      <a:endParaRPr sz="1600" b="1">
                        <a:solidFill>
                          <a:srgbClr val="0000FF"/>
                        </a:solidFill>
                      </a:endParaRPr>
                    </a:p>
                  </a:txBody>
                  <a:tcPr marL="91450" marR="91450" marT="45725" marB="45725">
                    <a:lnL w="28575" algn="ctr">
                      <a:solidFill>
                        <a:schemeClr val="dk1"/>
                      </a:solidFill>
                    </a:lnL>
                    <a:lnR w="12700" algn="ctr">
                      <a:solidFill>
                        <a:schemeClr val="dk1"/>
                      </a:solidFill>
                    </a:lnR>
                    <a:lnT w="12700" algn="ctr">
                      <a:solidFill>
                        <a:schemeClr val="dk1"/>
                      </a:solidFill>
                    </a:lnT>
                    <a:lnB w="28575"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tx1"/>
                          </a:solidFill>
                          <a:latin typeface="Arial"/>
                          <a:ea typeface="Arial"/>
                          <a:cs typeface="Arial"/>
                        </a:rPr>
                        <a:t>50,000</a:t>
                      </a:r>
                      <a:endParaRPr b="1">
                        <a:solidFill>
                          <a:schemeClr val="tx1"/>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28575" algn="ctr">
                      <a:solidFill>
                        <a:schemeClr val="dk1"/>
                      </a:solidFill>
                    </a:lnB>
                    <a:solidFill>
                      <a:schemeClr val="lt1"/>
                    </a:solidFill>
                  </a:tcPr>
                </a:tc>
                <a:tc>
                  <a:txBody>
                    <a:bodyPr/>
                    <a:p>
                      <a:pPr marL="0" marR="0" lvl="0" indent="0" algn="l" rtl="0">
                        <a:lnSpc>
                          <a:spcPct val="100000"/>
                        </a:lnSpc>
                        <a:spcBef>
                          <a:spcPts val="0"/>
                        </a:spcBef>
                        <a:spcAft>
                          <a:spcPts val="0"/>
                        </a:spcAft>
                        <a:buClr>
                          <a:srgbClr val="3333CC"/>
                        </a:buClr>
                        <a:buSzPts val="1800"/>
                        <a:buFont typeface="Arial"/>
                        <a:buNone/>
                        <a:defRPr/>
                      </a:pPr>
                      <a:r>
                        <a:rPr lang="en-US" sz="1800" b="1" i="1" u="none" strike="noStrike" cap="none">
                          <a:solidFill>
                            <a:srgbClr val="0000FF"/>
                          </a:solidFill>
                          <a:latin typeface="Arial"/>
                          <a:ea typeface="Arial"/>
                          <a:cs typeface="Arial"/>
                        </a:rPr>
                        <a:t>100,000</a:t>
                      </a:r>
                      <a:endParaRPr b="1" i="1">
                        <a:solidFill>
                          <a:srgbClr val="0000FF"/>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28575" algn="ctr">
                      <a:solidFill>
                        <a:schemeClr val="dk1"/>
                      </a:solidFill>
                    </a:lnB>
                    <a:solidFill>
                      <a:schemeClr val="lt1"/>
                    </a:solidFill>
                  </a:tcPr>
                </a:tc>
                <a:tc>
                  <a:txBody>
                    <a:bodyPr/>
                    <a:p>
                      <a:pPr marL="0" marR="0" lvl="0" indent="0" algn="l" rtl="0">
                        <a:lnSpc>
                          <a:spcPct val="100000"/>
                        </a:lnSpc>
                        <a:spcBef>
                          <a:spcPts val="0"/>
                        </a:spcBef>
                        <a:spcAft>
                          <a:spcPts val="0"/>
                        </a:spcAft>
                        <a:buClr>
                          <a:srgbClr val="3333CC"/>
                        </a:buClr>
                        <a:buSzPts val="1800"/>
                        <a:buFont typeface="Arial"/>
                        <a:buNone/>
                        <a:defRPr/>
                      </a:pPr>
                      <a:r>
                        <a:rPr lang="en-US" sz="1800" b="1" i="0" u="none" strike="noStrike" cap="none">
                          <a:solidFill>
                            <a:schemeClr val="tx1"/>
                          </a:solidFill>
                          <a:latin typeface="Arial"/>
                          <a:ea typeface="Arial"/>
                          <a:cs typeface="Arial"/>
                        </a:rPr>
                        <a:t>50,000</a:t>
                      </a:r>
                      <a:endParaRPr b="1">
                        <a:solidFill>
                          <a:schemeClr val="tx1"/>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28575"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1" u="none" strike="noStrike" cap="none">
                          <a:solidFill>
                            <a:srgbClr val="0000FF"/>
                          </a:solidFill>
                          <a:latin typeface="Arial"/>
                          <a:ea typeface="Arial"/>
                          <a:cs typeface="Arial"/>
                        </a:rPr>
                        <a:t>75,000</a:t>
                      </a:r>
                      <a:endParaRPr b="1" i="1">
                        <a:solidFill>
                          <a:srgbClr val="0000FF"/>
                        </a:solidFill>
                      </a:endParaRPr>
                    </a:p>
                  </a:txBody>
                  <a:tcPr marL="91450" marR="91450" marT="45725" marB="45725">
                    <a:lnL w="12700" algn="ctr">
                      <a:solidFill>
                        <a:schemeClr val="dk1"/>
                      </a:solidFill>
                    </a:lnL>
                    <a:lnR w="28575" algn="ctr">
                      <a:solidFill>
                        <a:schemeClr val="dk1"/>
                      </a:solidFill>
                    </a:lnR>
                    <a:lnT w="12700" algn="ctr">
                      <a:solidFill>
                        <a:schemeClr val="dk1"/>
                      </a:solidFill>
                    </a:lnT>
                    <a:lnB w="28575" algn="ctr">
                      <a:solidFill>
                        <a:schemeClr val="dk1"/>
                      </a:solidFill>
                    </a:lnB>
                    <a:solidFill>
                      <a:schemeClr val="lt1"/>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9200234">
                                            <p:txEl>
                                              <p:pRg st="0" end="0"/>
                                            </p:txEl>
                                          </p:spTgt>
                                        </p:tgtEl>
                                        <p:attrNameLst>
                                          <p:attrName>style.visibility</p:attrName>
                                        </p:attrNameLst>
                                      </p:cBhvr>
                                      <p:to>
                                        <p:strVal val="visible"/>
                                      </p:to>
                                    </p:set>
                                    <p:animEffect transition="in" filter="wipe(left)">
                                      <p:cBhvr>
                                        <p:cTn id="7" dur="500"/>
                                        <p:tgtEl>
                                          <p:spTgt spid="692002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9200234">
                                            <p:txEl>
                                              <p:pRg st="1" end="1"/>
                                            </p:txEl>
                                          </p:spTgt>
                                        </p:tgtEl>
                                        <p:attrNameLst>
                                          <p:attrName>style.visibility</p:attrName>
                                        </p:attrNameLst>
                                      </p:cBhvr>
                                      <p:to>
                                        <p:strVal val="visible"/>
                                      </p:to>
                                    </p:set>
                                    <p:animEffect transition="in" filter="wipe(left)">
                                      <p:cBhvr>
                                        <p:cTn id="12" dur="500"/>
                                        <p:tgtEl>
                                          <p:spTgt spid="6920023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9200234">
                                            <p:txEl>
                                              <p:pRg st="2" end="2"/>
                                            </p:txEl>
                                          </p:spTgt>
                                        </p:tgtEl>
                                        <p:attrNameLst>
                                          <p:attrName>style.visibility</p:attrName>
                                        </p:attrNameLst>
                                      </p:cBhvr>
                                      <p:to>
                                        <p:strVal val="visible"/>
                                      </p:to>
                                    </p:set>
                                    <p:anim calcmode="lin" valueType="num">
                                      <p:cBhvr additive="base">
                                        <p:cTn id="17" dur="500" fill="hold"/>
                                        <p:tgtEl>
                                          <p:spTgt spid="6920023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9200234">
                                            <p:txEl>
                                              <p:pRg st="2" end="2"/>
                                            </p:txEl>
                                          </p:spTgt>
                                        </p:tgtEl>
                                        <p:attrNameLst>
                                          <p:attrName>ppt_y</p:attrName>
                                        </p:attrNameLst>
                                      </p:cBhvr>
                                      <p:tavLst>
                                        <p:tav tm="0">
                                          <p:val>
                                            <p:strVal val="1+#ppt_h/2"/>
                                          </p:val>
                                        </p:tav>
                                        <p:tav tm="100000">
                                          <p:val>
                                            <p:strVal val="#ppt_y"/>
                                          </p:val>
                                        </p:tav>
                                      </p:tavLst>
                                    </p:anim>
                                  </p:childTnLst>
                                </p:cTn>
                              </p:par>
                              <p:par>
                                <p:cTn id="19" presetID="22" presetClass="entr" presetSubtype="8" fill="hold" nodeType="withEffect">
                                  <p:stCondLst>
                                    <p:cond delay="0"/>
                                  </p:stCondLst>
                                  <p:childTnLst>
                                    <p:set>
                                      <p:cBhvr>
                                        <p:cTn id="20" dur="1" fill="hold">
                                          <p:stCondLst>
                                            <p:cond delay="0"/>
                                          </p:stCondLst>
                                        </p:cTn>
                                        <p:tgtEl>
                                          <p:spTgt spid="1100720034"/>
                                        </p:tgtEl>
                                        <p:attrNameLst>
                                          <p:attrName>style.visibility</p:attrName>
                                        </p:attrNameLst>
                                      </p:cBhvr>
                                      <p:to>
                                        <p:strVal val="visible"/>
                                      </p:to>
                                    </p:set>
                                    <p:animEffect transition="in" filter="wipe(left)">
                                      <p:cBhvr>
                                        <p:cTn id="21" dur="500"/>
                                        <p:tgtEl>
                                          <p:spTgt spid="1100720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00229650" name="Google Shape;457;p27"/>
          <p:cNvSpPr txBox="1">
            <a:spLocks noGrp="1"/>
          </p:cNvSpPr>
          <p:nvPr>
            <p:ph type="title"/>
          </p:nvPr>
        </p:nvSpPr>
        <p:spPr bwMode="auto">
          <a:xfrm>
            <a:off x="2743200" y="457200"/>
            <a:ext cx="4038600" cy="533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defRPr/>
            </a:pPr>
            <a:r>
              <a:rPr lang="en-US" b="1"/>
              <a:t>Payback Period</a:t>
            </a:r>
            <a:endParaRPr b="1"/>
          </a:p>
        </p:txBody>
      </p:sp>
      <p:sp>
        <p:nvSpPr>
          <p:cNvPr id="197680722" name="Google Shape;458;p2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31</a:t>
            </a:fld>
            <a:endParaRPr/>
          </a:p>
        </p:txBody>
      </p:sp>
      <p:sp>
        <p:nvSpPr>
          <p:cNvPr id="924112982" name="Google Shape;459;p27"/>
          <p:cNvSpPr txBox="1"/>
          <p:nvPr/>
        </p:nvSpPr>
        <p:spPr bwMode="auto">
          <a:xfrm>
            <a:off x="2782649" y="964852"/>
            <a:ext cx="4191000"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1.3 Project Appraisal</a:t>
            </a:r>
            <a:endParaRPr/>
          </a:p>
        </p:txBody>
      </p:sp>
      <p:cxnSp>
        <p:nvCxnSpPr>
          <p:cNvPr id="1583990074" name="Google Shape;460;p27"/>
          <p:cNvCxnSpPr/>
          <p:nvPr/>
        </p:nvCxnSpPr>
        <p:spPr bwMode="auto">
          <a:xfrm rot="10800000">
            <a:off x="2895600" y="1371600"/>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59427793" name="Google Shape;461;p27"/>
          <p:cNvGrpSpPr/>
          <p:nvPr/>
        </p:nvGrpSpPr>
        <p:grpSpPr bwMode="auto">
          <a:xfrm>
            <a:off x="0" y="6980"/>
            <a:ext cx="2209800" cy="6851020"/>
            <a:chOff x="0" y="6980"/>
            <a:chExt cx="2209800" cy="6851020"/>
          </a:xfrm>
        </p:grpSpPr>
        <p:pic>
          <p:nvPicPr>
            <p:cNvPr id="462" name="Google Shape;462;p27"/>
            <p:cNvPicPr/>
            <p:nvPr/>
          </p:nvPicPr>
          <p:blipFill rotWithShape="1">
            <a:blip r:embed="rId3">
              <a:alphaModFix/>
            </a:blip>
            <a:srcRect l="23750" t="0" r="39999" b="0"/>
            <a:stretch/>
          </p:blipFill>
          <p:spPr bwMode="auto">
            <a:xfrm>
              <a:off x="0" y="2800350"/>
              <a:ext cx="2209800" cy="4057650"/>
            </a:xfrm>
            <a:prstGeom prst="rect">
              <a:avLst/>
            </a:prstGeom>
            <a:noFill/>
            <a:ln>
              <a:noFill/>
            </a:ln>
          </p:spPr>
        </p:pic>
        <p:pic>
          <p:nvPicPr>
            <p:cNvPr id="463" name="Google Shape;463;p27"/>
            <p:cNvPicPr/>
            <p:nvPr/>
          </p:nvPicPr>
          <p:blipFill rotWithShape="1">
            <a:blip r:embed="rId4">
              <a:alphaModFix/>
            </a:blip>
            <a:srcRect l="8750" t="0" r="55000" b="0"/>
            <a:stretch/>
          </p:blipFill>
          <p:spPr bwMode="auto">
            <a:xfrm>
              <a:off x="0" y="6980"/>
              <a:ext cx="2209800" cy="3590925"/>
            </a:xfrm>
            <a:prstGeom prst="rect">
              <a:avLst/>
            </a:prstGeom>
            <a:noFill/>
            <a:ln>
              <a:noFill/>
            </a:ln>
          </p:spPr>
        </p:pic>
      </p:grpSp>
      <p:graphicFrame>
        <p:nvGraphicFramePr>
          <p:cNvPr id="567900167" name="Google Shape;464;p27"/>
          <p:cNvGraphicFramePr>
            <a:graphicFrameLocks xmlns:a="http://schemas.openxmlformats.org/drawingml/2006/main"/>
          </p:cNvGraphicFramePr>
          <p:nvPr/>
        </p:nvGraphicFramePr>
        <p:xfrm rot="0">
          <a:off x="2895600" y="1509491"/>
          <a:ext cx="7315200" cy="2960670"/>
        </p:xfrm>
        <a:graphic>
          <a:graphicData uri="http://schemas.openxmlformats.org/drawingml/2006/table">
            <a:tbl>
              <a:tblPr firstRow="0" firstCol="0" lastRow="0" lastCol="0" bandRow="0" bandCol="0">
                <a:tableStyleId>{4C38C2D8-9331-4F24-B9CF-3786705C414E}</a:tableStyleId>
                <a:noFill/>
              </a:tblPr>
              <a:tblGrid>
                <a:gridCol w="1143000"/>
                <a:gridCol w="1784350"/>
                <a:gridCol w="1460500"/>
                <a:gridCol w="1463675"/>
                <a:gridCol w="1463675"/>
              </a:tblGrid>
              <a:tr h="228600">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Year</a:t>
                      </a:r>
                      <a:endParaRPr b="1"/>
                    </a:p>
                  </a:txBody>
                  <a:tcPr marL="91450" marR="91450" marT="45725" marB="45725">
                    <a:lnL w="28575" algn="ctr">
                      <a:solidFill>
                        <a:schemeClr val="dk1"/>
                      </a:solidFill>
                    </a:lnL>
                    <a:lnR w="12700" algn="ctr">
                      <a:solidFill>
                        <a:schemeClr val="dk1"/>
                      </a:solidFill>
                    </a:lnR>
                    <a:lnT w="28575"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tx1"/>
                          </a:solidFill>
                          <a:latin typeface="Arial"/>
                          <a:ea typeface="Arial"/>
                          <a:cs typeface="Arial"/>
                        </a:rPr>
                        <a:t>Project 1</a:t>
                      </a:r>
                      <a:endParaRPr b="1">
                        <a:solidFill>
                          <a:schemeClr val="tx1"/>
                        </a:solidFill>
                      </a:endParaRPr>
                    </a:p>
                  </a:txBody>
                  <a:tcPr marL="91450" marR="91450" marT="45725" marB="45725">
                    <a:lnL w="12700" algn="ctr">
                      <a:solidFill>
                        <a:schemeClr val="dk1"/>
                      </a:solidFill>
                    </a:lnL>
                    <a:lnR w="12700" algn="ctr">
                      <a:solidFill>
                        <a:schemeClr val="dk1"/>
                      </a:solidFill>
                    </a:lnR>
                    <a:lnT w="28575"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tx1"/>
                          </a:solidFill>
                          <a:latin typeface="Arial"/>
                          <a:ea typeface="Arial"/>
                          <a:cs typeface="Arial"/>
                        </a:rPr>
                        <a:t>Project 2</a:t>
                      </a:r>
                      <a:endParaRPr b="1">
                        <a:solidFill>
                          <a:schemeClr val="tx1"/>
                        </a:solidFill>
                      </a:endParaRPr>
                    </a:p>
                  </a:txBody>
                  <a:tcPr marL="91450" marR="91450" marT="45725" marB="45725">
                    <a:lnL w="12700" algn="ctr">
                      <a:solidFill>
                        <a:schemeClr val="dk1"/>
                      </a:solidFill>
                    </a:lnL>
                    <a:lnR w="12700" algn="ctr">
                      <a:solidFill>
                        <a:schemeClr val="dk1"/>
                      </a:solidFill>
                    </a:lnR>
                    <a:lnT w="28575"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tx1"/>
                          </a:solidFill>
                          <a:latin typeface="Arial"/>
                          <a:ea typeface="Arial"/>
                          <a:cs typeface="Arial"/>
                        </a:rPr>
                        <a:t>Project 3</a:t>
                      </a:r>
                      <a:endParaRPr b="1">
                        <a:solidFill>
                          <a:schemeClr val="tx1"/>
                        </a:solidFill>
                      </a:endParaRPr>
                    </a:p>
                  </a:txBody>
                  <a:tcPr marL="91450" marR="91450" marT="45725" marB="45725">
                    <a:lnL w="12700" algn="ctr">
                      <a:solidFill>
                        <a:schemeClr val="dk1"/>
                      </a:solidFill>
                    </a:lnL>
                    <a:lnR w="12700" algn="ctr">
                      <a:solidFill>
                        <a:schemeClr val="dk1"/>
                      </a:solidFill>
                    </a:lnR>
                    <a:lnT w="28575"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tx1"/>
                          </a:solidFill>
                          <a:latin typeface="Arial"/>
                          <a:ea typeface="Arial"/>
                          <a:cs typeface="Arial"/>
                        </a:rPr>
                        <a:t>Project 4</a:t>
                      </a:r>
                      <a:endParaRPr b="1">
                        <a:solidFill>
                          <a:schemeClr val="tx1"/>
                        </a:solidFill>
                      </a:endParaRPr>
                    </a:p>
                  </a:txBody>
                  <a:tcPr marL="91450" marR="91450" marT="45725" marB="45725">
                    <a:lnL w="12700" algn="ctr">
                      <a:solidFill>
                        <a:schemeClr val="dk1"/>
                      </a:solidFill>
                    </a:lnL>
                    <a:lnR w="28575" algn="ctr">
                      <a:solidFill>
                        <a:schemeClr val="dk1"/>
                      </a:solidFill>
                    </a:lnR>
                    <a:lnT w="28575" algn="ctr">
                      <a:solidFill>
                        <a:schemeClr val="dk1"/>
                      </a:solidFill>
                    </a:lnT>
                    <a:lnB w="12700" algn="ctr">
                      <a:solidFill>
                        <a:schemeClr val="dk1"/>
                      </a:solidFill>
                    </a:lnB>
                    <a:solidFill>
                      <a:schemeClr val="lt1"/>
                    </a:solidFill>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0</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-120,000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solidFill>
                      <a:schemeClr val="lt1"/>
                    </a:solidFill>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solidFill>
                      <a:schemeClr val="lt1"/>
                    </a:solidFill>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solidFill>
                      <a:schemeClr val="lt1"/>
                    </a:solidFill>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solidFill>
                      <a:schemeClr val="lt1"/>
                    </a:solidFill>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4</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30,000 </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rgbClr val="FF0000"/>
                          </a:solidFill>
                          <a:latin typeface="Arial"/>
                          <a:ea typeface="Arial"/>
                          <a:cs typeface="Arial"/>
                        </a:rPr>
                        <a:t>30,000</a:t>
                      </a:r>
                      <a:endParaRPr b="1">
                        <a:solidFill>
                          <a:srgbClr val="FF0000"/>
                        </a:solidFill>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solidFill>
                      <a:schemeClr val="lt1"/>
                    </a:solidFill>
                  </a:tcPr>
                </a:tc>
              </a:tr>
              <a:tr h="4001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5</a:t>
                      </a:r>
                      <a:endParaRPr/>
                    </a:p>
                  </a:txBody>
                  <a:tcPr marL="91450" marR="91450" marT="45725" marB="45725">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100,000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300,000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25" marB="45725">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lt1"/>
                    </a:solidFill>
                  </a:tcPr>
                </a:tc>
                <a:tc>
                  <a:txBody>
                    <a:bodyPr/>
                    <a:p>
                      <a:pPr marL="0" marR="0" lvl="0" indent="0" algn="l" rtl="0">
                        <a:lnSpc>
                          <a:spcPct val="100000"/>
                        </a:lnSpc>
                        <a:spcBef>
                          <a:spcPts val="0"/>
                        </a:spcBef>
                        <a:spcAft>
                          <a:spcPts val="0"/>
                        </a:spcAft>
                        <a:buClr>
                          <a:srgbClr val="C00000"/>
                        </a:buClr>
                        <a:buSzPts val="1800"/>
                        <a:buFont typeface="Arial"/>
                        <a:buNone/>
                        <a:defRPr/>
                      </a:pPr>
                      <a:r>
                        <a:rPr lang="en-US" sz="1800" b="0" i="0" u="none" strike="noStrike" cap="none">
                          <a:solidFill>
                            <a:schemeClr val="tx1"/>
                          </a:solidFill>
                          <a:highlight>
                            <a:srgbClr val="FFFF00"/>
                          </a:highlight>
                          <a:latin typeface="Arial"/>
                          <a:ea typeface="Arial"/>
                          <a:cs typeface="Arial"/>
                        </a:rPr>
                        <a:t>75,000</a:t>
                      </a:r>
                      <a:endParaRPr b="0">
                        <a:solidFill>
                          <a:schemeClr val="tx1"/>
                        </a:solidFill>
                        <a:highlight>
                          <a:srgbClr val="FFFF00"/>
                        </a:highlight>
                      </a:endParaRPr>
                    </a:p>
                  </a:txBody>
                  <a:tcPr marL="91450" marR="91450" marT="45725" marB="45725">
                    <a:lnL w="12700" algn="ctr">
                      <a:solidFill>
                        <a:schemeClr val="dk1"/>
                      </a:solidFill>
                    </a:lnL>
                    <a:lnR w="28575" algn="ctr">
                      <a:solidFill>
                        <a:schemeClr val="dk1"/>
                      </a:solidFill>
                    </a:lnR>
                    <a:lnT w="12700" algn="ctr">
                      <a:solidFill>
                        <a:schemeClr val="dk1"/>
                      </a:solidFill>
                    </a:lnT>
                    <a:lnB w="12700" algn="ctr">
                      <a:solidFill>
                        <a:schemeClr val="dk1"/>
                      </a:solidFill>
                    </a:lnB>
                    <a:solidFill>
                      <a:schemeClr val="lt1"/>
                    </a:solidFill>
                  </a:tcPr>
                </a:tc>
              </a:tr>
              <a:tr h="365800">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Net Profit</a:t>
                      </a:r>
                      <a:endParaRPr/>
                    </a:p>
                  </a:txBody>
                  <a:tcPr marL="91450" marR="91450" marT="45725" marB="45725">
                    <a:lnL w="28575" algn="ctr">
                      <a:solidFill>
                        <a:schemeClr val="dk1"/>
                      </a:solidFill>
                    </a:lnL>
                    <a:lnR w="12700" algn="ctr">
                      <a:solidFill>
                        <a:schemeClr val="dk1"/>
                      </a:solidFill>
                    </a:lnR>
                    <a:lnT w="12700" algn="ctr">
                      <a:solidFill>
                        <a:schemeClr val="dk1"/>
                      </a:solidFill>
                    </a:lnT>
                    <a:lnB w="28575"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tx1"/>
                          </a:solidFill>
                          <a:latin typeface="Arial"/>
                          <a:ea typeface="Arial"/>
                          <a:cs typeface="Arial"/>
                        </a:rPr>
                        <a:t>50,000</a:t>
                      </a:r>
                      <a:endParaRPr>
                        <a:solidFill>
                          <a:schemeClr val="tx1"/>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28575" algn="ctr">
                      <a:solidFill>
                        <a:schemeClr val="dk1"/>
                      </a:solidFill>
                    </a:lnB>
                    <a:solidFill>
                      <a:schemeClr val="lt1"/>
                    </a:solidFill>
                  </a:tcPr>
                </a:tc>
                <a:tc>
                  <a:txBody>
                    <a:bodyPr/>
                    <a:p>
                      <a:pPr marL="0" marR="0" lvl="0" indent="0" algn="l" rtl="0">
                        <a:lnSpc>
                          <a:spcPct val="100000"/>
                        </a:lnSpc>
                        <a:spcBef>
                          <a:spcPts val="0"/>
                        </a:spcBef>
                        <a:spcAft>
                          <a:spcPts val="0"/>
                        </a:spcAft>
                        <a:buClr>
                          <a:srgbClr val="3333CC"/>
                        </a:buClr>
                        <a:buSzPts val="1800"/>
                        <a:buFont typeface="Arial"/>
                        <a:buNone/>
                        <a:defRPr/>
                      </a:pPr>
                      <a:r>
                        <a:rPr lang="en-US" sz="1800" b="0" i="0" u="none" strike="noStrike" cap="none">
                          <a:solidFill>
                            <a:schemeClr val="tx1"/>
                          </a:solidFill>
                          <a:latin typeface="Arial"/>
                          <a:ea typeface="Arial"/>
                          <a:cs typeface="Arial"/>
                        </a:rPr>
                        <a:t>100,000</a:t>
                      </a:r>
                      <a:endParaRPr>
                        <a:solidFill>
                          <a:schemeClr val="tx1"/>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28575" algn="ctr">
                      <a:solidFill>
                        <a:schemeClr val="dk1"/>
                      </a:solidFill>
                    </a:lnB>
                    <a:solidFill>
                      <a:schemeClr val="lt1"/>
                    </a:solidFill>
                  </a:tcPr>
                </a:tc>
                <a:tc>
                  <a:txBody>
                    <a:bodyPr/>
                    <a:p>
                      <a:pPr marL="0" marR="0" lvl="0" indent="0" algn="l" rtl="0">
                        <a:lnSpc>
                          <a:spcPct val="100000"/>
                        </a:lnSpc>
                        <a:spcBef>
                          <a:spcPts val="0"/>
                        </a:spcBef>
                        <a:spcAft>
                          <a:spcPts val="0"/>
                        </a:spcAft>
                        <a:buClr>
                          <a:srgbClr val="3333CC"/>
                        </a:buClr>
                        <a:buSzPts val="1800"/>
                        <a:buFont typeface="Arial"/>
                        <a:buNone/>
                        <a:defRPr/>
                      </a:pPr>
                      <a:r>
                        <a:rPr lang="en-US" sz="1800" b="0" i="0" u="none" strike="noStrike" cap="none">
                          <a:solidFill>
                            <a:schemeClr val="tx1"/>
                          </a:solidFill>
                          <a:latin typeface="Arial"/>
                          <a:ea typeface="Arial"/>
                          <a:cs typeface="Arial"/>
                        </a:rPr>
                        <a:t>50,000</a:t>
                      </a:r>
                      <a:endParaRPr>
                        <a:solidFill>
                          <a:schemeClr val="tx1"/>
                        </a:solidFill>
                      </a:endParaRPr>
                    </a:p>
                  </a:txBody>
                  <a:tcPr marL="91450" marR="91450" marT="45725" marB="45725">
                    <a:lnL w="12700" algn="ctr">
                      <a:solidFill>
                        <a:schemeClr val="dk1"/>
                      </a:solidFill>
                    </a:lnL>
                    <a:lnR w="12700" algn="ctr">
                      <a:solidFill>
                        <a:schemeClr val="dk1"/>
                      </a:solidFill>
                    </a:lnR>
                    <a:lnT w="12700" algn="ctr">
                      <a:solidFill>
                        <a:schemeClr val="dk1"/>
                      </a:solidFill>
                    </a:lnT>
                    <a:lnB w="28575" algn="ctr">
                      <a:solidFill>
                        <a:schemeClr val="dk1"/>
                      </a:solidFill>
                    </a:lnB>
                    <a:solidFill>
                      <a:schemeClr val="lt1"/>
                    </a:solidFill>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tx1"/>
                          </a:solidFill>
                          <a:latin typeface="Arial"/>
                          <a:ea typeface="Arial"/>
                          <a:cs typeface="Arial"/>
                        </a:rPr>
                        <a:t>75,000</a:t>
                      </a:r>
                      <a:endParaRPr>
                        <a:solidFill>
                          <a:schemeClr val="tx1"/>
                        </a:solidFill>
                      </a:endParaRPr>
                    </a:p>
                  </a:txBody>
                  <a:tcPr marL="91450" marR="91450" marT="45725" marB="45725">
                    <a:lnL w="12700" algn="ctr">
                      <a:solidFill>
                        <a:schemeClr val="dk1"/>
                      </a:solidFill>
                    </a:lnL>
                    <a:lnR w="28575" algn="ctr">
                      <a:solidFill>
                        <a:schemeClr val="dk1"/>
                      </a:solidFill>
                    </a:lnR>
                    <a:lnT w="12700" algn="ctr">
                      <a:solidFill>
                        <a:schemeClr val="dk1"/>
                      </a:solidFill>
                    </a:lnT>
                    <a:lnB w="28575" algn="ctr">
                      <a:solidFill>
                        <a:schemeClr val="dk1"/>
                      </a:solidFill>
                    </a:lnB>
                    <a:solidFill>
                      <a:schemeClr val="lt1"/>
                    </a:solidFill>
                  </a:tcPr>
                </a:tc>
              </a:tr>
            </a:tbl>
          </a:graphicData>
        </a:graphic>
      </p:graphicFrame>
      <p:sp>
        <p:nvSpPr>
          <p:cNvPr id="285095159" name="Google Shape;475;p28"/>
          <p:cNvSpPr txBox="1"/>
          <p:nvPr/>
        </p:nvSpPr>
        <p:spPr bwMode="auto">
          <a:xfrm>
            <a:off x="2864604" y="4810867"/>
            <a:ext cx="3298836" cy="2047133"/>
          </a:xfrm>
          <a:prstGeom prst="rect">
            <a:avLst/>
          </a:prstGeom>
          <a:noFill/>
          <a:ln>
            <a:noFill/>
          </a:ln>
        </p:spPr>
        <p:txBody>
          <a:bodyPr spcFirstLastPara="1" wrap="square" lIns="91425" tIns="45700" rIns="91425" bIns="45700" anchor="t" anchorCtr="0">
            <a:normAutofit fontScale="62500" lnSpcReduction="20000"/>
          </a:bodyPr>
          <a:lstStyle/>
          <a:p>
            <a:pPr marL="0" marR="0" lvl="0" indent="0" algn="l" rtl="0">
              <a:lnSpc>
                <a:spcPct val="90000"/>
              </a:lnSpc>
              <a:spcBef>
                <a:spcPts val="0"/>
              </a:spcBef>
              <a:spcAft>
                <a:spcPts val="0"/>
              </a:spcAft>
              <a:buClr>
                <a:schemeClr val="dk1"/>
              </a:buClr>
              <a:buSzPts val="2800"/>
              <a:buFont typeface="Arial"/>
              <a:buNone/>
              <a:defRPr/>
            </a:pPr>
            <a:r>
              <a:rPr lang="en-US" sz="3800" b="1">
                <a:solidFill>
                  <a:schemeClr val="dk1"/>
                </a:solidFill>
                <a:latin typeface="Calibri"/>
                <a:ea typeface="Calibri"/>
                <a:cs typeface="Calibri"/>
              </a:rPr>
              <a:t>Advantages:</a:t>
            </a:r>
            <a:endParaRPr sz="3800" b="1"/>
          </a:p>
          <a:p>
            <a:pPr marL="342900" marR="0" lvl="1" indent="-342900" algn="l" rtl="0">
              <a:lnSpc>
                <a:spcPct val="90000"/>
              </a:lnSpc>
              <a:spcBef>
                <a:spcPts val="500"/>
              </a:spcBef>
              <a:spcAft>
                <a:spcPts val="0"/>
              </a:spcAft>
              <a:buClr>
                <a:schemeClr val="dk1"/>
              </a:buClr>
              <a:buSzPts val="2400"/>
              <a:buFont typeface="Arial"/>
              <a:buChar char="•"/>
              <a:defRPr/>
            </a:pPr>
            <a:r>
              <a:rPr lang="en-US" sz="2900" b="1" i="0" u="none" strike="noStrike" cap="none">
                <a:solidFill>
                  <a:schemeClr val="dk1"/>
                </a:solidFill>
                <a:latin typeface="Calibri"/>
                <a:ea typeface="Calibri"/>
                <a:cs typeface="Calibri"/>
              </a:rPr>
              <a:t>Easy</a:t>
            </a:r>
            <a:r>
              <a:rPr lang="en-US" sz="2900" b="0" i="0" u="none" strike="noStrike" cap="none">
                <a:solidFill>
                  <a:schemeClr val="dk1"/>
                </a:solidFill>
                <a:latin typeface="Calibri"/>
                <a:ea typeface="Calibri"/>
                <a:cs typeface="Calibri"/>
              </a:rPr>
              <a:t> to calculate and understand</a:t>
            </a:r>
            <a:endParaRPr/>
          </a:p>
          <a:p>
            <a:pPr marL="342900" lvl="1" indent="-342900">
              <a:lnSpc>
                <a:spcPct val="90000"/>
              </a:lnSpc>
              <a:spcBef>
                <a:spcPts val="500"/>
              </a:spcBef>
              <a:buClr>
                <a:schemeClr val="dk1"/>
              </a:buClr>
              <a:buSzPts val="2400"/>
              <a:buFont typeface="Arial"/>
              <a:buChar char="•"/>
              <a:defRPr/>
            </a:pPr>
            <a:r>
              <a:rPr lang="en-US" sz="2900">
                <a:latin typeface="Calibri"/>
                <a:cs typeface="Calibri"/>
              </a:rPr>
              <a:t>Projects with shorter payback periods are </a:t>
            </a:r>
            <a:r>
              <a:rPr lang="en-US" sz="2900" b="1">
                <a:latin typeface="Calibri"/>
                <a:cs typeface="Calibri"/>
              </a:rPr>
              <a:t>generally less risky </a:t>
            </a:r>
            <a:r>
              <a:rPr lang="en-US" sz="2900" b="1" i="1">
                <a:latin typeface="Calibri"/>
                <a:cs typeface="Calibri"/>
              </a:rPr>
              <a:t>(as they recover their investment faster, reducing exposure to uncertainties)</a:t>
            </a:r>
            <a:endParaRPr sz="2900" b="1" i="1">
              <a:latin typeface="Calibri"/>
              <a:cs typeface="Calibri"/>
            </a:endParaRPr>
          </a:p>
        </p:txBody>
      </p:sp>
      <p:sp>
        <p:nvSpPr>
          <p:cNvPr id="68632509" name="Google Shape;475;p28"/>
          <p:cNvSpPr txBox="1"/>
          <p:nvPr/>
        </p:nvSpPr>
        <p:spPr bwMode="auto">
          <a:xfrm>
            <a:off x="6507350" y="4660859"/>
            <a:ext cx="5774973" cy="193675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1000"/>
              </a:spcBef>
              <a:spcAft>
                <a:spcPts val="0"/>
              </a:spcAft>
              <a:buClr>
                <a:schemeClr val="dk1"/>
              </a:buClr>
              <a:buSzPts val="2800"/>
              <a:buFont typeface="Arial"/>
              <a:buNone/>
              <a:defRPr/>
            </a:pPr>
            <a:r>
              <a:rPr lang="en-US" sz="2400" b="1">
                <a:solidFill>
                  <a:schemeClr val="dk1"/>
                </a:solidFill>
                <a:latin typeface="Calibri"/>
                <a:ea typeface="Calibri"/>
                <a:cs typeface="Calibri"/>
              </a:rPr>
              <a:t>Disadvantages:</a:t>
            </a:r>
            <a:endParaRPr sz="2400" b="1"/>
          </a:p>
          <a:p>
            <a:pPr marL="373063" lvl="1" indent="-285750">
              <a:lnSpc>
                <a:spcPct val="90000"/>
              </a:lnSpc>
              <a:spcBef>
                <a:spcPts val="500"/>
              </a:spcBef>
              <a:buClr>
                <a:schemeClr val="dk1"/>
              </a:buClr>
              <a:buSzPts val="2400"/>
              <a:buFont typeface="Arial"/>
              <a:buChar char="•"/>
              <a:defRPr/>
            </a:pPr>
            <a:r>
              <a:rPr lang="en-US" sz="1800"/>
              <a:t>It </a:t>
            </a:r>
            <a:r>
              <a:rPr lang="en-US" sz="1800" b="1"/>
              <a:t>ignores</a:t>
            </a:r>
            <a:r>
              <a:rPr lang="en-US" sz="1800"/>
              <a:t> any profits generated after the payback period </a:t>
            </a:r>
            <a:r>
              <a:rPr lang="en-US" sz="1800" i="1" u="none" strike="noStrike" cap="none">
                <a:solidFill>
                  <a:schemeClr val="dk1"/>
                </a:solidFill>
                <a:latin typeface="Calibri"/>
                <a:ea typeface="Calibri"/>
                <a:cs typeface="Calibri"/>
              </a:rPr>
              <a:t>(e.g. compare Project 3 and project 4)</a:t>
            </a:r>
            <a:endParaRPr/>
          </a:p>
          <a:p>
            <a:pPr marL="373063" lvl="1" indent="-285750">
              <a:lnSpc>
                <a:spcPct val="90000"/>
              </a:lnSpc>
              <a:spcBef>
                <a:spcPts val="500"/>
              </a:spcBef>
              <a:buClr>
                <a:schemeClr val="dk1"/>
              </a:buClr>
              <a:buSzPts val="2400"/>
              <a:buFont typeface="Arial"/>
              <a:buChar char="•"/>
              <a:defRPr/>
            </a:pPr>
            <a:r>
              <a:rPr lang="en-US" sz="1800" b="1">
                <a:solidFill>
                  <a:schemeClr val="tx1"/>
                </a:solidFill>
                <a:latin typeface="Calibri"/>
                <a:ea typeface="Calibri"/>
                <a:cs typeface="Calibri"/>
              </a:rPr>
              <a:t>PP technique also does not consider the time value of money </a:t>
            </a:r>
            <a:r>
              <a:rPr lang="en-US" sz="1800" b="1" i="1">
                <a:solidFill>
                  <a:schemeClr val="tx1"/>
                </a:solidFill>
                <a:latin typeface="Calibri"/>
                <a:ea typeface="Calibri"/>
                <a:cs typeface="Calibri"/>
              </a:rPr>
              <a:t>(</a:t>
            </a:r>
            <a:r>
              <a:rPr lang="en-US" sz="1800" i="1">
                <a:latin typeface="Calibri"/>
                <a:cs typeface="Calibri"/>
              </a:rPr>
              <a:t>It does not discount future cash flows)</a:t>
            </a:r>
            <a:endParaRPr sz="1800" i="1">
              <a:latin typeface="Calibri"/>
              <a:cs typeface="Calibri"/>
            </a:endParaRPr>
          </a:p>
        </p:txBody>
      </p:sp>
      <p:sp>
        <p:nvSpPr>
          <p:cNvPr id="232808243" name="Speech Bubble: Rectangle 1"/>
          <p:cNvSpPr/>
          <p:nvPr/>
        </p:nvSpPr>
        <p:spPr bwMode="auto">
          <a:xfrm>
            <a:off x="10439400" y="2329427"/>
            <a:ext cx="1669143" cy="1320800"/>
          </a:xfrm>
          <a:prstGeom prst="wedgeRectCallout">
            <a:avLst>
              <a:gd name="adj1" fmla="val -99477"/>
              <a:gd name="adj2" fmla="val 7001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600"/>
              <a:t>IF project 3 is chosen, company will  missed 75K in Project 4</a:t>
            </a:r>
            <a:endParaRPr lang="en-GB"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l"/>
      </p:transition>
    </mc:Choice>
    <mc:Fallback>
      <p:transition spd="slow" advClick="1">
        <p:push dir="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85095159">
                                            <p:txEl>
                                              <p:pRg st="0" end="0"/>
                                            </p:txEl>
                                          </p:spTgt>
                                        </p:tgtEl>
                                        <p:attrNameLst>
                                          <p:attrName>style.visibility</p:attrName>
                                        </p:attrNameLst>
                                      </p:cBhvr>
                                      <p:to>
                                        <p:strVal val="visible"/>
                                      </p:to>
                                    </p:set>
                                    <p:animEffect transition="in" filter="wipe(left)">
                                      <p:cBhvr>
                                        <p:cTn id="7" dur="500"/>
                                        <p:tgtEl>
                                          <p:spTgt spid="285095159">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285095159">
                                            <p:txEl>
                                              <p:pRg st="1" end="1"/>
                                            </p:txEl>
                                          </p:spTgt>
                                        </p:tgtEl>
                                        <p:attrNameLst>
                                          <p:attrName>style.visibility</p:attrName>
                                        </p:attrNameLst>
                                      </p:cBhvr>
                                      <p:to>
                                        <p:strVal val="visible"/>
                                      </p:to>
                                    </p:set>
                                    <p:animEffect transition="in" filter="wipe(left)">
                                      <p:cBhvr>
                                        <p:cTn id="10" dur="500"/>
                                        <p:tgtEl>
                                          <p:spTgt spid="285095159">
                                            <p:txEl>
                                              <p:pRg st="1" end="1"/>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285095159">
                                            <p:txEl>
                                              <p:pRg st="2" end="2"/>
                                            </p:txEl>
                                          </p:spTgt>
                                        </p:tgtEl>
                                        <p:attrNameLst>
                                          <p:attrName>style.visibility</p:attrName>
                                        </p:attrNameLst>
                                      </p:cBhvr>
                                      <p:to>
                                        <p:strVal val="visible"/>
                                      </p:to>
                                    </p:set>
                                    <p:animEffect transition="in" filter="wipe(left)">
                                      <p:cBhvr>
                                        <p:cTn id="13" dur="500"/>
                                        <p:tgtEl>
                                          <p:spTgt spid="28509515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68632509">
                                            <p:txEl>
                                              <p:pRg st="0" end="0"/>
                                            </p:txEl>
                                          </p:spTgt>
                                        </p:tgtEl>
                                        <p:attrNameLst>
                                          <p:attrName>style.visibility</p:attrName>
                                        </p:attrNameLst>
                                      </p:cBhvr>
                                      <p:to>
                                        <p:strVal val="visible"/>
                                      </p:to>
                                    </p:set>
                                    <p:animEffect transition="in" filter="wipe(left)">
                                      <p:cBhvr>
                                        <p:cTn id="18" dur="500"/>
                                        <p:tgtEl>
                                          <p:spTgt spid="68632509">
                                            <p:txEl>
                                              <p:pRg st="0" end="0"/>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68632509">
                                            <p:txEl>
                                              <p:pRg st="1" end="1"/>
                                            </p:txEl>
                                          </p:spTgt>
                                        </p:tgtEl>
                                        <p:attrNameLst>
                                          <p:attrName>style.visibility</p:attrName>
                                        </p:attrNameLst>
                                      </p:cBhvr>
                                      <p:to>
                                        <p:strVal val="visible"/>
                                      </p:to>
                                    </p:set>
                                    <p:animEffect transition="in" filter="wipe(left)">
                                      <p:cBhvr>
                                        <p:cTn id="21" dur="500"/>
                                        <p:tgtEl>
                                          <p:spTgt spid="68632509">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grpId="0" nodeType="clickEffect">
                                  <p:stCondLst>
                                    <p:cond delay="0"/>
                                  </p:stCondLst>
                                  <p:childTnLst>
                                    <p:set>
                                      <p:cBhvr>
                                        <p:cTn id="25" dur="1" fill="hold">
                                          <p:stCondLst>
                                            <p:cond delay="0"/>
                                          </p:stCondLst>
                                        </p:cTn>
                                        <p:tgtEl>
                                          <p:spTgt spid="232808243"/>
                                        </p:tgtEl>
                                        <p:attrNameLst>
                                          <p:attrName>style.visibility</p:attrName>
                                        </p:attrNameLst>
                                      </p:cBhvr>
                                      <p:to>
                                        <p:strVal val="visible"/>
                                      </p:to>
                                    </p:set>
                                    <p:animEffect transition="in" filter="wipe(right)">
                                      <p:cBhvr>
                                        <p:cTn id="26" dur="500"/>
                                        <p:tgtEl>
                                          <p:spTgt spid="232808243"/>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8632509">
                                            <p:txEl>
                                              <p:pRg st="2" end="2"/>
                                            </p:txEl>
                                          </p:spTgt>
                                        </p:tgtEl>
                                        <p:attrNameLst>
                                          <p:attrName>style.visibility</p:attrName>
                                        </p:attrNameLst>
                                      </p:cBhvr>
                                      <p:to>
                                        <p:strVal val="visible"/>
                                      </p:to>
                                    </p:set>
                                    <p:anim calcmode="lin" valueType="num">
                                      <p:cBhvr additive="base">
                                        <p:cTn id="31" dur="500" fill="hold"/>
                                        <p:tgtEl>
                                          <p:spTgt spid="68632509">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863250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808243" grpId="0" animBg="1"/>
    </p:bldLst>
  </p:timing>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78052599" name="Google Shape;485;p29"/>
          <p:cNvSpPr txBox="1">
            <a:spLocks noGrp="1"/>
          </p:cNvSpPr>
          <p:nvPr>
            <p:ph type="title"/>
          </p:nvPr>
        </p:nvSpPr>
        <p:spPr bwMode="auto">
          <a:xfrm>
            <a:off x="2743200" y="457200"/>
            <a:ext cx="7182196" cy="533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defRPr/>
            </a:pPr>
            <a:r>
              <a:rPr lang="en-US" b="1"/>
              <a:t>Return on Investment (ROI)</a:t>
            </a:r>
            <a:endParaRPr b="1"/>
          </a:p>
        </p:txBody>
      </p:sp>
      <p:sp>
        <p:nvSpPr>
          <p:cNvPr id="1183768758" name="Google Shape;486;p29"/>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32</a:t>
            </a:fld>
            <a:endParaRPr/>
          </a:p>
        </p:txBody>
      </p:sp>
      <p:sp>
        <p:nvSpPr>
          <p:cNvPr id="1029491070" name="Google Shape;487;p29"/>
          <p:cNvSpPr txBox="1"/>
          <p:nvPr/>
        </p:nvSpPr>
        <p:spPr bwMode="auto">
          <a:xfrm>
            <a:off x="2782649" y="964852"/>
            <a:ext cx="4191000"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1.3 Project Appraisal</a:t>
            </a:r>
            <a:endParaRPr/>
          </a:p>
        </p:txBody>
      </p:sp>
      <p:sp>
        <p:nvSpPr>
          <p:cNvPr id="241629843" name="Google Shape;488;p29"/>
          <p:cNvSpPr txBox="1"/>
          <p:nvPr/>
        </p:nvSpPr>
        <p:spPr bwMode="auto">
          <a:xfrm>
            <a:off x="2767048" y="1917422"/>
            <a:ext cx="9196351" cy="3017435"/>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chemeClr val="dk1"/>
              </a:buClr>
              <a:buSzPts val="2400"/>
              <a:buFont typeface="Arial"/>
              <a:buChar char="•"/>
              <a:defRPr/>
            </a:pPr>
            <a:r>
              <a:rPr lang="en-US" sz="2800">
                <a:solidFill>
                  <a:schemeClr val="dk1"/>
                </a:solidFill>
                <a:latin typeface="Calibri"/>
                <a:ea typeface="Calibri"/>
                <a:cs typeface="Calibri"/>
              </a:rPr>
              <a:t>Aka Accounting Rate of Return (ARR)</a:t>
            </a:r>
            <a:endParaRPr sz="2800"/>
          </a:p>
          <a:p>
            <a:pPr marL="228600" marR="0" lvl="0" indent="-228600" algn="l" rtl="0">
              <a:lnSpc>
                <a:spcPct val="90000"/>
              </a:lnSpc>
              <a:spcBef>
                <a:spcPts val="1000"/>
              </a:spcBef>
              <a:spcAft>
                <a:spcPts val="0"/>
              </a:spcAft>
              <a:buClr>
                <a:schemeClr val="dk1"/>
              </a:buClr>
              <a:buSzPts val="2400"/>
              <a:buFont typeface="Arial"/>
              <a:buChar char="•"/>
              <a:defRPr/>
            </a:pPr>
            <a:r>
              <a:rPr lang="en-US" sz="2800">
                <a:solidFill>
                  <a:schemeClr val="dk1"/>
                </a:solidFill>
                <a:latin typeface="Calibri"/>
                <a:ea typeface="Calibri"/>
                <a:cs typeface="Calibri"/>
              </a:rPr>
              <a:t>Provides a way of comparing the </a:t>
            </a:r>
            <a:r>
              <a:rPr lang="en-US" sz="2800" u="sng">
                <a:solidFill>
                  <a:schemeClr val="dk1"/>
                </a:solidFill>
                <a:latin typeface="Calibri"/>
                <a:ea typeface="Calibri"/>
                <a:cs typeface="Calibri"/>
              </a:rPr>
              <a:t>net profitability </a:t>
            </a:r>
            <a:r>
              <a:rPr lang="en-US" sz="2800">
                <a:solidFill>
                  <a:schemeClr val="dk1"/>
                </a:solidFill>
                <a:latin typeface="Calibri"/>
                <a:ea typeface="Calibri"/>
                <a:cs typeface="Calibri"/>
              </a:rPr>
              <a:t>to the investment required.</a:t>
            </a:r>
            <a:endParaRPr sz="2800"/>
          </a:p>
          <a:p>
            <a:pPr marL="228600" marR="0" lvl="0" indent="-228600" algn="l" rtl="0">
              <a:lnSpc>
                <a:spcPct val="90000"/>
              </a:lnSpc>
              <a:spcBef>
                <a:spcPts val="1000"/>
              </a:spcBef>
              <a:spcAft>
                <a:spcPts val="0"/>
              </a:spcAft>
              <a:buClr>
                <a:schemeClr val="dk1"/>
              </a:buClr>
              <a:buSzPts val="2400"/>
              <a:buFont typeface="Arial"/>
              <a:buChar char="•"/>
              <a:defRPr/>
            </a:pPr>
            <a:endParaRPr lang="en-US" sz="2800">
              <a:solidFill>
                <a:schemeClr val="dk1"/>
              </a:solidFill>
              <a:latin typeface="Calibri"/>
              <a:ea typeface="Calibri"/>
              <a:cs typeface="Calibri"/>
            </a:endParaRPr>
          </a:p>
          <a:p>
            <a:pPr marL="228600" marR="0" lvl="0" indent="-228600" algn="l" rtl="0">
              <a:lnSpc>
                <a:spcPct val="90000"/>
              </a:lnSpc>
              <a:spcBef>
                <a:spcPts val="1000"/>
              </a:spcBef>
              <a:spcAft>
                <a:spcPts val="0"/>
              </a:spcAft>
              <a:buClr>
                <a:schemeClr val="dk1"/>
              </a:buClr>
              <a:buSzPts val="2400"/>
              <a:buFont typeface="Arial"/>
              <a:buChar char="•"/>
              <a:defRPr/>
            </a:pPr>
            <a:r>
              <a:rPr lang="en-US" sz="2800" b="1">
                <a:solidFill>
                  <a:schemeClr val="dk1"/>
                </a:solidFill>
                <a:latin typeface="Calibri"/>
                <a:ea typeface="Calibri"/>
                <a:cs typeface="Calibri"/>
              </a:rPr>
              <a:t>Formula</a:t>
            </a:r>
            <a:r>
              <a:rPr lang="en-US" sz="2800">
                <a:solidFill>
                  <a:schemeClr val="dk1"/>
                </a:solidFill>
                <a:latin typeface="Calibri"/>
                <a:ea typeface="Calibri"/>
                <a:cs typeface="Calibri"/>
              </a:rPr>
              <a:t>:</a:t>
            </a:r>
            <a:endParaRPr sz="2800"/>
          </a:p>
        </p:txBody>
      </p:sp>
      <p:cxnSp>
        <p:nvCxnSpPr>
          <p:cNvPr id="2103092838" name="Google Shape;489;p29"/>
          <p:cNvCxnSpPr/>
          <p:nvPr/>
        </p:nvCxnSpPr>
        <p:spPr bwMode="auto">
          <a:xfrm rot="10800000">
            <a:off x="2895600" y="1371600"/>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998651180" name="Google Shape;490;p29"/>
          <p:cNvGrpSpPr/>
          <p:nvPr/>
        </p:nvGrpSpPr>
        <p:grpSpPr bwMode="auto">
          <a:xfrm>
            <a:off x="0" y="6980"/>
            <a:ext cx="2209800" cy="6851020"/>
            <a:chOff x="0" y="6980"/>
            <a:chExt cx="2209800" cy="6851020"/>
          </a:xfrm>
        </p:grpSpPr>
        <p:pic>
          <p:nvPicPr>
            <p:cNvPr id="491" name="Google Shape;491;p29"/>
            <p:cNvPicPr/>
            <p:nvPr/>
          </p:nvPicPr>
          <p:blipFill rotWithShape="1">
            <a:blip r:embed="rId3">
              <a:alphaModFix/>
            </a:blip>
            <a:srcRect l="23750" t="0" r="39999" b="0"/>
            <a:stretch/>
          </p:blipFill>
          <p:spPr bwMode="auto">
            <a:xfrm>
              <a:off x="0" y="2800350"/>
              <a:ext cx="2209800" cy="4057650"/>
            </a:xfrm>
            <a:prstGeom prst="rect">
              <a:avLst/>
            </a:prstGeom>
            <a:noFill/>
            <a:ln>
              <a:noFill/>
            </a:ln>
          </p:spPr>
        </p:pic>
        <p:pic>
          <p:nvPicPr>
            <p:cNvPr id="492" name="Google Shape;492;p29"/>
            <p:cNvPicPr/>
            <p:nvPr/>
          </p:nvPicPr>
          <p:blipFill rotWithShape="1">
            <a:blip r:embed="rId4">
              <a:alphaModFix/>
            </a:blip>
            <a:srcRect l="8750" t="0" r="55000" b="0"/>
            <a:stretch/>
          </p:blipFill>
          <p:spPr bwMode="auto">
            <a:xfrm>
              <a:off x="0" y="6980"/>
              <a:ext cx="2209800" cy="3590925"/>
            </a:xfrm>
            <a:prstGeom prst="rect">
              <a:avLst/>
            </a:prstGeom>
            <a:noFill/>
            <a:ln>
              <a:noFill/>
            </a:ln>
          </p:spPr>
        </p:pic>
      </p:grpSp>
      <p:grpSp>
        <p:nvGrpSpPr>
          <p:cNvPr id="1221718507" name="Google Shape;493;p29"/>
          <p:cNvGrpSpPr/>
          <p:nvPr/>
        </p:nvGrpSpPr>
        <p:grpSpPr bwMode="auto">
          <a:xfrm>
            <a:off x="4546600" y="3435807"/>
            <a:ext cx="6477000" cy="1219200"/>
            <a:chOff x="1524000" y="4267200"/>
            <a:chExt cx="6477000" cy="1447800"/>
          </a:xfrm>
        </p:grpSpPr>
        <p:sp>
          <p:nvSpPr>
            <p:cNvPr id="494" name="Google Shape;494;p29"/>
            <p:cNvSpPr/>
            <p:nvPr/>
          </p:nvSpPr>
          <p:spPr bwMode="auto">
            <a:xfrm>
              <a:off x="1524000" y="4267200"/>
              <a:ext cx="6477000" cy="1447800"/>
            </a:xfrm>
            <a:prstGeom prst="roundRect">
              <a:avLst>
                <a:gd name="adj" fmla="val 16667"/>
              </a:avLst>
            </a:prstGeom>
            <a:solidFill>
              <a:schemeClr val="lt1"/>
            </a:solidFill>
            <a:ln>
              <a:noFill/>
            </a:ln>
            <a:effectLst>
              <a:outerShdw blurRad="57150" dist="19050" dir="5400000" algn="ctr" rotWithShape="0">
                <a:srgbClr val="000000">
                  <a:alpha val="62745"/>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defRPr/>
              </a:pPr>
              <a:endParaRPr sz="2400" b="1">
                <a:solidFill>
                  <a:srgbClr val="C00000"/>
                </a:solidFill>
                <a:latin typeface="Times New Roman"/>
                <a:ea typeface="Times New Roman"/>
                <a:cs typeface="Times New Roman"/>
              </a:endParaRPr>
            </a:p>
          </p:txBody>
        </p:sp>
        <p:grpSp>
          <p:nvGrpSpPr>
            <p:cNvPr id="495" name="Google Shape;495;p29"/>
            <p:cNvGrpSpPr/>
            <p:nvPr/>
          </p:nvGrpSpPr>
          <p:grpSpPr bwMode="auto">
            <a:xfrm>
              <a:off x="1828800" y="4495801"/>
              <a:ext cx="6096000" cy="1037770"/>
              <a:chOff x="1828800" y="4038600"/>
              <a:chExt cx="6096000" cy="1036992"/>
            </a:xfrm>
          </p:grpSpPr>
          <p:sp>
            <p:nvSpPr>
              <p:cNvPr id="496" name="Google Shape;496;p29"/>
              <p:cNvSpPr txBox="1"/>
              <p:nvPr/>
            </p:nvSpPr>
            <p:spPr bwMode="auto">
              <a:xfrm>
                <a:off x="1828800" y="4267029"/>
                <a:ext cx="1219200" cy="547816"/>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C00000"/>
                  </a:buClr>
                  <a:buSzPts val="2400"/>
                  <a:buFont typeface="Times New Roman"/>
                  <a:buNone/>
                  <a:defRPr/>
                </a:pPr>
                <a:r>
                  <a:rPr lang="en-US" sz="2400" b="1">
                    <a:solidFill>
                      <a:srgbClr val="C00000"/>
                    </a:solidFill>
                    <a:latin typeface="Times New Roman"/>
                    <a:ea typeface="Times New Roman"/>
                    <a:cs typeface="Times New Roman"/>
                  </a:rPr>
                  <a:t>ROI   =</a:t>
                </a:r>
                <a:endParaRPr/>
              </a:p>
            </p:txBody>
          </p:sp>
          <p:sp>
            <p:nvSpPr>
              <p:cNvPr id="497" name="Google Shape;497;p29"/>
              <p:cNvSpPr txBox="1"/>
              <p:nvPr/>
            </p:nvSpPr>
            <p:spPr bwMode="auto">
              <a:xfrm>
                <a:off x="6629400" y="4262270"/>
                <a:ext cx="1295400" cy="547816"/>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C00000"/>
                  </a:buClr>
                  <a:buSzPts val="2400"/>
                  <a:buFont typeface="Times New Roman"/>
                  <a:buNone/>
                  <a:defRPr/>
                </a:pPr>
                <a:r>
                  <a:rPr lang="en-US" sz="2400" b="1">
                    <a:solidFill>
                      <a:srgbClr val="C00000"/>
                    </a:solidFill>
                    <a:latin typeface="Times New Roman"/>
                    <a:ea typeface="Times New Roman"/>
                    <a:cs typeface="Times New Roman"/>
                  </a:rPr>
                  <a:t>X 100</a:t>
                </a:r>
                <a:endParaRPr/>
              </a:p>
            </p:txBody>
          </p:sp>
          <p:sp>
            <p:nvSpPr>
              <p:cNvPr id="498" name="Google Shape;498;p29"/>
              <p:cNvSpPr txBox="1"/>
              <p:nvPr/>
            </p:nvSpPr>
            <p:spPr bwMode="auto">
              <a:xfrm>
                <a:off x="3352800" y="4038600"/>
                <a:ext cx="3048000" cy="547816"/>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C00000"/>
                  </a:buClr>
                  <a:buSzPts val="2400"/>
                  <a:buFont typeface="Times New Roman"/>
                  <a:buNone/>
                  <a:defRPr/>
                </a:pPr>
                <a:r>
                  <a:rPr lang="en-US" sz="2400" b="1">
                    <a:solidFill>
                      <a:srgbClr val="C00000"/>
                    </a:solidFill>
                    <a:latin typeface="Times New Roman"/>
                    <a:ea typeface="Times New Roman"/>
                    <a:cs typeface="Times New Roman"/>
                  </a:rPr>
                  <a:t>average annual profit</a:t>
                </a:r>
                <a:endParaRPr/>
              </a:p>
            </p:txBody>
          </p:sp>
          <p:sp>
            <p:nvSpPr>
              <p:cNvPr id="499" name="Google Shape;499;p29"/>
              <p:cNvSpPr txBox="1"/>
              <p:nvPr/>
            </p:nvSpPr>
            <p:spPr bwMode="auto">
              <a:xfrm>
                <a:off x="3276600" y="4571601"/>
                <a:ext cx="3048000" cy="503991"/>
              </a:xfrm>
              <a:prstGeom prst="rect">
                <a:avLst/>
              </a:prstGeom>
              <a:solidFill>
                <a:schemeClr val="lt1"/>
              </a:solidFill>
              <a:ln>
                <a:noFill/>
              </a:ln>
            </p:spPr>
            <p:txBody>
              <a:bodyPr spcFirstLastPara="1" wrap="square" lIns="91425" tIns="45700" rIns="91425" bIns="45700" anchor="t" anchorCtr="0">
                <a:spAutoFit/>
              </a:bodyPr>
              <a:lstStyle/>
              <a:p>
                <a:pPr marL="457200" marR="0" lvl="1" indent="0" algn="l" rtl="0">
                  <a:lnSpc>
                    <a:spcPct val="90000"/>
                  </a:lnSpc>
                  <a:spcBef>
                    <a:spcPts val="0"/>
                  </a:spcBef>
                  <a:spcAft>
                    <a:spcPts val="0"/>
                  </a:spcAft>
                  <a:buClr>
                    <a:srgbClr val="C00000"/>
                  </a:buClr>
                  <a:buSzPts val="2400"/>
                  <a:buFont typeface="Times New Roman"/>
                  <a:buNone/>
                  <a:defRPr/>
                </a:pPr>
                <a:r>
                  <a:rPr lang="en-US" sz="2400" b="1" i="0" u="none" strike="noStrike" cap="none">
                    <a:solidFill>
                      <a:srgbClr val="C00000"/>
                    </a:solidFill>
                    <a:latin typeface="Times New Roman"/>
                    <a:ea typeface="Times New Roman"/>
                    <a:cs typeface="Times New Roman"/>
                  </a:rPr>
                  <a:t>total investment</a:t>
                </a:r>
                <a:endParaRPr/>
              </a:p>
            </p:txBody>
          </p:sp>
          <p:cxnSp>
            <p:nvCxnSpPr>
              <p:cNvPr id="500" name="Google Shape;500;p29"/>
              <p:cNvCxnSpPr/>
              <p:nvPr/>
            </p:nvCxnSpPr>
            <p:spPr bwMode="auto">
              <a:xfrm>
                <a:off x="3200400" y="4495800"/>
                <a:ext cx="3200400" cy="0"/>
              </a:xfrm>
              <a:prstGeom prst="straightConnector1">
                <a:avLst/>
              </a:prstGeom>
              <a:noFill/>
              <a:ln w="9525" cap="flat" cmpd="sng">
                <a:solidFill>
                  <a:schemeClr val="dk1"/>
                </a:solidFill>
                <a:prstDash val="solid"/>
                <a:round/>
                <a:headEnd type="none" w="med" len="med"/>
                <a:tailEnd type="none" w="med" len="med"/>
              </a:ln>
            </p:spPr>
          </p:cxnSp>
        </p:gr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678052599"/>
                                        </p:tgtEl>
                                        <p:attrNameLst>
                                          <p:attrName>style.visibility</p:attrName>
                                        </p:attrNameLst>
                                      </p:cBhvr>
                                      <p:to>
                                        <p:strVal val="visible"/>
                                      </p:to>
                                    </p:set>
                                    <p:anim calcmode="lin" valueType="num">
                                      <p:cBhvr additive="base">
                                        <p:cTn id="7" dur="500" fill="hold"/>
                                        <p:tgtEl>
                                          <p:spTgt spid="1678052599"/>
                                        </p:tgtEl>
                                        <p:attrNameLst>
                                          <p:attrName>ppt_x</p:attrName>
                                        </p:attrNameLst>
                                      </p:cBhvr>
                                      <p:tavLst>
                                        <p:tav tm="0">
                                          <p:val>
                                            <p:strVal val="#ppt_x"/>
                                          </p:val>
                                        </p:tav>
                                        <p:tav tm="100000">
                                          <p:val>
                                            <p:strVal val="#ppt_x"/>
                                          </p:val>
                                        </p:tav>
                                      </p:tavLst>
                                    </p:anim>
                                    <p:anim calcmode="lin" valueType="num">
                                      <p:cBhvr additive="base">
                                        <p:cTn id="8" dur="500" fill="hold"/>
                                        <p:tgtEl>
                                          <p:spTgt spid="1678052599"/>
                                        </p:tgtEl>
                                        <p:attrNameLst>
                                          <p:attrName>ppt_y</p:attrName>
                                        </p:attrNameLst>
                                      </p:cBhvr>
                                      <p:tavLst>
                                        <p:tav tm="0">
                                          <p:val>
                                            <p:strVal val="0-#ppt_h/2"/>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241629843">
                                            <p:txEl>
                                              <p:pRg st="0" end="0"/>
                                            </p:txEl>
                                          </p:spTgt>
                                        </p:tgtEl>
                                        <p:attrNameLst>
                                          <p:attrName>style.visibility</p:attrName>
                                        </p:attrNameLst>
                                      </p:cBhvr>
                                      <p:to>
                                        <p:strVal val="visible"/>
                                      </p:to>
                                    </p:set>
                                    <p:animEffect transition="in" filter="fade">
                                      <p:cBhvr>
                                        <p:cTn id="11" dur="500"/>
                                        <p:tgtEl>
                                          <p:spTgt spid="241629843">
                                            <p:txEl>
                                              <p:pRg st="0" end="0"/>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241629843">
                                            <p:txEl>
                                              <p:pRg st="1" end="1"/>
                                            </p:txEl>
                                          </p:spTgt>
                                        </p:tgtEl>
                                        <p:attrNameLst>
                                          <p:attrName>style.visibility</p:attrName>
                                        </p:attrNameLst>
                                      </p:cBhvr>
                                      <p:to>
                                        <p:strVal val="visible"/>
                                      </p:to>
                                    </p:set>
                                    <p:animEffect transition="in" filter="fade">
                                      <p:cBhvr>
                                        <p:cTn id="14" dur="500"/>
                                        <p:tgtEl>
                                          <p:spTgt spid="24162984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41629843">
                                            <p:txEl>
                                              <p:pRg st="3" end="3"/>
                                            </p:txEl>
                                          </p:spTgt>
                                        </p:tgtEl>
                                        <p:attrNameLst>
                                          <p:attrName>style.visibility</p:attrName>
                                        </p:attrNameLst>
                                      </p:cBhvr>
                                      <p:to>
                                        <p:strVal val="visible"/>
                                      </p:to>
                                    </p:set>
                                    <p:animEffect transition="in" filter="fade">
                                      <p:cBhvr>
                                        <p:cTn id="19" dur="500"/>
                                        <p:tgtEl>
                                          <p:spTgt spid="241629843">
                                            <p:txEl>
                                              <p:pRg st="3" end="3"/>
                                            </p:txEl>
                                          </p:spTgt>
                                        </p:tgtEl>
                                      </p:cBhvr>
                                    </p:animEffect>
                                  </p:childTnLst>
                                </p:cTn>
                              </p:par>
                              <p:par>
                                <p:cTn id="20" presetID="2" presetClass="entr" presetSubtype="4" fill="hold" nodeType="withEffect">
                                  <p:stCondLst>
                                    <p:cond delay="0"/>
                                  </p:stCondLst>
                                  <p:childTnLst>
                                    <p:set>
                                      <p:cBhvr>
                                        <p:cTn id="21" dur="1" fill="hold">
                                          <p:stCondLst>
                                            <p:cond delay="0"/>
                                          </p:stCondLst>
                                        </p:cTn>
                                        <p:tgtEl>
                                          <p:spTgt spid="1221718507"/>
                                        </p:tgtEl>
                                        <p:attrNameLst>
                                          <p:attrName>style.visibility</p:attrName>
                                        </p:attrNameLst>
                                      </p:cBhvr>
                                      <p:to>
                                        <p:strVal val="visible"/>
                                      </p:to>
                                    </p:set>
                                    <p:anim calcmode="lin" valueType="num">
                                      <p:cBhvr additive="base">
                                        <p:cTn id="22" dur="500" fill="hold"/>
                                        <p:tgtEl>
                                          <p:spTgt spid="1221718507"/>
                                        </p:tgtEl>
                                        <p:attrNameLst>
                                          <p:attrName>ppt_x</p:attrName>
                                        </p:attrNameLst>
                                      </p:cBhvr>
                                      <p:tavLst>
                                        <p:tav tm="0">
                                          <p:val>
                                            <p:strVal val="#ppt_x"/>
                                          </p:val>
                                        </p:tav>
                                        <p:tav tm="100000">
                                          <p:val>
                                            <p:strVal val="#ppt_x"/>
                                          </p:val>
                                        </p:tav>
                                      </p:tavLst>
                                    </p:anim>
                                    <p:anim calcmode="lin" valueType="num">
                                      <p:cBhvr additive="base">
                                        <p:cTn id="23" dur="500" fill="hold"/>
                                        <p:tgtEl>
                                          <p:spTgt spid="12217185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8052599" grpId="0"/>
    </p:bld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8360858" name="Google Shape;506;p30"/>
          <p:cNvSpPr txBox="1">
            <a:spLocks noGrp="1"/>
          </p:cNvSpPr>
          <p:nvPr>
            <p:ph type="title"/>
          </p:nvPr>
        </p:nvSpPr>
        <p:spPr bwMode="auto">
          <a:xfrm>
            <a:off x="2743199" y="457200"/>
            <a:ext cx="6666151" cy="533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defRPr/>
            </a:pPr>
            <a:r>
              <a:rPr lang="en-US" b="1"/>
              <a:t>Return on Investment (ROI)</a:t>
            </a:r>
            <a:endParaRPr b="1"/>
          </a:p>
        </p:txBody>
      </p:sp>
      <p:sp>
        <p:nvSpPr>
          <p:cNvPr id="386655874" name="Google Shape;507;p30"/>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33</a:t>
            </a:fld>
            <a:endParaRPr/>
          </a:p>
        </p:txBody>
      </p:sp>
      <p:sp>
        <p:nvSpPr>
          <p:cNvPr id="303740881" name="Google Shape;508;p30"/>
          <p:cNvSpPr txBox="1"/>
          <p:nvPr/>
        </p:nvSpPr>
        <p:spPr bwMode="auto">
          <a:xfrm>
            <a:off x="2782649" y="964852"/>
            <a:ext cx="4191000"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1.3 Project Appraisal</a:t>
            </a:r>
            <a:endParaRPr/>
          </a:p>
        </p:txBody>
      </p:sp>
      <p:cxnSp>
        <p:nvCxnSpPr>
          <p:cNvPr id="1026362255" name="Google Shape;509;p30"/>
          <p:cNvCxnSpPr/>
          <p:nvPr/>
        </p:nvCxnSpPr>
        <p:spPr bwMode="auto">
          <a:xfrm rot="10800000">
            <a:off x="2895600" y="1371600"/>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880059979" name="Google Shape;510;p30"/>
          <p:cNvGrpSpPr/>
          <p:nvPr/>
        </p:nvGrpSpPr>
        <p:grpSpPr bwMode="auto">
          <a:xfrm>
            <a:off x="0" y="6980"/>
            <a:ext cx="2209800" cy="6851020"/>
            <a:chOff x="0" y="6980"/>
            <a:chExt cx="2209800" cy="6851020"/>
          </a:xfrm>
        </p:grpSpPr>
        <p:pic>
          <p:nvPicPr>
            <p:cNvPr id="511" name="Google Shape;511;p30"/>
            <p:cNvPicPr/>
            <p:nvPr/>
          </p:nvPicPr>
          <p:blipFill rotWithShape="1">
            <a:blip r:embed="rId3">
              <a:alphaModFix/>
            </a:blip>
            <a:srcRect l="23750" t="0" r="39999" b="0"/>
            <a:stretch/>
          </p:blipFill>
          <p:spPr bwMode="auto">
            <a:xfrm>
              <a:off x="0" y="2800350"/>
              <a:ext cx="2209800" cy="4057650"/>
            </a:xfrm>
            <a:prstGeom prst="rect">
              <a:avLst/>
            </a:prstGeom>
            <a:noFill/>
            <a:ln>
              <a:noFill/>
            </a:ln>
          </p:spPr>
        </p:pic>
        <p:pic>
          <p:nvPicPr>
            <p:cNvPr id="512" name="Google Shape;512;p30"/>
            <p:cNvPicPr/>
            <p:nvPr/>
          </p:nvPicPr>
          <p:blipFill rotWithShape="1">
            <a:blip r:embed="rId4">
              <a:alphaModFix/>
            </a:blip>
            <a:srcRect l="8750" t="0" r="55000" b="0"/>
            <a:stretch/>
          </p:blipFill>
          <p:spPr bwMode="auto">
            <a:xfrm>
              <a:off x="0" y="6980"/>
              <a:ext cx="2209800" cy="3590925"/>
            </a:xfrm>
            <a:prstGeom prst="rect">
              <a:avLst/>
            </a:prstGeom>
            <a:noFill/>
            <a:ln>
              <a:noFill/>
            </a:ln>
          </p:spPr>
        </p:pic>
      </p:grpSp>
      <p:graphicFrame>
        <p:nvGraphicFramePr>
          <p:cNvPr id="556024444" name="Google Shape;513;p30"/>
          <p:cNvGraphicFramePr>
            <a:graphicFrameLocks xmlns:a="http://schemas.openxmlformats.org/drawingml/2006/main"/>
          </p:cNvGraphicFramePr>
          <p:nvPr/>
        </p:nvGraphicFramePr>
        <p:xfrm rot="0">
          <a:off x="2895600" y="1797789"/>
          <a:ext cx="6057900" cy="3325725"/>
        </p:xfrm>
        <a:graphic>
          <a:graphicData uri="http://schemas.openxmlformats.org/drawingml/2006/table">
            <a:tbl>
              <a:tblPr firstRow="0" firstCol="0" lastRow="0" lastCol="0" bandRow="0" bandCol="0">
                <a:tableStyleId>{4C38C2D8-9331-4F24-B9CF-3786705C414E}</a:tableStyleId>
                <a:noFill/>
              </a:tblPr>
              <a:tblGrid>
                <a:gridCol w="1218775"/>
                <a:gridCol w="1097375"/>
                <a:gridCol w="1279449"/>
                <a:gridCol w="1097375"/>
                <a:gridCol w="1364925"/>
              </a:tblGrid>
              <a:tr h="365725">
                <a:tc>
                  <a:txBody>
                    <a:bodyPr/>
                    <a:p>
                      <a:pPr marL="0" marR="0" lvl="0" indent="0" algn="ctr" rtl="0">
                        <a:lnSpc>
                          <a:spcPct val="100000"/>
                        </a:lnSpc>
                        <a:spcBef>
                          <a:spcPts val="0"/>
                        </a:spcBef>
                        <a:spcAft>
                          <a:spcPts val="0"/>
                        </a:spcAft>
                        <a:buClr>
                          <a:schemeClr val="dk1"/>
                        </a:buClr>
                        <a:buSzPts val="1800"/>
                        <a:buFont typeface="Arial"/>
                        <a:buNone/>
                        <a:defRPr/>
                      </a:pPr>
                      <a:r>
                        <a:rPr lang="en-US" sz="1700" b="1" i="0" u="none" strike="noStrike" cap="none">
                          <a:solidFill>
                            <a:schemeClr val="dk1"/>
                          </a:solidFill>
                          <a:latin typeface="Arial"/>
                          <a:ea typeface="Arial"/>
                          <a:cs typeface="Arial"/>
                        </a:rPr>
                        <a:t>Year</a:t>
                      </a:r>
                      <a:endParaRPr sz="1700" b="1"/>
                    </a:p>
                  </a:txBody>
                  <a:tcPr marL="91450" marR="91450" marT="45700" marB="45700">
                    <a:lnL w="28575"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700" b="1" i="0" u="none" strike="noStrike" cap="none">
                          <a:solidFill>
                            <a:schemeClr val="dk1"/>
                          </a:solidFill>
                          <a:latin typeface="Arial"/>
                          <a:ea typeface="Arial"/>
                          <a:cs typeface="Arial"/>
                        </a:rPr>
                        <a:t>Project 1</a:t>
                      </a:r>
                      <a:endParaRPr sz="1700" b="1"/>
                    </a:p>
                  </a:txBody>
                  <a:tcPr marL="91450" marR="91450" marT="45700" marB="45700">
                    <a:lnL w="12700"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700" b="1" i="0" u="none" strike="noStrike" cap="none">
                          <a:solidFill>
                            <a:schemeClr val="dk1"/>
                          </a:solidFill>
                          <a:latin typeface="Arial"/>
                          <a:ea typeface="Arial"/>
                          <a:cs typeface="Arial"/>
                        </a:rPr>
                        <a:t>Project 2</a:t>
                      </a:r>
                      <a:endParaRPr sz="1700" b="1"/>
                    </a:p>
                  </a:txBody>
                  <a:tcPr marL="91450" marR="91450" marT="45700" marB="45700">
                    <a:lnL w="12700"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700" b="1" i="0" u="none" strike="noStrike" cap="none">
                          <a:solidFill>
                            <a:schemeClr val="dk1"/>
                          </a:solidFill>
                          <a:latin typeface="Arial"/>
                          <a:ea typeface="Arial"/>
                          <a:cs typeface="Arial"/>
                        </a:rPr>
                        <a:t>Project 3</a:t>
                      </a:r>
                      <a:endParaRPr sz="1700" b="1"/>
                    </a:p>
                  </a:txBody>
                  <a:tcPr marL="91450" marR="91450" marT="45700" marB="45700">
                    <a:lnL w="12700"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700" b="1" i="0" u="none" strike="noStrike" cap="none">
                          <a:solidFill>
                            <a:schemeClr val="dk1"/>
                          </a:solidFill>
                          <a:latin typeface="Arial"/>
                          <a:ea typeface="Arial"/>
                          <a:cs typeface="Arial"/>
                        </a:rPr>
                        <a:t>Project 4</a:t>
                      </a:r>
                      <a:endParaRPr sz="1700" b="1"/>
                    </a:p>
                  </a:txBody>
                  <a:tcPr marL="91450" marR="91450" marT="45700" marB="45700">
                    <a:lnL w="12700" algn="ctr">
                      <a:solidFill>
                        <a:schemeClr val="dk1"/>
                      </a:solidFill>
                    </a:lnL>
                    <a:lnR w="28575" algn="ctr">
                      <a:solidFill>
                        <a:schemeClr val="dk1"/>
                      </a:solidFill>
                    </a:lnR>
                    <a:lnT w="28575" algn="ctr">
                      <a:solidFill>
                        <a:schemeClr val="dk1"/>
                      </a:solidFill>
                    </a:lnT>
                    <a:lnB w="12700" algn="ctr">
                      <a:solidFill>
                        <a:schemeClr val="dk1"/>
                      </a:solidFill>
                    </a:lnB>
                  </a:tcPr>
                </a:tc>
              </a:tr>
              <a:tr h="3657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0</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-120,000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4</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999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5</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75,000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Net Profit</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50,000</a:t>
                      </a:r>
                      <a:endParaRPr b="1"/>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100,000</a:t>
                      </a:r>
                      <a:endParaRPr b="1"/>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50,000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75,000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l"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ROI</a:t>
                      </a:r>
                      <a:endParaRPr/>
                    </a:p>
                  </a:txBody>
                  <a:tcPr marL="91450" marR="91450" marT="45700" marB="45700">
                    <a:lnL w="28575"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rgbClr val="FF0000"/>
                          </a:solidFill>
                          <a:latin typeface="Arial"/>
                          <a:ea typeface="Arial"/>
                          <a:cs typeface="Arial"/>
                        </a:rPr>
                        <a:t>?</a:t>
                      </a:r>
                      <a:endParaRPr>
                        <a:solidFill>
                          <a:srgbClr val="FF0000"/>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rgbClr val="FF0000"/>
                          </a:solidFill>
                          <a:latin typeface="Arial"/>
                          <a:ea typeface="Arial"/>
                          <a:cs typeface="Arial"/>
                        </a:rPr>
                        <a:t>?</a:t>
                      </a:r>
                      <a:endParaRPr>
                        <a:solidFill>
                          <a:srgbClr val="FF0000"/>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rgbClr val="FF0000"/>
                          </a:solidFill>
                          <a:latin typeface="Arial"/>
                          <a:ea typeface="Arial"/>
                          <a:cs typeface="Arial"/>
                        </a:rPr>
                        <a:t>?</a:t>
                      </a:r>
                      <a:endParaRPr>
                        <a:solidFill>
                          <a:srgbClr val="FF0000"/>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rgbClr val="FF0000"/>
                          </a:solidFill>
                          <a:latin typeface="Arial"/>
                          <a:ea typeface="Arial"/>
                          <a:cs typeface="Arial"/>
                        </a:rPr>
                        <a:t>?</a:t>
                      </a:r>
                      <a:endParaRPr>
                        <a:solidFill>
                          <a:srgbClr val="FF0000"/>
                        </a:solidFill>
                      </a:endParaRPr>
                    </a:p>
                  </a:txBody>
                  <a:tcPr marL="91450" marR="91450" marT="45700" marB="45700">
                    <a:lnL w="12700" algn="ctr">
                      <a:solidFill>
                        <a:schemeClr val="dk1"/>
                      </a:solidFill>
                    </a:lnL>
                    <a:lnR w="28575" algn="ctr">
                      <a:solidFill>
                        <a:schemeClr val="dk1"/>
                      </a:solidFill>
                    </a:lnR>
                    <a:lnT w="12700" algn="ctr">
                      <a:solidFill>
                        <a:schemeClr val="dk1"/>
                      </a:solidFill>
                    </a:lnT>
                    <a:lnB w="28575" algn="ctr">
                      <a:solidFill>
                        <a:schemeClr val="dk1"/>
                      </a:solidFill>
                    </a:lnB>
                  </a:tcPr>
                </a:tc>
              </a:tr>
            </a:tbl>
          </a:graphicData>
        </a:graphic>
      </p:graphicFrame>
      <p:sp>
        <p:nvSpPr>
          <p:cNvPr id="1343731064" name="Google Shape;514;p30"/>
          <p:cNvSpPr txBox="1"/>
          <p:nvPr/>
        </p:nvSpPr>
        <p:spPr bwMode="auto">
          <a:xfrm>
            <a:off x="2782649" y="5123605"/>
            <a:ext cx="6172199"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400"/>
              <a:buFont typeface="Times New Roman"/>
              <a:buNone/>
              <a:defRPr/>
            </a:pPr>
            <a:r>
              <a:rPr lang="en-US" sz="1400">
                <a:solidFill>
                  <a:schemeClr val="dk1"/>
                </a:solidFill>
                <a:latin typeface="Times New Roman"/>
                <a:ea typeface="Times New Roman"/>
                <a:cs typeface="Times New Roman"/>
              </a:rPr>
              <a:t>Table 1.3 Four project cash flow projections – figures are end of year totals (RM)</a:t>
            </a:r>
            <a:endParaRPr/>
          </a:p>
        </p:txBody>
      </p:sp>
      <p:sp>
        <p:nvSpPr>
          <p:cNvPr id="275911440" name="Google Shape;515;p30"/>
          <p:cNvSpPr txBox="1"/>
          <p:nvPr/>
        </p:nvSpPr>
        <p:spPr bwMode="auto">
          <a:xfrm>
            <a:off x="9066451" y="1652411"/>
            <a:ext cx="3283779" cy="263135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000"/>
              <a:buFont typeface="Arial"/>
              <a:buNone/>
              <a:defRPr/>
            </a:pPr>
            <a:r>
              <a:rPr lang="en-US" sz="2800">
                <a:solidFill>
                  <a:schemeClr val="dk1"/>
                </a:solidFill>
                <a:latin typeface="Calibri"/>
                <a:ea typeface="Calibri"/>
                <a:cs typeface="Calibri"/>
              </a:rPr>
              <a:t>Calculate ROI:  </a:t>
            </a:r>
            <a:endParaRPr/>
          </a:p>
          <a:p>
            <a:pPr marL="0" marR="0" lvl="0" indent="0" algn="l" rtl="0">
              <a:lnSpc>
                <a:spcPct val="90000"/>
              </a:lnSpc>
              <a:spcBef>
                <a:spcPts val="0"/>
              </a:spcBef>
              <a:spcAft>
                <a:spcPts val="0"/>
              </a:spcAft>
              <a:buClr>
                <a:schemeClr val="dk1"/>
              </a:buClr>
              <a:buSzPts val="2000"/>
              <a:buFont typeface="Arial"/>
              <a:buNone/>
              <a:defRPr/>
            </a:pPr>
            <a:endParaRPr sz="2800"/>
          </a:p>
          <a:p>
            <a:pPr marL="0" marR="0" lvl="0" indent="0" algn="l" rtl="0">
              <a:lnSpc>
                <a:spcPct val="90000"/>
              </a:lnSpc>
              <a:spcBef>
                <a:spcPts val="1000"/>
              </a:spcBef>
              <a:spcAft>
                <a:spcPts val="0"/>
              </a:spcAft>
              <a:buClr>
                <a:schemeClr val="dk1"/>
              </a:buClr>
              <a:buSzPts val="2000"/>
              <a:buFont typeface="Arial"/>
              <a:buNone/>
              <a:defRPr/>
            </a:pPr>
            <a:r>
              <a:rPr lang="en-US" sz="2000" b="1" u="sng">
                <a:solidFill>
                  <a:schemeClr val="dk1"/>
                </a:solidFill>
                <a:latin typeface="Calibri"/>
                <a:ea typeface="Calibri"/>
                <a:cs typeface="Calibri"/>
              </a:rPr>
              <a:t>Project 1</a:t>
            </a:r>
            <a:endParaRPr b="1"/>
          </a:p>
          <a:p>
            <a:pPr marL="0" marR="0" lvl="0" indent="0" algn="l" rtl="0">
              <a:lnSpc>
                <a:spcPct val="90000"/>
              </a:lnSpc>
              <a:spcBef>
                <a:spcPts val="1000"/>
              </a:spcBef>
              <a:spcAft>
                <a:spcPts val="0"/>
              </a:spcAft>
              <a:buClr>
                <a:srgbClr val="FF0000"/>
              </a:buClr>
              <a:buSzPts val="2000"/>
              <a:buFont typeface="Arial"/>
              <a:buNone/>
              <a:defRPr/>
            </a:pPr>
            <a:r>
              <a:rPr lang="en-US" sz="2000">
                <a:solidFill>
                  <a:srgbClr val="FF0000"/>
                </a:solidFill>
                <a:latin typeface="Calibri"/>
                <a:ea typeface="Calibri"/>
                <a:cs typeface="Calibri"/>
              </a:rPr>
              <a:t>ROI = (</a:t>
            </a:r>
            <a:r>
              <a:rPr lang="en-US" sz="2000" u="sng">
                <a:solidFill>
                  <a:srgbClr val="FF0000"/>
                </a:solidFill>
                <a:latin typeface="Calibri"/>
                <a:ea typeface="Calibri"/>
                <a:cs typeface="Calibri"/>
              </a:rPr>
              <a:t>50,000/5)</a:t>
            </a:r>
            <a:r>
              <a:rPr lang="en-US" sz="2000">
                <a:solidFill>
                  <a:srgbClr val="FF0000"/>
                </a:solidFill>
                <a:latin typeface="Calibri"/>
                <a:ea typeface="Calibri"/>
                <a:cs typeface="Calibri"/>
              </a:rPr>
              <a:t> x 100 = 10%</a:t>
            </a:r>
            <a:endParaRPr/>
          </a:p>
          <a:p>
            <a:pPr marL="0" marR="0" lvl="0" indent="0" algn="l" rtl="0">
              <a:lnSpc>
                <a:spcPct val="90000"/>
              </a:lnSpc>
              <a:spcBef>
                <a:spcPts val="0"/>
              </a:spcBef>
              <a:spcAft>
                <a:spcPts val="0"/>
              </a:spcAft>
              <a:buClr>
                <a:srgbClr val="FF0000"/>
              </a:buClr>
              <a:buSzPts val="2000"/>
              <a:buFont typeface="Arial"/>
              <a:buNone/>
              <a:defRPr/>
            </a:pPr>
            <a:r>
              <a:rPr lang="en-US" sz="2000">
                <a:solidFill>
                  <a:srgbClr val="FF0000"/>
                </a:solidFill>
                <a:latin typeface="Calibri"/>
                <a:ea typeface="Calibri"/>
                <a:cs typeface="Calibri"/>
              </a:rPr>
              <a:t>             100,000</a:t>
            </a:r>
            <a:endParaRPr/>
          </a:p>
          <a:p>
            <a:pPr marL="0" marR="0" lvl="0" indent="0" algn="l" rtl="0">
              <a:lnSpc>
                <a:spcPct val="90000"/>
              </a:lnSpc>
              <a:spcBef>
                <a:spcPts val="0"/>
              </a:spcBef>
              <a:spcAft>
                <a:spcPts val="0"/>
              </a:spcAft>
              <a:buClr>
                <a:schemeClr val="dk1"/>
              </a:buClr>
              <a:buSzPts val="2000"/>
              <a:buFont typeface="Arial"/>
              <a:buNone/>
              <a:defRPr/>
            </a:pPr>
            <a:endParaRPr lang="en-US" sz="2000">
              <a:solidFill>
                <a:srgbClr val="FF0000"/>
              </a:solidFill>
              <a:latin typeface="Calibri"/>
              <a:ea typeface="Calibri"/>
              <a:cs typeface="Calibri"/>
            </a:endParaRPr>
          </a:p>
          <a:p>
            <a:pPr marL="0" marR="0" lvl="0" indent="0" algn="l" rtl="0">
              <a:lnSpc>
                <a:spcPct val="90000"/>
              </a:lnSpc>
              <a:spcBef>
                <a:spcPts val="0"/>
              </a:spcBef>
              <a:spcAft>
                <a:spcPts val="0"/>
              </a:spcAft>
              <a:buClr>
                <a:schemeClr val="dk1"/>
              </a:buClr>
              <a:buSzPts val="2000"/>
              <a:buFont typeface="Arial"/>
              <a:buNone/>
              <a:defRPr/>
            </a:pPr>
            <a:endParaRPr lang="en-US" sz="2000">
              <a:solidFill>
                <a:srgbClr val="FF0000"/>
              </a:solidFill>
              <a:latin typeface="Calibri"/>
              <a:ea typeface="Calibri"/>
              <a:cs typeface="Calibri"/>
            </a:endParaRPr>
          </a:p>
          <a:p>
            <a:pPr marL="0" marR="0" lvl="0" indent="0" algn="l" rtl="0">
              <a:lnSpc>
                <a:spcPct val="90000"/>
              </a:lnSpc>
              <a:spcBef>
                <a:spcPts val="0"/>
              </a:spcBef>
              <a:spcAft>
                <a:spcPts val="0"/>
              </a:spcAft>
              <a:buClr>
                <a:schemeClr val="dk1"/>
              </a:buClr>
              <a:buSzPts val="2000"/>
              <a:buFont typeface="Arial"/>
              <a:buNone/>
              <a:defRPr/>
            </a:pPr>
            <a:endParaRPr lang="en-GB" sz="2000">
              <a:solidFill>
                <a:srgbClr val="FF0000"/>
              </a:solidFill>
              <a:latin typeface="Calibri"/>
              <a:ea typeface="Calibri"/>
              <a:cs typeface="Calibri"/>
            </a:endParaRPr>
          </a:p>
          <a:p>
            <a:pPr marL="0" marR="0" lvl="0" indent="0" algn="l" rtl="0">
              <a:lnSpc>
                <a:spcPct val="90000"/>
              </a:lnSpc>
              <a:spcBef>
                <a:spcPts val="0"/>
              </a:spcBef>
              <a:spcAft>
                <a:spcPts val="0"/>
              </a:spcAft>
              <a:buClr>
                <a:schemeClr val="dk1"/>
              </a:buClr>
              <a:buSzPts val="2000"/>
              <a:buFont typeface="Arial"/>
              <a:buNone/>
              <a:defRPr/>
            </a:pPr>
            <a:endParaRPr sz="2000">
              <a:solidFill>
                <a:srgbClr val="FF0000"/>
              </a:solidFill>
              <a:latin typeface="Calibri"/>
              <a:ea typeface="Calibri"/>
              <a:cs typeface="Calibri"/>
            </a:endParaRPr>
          </a:p>
          <a:p>
            <a:pPr marL="0" marR="0" lvl="0" indent="0" algn="l" rtl="0">
              <a:lnSpc>
                <a:spcPct val="90000"/>
              </a:lnSpc>
              <a:spcBef>
                <a:spcPts val="0"/>
              </a:spcBef>
              <a:spcAft>
                <a:spcPts val="0"/>
              </a:spcAft>
              <a:buClr>
                <a:schemeClr val="dk1"/>
              </a:buClr>
              <a:buSzPts val="2000"/>
              <a:buFont typeface="Arial"/>
              <a:buNone/>
              <a:defRPr/>
            </a:pPr>
            <a:endParaRPr sz="2000">
              <a:solidFill>
                <a:srgbClr val="FF0000"/>
              </a:solidFill>
              <a:latin typeface="Calibri"/>
              <a:ea typeface="Calibri"/>
              <a:cs typeface="Calibri"/>
            </a:endParaRPr>
          </a:p>
        </p:txBody>
      </p:sp>
      <p:sp>
        <p:nvSpPr>
          <p:cNvPr id="1618203088" name="Google Shape;465;p27"/>
          <p:cNvSpPr txBox="1"/>
          <p:nvPr/>
        </p:nvSpPr>
        <p:spPr bwMode="auto">
          <a:xfrm>
            <a:off x="2797163" y="1392988"/>
            <a:ext cx="7119258" cy="446460"/>
          </a:xfrm>
          <a:prstGeom prst="rect">
            <a:avLst/>
          </a:prstGeom>
          <a:noFill/>
          <a:ln>
            <a:noFill/>
          </a:ln>
        </p:spPr>
        <p:txBody>
          <a:bodyPr spcFirstLastPara="1" wrap="square" lIns="91425" tIns="45700" rIns="91425" bIns="45700" anchor="t" anchorCtr="0">
            <a:noAutofit/>
          </a:bodyPr>
          <a:lstStyle/>
          <a:p>
            <a:pPr marR="0" lvl="0" algn="l" rtl="0">
              <a:lnSpc>
                <a:spcPct val="90000"/>
              </a:lnSpc>
              <a:spcBef>
                <a:spcPts val="0"/>
              </a:spcBef>
              <a:spcAft>
                <a:spcPts val="0"/>
              </a:spcAft>
              <a:buClr>
                <a:schemeClr val="dk1"/>
              </a:buClr>
              <a:buSzPts val="2000"/>
              <a:defRPr/>
            </a:pPr>
            <a:r>
              <a:rPr lang="en-US" sz="2400" b="1">
                <a:solidFill>
                  <a:srgbClr val="FF0000"/>
                </a:solidFill>
                <a:latin typeface="Calibri"/>
                <a:ea typeface="Calibri"/>
                <a:cs typeface="Calibri"/>
              </a:rPr>
              <a:t>What is the ROI for Project 1, 2, 3 and 4?</a:t>
            </a:r>
            <a:endParaRPr sz="2400">
              <a:solidFill>
                <a:srgbClr val="FF0000"/>
              </a:solidFill>
            </a:endParaRPr>
          </a:p>
        </p:txBody>
      </p:sp>
      <p:sp>
        <p:nvSpPr>
          <p:cNvPr id="1375759096" name="Speech Bubble: Rectangle 1"/>
          <p:cNvSpPr/>
          <p:nvPr/>
        </p:nvSpPr>
        <p:spPr bwMode="auto">
          <a:xfrm>
            <a:off x="9982200" y="3851421"/>
            <a:ext cx="1846793" cy="280429"/>
          </a:xfrm>
          <a:prstGeom prst="wedgeRectCallout">
            <a:avLst>
              <a:gd name="adj1" fmla="val -35910"/>
              <a:gd name="adj2" fmla="val -1538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600"/>
              <a:t>Tot investment</a:t>
            </a:r>
            <a:endParaRPr lang="en-GB" sz="1600"/>
          </a:p>
        </p:txBody>
      </p:sp>
      <p:sp>
        <p:nvSpPr>
          <p:cNvPr id="95367417" name="Speech Bubble: Rectangle 3"/>
          <p:cNvSpPr/>
          <p:nvPr/>
        </p:nvSpPr>
        <p:spPr bwMode="auto">
          <a:xfrm>
            <a:off x="10164393" y="2307387"/>
            <a:ext cx="1846793" cy="280429"/>
          </a:xfrm>
          <a:prstGeom prst="wedgeRectCallout">
            <a:avLst>
              <a:gd name="adj1" fmla="val -29738"/>
              <a:gd name="adj2" fmla="val 19633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600"/>
              <a:t>Avg annual profit</a:t>
            </a:r>
            <a:endParaRPr lang="en-GB" sz="1600"/>
          </a:p>
        </p:txBody>
      </p:sp>
      <p:sp>
        <p:nvSpPr>
          <p:cNvPr id="1641196491" name="Google Shape;515;p30"/>
          <p:cNvSpPr txBox="1"/>
          <p:nvPr/>
        </p:nvSpPr>
        <p:spPr bwMode="auto">
          <a:xfrm>
            <a:off x="9065630" y="4530299"/>
            <a:ext cx="3283779" cy="120288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000"/>
              <a:buFont typeface="Arial"/>
              <a:buNone/>
              <a:defRPr/>
            </a:pPr>
            <a:r>
              <a:rPr lang="en-US" sz="2000" b="1" u="sng">
                <a:solidFill>
                  <a:schemeClr val="dk1"/>
                </a:solidFill>
                <a:latin typeface="Calibri"/>
                <a:ea typeface="Calibri"/>
                <a:cs typeface="Calibri"/>
              </a:rPr>
              <a:t>Project 2</a:t>
            </a:r>
            <a:endParaRPr b="1"/>
          </a:p>
          <a:p>
            <a:pPr marL="0" marR="0" lvl="0" indent="0" algn="l" rtl="0">
              <a:lnSpc>
                <a:spcPct val="90000"/>
              </a:lnSpc>
              <a:spcBef>
                <a:spcPts val="1000"/>
              </a:spcBef>
              <a:spcAft>
                <a:spcPts val="0"/>
              </a:spcAft>
              <a:buClr>
                <a:srgbClr val="FF0000"/>
              </a:buClr>
              <a:buSzPts val="2000"/>
              <a:buFont typeface="Arial"/>
              <a:buNone/>
              <a:defRPr/>
            </a:pPr>
            <a:r>
              <a:rPr lang="en-US" sz="2000">
                <a:solidFill>
                  <a:srgbClr val="FF0000"/>
                </a:solidFill>
                <a:latin typeface="Calibri"/>
                <a:ea typeface="Calibri"/>
                <a:cs typeface="Calibri"/>
              </a:rPr>
              <a:t>ROI = (</a:t>
            </a:r>
            <a:r>
              <a:rPr lang="en-US" sz="2000" u="sng">
                <a:solidFill>
                  <a:srgbClr val="FF0000"/>
                </a:solidFill>
                <a:latin typeface="Calibri"/>
                <a:ea typeface="Calibri"/>
                <a:cs typeface="Calibri"/>
              </a:rPr>
              <a:t>100,000/5)</a:t>
            </a:r>
            <a:r>
              <a:rPr lang="en-US" sz="2000">
                <a:solidFill>
                  <a:srgbClr val="FF0000"/>
                </a:solidFill>
                <a:latin typeface="Calibri"/>
                <a:ea typeface="Calibri"/>
                <a:cs typeface="Calibri"/>
              </a:rPr>
              <a:t> x 100 = 2%</a:t>
            </a:r>
            <a:endParaRPr/>
          </a:p>
          <a:p>
            <a:pPr marL="0" marR="0" lvl="0" indent="0" algn="l" rtl="0">
              <a:lnSpc>
                <a:spcPct val="90000"/>
              </a:lnSpc>
              <a:spcBef>
                <a:spcPts val="0"/>
              </a:spcBef>
              <a:spcAft>
                <a:spcPts val="0"/>
              </a:spcAft>
              <a:buClr>
                <a:srgbClr val="FF0000"/>
              </a:buClr>
              <a:buSzPts val="2000"/>
              <a:buFont typeface="Arial"/>
              <a:buNone/>
              <a:defRPr/>
            </a:pPr>
            <a:r>
              <a:rPr lang="en-US" sz="2000">
                <a:solidFill>
                  <a:srgbClr val="FF0000"/>
                </a:solidFill>
                <a:latin typeface="Calibri"/>
                <a:ea typeface="Calibri"/>
                <a:cs typeface="Calibri"/>
              </a:rPr>
              <a:t>             1,000,000</a:t>
            </a:r>
            <a:endParaRPr/>
          </a:p>
          <a:p>
            <a:pPr marL="0" marR="0" lvl="0" indent="0" algn="l" rtl="0">
              <a:lnSpc>
                <a:spcPct val="90000"/>
              </a:lnSpc>
              <a:spcBef>
                <a:spcPts val="0"/>
              </a:spcBef>
              <a:spcAft>
                <a:spcPts val="0"/>
              </a:spcAft>
              <a:buClr>
                <a:schemeClr val="dk1"/>
              </a:buClr>
              <a:buSzPts val="2000"/>
              <a:buFont typeface="Arial"/>
              <a:buNone/>
              <a:defRPr/>
            </a:pPr>
            <a:endParaRPr sz="2000">
              <a:solidFill>
                <a:srgbClr val="FF0000"/>
              </a:solidFill>
              <a:latin typeface="Calibri"/>
              <a:ea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618203088">
                                            <p:txEl>
                                              <p:pRg st="0" end="0"/>
                                            </p:txEl>
                                          </p:spTgt>
                                        </p:tgtEl>
                                        <p:attrNameLst>
                                          <p:attrName>style.visibility</p:attrName>
                                        </p:attrNameLst>
                                      </p:cBhvr>
                                      <p:to>
                                        <p:strVal val="visible"/>
                                      </p:to>
                                    </p:set>
                                    <p:anim calcmode="lin" valueType="num">
                                      <p:cBhvr additive="base">
                                        <p:cTn id="7" dur="500" fill="hold"/>
                                        <p:tgtEl>
                                          <p:spTgt spid="161820308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18203088">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75911440"/>
                                        </p:tgtEl>
                                        <p:attrNameLst>
                                          <p:attrName>style.visibility</p:attrName>
                                        </p:attrNameLst>
                                      </p:cBhvr>
                                      <p:to>
                                        <p:strVal val="visible"/>
                                      </p:to>
                                    </p:set>
                                    <p:animEffect transition="in" filter="wipe(left)">
                                      <p:cBhvr>
                                        <p:cTn id="13" dur="500"/>
                                        <p:tgtEl>
                                          <p:spTgt spid="27591144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95367417"/>
                                        </p:tgtEl>
                                        <p:attrNameLst>
                                          <p:attrName>style.visibility</p:attrName>
                                        </p:attrNameLst>
                                      </p:cBhvr>
                                      <p:to>
                                        <p:strVal val="visible"/>
                                      </p:to>
                                    </p:set>
                                    <p:animEffect transition="in" filter="wipe(up)">
                                      <p:cBhvr>
                                        <p:cTn id="18" dur="500"/>
                                        <p:tgtEl>
                                          <p:spTgt spid="9536741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375759096"/>
                                        </p:tgtEl>
                                        <p:attrNameLst>
                                          <p:attrName>style.visibility</p:attrName>
                                        </p:attrNameLst>
                                      </p:cBhvr>
                                      <p:to>
                                        <p:strVal val="visible"/>
                                      </p:to>
                                    </p:set>
                                    <p:animEffect transition="in" filter="wipe(down)">
                                      <p:cBhvr>
                                        <p:cTn id="23" dur="500"/>
                                        <p:tgtEl>
                                          <p:spTgt spid="137575909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641196491"/>
                                        </p:tgtEl>
                                        <p:attrNameLst>
                                          <p:attrName>style.visibility</p:attrName>
                                        </p:attrNameLst>
                                      </p:cBhvr>
                                      <p:to>
                                        <p:strVal val="visible"/>
                                      </p:to>
                                    </p:set>
                                    <p:animEffect transition="in" filter="wipe(left)">
                                      <p:cBhvr>
                                        <p:cTn id="28" dur="500"/>
                                        <p:tgtEl>
                                          <p:spTgt spid="16411964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911440" grpId="0"/>
      <p:bldP spid="1375759096" grpId="0" animBg="1"/>
      <p:bldP spid="95367417" grpId="0" animBg="1"/>
      <p:bldP spid="1641196491" grpId="0"/>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6315527" name="Google Shape;521;p31"/>
          <p:cNvSpPr txBox="1">
            <a:spLocks noGrp="1"/>
          </p:cNvSpPr>
          <p:nvPr>
            <p:ph type="title"/>
          </p:nvPr>
        </p:nvSpPr>
        <p:spPr bwMode="auto">
          <a:xfrm>
            <a:off x="2743200" y="457200"/>
            <a:ext cx="7015942" cy="533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defRPr/>
            </a:pPr>
            <a:r>
              <a:rPr lang="en-US" b="1"/>
              <a:t>Return on Investment (ROI)</a:t>
            </a:r>
            <a:endParaRPr b="1"/>
          </a:p>
        </p:txBody>
      </p:sp>
      <p:sp>
        <p:nvSpPr>
          <p:cNvPr id="1321313679" name="Google Shape;522;p3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34</a:t>
            </a:fld>
            <a:endParaRPr/>
          </a:p>
        </p:txBody>
      </p:sp>
      <p:sp>
        <p:nvSpPr>
          <p:cNvPr id="685494806" name="Google Shape;523;p31"/>
          <p:cNvSpPr txBox="1"/>
          <p:nvPr/>
        </p:nvSpPr>
        <p:spPr bwMode="auto">
          <a:xfrm>
            <a:off x="2782649" y="964852"/>
            <a:ext cx="4191000"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1.3 Project Appraisal</a:t>
            </a:r>
            <a:endParaRPr/>
          </a:p>
        </p:txBody>
      </p:sp>
      <p:cxnSp>
        <p:nvCxnSpPr>
          <p:cNvPr id="2006335740" name="Google Shape;524;p31"/>
          <p:cNvCxnSpPr/>
          <p:nvPr/>
        </p:nvCxnSpPr>
        <p:spPr bwMode="auto">
          <a:xfrm rot="10800000">
            <a:off x="2895600" y="1371600"/>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1836115360" name="Google Shape;525;p31"/>
          <p:cNvGrpSpPr/>
          <p:nvPr/>
        </p:nvGrpSpPr>
        <p:grpSpPr bwMode="auto">
          <a:xfrm>
            <a:off x="0" y="6980"/>
            <a:ext cx="2209800" cy="6851020"/>
            <a:chOff x="0" y="6980"/>
            <a:chExt cx="2209800" cy="6851020"/>
          </a:xfrm>
        </p:grpSpPr>
        <p:pic>
          <p:nvPicPr>
            <p:cNvPr id="526" name="Google Shape;526;p31"/>
            <p:cNvPicPr/>
            <p:nvPr/>
          </p:nvPicPr>
          <p:blipFill rotWithShape="1">
            <a:blip r:embed="rId3">
              <a:alphaModFix/>
            </a:blip>
            <a:srcRect l="23750" t="0" r="39999" b="0"/>
            <a:stretch/>
          </p:blipFill>
          <p:spPr bwMode="auto">
            <a:xfrm>
              <a:off x="0" y="2800350"/>
              <a:ext cx="2209800" cy="4057650"/>
            </a:xfrm>
            <a:prstGeom prst="rect">
              <a:avLst/>
            </a:prstGeom>
            <a:noFill/>
            <a:ln>
              <a:noFill/>
            </a:ln>
          </p:spPr>
        </p:pic>
        <p:pic>
          <p:nvPicPr>
            <p:cNvPr id="527" name="Google Shape;527;p31"/>
            <p:cNvPicPr/>
            <p:nvPr/>
          </p:nvPicPr>
          <p:blipFill rotWithShape="1">
            <a:blip r:embed="rId4">
              <a:alphaModFix/>
            </a:blip>
            <a:srcRect l="8750" t="0" r="55000" b="0"/>
            <a:stretch/>
          </p:blipFill>
          <p:spPr bwMode="auto">
            <a:xfrm>
              <a:off x="0" y="6980"/>
              <a:ext cx="2209800" cy="3590925"/>
            </a:xfrm>
            <a:prstGeom prst="rect">
              <a:avLst/>
            </a:prstGeom>
            <a:noFill/>
            <a:ln>
              <a:noFill/>
            </a:ln>
          </p:spPr>
        </p:pic>
      </p:grpSp>
      <p:graphicFrame>
        <p:nvGraphicFramePr>
          <p:cNvPr id="1867731254" name="Google Shape;528;p31"/>
          <p:cNvGraphicFramePr>
            <a:graphicFrameLocks xmlns:a="http://schemas.openxmlformats.org/drawingml/2006/main"/>
          </p:cNvGraphicFramePr>
          <p:nvPr/>
        </p:nvGraphicFramePr>
        <p:xfrm rot="0">
          <a:off x="2895600" y="1797789"/>
          <a:ext cx="6057900" cy="3325725"/>
        </p:xfrm>
        <a:graphic>
          <a:graphicData uri="http://schemas.openxmlformats.org/drawingml/2006/table">
            <a:tbl>
              <a:tblPr firstRow="0" firstCol="0" lastRow="0" lastCol="0" bandRow="0" bandCol="0">
                <a:tableStyleId>{4C38C2D8-9331-4F24-B9CF-3786705C414E}</a:tableStyleId>
                <a:noFill/>
              </a:tblPr>
              <a:tblGrid>
                <a:gridCol w="1218775"/>
                <a:gridCol w="1097375"/>
                <a:gridCol w="1279449"/>
                <a:gridCol w="1097375"/>
                <a:gridCol w="1364925"/>
              </a:tblGrid>
              <a:tr h="365725">
                <a:tc>
                  <a:txBody>
                    <a:bodyPr/>
                    <a:p>
                      <a:pPr marL="0" marR="0" lvl="0" indent="0" algn="ctr" rtl="0">
                        <a:lnSpc>
                          <a:spcPct val="100000"/>
                        </a:lnSpc>
                        <a:spcBef>
                          <a:spcPts val="0"/>
                        </a:spcBef>
                        <a:spcAft>
                          <a:spcPts val="0"/>
                        </a:spcAft>
                        <a:buClr>
                          <a:schemeClr val="dk1"/>
                        </a:buClr>
                        <a:buSzPts val="1800"/>
                        <a:buFont typeface="Arial"/>
                        <a:buNone/>
                        <a:defRPr/>
                      </a:pPr>
                      <a:r>
                        <a:rPr lang="en-US" sz="1700" b="1" i="0" u="none" strike="noStrike" cap="none">
                          <a:solidFill>
                            <a:schemeClr val="dk1"/>
                          </a:solidFill>
                          <a:latin typeface="Arial"/>
                          <a:ea typeface="Arial"/>
                          <a:cs typeface="Arial"/>
                        </a:rPr>
                        <a:t>Year</a:t>
                      </a:r>
                      <a:endParaRPr sz="1700" b="1"/>
                    </a:p>
                  </a:txBody>
                  <a:tcPr marL="91450" marR="91450" marT="45700" marB="45700">
                    <a:lnL w="28575"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700" b="1" i="0" u="none" strike="noStrike" cap="none">
                          <a:solidFill>
                            <a:schemeClr val="dk1"/>
                          </a:solidFill>
                          <a:latin typeface="Arial"/>
                          <a:ea typeface="Arial"/>
                          <a:cs typeface="Arial"/>
                        </a:rPr>
                        <a:t>Project 1</a:t>
                      </a:r>
                      <a:endParaRPr sz="1700" b="1"/>
                    </a:p>
                  </a:txBody>
                  <a:tcPr marL="91450" marR="91450" marT="45700" marB="45700">
                    <a:lnL w="12700"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700" b="1" i="0" u="none" strike="noStrike" cap="none">
                          <a:solidFill>
                            <a:schemeClr val="dk1"/>
                          </a:solidFill>
                          <a:latin typeface="Arial"/>
                          <a:ea typeface="Arial"/>
                          <a:cs typeface="Arial"/>
                        </a:rPr>
                        <a:t>Project 2</a:t>
                      </a:r>
                      <a:endParaRPr sz="1700" b="1"/>
                    </a:p>
                  </a:txBody>
                  <a:tcPr marL="91450" marR="91450" marT="45700" marB="45700">
                    <a:lnL w="12700"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700" b="1" i="0" u="none" strike="noStrike" cap="none">
                          <a:solidFill>
                            <a:schemeClr val="dk1"/>
                          </a:solidFill>
                          <a:latin typeface="Arial"/>
                          <a:ea typeface="Arial"/>
                          <a:cs typeface="Arial"/>
                        </a:rPr>
                        <a:t>Project 3</a:t>
                      </a:r>
                      <a:endParaRPr sz="1700" b="1"/>
                    </a:p>
                  </a:txBody>
                  <a:tcPr marL="91450" marR="91450" marT="45700" marB="45700">
                    <a:lnL w="12700"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700" b="1" i="0" u="none" strike="noStrike" cap="none">
                          <a:solidFill>
                            <a:schemeClr val="dk1"/>
                          </a:solidFill>
                          <a:latin typeface="Arial"/>
                          <a:ea typeface="Arial"/>
                          <a:cs typeface="Arial"/>
                        </a:rPr>
                        <a:t>Project 4</a:t>
                      </a:r>
                      <a:endParaRPr sz="1700" b="1"/>
                    </a:p>
                  </a:txBody>
                  <a:tcPr marL="91450" marR="91450" marT="45700" marB="45700">
                    <a:lnL w="12700" algn="ctr">
                      <a:solidFill>
                        <a:schemeClr val="dk1"/>
                      </a:solidFill>
                    </a:lnL>
                    <a:lnR w="28575" algn="ctr">
                      <a:solidFill>
                        <a:schemeClr val="dk1"/>
                      </a:solidFill>
                    </a:lnR>
                    <a:lnT w="28575" algn="ctr">
                      <a:solidFill>
                        <a:schemeClr val="dk1"/>
                      </a:solidFill>
                    </a:lnT>
                    <a:lnB w="12700" algn="ctr">
                      <a:solidFill>
                        <a:schemeClr val="dk1"/>
                      </a:solidFill>
                    </a:lnB>
                  </a:tcPr>
                </a:tc>
              </a:tr>
              <a:tr h="3657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0</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-120,000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4</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999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5</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75,000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Net Profit</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50,000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50,000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75,000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l"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ROI</a:t>
                      </a:r>
                      <a:endParaRPr/>
                    </a:p>
                  </a:txBody>
                  <a:tcPr marL="91450" marR="91450" marT="45700" marB="45700">
                    <a:lnL w="28575"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r"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10%</a:t>
                      </a:r>
                      <a:endParaRPr/>
                    </a:p>
                  </a:txBody>
                  <a:tcPr marL="91450" marR="91450" marT="45700" marB="45700">
                    <a:lnL w="12700"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r"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2%</a:t>
                      </a:r>
                      <a:endParaRPr/>
                    </a:p>
                  </a:txBody>
                  <a:tcPr marL="91450" marR="91450" marT="45700" marB="45700">
                    <a:lnL w="12700"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r"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10%</a:t>
                      </a:r>
                      <a:endParaRPr/>
                    </a:p>
                  </a:txBody>
                  <a:tcPr marL="91450" marR="91450" marT="45700" marB="45700">
                    <a:lnL w="12700"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r"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12.5%</a:t>
                      </a:r>
                      <a:endParaRPr/>
                    </a:p>
                  </a:txBody>
                  <a:tcPr marL="91450" marR="91450" marT="45700" marB="45700">
                    <a:lnL w="12700" algn="ctr">
                      <a:solidFill>
                        <a:schemeClr val="dk1"/>
                      </a:solidFill>
                    </a:lnL>
                    <a:lnR w="28575" algn="ctr">
                      <a:solidFill>
                        <a:schemeClr val="dk1"/>
                      </a:solidFill>
                    </a:lnR>
                    <a:lnT w="12700" algn="ctr">
                      <a:solidFill>
                        <a:schemeClr val="dk1"/>
                      </a:solidFill>
                    </a:lnT>
                    <a:lnB w="28575" algn="ctr">
                      <a:solidFill>
                        <a:schemeClr val="dk1"/>
                      </a:solidFill>
                    </a:lnB>
                  </a:tcPr>
                </a:tc>
              </a:tr>
            </a:tbl>
          </a:graphicData>
        </a:graphic>
      </p:graphicFrame>
      <p:sp>
        <p:nvSpPr>
          <p:cNvPr id="378353556" name="Google Shape;529;p31"/>
          <p:cNvSpPr txBox="1"/>
          <p:nvPr/>
        </p:nvSpPr>
        <p:spPr bwMode="auto">
          <a:xfrm>
            <a:off x="2782649" y="5123605"/>
            <a:ext cx="6172199"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400"/>
              <a:buFont typeface="Times New Roman"/>
              <a:buNone/>
              <a:defRPr/>
            </a:pPr>
            <a:r>
              <a:rPr lang="en-US" sz="1400">
                <a:solidFill>
                  <a:schemeClr val="dk1"/>
                </a:solidFill>
                <a:latin typeface="Times New Roman"/>
                <a:ea typeface="Times New Roman"/>
                <a:cs typeface="Times New Roman"/>
              </a:rPr>
              <a:t>Table 1.3 Four project cash flow projections – figures are end of year totals (RM)</a:t>
            </a:r>
            <a:endParaRPr/>
          </a:p>
        </p:txBody>
      </p:sp>
      <p:sp>
        <p:nvSpPr>
          <p:cNvPr id="441166144" name="Google Shape;530;p31"/>
          <p:cNvSpPr txBox="1"/>
          <p:nvPr/>
        </p:nvSpPr>
        <p:spPr bwMode="auto">
          <a:xfrm>
            <a:off x="2782648" y="5602508"/>
            <a:ext cx="8909679" cy="1281112"/>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400"/>
              <a:buFont typeface="Arial"/>
              <a:buNone/>
              <a:defRPr/>
            </a:pPr>
            <a:r>
              <a:rPr lang="en-US" sz="2800">
                <a:solidFill>
                  <a:srgbClr val="FF0000"/>
                </a:solidFill>
                <a:latin typeface="Calibri"/>
                <a:ea typeface="Calibri"/>
                <a:cs typeface="Calibri"/>
              </a:rPr>
              <a:t>Which project is most worthwhile based on ROI alone?</a:t>
            </a:r>
            <a:endParaRPr sz="2800">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41166144"/>
                                        </p:tgtEl>
                                        <p:attrNameLst>
                                          <p:attrName>style.visibility</p:attrName>
                                        </p:attrNameLst>
                                      </p:cBhvr>
                                      <p:to>
                                        <p:strVal val="visible"/>
                                      </p:to>
                                    </p:set>
                                    <p:anim calcmode="lin" valueType="num">
                                      <p:cBhvr additive="base">
                                        <p:cTn id="7" dur="500" fill="hold"/>
                                        <p:tgtEl>
                                          <p:spTgt spid="441166144"/>
                                        </p:tgtEl>
                                        <p:attrNameLst>
                                          <p:attrName>ppt_x</p:attrName>
                                        </p:attrNameLst>
                                      </p:cBhvr>
                                      <p:tavLst>
                                        <p:tav tm="0">
                                          <p:val>
                                            <p:strVal val="#ppt_x"/>
                                          </p:val>
                                        </p:tav>
                                        <p:tav tm="100000">
                                          <p:val>
                                            <p:strVal val="#ppt_x"/>
                                          </p:val>
                                        </p:tav>
                                      </p:tavLst>
                                    </p:anim>
                                    <p:anim calcmode="lin" valueType="num">
                                      <p:cBhvr additive="base">
                                        <p:cTn id="8" dur="500" fill="hold"/>
                                        <p:tgtEl>
                                          <p:spTgt spid="4411661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1166144" grpId="0"/>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8859254" name="Google Shape;521;p31"/>
          <p:cNvSpPr txBox="1">
            <a:spLocks noGrp="1"/>
          </p:cNvSpPr>
          <p:nvPr>
            <p:ph type="title"/>
          </p:nvPr>
        </p:nvSpPr>
        <p:spPr bwMode="auto">
          <a:xfrm>
            <a:off x="2743200" y="457200"/>
            <a:ext cx="7015942" cy="533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defRPr/>
            </a:pPr>
            <a:r>
              <a:rPr lang="en-US" b="1"/>
              <a:t>Return on Investment (ROI)</a:t>
            </a:r>
            <a:endParaRPr b="1"/>
          </a:p>
        </p:txBody>
      </p:sp>
      <p:sp>
        <p:nvSpPr>
          <p:cNvPr id="1314354105" name="Google Shape;522;p3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35</a:t>
            </a:fld>
            <a:endParaRPr/>
          </a:p>
        </p:txBody>
      </p:sp>
      <p:sp>
        <p:nvSpPr>
          <p:cNvPr id="452056628" name="Google Shape;523;p31"/>
          <p:cNvSpPr txBox="1"/>
          <p:nvPr/>
        </p:nvSpPr>
        <p:spPr bwMode="auto">
          <a:xfrm>
            <a:off x="2782649" y="964852"/>
            <a:ext cx="4191000"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1.3 Project Appraisal</a:t>
            </a:r>
            <a:endParaRPr/>
          </a:p>
        </p:txBody>
      </p:sp>
      <p:cxnSp>
        <p:nvCxnSpPr>
          <p:cNvPr id="1593216364" name="Google Shape;524;p31"/>
          <p:cNvCxnSpPr/>
          <p:nvPr/>
        </p:nvCxnSpPr>
        <p:spPr bwMode="auto">
          <a:xfrm rot="10800000">
            <a:off x="2895600" y="1371600"/>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2105976679" name="Google Shape;525;p31"/>
          <p:cNvGrpSpPr/>
          <p:nvPr/>
        </p:nvGrpSpPr>
        <p:grpSpPr bwMode="auto">
          <a:xfrm>
            <a:off x="0" y="6980"/>
            <a:ext cx="2209800" cy="6851020"/>
            <a:chOff x="0" y="6980"/>
            <a:chExt cx="2209800" cy="6851020"/>
          </a:xfrm>
        </p:grpSpPr>
        <p:pic>
          <p:nvPicPr>
            <p:cNvPr id="526" name="Google Shape;526;p31"/>
            <p:cNvPicPr/>
            <p:nvPr/>
          </p:nvPicPr>
          <p:blipFill rotWithShape="1">
            <a:blip r:embed="rId3">
              <a:alphaModFix/>
            </a:blip>
            <a:srcRect l="23750" t="0" r="39999" b="0"/>
            <a:stretch/>
          </p:blipFill>
          <p:spPr bwMode="auto">
            <a:xfrm>
              <a:off x="0" y="2800350"/>
              <a:ext cx="2209800" cy="4057650"/>
            </a:xfrm>
            <a:prstGeom prst="rect">
              <a:avLst/>
            </a:prstGeom>
            <a:noFill/>
            <a:ln>
              <a:noFill/>
            </a:ln>
          </p:spPr>
        </p:pic>
        <p:pic>
          <p:nvPicPr>
            <p:cNvPr id="527" name="Google Shape;527;p31"/>
            <p:cNvPicPr/>
            <p:nvPr/>
          </p:nvPicPr>
          <p:blipFill rotWithShape="1">
            <a:blip r:embed="rId4">
              <a:alphaModFix/>
            </a:blip>
            <a:srcRect l="8750" t="0" r="55000" b="0"/>
            <a:stretch/>
          </p:blipFill>
          <p:spPr bwMode="auto">
            <a:xfrm>
              <a:off x="0" y="6980"/>
              <a:ext cx="2209800" cy="3590925"/>
            </a:xfrm>
            <a:prstGeom prst="rect">
              <a:avLst/>
            </a:prstGeom>
            <a:noFill/>
            <a:ln>
              <a:noFill/>
            </a:ln>
          </p:spPr>
        </p:pic>
      </p:grpSp>
      <p:graphicFrame>
        <p:nvGraphicFramePr>
          <p:cNvPr id="2037844532" name="Google Shape;528;p31"/>
          <p:cNvGraphicFramePr>
            <a:graphicFrameLocks xmlns:a="http://schemas.openxmlformats.org/drawingml/2006/main"/>
          </p:cNvGraphicFramePr>
          <p:nvPr/>
        </p:nvGraphicFramePr>
        <p:xfrm rot="0">
          <a:off x="2895600" y="1558337"/>
          <a:ext cx="6604861" cy="3325725"/>
        </p:xfrm>
        <a:graphic>
          <a:graphicData uri="http://schemas.openxmlformats.org/drawingml/2006/table">
            <a:tbl>
              <a:tblPr firstRow="0" firstCol="0" lastRow="0" lastCol="0" bandRow="0" bandCol="0">
                <a:tableStyleId>{4C38C2D8-9331-4F24-B9CF-3786705C414E}</a:tableStyleId>
                <a:noFill/>
              </a:tblPr>
              <a:tblGrid>
                <a:gridCol w="1218775"/>
                <a:gridCol w="1248039"/>
                <a:gridCol w="1425844"/>
                <a:gridCol w="1239864"/>
                <a:gridCol w="1472339"/>
              </a:tblGrid>
              <a:tr h="3657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Year</a:t>
                      </a:r>
                      <a:endParaRPr/>
                    </a:p>
                  </a:txBody>
                  <a:tcPr marL="91450" marR="91450" marT="45700" marB="45700">
                    <a:lnL w="28575"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Project 1</a:t>
                      </a:r>
                      <a:endParaRPr b="1"/>
                    </a:p>
                  </a:txBody>
                  <a:tcPr marL="91450" marR="91450" marT="45700" marB="45700">
                    <a:lnL w="12700"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Project 2</a:t>
                      </a:r>
                      <a:endParaRPr/>
                    </a:p>
                  </a:txBody>
                  <a:tcPr marL="91450" marR="91450" marT="45700" marB="45700">
                    <a:lnL w="12700"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Project 3</a:t>
                      </a:r>
                      <a:endParaRPr b="1"/>
                    </a:p>
                  </a:txBody>
                  <a:tcPr marL="91450" marR="91450" marT="45700" marB="45700">
                    <a:lnL w="12700" algn="ctr">
                      <a:solidFill>
                        <a:schemeClr val="dk1"/>
                      </a:solidFill>
                    </a:lnL>
                    <a:lnR w="12700" algn="ctr">
                      <a:solidFill>
                        <a:schemeClr val="dk1"/>
                      </a:solidFill>
                    </a:lnR>
                    <a:lnT w="28575" algn="ctr">
                      <a:solidFill>
                        <a:schemeClr val="dk1"/>
                      </a:solidFill>
                    </a:lnT>
                    <a:lnB w="12700" algn="ctr">
                      <a:solidFill>
                        <a:schemeClr val="dk1"/>
                      </a:solidFill>
                    </a:lnB>
                  </a:tcPr>
                </a:tc>
                <a:tc>
                  <a:txBody>
                    <a:bodyPr/>
                    <a:p>
                      <a:pPr marL="0" marR="0" lvl="0" indent="0" algn="l"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Project 4</a:t>
                      </a:r>
                      <a:endParaRPr/>
                    </a:p>
                  </a:txBody>
                  <a:tcPr marL="91450" marR="91450" marT="45700" marB="45700">
                    <a:lnL w="12700" algn="ctr">
                      <a:solidFill>
                        <a:schemeClr val="dk1"/>
                      </a:solidFill>
                    </a:lnL>
                    <a:lnR w="28575" algn="ctr">
                      <a:solidFill>
                        <a:schemeClr val="dk1"/>
                      </a:solidFill>
                    </a:lnR>
                    <a:lnT w="28575" algn="ctr">
                      <a:solidFill>
                        <a:schemeClr val="dk1"/>
                      </a:solidFill>
                    </a:lnT>
                    <a:lnB w="12700" algn="ctr">
                      <a:solidFill>
                        <a:schemeClr val="dk1"/>
                      </a:solidFill>
                    </a:lnB>
                  </a:tcPr>
                </a:tc>
              </a:tr>
              <a:tr h="3657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0</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-120,000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rgbClr val="0000FF"/>
                          </a:solidFill>
                          <a:latin typeface="Arial"/>
                          <a:ea typeface="Arial"/>
                          <a:cs typeface="Arial"/>
                        </a:rPr>
                        <a:t>30,000</a:t>
                      </a:r>
                      <a:endParaRPr>
                        <a:solidFill>
                          <a:srgbClr val="0000FF"/>
                        </a:solidFill>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rgbClr val="0000FF"/>
                          </a:solidFill>
                          <a:latin typeface="Arial"/>
                          <a:ea typeface="Arial"/>
                          <a:cs typeface="Arial"/>
                        </a:rPr>
                        <a:t>30,000</a:t>
                      </a:r>
                      <a:endParaRPr>
                        <a:solidFill>
                          <a:srgbClr val="0000FF"/>
                        </a:solidFill>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rgbClr val="0000FF"/>
                          </a:solidFill>
                          <a:latin typeface="Arial"/>
                          <a:ea typeface="Arial"/>
                          <a:cs typeface="Arial"/>
                        </a:rPr>
                        <a:t>30,000</a:t>
                      </a:r>
                      <a:endParaRPr>
                        <a:solidFill>
                          <a:srgbClr val="0000FF"/>
                        </a:solidFill>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4</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200,000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rgbClr val="0000FF"/>
                          </a:solidFill>
                          <a:latin typeface="Arial"/>
                          <a:ea typeface="Arial"/>
                          <a:cs typeface="Arial"/>
                        </a:rPr>
                        <a:t>30,000</a:t>
                      </a:r>
                      <a:endParaRPr>
                        <a:solidFill>
                          <a:srgbClr val="0000FF"/>
                        </a:solidFill>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99925">
                <a:tc>
                  <a:txBody>
                    <a:bodyPr/>
                    <a:p>
                      <a:pPr marL="0" marR="0" lvl="0" indent="0" algn="ct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5</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100,000</a:t>
                      </a:r>
                      <a:endParaRPr b="1"/>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300,000</a:t>
                      </a:r>
                      <a:endParaRPr b="1"/>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30,000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75,000</a:t>
                      </a:r>
                      <a:endParaRPr b="1"/>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l" rtl="0">
                        <a:lnSpc>
                          <a:spcPct val="100000"/>
                        </a:lnSpc>
                        <a:spcBef>
                          <a:spcPts val="0"/>
                        </a:spcBef>
                        <a:spcAft>
                          <a:spcPts val="0"/>
                        </a:spcAft>
                        <a:buClr>
                          <a:schemeClr val="dk1"/>
                        </a:buClr>
                        <a:buSzPts val="1800"/>
                        <a:buFont typeface="Arial"/>
                        <a:buNone/>
                        <a:defRPr/>
                      </a:pPr>
                      <a:r>
                        <a:rPr lang="en-US" sz="1800" b="1" i="0" u="none" strike="noStrike" cap="none">
                          <a:solidFill>
                            <a:schemeClr val="dk1"/>
                          </a:solidFill>
                          <a:latin typeface="Arial"/>
                          <a:ea typeface="Arial"/>
                          <a:cs typeface="Arial"/>
                        </a:rPr>
                        <a:t>Net Profit</a:t>
                      </a:r>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50,000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50,000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75,000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l"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ROI</a:t>
                      </a:r>
                      <a:endParaRPr/>
                    </a:p>
                  </a:txBody>
                  <a:tcPr marL="91450" marR="91450" marT="45700" marB="45700">
                    <a:lnL w="28575"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r" rtl="0">
                        <a:lnSpc>
                          <a:spcPct val="100000"/>
                        </a:lnSpc>
                        <a:spcBef>
                          <a:spcPts val="0"/>
                        </a:spcBef>
                        <a:spcAft>
                          <a:spcPts val="0"/>
                        </a:spcAft>
                        <a:buClr>
                          <a:srgbClr val="C00000"/>
                        </a:buClr>
                        <a:buSzPts val="1800"/>
                        <a:buFont typeface="Arial"/>
                        <a:buNone/>
                        <a:defRPr/>
                      </a:pPr>
                      <a:r>
                        <a:rPr lang="en-US" sz="1800" b="1" i="0" u="none" strike="noStrike" cap="none">
                          <a:solidFill>
                            <a:srgbClr val="FF00FF"/>
                          </a:solidFill>
                          <a:latin typeface="Arial"/>
                          <a:ea typeface="Arial"/>
                          <a:cs typeface="Arial"/>
                        </a:rPr>
                        <a:t>10%</a:t>
                      </a:r>
                      <a:endParaRPr>
                        <a:solidFill>
                          <a:srgbClr val="FF00FF"/>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r"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2%</a:t>
                      </a:r>
                      <a:endParaRPr/>
                    </a:p>
                  </a:txBody>
                  <a:tcPr marL="91450" marR="91450" marT="45700" marB="45700">
                    <a:lnL w="12700"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r" rtl="0">
                        <a:lnSpc>
                          <a:spcPct val="100000"/>
                        </a:lnSpc>
                        <a:spcBef>
                          <a:spcPts val="0"/>
                        </a:spcBef>
                        <a:spcAft>
                          <a:spcPts val="0"/>
                        </a:spcAft>
                        <a:buClr>
                          <a:srgbClr val="C00000"/>
                        </a:buClr>
                        <a:buSzPts val="1800"/>
                        <a:buFont typeface="Arial"/>
                        <a:buNone/>
                        <a:defRPr/>
                      </a:pPr>
                      <a:r>
                        <a:rPr lang="en-US" sz="1800" b="1" i="0" u="none" strike="noStrike" cap="none">
                          <a:solidFill>
                            <a:srgbClr val="FF00FF"/>
                          </a:solidFill>
                          <a:latin typeface="Arial"/>
                          <a:ea typeface="Arial"/>
                          <a:cs typeface="Arial"/>
                        </a:rPr>
                        <a:t>10%</a:t>
                      </a:r>
                      <a:endParaRPr>
                        <a:solidFill>
                          <a:srgbClr val="FF00FF"/>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28575" algn="ctr">
                      <a:solidFill>
                        <a:schemeClr val="dk1"/>
                      </a:solidFill>
                    </a:lnB>
                  </a:tcPr>
                </a:tc>
                <a:tc>
                  <a:txBody>
                    <a:bodyPr/>
                    <a:p>
                      <a:pPr marL="0" marR="0" lvl="0" indent="0" algn="r" rtl="0">
                        <a:lnSpc>
                          <a:spcPct val="100000"/>
                        </a:lnSpc>
                        <a:spcBef>
                          <a:spcPts val="0"/>
                        </a:spcBef>
                        <a:spcAft>
                          <a:spcPts val="0"/>
                        </a:spcAft>
                        <a:buClr>
                          <a:srgbClr val="C00000"/>
                        </a:buClr>
                        <a:buSzPts val="1800"/>
                        <a:buFont typeface="Arial"/>
                        <a:buNone/>
                        <a:defRPr/>
                      </a:pPr>
                      <a:r>
                        <a:rPr lang="en-US" sz="1800" b="1" i="0" u="none" strike="noStrike" cap="none">
                          <a:solidFill>
                            <a:srgbClr val="C00000"/>
                          </a:solidFill>
                          <a:latin typeface="Arial"/>
                          <a:ea typeface="Arial"/>
                          <a:cs typeface="Arial"/>
                        </a:rPr>
                        <a:t>12.5%</a:t>
                      </a:r>
                      <a:endParaRPr/>
                    </a:p>
                  </a:txBody>
                  <a:tcPr marL="91450" marR="91450" marT="45700" marB="45700">
                    <a:lnL w="12700" algn="ctr">
                      <a:solidFill>
                        <a:schemeClr val="dk1"/>
                      </a:solidFill>
                    </a:lnL>
                    <a:lnR w="28575" algn="ctr">
                      <a:solidFill>
                        <a:schemeClr val="dk1"/>
                      </a:solidFill>
                    </a:lnR>
                    <a:lnT w="12700" algn="ctr">
                      <a:solidFill>
                        <a:schemeClr val="dk1"/>
                      </a:solidFill>
                    </a:lnT>
                    <a:lnB w="28575" algn="ctr">
                      <a:solidFill>
                        <a:schemeClr val="dk1"/>
                      </a:solidFill>
                    </a:lnB>
                  </a:tcPr>
                </a:tc>
              </a:tr>
            </a:tbl>
          </a:graphicData>
        </a:graphic>
      </p:graphicFrame>
      <p:sp>
        <p:nvSpPr>
          <p:cNvPr id="612609947" name="Google Shape;543;p32"/>
          <p:cNvSpPr txBox="1"/>
          <p:nvPr/>
        </p:nvSpPr>
        <p:spPr bwMode="auto">
          <a:xfrm>
            <a:off x="2786742" y="4956631"/>
            <a:ext cx="3251200" cy="1837413"/>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l" rtl="0">
              <a:lnSpc>
                <a:spcPct val="90000"/>
              </a:lnSpc>
              <a:spcBef>
                <a:spcPts val="0"/>
              </a:spcBef>
              <a:spcAft>
                <a:spcPts val="0"/>
              </a:spcAft>
              <a:buClr>
                <a:schemeClr val="dk1"/>
              </a:buClr>
              <a:buSzPts val="2800"/>
              <a:buFont typeface="Arial"/>
              <a:buNone/>
              <a:defRPr/>
            </a:pPr>
            <a:r>
              <a:rPr lang="en-US" sz="2800" b="1">
                <a:solidFill>
                  <a:schemeClr val="dk1"/>
                </a:solidFill>
                <a:latin typeface="Calibri"/>
                <a:ea typeface="Calibri"/>
                <a:cs typeface="Calibri"/>
              </a:rPr>
              <a:t>Advantages:</a:t>
            </a:r>
            <a:endParaRPr b="1"/>
          </a:p>
          <a:p>
            <a:pPr marL="261938" marR="0" lvl="1" indent="-174625" algn="l" rtl="0">
              <a:lnSpc>
                <a:spcPct val="90000"/>
              </a:lnSpc>
              <a:spcBef>
                <a:spcPts val="500"/>
              </a:spcBef>
              <a:spcAft>
                <a:spcPts val="0"/>
              </a:spcAft>
              <a:buClr>
                <a:schemeClr val="dk1"/>
              </a:buClr>
              <a:buSzPts val="2400"/>
              <a:buFont typeface="Arial"/>
              <a:buChar char="•"/>
              <a:defRPr/>
            </a:pPr>
            <a:r>
              <a:rPr lang="en-US" sz="2400" b="1" i="0" u="none" strike="noStrike" cap="none">
                <a:solidFill>
                  <a:schemeClr val="dk1"/>
                </a:solidFill>
                <a:latin typeface="Calibri"/>
                <a:ea typeface="Calibri"/>
                <a:cs typeface="Calibri"/>
              </a:rPr>
              <a:t>Simple and easy to calculate </a:t>
            </a:r>
            <a:endParaRPr/>
          </a:p>
          <a:p>
            <a:pPr marL="261938" lvl="1" indent="-174625">
              <a:lnSpc>
                <a:spcPct val="90000"/>
              </a:lnSpc>
              <a:spcBef>
                <a:spcPts val="500"/>
              </a:spcBef>
              <a:buClr>
                <a:schemeClr val="dk1"/>
              </a:buClr>
              <a:buSzPts val="2400"/>
              <a:buFont typeface="Arial"/>
              <a:buChar char="•"/>
              <a:defRPr/>
            </a:pPr>
            <a:r>
              <a:rPr lang="en-US" sz="2400">
                <a:latin typeface="Calibri"/>
                <a:cs typeface="Calibri"/>
              </a:rPr>
              <a:t>Return rate provides a clear </a:t>
            </a:r>
            <a:r>
              <a:rPr lang="en-US" sz="2400" b="1">
                <a:latin typeface="Calibri"/>
                <a:cs typeface="Calibri"/>
              </a:rPr>
              <a:t>indicator</a:t>
            </a:r>
            <a:r>
              <a:rPr lang="en-US" sz="2400">
                <a:latin typeface="Calibri"/>
                <a:cs typeface="Calibri"/>
              </a:rPr>
              <a:t> </a:t>
            </a:r>
            <a:r>
              <a:rPr lang="en-US" sz="2400" b="1">
                <a:latin typeface="Calibri"/>
                <a:cs typeface="Calibri"/>
              </a:rPr>
              <a:t>of the potential returns</a:t>
            </a:r>
            <a:endParaRPr b="1">
              <a:latin typeface="Calibri"/>
              <a:cs typeface="Calibri"/>
            </a:endParaRPr>
          </a:p>
        </p:txBody>
      </p:sp>
      <p:sp>
        <p:nvSpPr>
          <p:cNvPr id="1974771578" name="Google Shape;543;p32"/>
          <p:cNvSpPr txBox="1"/>
          <p:nvPr/>
        </p:nvSpPr>
        <p:spPr bwMode="auto">
          <a:xfrm>
            <a:off x="6251171" y="4858203"/>
            <a:ext cx="5760016" cy="2446337"/>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1000"/>
              </a:spcBef>
              <a:spcAft>
                <a:spcPts val="0"/>
              </a:spcAft>
              <a:buClr>
                <a:schemeClr val="dk1"/>
              </a:buClr>
              <a:buSzPts val="2800"/>
              <a:buFont typeface="Arial"/>
              <a:buNone/>
              <a:defRPr/>
            </a:pPr>
            <a:r>
              <a:rPr lang="en-US" sz="2800" b="1">
                <a:solidFill>
                  <a:schemeClr val="dk1"/>
                </a:solidFill>
                <a:latin typeface="Calibri"/>
                <a:ea typeface="Calibri"/>
                <a:cs typeface="Calibri"/>
              </a:rPr>
              <a:t>Disadvantages:</a:t>
            </a:r>
            <a:endParaRPr b="1"/>
          </a:p>
          <a:p>
            <a:pPr marL="261938" lvl="1" indent="-174625">
              <a:lnSpc>
                <a:spcPct val="90000"/>
              </a:lnSpc>
              <a:spcBef>
                <a:spcPts val="500"/>
              </a:spcBef>
              <a:buClr>
                <a:schemeClr val="dk1"/>
              </a:buClr>
              <a:buSzPts val="2400"/>
              <a:buFont typeface="Arial"/>
              <a:buChar char="•"/>
              <a:defRPr/>
            </a:pPr>
            <a:r>
              <a:rPr lang="en-US" sz="2000"/>
              <a:t>Does not consider the </a:t>
            </a:r>
            <a:r>
              <a:rPr lang="en-US" sz="2000" b="1">
                <a:solidFill>
                  <a:schemeClr val="tx1"/>
                </a:solidFill>
              </a:rPr>
              <a:t>time value of money</a:t>
            </a:r>
            <a:r>
              <a:rPr lang="en-US" sz="2000" b="0" i="0" u="none" strike="noStrike" cap="none">
                <a:solidFill>
                  <a:schemeClr val="tx1"/>
                </a:solidFill>
                <a:latin typeface="Calibri"/>
                <a:ea typeface="Calibri"/>
                <a:cs typeface="Calibri"/>
              </a:rPr>
              <a:t>.</a:t>
            </a:r>
            <a:endParaRPr sz="2000">
              <a:solidFill>
                <a:schemeClr val="tx1"/>
              </a:solidFill>
            </a:endParaRPr>
          </a:p>
          <a:p>
            <a:pPr marL="261938" lvl="1" indent="-174625">
              <a:lnSpc>
                <a:spcPct val="90000"/>
              </a:lnSpc>
              <a:spcBef>
                <a:spcPts val="500"/>
              </a:spcBef>
              <a:buClr>
                <a:schemeClr val="dk1"/>
              </a:buClr>
              <a:buSzPts val="2400"/>
              <a:buFont typeface="Arial"/>
              <a:buChar char="•"/>
              <a:defRPr/>
            </a:pPr>
            <a:r>
              <a:rPr lang="en-US" sz="2000" b="1"/>
              <a:t>High ROI but a long payback period may not be good.</a:t>
            </a:r>
            <a:endParaRPr sz="2000" b="1">
              <a:solidFill>
                <a:schemeClr val="tx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612609947"/>
                                        </p:tgtEl>
                                        <p:attrNameLst>
                                          <p:attrName>style.visibility</p:attrName>
                                        </p:attrNameLst>
                                      </p:cBhvr>
                                      <p:to>
                                        <p:strVal val="visible"/>
                                      </p:to>
                                    </p:set>
                                    <p:animEffect transition="in" filter="wipe(left)">
                                      <p:cBhvr>
                                        <p:cTn id="7" dur="500"/>
                                        <p:tgtEl>
                                          <p:spTgt spid="61260994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974771578"/>
                                        </p:tgtEl>
                                        <p:attrNameLst>
                                          <p:attrName>style.visibility</p:attrName>
                                        </p:attrNameLst>
                                      </p:cBhvr>
                                      <p:to>
                                        <p:strVal val="visible"/>
                                      </p:to>
                                    </p:set>
                                    <p:animEffect transition="in" filter="fade">
                                      <p:cBhvr>
                                        <p:cTn id="12" dur="1000"/>
                                        <p:tgtEl>
                                          <p:spTgt spid="1974771578"/>
                                        </p:tgtEl>
                                      </p:cBhvr>
                                    </p:animEffect>
                                    <p:anim calcmode="lin" valueType="num">
                                      <p:cBhvr>
                                        <p:cTn id="13" dur="1000" fill="hold"/>
                                        <p:tgtEl>
                                          <p:spTgt spid="1974771578"/>
                                        </p:tgtEl>
                                        <p:attrNameLst>
                                          <p:attrName>ppt_x</p:attrName>
                                        </p:attrNameLst>
                                      </p:cBhvr>
                                      <p:tavLst>
                                        <p:tav tm="0">
                                          <p:val>
                                            <p:strVal val="#ppt_x"/>
                                          </p:val>
                                        </p:tav>
                                        <p:tav tm="100000">
                                          <p:val>
                                            <p:strVal val="#ppt_x"/>
                                          </p:val>
                                        </p:tav>
                                      </p:tavLst>
                                    </p:anim>
                                    <p:anim calcmode="lin" valueType="num">
                                      <p:cBhvr>
                                        <p:cTn id="14" dur="1000" fill="hold"/>
                                        <p:tgtEl>
                                          <p:spTgt spid="19747715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2609947" grpId="0"/>
      <p:bldP spid="1974771578" grpId="0"/>
    </p:bld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9006908" name="Google Shape;549;p33"/>
          <p:cNvSpPr txBox="1">
            <a:spLocks noGrp="1"/>
          </p:cNvSpPr>
          <p:nvPr>
            <p:ph type="title"/>
          </p:nvPr>
        </p:nvSpPr>
        <p:spPr bwMode="auto">
          <a:xfrm>
            <a:off x="2743200" y="457200"/>
            <a:ext cx="5791200" cy="533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defRPr/>
            </a:pPr>
            <a:r>
              <a:rPr lang="en-US" b="1"/>
              <a:t>Net Present Value (NPV)</a:t>
            </a:r>
            <a:endParaRPr b="1"/>
          </a:p>
        </p:txBody>
      </p:sp>
      <p:sp>
        <p:nvSpPr>
          <p:cNvPr id="596623809" name="Google Shape;550;p3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36</a:t>
            </a:fld>
            <a:endParaRPr/>
          </a:p>
        </p:txBody>
      </p:sp>
      <p:sp>
        <p:nvSpPr>
          <p:cNvPr id="1296703177" name="Google Shape;551;p33"/>
          <p:cNvSpPr txBox="1"/>
          <p:nvPr/>
        </p:nvSpPr>
        <p:spPr bwMode="auto">
          <a:xfrm>
            <a:off x="2782649" y="964852"/>
            <a:ext cx="4191000"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1.3 Project Appraisal</a:t>
            </a:r>
            <a:endParaRPr/>
          </a:p>
        </p:txBody>
      </p:sp>
      <p:cxnSp>
        <p:nvCxnSpPr>
          <p:cNvPr id="1548727900" name="Google Shape;552;p33"/>
          <p:cNvCxnSpPr/>
          <p:nvPr/>
        </p:nvCxnSpPr>
        <p:spPr bwMode="auto">
          <a:xfrm rot="10800000">
            <a:off x="2895600" y="1371600"/>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1794173537" name="Google Shape;553;p33"/>
          <p:cNvGrpSpPr/>
          <p:nvPr/>
        </p:nvGrpSpPr>
        <p:grpSpPr bwMode="auto">
          <a:xfrm>
            <a:off x="0" y="6980"/>
            <a:ext cx="2209800" cy="6851020"/>
            <a:chOff x="0" y="6980"/>
            <a:chExt cx="2209800" cy="6851020"/>
          </a:xfrm>
        </p:grpSpPr>
        <p:pic>
          <p:nvPicPr>
            <p:cNvPr id="554" name="Google Shape;554;p33"/>
            <p:cNvPicPr/>
            <p:nvPr/>
          </p:nvPicPr>
          <p:blipFill rotWithShape="1">
            <a:blip r:embed="rId3">
              <a:alphaModFix/>
            </a:blip>
            <a:srcRect l="23750" t="0" r="39999" b="0"/>
            <a:stretch/>
          </p:blipFill>
          <p:spPr bwMode="auto">
            <a:xfrm>
              <a:off x="0" y="2800350"/>
              <a:ext cx="2209800" cy="4057650"/>
            </a:xfrm>
            <a:prstGeom prst="rect">
              <a:avLst/>
            </a:prstGeom>
            <a:noFill/>
            <a:ln>
              <a:noFill/>
            </a:ln>
          </p:spPr>
        </p:pic>
        <p:pic>
          <p:nvPicPr>
            <p:cNvPr id="555" name="Google Shape;555;p33"/>
            <p:cNvPicPr/>
            <p:nvPr/>
          </p:nvPicPr>
          <p:blipFill rotWithShape="1">
            <a:blip r:embed="rId4">
              <a:alphaModFix/>
            </a:blip>
            <a:srcRect l="8750" t="0" r="55000" b="0"/>
            <a:stretch/>
          </p:blipFill>
          <p:spPr bwMode="auto">
            <a:xfrm>
              <a:off x="0" y="6980"/>
              <a:ext cx="2209800" cy="3590925"/>
            </a:xfrm>
            <a:prstGeom prst="rect">
              <a:avLst/>
            </a:prstGeom>
            <a:noFill/>
            <a:ln>
              <a:noFill/>
            </a:ln>
          </p:spPr>
        </p:pic>
      </p:grpSp>
      <p:sp>
        <p:nvSpPr>
          <p:cNvPr id="651623143" name="Google Shape;556;p33"/>
          <p:cNvSpPr txBox="1"/>
          <p:nvPr/>
        </p:nvSpPr>
        <p:spPr bwMode="auto">
          <a:xfrm>
            <a:off x="2782649" y="1812924"/>
            <a:ext cx="9448799" cy="5045075"/>
          </a:xfrm>
          <a:prstGeom prst="rect">
            <a:avLst/>
          </a:prstGeom>
          <a:noFill/>
          <a:ln>
            <a:noFill/>
          </a:ln>
        </p:spPr>
        <p:txBody>
          <a:bodyPr spcFirstLastPara="1" wrap="square" lIns="91425" tIns="45700" rIns="91425" bIns="45700" anchor="t" anchorCtr="0">
            <a:normAutofit fontScale="85000" lnSpcReduction="20000"/>
          </a:bodyPr>
          <a:lstStyle/>
          <a:p>
            <a:pPr marL="228600" indent="-228600">
              <a:lnSpc>
                <a:spcPct val="90000"/>
              </a:lnSpc>
              <a:buClr>
                <a:schemeClr val="dk1"/>
              </a:buClr>
              <a:buSzPct val="100000"/>
              <a:buFont typeface="Arial"/>
              <a:buChar char="•"/>
              <a:defRPr/>
            </a:pPr>
            <a:r>
              <a:rPr lang="en-US" sz="3000" b="1">
                <a:solidFill>
                  <a:schemeClr val="dk1"/>
                </a:solidFill>
                <a:latin typeface="Calibri"/>
                <a:ea typeface="Calibri"/>
                <a:cs typeface="Calibri"/>
              </a:rPr>
              <a:t>NPV takes into account the </a:t>
            </a:r>
            <a:r>
              <a:rPr lang="en-US" sz="3000" b="1">
                <a:solidFill>
                  <a:schemeClr val="tx1"/>
                </a:solidFill>
                <a:latin typeface="Calibri"/>
                <a:cs typeface="Calibri"/>
              </a:rPr>
              <a:t>time value of money</a:t>
            </a:r>
            <a:r>
              <a:rPr lang="en-US" sz="3000">
                <a:solidFill>
                  <a:schemeClr val="tx1"/>
                </a:solidFill>
                <a:latin typeface="Calibri"/>
                <a:ea typeface="Calibri"/>
                <a:cs typeface="Calibri"/>
              </a:rPr>
              <a:t>. </a:t>
            </a:r>
            <a:endParaRPr/>
          </a:p>
          <a:p>
            <a:pPr marL="228600" indent="-228600">
              <a:lnSpc>
                <a:spcPct val="90000"/>
              </a:lnSpc>
              <a:buClr>
                <a:schemeClr val="dk1"/>
              </a:buClr>
              <a:buSzPct val="100000"/>
              <a:buFont typeface="Arial"/>
              <a:buChar char="•"/>
              <a:defRPr/>
            </a:pPr>
            <a:endParaRPr lang="en-US" sz="3000">
              <a:solidFill>
                <a:schemeClr val="tx1"/>
              </a:solidFill>
              <a:latin typeface="Calibri"/>
              <a:cs typeface="Calibri"/>
            </a:endParaRPr>
          </a:p>
          <a:p>
            <a:pPr marL="228600" marR="0" lvl="0" indent="-228600" algn="l" rtl="0">
              <a:lnSpc>
                <a:spcPct val="110000"/>
              </a:lnSpc>
              <a:spcBef>
                <a:spcPts val="0"/>
              </a:spcBef>
              <a:spcAft>
                <a:spcPts val="0"/>
              </a:spcAft>
              <a:buClr>
                <a:schemeClr val="dk1"/>
              </a:buClr>
              <a:buSzPct val="100000"/>
              <a:buFont typeface="Arial"/>
              <a:buChar char="•"/>
              <a:defRPr/>
            </a:pPr>
            <a:r>
              <a:rPr lang="en-US" sz="3000" b="1">
                <a:solidFill>
                  <a:schemeClr val="tx1"/>
                </a:solidFill>
                <a:latin typeface="Calibri"/>
                <a:ea typeface="Calibri"/>
                <a:cs typeface="Calibri"/>
              </a:rPr>
              <a:t>Is a financial method used to </a:t>
            </a:r>
            <a:r>
              <a:rPr lang="en-US" sz="3000" b="1" u="sng">
                <a:solidFill>
                  <a:schemeClr val="tx1"/>
                </a:solidFill>
                <a:latin typeface="Calibri"/>
                <a:ea typeface="Calibri"/>
                <a:cs typeface="Calibri"/>
              </a:rPr>
              <a:t>determine the current/present value of all future cash flows </a:t>
            </a:r>
            <a:r>
              <a:rPr lang="en-US" sz="3000" b="1">
                <a:solidFill>
                  <a:schemeClr val="tx1"/>
                </a:solidFill>
                <a:latin typeface="Calibri"/>
                <a:ea typeface="Calibri"/>
                <a:cs typeface="Calibri"/>
              </a:rPr>
              <a:t>generated by a project</a:t>
            </a:r>
            <a:r>
              <a:rPr lang="en-US" sz="3000">
                <a:solidFill>
                  <a:schemeClr val="tx1"/>
                </a:solidFill>
                <a:latin typeface="Calibri"/>
                <a:ea typeface="Calibri"/>
                <a:cs typeface="Calibri"/>
              </a:rPr>
              <a:t> including the initial capital investment.</a:t>
            </a:r>
            <a:endParaRPr/>
          </a:p>
          <a:p>
            <a:pPr marL="228600" marR="0" lvl="0" indent="-228600" algn="l" rtl="0">
              <a:lnSpc>
                <a:spcPct val="90000"/>
              </a:lnSpc>
              <a:spcBef>
                <a:spcPts val="3000"/>
              </a:spcBef>
              <a:spcAft>
                <a:spcPts val="0"/>
              </a:spcAft>
              <a:buClr>
                <a:schemeClr val="dk1"/>
              </a:buClr>
              <a:buSzPct val="100000"/>
              <a:buFont typeface="Arial"/>
              <a:buChar char="•"/>
              <a:defRPr/>
            </a:pPr>
            <a:r>
              <a:rPr lang="en-US" sz="3300">
                <a:solidFill>
                  <a:schemeClr val="tx1">
                    <a:lumMod val="50000"/>
                    <a:lumOff val="50000"/>
                  </a:schemeClr>
                </a:solidFill>
                <a:latin typeface="Calibri"/>
                <a:ea typeface="Calibri"/>
                <a:cs typeface="Calibri"/>
              </a:rPr>
              <a:t>2 views: </a:t>
            </a:r>
            <a:endParaRPr sz="3300">
              <a:solidFill>
                <a:schemeClr val="tx1">
                  <a:lumMod val="50000"/>
                  <a:lumOff val="50000"/>
                </a:schemeClr>
              </a:solidFill>
            </a:endParaRPr>
          </a:p>
          <a:p>
            <a:pPr marL="685800" marR="0" lvl="1" indent="-228600" algn="l" rtl="0">
              <a:lnSpc>
                <a:spcPct val="90000"/>
              </a:lnSpc>
              <a:spcBef>
                <a:spcPts val="500"/>
              </a:spcBef>
              <a:spcAft>
                <a:spcPts val="0"/>
              </a:spcAft>
              <a:buClr>
                <a:schemeClr val="dk1"/>
              </a:buClr>
              <a:buSzPct val="100000"/>
              <a:buFont typeface="Arial"/>
              <a:buChar char="•"/>
              <a:defRPr/>
            </a:pPr>
            <a:r>
              <a:rPr lang="en-US" sz="2600" b="0" i="0" u="none" strike="noStrike" cap="none">
                <a:solidFill>
                  <a:schemeClr val="tx1">
                    <a:lumMod val="50000"/>
                    <a:lumOff val="50000"/>
                  </a:schemeClr>
                </a:solidFill>
                <a:latin typeface="Calibri"/>
                <a:ea typeface="Calibri"/>
                <a:cs typeface="Calibri"/>
              </a:rPr>
              <a:t>Receiving RM100 today is better than having to wait until next year to receive it. </a:t>
            </a:r>
            <a:endParaRPr/>
          </a:p>
          <a:p>
            <a:pPr marL="804863" marR="0" lvl="1" indent="-179388" algn="l" rtl="0">
              <a:lnSpc>
                <a:spcPct val="90000"/>
              </a:lnSpc>
              <a:spcBef>
                <a:spcPts val="500"/>
              </a:spcBef>
              <a:spcAft>
                <a:spcPts val="0"/>
              </a:spcAft>
              <a:buClr>
                <a:schemeClr val="dk1"/>
              </a:buClr>
              <a:buSzPct val="100000"/>
              <a:defRPr/>
            </a:pPr>
            <a:r>
              <a:rPr lang="en-US" sz="2600" b="0" i="0" u="none" strike="noStrike" cap="none">
                <a:solidFill>
                  <a:schemeClr val="tx1">
                    <a:lumMod val="50000"/>
                    <a:lumOff val="50000"/>
                  </a:schemeClr>
                </a:solidFill>
                <a:latin typeface="Calibri"/>
                <a:ea typeface="Calibri"/>
                <a:cs typeface="Calibri"/>
              </a:rPr>
              <a:t>- T</a:t>
            </a:r>
            <a:r>
              <a:rPr lang="en-US" sz="2600">
                <a:solidFill>
                  <a:schemeClr val="tx1">
                    <a:lumMod val="50000"/>
                    <a:lumOff val="50000"/>
                  </a:schemeClr>
                </a:solidFill>
                <a:latin typeface="Calibri"/>
                <a:ea typeface="Calibri"/>
                <a:cs typeface="Calibri"/>
              </a:rPr>
              <a:t>he present value of RM100 in a year’s time is RM91. </a:t>
            </a:r>
            <a:endParaRPr/>
          </a:p>
          <a:p>
            <a:pPr marL="809625" marR="0" lvl="1" indent="-184150" algn="l" rtl="0">
              <a:lnSpc>
                <a:spcPct val="90000"/>
              </a:lnSpc>
              <a:spcBef>
                <a:spcPts val="500"/>
              </a:spcBef>
              <a:spcAft>
                <a:spcPts val="0"/>
              </a:spcAft>
              <a:buClr>
                <a:schemeClr val="dk1"/>
              </a:buClr>
              <a:buSzPct val="100000"/>
              <a:buFontTx/>
              <a:buChar char="-"/>
              <a:defRPr/>
            </a:pPr>
            <a:r>
              <a:rPr lang="en-US" sz="2200">
                <a:solidFill>
                  <a:schemeClr val="tx1">
                    <a:lumMod val="50000"/>
                    <a:lumOff val="50000"/>
                  </a:schemeClr>
                </a:solidFill>
                <a:latin typeface="Calibri"/>
                <a:ea typeface="Calibri"/>
                <a:cs typeface="Calibri"/>
              </a:rPr>
              <a:t>mean Y1 (RM100) = Y0 (RM91),   Y0= Now, Y1=1 year later</a:t>
            </a:r>
            <a:endParaRPr/>
          </a:p>
          <a:p>
            <a:pPr marL="625475" lvl="1">
              <a:lnSpc>
                <a:spcPct val="90000"/>
              </a:lnSpc>
              <a:spcBef>
                <a:spcPts val="500"/>
              </a:spcBef>
              <a:buClr>
                <a:schemeClr val="dk1"/>
              </a:buClr>
              <a:buSzPct val="100000"/>
              <a:defRPr/>
            </a:pPr>
            <a:r>
              <a:rPr lang="en-US" sz="2200">
                <a:solidFill>
                  <a:schemeClr val="tx1">
                    <a:lumMod val="50000"/>
                    <a:lumOff val="50000"/>
                  </a:schemeClr>
                </a:solidFill>
                <a:latin typeface="Calibri"/>
                <a:ea typeface="Calibri"/>
                <a:cs typeface="Calibri"/>
              </a:rPr>
              <a:t>   (assuming Discount rate = 10%)</a:t>
            </a:r>
            <a:endParaRPr/>
          </a:p>
          <a:p>
            <a:pPr marL="968375" marR="0" lvl="1" indent="-342900" algn="l" rtl="0">
              <a:lnSpc>
                <a:spcPct val="90000"/>
              </a:lnSpc>
              <a:spcBef>
                <a:spcPts val="500"/>
              </a:spcBef>
              <a:spcAft>
                <a:spcPts val="0"/>
              </a:spcAft>
              <a:buClr>
                <a:schemeClr val="dk1"/>
              </a:buClr>
              <a:buSzPct val="100000"/>
              <a:buFontTx/>
              <a:buChar char="-"/>
              <a:defRPr/>
            </a:pPr>
            <a:endParaRPr lang="en-US" sz="2200">
              <a:solidFill>
                <a:schemeClr val="tx1">
                  <a:lumMod val="50000"/>
                  <a:lumOff val="50000"/>
                </a:schemeClr>
              </a:solidFill>
              <a:latin typeface="Calibri"/>
              <a:ea typeface="Calibri"/>
              <a:cs typeface="Calibri"/>
            </a:endParaRPr>
          </a:p>
          <a:p>
            <a:pPr marL="685800" marR="0" lvl="1" indent="-228600" algn="l" rtl="0">
              <a:lnSpc>
                <a:spcPct val="90000"/>
              </a:lnSpc>
              <a:spcBef>
                <a:spcPts val="500"/>
              </a:spcBef>
              <a:spcAft>
                <a:spcPts val="0"/>
              </a:spcAft>
              <a:buClr>
                <a:schemeClr val="dk1"/>
              </a:buClr>
              <a:buSzPct val="100000"/>
              <a:buFont typeface="Arial"/>
              <a:buChar char="•"/>
              <a:defRPr/>
            </a:pPr>
            <a:r>
              <a:rPr lang="en-US" sz="2600" b="0" i="0" u="none" strike="noStrike" cap="none">
                <a:solidFill>
                  <a:schemeClr val="tx1">
                    <a:lumMod val="50000"/>
                    <a:lumOff val="50000"/>
                  </a:schemeClr>
                </a:solidFill>
                <a:latin typeface="Calibri"/>
                <a:ea typeface="Calibri"/>
                <a:cs typeface="Calibri"/>
              </a:rPr>
              <a:t>Invest RM100 in a bank today and have RM110 in a year’s time</a:t>
            </a:r>
            <a:endParaRPr/>
          </a:p>
          <a:p>
            <a:pPr marL="723900" lvl="1">
              <a:lnSpc>
                <a:spcPct val="90000"/>
              </a:lnSpc>
              <a:spcBef>
                <a:spcPts val="500"/>
              </a:spcBef>
              <a:buClr>
                <a:schemeClr val="dk1"/>
              </a:buClr>
              <a:buSzPct val="100000"/>
              <a:defRPr/>
            </a:pPr>
            <a:r>
              <a:rPr lang="en-US" sz="2200">
                <a:solidFill>
                  <a:schemeClr val="tx1">
                    <a:lumMod val="50000"/>
                    <a:lumOff val="50000"/>
                  </a:schemeClr>
                </a:solidFill>
                <a:latin typeface="Calibri"/>
                <a:ea typeface="Calibri"/>
                <a:cs typeface="Calibri"/>
              </a:rPr>
              <a:t> (assuming Discount rate = 10%). </a:t>
            </a:r>
            <a:endParaRPr/>
          </a:p>
          <a:p>
            <a:pPr marL="723900" lvl="1">
              <a:lnSpc>
                <a:spcPct val="90000"/>
              </a:lnSpc>
              <a:spcBef>
                <a:spcPts val="500"/>
              </a:spcBef>
              <a:buClr>
                <a:schemeClr val="dk1"/>
              </a:buClr>
              <a:buSzPct val="100000"/>
              <a:defRPr/>
            </a:pPr>
            <a:r>
              <a:rPr lang="en-US" sz="2200">
                <a:solidFill>
                  <a:schemeClr val="tx1">
                    <a:lumMod val="50000"/>
                    <a:lumOff val="50000"/>
                  </a:schemeClr>
                </a:solidFill>
                <a:latin typeface="Calibri"/>
                <a:ea typeface="Calibri"/>
                <a:cs typeface="Calibri"/>
              </a:rPr>
              <a:t>Why RM110?</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269006908"/>
                                        </p:tgtEl>
                                        <p:attrNameLst>
                                          <p:attrName>style.visibility</p:attrName>
                                        </p:attrNameLst>
                                      </p:cBhvr>
                                      <p:to>
                                        <p:strVal val="visible"/>
                                      </p:to>
                                    </p:set>
                                    <p:anim calcmode="lin" valueType="num">
                                      <p:cBhvr additive="base">
                                        <p:cTn id="7" dur="500" fill="hold"/>
                                        <p:tgtEl>
                                          <p:spTgt spid="1269006908"/>
                                        </p:tgtEl>
                                        <p:attrNameLst>
                                          <p:attrName>ppt_x</p:attrName>
                                        </p:attrNameLst>
                                      </p:cBhvr>
                                      <p:tavLst>
                                        <p:tav tm="0">
                                          <p:val>
                                            <p:strVal val="#ppt_x"/>
                                          </p:val>
                                        </p:tav>
                                        <p:tav tm="100000">
                                          <p:val>
                                            <p:strVal val="#ppt_x"/>
                                          </p:val>
                                        </p:tav>
                                      </p:tavLst>
                                    </p:anim>
                                    <p:anim calcmode="lin" valueType="num">
                                      <p:cBhvr additive="base">
                                        <p:cTn id="8" dur="500" fill="hold"/>
                                        <p:tgtEl>
                                          <p:spTgt spid="126900690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651623143">
                                            <p:txEl>
                                              <p:pRg st="0" end="0"/>
                                            </p:txEl>
                                          </p:spTgt>
                                        </p:tgtEl>
                                        <p:attrNameLst>
                                          <p:attrName>style.visibility</p:attrName>
                                        </p:attrNameLst>
                                      </p:cBhvr>
                                      <p:to>
                                        <p:strVal val="visible"/>
                                      </p:to>
                                    </p:set>
                                    <p:animEffect transition="in" filter="fade">
                                      <p:cBhvr>
                                        <p:cTn id="13" dur="2000"/>
                                        <p:tgtEl>
                                          <p:spTgt spid="65162314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51623143">
                                            <p:txEl>
                                              <p:pRg st="2" end="2"/>
                                            </p:txEl>
                                          </p:spTgt>
                                        </p:tgtEl>
                                        <p:attrNameLst>
                                          <p:attrName>style.visibility</p:attrName>
                                        </p:attrNameLst>
                                      </p:cBhvr>
                                      <p:to>
                                        <p:strVal val="visible"/>
                                      </p:to>
                                    </p:set>
                                    <p:animEffect transition="in" filter="fade">
                                      <p:cBhvr>
                                        <p:cTn id="18" dur="2000"/>
                                        <p:tgtEl>
                                          <p:spTgt spid="65162314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51623143">
                                            <p:txEl>
                                              <p:pRg st="3" end="3"/>
                                            </p:txEl>
                                          </p:spTgt>
                                        </p:tgtEl>
                                        <p:attrNameLst>
                                          <p:attrName>style.visibility</p:attrName>
                                        </p:attrNameLst>
                                      </p:cBhvr>
                                      <p:to>
                                        <p:strVal val="visible"/>
                                      </p:to>
                                    </p:set>
                                    <p:animEffect transition="in" filter="wipe(left)">
                                      <p:cBhvr>
                                        <p:cTn id="23" dur="500"/>
                                        <p:tgtEl>
                                          <p:spTgt spid="651623143">
                                            <p:txEl>
                                              <p:pRg st="3" end="3"/>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651623143">
                                            <p:txEl>
                                              <p:pRg st="4" end="4"/>
                                            </p:txEl>
                                          </p:spTgt>
                                        </p:tgtEl>
                                        <p:attrNameLst>
                                          <p:attrName>style.visibility</p:attrName>
                                        </p:attrNameLst>
                                      </p:cBhvr>
                                      <p:to>
                                        <p:strVal val="visible"/>
                                      </p:to>
                                    </p:set>
                                    <p:animEffect transition="in" filter="wipe(left)">
                                      <p:cBhvr>
                                        <p:cTn id="26" dur="500"/>
                                        <p:tgtEl>
                                          <p:spTgt spid="651623143">
                                            <p:txEl>
                                              <p:pRg st="4" end="4"/>
                                            </p:txEl>
                                          </p:spTgt>
                                        </p:tgtEl>
                                      </p:cBhvr>
                                    </p:animEffect>
                                  </p:childTnLst>
                                </p:cTn>
                              </p:par>
                              <p:par>
                                <p:cTn id="27" presetID="22" presetClass="entr" presetSubtype="8" fill="hold" nodeType="withEffect">
                                  <p:stCondLst>
                                    <p:cond delay="0"/>
                                  </p:stCondLst>
                                  <p:childTnLst>
                                    <p:set>
                                      <p:cBhvr>
                                        <p:cTn id="28" dur="1" fill="hold">
                                          <p:stCondLst>
                                            <p:cond delay="0"/>
                                          </p:stCondLst>
                                        </p:cTn>
                                        <p:tgtEl>
                                          <p:spTgt spid="651623143">
                                            <p:txEl>
                                              <p:pRg st="5" end="5"/>
                                            </p:txEl>
                                          </p:spTgt>
                                        </p:tgtEl>
                                        <p:attrNameLst>
                                          <p:attrName>style.visibility</p:attrName>
                                        </p:attrNameLst>
                                      </p:cBhvr>
                                      <p:to>
                                        <p:strVal val="visible"/>
                                      </p:to>
                                    </p:set>
                                    <p:animEffect transition="in" filter="wipe(left)">
                                      <p:cBhvr>
                                        <p:cTn id="29" dur="500"/>
                                        <p:tgtEl>
                                          <p:spTgt spid="651623143">
                                            <p:txEl>
                                              <p:pRg st="5" end="5"/>
                                            </p:txEl>
                                          </p:spTgt>
                                        </p:tgtEl>
                                      </p:cBhvr>
                                    </p:animEffect>
                                  </p:childTnLst>
                                </p:cTn>
                              </p:par>
                              <p:par>
                                <p:cTn id="30" presetID="22" presetClass="entr" presetSubtype="8" fill="hold" nodeType="withEffect">
                                  <p:stCondLst>
                                    <p:cond delay="0"/>
                                  </p:stCondLst>
                                  <p:childTnLst>
                                    <p:set>
                                      <p:cBhvr>
                                        <p:cTn id="31" dur="1" fill="hold">
                                          <p:stCondLst>
                                            <p:cond delay="0"/>
                                          </p:stCondLst>
                                        </p:cTn>
                                        <p:tgtEl>
                                          <p:spTgt spid="651623143">
                                            <p:txEl>
                                              <p:pRg st="6" end="6"/>
                                            </p:txEl>
                                          </p:spTgt>
                                        </p:tgtEl>
                                        <p:attrNameLst>
                                          <p:attrName>style.visibility</p:attrName>
                                        </p:attrNameLst>
                                      </p:cBhvr>
                                      <p:to>
                                        <p:strVal val="visible"/>
                                      </p:to>
                                    </p:set>
                                    <p:animEffect transition="in" filter="wipe(left)">
                                      <p:cBhvr>
                                        <p:cTn id="32" dur="500"/>
                                        <p:tgtEl>
                                          <p:spTgt spid="651623143">
                                            <p:txEl>
                                              <p:pRg st="6" end="6"/>
                                            </p:txEl>
                                          </p:spTgt>
                                        </p:tgtEl>
                                      </p:cBhvr>
                                    </p:animEffect>
                                  </p:childTnLst>
                                </p:cTn>
                              </p:par>
                              <p:par>
                                <p:cTn id="33" presetID="22" presetClass="entr" presetSubtype="8" fill="hold" nodeType="withEffect">
                                  <p:stCondLst>
                                    <p:cond delay="0"/>
                                  </p:stCondLst>
                                  <p:childTnLst>
                                    <p:set>
                                      <p:cBhvr>
                                        <p:cTn id="34" dur="1" fill="hold">
                                          <p:stCondLst>
                                            <p:cond delay="0"/>
                                          </p:stCondLst>
                                        </p:cTn>
                                        <p:tgtEl>
                                          <p:spTgt spid="651623143">
                                            <p:txEl>
                                              <p:pRg st="7" end="7"/>
                                            </p:txEl>
                                          </p:spTgt>
                                        </p:tgtEl>
                                        <p:attrNameLst>
                                          <p:attrName>style.visibility</p:attrName>
                                        </p:attrNameLst>
                                      </p:cBhvr>
                                      <p:to>
                                        <p:strVal val="visible"/>
                                      </p:to>
                                    </p:set>
                                    <p:animEffect transition="in" filter="wipe(left)">
                                      <p:cBhvr>
                                        <p:cTn id="35" dur="500"/>
                                        <p:tgtEl>
                                          <p:spTgt spid="651623143">
                                            <p:txEl>
                                              <p:pRg st="7" end="7"/>
                                            </p:txEl>
                                          </p:spTgt>
                                        </p:tgtEl>
                                      </p:cBhvr>
                                    </p:animEffect>
                                  </p:childTnLst>
                                </p:cTn>
                              </p:par>
                              <p:par>
                                <p:cTn id="36" presetID="22" presetClass="entr" presetSubtype="8" fill="hold" nodeType="withEffect">
                                  <p:stCondLst>
                                    <p:cond delay="0"/>
                                  </p:stCondLst>
                                  <p:childTnLst>
                                    <p:set>
                                      <p:cBhvr>
                                        <p:cTn id="37" dur="1" fill="hold">
                                          <p:stCondLst>
                                            <p:cond delay="0"/>
                                          </p:stCondLst>
                                        </p:cTn>
                                        <p:tgtEl>
                                          <p:spTgt spid="651623143">
                                            <p:txEl>
                                              <p:pRg st="9" end="9"/>
                                            </p:txEl>
                                          </p:spTgt>
                                        </p:tgtEl>
                                        <p:attrNameLst>
                                          <p:attrName>style.visibility</p:attrName>
                                        </p:attrNameLst>
                                      </p:cBhvr>
                                      <p:to>
                                        <p:strVal val="visible"/>
                                      </p:to>
                                    </p:set>
                                    <p:animEffect transition="in" filter="wipe(left)">
                                      <p:cBhvr>
                                        <p:cTn id="38" dur="500"/>
                                        <p:tgtEl>
                                          <p:spTgt spid="651623143">
                                            <p:txEl>
                                              <p:pRg st="9" end="9"/>
                                            </p:txEl>
                                          </p:spTgt>
                                        </p:tgtEl>
                                      </p:cBhvr>
                                    </p:animEffect>
                                  </p:childTnLst>
                                </p:cTn>
                              </p:par>
                              <p:par>
                                <p:cTn id="39" presetID="22" presetClass="entr" presetSubtype="8" fill="hold" nodeType="withEffect">
                                  <p:stCondLst>
                                    <p:cond delay="0"/>
                                  </p:stCondLst>
                                  <p:childTnLst>
                                    <p:set>
                                      <p:cBhvr>
                                        <p:cTn id="40" dur="1" fill="hold">
                                          <p:stCondLst>
                                            <p:cond delay="0"/>
                                          </p:stCondLst>
                                        </p:cTn>
                                        <p:tgtEl>
                                          <p:spTgt spid="651623143">
                                            <p:txEl>
                                              <p:pRg st="10" end="10"/>
                                            </p:txEl>
                                          </p:spTgt>
                                        </p:tgtEl>
                                        <p:attrNameLst>
                                          <p:attrName>style.visibility</p:attrName>
                                        </p:attrNameLst>
                                      </p:cBhvr>
                                      <p:to>
                                        <p:strVal val="visible"/>
                                      </p:to>
                                    </p:set>
                                    <p:animEffect transition="in" filter="wipe(left)">
                                      <p:cBhvr>
                                        <p:cTn id="41" dur="500"/>
                                        <p:tgtEl>
                                          <p:spTgt spid="651623143">
                                            <p:txEl>
                                              <p:pRg st="10" end="10"/>
                                            </p:txEl>
                                          </p:spTgt>
                                        </p:tgtEl>
                                      </p:cBhvr>
                                    </p:animEffect>
                                  </p:childTnLst>
                                </p:cTn>
                              </p:par>
                              <p:par>
                                <p:cTn id="42" presetID="22" presetClass="entr" presetSubtype="8" fill="hold" nodeType="withEffect">
                                  <p:stCondLst>
                                    <p:cond delay="0"/>
                                  </p:stCondLst>
                                  <p:childTnLst>
                                    <p:set>
                                      <p:cBhvr>
                                        <p:cTn id="43" dur="1" fill="hold">
                                          <p:stCondLst>
                                            <p:cond delay="0"/>
                                          </p:stCondLst>
                                        </p:cTn>
                                        <p:tgtEl>
                                          <p:spTgt spid="651623143">
                                            <p:txEl>
                                              <p:pRg st="11" end="11"/>
                                            </p:txEl>
                                          </p:spTgt>
                                        </p:tgtEl>
                                        <p:attrNameLst>
                                          <p:attrName>style.visibility</p:attrName>
                                        </p:attrNameLst>
                                      </p:cBhvr>
                                      <p:to>
                                        <p:strVal val="visible"/>
                                      </p:to>
                                    </p:set>
                                    <p:animEffect transition="in" filter="wipe(left)">
                                      <p:cBhvr>
                                        <p:cTn id="44" dur="500"/>
                                        <p:tgtEl>
                                          <p:spTgt spid="65162314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006908" grpId="0"/>
    </p:bld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38500101" name="Google Shape;562;p34"/>
          <p:cNvSpPr txBox="1">
            <a:spLocks noGrp="1"/>
          </p:cNvSpPr>
          <p:nvPr>
            <p:ph type="title"/>
          </p:nvPr>
        </p:nvSpPr>
        <p:spPr bwMode="auto">
          <a:xfrm>
            <a:off x="2743200" y="457200"/>
            <a:ext cx="5791200" cy="533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defRPr/>
            </a:pPr>
            <a:r>
              <a:rPr lang="en-US" b="1"/>
              <a:t>Net Present Value (NPV)</a:t>
            </a:r>
            <a:endParaRPr b="1"/>
          </a:p>
        </p:txBody>
      </p:sp>
      <p:sp>
        <p:nvSpPr>
          <p:cNvPr id="1859617312" name="Google Shape;563;p3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37</a:t>
            </a:fld>
            <a:endParaRPr/>
          </a:p>
        </p:txBody>
      </p:sp>
      <p:sp>
        <p:nvSpPr>
          <p:cNvPr id="421428221" name="Google Shape;564;p34"/>
          <p:cNvSpPr txBox="1"/>
          <p:nvPr/>
        </p:nvSpPr>
        <p:spPr bwMode="auto">
          <a:xfrm>
            <a:off x="2782649" y="964852"/>
            <a:ext cx="4191000"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1.3 Project Appraisal</a:t>
            </a:r>
            <a:endParaRPr/>
          </a:p>
        </p:txBody>
      </p:sp>
      <p:cxnSp>
        <p:nvCxnSpPr>
          <p:cNvPr id="366949330" name="Google Shape;565;p34"/>
          <p:cNvCxnSpPr/>
          <p:nvPr/>
        </p:nvCxnSpPr>
        <p:spPr bwMode="auto">
          <a:xfrm rot="10800000">
            <a:off x="2895600" y="1371600"/>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239231744" name="Google Shape;566;p34"/>
          <p:cNvGrpSpPr/>
          <p:nvPr/>
        </p:nvGrpSpPr>
        <p:grpSpPr bwMode="auto">
          <a:xfrm>
            <a:off x="0" y="6980"/>
            <a:ext cx="2209800" cy="6851020"/>
            <a:chOff x="0" y="6980"/>
            <a:chExt cx="2209800" cy="6851020"/>
          </a:xfrm>
        </p:grpSpPr>
        <p:pic>
          <p:nvPicPr>
            <p:cNvPr id="567" name="Google Shape;567;p34"/>
            <p:cNvPicPr/>
            <p:nvPr/>
          </p:nvPicPr>
          <p:blipFill rotWithShape="1">
            <a:blip r:embed="rId3">
              <a:alphaModFix/>
            </a:blip>
            <a:srcRect l="23750" t="0" r="39999" b="0"/>
            <a:stretch/>
          </p:blipFill>
          <p:spPr bwMode="auto">
            <a:xfrm>
              <a:off x="0" y="2800350"/>
              <a:ext cx="2209800" cy="4057650"/>
            </a:xfrm>
            <a:prstGeom prst="rect">
              <a:avLst/>
            </a:prstGeom>
            <a:noFill/>
            <a:ln>
              <a:noFill/>
            </a:ln>
          </p:spPr>
        </p:pic>
        <p:pic>
          <p:nvPicPr>
            <p:cNvPr id="568" name="Google Shape;568;p34"/>
            <p:cNvPicPr/>
            <p:nvPr/>
          </p:nvPicPr>
          <p:blipFill rotWithShape="1">
            <a:blip r:embed="rId4">
              <a:alphaModFix/>
            </a:blip>
            <a:srcRect l="8750" t="0" r="55000" b="0"/>
            <a:stretch/>
          </p:blipFill>
          <p:spPr bwMode="auto">
            <a:xfrm>
              <a:off x="0" y="6980"/>
              <a:ext cx="2209800" cy="3590925"/>
            </a:xfrm>
            <a:prstGeom prst="rect">
              <a:avLst/>
            </a:prstGeom>
            <a:noFill/>
            <a:ln>
              <a:noFill/>
            </a:ln>
          </p:spPr>
        </p:pic>
      </p:grpSp>
      <p:sp>
        <p:nvSpPr>
          <p:cNvPr id="1367480720" name="Google Shape;569;p34"/>
          <p:cNvSpPr txBox="1"/>
          <p:nvPr/>
        </p:nvSpPr>
        <p:spPr bwMode="auto">
          <a:xfrm>
            <a:off x="2895600" y="3887732"/>
            <a:ext cx="8077200" cy="996884"/>
          </a:xfrm>
          <a:prstGeom prst="rect">
            <a:avLst/>
          </a:prstGeom>
          <a:noFill/>
          <a:ln>
            <a:noFill/>
          </a:ln>
        </p:spPr>
        <p:txBody>
          <a:bodyPr spcFirstLastPara="1" wrap="square" lIns="91425" tIns="45700" rIns="91425" bIns="45700" anchor="t" anchorCtr="0">
            <a:normAutofit fontScale="92500" lnSpcReduction="10000"/>
          </a:bodyPr>
          <a:lstStyle/>
          <a:p>
            <a:pPr marL="0" marR="0" lvl="0" indent="0" algn="l" rtl="0">
              <a:lnSpc>
                <a:spcPct val="100000"/>
              </a:lnSpc>
              <a:spcBef>
                <a:spcPts val="0"/>
              </a:spcBef>
              <a:spcAft>
                <a:spcPts val="0"/>
              </a:spcAft>
              <a:buClr>
                <a:schemeClr val="dk1"/>
              </a:buClr>
              <a:buSzPct val="100000"/>
              <a:buFont typeface="Arial"/>
              <a:buNone/>
              <a:defRPr/>
            </a:pPr>
            <a:r>
              <a:rPr lang="en-US" sz="2200">
                <a:solidFill>
                  <a:schemeClr val="dk1"/>
                </a:solidFill>
                <a:latin typeface="Calibri"/>
                <a:ea typeface="Calibri"/>
                <a:cs typeface="Calibri"/>
              </a:rPr>
              <a:t>where</a:t>
            </a:r>
            <a:endParaRPr/>
          </a:p>
          <a:p>
            <a:pPr marL="228600" marR="0" lvl="0" indent="-228600" algn="l" rtl="0">
              <a:lnSpc>
                <a:spcPct val="100000"/>
              </a:lnSpc>
              <a:spcBef>
                <a:spcPts val="0"/>
              </a:spcBef>
              <a:spcAft>
                <a:spcPts val="0"/>
              </a:spcAft>
              <a:buClr>
                <a:srgbClr val="C00000"/>
              </a:buClr>
              <a:buSzPct val="100000"/>
              <a:buFont typeface="Arial"/>
              <a:buChar char="•"/>
              <a:defRPr/>
            </a:pPr>
            <a:r>
              <a:rPr lang="en-US" sz="2400" b="1">
                <a:solidFill>
                  <a:srgbClr val="C00000"/>
                </a:solidFill>
                <a:latin typeface="Times New Roman"/>
                <a:ea typeface="Times New Roman"/>
                <a:cs typeface="Times New Roman"/>
              </a:rPr>
              <a:t>r</a:t>
            </a:r>
            <a:r>
              <a:rPr lang="en-US" sz="2200">
                <a:solidFill>
                  <a:schemeClr val="dk1"/>
                </a:solidFill>
                <a:latin typeface="Calibri"/>
                <a:ea typeface="Calibri"/>
                <a:cs typeface="Calibri"/>
              </a:rPr>
              <a:t> is the </a:t>
            </a:r>
            <a:r>
              <a:rPr lang="en-US" sz="2200" b="1">
                <a:solidFill>
                  <a:schemeClr val="dk1"/>
                </a:solidFill>
                <a:latin typeface="Calibri"/>
                <a:ea typeface="Calibri"/>
                <a:cs typeface="Calibri"/>
              </a:rPr>
              <a:t>discount rate </a:t>
            </a:r>
            <a:r>
              <a:rPr lang="en-US" sz="2200">
                <a:solidFill>
                  <a:schemeClr val="dk1"/>
                </a:solidFill>
                <a:latin typeface="Calibri"/>
                <a:ea typeface="Calibri"/>
                <a:cs typeface="Calibri"/>
              </a:rPr>
              <a:t>(expressed as a decimal value)</a:t>
            </a:r>
            <a:endParaRPr/>
          </a:p>
          <a:p>
            <a:pPr marL="228600" marR="0" lvl="0" indent="-228600" algn="l" rtl="0">
              <a:lnSpc>
                <a:spcPct val="100000"/>
              </a:lnSpc>
              <a:spcBef>
                <a:spcPts val="0"/>
              </a:spcBef>
              <a:spcAft>
                <a:spcPts val="0"/>
              </a:spcAft>
              <a:buClr>
                <a:srgbClr val="C00000"/>
              </a:buClr>
              <a:buSzPct val="100000"/>
              <a:buFont typeface="Arial"/>
              <a:buChar char="•"/>
              <a:defRPr/>
            </a:pPr>
            <a:r>
              <a:rPr lang="en-US" sz="2400" b="1">
                <a:solidFill>
                  <a:srgbClr val="C00000"/>
                </a:solidFill>
                <a:latin typeface="Times New Roman"/>
                <a:ea typeface="Times New Roman"/>
                <a:cs typeface="Times New Roman"/>
              </a:rPr>
              <a:t>t</a:t>
            </a:r>
            <a:r>
              <a:rPr lang="en-US" sz="2200">
                <a:solidFill>
                  <a:schemeClr val="dk1"/>
                </a:solidFill>
                <a:latin typeface="Calibri"/>
                <a:ea typeface="Calibri"/>
                <a:cs typeface="Calibri"/>
              </a:rPr>
              <a:t> is the </a:t>
            </a:r>
            <a:r>
              <a:rPr lang="en-US" sz="2200" b="1">
                <a:solidFill>
                  <a:schemeClr val="dk1"/>
                </a:solidFill>
                <a:latin typeface="Calibri"/>
                <a:ea typeface="Calibri"/>
                <a:cs typeface="Calibri"/>
              </a:rPr>
              <a:t>number of years into the future </a:t>
            </a:r>
            <a:r>
              <a:rPr lang="en-US" sz="2200">
                <a:solidFill>
                  <a:schemeClr val="dk1"/>
                </a:solidFill>
                <a:latin typeface="Calibri"/>
                <a:ea typeface="Calibri"/>
                <a:cs typeface="Calibri"/>
              </a:rPr>
              <a:t>that the cash flow occurs</a:t>
            </a:r>
            <a:endParaRPr sz="2200">
              <a:solidFill>
                <a:schemeClr val="dk1"/>
              </a:solidFill>
              <a:latin typeface="Calibri"/>
              <a:ea typeface="Calibri"/>
              <a:cs typeface="Calibri"/>
            </a:endParaRPr>
          </a:p>
        </p:txBody>
      </p:sp>
      <p:grpSp>
        <p:nvGrpSpPr>
          <p:cNvPr id="712890410" name="Google Shape;570;p34"/>
          <p:cNvGrpSpPr/>
          <p:nvPr/>
        </p:nvGrpSpPr>
        <p:grpSpPr bwMode="auto">
          <a:xfrm>
            <a:off x="2895600" y="2859508"/>
            <a:ext cx="8251913" cy="917279"/>
            <a:chOff x="1828800" y="4267029"/>
            <a:chExt cx="8391059" cy="935041"/>
          </a:xfrm>
        </p:grpSpPr>
        <p:sp>
          <p:nvSpPr>
            <p:cNvPr id="571" name="Google Shape;571;p34"/>
            <p:cNvSpPr txBox="1"/>
            <p:nvPr/>
          </p:nvSpPr>
          <p:spPr bwMode="auto">
            <a:xfrm>
              <a:off x="1828800" y="4267029"/>
              <a:ext cx="3254367" cy="83033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C00000"/>
                </a:buClr>
                <a:buSzPts val="2400"/>
                <a:buFont typeface="Times New Roman"/>
                <a:buNone/>
                <a:defRPr/>
              </a:pPr>
              <a:r>
                <a:rPr lang="en-US" sz="2400">
                  <a:solidFill>
                    <a:srgbClr val="C00000"/>
                  </a:solidFill>
                  <a:latin typeface="Times New Roman"/>
                  <a:ea typeface="Times New Roman"/>
                  <a:cs typeface="Times New Roman"/>
                </a:rPr>
                <a:t>Present Value</a:t>
              </a:r>
              <a:endParaRPr/>
            </a:p>
            <a:p>
              <a:pPr lvl="0">
                <a:buClr>
                  <a:srgbClr val="C00000"/>
                </a:buClr>
                <a:buSzPts val="2400"/>
                <a:defRPr/>
              </a:pPr>
              <a:r>
                <a:rPr lang="en-US" sz="2400">
                  <a:solidFill>
                    <a:srgbClr val="C00000"/>
                  </a:solidFill>
                  <a:latin typeface="Calibri"/>
                  <a:ea typeface="Calibri"/>
                  <a:cs typeface="Calibri"/>
                </a:rPr>
                <a:t>of a future cash flow</a:t>
              </a:r>
              <a:r>
                <a:rPr lang="en-US" sz="2400">
                  <a:solidFill>
                    <a:srgbClr val="C00000"/>
                  </a:solidFill>
                  <a:latin typeface="Times New Roman"/>
                  <a:ea typeface="Times New Roman"/>
                  <a:cs typeface="Times New Roman"/>
                </a:rPr>
                <a:t>   </a:t>
              </a:r>
              <a:r>
                <a:rPr lang="en-US" sz="2400" b="1">
                  <a:solidFill>
                    <a:srgbClr val="C00000"/>
                  </a:solidFill>
                  <a:latin typeface="Times New Roman"/>
                  <a:ea typeface="Times New Roman"/>
                  <a:cs typeface="Times New Roman"/>
                </a:rPr>
                <a:t>=</a:t>
              </a:r>
              <a:endParaRPr/>
            </a:p>
          </p:txBody>
        </p:sp>
        <p:sp>
          <p:nvSpPr>
            <p:cNvPr id="572" name="Google Shape;572;p34"/>
            <p:cNvSpPr txBox="1"/>
            <p:nvPr/>
          </p:nvSpPr>
          <p:spPr bwMode="auto">
            <a:xfrm>
              <a:off x="4709068" y="4573462"/>
              <a:ext cx="3670034" cy="46127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C00000"/>
                </a:buClr>
                <a:buSzPts val="2400"/>
                <a:buFont typeface="Times New Roman"/>
                <a:buNone/>
                <a:defRPr/>
              </a:pPr>
              <a:r>
                <a:rPr lang="en-US" sz="2400" b="1">
                  <a:solidFill>
                    <a:srgbClr val="C00000"/>
                  </a:solidFill>
                  <a:latin typeface="Times New Roman"/>
                  <a:ea typeface="Times New Roman"/>
                  <a:cs typeface="Times New Roman"/>
                </a:rPr>
                <a:t>  Cash Flow in Year t   X</a:t>
              </a:r>
              <a:endParaRPr>
                <a:solidFill>
                  <a:srgbClr val="C00000"/>
                </a:solidFill>
              </a:endParaRPr>
            </a:p>
          </p:txBody>
        </p:sp>
        <p:sp>
          <p:nvSpPr>
            <p:cNvPr id="573" name="Google Shape;573;p34"/>
            <p:cNvSpPr txBox="1"/>
            <p:nvPr/>
          </p:nvSpPr>
          <p:spPr bwMode="auto">
            <a:xfrm>
              <a:off x="7171859" y="4781698"/>
              <a:ext cx="3048000" cy="420372"/>
            </a:xfrm>
            <a:prstGeom prst="rect">
              <a:avLst/>
            </a:prstGeom>
            <a:noFill/>
            <a:ln>
              <a:noFill/>
            </a:ln>
          </p:spPr>
          <p:txBody>
            <a:bodyPr spcFirstLastPara="1" wrap="square" lIns="91425" tIns="45700" rIns="91425" bIns="45700" anchor="t" anchorCtr="0">
              <a:spAutoFit/>
            </a:bodyPr>
            <a:lstStyle/>
            <a:p>
              <a:pPr marL="457200" marR="0" lvl="1" indent="0" algn="ctr" rtl="0">
                <a:lnSpc>
                  <a:spcPct val="90000"/>
                </a:lnSpc>
                <a:spcBef>
                  <a:spcPts val="0"/>
                </a:spcBef>
                <a:spcAft>
                  <a:spcPts val="0"/>
                </a:spcAft>
                <a:buClr>
                  <a:srgbClr val="C00000"/>
                </a:buClr>
                <a:buSzPts val="2400"/>
                <a:buFont typeface="Times New Roman"/>
                <a:buNone/>
                <a:defRPr/>
              </a:pPr>
              <a:r>
                <a:rPr lang="en-US" sz="2400" b="1" i="0" u="none" strike="noStrike" cap="none">
                  <a:solidFill>
                    <a:srgbClr val="C00000"/>
                  </a:solidFill>
                  <a:latin typeface="Times New Roman"/>
                  <a:ea typeface="Times New Roman"/>
                  <a:cs typeface="Times New Roman"/>
                </a:rPr>
                <a:t>(1 + r)</a:t>
              </a:r>
              <a:r>
                <a:rPr lang="en-US" sz="2400" b="1" i="0" u="none" strike="noStrike" cap="none" baseline="30000">
                  <a:solidFill>
                    <a:srgbClr val="C00000"/>
                  </a:solidFill>
                  <a:latin typeface="Times New Roman"/>
                  <a:ea typeface="Times New Roman"/>
                  <a:cs typeface="Times New Roman"/>
                </a:rPr>
                <a:t>t</a:t>
              </a:r>
              <a:endParaRPr/>
            </a:p>
          </p:txBody>
        </p:sp>
        <p:cxnSp>
          <p:nvCxnSpPr>
            <p:cNvPr id="574" name="Google Shape;574;p34"/>
            <p:cNvCxnSpPr/>
            <p:nvPr/>
          </p:nvCxnSpPr>
          <p:spPr bwMode="auto">
            <a:xfrm flipV="1">
              <a:off x="8383986" y="4765825"/>
              <a:ext cx="1072747" cy="1"/>
            </a:xfrm>
            <a:prstGeom prst="straightConnector1">
              <a:avLst/>
            </a:prstGeom>
            <a:noFill/>
            <a:ln w="9525" cap="flat" cmpd="sng">
              <a:solidFill>
                <a:srgbClr val="C00000"/>
              </a:solidFill>
              <a:prstDash val="solid"/>
              <a:round/>
              <a:headEnd type="none" w="med" len="med"/>
              <a:tailEnd type="none" w="med" len="med"/>
            </a:ln>
          </p:spPr>
        </p:cxnSp>
      </p:grpSp>
      <p:sp>
        <p:nvSpPr>
          <p:cNvPr id="2055413754" name="Google Shape;465;p27"/>
          <p:cNvSpPr txBox="1"/>
          <p:nvPr/>
        </p:nvSpPr>
        <p:spPr bwMode="auto">
          <a:xfrm>
            <a:off x="2832930" y="1779922"/>
            <a:ext cx="6426988" cy="420687"/>
          </a:xfrm>
          <a:prstGeom prst="rect">
            <a:avLst/>
          </a:prstGeom>
          <a:noFill/>
          <a:ln>
            <a:noFill/>
          </a:ln>
        </p:spPr>
        <p:txBody>
          <a:bodyPr spcFirstLastPara="1" wrap="square" lIns="91425" tIns="45700" rIns="91425" bIns="45700" anchor="t" anchorCtr="0">
            <a:noAutofit/>
          </a:bodyPr>
          <a:lstStyle/>
          <a:p>
            <a:pPr lvl="0">
              <a:lnSpc>
                <a:spcPct val="90000"/>
              </a:lnSpc>
              <a:buClr>
                <a:schemeClr val="dk1"/>
              </a:buClr>
              <a:buSzPts val="2000"/>
              <a:defRPr/>
            </a:pPr>
            <a:r>
              <a:rPr lang="en-US" sz="2800" b="1">
                <a:solidFill>
                  <a:srgbClr val="FF0000"/>
                </a:solidFill>
                <a:latin typeface="Calibri"/>
                <a:ea typeface="Calibri"/>
                <a:cs typeface="Calibri"/>
              </a:rPr>
              <a:t>How to calculate the Present Value of a future cash flow ?</a:t>
            </a:r>
            <a:endParaRPr sz="2800">
              <a:solidFill>
                <a:srgbClr val="FF0000"/>
              </a:solidFill>
            </a:endParaRPr>
          </a:p>
        </p:txBody>
      </p:sp>
      <p:sp>
        <p:nvSpPr>
          <p:cNvPr id="535921378" name="TextBox 3"/>
          <p:cNvSpPr txBox="1"/>
          <p:nvPr/>
        </p:nvSpPr>
        <p:spPr bwMode="auto">
          <a:xfrm>
            <a:off x="9620144" y="2943601"/>
            <a:ext cx="616021" cy="461665"/>
          </a:xfrm>
          <a:prstGeom prst="rect">
            <a:avLst/>
          </a:prstGeom>
          <a:noFill/>
        </p:spPr>
        <p:txBody>
          <a:bodyPr wrap="square" rtlCol="0">
            <a:spAutoFit/>
          </a:bodyPr>
          <a:lstStyle/>
          <a:p>
            <a:pPr>
              <a:defRPr/>
            </a:pPr>
            <a:r>
              <a:rPr lang="en-US" sz="2400">
                <a:solidFill>
                  <a:srgbClr val="C00000"/>
                </a:solidFill>
              </a:rPr>
              <a:t>1</a:t>
            </a:r>
            <a:endParaRPr lang="en-GB" sz="2400">
              <a:solidFill>
                <a:srgbClr val="C00000"/>
              </a:solidFill>
            </a:endParaRPr>
          </a:p>
        </p:txBody>
      </p:sp>
      <p:sp>
        <p:nvSpPr>
          <p:cNvPr id="1282524530" name="Oval 2"/>
          <p:cNvSpPr/>
          <p:nvPr/>
        </p:nvSpPr>
        <p:spPr bwMode="auto">
          <a:xfrm>
            <a:off x="9259918" y="2809927"/>
            <a:ext cx="1259110" cy="1259110"/>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353740219" name="Speech Bubble: Rectangle 4"/>
          <p:cNvSpPr/>
          <p:nvPr/>
        </p:nvSpPr>
        <p:spPr bwMode="auto">
          <a:xfrm>
            <a:off x="9462212" y="1921897"/>
            <a:ext cx="2452914" cy="412386"/>
          </a:xfrm>
          <a:prstGeom prst="wedgeRectCallout">
            <a:avLst>
              <a:gd name="adj1" fmla="val -25489"/>
              <a:gd name="adj2" fmla="val 199085"/>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2000">
                <a:solidFill>
                  <a:schemeClr val="tx1"/>
                </a:solidFill>
              </a:rPr>
              <a:t>discount factor</a:t>
            </a:r>
            <a:endParaRPr lang="en-GB" sz="2000">
              <a:solidFill>
                <a:schemeClr val="tx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055413754">
                                            <p:txEl>
                                              <p:pRg st="0" end="0"/>
                                            </p:txEl>
                                          </p:spTgt>
                                        </p:tgtEl>
                                        <p:attrNameLst>
                                          <p:attrName>style.visibility</p:attrName>
                                        </p:attrNameLst>
                                      </p:cBhvr>
                                      <p:to>
                                        <p:strVal val="visible"/>
                                      </p:to>
                                    </p:set>
                                    <p:anim calcmode="lin" valueType="num">
                                      <p:cBhvr additive="base">
                                        <p:cTn id="7" dur="500" fill="hold"/>
                                        <p:tgtEl>
                                          <p:spTgt spid="205541375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55413754">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282524530"/>
                                        </p:tgtEl>
                                        <p:attrNameLst>
                                          <p:attrName>style.visibility</p:attrName>
                                        </p:attrNameLst>
                                      </p:cBhvr>
                                      <p:to>
                                        <p:strVal val="visible"/>
                                      </p:to>
                                    </p:set>
                                    <p:animEffect transition="in" filter="wipe(left)">
                                      <p:cBhvr>
                                        <p:cTn id="13" dur="500"/>
                                        <p:tgtEl>
                                          <p:spTgt spid="1282524530"/>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353740219"/>
                                        </p:tgtEl>
                                        <p:attrNameLst>
                                          <p:attrName>style.visibility</p:attrName>
                                        </p:attrNameLst>
                                      </p:cBhvr>
                                      <p:to>
                                        <p:strVal val="visible"/>
                                      </p:to>
                                    </p:set>
                                    <p:animEffect transition="in" filter="wipe(up)">
                                      <p:cBhvr>
                                        <p:cTn id="16" dur="500"/>
                                        <p:tgtEl>
                                          <p:spTgt spid="1353740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2524530" grpId="0" animBg="1"/>
      <p:bldP spid="1353740219" grpId="0" animBg="1"/>
    </p:bldLst>
  </p:timing>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51022495" name="Google Shape;596;p36"/>
          <p:cNvSpPr txBox="1">
            <a:spLocks noGrp="1"/>
          </p:cNvSpPr>
          <p:nvPr>
            <p:ph type="title"/>
          </p:nvPr>
        </p:nvSpPr>
        <p:spPr bwMode="auto">
          <a:xfrm>
            <a:off x="2743200" y="457200"/>
            <a:ext cx="5791200" cy="533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defRPr/>
            </a:pPr>
            <a:r>
              <a:rPr lang="en-US" b="1"/>
              <a:t>Net Present Value (NPV)</a:t>
            </a:r>
            <a:endParaRPr b="1"/>
          </a:p>
        </p:txBody>
      </p:sp>
      <p:sp>
        <p:nvSpPr>
          <p:cNvPr id="1776414291" name="Google Shape;597;p3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38</a:t>
            </a:fld>
            <a:endParaRPr/>
          </a:p>
        </p:txBody>
      </p:sp>
      <p:sp>
        <p:nvSpPr>
          <p:cNvPr id="1039142263" name="Google Shape;598;p36"/>
          <p:cNvSpPr txBox="1"/>
          <p:nvPr/>
        </p:nvSpPr>
        <p:spPr bwMode="auto">
          <a:xfrm>
            <a:off x="2782649" y="964852"/>
            <a:ext cx="4191000"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1.3 Project Appraisal</a:t>
            </a:r>
            <a:endParaRPr/>
          </a:p>
        </p:txBody>
      </p:sp>
      <p:cxnSp>
        <p:nvCxnSpPr>
          <p:cNvPr id="420213619" name="Google Shape;599;p36"/>
          <p:cNvCxnSpPr/>
          <p:nvPr/>
        </p:nvCxnSpPr>
        <p:spPr bwMode="auto">
          <a:xfrm rot="10800000">
            <a:off x="2895600" y="1371600"/>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269234080" name="Google Shape;600;p36"/>
          <p:cNvGrpSpPr/>
          <p:nvPr/>
        </p:nvGrpSpPr>
        <p:grpSpPr bwMode="auto">
          <a:xfrm>
            <a:off x="0" y="6980"/>
            <a:ext cx="2209800" cy="6851020"/>
            <a:chOff x="0" y="6980"/>
            <a:chExt cx="2209800" cy="6851020"/>
          </a:xfrm>
        </p:grpSpPr>
        <p:pic>
          <p:nvPicPr>
            <p:cNvPr id="601" name="Google Shape;601;p36"/>
            <p:cNvPicPr/>
            <p:nvPr/>
          </p:nvPicPr>
          <p:blipFill rotWithShape="1">
            <a:blip r:embed="rId3">
              <a:alphaModFix/>
            </a:blip>
            <a:srcRect l="23750" t="0" r="39999" b="0"/>
            <a:stretch/>
          </p:blipFill>
          <p:spPr bwMode="auto">
            <a:xfrm>
              <a:off x="0" y="2800350"/>
              <a:ext cx="2209800" cy="4057650"/>
            </a:xfrm>
            <a:prstGeom prst="rect">
              <a:avLst/>
            </a:prstGeom>
            <a:noFill/>
            <a:ln>
              <a:noFill/>
            </a:ln>
          </p:spPr>
        </p:pic>
        <p:pic>
          <p:nvPicPr>
            <p:cNvPr id="602" name="Google Shape;602;p36"/>
            <p:cNvPicPr/>
            <p:nvPr/>
          </p:nvPicPr>
          <p:blipFill rotWithShape="1">
            <a:blip r:embed="rId4">
              <a:alphaModFix/>
            </a:blip>
            <a:srcRect l="8750" t="0" r="55000" b="0"/>
            <a:stretch/>
          </p:blipFill>
          <p:spPr bwMode="auto">
            <a:xfrm>
              <a:off x="0" y="6980"/>
              <a:ext cx="2209800" cy="3590925"/>
            </a:xfrm>
            <a:prstGeom prst="rect">
              <a:avLst/>
            </a:prstGeom>
            <a:noFill/>
            <a:ln>
              <a:noFill/>
            </a:ln>
          </p:spPr>
        </p:pic>
      </p:grpSp>
      <p:graphicFrame>
        <p:nvGraphicFramePr>
          <p:cNvPr id="557408216" name="Google Shape;603;p36"/>
          <p:cNvGraphicFramePr>
            <a:graphicFrameLocks xmlns:a="http://schemas.openxmlformats.org/drawingml/2006/main"/>
          </p:cNvGraphicFramePr>
          <p:nvPr/>
        </p:nvGraphicFramePr>
        <p:xfrm rot="0">
          <a:off x="2895600" y="2589411"/>
          <a:ext cx="7238975" cy="3514335"/>
        </p:xfrm>
        <a:graphic>
          <a:graphicData uri="http://schemas.openxmlformats.org/drawingml/2006/table">
            <a:tbl>
              <a:tblPr firstRow="0" firstCol="0" lastRow="0" lastCol="0" bandRow="0" bandCol="0">
                <a:tableStyleId>{4C38C2D8-9331-4F24-B9CF-3786705C414E}</a:tableStyleId>
                <a:noFill/>
              </a:tblPr>
              <a:tblGrid>
                <a:gridCol w="1465025"/>
                <a:gridCol w="1982099"/>
                <a:gridCol w="1982099"/>
                <a:gridCol w="1809750"/>
              </a:tblGrid>
              <a:tr h="640050">
                <a:tc>
                  <a:txBody>
                    <a:bodyPr/>
                    <a:p>
                      <a:pPr marL="0" marR="0" lvl="0" indent="0" algn="l" rtl="0">
                        <a:lnSpc>
                          <a:spcPct val="100000"/>
                        </a:lnSpc>
                        <a:spcBef>
                          <a:spcPts val="0"/>
                        </a:spcBef>
                        <a:spcAft>
                          <a:spcPts val="0"/>
                        </a:spcAft>
                        <a:buClr>
                          <a:schemeClr val="dk1"/>
                        </a:buClr>
                        <a:buSzPts val="1800"/>
                        <a:buFont typeface="Times New Roman"/>
                        <a:buNone/>
                        <a:defRPr/>
                      </a:pPr>
                      <a:r>
                        <a:rPr lang="en-US" sz="1800" b="1" i="0" u="none" strike="noStrike" cap="none">
                          <a:solidFill>
                            <a:schemeClr val="dk1"/>
                          </a:solidFill>
                          <a:highlight>
                            <a:srgbClr val="FFFF00"/>
                          </a:highlight>
                          <a:latin typeface="Times New Roman"/>
                          <a:ea typeface="Times New Roman"/>
                          <a:cs typeface="Times New Roman"/>
                        </a:rPr>
                        <a:t>Year</a:t>
                      </a:r>
                      <a:endParaRPr sz="1800" b="1" i="0" u="none" strike="noStrike" cap="none">
                        <a:solidFill>
                          <a:schemeClr val="dk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25400" algn="ctr">
                      <a:solidFill>
                        <a:schemeClr val="dk1"/>
                      </a:solidFill>
                    </a:lnB>
                    <a:solidFill>
                      <a:srgbClr val="FEFEEF"/>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tx1"/>
                          </a:solidFill>
                          <a:highlight>
                            <a:srgbClr val="FFFF00"/>
                          </a:highlight>
                          <a:latin typeface="Times New Roman"/>
                          <a:ea typeface="Times New Roman"/>
                          <a:cs typeface="Times New Roman"/>
                        </a:rPr>
                        <a:t>Project</a:t>
                      </a:r>
                      <a:r>
                        <a:rPr lang="en-US" sz="1800" b="0" i="0" u="none" strike="noStrike" cap="none">
                          <a:solidFill>
                            <a:srgbClr val="FF0000"/>
                          </a:solidFill>
                          <a:highlight>
                            <a:srgbClr val="FFFF00"/>
                          </a:highlight>
                          <a:latin typeface="Times New Roman"/>
                          <a:ea typeface="Times New Roman"/>
                          <a:cs typeface="Times New Roman"/>
                        </a:rPr>
                        <a:t> </a:t>
                      </a:r>
                      <a:r>
                        <a:rPr lang="en-US" sz="1800" b="0" i="0" u="none" strike="noStrike" cap="none">
                          <a:solidFill>
                            <a:schemeClr val="tx1"/>
                          </a:solidFill>
                          <a:highlight>
                            <a:srgbClr val="FFFF00"/>
                          </a:highlight>
                          <a:latin typeface="Times New Roman"/>
                          <a:ea typeface="Times New Roman"/>
                          <a:cs typeface="Times New Roman"/>
                        </a:rPr>
                        <a:t>1</a:t>
                      </a:r>
                      <a:r>
                        <a:rPr lang="en-US" sz="1800" b="1" i="0" u="none" strike="noStrike" cap="none">
                          <a:solidFill>
                            <a:srgbClr val="FF0000"/>
                          </a:solidFill>
                          <a:highlight>
                            <a:srgbClr val="FFFF00"/>
                          </a:highlight>
                          <a:latin typeface="Times New Roman"/>
                          <a:ea typeface="Times New Roman"/>
                          <a:cs typeface="Times New Roman"/>
                        </a:rPr>
                        <a:t> </a:t>
                      </a:r>
                      <a:r>
                        <a:rPr lang="en-US" sz="1800" b="1" i="0" u="none" strike="noStrike" cap="none">
                          <a:solidFill>
                            <a:schemeClr val="dk1"/>
                          </a:solidFill>
                          <a:highlight>
                            <a:srgbClr val="FFFF00"/>
                          </a:highlight>
                          <a:latin typeface="Times New Roman"/>
                          <a:ea typeface="Times New Roman"/>
                          <a:cs typeface="Times New Roman"/>
                        </a:rPr>
                        <a:t>Cash Flow </a:t>
                      </a:r>
                      <a:r>
                        <a:rPr lang="en-US" sz="1800" b="0" i="0" u="none" strike="noStrike" cap="none">
                          <a:solidFill>
                            <a:schemeClr val="dk1"/>
                          </a:solidFill>
                          <a:highlight>
                            <a:srgbClr val="FFFF00"/>
                          </a:highlight>
                          <a:latin typeface="Times New Roman"/>
                          <a:ea typeface="Times New Roman"/>
                          <a:cs typeface="Times New Roman"/>
                        </a:rPr>
                        <a:t>(RM)</a:t>
                      </a:r>
                      <a:endParaRPr sz="1800" b="0" i="0" u="none" strike="noStrike" cap="none">
                        <a:solidFill>
                          <a:schemeClr val="dk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25400" algn="ctr">
                      <a:solidFill>
                        <a:schemeClr val="dk1"/>
                      </a:solidFill>
                    </a:lnB>
                    <a:solidFill>
                      <a:srgbClr val="FEFEEF"/>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1" i="0" u="none" strike="noStrike" cap="none">
                          <a:solidFill>
                            <a:srgbClr val="FF0000"/>
                          </a:solidFill>
                          <a:latin typeface="Times New Roman"/>
                          <a:ea typeface="Times New Roman"/>
                          <a:cs typeface="Times New Roman"/>
                        </a:rPr>
                        <a:t>Discount</a:t>
                      </a:r>
                      <a:endParaRPr/>
                    </a:p>
                    <a:p>
                      <a:pPr marL="0" marR="0" lvl="0" indent="0" algn="r" rtl="0">
                        <a:lnSpc>
                          <a:spcPct val="100000"/>
                        </a:lnSpc>
                        <a:spcBef>
                          <a:spcPts val="0"/>
                        </a:spcBef>
                        <a:spcAft>
                          <a:spcPts val="0"/>
                        </a:spcAft>
                        <a:buClr>
                          <a:schemeClr val="dk1"/>
                        </a:buClr>
                        <a:buSzPts val="1800"/>
                        <a:buFont typeface="Times New Roman"/>
                        <a:buNone/>
                        <a:defRPr/>
                      </a:pPr>
                      <a:r>
                        <a:rPr lang="en-US" sz="1800" b="1" i="0" u="none" strike="noStrike" cap="none">
                          <a:solidFill>
                            <a:srgbClr val="FF0000"/>
                          </a:solidFill>
                          <a:latin typeface="Times New Roman"/>
                          <a:ea typeface="Times New Roman"/>
                          <a:cs typeface="Times New Roman"/>
                        </a:rPr>
                        <a:t> Factor </a:t>
                      </a:r>
                      <a:endParaRPr>
                        <a:solidFill>
                          <a:srgbClr val="FF0000"/>
                        </a:solidFill>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25400" algn="ctr">
                      <a:solidFill>
                        <a:schemeClr val="dk1"/>
                      </a:solidFill>
                    </a:lnB>
                    <a:solidFill>
                      <a:srgbClr val="FEFEEF"/>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1" i="0" u="none" strike="noStrike" cap="none">
                          <a:solidFill>
                            <a:srgbClr val="FF0000"/>
                          </a:solidFill>
                          <a:latin typeface="Times New Roman"/>
                          <a:ea typeface="Times New Roman"/>
                          <a:cs typeface="Times New Roman"/>
                        </a:rPr>
                        <a:t>Discounted cash flow or Present </a:t>
                      </a:r>
                      <a:endParaRPr/>
                    </a:p>
                    <a:p>
                      <a:pPr marL="0" marR="0" lvl="0" indent="0" algn="r" rtl="0">
                        <a:lnSpc>
                          <a:spcPct val="100000"/>
                        </a:lnSpc>
                        <a:spcBef>
                          <a:spcPts val="0"/>
                        </a:spcBef>
                        <a:spcAft>
                          <a:spcPts val="0"/>
                        </a:spcAft>
                        <a:buClr>
                          <a:schemeClr val="dk1"/>
                        </a:buClr>
                        <a:buSzPts val="1800"/>
                        <a:buFont typeface="Times New Roman"/>
                        <a:buNone/>
                        <a:defRPr/>
                      </a:pPr>
                      <a:r>
                        <a:rPr lang="en-US" sz="1800" b="1" i="0" u="none" strike="noStrike" cap="none">
                          <a:solidFill>
                            <a:srgbClr val="FF0000"/>
                          </a:solidFill>
                          <a:latin typeface="Times New Roman"/>
                          <a:ea typeface="Times New Roman"/>
                          <a:cs typeface="Times New Roman"/>
                        </a:rPr>
                        <a:t>Value</a:t>
                      </a:r>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25400" algn="ctr">
                      <a:solidFill>
                        <a:schemeClr val="dk1"/>
                      </a:solidFill>
                    </a:lnB>
                    <a:solidFill>
                      <a:srgbClr val="FEFEEF"/>
                    </a:solidFill>
                  </a:tcPr>
                </a:tc>
              </a:tr>
              <a:tr h="371425">
                <a:tc>
                  <a:txBody>
                    <a:bodyPr/>
                    <a:p>
                      <a:pPr marL="0" marR="0" lvl="0" indent="0" algn="l"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0 </a:t>
                      </a:r>
                      <a:r>
                        <a:rPr lang="en-US" sz="1800" b="1" i="0" u="none" strike="noStrike" cap="none">
                          <a:solidFill>
                            <a:schemeClr val="dk1"/>
                          </a:solidFill>
                          <a:highlight>
                            <a:srgbClr val="FFFF00"/>
                          </a:highlight>
                          <a:latin typeface="Times New Roman"/>
                          <a:ea typeface="Times New Roman"/>
                          <a:cs typeface="Times New Roman"/>
                        </a:rPr>
                        <a:t>(NOW)</a:t>
                      </a:r>
                      <a:endParaRPr sz="1800" b="1" i="0" u="none" strike="noStrike" cap="none">
                        <a:solidFill>
                          <a:schemeClr val="dk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tx1"/>
                          </a:solidFill>
                          <a:highlight>
                            <a:srgbClr val="FFFF00"/>
                          </a:highlight>
                          <a:latin typeface="Times New Roman"/>
                          <a:ea typeface="Times New Roman"/>
                          <a:cs typeface="Times New Roman"/>
                        </a:rPr>
                        <a:t>-100,000</a:t>
                      </a:r>
                      <a:endParaRPr sz="1800" b="0" i="0" u="none" strike="noStrike" cap="none">
                        <a:solidFill>
                          <a:schemeClr val="tx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1.0000</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-100,000</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9525" algn="ctr">
                      <a:solidFill>
                        <a:srgbClr val="000000">
                          <a:alpha val="0"/>
                        </a:srgbClr>
                      </a:solidFill>
                    </a:lnB>
                    <a:solidFill>
                      <a:srgbClr val="E7E7E7"/>
                    </a:solidFill>
                  </a:tcPr>
                </a:tc>
              </a:tr>
              <a:tr h="371425">
                <a:tc>
                  <a:txBody>
                    <a:bodyPr/>
                    <a:p>
                      <a:pPr marL="0" marR="0" lvl="0" indent="0" algn="l"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0000FF"/>
                          </a:solidFill>
                          <a:highlight>
                            <a:srgbClr val="FFFF00"/>
                          </a:highlight>
                          <a:latin typeface="Times New Roman"/>
                          <a:ea typeface="Times New Roman"/>
                          <a:cs typeface="Times New Roman"/>
                        </a:rPr>
                        <a:t>1</a:t>
                      </a:r>
                      <a:endParaRPr sz="1800" b="0" i="0" u="none" strike="noStrike" cap="none">
                        <a:solidFill>
                          <a:srgbClr val="0000FF"/>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tx1"/>
                          </a:solidFill>
                          <a:highlight>
                            <a:srgbClr val="FFFF00"/>
                          </a:highlight>
                          <a:latin typeface="Times New Roman"/>
                          <a:ea typeface="Times New Roman"/>
                          <a:cs typeface="Times New Roman"/>
                        </a:rPr>
                        <a:t>10,000</a:t>
                      </a:r>
                      <a:endParaRPr sz="1800" b="0" i="0" u="none" strike="noStrike" cap="none">
                        <a:solidFill>
                          <a:schemeClr val="tx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0.9091</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9,091</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r>
              <a:tr h="371425">
                <a:tc>
                  <a:txBody>
                    <a:bodyPr/>
                    <a:p>
                      <a:pPr marL="0" marR="0" lvl="0" indent="0" algn="l"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0000FF"/>
                          </a:solidFill>
                          <a:highlight>
                            <a:srgbClr val="FFFF00"/>
                          </a:highlight>
                          <a:latin typeface="Times New Roman"/>
                          <a:ea typeface="Times New Roman"/>
                          <a:cs typeface="Times New Roman"/>
                        </a:rPr>
                        <a:t>2</a:t>
                      </a:r>
                      <a:endParaRPr sz="1800" b="0" i="0" u="none" strike="noStrike" cap="none">
                        <a:solidFill>
                          <a:srgbClr val="0000FF"/>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tx1"/>
                          </a:solidFill>
                          <a:highlight>
                            <a:srgbClr val="FFFF00"/>
                          </a:highlight>
                          <a:latin typeface="Times New Roman"/>
                          <a:ea typeface="Times New Roman"/>
                          <a:cs typeface="Times New Roman"/>
                        </a:rPr>
                        <a:t>10,000</a:t>
                      </a:r>
                      <a:endParaRPr sz="1800" b="0" i="0" u="none" strike="noStrike" cap="none">
                        <a:solidFill>
                          <a:schemeClr val="tx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0.8264</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8,264</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r>
              <a:tr h="371425">
                <a:tc>
                  <a:txBody>
                    <a:bodyPr/>
                    <a:p>
                      <a:pPr marL="0" marR="0" lvl="0" indent="0" algn="l"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0000FF"/>
                          </a:solidFill>
                          <a:highlight>
                            <a:srgbClr val="FFFF00"/>
                          </a:highlight>
                          <a:latin typeface="Times New Roman"/>
                          <a:ea typeface="Times New Roman"/>
                          <a:cs typeface="Times New Roman"/>
                        </a:rPr>
                        <a:t>3</a:t>
                      </a:r>
                      <a:endParaRPr sz="1800" b="0" i="0" u="none" strike="noStrike" cap="none">
                        <a:solidFill>
                          <a:srgbClr val="0000FF"/>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tx1"/>
                          </a:solidFill>
                          <a:highlight>
                            <a:srgbClr val="FFFF00"/>
                          </a:highlight>
                          <a:latin typeface="Times New Roman"/>
                          <a:ea typeface="Times New Roman"/>
                          <a:cs typeface="Times New Roman"/>
                        </a:rPr>
                        <a:t>10,000</a:t>
                      </a:r>
                      <a:endParaRPr sz="1800" b="0" i="0" u="none" strike="noStrike" cap="none">
                        <a:solidFill>
                          <a:schemeClr val="tx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0.7513</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7,513</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r>
              <a:tr h="371425">
                <a:tc>
                  <a:txBody>
                    <a:bodyPr/>
                    <a:p>
                      <a:pPr marL="0" marR="0" lvl="0" indent="0" algn="l"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0000FF"/>
                          </a:solidFill>
                          <a:highlight>
                            <a:srgbClr val="FFFF00"/>
                          </a:highlight>
                          <a:latin typeface="Times New Roman"/>
                          <a:ea typeface="Times New Roman"/>
                          <a:cs typeface="Times New Roman"/>
                        </a:rPr>
                        <a:t>4</a:t>
                      </a:r>
                      <a:endParaRPr sz="1800" b="0" i="0" u="none" strike="noStrike" cap="none">
                        <a:solidFill>
                          <a:srgbClr val="0000FF"/>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tx1"/>
                          </a:solidFill>
                          <a:highlight>
                            <a:srgbClr val="FFFF00"/>
                          </a:highlight>
                          <a:latin typeface="Times New Roman"/>
                          <a:ea typeface="Times New Roman"/>
                          <a:cs typeface="Times New Roman"/>
                        </a:rPr>
                        <a:t>20,000</a:t>
                      </a:r>
                      <a:endParaRPr sz="1800" b="0" i="0" u="none" strike="noStrike" cap="none">
                        <a:solidFill>
                          <a:schemeClr val="tx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0.6830</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13,660</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r>
              <a:tr h="371425">
                <a:tc>
                  <a:txBody>
                    <a:bodyPr/>
                    <a:p>
                      <a:pPr marL="0" marR="0" lvl="0" indent="0" algn="l"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0000FF"/>
                          </a:solidFill>
                          <a:highlight>
                            <a:srgbClr val="FFFF00"/>
                          </a:highlight>
                          <a:latin typeface="Times New Roman"/>
                          <a:ea typeface="Times New Roman"/>
                          <a:cs typeface="Times New Roman"/>
                        </a:rPr>
                        <a:t>5</a:t>
                      </a:r>
                      <a:endParaRPr sz="1800" b="0" i="0" u="none" strike="noStrike" cap="none">
                        <a:solidFill>
                          <a:srgbClr val="0000FF"/>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tx1"/>
                          </a:solidFill>
                          <a:highlight>
                            <a:srgbClr val="FFFF00"/>
                          </a:highlight>
                          <a:latin typeface="Times New Roman"/>
                          <a:ea typeface="Times New Roman"/>
                          <a:cs typeface="Times New Roman"/>
                        </a:rPr>
                        <a:t>100,000</a:t>
                      </a:r>
                      <a:endParaRPr sz="1800" b="0" i="0" u="none" strike="noStrike" cap="none">
                        <a:solidFill>
                          <a:schemeClr val="tx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0.6209</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62,090</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r>
              <a:tr h="371425">
                <a:tc>
                  <a:txBody>
                    <a:bodyPr/>
                    <a:p>
                      <a:pPr marL="0" marR="0" lvl="0" indent="0" algn="l" rtl="0">
                        <a:lnSpc>
                          <a:spcPct val="100000"/>
                        </a:lnSpc>
                        <a:spcBef>
                          <a:spcPts val="0"/>
                        </a:spcBef>
                        <a:spcAft>
                          <a:spcPts val="0"/>
                        </a:spcAft>
                        <a:buClr>
                          <a:schemeClr val="dk1"/>
                        </a:buClr>
                        <a:buSzPts val="1800"/>
                        <a:buFont typeface="Times New Roman"/>
                        <a:buNone/>
                        <a:defRPr/>
                      </a:pPr>
                      <a:endParaRPr sz="1800" b="0" i="0" u="none" strike="noStrike" cap="none">
                        <a:solidFill>
                          <a:schemeClr val="dk1"/>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25400" algn="ctr">
                      <a:solidFill>
                        <a:schemeClr val="dk1"/>
                      </a:solidFill>
                    </a:lnB>
                    <a:solidFill>
                      <a:srgbClr val="E7E7E7"/>
                    </a:solidFill>
                  </a:tcPr>
                </a:tc>
                <a:tc>
                  <a:txBody>
                    <a:bodyPr/>
                    <a:p>
                      <a:pPr marL="0" marR="0" lvl="0" indent="0" algn="l"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latin typeface="Times New Roman"/>
                          <a:ea typeface="Times New Roman"/>
                          <a:cs typeface="Times New Roman"/>
                        </a:rPr>
                        <a:t>              </a:t>
                      </a:r>
                      <a:endParaRPr sz="1800" b="0" i="0" u="none" strike="noStrike" cap="none">
                        <a:solidFill>
                          <a:schemeClr val="dk1"/>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25400" algn="ctr">
                      <a:solidFill>
                        <a:schemeClr val="dk1"/>
                      </a:solidFill>
                    </a:lnB>
                    <a:solidFill>
                      <a:srgbClr val="E7E7E7"/>
                    </a:solidFill>
                  </a:tcPr>
                </a:tc>
                <a:tc>
                  <a:txBody>
                    <a:bodyPr/>
                    <a:p>
                      <a:pPr marL="0" marR="0" lvl="0" indent="0" algn="l" rtl="0">
                        <a:lnSpc>
                          <a:spcPct val="100000"/>
                        </a:lnSpc>
                        <a:spcBef>
                          <a:spcPts val="0"/>
                        </a:spcBef>
                        <a:spcAft>
                          <a:spcPts val="0"/>
                        </a:spcAft>
                        <a:buClr>
                          <a:schemeClr val="dk1"/>
                        </a:buClr>
                        <a:buSzPts val="1800"/>
                        <a:buFont typeface="Calibri"/>
                        <a:buNone/>
                        <a:defRPr/>
                      </a:pPr>
                      <a:endParaRPr sz="1800" b="1" i="0" u="none" strike="noStrike" cap="none">
                        <a:solidFill>
                          <a:srgbClr val="C0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25400" algn="ctr">
                      <a:solidFill>
                        <a:schemeClr val="dk1"/>
                      </a:solidFill>
                    </a:lnB>
                    <a:solidFill>
                      <a:srgbClr val="E7E7E7"/>
                    </a:solidFill>
                  </a:tcPr>
                </a:tc>
                <a:tc>
                  <a:txBody>
                    <a:bodyPr/>
                    <a:p>
                      <a:pPr marL="0" marR="0" lvl="0" indent="0" algn="r" rtl="0">
                        <a:lnSpc>
                          <a:spcPct val="100000"/>
                        </a:lnSpc>
                        <a:spcBef>
                          <a:spcPts val="0"/>
                        </a:spcBef>
                        <a:spcAft>
                          <a:spcPts val="0"/>
                        </a:spcAft>
                        <a:buClr>
                          <a:srgbClr val="C00000"/>
                        </a:buClr>
                        <a:buSzPts val="1800"/>
                        <a:buFont typeface="Times New Roman"/>
                        <a:buNone/>
                        <a:defRPr/>
                      </a:pPr>
                      <a:endParaRPr sz="1800" b="1" i="0" u="none" strike="noStrike" cap="none">
                        <a:solidFill>
                          <a:srgbClr val="C0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25400" algn="ctr">
                      <a:solidFill>
                        <a:schemeClr val="dk1"/>
                      </a:solidFill>
                    </a:lnB>
                    <a:solidFill>
                      <a:srgbClr val="E7E7E7"/>
                    </a:solidFill>
                  </a:tcPr>
                </a:tc>
              </a:tr>
            </a:tbl>
          </a:graphicData>
        </a:graphic>
      </p:graphicFrame>
      <p:sp>
        <p:nvSpPr>
          <p:cNvPr id="2007780819" name="Google Shape;589;p35"/>
          <p:cNvSpPr txBox="1"/>
          <p:nvPr/>
        </p:nvSpPr>
        <p:spPr bwMode="auto">
          <a:xfrm>
            <a:off x="2782649" y="1571623"/>
            <a:ext cx="6593826"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imes New Roman"/>
              <a:buNone/>
              <a:defRPr/>
            </a:pPr>
            <a:r>
              <a:rPr lang="en-US" sz="2400" b="1" u="sng">
                <a:solidFill>
                  <a:srgbClr val="FF0000"/>
                </a:solidFill>
                <a:latin typeface="Times New Roman"/>
                <a:ea typeface="Times New Roman"/>
                <a:cs typeface="Times New Roman"/>
              </a:rPr>
              <a:t>Example:</a:t>
            </a:r>
            <a:r>
              <a:rPr lang="en-US" sz="2400" b="1">
                <a:solidFill>
                  <a:srgbClr val="FF0000"/>
                </a:solidFill>
                <a:latin typeface="Times New Roman"/>
                <a:ea typeface="Times New Roman"/>
                <a:cs typeface="Times New Roman"/>
              </a:rPr>
              <a:t> </a:t>
            </a:r>
            <a:r>
              <a:rPr lang="en-US" sz="2400" b="1">
                <a:solidFill>
                  <a:schemeClr val="dk1"/>
                </a:solidFill>
                <a:latin typeface="Times New Roman"/>
                <a:ea typeface="Times New Roman"/>
                <a:cs typeface="Times New Roman"/>
              </a:rPr>
              <a:t>Calculate the NPV for project 1</a:t>
            </a:r>
            <a:endParaRPr/>
          </a:p>
          <a:p>
            <a:pPr marL="0" marR="0" lvl="0" indent="0" algn="l" rtl="0">
              <a:spcBef>
                <a:spcPts val="0"/>
              </a:spcBef>
              <a:spcAft>
                <a:spcPts val="0"/>
              </a:spcAft>
              <a:buClr>
                <a:schemeClr val="dk1"/>
              </a:buClr>
              <a:buSzPts val="2000"/>
              <a:buFont typeface="Times New Roman"/>
              <a:buNone/>
              <a:defRPr/>
            </a:pPr>
            <a:r>
              <a:rPr lang="en-US" sz="2400" b="1">
                <a:solidFill>
                  <a:schemeClr val="dk1"/>
                </a:solidFill>
                <a:latin typeface="Times New Roman"/>
                <a:ea typeface="Times New Roman"/>
                <a:cs typeface="Times New Roman"/>
              </a:rPr>
              <a:t>Assuming </a:t>
            </a:r>
            <a:r>
              <a:rPr lang="en-US" sz="2400" b="1">
                <a:solidFill>
                  <a:schemeClr val="dk1"/>
                </a:solidFill>
                <a:highlight>
                  <a:srgbClr val="FFFF00"/>
                </a:highlight>
                <a:latin typeface="Times New Roman"/>
                <a:ea typeface="Times New Roman"/>
                <a:cs typeface="Times New Roman"/>
              </a:rPr>
              <a:t>discount rate = 10%</a:t>
            </a:r>
            <a:endParaRPr sz="2400">
              <a:highlight>
                <a:srgbClr val="FFFF00"/>
              </a:highlight>
            </a:endParaRPr>
          </a:p>
        </p:txBody>
      </p:sp>
      <p:sp>
        <p:nvSpPr>
          <p:cNvPr id="723385963" name="Google Shape;590;p35"/>
          <p:cNvSpPr/>
          <p:nvPr/>
        </p:nvSpPr>
        <p:spPr bwMode="auto">
          <a:xfrm>
            <a:off x="8610600" y="1371600"/>
            <a:ext cx="1789611" cy="946150"/>
          </a:xfrm>
          <a:prstGeom prst="wedgeRectCallout">
            <a:avLst>
              <a:gd name="adj1" fmla="val -68632"/>
              <a:gd name="adj2" fmla="val 198878"/>
            </a:avLst>
          </a:prstGeom>
          <a:noFill/>
          <a:ln w="9525" cap="flat" cmpd="sng">
            <a:solidFill>
              <a:srgbClr val="C00000"/>
            </a:solidFill>
            <a:prstDash val="solid"/>
            <a:round/>
            <a:headEnd type="none" w="sm" len="sm"/>
            <a:tailEnd type="none" w="sm" len="sm"/>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r>
              <a:rPr lang="en-US" sz="2000" b="1">
                <a:solidFill>
                  <a:srgbClr val="FF0000"/>
                </a:solidFill>
                <a:latin typeface="Calibri"/>
                <a:ea typeface="Calibri"/>
                <a:cs typeface="Calibri"/>
              </a:rPr>
              <a:t>1/(1+0.10)</a:t>
            </a:r>
            <a:r>
              <a:rPr lang="en-US" sz="2000" b="1" baseline="30000">
                <a:solidFill>
                  <a:srgbClr val="FF0000"/>
                </a:solidFill>
                <a:latin typeface="Calibri"/>
                <a:ea typeface="Calibri"/>
                <a:cs typeface="Calibri"/>
              </a:rPr>
              <a:t>0</a:t>
            </a:r>
            <a:endParaRPr sz="2400" baseline="30000">
              <a:solidFill>
                <a:srgbClr val="FF0000"/>
              </a:solidFill>
            </a:endParaRPr>
          </a:p>
        </p:txBody>
      </p:sp>
      <p:sp>
        <p:nvSpPr>
          <p:cNvPr id="1603672656" name="Google Shape;590;p35"/>
          <p:cNvSpPr/>
          <p:nvPr/>
        </p:nvSpPr>
        <p:spPr bwMode="auto">
          <a:xfrm>
            <a:off x="5827364" y="6028872"/>
            <a:ext cx="2055090" cy="557904"/>
          </a:xfrm>
          <a:prstGeom prst="wedgeRectCallout">
            <a:avLst>
              <a:gd name="adj1" fmla="val 37955"/>
              <a:gd name="adj2" fmla="val -117551"/>
            </a:avLst>
          </a:prstGeom>
          <a:solidFill>
            <a:schemeClr val="lt1"/>
          </a:solidFill>
          <a:ln w="9525" cap="flat" cmpd="sng">
            <a:solidFill>
              <a:srgbClr val="C00000"/>
            </a:solidFill>
            <a:prstDash val="solid"/>
            <a:round/>
            <a:headEnd type="none" w="sm" len="sm"/>
            <a:tailEnd type="none" w="sm" len="sm"/>
          </a:ln>
          <a:effectLst>
            <a:outerShdw blurRad="57150" dist="19050" dir="5400000" algn="ctr"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r>
              <a:rPr lang="en-US" sz="2000" b="1">
                <a:solidFill>
                  <a:srgbClr val="FF0000"/>
                </a:solidFill>
                <a:latin typeface="Calibri"/>
                <a:ea typeface="Calibri"/>
                <a:cs typeface="Calibri"/>
              </a:rPr>
              <a:t>1/(1+0.10)</a:t>
            </a:r>
            <a:r>
              <a:rPr lang="en-US" sz="2000" b="1" baseline="30000">
                <a:solidFill>
                  <a:srgbClr val="FF0000"/>
                </a:solidFill>
                <a:latin typeface="Calibri"/>
                <a:ea typeface="Calibri"/>
                <a:cs typeface="Calibri"/>
              </a:rPr>
              <a:t>5</a:t>
            </a:r>
            <a:endParaRPr sz="2400" baseline="30000">
              <a:solidFill>
                <a:srgbClr val="FF0000"/>
              </a:solidFill>
            </a:endParaRPr>
          </a:p>
        </p:txBody>
      </p:sp>
      <p:sp>
        <p:nvSpPr>
          <p:cNvPr id="1154318569" name="TextBox 4"/>
          <p:cNvSpPr txBox="1"/>
          <p:nvPr/>
        </p:nvSpPr>
        <p:spPr bwMode="auto">
          <a:xfrm>
            <a:off x="8208996" y="5672454"/>
            <a:ext cx="2055090" cy="461665"/>
          </a:xfrm>
          <a:prstGeom prst="rect">
            <a:avLst/>
          </a:prstGeom>
          <a:noFill/>
        </p:spPr>
        <p:txBody>
          <a:bodyPr wrap="square" rtlCol="0">
            <a:spAutoFit/>
          </a:bodyPr>
          <a:lstStyle/>
          <a:p>
            <a:pPr>
              <a:defRPr/>
            </a:pPr>
            <a:r>
              <a:rPr lang="en-US" sz="2400" b="1" i="0" u="none" strike="noStrike" cap="none">
                <a:solidFill>
                  <a:srgbClr val="C00000"/>
                </a:solidFill>
                <a:latin typeface="Times New Roman"/>
                <a:ea typeface="Times New Roman"/>
                <a:cs typeface="Times New Roman"/>
              </a:rPr>
              <a:t>NPV: RM618</a:t>
            </a:r>
            <a:endParaRPr/>
          </a:p>
        </p:txBody>
      </p:sp>
      <p:sp>
        <p:nvSpPr>
          <p:cNvPr id="194458617" name="Rectangle 5"/>
          <p:cNvSpPr/>
          <p:nvPr/>
        </p:nvSpPr>
        <p:spPr bwMode="auto">
          <a:xfrm>
            <a:off x="5353050" y="3886200"/>
            <a:ext cx="1123950" cy="1955840"/>
          </a:xfrm>
          <a:prstGeom prst="rect">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34926355" name="Speech Bubble: Rectangle 6"/>
          <p:cNvSpPr/>
          <p:nvPr/>
        </p:nvSpPr>
        <p:spPr bwMode="auto">
          <a:xfrm>
            <a:off x="2747040" y="6028872"/>
            <a:ext cx="2586961" cy="704219"/>
          </a:xfrm>
          <a:prstGeom prst="wedgeRectCallout">
            <a:avLst>
              <a:gd name="adj1" fmla="val 52069"/>
              <a:gd name="adj2" fmla="val -110901"/>
            </a:avLst>
          </a:prstGeom>
          <a:solidFill>
            <a:schemeClr val="accent2">
              <a:lumMod val="20000"/>
              <a:lumOff val="80000"/>
            </a:scheme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2000">
                <a:solidFill>
                  <a:srgbClr val="0000FF"/>
                </a:solidFill>
              </a:rPr>
              <a:t>Future cash flow</a:t>
            </a:r>
            <a:endParaRPr lang="en-GB" sz="2000">
              <a:solidFill>
                <a:srgbClr val="0000FF"/>
              </a:solidFill>
            </a:endParaRPr>
          </a:p>
        </p:txBody>
      </p:sp>
      <p:sp>
        <p:nvSpPr>
          <p:cNvPr id="1639468509" name="Rectangle 7"/>
          <p:cNvSpPr/>
          <p:nvPr/>
        </p:nvSpPr>
        <p:spPr bwMode="auto">
          <a:xfrm>
            <a:off x="9075381" y="3886200"/>
            <a:ext cx="1123950" cy="1786254"/>
          </a:xfrm>
          <a:prstGeom prst="rect">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850590593" name="Speech Bubble: Rectangle 8"/>
          <p:cNvSpPr/>
          <p:nvPr/>
        </p:nvSpPr>
        <p:spPr bwMode="auto">
          <a:xfrm>
            <a:off x="10514511" y="3886200"/>
            <a:ext cx="1527865" cy="1406528"/>
          </a:xfrm>
          <a:prstGeom prst="wedgeRectCallout">
            <a:avLst>
              <a:gd name="adj1" fmla="val -77602"/>
              <a:gd name="adj2" fmla="val -2674"/>
            </a:avLst>
          </a:prstGeom>
          <a:solidFill>
            <a:schemeClr val="accent2">
              <a:lumMod val="20000"/>
              <a:lumOff val="80000"/>
            </a:schemeClr>
          </a:solid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2000">
                <a:solidFill>
                  <a:srgbClr val="0000FF"/>
                </a:solidFill>
              </a:rPr>
              <a:t>Present value of future cash flow</a:t>
            </a:r>
            <a:endParaRPr lang="en-GB" sz="2000">
              <a:solidFill>
                <a:srgbClr val="0000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007780819"/>
                                        </p:tgtEl>
                                        <p:attrNameLst>
                                          <p:attrName>style.visibility</p:attrName>
                                        </p:attrNameLst>
                                      </p:cBhvr>
                                      <p:to>
                                        <p:strVal val="visible"/>
                                      </p:to>
                                    </p:set>
                                    <p:anim calcmode="lin" valueType="num">
                                      <p:cBhvr additive="base">
                                        <p:cTn id="7" dur="500" fill="hold"/>
                                        <p:tgtEl>
                                          <p:spTgt spid="2007780819"/>
                                        </p:tgtEl>
                                        <p:attrNameLst>
                                          <p:attrName>ppt_x</p:attrName>
                                        </p:attrNameLst>
                                      </p:cBhvr>
                                      <p:tavLst>
                                        <p:tav tm="0">
                                          <p:val>
                                            <p:strVal val="#ppt_x"/>
                                          </p:val>
                                        </p:tav>
                                        <p:tav tm="100000">
                                          <p:val>
                                            <p:strVal val="#ppt_x"/>
                                          </p:val>
                                        </p:tav>
                                      </p:tavLst>
                                    </p:anim>
                                    <p:anim calcmode="lin" valueType="num">
                                      <p:cBhvr additive="base">
                                        <p:cTn id="8" dur="500" fill="hold"/>
                                        <p:tgtEl>
                                          <p:spTgt spid="200778081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94458617"/>
                                        </p:tgtEl>
                                        <p:attrNameLst>
                                          <p:attrName>style.visibility</p:attrName>
                                        </p:attrNameLst>
                                      </p:cBhvr>
                                      <p:to>
                                        <p:strVal val="visible"/>
                                      </p:to>
                                    </p:set>
                                    <p:animEffect transition="in" filter="wipe(left)">
                                      <p:cBhvr>
                                        <p:cTn id="13" dur="500"/>
                                        <p:tgtEl>
                                          <p:spTgt spid="194458617"/>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4926355"/>
                                        </p:tgtEl>
                                        <p:attrNameLst>
                                          <p:attrName>style.visibility</p:attrName>
                                        </p:attrNameLst>
                                      </p:cBhvr>
                                      <p:to>
                                        <p:strVal val="visible"/>
                                      </p:to>
                                    </p:set>
                                    <p:animEffect transition="in" filter="wipe(left)">
                                      <p:cBhvr>
                                        <p:cTn id="16" dur="500"/>
                                        <p:tgtEl>
                                          <p:spTgt spid="3492635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23385963"/>
                                        </p:tgtEl>
                                        <p:attrNameLst>
                                          <p:attrName>style.visibility</p:attrName>
                                        </p:attrNameLst>
                                      </p:cBhvr>
                                      <p:to>
                                        <p:strVal val="visible"/>
                                      </p:to>
                                    </p:set>
                                    <p:animEffect transition="in" filter="fade">
                                      <p:cBhvr>
                                        <p:cTn id="21" dur="500"/>
                                        <p:tgtEl>
                                          <p:spTgt spid="72338596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03672656"/>
                                        </p:tgtEl>
                                        <p:attrNameLst>
                                          <p:attrName>style.visibility</p:attrName>
                                        </p:attrNameLst>
                                      </p:cBhvr>
                                      <p:to>
                                        <p:strVal val="visible"/>
                                      </p:to>
                                    </p:set>
                                    <p:animEffect transition="in" filter="fade">
                                      <p:cBhvr>
                                        <p:cTn id="26" dur="500"/>
                                        <p:tgtEl>
                                          <p:spTgt spid="160367265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grpId="0" nodeType="clickEffect">
                                  <p:stCondLst>
                                    <p:cond delay="0"/>
                                  </p:stCondLst>
                                  <p:childTnLst>
                                    <p:set>
                                      <p:cBhvr>
                                        <p:cTn id="30" dur="1" fill="hold">
                                          <p:stCondLst>
                                            <p:cond delay="0"/>
                                          </p:stCondLst>
                                        </p:cTn>
                                        <p:tgtEl>
                                          <p:spTgt spid="1639468509"/>
                                        </p:tgtEl>
                                        <p:attrNameLst>
                                          <p:attrName>style.visibility</p:attrName>
                                        </p:attrNameLst>
                                      </p:cBhvr>
                                      <p:to>
                                        <p:strVal val="visible"/>
                                      </p:to>
                                    </p:set>
                                    <p:animEffect transition="in" filter="wipe(right)">
                                      <p:cBhvr>
                                        <p:cTn id="31" dur="500"/>
                                        <p:tgtEl>
                                          <p:spTgt spid="1639468509"/>
                                        </p:tgtEl>
                                      </p:cBhvr>
                                    </p:animEffect>
                                  </p:childTnLst>
                                </p:cTn>
                              </p:par>
                              <p:par>
                                <p:cTn id="32" presetID="22" presetClass="entr" presetSubtype="2" fill="hold" grpId="0" nodeType="withEffect">
                                  <p:stCondLst>
                                    <p:cond delay="0"/>
                                  </p:stCondLst>
                                  <p:childTnLst>
                                    <p:set>
                                      <p:cBhvr>
                                        <p:cTn id="33" dur="1" fill="hold">
                                          <p:stCondLst>
                                            <p:cond delay="0"/>
                                          </p:stCondLst>
                                        </p:cTn>
                                        <p:tgtEl>
                                          <p:spTgt spid="1850590593"/>
                                        </p:tgtEl>
                                        <p:attrNameLst>
                                          <p:attrName>style.visibility</p:attrName>
                                        </p:attrNameLst>
                                      </p:cBhvr>
                                      <p:to>
                                        <p:strVal val="visible"/>
                                      </p:to>
                                    </p:set>
                                    <p:animEffect transition="in" filter="wipe(right)">
                                      <p:cBhvr>
                                        <p:cTn id="34" dur="500"/>
                                        <p:tgtEl>
                                          <p:spTgt spid="1850590593"/>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154318569"/>
                                        </p:tgtEl>
                                        <p:attrNameLst>
                                          <p:attrName>style.visibility</p:attrName>
                                        </p:attrNameLst>
                                      </p:cBhvr>
                                      <p:to>
                                        <p:strVal val="visible"/>
                                      </p:to>
                                    </p:set>
                                    <p:anim calcmode="lin" valueType="num">
                                      <p:cBhvr additive="base">
                                        <p:cTn id="39" dur="500" fill="hold"/>
                                        <p:tgtEl>
                                          <p:spTgt spid="1154318569"/>
                                        </p:tgtEl>
                                        <p:attrNameLst>
                                          <p:attrName>ppt_x</p:attrName>
                                        </p:attrNameLst>
                                      </p:cBhvr>
                                      <p:tavLst>
                                        <p:tav tm="0">
                                          <p:val>
                                            <p:strVal val="#ppt_x"/>
                                          </p:val>
                                        </p:tav>
                                        <p:tav tm="100000">
                                          <p:val>
                                            <p:strVal val="#ppt_x"/>
                                          </p:val>
                                        </p:tav>
                                      </p:tavLst>
                                    </p:anim>
                                    <p:anim calcmode="lin" valueType="num">
                                      <p:cBhvr additive="base">
                                        <p:cTn id="40" dur="500" fill="hold"/>
                                        <p:tgtEl>
                                          <p:spTgt spid="11543185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780819" grpId="0"/>
      <p:bldP spid="1154318569" grpId="0"/>
      <p:bldP spid="194458617" grpId="0" animBg="1"/>
      <p:bldP spid="34926355" grpId="0" animBg="1"/>
      <p:bldP spid="1639468509" grpId="0" animBg="1"/>
      <p:bldP spid="1850590593" grpId="0" animBg="1"/>
    </p:bldLst>
  </p:timing>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84460304" name="Google Shape;623;p38"/>
          <p:cNvSpPr txBox="1">
            <a:spLocks noGrp="1"/>
          </p:cNvSpPr>
          <p:nvPr>
            <p:ph type="title"/>
          </p:nvPr>
        </p:nvSpPr>
        <p:spPr bwMode="auto">
          <a:xfrm>
            <a:off x="2107769" y="457200"/>
            <a:ext cx="5791200" cy="533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defRPr/>
            </a:pPr>
            <a:r>
              <a:rPr lang="en-US" b="1"/>
              <a:t>Net Present Value (NPV)</a:t>
            </a:r>
            <a:endParaRPr b="1"/>
          </a:p>
        </p:txBody>
      </p:sp>
      <p:sp>
        <p:nvSpPr>
          <p:cNvPr id="1379939786" name="Google Shape;624;p38"/>
          <p:cNvSpPr txBox="1">
            <a:spLocks noGrp="1"/>
          </p:cNvSpPr>
          <p:nvPr>
            <p:ph type="sldNum" idx="12"/>
          </p:nvPr>
        </p:nvSpPr>
        <p:spPr bwMode="auto">
          <a:xfrm>
            <a:off x="7879919"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39</a:t>
            </a:fld>
            <a:endParaRPr/>
          </a:p>
        </p:txBody>
      </p:sp>
      <p:sp>
        <p:nvSpPr>
          <p:cNvPr id="1047408349" name="Google Shape;625;p38"/>
          <p:cNvSpPr txBox="1"/>
          <p:nvPr/>
        </p:nvSpPr>
        <p:spPr bwMode="auto">
          <a:xfrm>
            <a:off x="2107769" y="947809"/>
            <a:ext cx="4191000"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1.3 Project Appraisal</a:t>
            </a:r>
            <a:endParaRPr/>
          </a:p>
        </p:txBody>
      </p:sp>
      <p:cxnSp>
        <p:nvCxnSpPr>
          <p:cNvPr id="1663874531" name="Google Shape;626;p38"/>
          <p:cNvCxnSpPr/>
          <p:nvPr/>
        </p:nvCxnSpPr>
        <p:spPr bwMode="auto">
          <a:xfrm rot="10800000">
            <a:off x="2164919" y="1371600"/>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558300688" name="Google Shape;627;p38"/>
          <p:cNvGrpSpPr/>
          <p:nvPr/>
        </p:nvGrpSpPr>
        <p:grpSpPr bwMode="auto">
          <a:xfrm>
            <a:off x="0" y="6980"/>
            <a:ext cx="2209800" cy="6851020"/>
            <a:chOff x="0" y="6980"/>
            <a:chExt cx="2209800" cy="6851020"/>
          </a:xfrm>
        </p:grpSpPr>
        <p:pic>
          <p:nvPicPr>
            <p:cNvPr id="628" name="Google Shape;628;p38"/>
            <p:cNvPicPr/>
            <p:nvPr/>
          </p:nvPicPr>
          <p:blipFill rotWithShape="1">
            <a:blip r:embed="rId3">
              <a:alphaModFix/>
            </a:blip>
            <a:srcRect l="23750" t="0" r="39999" b="0"/>
            <a:stretch/>
          </p:blipFill>
          <p:spPr bwMode="auto">
            <a:xfrm>
              <a:off x="0" y="2800350"/>
              <a:ext cx="2209800" cy="4057650"/>
            </a:xfrm>
            <a:prstGeom prst="rect">
              <a:avLst/>
            </a:prstGeom>
            <a:noFill/>
            <a:ln>
              <a:noFill/>
            </a:ln>
          </p:spPr>
        </p:pic>
        <p:pic>
          <p:nvPicPr>
            <p:cNvPr id="629" name="Google Shape;629;p38"/>
            <p:cNvPicPr/>
            <p:nvPr/>
          </p:nvPicPr>
          <p:blipFill rotWithShape="1">
            <a:blip r:embed="rId4">
              <a:alphaModFix/>
            </a:blip>
            <a:srcRect l="8750" t="0" r="55000" b="0"/>
            <a:stretch/>
          </p:blipFill>
          <p:spPr bwMode="auto">
            <a:xfrm>
              <a:off x="0" y="6980"/>
              <a:ext cx="2209800" cy="3590925"/>
            </a:xfrm>
            <a:prstGeom prst="rect">
              <a:avLst/>
            </a:prstGeom>
            <a:noFill/>
            <a:ln>
              <a:noFill/>
            </a:ln>
          </p:spPr>
        </p:pic>
      </p:grpSp>
      <p:graphicFrame>
        <p:nvGraphicFramePr>
          <p:cNvPr id="1783357654" name="Google Shape;630;p38"/>
          <p:cNvGraphicFramePr>
            <a:graphicFrameLocks xmlns:a="http://schemas.openxmlformats.org/drawingml/2006/main"/>
          </p:cNvGraphicFramePr>
          <p:nvPr/>
        </p:nvGraphicFramePr>
        <p:xfrm rot="0">
          <a:off x="2212985" y="2322446"/>
          <a:ext cx="7620000" cy="3533405"/>
        </p:xfrm>
        <a:graphic>
          <a:graphicData uri="http://schemas.openxmlformats.org/drawingml/2006/table">
            <a:tbl>
              <a:tblPr firstRow="0" firstCol="0" lastRow="0" lastCol="0" bandRow="0" bandCol="0">
                <a:tableStyleId>{4C38C2D8-9331-4F24-B9CF-3786705C414E}</a:tableStyleId>
                <a:noFill/>
              </a:tblPr>
              <a:tblGrid>
                <a:gridCol w="1295400"/>
                <a:gridCol w="2108200"/>
                <a:gridCol w="2108200"/>
                <a:gridCol w="2108200"/>
              </a:tblGrid>
              <a:tr h="640050">
                <a:tc>
                  <a:txBody>
                    <a:bodyPr/>
                    <a:p>
                      <a:pPr marL="0" marR="0" lvl="0" indent="0" algn="ctr" rtl="0">
                        <a:lnSpc>
                          <a:spcPct val="100000"/>
                        </a:lnSpc>
                        <a:spcBef>
                          <a:spcPts val="0"/>
                        </a:spcBef>
                        <a:spcAft>
                          <a:spcPts val="0"/>
                        </a:spcAft>
                        <a:buClr>
                          <a:schemeClr val="dk1"/>
                        </a:buClr>
                        <a:buSzPts val="1800"/>
                        <a:buFont typeface="Times New Roman"/>
                        <a:buNone/>
                        <a:defRPr/>
                      </a:pPr>
                      <a:r>
                        <a:rPr lang="en-US" sz="1800" b="1" i="0" u="none" strike="noStrike" cap="none">
                          <a:solidFill>
                            <a:schemeClr val="dk1"/>
                          </a:solidFill>
                          <a:highlight>
                            <a:srgbClr val="FFFF00"/>
                          </a:highlight>
                          <a:latin typeface="Times New Roman"/>
                          <a:ea typeface="Times New Roman"/>
                          <a:cs typeface="Times New Roman"/>
                        </a:rPr>
                        <a:t>Year</a:t>
                      </a:r>
                      <a:endParaRPr sz="1800" b="1" i="0" u="none" strike="noStrike" cap="none">
                        <a:solidFill>
                          <a:schemeClr val="dk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25400" algn="ctr">
                      <a:solidFill>
                        <a:schemeClr val="dk1"/>
                      </a:solidFill>
                    </a:lnB>
                    <a:solidFill>
                      <a:srgbClr val="FEFEEF"/>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1" i="0" u="none" strike="noStrike" cap="none">
                          <a:solidFill>
                            <a:schemeClr val="tx1"/>
                          </a:solidFill>
                          <a:highlight>
                            <a:srgbClr val="FFFF00"/>
                          </a:highlight>
                          <a:latin typeface="Times New Roman"/>
                          <a:ea typeface="Times New Roman"/>
                          <a:cs typeface="Times New Roman"/>
                        </a:rPr>
                        <a:t>Project 3 </a:t>
                      </a:r>
                      <a:r>
                        <a:rPr lang="en-US" sz="1800" b="1" i="0" u="none" strike="noStrike" cap="none">
                          <a:solidFill>
                            <a:schemeClr val="dk1"/>
                          </a:solidFill>
                          <a:highlight>
                            <a:srgbClr val="FFFF00"/>
                          </a:highlight>
                          <a:latin typeface="Times New Roman"/>
                          <a:ea typeface="Times New Roman"/>
                          <a:cs typeface="Times New Roman"/>
                        </a:rPr>
                        <a:t>Cash Flow (RM)</a:t>
                      </a:r>
                      <a:endParaRPr sz="1800" b="1" i="0" u="none" strike="noStrike" cap="none">
                        <a:solidFill>
                          <a:schemeClr val="dk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25400" algn="ctr">
                      <a:solidFill>
                        <a:schemeClr val="dk1"/>
                      </a:solidFill>
                    </a:lnB>
                    <a:solidFill>
                      <a:srgbClr val="FEFEEF"/>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1" i="0" u="none" strike="noStrike" cap="none">
                          <a:solidFill>
                            <a:srgbClr val="FF0000"/>
                          </a:solidFill>
                          <a:latin typeface="Times New Roman"/>
                          <a:ea typeface="Times New Roman"/>
                          <a:cs typeface="Times New Roman"/>
                        </a:rPr>
                        <a:t>Discount Factor </a:t>
                      </a:r>
                      <a:endParaRPr>
                        <a:solidFill>
                          <a:srgbClr val="FF0000"/>
                        </a:solidFill>
                      </a:endParaRPr>
                    </a:p>
                    <a:p>
                      <a:pPr marL="0" marR="0" lvl="0" indent="0" algn="r" rtl="0">
                        <a:lnSpc>
                          <a:spcPct val="100000"/>
                        </a:lnSpc>
                        <a:spcBef>
                          <a:spcPts val="0"/>
                        </a:spcBef>
                        <a:spcAft>
                          <a:spcPts val="0"/>
                        </a:spcAft>
                        <a:buClr>
                          <a:schemeClr val="dk1"/>
                        </a:buClr>
                        <a:buSzPts val="1800"/>
                        <a:buFont typeface="Times New Roman"/>
                        <a:buNone/>
                        <a:defRPr/>
                      </a:pPr>
                      <a:r>
                        <a:rPr lang="en-US" sz="1800" b="1" i="0" u="none" strike="noStrike" cap="none">
                          <a:solidFill>
                            <a:schemeClr val="dk1"/>
                          </a:solidFill>
                          <a:latin typeface="Times New Roman"/>
                          <a:ea typeface="Times New Roman"/>
                          <a:cs typeface="Times New Roman"/>
                        </a:rPr>
                        <a:t>@ </a:t>
                      </a:r>
                      <a:r>
                        <a:rPr lang="en-US" sz="1800" b="1" i="0" u="none" strike="noStrike" cap="none">
                          <a:solidFill>
                            <a:schemeClr val="dk1"/>
                          </a:solidFill>
                          <a:highlight>
                            <a:srgbClr val="FFFF00"/>
                          </a:highlight>
                          <a:latin typeface="Times New Roman"/>
                          <a:ea typeface="Times New Roman"/>
                          <a:cs typeface="Times New Roman"/>
                        </a:rPr>
                        <a:t>10%</a:t>
                      </a:r>
                      <a:endParaRPr sz="1800" b="1" i="0" u="none" strike="noStrike" cap="none">
                        <a:solidFill>
                          <a:schemeClr val="dk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25400" algn="ctr">
                      <a:solidFill>
                        <a:schemeClr val="dk1"/>
                      </a:solidFill>
                    </a:lnB>
                    <a:solidFill>
                      <a:srgbClr val="FEFEEF"/>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1" i="0" u="none" strike="noStrike" cap="none">
                          <a:solidFill>
                            <a:srgbClr val="FF0000"/>
                          </a:solidFill>
                          <a:latin typeface="Times New Roman"/>
                          <a:ea typeface="Times New Roman"/>
                          <a:cs typeface="Times New Roman"/>
                        </a:rPr>
                        <a:t>Discounted cash flow or Present </a:t>
                      </a:r>
                      <a:endParaRPr/>
                    </a:p>
                    <a:p>
                      <a:pPr marL="0" marR="0" lvl="0" indent="0" algn="r" rtl="0">
                        <a:lnSpc>
                          <a:spcPct val="100000"/>
                        </a:lnSpc>
                        <a:spcBef>
                          <a:spcPts val="0"/>
                        </a:spcBef>
                        <a:spcAft>
                          <a:spcPts val="0"/>
                        </a:spcAft>
                        <a:buClr>
                          <a:schemeClr val="dk1"/>
                        </a:buClr>
                        <a:buSzPts val="1800"/>
                        <a:buFont typeface="Times New Roman"/>
                        <a:buNone/>
                        <a:defRPr/>
                      </a:pPr>
                      <a:r>
                        <a:rPr lang="en-US" sz="1800" b="1" i="0" u="none" strike="noStrike" cap="none">
                          <a:solidFill>
                            <a:srgbClr val="FF0000"/>
                          </a:solidFill>
                          <a:latin typeface="Times New Roman"/>
                          <a:ea typeface="Times New Roman"/>
                          <a:cs typeface="Times New Roman"/>
                        </a:rPr>
                        <a:t>Value</a:t>
                      </a:r>
                      <a:endParaRPr sz="1800" b="1"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25400" algn="ctr">
                      <a:solidFill>
                        <a:schemeClr val="dk1"/>
                      </a:solidFill>
                    </a:lnB>
                    <a:solidFill>
                      <a:srgbClr val="FEFEEF"/>
                    </a:solidFill>
                  </a:tcPr>
                </a:tc>
              </a:tr>
              <a:tr h="371425">
                <a:tc>
                  <a:txBody>
                    <a:bodyPr/>
                    <a:p>
                      <a:pPr marL="0" marR="0" lvl="0" indent="0" algn="ct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0</a:t>
                      </a:r>
                      <a:endParaRPr sz="1800" b="0" i="0" u="none" strike="noStrike" cap="none">
                        <a:solidFill>
                          <a:schemeClr val="dk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-100,000</a:t>
                      </a:r>
                      <a:endParaRPr>
                        <a:highlight>
                          <a:srgbClr val="FFFF00"/>
                        </a:highlight>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1.0000</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-100,000</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9525" algn="ctr">
                      <a:solidFill>
                        <a:srgbClr val="000000">
                          <a:alpha val="0"/>
                        </a:srgbClr>
                      </a:solidFill>
                    </a:lnB>
                    <a:solidFill>
                      <a:srgbClr val="E7E7E7"/>
                    </a:solidFill>
                  </a:tcPr>
                </a:tc>
              </a:tr>
              <a:tr h="371425">
                <a:tc>
                  <a:txBody>
                    <a:bodyPr/>
                    <a:p>
                      <a:pPr marL="0" marR="0" lvl="0" indent="0" algn="ct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1</a:t>
                      </a:r>
                      <a:endParaRPr sz="1800" b="0" i="0" u="none" strike="noStrike" cap="none">
                        <a:solidFill>
                          <a:schemeClr val="dk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30,000</a:t>
                      </a:r>
                      <a:endParaRPr>
                        <a:highlight>
                          <a:srgbClr val="FFFF00"/>
                        </a:highlight>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0.9091</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27,273</a:t>
                      </a:r>
                      <a:endParaRPr>
                        <a:solidFill>
                          <a:srgbClr val="FF0000"/>
                        </a:solidFill>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r>
              <a:tr h="371425">
                <a:tc>
                  <a:txBody>
                    <a:bodyPr/>
                    <a:p>
                      <a:pPr marL="0" marR="0" lvl="0" indent="0" algn="ct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2</a:t>
                      </a:r>
                      <a:endParaRPr sz="1800" b="0" i="0" u="none" strike="noStrike" cap="none">
                        <a:solidFill>
                          <a:schemeClr val="dk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30,000</a:t>
                      </a:r>
                      <a:endParaRPr>
                        <a:highlight>
                          <a:srgbClr val="FFFF00"/>
                        </a:highlight>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0.8264</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24,792</a:t>
                      </a:r>
                      <a:endParaRPr>
                        <a:solidFill>
                          <a:srgbClr val="FF0000"/>
                        </a:solidFill>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r>
              <a:tr h="371425">
                <a:tc>
                  <a:txBody>
                    <a:bodyPr/>
                    <a:p>
                      <a:pPr marL="0" marR="0" lvl="0" indent="0" algn="ct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3</a:t>
                      </a:r>
                      <a:endParaRPr sz="1800" b="0" i="0" u="none" strike="noStrike" cap="none">
                        <a:solidFill>
                          <a:schemeClr val="dk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30,000</a:t>
                      </a:r>
                      <a:endParaRPr>
                        <a:highlight>
                          <a:srgbClr val="FFFF00"/>
                        </a:highlight>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0.7513</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22,539</a:t>
                      </a:r>
                      <a:endParaRPr>
                        <a:solidFill>
                          <a:srgbClr val="FF0000"/>
                        </a:solidFill>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r>
              <a:tr h="228600">
                <a:tc>
                  <a:txBody>
                    <a:bodyPr/>
                    <a:p>
                      <a:pPr marL="0" marR="0" lvl="0" indent="0" algn="ct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4</a:t>
                      </a:r>
                      <a:endParaRPr sz="1800" b="0" i="0" u="none" strike="noStrike" cap="none">
                        <a:solidFill>
                          <a:schemeClr val="dk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30,000</a:t>
                      </a:r>
                      <a:endParaRPr>
                        <a:highlight>
                          <a:srgbClr val="FFFF00"/>
                        </a:highlight>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0.6830</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20,490</a:t>
                      </a:r>
                      <a:endParaRPr>
                        <a:solidFill>
                          <a:srgbClr val="FF0000"/>
                        </a:solidFill>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r>
              <a:tr h="371425">
                <a:tc>
                  <a:txBody>
                    <a:bodyPr/>
                    <a:p>
                      <a:pPr marL="0" marR="0" lvl="0" indent="0" algn="ct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5</a:t>
                      </a:r>
                      <a:endParaRPr sz="1800" b="0" i="0" u="none" strike="noStrike" cap="none">
                        <a:solidFill>
                          <a:schemeClr val="dk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30,000</a:t>
                      </a:r>
                      <a:endParaRPr>
                        <a:highlight>
                          <a:srgbClr val="FFFF00"/>
                        </a:highlight>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0.6209</a:t>
                      </a:r>
                      <a:endParaRPr sz="1800" b="0"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rgbClr val="FF0000"/>
                          </a:solidFill>
                          <a:latin typeface="Times New Roman"/>
                          <a:ea typeface="Times New Roman"/>
                          <a:cs typeface="Times New Roman"/>
                        </a:rPr>
                        <a:t>18,627</a:t>
                      </a:r>
                      <a:endParaRPr>
                        <a:solidFill>
                          <a:srgbClr val="FF0000"/>
                        </a:solidFill>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r>
              <a:tr h="371425">
                <a:tc>
                  <a:txBody>
                    <a:bodyPr/>
                    <a:p>
                      <a:pPr marL="0" marR="0" lvl="0" indent="0" algn="l"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latin typeface="Times New Roman"/>
                          <a:ea typeface="Times New Roman"/>
                          <a:cs typeface="Times New Roman"/>
                        </a:rPr>
                        <a:t>Net Profit</a:t>
                      </a:r>
                      <a:endParaRPr sz="1800" b="0" i="0" u="none" strike="noStrike" cap="none">
                        <a:solidFill>
                          <a:schemeClr val="dk1"/>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25400" algn="ctr">
                      <a:solidFill>
                        <a:schemeClr val="dk1"/>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50,000</a:t>
                      </a:r>
                      <a:endParaRPr>
                        <a:highlight>
                          <a:srgbClr val="FFFF00"/>
                        </a:highlight>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25400" algn="ctr">
                      <a:solidFill>
                        <a:schemeClr val="dk1"/>
                      </a:solidFill>
                    </a:lnB>
                    <a:solidFill>
                      <a:srgbClr val="E7E7E7"/>
                    </a:solidFill>
                  </a:tcPr>
                </a:tc>
                <a:tc>
                  <a:txBody>
                    <a:bodyPr/>
                    <a:p>
                      <a:pPr marL="0" marR="0" lvl="0" indent="0" algn="l" rtl="0">
                        <a:lnSpc>
                          <a:spcPct val="100000"/>
                        </a:lnSpc>
                        <a:spcBef>
                          <a:spcPts val="0"/>
                        </a:spcBef>
                        <a:spcAft>
                          <a:spcPts val="0"/>
                        </a:spcAft>
                        <a:buClr>
                          <a:schemeClr val="dk1"/>
                        </a:buClr>
                        <a:buSzPts val="1800"/>
                        <a:buFont typeface="Calibri"/>
                        <a:buNone/>
                        <a:defRPr/>
                      </a:pPr>
                      <a:endParaRPr sz="1800" b="1" i="0" u="none" strike="noStrike" cap="none">
                        <a:solidFill>
                          <a:srgbClr val="C0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25400" algn="ctr">
                      <a:solidFill>
                        <a:schemeClr val="dk1"/>
                      </a:solidFill>
                    </a:lnB>
                    <a:solidFill>
                      <a:srgbClr val="E7E7E7"/>
                    </a:solidFill>
                  </a:tcPr>
                </a:tc>
                <a:tc>
                  <a:txBody>
                    <a:bodyPr/>
                    <a:p>
                      <a:pPr marL="0" marR="0" lvl="0" indent="0" algn="r" rtl="0">
                        <a:lnSpc>
                          <a:spcPct val="100000"/>
                        </a:lnSpc>
                        <a:spcBef>
                          <a:spcPts val="0"/>
                        </a:spcBef>
                        <a:spcAft>
                          <a:spcPts val="0"/>
                        </a:spcAft>
                        <a:buClr>
                          <a:srgbClr val="C00000"/>
                        </a:buClr>
                        <a:buSzPts val="1800"/>
                        <a:buFont typeface="Times New Roman"/>
                        <a:buNone/>
                        <a:defRPr/>
                      </a:pPr>
                      <a:r>
                        <a:rPr lang="en-US" sz="2000" b="1" i="0" u="none" strike="noStrike" cap="none">
                          <a:solidFill>
                            <a:srgbClr val="C00000"/>
                          </a:solidFill>
                          <a:latin typeface="Times New Roman"/>
                          <a:ea typeface="Times New Roman"/>
                          <a:cs typeface="Times New Roman"/>
                        </a:rPr>
                        <a:t>NPV: RM13,721</a:t>
                      </a:r>
                      <a:endParaRPr sz="2000" b="1" i="0" u="none" strike="noStrike" cap="none">
                        <a:solidFill>
                          <a:srgbClr val="C0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25400" algn="ctr">
                      <a:solidFill>
                        <a:schemeClr val="dk1"/>
                      </a:solidFill>
                    </a:lnB>
                    <a:solidFill>
                      <a:srgbClr val="E7E7E7"/>
                    </a:solidFill>
                  </a:tcPr>
                </a:tc>
              </a:tr>
            </a:tbl>
          </a:graphicData>
        </a:graphic>
      </p:graphicFrame>
      <p:sp>
        <p:nvSpPr>
          <p:cNvPr id="1973808931" name="Google Shape;617;p37"/>
          <p:cNvSpPr/>
          <p:nvPr/>
        </p:nvSpPr>
        <p:spPr bwMode="auto">
          <a:xfrm>
            <a:off x="9832985" y="1565185"/>
            <a:ext cx="2359014" cy="4247276"/>
          </a:xfrm>
          <a:prstGeom prst="rect">
            <a:avLst/>
          </a:prstGeom>
          <a:noFill/>
          <a:ln>
            <a:noFill/>
          </a:ln>
        </p:spPr>
        <p:txBody>
          <a:bodyPr spcFirstLastPara="1" wrap="square" lIns="91425" tIns="45700" rIns="91425" bIns="45700" anchor="t" anchorCtr="0">
            <a:spAutoFit/>
          </a:bodyPr>
          <a:lstStyle/>
          <a:p>
            <a:pPr>
              <a:buClr>
                <a:schemeClr val="dk1"/>
              </a:buClr>
              <a:buSzPts val="2400"/>
              <a:defRPr/>
            </a:pPr>
            <a:r>
              <a:rPr lang="en-US" sz="2000" b="1">
                <a:solidFill>
                  <a:srgbClr val="0000FF"/>
                </a:solidFill>
                <a:latin typeface="Calibri"/>
                <a:ea typeface="Calibri"/>
                <a:cs typeface="Calibri"/>
              </a:rPr>
              <a:t>Yes, </a:t>
            </a:r>
            <a:endParaRPr/>
          </a:p>
          <a:p>
            <a:pPr>
              <a:buClr>
                <a:schemeClr val="dk1"/>
              </a:buClr>
              <a:buSzPts val="2400"/>
              <a:defRPr/>
            </a:pPr>
            <a:endParaRPr lang="en-US" sz="800">
              <a:solidFill>
                <a:srgbClr val="0000FF"/>
              </a:solidFill>
              <a:latin typeface="Calibri"/>
              <a:ea typeface="Calibri"/>
              <a:cs typeface="Calibri"/>
            </a:endParaRPr>
          </a:p>
          <a:p>
            <a:pPr marL="266700" indent="-266700">
              <a:buClr>
                <a:schemeClr val="dk1"/>
              </a:buClr>
              <a:buSzPts val="2400"/>
              <a:defRPr/>
            </a:pPr>
            <a:r>
              <a:rPr lang="en-US" sz="2000">
                <a:solidFill>
                  <a:srgbClr val="0000FF"/>
                </a:solidFill>
                <a:latin typeface="Calibri"/>
                <a:ea typeface="Calibri"/>
                <a:cs typeface="Calibri"/>
              </a:rPr>
              <a:t>i</a:t>
            </a:r>
            <a:r>
              <a:rPr lang="en-US" sz="2000">
                <a:solidFill>
                  <a:srgbClr val="0000FF"/>
                </a:solidFill>
                <a:latin typeface="Calibri"/>
                <a:ea typeface="Calibri"/>
                <a:cs typeface="Calibri"/>
              </a:rPr>
              <a:t>) A</a:t>
            </a:r>
            <a:r>
              <a:rPr lang="en-GB" sz="2000">
                <a:solidFill>
                  <a:srgbClr val="0000FF"/>
                </a:solidFill>
                <a:latin typeface="Calibri"/>
                <a:cs typeface="Calibri"/>
              </a:rPr>
              <a:t> </a:t>
            </a:r>
            <a:r>
              <a:rPr lang="en-GB" sz="2000" b="1">
                <a:solidFill>
                  <a:srgbClr val="0000FF"/>
                </a:solidFill>
                <a:latin typeface="Calibri"/>
                <a:cs typeface="Calibri"/>
              </a:rPr>
              <a:t>positive</a:t>
            </a:r>
            <a:r>
              <a:rPr lang="en-GB" sz="2000">
                <a:solidFill>
                  <a:srgbClr val="0000FF"/>
                </a:solidFill>
                <a:latin typeface="Calibri"/>
                <a:cs typeface="Calibri"/>
              </a:rPr>
              <a:t> NPV indicates the project is </a:t>
            </a:r>
            <a:r>
              <a:rPr lang="en-GB" sz="2000" b="1" u="sng">
                <a:solidFill>
                  <a:srgbClr val="0000FF"/>
                </a:solidFill>
                <a:latin typeface="Calibri"/>
                <a:cs typeface="Calibri"/>
              </a:rPr>
              <a:t>profitable</a:t>
            </a:r>
            <a:r>
              <a:rPr lang="en-GB" sz="2000">
                <a:solidFill>
                  <a:srgbClr val="0000FF"/>
                </a:solidFill>
                <a:latin typeface="Calibri"/>
                <a:cs typeface="Calibri"/>
              </a:rPr>
              <a:t> [</a:t>
            </a:r>
            <a:r>
              <a:rPr lang="en-GB" sz="2000" b="1">
                <a:solidFill>
                  <a:srgbClr val="0000FF"/>
                </a:solidFill>
                <a:latin typeface="Calibri"/>
                <a:cs typeface="Calibri"/>
              </a:rPr>
              <a:t>PV of cash inflows </a:t>
            </a:r>
            <a:r>
              <a:rPr lang="en-GB" sz="2000">
                <a:solidFill>
                  <a:srgbClr val="0000FF"/>
                </a:solidFill>
                <a:latin typeface="Calibri"/>
                <a:cs typeface="Calibri"/>
              </a:rPr>
              <a:t>(benefits) &gt; PV of </a:t>
            </a:r>
            <a:r>
              <a:rPr lang="en-GB" sz="2000" b="1">
                <a:solidFill>
                  <a:srgbClr val="0000FF"/>
                </a:solidFill>
                <a:latin typeface="Calibri"/>
                <a:cs typeface="Calibri"/>
              </a:rPr>
              <a:t>cash outflows </a:t>
            </a:r>
            <a:r>
              <a:rPr lang="en-GB" sz="2000">
                <a:solidFill>
                  <a:srgbClr val="0000FF"/>
                </a:solidFill>
                <a:latin typeface="Calibri"/>
                <a:cs typeface="Calibri"/>
              </a:rPr>
              <a:t>(costs) over the 5-year period]</a:t>
            </a:r>
            <a:endParaRPr/>
          </a:p>
          <a:p>
            <a:pPr marL="266700" indent="-266700">
              <a:buClr>
                <a:schemeClr val="dk1"/>
              </a:buClr>
              <a:buSzPts val="2400"/>
              <a:defRPr/>
            </a:pPr>
            <a:r>
              <a:rPr lang="en-US" sz="1800" b="1">
                <a:solidFill>
                  <a:srgbClr val="0000FF"/>
                </a:solidFill>
                <a:latin typeface="Calibri"/>
                <a:ea typeface="Calibri"/>
                <a:cs typeface="Calibri"/>
              </a:rPr>
              <a:t>ii)</a:t>
            </a:r>
            <a:r>
              <a:rPr lang="en-US" sz="1800">
                <a:solidFill>
                  <a:srgbClr val="0000FF"/>
                </a:solidFill>
                <a:latin typeface="Calibri"/>
                <a:ea typeface="Calibri"/>
                <a:cs typeface="Calibri"/>
              </a:rPr>
              <a:t> </a:t>
            </a:r>
            <a:r>
              <a:rPr lang="en-US" sz="1800" b="1">
                <a:solidFill>
                  <a:srgbClr val="0000FF"/>
                </a:solidFill>
                <a:latin typeface="Calibri"/>
                <a:ea typeface="Calibri"/>
                <a:cs typeface="Calibri"/>
              </a:rPr>
              <a:t>Project 3 NPV is &gt; Project 1 (</a:t>
            </a:r>
            <a:r>
              <a:rPr lang="en-US" sz="1800">
                <a:solidFill>
                  <a:srgbClr val="0000FF"/>
                </a:solidFill>
                <a:latin typeface="Calibri"/>
                <a:ea typeface="Calibri"/>
                <a:cs typeface="Calibri"/>
              </a:rPr>
              <a:t>P3 is &gt; profitable than P1</a:t>
            </a:r>
            <a:r>
              <a:rPr lang="en-GB" sz="1800">
                <a:solidFill>
                  <a:srgbClr val="0000FF"/>
                </a:solidFill>
                <a:latin typeface="Calibri"/>
                <a:cs typeface="Calibri"/>
              </a:rPr>
              <a:t>)</a:t>
            </a:r>
            <a:endParaRPr/>
          </a:p>
          <a:p>
            <a:pPr>
              <a:buClr>
                <a:schemeClr val="dk1"/>
              </a:buClr>
              <a:buSzPts val="2400"/>
              <a:defRPr/>
            </a:pPr>
            <a:endParaRPr lang="en-US" sz="800" b="1">
              <a:solidFill>
                <a:srgbClr val="0000FF"/>
              </a:solidFill>
              <a:latin typeface="Calibri"/>
              <a:ea typeface="Calibri"/>
              <a:cs typeface="Calibri"/>
            </a:endParaRPr>
          </a:p>
        </p:txBody>
      </p:sp>
      <p:sp>
        <p:nvSpPr>
          <p:cNvPr id="2139317645" name="Google Shape;617;p37"/>
          <p:cNvSpPr/>
          <p:nvPr/>
        </p:nvSpPr>
        <p:spPr bwMode="auto">
          <a:xfrm>
            <a:off x="2156114" y="1320297"/>
            <a:ext cx="9636177" cy="1200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400"/>
              <a:buFont typeface="Calibri"/>
              <a:buNone/>
              <a:defRPr/>
            </a:pPr>
            <a:r>
              <a:rPr lang="en-US" sz="2800">
                <a:solidFill>
                  <a:srgbClr val="FF0000"/>
                </a:solidFill>
                <a:latin typeface="Calibri"/>
                <a:ea typeface="Calibri"/>
                <a:cs typeface="Calibri"/>
              </a:rPr>
              <a:t>Exercise</a:t>
            </a:r>
            <a:endParaRPr sz="2800">
              <a:solidFill>
                <a:srgbClr val="FF0000"/>
              </a:solidFill>
            </a:endParaRPr>
          </a:p>
          <a:p>
            <a:pPr marR="0" lvl="0" algn="l" rtl="0">
              <a:spcBef>
                <a:spcPts val="0"/>
              </a:spcBef>
              <a:spcAft>
                <a:spcPts val="0"/>
              </a:spcAft>
              <a:buClr>
                <a:schemeClr val="dk1"/>
              </a:buClr>
              <a:buSzPts val="2400"/>
              <a:defRPr/>
            </a:pPr>
            <a:r>
              <a:rPr lang="en-US" sz="2400">
                <a:solidFill>
                  <a:schemeClr val="tx1"/>
                </a:solidFill>
                <a:latin typeface="Calibri"/>
                <a:ea typeface="Calibri"/>
                <a:cs typeface="Calibri"/>
              </a:rPr>
              <a:t>Using a </a:t>
            </a:r>
            <a:r>
              <a:rPr lang="en-US" sz="2400" b="1">
                <a:solidFill>
                  <a:schemeClr val="tx1"/>
                </a:solidFill>
                <a:highlight>
                  <a:srgbClr val="FFFF00"/>
                </a:highlight>
                <a:latin typeface="Calibri"/>
                <a:ea typeface="Calibri"/>
                <a:cs typeface="Calibri"/>
              </a:rPr>
              <a:t>10% discount rate</a:t>
            </a:r>
            <a:r>
              <a:rPr lang="en-US" sz="2400">
                <a:solidFill>
                  <a:schemeClr val="tx1"/>
                </a:solidFill>
                <a:latin typeface="Calibri"/>
                <a:ea typeface="Calibri"/>
                <a:cs typeface="Calibri"/>
              </a:rPr>
              <a:t>, calculate the NPV for </a:t>
            </a:r>
            <a:r>
              <a:rPr lang="en-US" sz="2400" b="1">
                <a:solidFill>
                  <a:schemeClr val="tx1"/>
                </a:solidFill>
                <a:latin typeface="Calibri"/>
                <a:ea typeface="Calibri"/>
                <a:cs typeface="Calibri"/>
              </a:rPr>
              <a:t>Project 3.</a:t>
            </a:r>
            <a:endParaRPr sz="2400" b="1">
              <a:solidFill>
                <a:schemeClr val="tx1"/>
              </a:solidFill>
            </a:endParaRPr>
          </a:p>
          <a:p>
            <a:pPr marR="0" lvl="0" algn="l" rtl="0">
              <a:spcBef>
                <a:spcPts val="0"/>
              </a:spcBef>
              <a:spcAft>
                <a:spcPts val="0"/>
              </a:spcAft>
              <a:buClr>
                <a:schemeClr val="dk1"/>
              </a:buClr>
              <a:buSzPts val="2400"/>
              <a:defRPr/>
            </a:pPr>
            <a:r>
              <a:rPr lang="en-US" sz="2000">
                <a:solidFill>
                  <a:schemeClr val="tx1"/>
                </a:solidFill>
                <a:latin typeface="Calibri"/>
                <a:ea typeface="Calibri"/>
                <a:cs typeface="Calibri"/>
              </a:rPr>
              <a:t>.</a:t>
            </a:r>
            <a:endParaRPr sz="2000">
              <a:solidFill>
                <a:schemeClr val="tx1"/>
              </a:solidFill>
              <a:latin typeface="Calibri"/>
              <a:ea typeface="Calibri"/>
              <a:cs typeface="Calibri"/>
            </a:endParaRPr>
          </a:p>
        </p:txBody>
      </p:sp>
      <p:sp>
        <p:nvSpPr>
          <p:cNvPr id="196902005" name="TextBox 2"/>
          <p:cNvSpPr txBox="1"/>
          <p:nvPr/>
        </p:nvSpPr>
        <p:spPr bwMode="auto">
          <a:xfrm>
            <a:off x="9821850" y="12485"/>
            <a:ext cx="2359014" cy="1569660"/>
          </a:xfrm>
          <a:prstGeom prst="rect">
            <a:avLst/>
          </a:prstGeom>
          <a:noFill/>
        </p:spPr>
        <p:txBody>
          <a:bodyPr wrap="square">
            <a:spAutoFit/>
          </a:bodyPr>
          <a:lstStyle/>
          <a:p>
            <a:pPr>
              <a:defRPr/>
            </a:pPr>
            <a:r>
              <a:rPr lang="en-US" sz="2000">
                <a:solidFill>
                  <a:srgbClr val="0000FF"/>
                </a:solidFill>
                <a:latin typeface="Calibri"/>
                <a:ea typeface="Calibri"/>
                <a:cs typeface="Calibri"/>
              </a:rPr>
              <a:t>Based on NPV alone, is </a:t>
            </a:r>
            <a:r>
              <a:rPr lang="en-US" sz="2000" b="1">
                <a:solidFill>
                  <a:srgbClr val="0000FF"/>
                </a:solidFill>
                <a:latin typeface="Calibri"/>
                <a:ea typeface="Calibri"/>
                <a:cs typeface="Calibri"/>
              </a:rPr>
              <a:t>Project 3 </a:t>
            </a:r>
            <a:r>
              <a:rPr lang="en-US" sz="2000">
                <a:solidFill>
                  <a:srgbClr val="0000FF"/>
                </a:solidFill>
                <a:latin typeface="Calibri"/>
                <a:ea typeface="Calibri"/>
                <a:cs typeface="Calibri"/>
              </a:rPr>
              <a:t>more beneficial to pursue </a:t>
            </a:r>
            <a:r>
              <a:rPr lang="en-US" sz="1800">
                <a:solidFill>
                  <a:srgbClr val="0000FF"/>
                </a:solidFill>
                <a:latin typeface="Calibri"/>
                <a:ea typeface="Calibri"/>
                <a:cs typeface="Calibri"/>
              </a:rPr>
              <a:t>than </a:t>
            </a:r>
            <a:r>
              <a:rPr lang="en-US" sz="1800" b="1">
                <a:solidFill>
                  <a:srgbClr val="FF0000"/>
                </a:solidFill>
                <a:latin typeface="Calibri"/>
                <a:ea typeface="Calibri"/>
                <a:cs typeface="Calibri"/>
              </a:rPr>
              <a:t>Project 1 (NPV = </a:t>
            </a:r>
            <a:r>
              <a:rPr lang="en-US" sz="1800" b="1">
                <a:solidFill>
                  <a:srgbClr val="FF0000"/>
                </a:solidFill>
                <a:latin typeface="Times New Roman"/>
                <a:ea typeface="Times New Roman"/>
                <a:cs typeface="Times New Roman"/>
              </a:rPr>
              <a:t>RM618)</a:t>
            </a:r>
            <a:r>
              <a:rPr lang="en-US" sz="1800">
                <a:solidFill>
                  <a:srgbClr val="FF0000"/>
                </a:solidFill>
                <a:latin typeface="Calibri"/>
                <a:ea typeface="Calibri"/>
                <a:cs typeface="Calibri"/>
              </a:rPr>
              <a:t>?</a:t>
            </a:r>
            <a:endParaRPr lang="en-GB" sz="1800">
              <a:solidFill>
                <a:srgbClr val="FF0000"/>
              </a:solidFill>
            </a:endParaRPr>
          </a:p>
        </p:txBody>
      </p:sp>
      <p:sp>
        <p:nvSpPr>
          <p:cNvPr id="705294386" name="Google Shape;617;p37"/>
          <p:cNvSpPr/>
          <p:nvPr/>
        </p:nvSpPr>
        <p:spPr bwMode="auto">
          <a:xfrm>
            <a:off x="8104207" y="6169442"/>
            <a:ext cx="4388604" cy="523180"/>
          </a:xfrm>
          <a:prstGeom prst="rect">
            <a:avLst/>
          </a:prstGeom>
          <a:noFill/>
          <a:ln>
            <a:noFill/>
          </a:ln>
        </p:spPr>
        <p:txBody>
          <a:bodyPr spcFirstLastPara="1" wrap="square" lIns="91425" tIns="45700" rIns="91425" bIns="45700" anchor="t" anchorCtr="0">
            <a:spAutoFit/>
          </a:bodyPr>
          <a:lstStyle/>
          <a:p>
            <a:pPr>
              <a:buClr>
                <a:schemeClr val="dk1"/>
              </a:buClr>
              <a:buSzPts val="2400"/>
              <a:defRPr/>
            </a:pPr>
            <a:endParaRPr lang="en-US" sz="800" b="1">
              <a:solidFill>
                <a:srgbClr val="0000FF"/>
              </a:solidFill>
              <a:latin typeface="Calibri"/>
              <a:ea typeface="Calibri"/>
              <a:cs typeface="Calibri"/>
            </a:endParaRPr>
          </a:p>
          <a:p>
            <a:pPr>
              <a:buClr>
                <a:schemeClr val="dk1"/>
              </a:buClr>
              <a:buSzPts val="2400"/>
              <a:defRPr/>
            </a:pPr>
            <a:r>
              <a:rPr lang="en-US" sz="2000" i="1">
                <a:solidFill>
                  <a:srgbClr val="0000FF"/>
                </a:solidFill>
                <a:latin typeface="Calibri"/>
                <a:ea typeface="Calibri"/>
                <a:cs typeface="Calibri"/>
              </a:rPr>
              <a:t>(</a:t>
            </a:r>
            <a:r>
              <a:rPr lang="en-US" sz="2000" i="1" u="sng">
                <a:solidFill>
                  <a:srgbClr val="0000FF"/>
                </a:solidFill>
                <a:latin typeface="Calibri"/>
                <a:ea typeface="Calibri"/>
                <a:cs typeface="Calibri"/>
              </a:rPr>
              <a:t>assuming</a:t>
            </a:r>
            <a:r>
              <a:rPr lang="en-US" sz="2000" i="1">
                <a:solidFill>
                  <a:srgbClr val="0000FF"/>
                </a:solidFill>
                <a:latin typeface="Calibri"/>
                <a:ea typeface="Calibri"/>
                <a:cs typeface="Calibri"/>
              </a:rPr>
              <a:t> all other factors are equal)</a:t>
            </a:r>
            <a:endParaRPr/>
          </a:p>
        </p:txBody>
      </p:sp>
      <p:sp>
        <p:nvSpPr>
          <p:cNvPr id="60189225" name="Rectangle 4"/>
          <p:cNvSpPr/>
          <p:nvPr/>
        </p:nvSpPr>
        <p:spPr bwMode="auto">
          <a:xfrm>
            <a:off x="7879919" y="3170583"/>
            <a:ext cx="2099096" cy="287217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2139317645">
                                            <p:txEl>
                                              <p:pRg st="0" end="0"/>
                                            </p:txEl>
                                          </p:spTgt>
                                        </p:tgtEl>
                                        <p:attrNameLst>
                                          <p:attrName>style.visibility</p:attrName>
                                        </p:attrNameLst>
                                      </p:cBhvr>
                                      <p:to>
                                        <p:strVal val="visible"/>
                                      </p:to>
                                    </p:set>
                                    <p:anim calcmode="lin" valueType="num">
                                      <p:cBhvr additive="base">
                                        <p:cTn id="7" dur="500" fill="hold"/>
                                        <p:tgtEl>
                                          <p:spTgt spid="213931764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39317645">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783357654"/>
                                        </p:tgtEl>
                                        <p:attrNameLst>
                                          <p:attrName>style.visibility</p:attrName>
                                        </p:attrNameLst>
                                      </p:cBhvr>
                                      <p:to>
                                        <p:strVal val="visible"/>
                                      </p:to>
                                    </p:set>
                                    <p:animEffect transition="in" filter="wipe(left)">
                                      <p:cBhvr>
                                        <p:cTn id="13" dur="500"/>
                                        <p:tgtEl>
                                          <p:spTgt spid="178335765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60189225"/>
                                        </p:tgtEl>
                                        <p:attrNameLst>
                                          <p:attrName>style.visibility</p:attrName>
                                        </p:attrNameLst>
                                      </p:cBhvr>
                                      <p:to>
                                        <p:strVal val="visible"/>
                                      </p:to>
                                    </p:set>
                                    <p:animEffect transition="in" filter="wipe(left)">
                                      <p:cBhvr>
                                        <p:cTn id="18" dur="500"/>
                                        <p:tgtEl>
                                          <p:spTgt spid="6018922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1" fill="hold" grpId="0" nodeType="clickEffect">
                                  <p:stCondLst>
                                    <p:cond delay="0"/>
                                  </p:stCondLst>
                                  <p:childTnLst>
                                    <p:set>
                                      <p:cBhvr>
                                        <p:cTn id="22" dur="1" fill="hold">
                                          <p:stCondLst>
                                            <p:cond delay="0"/>
                                          </p:stCondLst>
                                        </p:cTn>
                                        <p:tgtEl>
                                          <p:spTgt spid="196902005"/>
                                        </p:tgtEl>
                                        <p:attrNameLst>
                                          <p:attrName>style.visibility</p:attrName>
                                        </p:attrNameLst>
                                      </p:cBhvr>
                                      <p:to>
                                        <p:strVal val="visible"/>
                                      </p:to>
                                    </p:set>
                                    <p:anim calcmode="lin" valueType="num">
                                      <p:cBhvr additive="base">
                                        <p:cTn id="23" dur="500" fill="hold"/>
                                        <p:tgtEl>
                                          <p:spTgt spid="196902005"/>
                                        </p:tgtEl>
                                        <p:attrNameLst>
                                          <p:attrName>ppt_x</p:attrName>
                                        </p:attrNameLst>
                                      </p:cBhvr>
                                      <p:tavLst>
                                        <p:tav tm="0">
                                          <p:val>
                                            <p:strVal val="#ppt_x"/>
                                          </p:val>
                                        </p:tav>
                                        <p:tav tm="100000">
                                          <p:val>
                                            <p:strVal val="#ppt_x"/>
                                          </p:val>
                                        </p:tav>
                                      </p:tavLst>
                                    </p:anim>
                                    <p:anim calcmode="lin" valueType="num">
                                      <p:cBhvr additive="base">
                                        <p:cTn id="24" dur="500" fill="hold"/>
                                        <p:tgtEl>
                                          <p:spTgt spid="196902005"/>
                                        </p:tgtEl>
                                        <p:attrNameLst>
                                          <p:attrName>ppt_y</p:attrName>
                                        </p:attrNameLst>
                                      </p:cBhvr>
                                      <p:tavLst>
                                        <p:tav tm="0">
                                          <p:val>
                                            <p:strVal val="0-#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973808931">
                                            <p:txEl>
                                              <p:pRg st="0" end="0"/>
                                            </p:txEl>
                                          </p:spTgt>
                                        </p:tgtEl>
                                        <p:attrNameLst>
                                          <p:attrName>style.visibility</p:attrName>
                                        </p:attrNameLst>
                                      </p:cBhvr>
                                      <p:to>
                                        <p:strVal val="visible"/>
                                      </p:to>
                                    </p:set>
                                    <p:animEffect transition="in" filter="wipe(left)">
                                      <p:cBhvr>
                                        <p:cTn id="29" dur="500"/>
                                        <p:tgtEl>
                                          <p:spTgt spid="1973808931">
                                            <p:txEl>
                                              <p:pRg st="0" end="0"/>
                                            </p:txEl>
                                          </p:spTgt>
                                        </p:tgtEl>
                                      </p:cBhvr>
                                    </p:animEffect>
                                  </p:childTnLst>
                                </p:cTn>
                              </p:par>
                              <p:par>
                                <p:cTn id="30" presetID="22" presetClass="entr" presetSubtype="8" fill="hold" nodeType="withEffect">
                                  <p:stCondLst>
                                    <p:cond delay="0"/>
                                  </p:stCondLst>
                                  <p:childTnLst>
                                    <p:set>
                                      <p:cBhvr>
                                        <p:cTn id="31" dur="1" fill="hold">
                                          <p:stCondLst>
                                            <p:cond delay="0"/>
                                          </p:stCondLst>
                                        </p:cTn>
                                        <p:tgtEl>
                                          <p:spTgt spid="1973808931">
                                            <p:txEl>
                                              <p:pRg st="2" end="2"/>
                                            </p:txEl>
                                          </p:spTgt>
                                        </p:tgtEl>
                                        <p:attrNameLst>
                                          <p:attrName>style.visibility</p:attrName>
                                        </p:attrNameLst>
                                      </p:cBhvr>
                                      <p:to>
                                        <p:strVal val="visible"/>
                                      </p:to>
                                    </p:set>
                                    <p:animEffect transition="in" filter="wipe(left)">
                                      <p:cBhvr>
                                        <p:cTn id="32" dur="500"/>
                                        <p:tgtEl>
                                          <p:spTgt spid="1973808931">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973808931">
                                            <p:txEl>
                                              <p:pRg st="3" end="3"/>
                                            </p:txEl>
                                          </p:spTgt>
                                        </p:tgtEl>
                                        <p:attrNameLst>
                                          <p:attrName>style.visibility</p:attrName>
                                        </p:attrNameLst>
                                      </p:cBhvr>
                                      <p:to>
                                        <p:strVal val="visible"/>
                                      </p:to>
                                    </p:set>
                                    <p:animEffect transition="in" filter="wipe(left)">
                                      <p:cBhvr>
                                        <p:cTn id="37" dur="500"/>
                                        <p:tgtEl>
                                          <p:spTgt spid="1973808931">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705294386"/>
                                        </p:tgtEl>
                                        <p:attrNameLst>
                                          <p:attrName>style.visibility</p:attrName>
                                        </p:attrNameLst>
                                      </p:cBhvr>
                                      <p:to>
                                        <p:strVal val="visible"/>
                                      </p:to>
                                    </p:set>
                                    <p:anim calcmode="lin" valueType="num">
                                      <p:cBhvr additive="base">
                                        <p:cTn id="42" dur="500" fill="hold"/>
                                        <p:tgtEl>
                                          <p:spTgt spid="705294386"/>
                                        </p:tgtEl>
                                        <p:attrNameLst>
                                          <p:attrName>ppt_x</p:attrName>
                                        </p:attrNameLst>
                                      </p:cBhvr>
                                      <p:tavLst>
                                        <p:tav tm="0">
                                          <p:val>
                                            <p:strVal val="#ppt_x"/>
                                          </p:val>
                                        </p:tav>
                                        <p:tav tm="100000">
                                          <p:val>
                                            <p:strVal val="#ppt_x"/>
                                          </p:val>
                                        </p:tav>
                                      </p:tavLst>
                                    </p:anim>
                                    <p:anim calcmode="lin" valueType="num">
                                      <p:cBhvr additive="base">
                                        <p:cTn id="43" dur="500" fill="hold"/>
                                        <p:tgtEl>
                                          <p:spTgt spid="7052943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902005" grpId="0"/>
      <p:bldP spid="705294386" grpId="0"/>
      <p:bldP spid="60189225" grpId="0" animBg="1"/>
    </p:bldLst>
  </p:timing>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05518407" name="Google Shape;637;p39"/>
          <p:cNvSpPr txBox="1">
            <a:spLocks noGrp="1"/>
          </p:cNvSpPr>
          <p:nvPr>
            <p:ph type="title"/>
          </p:nvPr>
        </p:nvSpPr>
        <p:spPr bwMode="auto">
          <a:xfrm>
            <a:off x="2743200" y="457200"/>
            <a:ext cx="5791200" cy="533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defRPr/>
            </a:pPr>
            <a:r>
              <a:rPr lang="en-US" b="1"/>
              <a:t>Net Present Value (NPV)</a:t>
            </a:r>
            <a:endParaRPr b="1"/>
          </a:p>
        </p:txBody>
      </p:sp>
      <p:sp>
        <p:nvSpPr>
          <p:cNvPr id="1675353486" name="Google Shape;638;p39"/>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40</a:t>
            </a:fld>
            <a:endParaRPr/>
          </a:p>
        </p:txBody>
      </p:sp>
      <p:sp>
        <p:nvSpPr>
          <p:cNvPr id="1477279766" name="Google Shape;639;p39"/>
          <p:cNvSpPr txBox="1"/>
          <p:nvPr/>
        </p:nvSpPr>
        <p:spPr bwMode="auto">
          <a:xfrm>
            <a:off x="2782649" y="964852"/>
            <a:ext cx="4191000"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1.3 Project Appraisal</a:t>
            </a:r>
            <a:endParaRPr/>
          </a:p>
        </p:txBody>
      </p:sp>
      <p:cxnSp>
        <p:nvCxnSpPr>
          <p:cNvPr id="792783872" name="Google Shape;640;p39"/>
          <p:cNvCxnSpPr/>
          <p:nvPr/>
        </p:nvCxnSpPr>
        <p:spPr bwMode="auto">
          <a:xfrm rot="10800000">
            <a:off x="2895600" y="1371600"/>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1284413331" name="Google Shape;641;p39"/>
          <p:cNvGrpSpPr/>
          <p:nvPr/>
        </p:nvGrpSpPr>
        <p:grpSpPr bwMode="auto">
          <a:xfrm>
            <a:off x="0" y="6980"/>
            <a:ext cx="2209800" cy="6851020"/>
            <a:chOff x="0" y="6980"/>
            <a:chExt cx="2209800" cy="6851020"/>
          </a:xfrm>
        </p:grpSpPr>
        <p:pic>
          <p:nvPicPr>
            <p:cNvPr id="642" name="Google Shape;642;p39"/>
            <p:cNvPicPr/>
            <p:nvPr/>
          </p:nvPicPr>
          <p:blipFill rotWithShape="1">
            <a:blip r:embed="rId3">
              <a:alphaModFix/>
            </a:blip>
            <a:srcRect l="23750" t="0" r="39999" b="0"/>
            <a:stretch/>
          </p:blipFill>
          <p:spPr bwMode="auto">
            <a:xfrm>
              <a:off x="0" y="2800350"/>
              <a:ext cx="2209800" cy="4057650"/>
            </a:xfrm>
            <a:prstGeom prst="rect">
              <a:avLst/>
            </a:prstGeom>
            <a:noFill/>
            <a:ln>
              <a:noFill/>
            </a:ln>
          </p:spPr>
        </p:pic>
        <p:pic>
          <p:nvPicPr>
            <p:cNvPr id="643" name="Google Shape;643;p39"/>
            <p:cNvPicPr/>
            <p:nvPr/>
          </p:nvPicPr>
          <p:blipFill rotWithShape="1">
            <a:blip r:embed="rId4">
              <a:alphaModFix/>
            </a:blip>
            <a:srcRect l="8750" t="0" r="55000" b="0"/>
            <a:stretch/>
          </p:blipFill>
          <p:spPr bwMode="auto">
            <a:xfrm>
              <a:off x="0" y="6980"/>
              <a:ext cx="2209800" cy="3590925"/>
            </a:xfrm>
            <a:prstGeom prst="rect">
              <a:avLst/>
            </a:prstGeom>
            <a:noFill/>
            <a:ln>
              <a:noFill/>
            </a:ln>
          </p:spPr>
        </p:pic>
      </p:grpSp>
      <p:sp>
        <p:nvSpPr>
          <p:cNvPr id="1078721925" name="Google Shape;644;p39"/>
          <p:cNvSpPr txBox="1"/>
          <p:nvPr/>
        </p:nvSpPr>
        <p:spPr bwMode="auto">
          <a:xfrm>
            <a:off x="2876404" y="2567617"/>
            <a:ext cx="8623169" cy="3147382"/>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chemeClr val="dk1"/>
              </a:buClr>
              <a:buSzPts val="2800"/>
              <a:buFont typeface="Arial"/>
              <a:buChar char="•"/>
              <a:defRPr/>
            </a:pPr>
            <a:r>
              <a:rPr lang="en-US" sz="2800" b="1">
                <a:solidFill>
                  <a:schemeClr val="dk1"/>
                </a:solidFill>
                <a:latin typeface="Calibri"/>
                <a:ea typeface="Calibri"/>
                <a:cs typeface="Calibri"/>
              </a:rPr>
              <a:t>The</a:t>
            </a:r>
            <a:r>
              <a:rPr lang="en-US" sz="2800">
                <a:solidFill>
                  <a:schemeClr val="dk1"/>
                </a:solidFill>
                <a:latin typeface="Calibri"/>
                <a:ea typeface="Calibri"/>
                <a:cs typeface="Calibri"/>
              </a:rPr>
              <a:t> </a:t>
            </a:r>
            <a:r>
              <a:rPr lang="en-US" sz="2800">
                <a:solidFill>
                  <a:srgbClr val="C00000"/>
                </a:solidFill>
                <a:latin typeface="Calibri"/>
                <a:ea typeface="Calibri"/>
                <a:cs typeface="Calibri"/>
              </a:rPr>
              <a:t>discount rate </a:t>
            </a:r>
            <a:r>
              <a:rPr lang="en-US" sz="2800" b="1">
                <a:solidFill>
                  <a:schemeClr val="dk1"/>
                </a:solidFill>
                <a:latin typeface="Calibri"/>
                <a:ea typeface="Calibri"/>
                <a:cs typeface="Calibri"/>
              </a:rPr>
              <a:t>can be thought of as a </a:t>
            </a:r>
            <a:r>
              <a:rPr lang="en-US" sz="2800">
                <a:solidFill>
                  <a:srgbClr val="C00000"/>
                </a:solidFill>
                <a:latin typeface="Calibri"/>
                <a:ea typeface="Calibri"/>
                <a:cs typeface="Calibri"/>
              </a:rPr>
              <a:t>target rate of return</a:t>
            </a:r>
            <a:r>
              <a:rPr lang="en-US" sz="2800">
                <a:solidFill>
                  <a:schemeClr val="dk1"/>
                </a:solidFill>
                <a:latin typeface="Calibri"/>
                <a:ea typeface="Calibri"/>
                <a:cs typeface="Calibri"/>
              </a:rPr>
              <a:t>. </a:t>
            </a:r>
            <a:endParaRPr/>
          </a:p>
          <a:p>
            <a:pPr marL="228600" marR="0" lvl="0" indent="-228600" algn="l" rtl="0">
              <a:lnSpc>
                <a:spcPct val="90000"/>
              </a:lnSpc>
              <a:spcBef>
                <a:spcPts val="1000"/>
              </a:spcBef>
              <a:spcAft>
                <a:spcPts val="0"/>
              </a:spcAft>
              <a:buClr>
                <a:schemeClr val="dk1"/>
              </a:buClr>
              <a:buSzPts val="2800"/>
              <a:buFont typeface="Arial"/>
              <a:buChar char="•"/>
              <a:defRPr/>
            </a:pPr>
            <a:r>
              <a:rPr lang="en-US" sz="2800" b="1">
                <a:solidFill>
                  <a:schemeClr val="dk1"/>
                </a:solidFill>
                <a:latin typeface="Calibri"/>
                <a:ea typeface="Calibri"/>
                <a:cs typeface="Calibri"/>
              </a:rPr>
              <a:t>If we set a target rate of return of 15% we would reject any project that did not display a </a:t>
            </a:r>
            <a:r>
              <a:rPr lang="en-US" sz="2800">
                <a:solidFill>
                  <a:srgbClr val="C00000"/>
                </a:solidFill>
                <a:latin typeface="Calibri"/>
                <a:ea typeface="Calibri"/>
                <a:cs typeface="Calibri"/>
              </a:rPr>
              <a:t>NPV &gt; 0 </a:t>
            </a:r>
            <a:endParaRPr/>
          </a:p>
          <a:p>
            <a:pPr marL="228600" marR="0" lvl="0" indent="-228600" algn="l" rtl="0">
              <a:lnSpc>
                <a:spcPct val="90000"/>
              </a:lnSpc>
              <a:spcBef>
                <a:spcPts val="1000"/>
              </a:spcBef>
              <a:spcAft>
                <a:spcPts val="0"/>
              </a:spcAft>
              <a:buClr>
                <a:schemeClr val="dk1"/>
              </a:buClr>
              <a:buSzPts val="2800"/>
              <a:buFont typeface="Arial"/>
              <a:buChar char="•"/>
              <a:defRPr/>
            </a:pPr>
            <a:endParaRPr lang="en-MY"/>
          </a:p>
          <a:p>
            <a:pPr marL="228600" marR="0" lvl="0" indent="-50800" algn="l" rtl="0">
              <a:lnSpc>
                <a:spcPct val="90000"/>
              </a:lnSpc>
              <a:spcBef>
                <a:spcPts val="1000"/>
              </a:spcBef>
              <a:spcAft>
                <a:spcPts val="0"/>
              </a:spcAft>
              <a:buClr>
                <a:schemeClr val="dk1"/>
              </a:buClr>
              <a:buSzPts val="2800"/>
              <a:buFont typeface="Arial"/>
              <a:buNone/>
              <a:defRPr/>
            </a:pPr>
            <a:endParaRPr sz="2800">
              <a:solidFill>
                <a:schemeClr val="dk1"/>
              </a:solidFill>
              <a:latin typeface="Calibri"/>
              <a:ea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78721925">
                                            <p:txEl>
                                              <p:pRg st="1" end="1"/>
                                            </p:txEl>
                                          </p:spTgt>
                                        </p:tgtEl>
                                        <p:attrNameLst>
                                          <p:attrName>style.visibility</p:attrName>
                                        </p:attrNameLst>
                                      </p:cBhvr>
                                      <p:to>
                                        <p:strVal val="visible"/>
                                      </p:to>
                                    </p:set>
                                    <p:animEffect transition="in" filter="wipe(left)">
                                      <p:cBhvr>
                                        <p:cTn id="7" dur="500"/>
                                        <p:tgtEl>
                                          <p:spTgt spid="10787219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1320460" name="Google Shape;665;p41"/>
          <p:cNvSpPr txBox="1">
            <a:spLocks noGrp="1"/>
          </p:cNvSpPr>
          <p:nvPr>
            <p:ph type="title"/>
          </p:nvPr>
        </p:nvSpPr>
        <p:spPr bwMode="auto">
          <a:xfrm>
            <a:off x="2743200" y="457200"/>
            <a:ext cx="5791200" cy="533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defRPr/>
            </a:pPr>
            <a:r>
              <a:rPr lang="en-US" b="1"/>
              <a:t>Net Present Value (NPV)</a:t>
            </a:r>
            <a:endParaRPr b="1"/>
          </a:p>
        </p:txBody>
      </p:sp>
      <p:sp>
        <p:nvSpPr>
          <p:cNvPr id="316524293" name="Google Shape;666;p4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41</a:t>
            </a:fld>
            <a:endParaRPr/>
          </a:p>
        </p:txBody>
      </p:sp>
      <p:sp>
        <p:nvSpPr>
          <p:cNvPr id="438898632" name="Google Shape;667;p41"/>
          <p:cNvSpPr txBox="1"/>
          <p:nvPr/>
        </p:nvSpPr>
        <p:spPr bwMode="auto">
          <a:xfrm>
            <a:off x="2782649" y="964852"/>
            <a:ext cx="4191000"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1.3 Project Appraisal</a:t>
            </a:r>
            <a:endParaRPr/>
          </a:p>
        </p:txBody>
      </p:sp>
      <p:cxnSp>
        <p:nvCxnSpPr>
          <p:cNvPr id="1387478568" name="Google Shape;668;p41"/>
          <p:cNvCxnSpPr/>
          <p:nvPr/>
        </p:nvCxnSpPr>
        <p:spPr bwMode="auto">
          <a:xfrm rot="10800000">
            <a:off x="2895600" y="1371600"/>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1340851818" name="Google Shape;669;p41"/>
          <p:cNvGrpSpPr/>
          <p:nvPr/>
        </p:nvGrpSpPr>
        <p:grpSpPr bwMode="auto">
          <a:xfrm>
            <a:off x="0" y="6980"/>
            <a:ext cx="2209800" cy="6851020"/>
            <a:chOff x="0" y="6980"/>
            <a:chExt cx="2209800" cy="6851020"/>
          </a:xfrm>
        </p:grpSpPr>
        <p:pic>
          <p:nvPicPr>
            <p:cNvPr id="670" name="Google Shape;670;p41"/>
            <p:cNvPicPr/>
            <p:nvPr/>
          </p:nvPicPr>
          <p:blipFill rotWithShape="1">
            <a:blip r:embed="rId3">
              <a:alphaModFix/>
            </a:blip>
            <a:srcRect l="23750" t="0" r="39999" b="0"/>
            <a:stretch/>
          </p:blipFill>
          <p:spPr bwMode="auto">
            <a:xfrm>
              <a:off x="0" y="2800350"/>
              <a:ext cx="2209800" cy="4057650"/>
            </a:xfrm>
            <a:prstGeom prst="rect">
              <a:avLst/>
            </a:prstGeom>
            <a:noFill/>
            <a:ln>
              <a:noFill/>
            </a:ln>
          </p:spPr>
        </p:pic>
        <p:pic>
          <p:nvPicPr>
            <p:cNvPr id="671" name="Google Shape;671;p41"/>
            <p:cNvPicPr/>
            <p:nvPr/>
          </p:nvPicPr>
          <p:blipFill rotWithShape="1">
            <a:blip r:embed="rId4">
              <a:alphaModFix/>
            </a:blip>
            <a:srcRect l="8750" t="0" r="55000" b="0"/>
            <a:stretch/>
          </p:blipFill>
          <p:spPr bwMode="auto">
            <a:xfrm>
              <a:off x="0" y="6980"/>
              <a:ext cx="2209800" cy="3590925"/>
            </a:xfrm>
            <a:prstGeom prst="rect">
              <a:avLst/>
            </a:prstGeom>
            <a:noFill/>
            <a:ln>
              <a:noFill/>
            </a:ln>
          </p:spPr>
        </p:pic>
      </p:grpSp>
      <p:graphicFrame>
        <p:nvGraphicFramePr>
          <p:cNvPr id="41577252" name="Google Shape;672;p41"/>
          <p:cNvGraphicFramePr>
            <a:graphicFrameLocks xmlns:a="http://schemas.openxmlformats.org/drawingml/2006/main"/>
          </p:cNvGraphicFramePr>
          <p:nvPr/>
        </p:nvGraphicFramePr>
        <p:xfrm rot="0">
          <a:off x="2895600" y="1826447"/>
          <a:ext cx="7620000" cy="3264800"/>
        </p:xfrm>
        <a:graphic>
          <a:graphicData uri="http://schemas.openxmlformats.org/drawingml/2006/table">
            <a:tbl>
              <a:tblPr firstRow="0" firstCol="0" lastRow="0" lastCol="0" bandRow="0" bandCol="0">
                <a:tableStyleId>{4C38C2D8-9331-4F24-B9CF-3786705C414E}</a:tableStyleId>
                <a:noFill/>
              </a:tblPr>
              <a:tblGrid>
                <a:gridCol w="1295400"/>
                <a:gridCol w="2108200"/>
                <a:gridCol w="2108200"/>
                <a:gridCol w="2108200"/>
              </a:tblGrid>
              <a:tr h="640050">
                <a:tc>
                  <a:txBody>
                    <a:bodyPr/>
                    <a:p>
                      <a:pPr marL="0" marR="0" lvl="0" indent="0" algn="l" rtl="0">
                        <a:lnSpc>
                          <a:spcPct val="100000"/>
                        </a:lnSpc>
                        <a:spcBef>
                          <a:spcPts val="0"/>
                        </a:spcBef>
                        <a:spcAft>
                          <a:spcPts val="0"/>
                        </a:spcAft>
                        <a:buClr>
                          <a:schemeClr val="dk1"/>
                        </a:buClr>
                        <a:buSzPts val="1800"/>
                        <a:buFont typeface="Times New Roman"/>
                        <a:buNone/>
                        <a:defRPr/>
                      </a:pPr>
                      <a:r>
                        <a:rPr lang="en-US" sz="1800" b="1" i="0" u="none" strike="noStrike" cap="none">
                          <a:solidFill>
                            <a:schemeClr val="dk1"/>
                          </a:solidFill>
                          <a:latin typeface="Times New Roman"/>
                          <a:ea typeface="Times New Roman"/>
                          <a:cs typeface="Times New Roman"/>
                        </a:rPr>
                        <a:t>Year</a:t>
                      </a:r>
                      <a:endParaRPr sz="1800" b="1" i="0" u="none" strike="noStrike" cap="none">
                        <a:solidFill>
                          <a:schemeClr val="dk1"/>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25400" algn="ctr">
                      <a:solidFill>
                        <a:schemeClr val="dk1"/>
                      </a:solidFill>
                    </a:lnB>
                    <a:solidFill>
                      <a:srgbClr val="FEFEEF"/>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1" i="0" u="none" strike="noStrike" cap="none">
                          <a:solidFill>
                            <a:srgbClr val="FF0000"/>
                          </a:solidFill>
                          <a:latin typeface="Times New Roman"/>
                          <a:ea typeface="Times New Roman"/>
                          <a:cs typeface="Times New Roman"/>
                        </a:rPr>
                        <a:t>Project 2</a:t>
                      </a:r>
                      <a:r>
                        <a:rPr lang="en-US" sz="1800" b="1" i="0" u="none" strike="noStrike" cap="none">
                          <a:solidFill>
                            <a:schemeClr val="dk1"/>
                          </a:solidFill>
                          <a:latin typeface="Times New Roman"/>
                          <a:ea typeface="Times New Roman"/>
                          <a:cs typeface="Times New Roman"/>
                        </a:rPr>
                        <a:t> Cash Flow (RM)</a:t>
                      </a:r>
                      <a:endParaRPr sz="1800" b="1" i="0" u="none" strike="noStrike" cap="none">
                        <a:solidFill>
                          <a:schemeClr val="dk1"/>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25400" algn="ctr">
                      <a:solidFill>
                        <a:schemeClr val="dk1"/>
                      </a:solidFill>
                    </a:lnB>
                    <a:solidFill>
                      <a:srgbClr val="FEFEEF"/>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1" i="0" u="none" strike="noStrike" cap="none">
                          <a:solidFill>
                            <a:schemeClr val="dk1"/>
                          </a:solidFill>
                          <a:latin typeface="Times New Roman"/>
                          <a:ea typeface="Times New Roman"/>
                          <a:cs typeface="Times New Roman"/>
                        </a:rPr>
                        <a:t>Discount Factor </a:t>
                      </a:r>
                      <a:endParaRPr/>
                    </a:p>
                    <a:p>
                      <a:pPr marL="0" marR="0" lvl="0" indent="0" algn="r" rtl="0">
                        <a:lnSpc>
                          <a:spcPct val="100000"/>
                        </a:lnSpc>
                        <a:spcBef>
                          <a:spcPts val="0"/>
                        </a:spcBef>
                        <a:spcAft>
                          <a:spcPts val="0"/>
                        </a:spcAft>
                        <a:buClr>
                          <a:schemeClr val="dk1"/>
                        </a:buClr>
                        <a:buSzPts val="1800"/>
                        <a:buFont typeface="Times New Roman"/>
                        <a:buNone/>
                        <a:defRPr/>
                      </a:pPr>
                      <a:r>
                        <a:rPr lang="en-US" sz="1800" b="1" i="0" u="none" strike="noStrike" cap="none">
                          <a:solidFill>
                            <a:srgbClr val="FF0000"/>
                          </a:solidFill>
                          <a:highlight>
                            <a:srgbClr val="FFFF00"/>
                          </a:highlight>
                          <a:latin typeface="Times New Roman"/>
                          <a:ea typeface="Times New Roman"/>
                          <a:cs typeface="Times New Roman"/>
                        </a:rPr>
                        <a:t>@ 10%</a:t>
                      </a:r>
                      <a:endParaRPr sz="1800" b="1" i="0" u="none" strike="noStrike" cap="none">
                        <a:solidFill>
                          <a:srgbClr val="FF0000"/>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25400" algn="ctr">
                      <a:solidFill>
                        <a:schemeClr val="dk1"/>
                      </a:solidFill>
                    </a:lnB>
                    <a:solidFill>
                      <a:srgbClr val="FEFEEF"/>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1" i="0" u="none" strike="noStrike" cap="none">
                          <a:solidFill>
                            <a:schemeClr val="dk1"/>
                          </a:solidFill>
                          <a:latin typeface="Times New Roman"/>
                          <a:ea typeface="Times New Roman"/>
                          <a:cs typeface="Times New Roman"/>
                        </a:rPr>
                        <a:t>Discounted Cash Flow</a:t>
                      </a:r>
                      <a:endParaRPr sz="1800" b="1" i="0" u="none" strike="noStrike" cap="none">
                        <a:solidFill>
                          <a:schemeClr val="dk1"/>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25400" algn="ctr">
                      <a:solidFill>
                        <a:schemeClr val="dk1"/>
                      </a:solidFill>
                    </a:lnB>
                    <a:solidFill>
                      <a:srgbClr val="FEFEEF"/>
                    </a:solidFill>
                  </a:tcPr>
                </a:tc>
              </a:tr>
              <a:tr h="371425">
                <a:tc>
                  <a:txBody>
                    <a:bodyPr/>
                    <a:p>
                      <a:pPr marL="0" marR="0" lvl="0" indent="0" algn="l"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0</a:t>
                      </a:r>
                      <a:endParaRPr sz="1800" b="0" i="0" u="none" strike="noStrike" cap="none">
                        <a:solidFill>
                          <a:schemeClr val="dk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highlight>
                            <a:srgbClr val="FFFF00"/>
                          </a:highlight>
                          <a:latin typeface="Arial"/>
                          <a:ea typeface="Arial"/>
                          <a:cs typeface="Arial"/>
                        </a:rPr>
                        <a:t>-1,000,000</a:t>
                      </a:r>
                      <a:endParaRPr>
                        <a:highlight>
                          <a:srgbClr val="FFFF00"/>
                        </a:highlight>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latin typeface="Times New Roman"/>
                          <a:ea typeface="Times New Roman"/>
                          <a:cs typeface="Times New Roman"/>
                        </a:rPr>
                        <a:t>1.0000</a:t>
                      </a:r>
                      <a:endParaRPr sz="1800" b="0" i="0" u="none" strike="noStrike" cap="none">
                        <a:solidFill>
                          <a:schemeClr val="dk1"/>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latin typeface="Times New Roman"/>
                          <a:ea typeface="Times New Roman"/>
                          <a:cs typeface="Times New Roman"/>
                        </a:rPr>
                        <a:t>-1,000,000</a:t>
                      </a:r>
                      <a:endParaRPr sz="1800" b="0" i="0" u="none" strike="noStrike" cap="none">
                        <a:solidFill>
                          <a:schemeClr val="dk1"/>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25400" algn="ctr">
                      <a:solidFill>
                        <a:schemeClr val="dk1"/>
                      </a:solidFill>
                    </a:lnT>
                    <a:lnB w="9525" algn="ctr">
                      <a:solidFill>
                        <a:srgbClr val="000000">
                          <a:alpha val="0"/>
                        </a:srgbClr>
                      </a:solidFill>
                    </a:lnB>
                    <a:solidFill>
                      <a:srgbClr val="E7E7E7"/>
                    </a:solidFill>
                  </a:tcPr>
                </a:tc>
              </a:tr>
              <a:tr h="371425">
                <a:tc>
                  <a:txBody>
                    <a:bodyPr/>
                    <a:p>
                      <a:pPr marL="0" marR="0" lvl="0" indent="0" algn="l"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1</a:t>
                      </a:r>
                      <a:endParaRPr sz="1800" b="0" i="0" u="none" strike="noStrike" cap="none">
                        <a:solidFill>
                          <a:schemeClr val="dk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highlight>
                            <a:srgbClr val="FFFF00"/>
                          </a:highlight>
                          <a:latin typeface="Arial"/>
                          <a:ea typeface="Arial"/>
                          <a:cs typeface="Arial"/>
                        </a:rPr>
                        <a:t>200,000</a:t>
                      </a:r>
                      <a:endParaRPr>
                        <a:highlight>
                          <a:srgbClr val="FFFF00"/>
                        </a:highlight>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latin typeface="Times New Roman"/>
                          <a:ea typeface="Times New Roman"/>
                          <a:cs typeface="Times New Roman"/>
                        </a:rPr>
                        <a:t>0.9091</a:t>
                      </a:r>
                      <a:endParaRPr sz="1800" b="0" i="0" u="none" strike="noStrike" cap="none">
                        <a:solidFill>
                          <a:schemeClr val="dk1"/>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latin typeface="Times New Roman"/>
                          <a:ea typeface="Times New Roman"/>
                          <a:cs typeface="Times New Roman"/>
                        </a:rPr>
                        <a:t>181,820</a:t>
                      </a:r>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r>
              <a:tr h="371425">
                <a:tc>
                  <a:txBody>
                    <a:bodyPr/>
                    <a:p>
                      <a:pPr marL="0" marR="0" lvl="0" indent="0" algn="l"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2</a:t>
                      </a:r>
                      <a:endParaRPr sz="1800" b="0" i="0" u="none" strike="noStrike" cap="none">
                        <a:solidFill>
                          <a:schemeClr val="dk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highlight>
                            <a:srgbClr val="FFFF00"/>
                          </a:highlight>
                          <a:latin typeface="Arial"/>
                          <a:ea typeface="Arial"/>
                          <a:cs typeface="Arial"/>
                        </a:rPr>
                        <a:t>200,000</a:t>
                      </a:r>
                      <a:endParaRPr>
                        <a:highlight>
                          <a:srgbClr val="FFFF00"/>
                        </a:highlight>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latin typeface="Times New Roman"/>
                          <a:ea typeface="Times New Roman"/>
                          <a:cs typeface="Times New Roman"/>
                        </a:rPr>
                        <a:t>0.8264</a:t>
                      </a:r>
                      <a:endParaRPr sz="1800" b="0" i="0" u="none" strike="noStrike" cap="none">
                        <a:solidFill>
                          <a:schemeClr val="dk1"/>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latin typeface="Times New Roman"/>
                          <a:ea typeface="Times New Roman"/>
                          <a:cs typeface="Times New Roman"/>
                        </a:rPr>
                        <a:t>165,280</a:t>
                      </a:r>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r>
              <a:tr h="371425">
                <a:tc>
                  <a:txBody>
                    <a:bodyPr/>
                    <a:p>
                      <a:pPr marL="0" marR="0" lvl="0" indent="0" algn="l"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3</a:t>
                      </a:r>
                      <a:endParaRPr sz="1800" b="0" i="0" u="none" strike="noStrike" cap="none">
                        <a:solidFill>
                          <a:schemeClr val="dk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highlight>
                            <a:srgbClr val="FFFF00"/>
                          </a:highlight>
                          <a:latin typeface="Arial"/>
                          <a:ea typeface="Arial"/>
                          <a:cs typeface="Arial"/>
                        </a:rPr>
                        <a:t>200,000</a:t>
                      </a:r>
                      <a:endParaRPr>
                        <a:highlight>
                          <a:srgbClr val="FFFF00"/>
                        </a:highlight>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latin typeface="Times New Roman"/>
                          <a:ea typeface="Times New Roman"/>
                          <a:cs typeface="Times New Roman"/>
                        </a:rPr>
                        <a:t>0.7513</a:t>
                      </a:r>
                      <a:endParaRPr sz="1800" b="0" i="0" u="none" strike="noStrike" cap="none">
                        <a:solidFill>
                          <a:schemeClr val="dk1"/>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latin typeface="Times New Roman"/>
                          <a:ea typeface="Times New Roman"/>
                          <a:cs typeface="Times New Roman"/>
                        </a:rPr>
                        <a:t>150,260</a:t>
                      </a:r>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r>
              <a:tr h="371425">
                <a:tc>
                  <a:txBody>
                    <a:bodyPr/>
                    <a:p>
                      <a:pPr marL="0" marR="0" lvl="0" indent="0" algn="l"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4</a:t>
                      </a:r>
                      <a:endParaRPr sz="1800" b="0" i="0" u="none" strike="noStrike" cap="none">
                        <a:solidFill>
                          <a:schemeClr val="dk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highlight>
                            <a:srgbClr val="FFFF00"/>
                          </a:highlight>
                          <a:latin typeface="Arial"/>
                          <a:ea typeface="Arial"/>
                          <a:cs typeface="Arial"/>
                        </a:rPr>
                        <a:t>200,000</a:t>
                      </a:r>
                      <a:endParaRPr>
                        <a:highlight>
                          <a:srgbClr val="FFFF00"/>
                        </a:highlight>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latin typeface="Times New Roman"/>
                          <a:ea typeface="Times New Roman"/>
                          <a:cs typeface="Times New Roman"/>
                        </a:rPr>
                        <a:t>0.6830</a:t>
                      </a:r>
                      <a:endParaRPr sz="1800" b="0" i="0" u="none" strike="noStrike" cap="none">
                        <a:solidFill>
                          <a:schemeClr val="dk1"/>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latin typeface="Times New Roman"/>
                          <a:ea typeface="Times New Roman"/>
                          <a:cs typeface="Times New Roman"/>
                        </a:rPr>
                        <a:t>136,600</a:t>
                      </a:r>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rgbClr val="E7E7E7"/>
                    </a:solidFill>
                  </a:tcPr>
                </a:tc>
              </a:tr>
              <a:tr h="371425">
                <a:tc>
                  <a:txBody>
                    <a:bodyPr/>
                    <a:p>
                      <a:pPr marL="0" marR="0" lvl="0" indent="0" algn="l"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highlight>
                            <a:srgbClr val="FFFF00"/>
                          </a:highlight>
                          <a:latin typeface="Times New Roman"/>
                          <a:ea typeface="Times New Roman"/>
                          <a:cs typeface="Times New Roman"/>
                        </a:rPr>
                        <a:t>5</a:t>
                      </a:r>
                      <a:endParaRPr sz="1800" b="0" i="0" u="none" strike="noStrike" cap="none">
                        <a:solidFill>
                          <a:schemeClr val="dk1"/>
                        </a:solidFill>
                        <a:highlight>
                          <a:srgbClr val="FFFF00"/>
                        </a:highlight>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highlight>
                            <a:srgbClr val="FFFF00"/>
                          </a:highlight>
                          <a:latin typeface="Arial"/>
                          <a:ea typeface="Arial"/>
                          <a:cs typeface="Arial"/>
                        </a:rPr>
                        <a:t>300,000</a:t>
                      </a:r>
                      <a:endParaRPr>
                        <a:highlight>
                          <a:srgbClr val="FFFF00"/>
                        </a:highlight>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latin typeface="Times New Roman"/>
                          <a:ea typeface="Times New Roman"/>
                          <a:cs typeface="Times New Roman"/>
                        </a:rPr>
                        <a:t>0.6209</a:t>
                      </a:r>
                      <a:endParaRPr sz="1800" b="0" i="0" u="none" strike="noStrike" cap="none">
                        <a:solidFill>
                          <a:schemeClr val="dk1"/>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latin typeface="Times New Roman"/>
                          <a:ea typeface="Times New Roman"/>
                          <a:cs typeface="Times New Roman"/>
                        </a:rPr>
                        <a:t>186,270</a:t>
                      </a:r>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9525" algn="ctr">
                      <a:solidFill>
                        <a:srgbClr val="000000">
                          <a:alpha val="0"/>
                        </a:srgbClr>
                      </a:solidFill>
                    </a:lnB>
                    <a:solidFill>
                      <a:schemeClr val="lt1"/>
                    </a:solidFill>
                  </a:tcPr>
                </a:tc>
              </a:tr>
              <a:tr h="371425">
                <a:tc>
                  <a:txBody>
                    <a:bodyPr/>
                    <a:p>
                      <a:pPr marL="0" marR="0" lvl="0" indent="0" algn="l" rtl="0">
                        <a:lnSpc>
                          <a:spcPct val="100000"/>
                        </a:lnSpc>
                        <a:spcBef>
                          <a:spcPts val="0"/>
                        </a:spcBef>
                        <a:spcAft>
                          <a:spcPts val="0"/>
                        </a:spcAft>
                        <a:buClr>
                          <a:schemeClr val="dk1"/>
                        </a:buClr>
                        <a:buSzPts val="1800"/>
                        <a:buFont typeface="Times New Roman"/>
                        <a:buNone/>
                        <a:defRPr/>
                      </a:pPr>
                      <a:r>
                        <a:rPr lang="en-US" sz="1800" b="0" i="0" u="none" strike="noStrike" cap="none">
                          <a:solidFill>
                            <a:schemeClr val="dk1"/>
                          </a:solidFill>
                          <a:latin typeface="Times New Roman"/>
                          <a:ea typeface="Times New Roman"/>
                          <a:cs typeface="Times New Roman"/>
                        </a:rPr>
                        <a:t>Net Profit</a:t>
                      </a:r>
                      <a:endParaRPr sz="1800" b="0" i="0" u="none" strike="noStrike" cap="none">
                        <a:solidFill>
                          <a:schemeClr val="dk1"/>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25400" algn="ctr">
                      <a:solidFill>
                        <a:schemeClr val="dk1"/>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Arial"/>
                        <a:buNone/>
                        <a:defRPr/>
                      </a:pPr>
                      <a:r>
                        <a:rPr lang="en-US" sz="1800" b="0" i="0" u="none" strike="noStrike" cap="none">
                          <a:solidFill>
                            <a:schemeClr val="dk1"/>
                          </a:solidFill>
                          <a:latin typeface="Arial"/>
                          <a:ea typeface="Arial"/>
                          <a:cs typeface="Arial"/>
                        </a:rPr>
                        <a:t>100,000</a:t>
                      </a:r>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25400" algn="ctr">
                      <a:solidFill>
                        <a:schemeClr val="dk1"/>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Calibri"/>
                        <a:buNone/>
                        <a:defRPr/>
                      </a:pPr>
                      <a:endParaRPr sz="1800" b="1" i="0" u="none" strike="noStrike" cap="none">
                        <a:solidFill>
                          <a:srgbClr val="C0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25400" algn="ctr">
                      <a:solidFill>
                        <a:schemeClr val="dk1"/>
                      </a:solidFill>
                    </a:lnB>
                    <a:solidFill>
                      <a:srgbClr val="E7E7E7"/>
                    </a:solidFill>
                  </a:tcPr>
                </a:tc>
                <a:tc>
                  <a:txBody>
                    <a:bodyPr/>
                    <a:p>
                      <a:pPr marL="0" marR="0" lvl="0" indent="0" algn="r" rtl="0">
                        <a:lnSpc>
                          <a:spcPct val="100000"/>
                        </a:lnSpc>
                        <a:spcBef>
                          <a:spcPts val="0"/>
                        </a:spcBef>
                        <a:spcAft>
                          <a:spcPts val="0"/>
                        </a:spcAft>
                        <a:buClr>
                          <a:schemeClr val="dk1"/>
                        </a:buClr>
                        <a:buSzPts val="1800"/>
                        <a:buFont typeface="Times New Roman"/>
                        <a:buNone/>
                        <a:defRPr/>
                      </a:pPr>
                      <a:r>
                        <a:rPr lang="en-US" sz="2000" b="0" i="0" u="none" strike="noStrike" cap="none">
                          <a:solidFill>
                            <a:srgbClr val="FF0000"/>
                          </a:solidFill>
                          <a:latin typeface="Times New Roman"/>
                          <a:ea typeface="Times New Roman"/>
                          <a:cs typeface="Times New Roman"/>
                        </a:rPr>
                        <a:t>NPV: </a:t>
                      </a:r>
                      <a:r>
                        <a:rPr lang="en-US" sz="2000" b="1" i="0" u="none" strike="noStrike" cap="none">
                          <a:solidFill>
                            <a:srgbClr val="FF0000"/>
                          </a:solidFill>
                          <a:latin typeface="Times New Roman"/>
                          <a:ea typeface="Times New Roman"/>
                          <a:cs typeface="Times New Roman"/>
                        </a:rPr>
                        <a:t>-179,770</a:t>
                      </a:r>
                      <a:endParaRPr sz="2000" b="1" i="0" u="none" strike="noStrike" cap="none">
                        <a:solidFill>
                          <a:srgbClr val="FF0000"/>
                        </a:solidFill>
                        <a:latin typeface="Times New Roman"/>
                        <a:ea typeface="Times New Roman"/>
                        <a:cs typeface="Times New Roman"/>
                      </a:endParaRPr>
                    </a:p>
                  </a:txBody>
                  <a:tcPr marL="91450" marR="91450" marT="45700" marB="45700">
                    <a:lnL w="9525" algn="ctr">
                      <a:solidFill>
                        <a:srgbClr val="000000">
                          <a:alpha val="0"/>
                        </a:srgbClr>
                      </a:solidFill>
                    </a:lnL>
                    <a:lnR w="9525" algn="ctr">
                      <a:solidFill>
                        <a:srgbClr val="000000">
                          <a:alpha val="0"/>
                        </a:srgbClr>
                      </a:solidFill>
                    </a:lnR>
                    <a:lnT w="9525" algn="ctr">
                      <a:solidFill>
                        <a:srgbClr val="000000">
                          <a:alpha val="0"/>
                        </a:srgbClr>
                      </a:solidFill>
                    </a:lnT>
                    <a:lnB w="25400" algn="ctr">
                      <a:solidFill>
                        <a:schemeClr val="dk1"/>
                      </a:solidFill>
                    </a:lnB>
                    <a:solidFill>
                      <a:srgbClr val="E7E7E7"/>
                    </a:solidFill>
                  </a:tcPr>
                </a:tc>
              </a:tr>
            </a:tbl>
          </a:graphicData>
        </a:graphic>
      </p:graphicFrame>
      <p:sp>
        <p:nvSpPr>
          <p:cNvPr id="987117476" name="Google Shape;617;p37"/>
          <p:cNvSpPr/>
          <p:nvPr/>
        </p:nvSpPr>
        <p:spPr bwMode="auto">
          <a:xfrm>
            <a:off x="2852038" y="5366896"/>
            <a:ext cx="8885459" cy="1631175"/>
          </a:xfrm>
          <a:prstGeom prst="rect">
            <a:avLst/>
          </a:prstGeom>
          <a:noFill/>
          <a:ln>
            <a:noFill/>
          </a:ln>
        </p:spPr>
        <p:txBody>
          <a:bodyPr spcFirstLastPara="1" wrap="square" lIns="91425" tIns="45700" rIns="91425" bIns="45700" anchor="t" anchorCtr="0">
            <a:spAutoFit/>
          </a:bodyPr>
          <a:lstStyle/>
          <a:p>
            <a:pPr marL="447675" indent="-447675">
              <a:buClr>
                <a:schemeClr val="dk1"/>
              </a:buClr>
              <a:buSzPts val="2400"/>
              <a:defRPr/>
            </a:pPr>
            <a:r>
              <a:rPr lang="en-US" sz="2000" b="1" u="sng">
                <a:solidFill>
                  <a:srgbClr val="0000FF"/>
                </a:solidFill>
                <a:latin typeface="Calibri"/>
                <a:ea typeface="Calibri"/>
                <a:cs typeface="Calibri"/>
              </a:rPr>
              <a:t>No :</a:t>
            </a:r>
            <a:r>
              <a:rPr lang="en-US" sz="2000" b="1">
                <a:solidFill>
                  <a:srgbClr val="0000FF"/>
                </a:solidFill>
                <a:latin typeface="Calibri"/>
                <a:ea typeface="Calibri"/>
                <a:cs typeface="Calibri"/>
              </a:rPr>
              <a:t> Project 2’s </a:t>
            </a:r>
            <a:r>
              <a:rPr lang="en-GB" sz="1800">
                <a:solidFill>
                  <a:srgbClr val="0000FF"/>
                </a:solidFill>
                <a:latin typeface="Calibri"/>
                <a:cs typeface="Calibri"/>
              </a:rPr>
              <a:t>NPV is negative which indicates that it </a:t>
            </a:r>
            <a:r>
              <a:rPr lang="en-GB" sz="1800">
                <a:solidFill>
                  <a:srgbClr val="FF0000"/>
                </a:solidFill>
                <a:latin typeface="Calibri"/>
                <a:cs typeface="Calibri"/>
              </a:rPr>
              <a:t>does not achieve the 10% target rate of return.</a:t>
            </a:r>
            <a:endParaRPr/>
          </a:p>
          <a:p>
            <a:pPr marL="447675">
              <a:buClr>
                <a:schemeClr val="dk1"/>
              </a:buClr>
              <a:buSzPts val="2400"/>
              <a:defRPr/>
            </a:pPr>
            <a:endParaRPr lang="en-GB" sz="800">
              <a:solidFill>
                <a:srgbClr val="0000FF"/>
              </a:solidFill>
              <a:latin typeface="Calibri"/>
              <a:cs typeface="Calibri"/>
            </a:endParaRPr>
          </a:p>
          <a:p>
            <a:pPr marL="447675">
              <a:buClr>
                <a:schemeClr val="dk1"/>
              </a:buClr>
              <a:buSzPts val="2400"/>
              <a:defRPr/>
            </a:pPr>
            <a:r>
              <a:rPr lang="en-GB" sz="1800">
                <a:solidFill>
                  <a:srgbClr val="0000FF"/>
                </a:solidFill>
                <a:latin typeface="Calibri"/>
                <a:cs typeface="Calibri"/>
              </a:rPr>
              <a:t>Project 2’s </a:t>
            </a:r>
            <a:r>
              <a:rPr lang="en-GB" sz="1800" b="1">
                <a:solidFill>
                  <a:srgbClr val="0000FF"/>
                </a:solidFill>
                <a:latin typeface="Calibri"/>
                <a:cs typeface="Calibri"/>
              </a:rPr>
              <a:t>PV of cash outflows(costs) &gt; PV of cash inflows (benefits) </a:t>
            </a:r>
            <a:r>
              <a:rPr lang="en-GB" sz="1800">
                <a:solidFill>
                  <a:srgbClr val="0000FF"/>
                </a:solidFill>
                <a:latin typeface="Calibri"/>
                <a:cs typeface="Calibri"/>
              </a:rPr>
              <a:t>over the 5-year period]. It is a net loss.</a:t>
            </a:r>
            <a:endParaRPr/>
          </a:p>
          <a:p>
            <a:pPr marL="268288" indent="-268288">
              <a:buClr>
                <a:schemeClr val="dk1"/>
              </a:buClr>
              <a:buSzPts val="2400"/>
              <a:buFont typeface="Arial"/>
              <a:buChar char="•"/>
              <a:defRPr/>
            </a:pPr>
            <a:endParaRPr lang="en-US" sz="1800">
              <a:solidFill>
                <a:srgbClr val="FF0000"/>
              </a:solidFill>
              <a:latin typeface="Calibri"/>
              <a:ea typeface="Calibri"/>
              <a:cs typeface="Calibri"/>
            </a:endParaRPr>
          </a:p>
        </p:txBody>
      </p:sp>
      <p:sp>
        <p:nvSpPr>
          <p:cNvPr id="168086701" name="TextBox 2"/>
          <p:cNvSpPr txBox="1"/>
          <p:nvPr/>
        </p:nvSpPr>
        <p:spPr bwMode="auto">
          <a:xfrm>
            <a:off x="2832988" y="5110297"/>
            <a:ext cx="8281321" cy="400110"/>
          </a:xfrm>
          <a:prstGeom prst="rect">
            <a:avLst/>
          </a:prstGeom>
          <a:noFill/>
        </p:spPr>
        <p:txBody>
          <a:bodyPr wrap="square">
            <a:spAutoFit/>
          </a:bodyPr>
          <a:lstStyle/>
          <a:p>
            <a:pPr>
              <a:defRPr/>
            </a:pPr>
            <a:r>
              <a:rPr lang="en-US" sz="2000">
                <a:solidFill>
                  <a:srgbClr val="FF0000"/>
                </a:solidFill>
                <a:latin typeface="Calibri"/>
                <a:ea typeface="Calibri"/>
                <a:cs typeface="Calibri"/>
              </a:rPr>
              <a:t>Is it worth to pursue </a:t>
            </a:r>
            <a:r>
              <a:rPr lang="en-US" sz="2000" b="1">
                <a:solidFill>
                  <a:srgbClr val="FF0000"/>
                </a:solidFill>
                <a:latin typeface="Calibri"/>
                <a:ea typeface="Calibri"/>
                <a:cs typeface="Calibri"/>
              </a:rPr>
              <a:t>Project 2?</a:t>
            </a:r>
            <a:endParaRPr lang="en-GB" sz="2000">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8086701"/>
                                        </p:tgtEl>
                                        <p:attrNameLst>
                                          <p:attrName>style.visibility</p:attrName>
                                        </p:attrNameLst>
                                      </p:cBhvr>
                                      <p:to>
                                        <p:strVal val="visible"/>
                                      </p:to>
                                    </p:set>
                                    <p:anim calcmode="lin" valueType="num">
                                      <p:cBhvr additive="base">
                                        <p:cTn id="7" dur="500" fill="hold"/>
                                        <p:tgtEl>
                                          <p:spTgt spid="168086701"/>
                                        </p:tgtEl>
                                        <p:attrNameLst>
                                          <p:attrName>ppt_x</p:attrName>
                                        </p:attrNameLst>
                                      </p:cBhvr>
                                      <p:tavLst>
                                        <p:tav tm="0">
                                          <p:val>
                                            <p:strVal val="#ppt_x"/>
                                          </p:val>
                                        </p:tav>
                                        <p:tav tm="100000">
                                          <p:val>
                                            <p:strVal val="#ppt_x"/>
                                          </p:val>
                                        </p:tav>
                                      </p:tavLst>
                                    </p:anim>
                                    <p:anim calcmode="lin" valueType="num">
                                      <p:cBhvr additive="base">
                                        <p:cTn id="8" dur="500" fill="hold"/>
                                        <p:tgtEl>
                                          <p:spTgt spid="16808670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87117476"/>
                                        </p:tgtEl>
                                        <p:attrNameLst>
                                          <p:attrName>style.visibility</p:attrName>
                                        </p:attrNameLst>
                                      </p:cBhvr>
                                      <p:to>
                                        <p:strVal val="visible"/>
                                      </p:to>
                                    </p:set>
                                    <p:anim calcmode="lin" valueType="num">
                                      <p:cBhvr additive="base">
                                        <p:cTn id="13" dur="500" fill="hold"/>
                                        <p:tgtEl>
                                          <p:spTgt spid="987117476"/>
                                        </p:tgtEl>
                                        <p:attrNameLst>
                                          <p:attrName>ppt_x</p:attrName>
                                        </p:attrNameLst>
                                      </p:cBhvr>
                                      <p:tavLst>
                                        <p:tav tm="0">
                                          <p:val>
                                            <p:strVal val="#ppt_x"/>
                                          </p:val>
                                        </p:tav>
                                        <p:tav tm="100000">
                                          <p:val>
                                            <p:strVal val="#ppt_x"/>
                                          </p:val>
                                        </p:tav>
                                      </p:tavLst>
                                    </p:anim>
                                    <p:anim calcmode="lin" valueType="num">
                                      <p:cBhvr additive="base">
                                        <p:cTn id="14" dur="500" fill="hold"/>
                                        <p:tgtEl>
                                          <p:spTgt spid="9871174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7117476" grpId="0"/>
      <p:bldP spid="168086701" grpId="0"/>
    </p:bldLst>
  </p:timing>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6753724" name="Google Shape;691;p43"/>
          <p:cNvSpPr txBox="1">
            <a:spLocks noGrp="1"/>
          </p:cNvSpPr>
          <p:nvPr>
            <p:ph type="title"/>
          </p:nvPr>
        </p:nvSpPr>
        <p:spPr bwMode="auto">
          <a:xfrm>
            <a:off x="697424" y="365125"/>
            <a:ext cx="10656376"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libri"/>
              <a:buNone/>
              <a:defRPr/>
            </a:pPr>
            <a:r>
              <a:rPr lang="en-US" sz="2400" b="1">
                <a:solidFill>
                  <a:srgbClr val="FF0000"/>
                </a:solidFill>
              </a:rPr>
              <a:t>Exercise</a:t>
            </a:r>
            <a:r>
              <a:rPr lang="en-US" sz="2400"/>
              <a:t>: Using a discount rate of </a:t>
            </a:r>
            <a:r>
              <a:rPr lang="en-US" sz="2400">
                <a:solidFill>
                  <a:srgbClr val="FF0000"/>
                </a:solidFill>
              </a:rPr>
              <a:t>9%, </a:t>
            </a:r>
            <a:r>
              <a:rPr lang="en-US" sz="2400"/>
              <a:t>calculate the NPV and ROI for </a:t>
            </a:r>
            <a:r>
              <a:rPr lang="en-US" sz="2400" b="1"/>
              <a:t>Project B.</a:t>
            </a:r>
            <a:endParaRPr b="1"/>
          </a:p>
        </p:txBody>
      </p:sp>
      <p:graphicFrame>
        <p:nvGraphicFramePr>
          <p:cNvPr id="686524008" name="Google Shape;692;p43"/>
          <p:cNvGraphicFramePr>
            <a:graphicFrameLocks xmlns:a="http://schemas.openxmlformats.org/drawingml/2006/main"/>
          </p:cNvGraphicFramePr>
          <p:nvPr/>
        </p:nvGraphicFramePr>
        <p:xfrm rot="0">
          <a:off x="807720" y="1447800"/>
          <a:ext cx="10546099" cy="5126766"/>
        </p:xfrm>
        <a:graphic>
          <a:graphicData uri="http://schemas.openxmlformats.org/drawingml/2006/table">
            <a:tbl>
              <a:tblPr firstRow="1" firstCol="1" lastRow="0" lastCol="0" bandRow="1" bandCol="0">
                <a:tableStyleId>{EA8E3DBC-DD3C-47B4-B7B0-9EDAE2CE88E3}</a:tableStyleId>
                <a:noFill/>
              </a:tblPr>
              <a:tblGrid>
                <a:gridCol w="1903349"/>
                <a:gridCol w="1611250"/>
                <a:gridCol w="1757300"/>
                <a:gridCol w="1757300"/>
                <a:gridCol w="1758450"/>
                <a:gridCol w="1758450"/>
              </a:tblGrid>
              <a:tr h="282575">
                <a:tc>
                  <a:txBody>
                    <a:bodyPr/>
                    <a:p>
                      <a:pPr marL="0" marR="0" lvl="0" indent="0" algn="l" rtl="0">
                        <a:lnSpc>
                          <a:spcPct val="114999"/>
                        </a:lnSpc>
                        <a:spcBef>
                          <a:spcPts val="0"/>
                        </a:spcBef>
                        <a:spcAft>
                          <a:spcPts val="0"/>
                        </a:spcAft>
                        <a:buNone/>
                        <a:defRPr/>
                      </a:pPr>
                      <a:r>
                        <a:rPr lang="en-US" sz="2400" u="none" strike="noStrike" cap="none">
                          <a:solidFill>
                            <a:schemeClr val="dk1"/>
                          </a:solidFill>
                        </a:rPr>
                        <a:t>Project B</a:t>
                      </a:r>
                      <a:endParaRPr sz="24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ctr" rtl="0">
                        <a:lnSpc>
                          <a:spcPct val="114999"/>
                        </a:lnSpc>
                        <a:spcBef>
                          <a:spcPts val="0"/>
                        </a:spcBef>
                        <a:spcAft>
                          <a:spcPts val="0"/>
                        </a:spcAft>
                        <a:buNone/>
                        <a:defRPr/>
                      </a:pPr>
                      <a:r>
                        <a:rPr lang="en-US" sz="1800" u="none" strike="noStrike" cap="none">
                          <a:solidFill>
                            <a:schemeClr val="dk1"/>
                          </a:solidFill>
                        </a:rPr>
                        <a:t>Year 0</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ctr" rtl="0">
                        <a:lnSpc>
                          <a:spcPct val="114999"/>
                        </a:lnSpc>
                        <a:spcBef>
                          <a:spcPts val="0"/>
                        </a:spcBef>
                        <a:spcAft>
                          <a:spcPts val="0"/>
                        </a:spcAft>
                        <a:buNone/>
                        <a:defRPr/>
                      </a:pPr>
                      <a:r>
                        <a:rPr lang="en-US" sz="1800" u="none" strike="noStrike" cap="none">
                          <a:solidFill>
                            <a:schemeClr val="dk1"/>
                          </a:solidFill>
                        </a:rPr>
                        <a:t>Year 1</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ctr" rtl="0">
                        <a:lnSpc>
                          <a:spcPct val="114999"/>
                        </a:lnSpc>
                        <a:spcBef>
                          <a:spcPts val="0"/>
                        </a:spcBef>
                        <a:spcAft>
                          <a:spcPts val="0"/>
                        </a:spcAft>
                        <a:buNone/>
                        <a:defRPr/>
                      </a:pPr>
                      <a:r>
                        <a:rPr lang="en-US" sz="1800" u="none" strike="noStrike" cap="none">
                          <a:solidFill>
                            <a:schemeClr val="dk1"/>
                          </a:solidFill>
                        </a:rPr>
                        <a:t>Year 2</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ctr" rtl="0">
                        <a:lnSpc>
                          <a:spcPct val="114999"/>
                        </a:lnSpc>
                        <a:spcBef>
                          <a:spcPts val="0"/>
                        </a:spcBef>
                        <a:spcAft>
                          <a:spcPts val="0"/>
                        </a:spcAft>
                        <a:buNone/>
                        <a:defRPr/>
                      </a:pPr>
                      <a:r>
                        <a:rPr lang="en-US" sz="1800" u="none" strike="noStrike" cap="none">
                          <a:solidFill>
                            <a:schemeClr val="dk1"/>
                          </a:solidFill>
                        </a:rPr>
                        <a:t>Year 3</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ctr" rtl="0">
                        <a:lnSpc>
                          <a:spcPct val="114999"/>
                        </a:lnSpc>
                        <a:spcBef>
                          <a:spcPts val="0"/>
                        </a:spcBef>
                        <a:spcAft>
                          <a:spcPts val="0"/>
                        </a:spcAft>
                        <a:buNone/>
                        <a:defRPr/>
                      </a:pPr>
                      <a:r>
                        <a:rPr lang="en-US" sz="1800" u="none" strike="noStrike" cap="none">
                          <a:solidFill>
                            <a:schemeClr val="dk1"/>
                          </a:solidFill>
                        </a:rPr>
                        <a:t>Total</a:t>
                      </a:r>
                      <a:endParaRPr sz="1800" u="none" strike="noStrike" cap="none">
                        <a:solidFill>
                          <a:schemeClr val="dk1"/>
                        </a:solidFill>
                        <a:latin typeface="Times New Roman"/>
                        <a:ea typeface="Times New Roman"/>
                        <a:cs typeface="Times New Roman"/>
                      </a:endParaRPr>
                    </a:p>
                  </a:txBody>
                  <a:tcPr marL="68575" marR="68575" marT="0" marB="0" anchor="ctr"/>
                </a:tc>
              </a:tr>
              <a:tr h="282575">
                <a:tc>
                  <a:txBody>
                    <a:bodyPr/>
                    <a:p>
                      <a:pPr marL="0" marR="0" lvl="0" indent="0" algn="l" rtl="0">
                        <a:lnSpc>
                          <a:spcPct val="114999"/>
                        </a:lnSpc>
                        <a:spcBef>
                          <a:spcPts val="0"/>
                        </a:spcBef>
                        <a:spcAft>
                          <a:spcPts val="0"/>
                        </a:spcAft>
                        <a:buNone/>
                        <a:defRPr/>
                      </a:pPr>
                      <a:r>
                        <a:rPr lang="en-US" sz="1800" u="none" strike="noStrike" cap="none">
                          <a:solidFill>
                            <a:schemeClr val="dk1"/>
                          </a:solidFill>
                          <a:highlight>
                            <a:srgbClr val="FFFF00"/>
                          </a:highlight>
                        </a:rPr>
                        <a:t>Costs</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noFill/>
                  </a:tcP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100,000</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noFill/>
                  </a:tcP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60,000</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noFill/>
                  </a:tcP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60,000</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noFill/>
                  </a:tcP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50,000</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noFill/>
                  </a:tcP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 </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noFill/>
                  </a:tcPr>
                </a:tc>
              </a:tr>
              <a:tr h="282575">
                <a:tc>
                  <a:txBody>
                    <a:bodyPr/>
                    <a:p>
                      <a:pPr marL="0" marR="0" lvl="0" indent="0" algn="l" rtl="0">
                        <a:lnSpc>
                          <a:spcPct val="114999"/>
                        </a:lnSpc>
                        <a:spcBef>
                          <a:spcPts val="0"/>
                        </a:spcBef>
                        <a:spcAft>
                          <a:spcPts val="0"/>
                        </a:spcAft>
                        <a:buNone/>
                        <a:defRPr/>
                      </a:pPr>
                      <a:r>
                        <a:rPr lang="en-US" sz="1800" u="none" strike="noStrike" cap="none">
                          <a:solidFill>
                            <a:schemeClr val="dk1"/>
                          </a:solidFill>
                        </a:rPr>
                        <a:t>Discount Factor</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r>
              <a:tr h="565150">
                <a:tc>
                  <a:txBody>
                    <a:bodyPr/>
                    <a:p>
                      <a:pPr marL="0" marR="0" lvl="0" indent="0" algn="l" rtl="0">
                        <a:lnSpc>
                          <a:spcPct val="114999"/>
                        </a:lnSpc>
                        <a:spcBef>
                          <a:spcPts val="0"/>
                        </a:spcBef>
                        <a:spcAft>
                          <a:spcPts val="0"/>
                        </a:spcAft>
                        <a:buNone/>
                        <a:defRPr/>
                      </a:pPr>
                      <a:r>
                        <a:rPr lang="en-US" sz="1800" u="none" strike="noStrike" cap="none">
                          <a:solidFill>
                            <a:schemeClr val="dk1"/>
                          </a:solidFill>
                        </a:rPr>
                        <a:t>Discounted Costs</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r>
              <a:tr h="282575">
                <a:tc gridSpan="6">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hMerge="1">
                  <a:txBody>
                    <a:bodyPr/>
                    <a:p>
                      <a:endParaRPr/>
                    </a:p>
                  </a:txBody>
                </a:tc>
                <a:tc hMerge="1">
                  <a:txBody>
                    <a:bodyPr/>
                    <a:p>
                      <a:endParaRPr/>
                    </a:p>
                  </a:txBody>
                </a:tc>
                <a:tc hMerge="1">
                  <a:txBody>
                    <a:bodyPr/>
                    <a:p>
                      <a:endParaRPr/>
                    </a:p>
                  </a:txBody>
                </a:tc>
                <a:tc hMerge="1">
                  <a:txBody>
                    <a:bodyPr/>
                    <a:p>
                      <a:endParaRPr/>
                    </a:p>
                  </a:txBody>
                </a:tc>
                <a:tc hMerge="1">
                  <a:txBody>
                    <a:bodyPr/>
                    <a:p>
                      <a:endParaRPr/>
                    </a:p>
                  </a:txBody>
                </a:tc>
              </a:tr>
              <a:tr h="282575">
                <a:tc>
                  <a:txBody>
                    <a:bodyPr/>
                    <a:p>
                      <a:pPr marL="0" marR="0" lvl="0" indent="0" algn="l" rtl="0">
                        <a:lnSpc>
                          <a:spcPct val="114999"/>
                        </a:lnSpc>
                        <a:spcBef>
                          <a:spcPts val="0"/>
                        </a:spcBef>
                        <a:spcAft>
                          <a:spcPts val="0"/>
                        </a:spcAft>
                        <a:buNone/>
                        <a:defRPr/>
                      </a:pPr>
                      <a:r>
                        <a:rPr lang="en-US" sz="1800" u="none" strike="noStrike" cap="none">
                          <a:solidFill>
                            <a:schemeClr val="dk1"/>
                          </a:solidFill>
                          <a:highlight>
                            <a:srgbClr val="FFFF00"/>
                          </a:highlight>
                        </a:rPr>
                        <a:t>Benefits</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noFill/>
                  </a:tcP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0</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noFill/>
                  </a:tcP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80,000</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noFill/>
                  </a:tcP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90,000</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noFill/>
                  </a:tcP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180,000</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noFill/>
                  </a:tcP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 </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noFill/>
                  </a:tcPr>
                </a:tc>
              </a:tr>
              <a:tr h="282575">
                <a:tc>
                  <a:txBody>
                    <a:bodyPr/>
                    <a:p>
                      <a:pPr marL="0" marR="0" lvl="0" indent="0" algn="l" rtl="0">
                        <a:lnSpc>
                          <a:spcPct val="114999"/>
                        </a:lnSpc>
                        <a:spcBef>
                          <a:spcPts val="0"/>
                        </a:spcBef>
                        <a:spcAft>
                          <a:spcPts val="0"/>
                        </a:spcAft>
                        <a:buNone/>
                        <a:defRPr/>
                      </a:pPr>
                      <a:r>
                        <a:rPr lang="en-US" sz="1800" u="none" strike="noStrike" cap="none">
                          <a:solidFill>
                            <a:schemeClr val="dk1"/>
                          </a:solidFill>
                        </a:rPr>
                        <a:t>Discount Factor</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r>
              <a:tr h="565150">
                <a:tc>
                  <a:txBody>
                    <a:bodyPr/>
                    <a:p>
                      <a:pPr marL="0" marR="0" lvl="0" indent="0" algn="l" rtl="0">
                        <a:lnSpc>
                          <a:spcPct val="114999"/>
                        </a:lnSpc>
                        <a:spcBef>
                          <a:spcPts val="0"/>
                        </a:spcBef>
                        <a:spcAft>
                          <a:spcPts val="0"/>
                        </a:spcAft>
                        <a:buNone/>
                        <a:defRPr/>
                      </a:pPr>
                      <a:r>
                        <a:rPr lang="en-US" sz="1800" u="none" strike="noStrike" cap="none">
                          <a:solidFill>
                            <a:schemeClr val="dk1"/>
                          </a:solidFill>
                        </a:rPr>
                        <a:t>Discounted Benefits</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r>
              <a:tr h="282575">
                <a:tc gridSpan="6">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hMerge="1">
                  <a:txBody>
                    <a:bodyPr/>
                    <a:p>
                      <a:endParaRPr/>
                    </a:p>
                  </a:txBody>
                </a:tc>
                <a:tc hMerge="1">
                  <a:txBody>
                    <a:bodyPr/>
                    <a:p>
                      <a:endParaRPr/>
                    </a:p>
                  </a:txBody>
                </a:tc>
                <a:tc hMerge="1">
                  <a:txBody>
                    <a:bodyPr/>
                    <a:p>
                      <a:endParaRPr/>
                    </a:p>
                  </a:txBody>
                </a:tc>
                <a:tc hMerge="1">
                  <a:txBody>
                    <a:bodyPr/>
                    <a:p>
                      <a:endParaRPr/>
                    </a:p>
                  </a:txBody>
                </a:tc>
                <a:tc hMerge="1">
                  <a:txBody>
                    <a:bodyPr/>
                    <a:p>
                      <a:endParaRPr/>
                    </a:p>
                  </a:txBody>
                </a:tc>
              </a:tr>
              <a:tr h="565150">
                <a:tc>
                  <a:txBody>
                    <a:bodyPr/>
                    <a:p>
                      <a:pPr marL="0" marR="0" lvl="0" indent="0" algn="l" rtl="0">
                        <a:lnSpc>
                          <a:spcPct val="114999"/>
                        </a:lnSpc>
                        <a:spcBef>
                          <a:spcPts val="0"/>
                        </a:spcBef>
                        <a:spcAft>
                          <a:spcPts val="0"/>
                        </a:spcAft>
                        <a:buNone/>
                        <a:defRPr/>
                      </a:pPr>
                      <a:r>
                        <a:rPr lang="en-US" sz="1800" u="none" strike="noStrike" cap="none">
                          <a:solidFill>
                            <a:schemeClr val="dk1"/>
                          </a:solidFill>
                        </a:rPr>
                        <a:t>Discounted benefits – costs</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(100,000)</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r>
              <a:tr h="565150">
                <a:tc>
                  <a:txBody>
                    <a:bodyPr/>
                    <a:p>
                      <a:pPr marL="0" marR="0" lvl="0" indent="0" algn="l" rtl="0">
                        <a:lnSpc>
                          <a:spcPct val="114999"/>
                        </a:lnSpc>
                        <a:spcBef>
                          <a:spcPts val="0"/>
                        </a:spcBef>
                        <a:spcAft>
                          <a:spcPts val="0"/>
                        </a:spcAft>
                        <a:buNone/>
                        <a:defRPr/>
                      </a:pPr>
                      <a:r>
                        <a:rPr lang="en-US" sz="1800" u="none" strike="noStrike" cap="none">
                          <a:solidFill>
                            <a:schemeClr val="dk1"/>
                          </a:solidFill>
                        </a:rPr>
                        <a:t>Cumulative benefits - costs</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(100,000)</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r>
              <a:tr h="562000">
                <a:tc>
                  <a:txBody>
                    <a:bodyPr/>
                    <a:p>
                      <a:pPr marL="0" marR="0" lvl="0" indent="0" algn="l" rtl="0">
                        <a:lnSpc>
                          <a:spcPct val="114999"/>
                        </a:lnSpc>
                        <a:spcBef>
                          <a:spcPts val="0"/>
                        </a:spcBef>
                        <a:spcAft>
                          <a:spcPts val="0"/>
                        </a:spcAft>
                        <a:buNone/>
                        <a:defRPr/>
                      </a:pPr>
                      <a:r>
                        <a:rPr lang="en-US" sz="1800" u="none" strike="noStrike" cap="none">
                          <a:solidFill>
                            <a:schemeClr val="dk1"/>
                          </a:solidFill>
                        </a:rPr>
                        <a:t>ROI</a:t>
                      </a:r>
                      <a:endParaRPr sz="1800" u="none" strike="noStrike" cap="none">
                        <a:solidFill>
                          <a:schemeClr val="dk1"/>
                        </a:solidFill>
                        <a:latin typeface="Times New Roman"/>
                        <a:ea typeface="Times New Roman"/>
                        <a:cs typeface="Times New Roman"/>
                      </a:endParaRPr>
                    </a:p>
                  </a:txBody>
                  <a:tcPr marL="68575" marR="68575" marT="0" marB="0" anchor="ctr"/>
                </a:tc>
                <a:tc gridSpan="5">
                  <a:txBody>
                    <a:bodyPr/>
                    <a:p>
                      <a:pPr marL="0" marR="0" lvl="0" indent="0" algn="r" rtl="0">
                        <a:lnSpc>
                          <a:spcPct val="114999"/>
                        </a:lnSpc>
                        <a:spcBef>
                          <a:spcPts val="0"/>
                        </a:spcBef>
                        <a:spcAft>
                          <a:spcPts val="0"/>
                        </a:spcAft>
                        <a:buNone/>
                        <a:defRPr/>
                      </a:pPr>
                      <a:endParaRPr sz="1800" u="none" strike="noStrike" cap="none">
                        <a:solidFill>
                          <a:schemeClr val="dk1"/>
                        </a:solidFill>
                        <a:latin typeface="Times New Roman"/>
                        <a:ea typeface="Times New Roman"/>
                        <a:cs typeface="Times New Roman"/>
                      </a:endParaRPr>
                    </a:p>
                  </a:txBody>
                  <a:tcPr marL="68575" marR="68575" marT="0" marB="0" anchor="ctr"/>
                </a:tc>
                <a:tc hMerge="1">
                  <a:txBody>
                    <a:bodyPr/>
                    <a:p>
                      <a:endParaRPr/>
                    </a:p>
                  </a:txBody>
                </a:tc>
                <a:tc hMerge="1">
                  <a:txBody>
                    <a:bodyPr/>
                    <a:p>
                      <a:endParaRPr/>
                    </a:p>
                  </a:txBody>
                </a:tc>
                <a:tc hMerge="1">
                  <a:txBody>
                    <a:bodyPr/>
                    <a:p>
                      <a:endParaRPr/>
                    </a:p>
                  </a:txBody>
                </a:tc>
                <a:tc hMerge="1">
                  <a:txBody>
                    <a:bodyPr/>
                    <a:p>
                      <a:endParaRPr/>
                    </a:p>
                  </a:txBody>
                </a:tc>
              </a:tr>
            </a:tbl>
          </a:graphicData>
        </a:graphic>
      </p:graphicFrame>
      <p:sp>
        <p:nvSpPr>
          <p:cNvPr id="1599019427" name="Google Shape;693;p4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42</a:t>
            </a:f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86753724"/>
                                        </p:tgtEl>
                                        <p:attrNameLst>
                                          <p:attrName>style.visibility</p:attrName>
                                        </p:attrNameLst>
                                      </p:cBhvr>
                                      <p:to>
                                        <p:strVal val="visible"/>
                                      </p:to>
                                    </p:set>
                                    <p:anim calcmode="lin" valueType="num">
                                      <p:cBhvr additive="base">
                                        <p:cTn id="7" dur="500" fill="hold"/>
                                        <p:tgtEl>
                                          <p:spTgt spid="586753724"/>
                                        </p:tgtEl>
                                        <p:attrNameLst>
                                          <p:attrName>ppt_x</p:attrName>
                                        </p:attrNameLst>
                                      </p:cBhvr>
                                      <p:tavLst>
                                        <p:tav tm="0">
                                          <p:val>
                                            <p:strVal val="#ppt_x"/>
                                          </p:val>
                                        </p:tav>
                                        <p:tav tm="100000">
                                          <p:val>
                                            <p:strVal val="#ppt_x"/>
                                          </p:val>
                                        </p:tav>
                                      </p:tavLst>
                                    </p:anim>
                                    <p:anim calcmode="lin" valueType="num">
                                      <p:cBhvr additive="base">
                                        <p:cTn id="8" dur="500" fill="hold"/>
                                        <p:tgtEl>
                                          <p:spTgt spid="58675372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753724" grpId="0"/>
    </p:bldLst>
  </p:timing>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0450253" name="Google Shape;698;p44"/>
          <p:cNvSpPr txBox="1">
            <a:spLocks noGrp="1"/>
          </p:cNvSpPr>
          <p:nvPr>
            <p:ph type="title"/>
          </p:nvPr>
        </p:nvSpPr>
        <p:spPr bwMode="auto">
          <a:xfrm>
            <a:off x="533400" y="204788"/>
            <a:ext cx="10515600" cy="5492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400"/>
              <a:buFont typeface="Calibri"/>
              <a:buNone/>
              <a:defRPr/>
            </a:pPr>
            <a:r>
              <a:rPr lang="en-US" sz="2400" b="1">
                <a:solidFill>
                  <a:srgbClr val="FF0000"/>
                </a:solidFill>
              </a:rPr>
              <a:t>Exercise</a:t>
            </a:r>
            <a:r>
              <a:rPr lang="en-US" sz="2400"/>
              <a:t>: Using a discount rate of </a:t>
            </a:r>
            <a:r>
              <a:rPr lang="en-US" sz="2400">
                <a:solidFill>
                  <a:srgbClr val="FF0000"/>
                </a:solidFill>
              </a:rPr>
              <a:t>9%, </a:t>
            </a:r>
            <a:r>
              <a:rPr lang="en-US" sz="2400"/>
              <a:t>calculate the </a:t>
            </a:r>
            <a:r>
              <a:rPr lang="en-US" sz="2400">
                <a:solidFill>
                  <a:srgbClr val="FF0000"/>
                </a:solidFill>
              </a:rPr>
              <a:t>NPV</a:t>
            </a:r>
            <a:r>
              <a:rPr lang="en-US" sz="2400"/>
              <a:t> and </a:t>
            </a:r>
            <a:r>
              <a:rPr lang="en-US" sz="2400" b="1">
                <a:solidFill>
                  <a:srgbClr val="0000FF"/>
                </a:solidFill>
              </a:rPr>
              <a:t>ROI</a:t>
            </a:r>
            <a:r>
              <a:rPr lang="en-US" sz="2400"/>
              <a:t> for Project B.</a:t>
            </a:r>
            <a:endParaRPr/>
          </a:p>
        </p:txBody>
      </p:sp>
      <p:graphicFrame>
        <p:nvGraphicFramePr>
          <p:cNvPr id="1987112624" name="Google Shape;699;p44"/>
          <p:cNvGraphicFramePr>
            <a:graphicFrameLocks xmlns:a="http://schemas.openxmlformats.org/drawingml/2006/main"/>
          </p:cNvGraphicFramePr>
          <p:nvPr/>
        </p:nvGraphicFramePr>
        <p:xfrm rot="0">
          <a:off x="584200" y="1316708"/>
          <a:ext cx="10546099" cy="5343682"/>
        </p:xfrm>
        <a:graphic>
          <a:graphicData uri="http://schemas.openxmlformats.org/drawingml/2006/table">
            <a:tbl>
              <a:tblPr firstRow="1" firstCol="1" lastRow="0" lastCol="0" bandRow="1" bandCol="0">
                <a:tableStyleId>{EA8E3DBC-DD3C-47B4-B7B0-9EDAE2CE88E3}</a:tableStyleId>
                <a:noFill/>
              </a:tblPr>
              <a:tblGrid>
                <a:gridCol w="1903349"/>
                <a:gridCol w="1611250"/>
                <a:gridCol w="1757300"/>
                <a:gridCol w="1757300"/>
                <a:gridCol w="1758450"/>
                <a:gridCol w="1758450"/>
              </a:tblGrid>
              <a:tr h="282575">
                <a:tc>
                  <a:txBody>
                    <a:bodyPr/>
                    <a:p>
                      <a:pPr marL="0" marR="0" lvl="0" indent="0" algn="l" rtl="0">
                        <a:lnSpc>
                          <a:spcPct val="114999"/>
                        </a:lnSpc>
                        <a:spcBef>
                          <a:spcPts val="0"/>
                        </a:spcBef>
                        <a:spcAft>
                          <a:spcPts val="0"/>
                        </a:spcAft>
                        <a:buNone/>
                        <a:defRPr/>
                      </a:pPr>
                      <a:r>
                        <a:rPr lang="en-US" sz="1800" u="none" strike="noStrike" cap="none">
                          <a:solidFill>
                            <a:schemeClr val="dk1"/>
                          </a:solidFill>
                        </a:rPr>
                        <a:t>Project B</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ctr" rtl="0">
                        <a:lnSpc>
                          <a:spcPct val="114999"/>
                        </a:lnSpc>
                        <a:spcBef>
                          <a:spcPts val="0"/>
                        </a:spcBef>
                        <a:spcAft>
                          <a:spcPts val="0"/>
                        </a:spcAft>
                        <a:buNone/>
                        <a:defRPr/>
                      </a:pPr>
                      <a:r>
                        <a:rPr lang="en-US" sz="1800" u="none" strike="noStrike" cap="none">
                          <a:solidFill>
                            <a:schemeClr val="dk1"/>
                          </a:solidFill>
                        </a:rPr>
                        <a:t>Year 0</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ctr" rtl="0">
                        <a:lnSpc>
                          <a:spcPct val="114999"/>
                        </a:lnSpc>
                        <a:spcBef>
                          <a:spcPts val="0"/>
                        </a:spcBef>
                        <a:spcAft>
                          <a:spcPts val="0"/>
                        </a:spcAft>
                        <a:buNone/>
                        <a:defRPr/>
                      </a:pPr>
                      <a:r>
                        <a:rPr lang="en-US" sz="1800" u="none" strike="noStrike" cap="none">
                          <a:solidFill>
                            <a:schemeClr val="dk1"/>
                          </a:solidFill>
                        </a:rPr>
                        <a:t>Year 1</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ctr" rtl="0">
                        <a:lnSpc>
                          <a:spcPct val="114999"/>
                        </a:lnSpc>
                        <a:spcBef>
                          <a:spcPts val="0"/>
                        </a:spcBef>
                        <a:spcAft>
                          <a:spcPts val="0"/>
                        </a:spcAft>
                        <a:buNone/>
                        <a:defRPr/>
                      </a:pPr>
                      <a:r>
                        <a:rPr lang="en-US" sz="1800" u="none" strike="noStrike" cap="none">
                          <a:solidFill>
                            <a:schemeClr val="dk1"/>
                          </a:solidFill>
                        </a:rPr>
                        <a:t>Year 2</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ctr" rtl="0">
                        <a:lnSpc>
                          <a:spcPct val="114999"/>
                        </a:lnSpc>
                        <a:spcBef>
                          <a:spcPts val="0"/>
                        </a:spcBef>
                        <a:spcAft>
                          <a:spcPts val="0"/>
                        </a:spcAft>
                        <a:buNone/>
                        <a:defRPr/>
                      </a:pPr>
                      <a:r>
                        <a:rPr lang="en-US" sz="1800" u="none" strike="noStrike" cap="none">
                          <a:solidFill>
                            <a:schemeClr val="dk1"/>
                          </a:solidFill>
                        </a:rPr>
                        <a:t>Year 3</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ctr" rtl="0">
                        <a:lnSpc>
                          <a:spcPct val="114999"/>
                        </a:lnSpc>
                        <a:spcBef>
                          <a:spcPts val="0"/>
                        </a:spcBef>
                        <a:spcAft>
                          <a:spcPts val="0"/>
                        </a:spcAft>
                        <a:buNone/>
                        <a:defRPr/>
                      </a:pPr>
                      <a:r>
                        <a:rPr lang="en-US" sz="1800" u="none" strike="noStrike" cap="none">
                          <a:solidFill>
                            <a:schemeClr val="dk1"/>
                          </a:solidFill>
                        </a:rPr>
                        <a:t>Total</a:t>
                      </a:r>
                      <a:endParaRPr sz="1800" u="none" strike="noStrike" cap="none">
                        <a:solidFill>
                          <a:schemeClr val="dk1"/>
                        </a:solidFill>
                        <a:latin typeface="Times New Roman"/>
                        <a:ea typeface="Times New Roman"/>
                        <a:cs typeface="Times New Roman"/>
                      </a:endParaRPr>
                    </a:p>
                  </a:txBody>
                  <a:tcPr marL="68575" marR="68575" marT="0" marB="0" anchor="ctr"/>
                </a:tc>
              </a:tr>
              <a:tr h="282575">
                <a:tc>
                  <a:txBody>
                    <a:bodyPr/>
                    <a:p>
                      <a:pPr marL="0" marR="0" lvl="0" indent="0" algn="l" rtl="0">
                        <a:lnSpc>
                          <a:spcPct val="114999"/>
                        </a:lnSpc>
                        <a:spcBef>
                          <a:spcPts val="0"/>
                        </a:spcBef>
                        <a:spcAft>
                          <a:spcPts val="0"/>
                        </a:spcAft>
                        <a:buNone/>
                        <a:defRPr/>
                      </a:pPr>
                      <a:r>
                        <a:rPr lang="en-US" sz="1800" u="none" strike="noStrike" cap="none">
                          <a:solidFill>
                            <a:schemeClr val="dk1"/>
                          </a:solidFill>
                          <a:highlight>
                            <a:srgbClr val="FFFF00"/>
                          </a:highlight>
                        </a:rPr>
                        <a:t>Costs</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100,000</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60,000</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60,000</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50,000</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 </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tc>
              </a:tr>
              <a:tr h="282575">
                <a:tc>
                  <a:txBody>
                    <a:bodyPr/>
                    <a:p>
                      <a:pPr marL="0" marR="0" lvl="0" indent="0" algn="l" rtl="0">
                        <a:lnSpc>
                          <a:spcPct val="114999"/>
                        </a:lnSpc>
                        <a:spcBef>
                          <a:spcPts val="0"/>
                        </a:spcBef>
                        <a:spcAft>
                          <a:spcPts val="0"/>
                        </a:spcAft>
                        <a:buNone/>
                        <a:defRPr/>
                      </a:pPr>
                      <a:r>
                        <a:rPr lang="en-US" sz="1800" u="none" strike="noStrike" cap="none">
                          <a:solidFill>
                            <a:schemeClr val="dk1"/>
                          </a:solidFill>
                        </a:rPr>
                        <a:t>Discount Factor</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rgbClr val="FF0000"/>
                          </a:solidFill>
                        </a:rPr>
                        <a:t>1.0000</a:t>
                      </a: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r>
              <a:tr h="565150">
                <a:tc>
                  <a:txBody>
                    <a:bodyPr/>
                    <a:p>
                      <a:pPr marL="0" marR="0" lvl="0" indent="0" algn="l" rtl="0">
                        <a:lnSpc>
                          <a:spcPct val="114999"/>
                        </a:lnSpc>
                        <a:spcBef>
                          <a:spcPts val="0"/>
                        </a:spcBef>
                        <a:spcAft>
                          <a:spcPts val="0"/>
                        </a:spcAft>
                        <a:buNone/>
                        <a:defRPr/>
                      </a:pPr>
                      <a:r>
                        <a:rPr lang="en-US" sz="1800" u="none" strike="noStrike" cap="none">
                          <a:solidFill>
                            <a:schemeClr val="bg1"/>
                          </a:solidFill>
                        </a:rPr>
                        <a:t>Discounted Costs</a:t>
                      </a:r>
                      <a:endParaRPr sz="1800" u="none" strike="noStrike" cap="none">
                        <a:solidFill>
                          <a:schemeClr val="bg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100,000</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r>
              <a:tr h="282575">
                <a:tc gridSpan="6">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hMerge="1">
                  <a:txBody>
                    <a:bodyPr/>
                    <a:p>
                      <a:endParaRPr/>
                    </a:p>
                  </a:txBody>
                </a:tc>
                <a:tc hMerge="1">
                  <a:txBody>
                    <a:bodyPr/>
                    <a:p>
                      <a:endParaRPr/>
                    </a:p>
                  </a:txBody>
                </a:tc>
                <a:tc hMerge="1">
                  <a:txBody>
                    <a:bodyPr/>
                    <a:p>
                      <a:endParaRPr/>
                    </a:p>
                  </a:txBody>
                </a:tc>
                <a:tc hMerge="1">
                  <a:txBody>
                    <a:bodyPr/>
                    <a:p>
                      <a:endParaRPr/>
                    </a:p>
                  </a:txBody>
                </a:tc>
                <a:tc hMerge="1">
                  <a:txBody>
                    <a:bodyPr/>
                    <a:p>
                      <a:endParaRPr/>
                    </a:p>
                  </a:txBody>
                </a:tc>
              </a:tr>
              <a:tr h="282575">
                <a:tc>
                  <a:txBody>
                    <a:bodyPr/>
                    <a:p>
                      <a:pPr marL="0" marR="0" lvl="0" indent="0" algn="l" rtl="0">
                        <a:lnSpc>
                          <a:spcPct val="114999"/>
                        </a:lnSpc>
                        <a:spcBef>
                          <a:spcPts val="0"/>
                        </a:spcBef>
                        <a:spcAft>
                          <a:spcPts val="0"/>
                        </a:spcAft>
                        <a:buNone/>
                        <a:defRPr/>
                      </a:pPr>
                      <a:r>
                        <a:rPr lang="en-US" sz="1800" u="none" strike="noStrike" cap="none">
                          <a:solidFill>
                            <a:schemeClr val="dk1"/>
                          </a:solidFill>
                          <a:highlight>
                            <a:srgbClr val="FFFF00"/>
                          </a:highlight>
                        </a:rPr>
                        <a:t>Benefits</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0</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80,000</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90,000</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180,000</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highlight>
                            <a:srgbClr val="FFFF00"/>
                          </a:highlight>
                        </a:rPr>
                        <a:t> </a:t>
                      </a:r>
                      <a:endParaRPr sz="1800" u="none" strike="noStrike" cap="none">
                        <a:solidFill>
                          <a:schemeClr val="dk1"/>
                        </a:solidFill>
                        <a:highlight>
                          <a:srgbClr val="FFFF00"/>
                        </a:highlight>
                        <a:latin typeface="Times New Roman"/>
                        <a:ea typeface="Times New Roman"/>
                        <a:cs typeface="Times New Roman"/>
                      </a:endParaRPr>
                    </a:p>
                  </a:txBody>
                  <a:tcPr marL="68575" marR="68575" marT="0" marB="0" anchor="ctr"/>
                </a:tc>
              </a:tr>
              <a:tr h="282575">
                <a:tc>
                  <a:txBody>
                    <a:bodyPr/>
                    <a:p>
                      <a:pPr marL="0" marR="0" lvl="0" indent="0" algn="l" rtl="0">
                        <a:lnSpc>
                          <a:spcPct val="114999"/>
                        </a:lnSpc>
                        <a:spcBef>
                          <a:spcPts val="0"/>
                        </a:spcBef>
                        <a:spcAft>
                          <a:spcPts val="0"/>
                        </a:spcAft>
                        <a:buNone/>
                        <a:defRPr/>
                      </a:pPr>
                      <a:r>
                        <a:rPr lang="en-US" sz="1800" u="none" strike="noStrike" cap="none">
                          <a:solidFill>
                            <a:schemeClr val="dk1"/>
                          </a:solidFill>
                        </a:rPr>
                        <a:t>Discount Factor</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rgbClr val="FF0000"/>
                          </a:solidFill>
                        </a:rPr>
                        <a:t>1.0000</a:t>
                      </a: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r>
              <a:tr h="565150">
                <a:tc>
                  <a:txBody>
                    <a:bodyPr/>
                    <a:p>
                      <a:pPr marL="0" marR="0" lvl="0" indent="0" algn="l" rtl="0">
                        <a:lnSpc>
                          <a:spcPct val="114999"/>
                        </a:lnSpc>
                        <a:spcBef>
                          <a:spcPts val="0"/>
                        </a:spcBef>
                        <a:spcAft>
                          <a:spcPts val="0"/>
                        </a:spcAft>
                        <a:buNone/>
                        <a:defRPr/>
                      </a:pPr>
                      <a:r>
                        <a:rPr lang="en-US" sz="1800" u="none" strike="noStrike" cap="none">
                          <a:solidFill>
                            <a:schemeClr val="bg1"/>
                          </a:solidFill>
                        </a:rPr>
                        <a:t>Discounted Benefits</a:t>
                      </a:r>
                      <a:endParaRPr sz="1800" u="none" strike="noStrike" cap="none">
                        <a:solidFill>
                          <a:schemeClr val="bg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0</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r>
              <a:tr h="282575">
                <a:tc gridSpan="6">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hMerge="1">
                  <a:txBody>
                    <a:bodyPr/>
                    <a:p>
                      <a:endParaRPr/>
                    </a:p>
                  </a:txBody>
                </a:tc>
                <a:tc hMerge="1">
                  <a:txBody>
                    <a:bodyPr/>
                    <a:p>
                      <a:endParaRPr/>
                    </a:p>
                  </a:txBody>
                </a:tc>
                <a:tc hMerge="1">
                  <a:txBody>
                    <a:bodyPr/>
                    <a:p>
                      <a:endParaRPr/>
                    </a:p>
                  </a:txBody>
                </a:tc>
                <a:tc hMerge="1">
                  <a:txBody>
                    <a:bodyPr/>
                    <a:p>
                      <a:endParaRPr/>
                    </a:p>
                  </a:txBody>
                </a:tc>
                <a:tc hMerge="1">
                  <a:txBody>
                    <a:bodyPr/>
                    <a:p>
                      <a:endParaRPr/>
                    </a:p>
                  </a:txBody>
                </a:tc>
              </a:tr>
              <a:tr h="565150">
                <a:tc>
                  <a:txBody>
                    <a:bodyPr/>
                    <a:p>
                      <a:pPr marL="0" marR="0" lvl="0" indent="0" algn="l" rtl="0">
                        <a:lnSpc>
                          <a:spcPct val="114999"/>
                        </a:lnSpc>
                        <a:spcBef>
                          <a:spcPts val="0"/>
                        </a:spcBef>
                        <a:spcAft>
                          <a:spcPts val="0"/>
                        </a:spcAft>
                        <a:buNone/>
                        <a:defRPr/>
                      </a:pPr>
                      <a:r>
                        <a:rPr lang="en-US" sz="1800" u="none" strike="noStrike" cap="none">
                          <a:solidFill>
                            <a:schemeClr val="bg1"/>
                          </a:solidFill>
                        </a:rPr>
                        <a:t>Discounted benefits – costs</a:t>
                      </a:r>
                      <a:endParaRPr sz="1800" u="none" strike="noStrike" cap="none">
                        <a:solidFill>
                          <a:schemeClr val="bg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(100,000)</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8575" marR="68575" marT="0" marB="0" anchor="ctr"/>
                </a:tc>
              </a:tr>
              <a:tr h="565150">
                <a:tc>
                  <a:txBody>
                    <a:bodyPr/>
                    <a:p>
                      <a:pPr marL="0" marR="0" lvl="0" indent="0" algn="l" rtl="0">
                        <a:lnSpc>
                          <a:spcPct val="114999"/>
                        </a:lnSpc>
                        <a:spcBef>
                          <a:spcPts val="0"/>
                        </a:spcBef>
                        <a:spcAft>
                          <a:spcPts val="0"/>
                        </a:spcAft>
                        <a:buNone/>
                        <a:defRPr/>
                      </a:pPr>
                      <a:r>
                        <a:rPr lang="en-US" sz="1800" b="0" u="none" strike="sngStrike" cap="none">
                          <a:solidFill>
                            <a:schemeClr val="dk1"/>
                          </a:solidFill>
                        </a:rPr>
                        <a:t>Cumulative Discounted benefits – costs</a:t>
                      </a:r>
                      <a:endParaRPr sz="1800" b="0" u="none" strike="sngStrike" cap="none">
                        <a:solidFill>
                          <a:schemeClr val="dk1"/>
                        </a:solidFill>
                        <a:latin typeface="Times New Roman"/>
                        <a:ea typeface="Times New Roman"/>
                        <a:cs typeface="Times New Roman"/>
                      </a:endParaRPr>
                    </a:p>
                  </a:txBody>
                  <a:tcPr marL="68575" marR="68575" marT="0" marB="0" anchor="ctr"/>
                </a:tc>
                <a:tc>
                  <a:txBody>
                    <a:bodyPr/>
                    <a:p>
                      <a:pPr marL="0" marR="0" lvl="0" indent="0" algn="r" rtl="0">
                        <a:lnSpc>
                          <a:spcPct val="114999"/>
                        </a:lnSpc>
                        <a:spcBef>
                          <a:spcPts val="0"/>
                        </a:spcBef>
                        <a:spcAft>
                          <a:spcPts val="0"/>
                        </a:spcAft>
                        <a:buNone/>
                        <a:defRPr/>
                      </a:pPr>
                      <a:r>
                        <a:rPr lang="en-US" sz="1800" b="0" u="none" strike="sngStrike" cap="none">
                          <a:solidFill>
                            <a:schemeClr val="dk1"/>
                          </a:solidFill>
                        </a:rPr>
                        <a:t>(100,000)</a:t>
                      </a:r>
                      <a:endParaRPr sz="1800" b="0" u="none" strike="sngStrike" cap="none">
                        <a:solidFill>
                          <a:schemeClr val="dk1"/>
                        </a:solidFill>
                        <a:latin typeface="Times New Roman"/>
                        <a:ea typeface="Times New Roman"/>
                        <a:cs typeface="Times New Roman"/>
                      </a:endParaRPr>
                    </a:p>
                  </a:txBody>
                  <a:tcPr marL="68575" marR="68575" marT="0" marB="0"/>
                </a:tc>
                <a:tc>
                  <a:txBody>
                    <a:bodyPr/>
                    <a:p>
                      <a:pPr marL="0" marR="0" lvl="0" indent="0" algn="ctr" rtl="0">
                        <a:lnSpc>
                          <a:spcPct val="114999"/>
                        </a:lnSpc>
                        <a:spcBef>
                          <a:spcPts val="0"/>
                        </a:spcBef>
                        <a:spcAft>
                          <a:spcPts val="0"/>
                        </a:spcAft>
                        <a:buNone/>
                        <a:defRPr/>
                      </a:pPr>
                      <a:r>
                        <a:rPr lang="en-US" sz="1800" b="0" u="none" strike="sngStrike" cap="none">
                          <a:solidFill>
                            <a:schemeClr val="dk1"/>
                          </a:solidFill>
                        </a:rPr>
                        <a:t>(81,652)</a:t>
                      </a:r>
                      <a:endParaRPr sz="1800" b="0" u="none" strike="sngStrike" cap="none">
                        <a:solidFill>
                          <a:schemeClr val="dk1"/>
                        </a:solidFill>
                        <a:latin typeface="Times New Roman"/>
                        <a:ea typeface="Times New Roman"/>
                        <a:cs typeface="Times New Roman"/>
                      </a:endParaRPr>
                    </a:p>
                  </a:txBody>
                  <a:tcPr marL="64825" marR="64825" marT="0" marB="0"/>
                </a:tc>
                <a:tc>
                  <a:txBody>
                    <a:bodyPr/>
                    <a:p>
                      <a:pPr marL="0" marR="0" lvl="0" indent="0" algn="ctr" rtl="0">
                        <a:lnSpc>
                          <a:spcPct val="114999"/>
                        </a:lnSpc>
                        <a:spcBef>
                          <a:spcPts val="0"/>
                        </a:spcBef>
                        <a:spcAft>
                          <a:spcPts val="0"/>
                        </a:spcAft>
                        <a:buNone/>
                        <a:defRPr/>
                      </a:pPr>
                      <a:r>
                        <a:rPr lang="en-US" sz="1800" b="0" u="none" strike="sngStrike" cap="none">
                          <a:solidFill>
                            <a:schemeClr val="dk1"/>
                          </a:solidFill>
                        </a:rPr>
                        <a:t>(56,401)</a:t>
                      </a:r>
                      <a:endParaRPr sz="1800" b="0" u="none" strike="sngStrike" cap="none">
                        <a:solidFill>
                          <a:schemeClr val="dk1"/>
                        </a:solidFill>
                        <a:latin typeface="Times New Roman"/>
                        <a:ea typeface="Times New Roman"/>
                        <a:cs typeface="Times New Roman"/>
                      </a:endParaRPr>
                    </a:p>
                  </a:txBody>
                  <a:tcPr marL="64825" marR="64825" marT="0" marB="0"/>
                </a:tc>
                <a:tc>
                  <a:txBody>
                    <a:bodyPr/>
                    <a:p>
                      <a:pPr marL="0" marR="0" lvl="0" indent="0" algn="ctr" rtl="0">
                        <a:lnSpc>
                          <a:spcPct val="114999"/>
                        </a:lnSpc>
                        <a:spcBef>
                          <a:spcPts val="0"/>
                        </a:spcBef>
                        <a:spcAft>
                          <a:spcPts val="0"/>
                        </a:spcAft>
                        <a:buNone/>
                        <a:defRPr/>
                      </a:pPr>
                      <a:r>
                        <a:rPr lang="en-US" sz="1800" b="0" u="none" strike="sngStrike" cap="none">
                          <a:solidFill>
                            <a:schemeClr val="dk1"/>
                          </a:solidFill>
                        </a:rPr>
                        <a:t>43,985</a:t>
                      </a:r>
                      <a:endParaRPr sz="1800" b="0" u="none" strike="sngStrike" cap="none">
                        <a:solidFill>
                          <a:schemeClr val="dk1"/>
                        </a:solidFill>
                        <a:latin typeface="Times New Roman"/>
                        <a:ea typeface="Times New Roman"/>
                        <a:cs typeface="Times New Roman"/>
                      </a:endParaRPr>
                    </a:p>
                  </a:txBody>
                  <a:tcPr marL="64825" marR="64825" marT="0" marB="0"/>
                </a:tc>
                <a:tc>
                  <a:txBody>
                    <a:bodyPr/>
                    <a:p>
                      <a:pPr marL="0" marR="0" lvl="0" indent="0" algn="r" rtl="0">
                        <a:lnSpc>
                          <a:spcPct val="114999"/>
                        </a:lnSpc>
                        <a:spcBef>
                          <a:spcPts val="0"/>
                        </a:spcBef>
                        <a:spcAft>
                          <a:spcPts val="0"/>
                        </a:spcAft>
                        <a:buNone/>
                        <a:defRPr/>
                      </a:pPr>
                      <a:r>
                        <a:rPr lang="en-US" sz="1800" b="0" u="none" strike="sngStrike" cap="none">
                          <a:solidFill>
                            <a:schemeClr val="dk1"/>
                          </a:solidFill>
                        </a:rPr>
                        <a:t> </a:t>
                      </a:r>
                      <a:endParaRPr sz="1800" b="0" u="none" strike="sngStrike" cap="none">
                        <a:solidFill>
                          <a:schemeClr val="dk1"/>
                        </a:solidFill>
                        <a:latin typeface="Times New Roman"/>
                        <a:ea typeface="Times New Roman"/>
                        <a:cs typeface="Times New Roman"/>
                      </a:endParaRPr>
                    </a:p>
                  </a:txBody>
                  <a:tcPr marL="68575" marR="68575" marT="0" marB="0" anchor="ctr"/>
                </a:tc>
              </a:tr>
              <a:tr h="562000">
                <a:tc>
                  <a:txBody>
                    <a:bodyPr/>
                    <a:p>
                      <a:pPr marL="0" marR="0" lvl="0" indent="0" algn="r" rtl="0">
                        <a:lnSpc>
                          <a:spcPct val="114999"/>
                        </a:lnSpc>
                        <a:spcBef>
                          <a:spcPts val="0"/>
                        </a:spcBef>
                        <a:spcAft>
                          <a:spcPts val="0"/>
                        </a:spcAft>
                        <a:buNone/>
                        <a:defRPr/>
                      </a:pPr>
                      <a:r>
                        <a:rPr lang="en-US" sz="1800" u="none" strike="noStrike" cap="none">
                          <a:solidFill>
                            <a:srgbClr val="0000FF"/>
                          </a:solidFill>
                        </a:rPr>
                        <a:t>ROI = </a:t>
                      </a:r>
                      <a:endParaRPr sz="1800" u="none" strike="noStrike" cap="none">
                        <a:solidFill>
                          <a:srgbClr val="0000FF"/>
                        </a:solidFill>
                        <a:latin typeface="Times New Roman"/>
                        <a:ea typeface="Times New Roman"/>
                        <a:cs typeface="Times New Roman"/>
                      </a:endParaRPr>
                    </a:p>
                  </a:txBody>
                  <a:tcPr marL="68575" marR="68575" marT="0" marB="0" anchor="ctr">
                    <a:solidFill>
                      <a:schemeClr val="bg1"/>
                    </a:solidFill>
                  </a:tcPr>
                </a:tc>
                <a:tc gridSpan="5">
                  <a:txBody>
                    <a:bodyPr/>
                    <a:p>
                      <a:pPr marL="0" marR="0" lvl="0" indent="0" algn="l" rtl="0">
                        <a:lnSpc>
                          <a:spcPct val="114999"/>
                        </a:lnSpc>
                        <a:spcBef>
                          <a:spcPts val="0"/>
                        </a:spcBef>
                        <a:spcAft>
                          <a:spcPts val="0"/>
                        </a:spcAft>
                        <a:buClr>
                          <a:schemeClr val="dk1"/>
                        </a:buClr>
                        <a:buSzPts val="1800"/>
                        <a:buFont typeface="Times New Roman"/>
                        <a:buNone/>
                        <a:defRPr/>
                      </a:pPr>
                      <a:endParaRPr sz="1800" u="none" strike="noStrike" cap="none">
                        <a:solidFill>
                          <a:srgbClr val="0000FF"/>
                        </a:solidFill>
                        <a:latin typeface="Times New Roman"/>
                        <a:ea typeface="Times New Roman"/>
                        <a:cs typeface="Times New Roman"/>
                      </a:endParaRPr>
                    </a:p>
                  </a:txBody>
                  <a:tcPr marL="68575" marR="68575" marT="0" marB="0" anchor="ctr"/>
                </a:tc>
                <a:tc hMerge="1">
                  <a:txBody>
                    <a:bodyPr/>
                    <a:p>
                      <a:endParaRPr/>
                    </a:p>
                  </a:txBody>
                </a:tc>
                <a:tc hMerge="1">
                  <a:txBody>
                    <a:bodyPr/>
                    <a:p>
                      <a:endParaRPr/>
                    </a:p>
                  </a:txBody>
                </a:tc>
                <a:tc hMerge="1">
                  <a:txBody>
                    <a:bodyPr/>
                    <a:p>
                      <a:endParaRPr/>
                    </a:p>
                  </a:txBody>
                </a:tc>
                <a:tc hMerge="1">
                  <a:txBody>
                    <a:bodyPr/>
                    <a:p>
                      <a:endParaRPr/>
                    </a:p>
                  </a:txBody>
                </a:tc>
              </a:tr>
            </a:tbl>
          </a:graphicData>
        </a:graphic>
      </p:graphicFrame>
      <p:sp>
        <p:nvSpPr>
          <p:cNvPr id="460366302" name="Google Shape;700;p44"/>
          <p:cNvSpPr txBox="1">
            <a:spLocks noGrp="1"/>
          </p:cNvSpPr>
          <p:nvPr>
            <p:ph type="sldNum" idx="12"/>
          </p:nvPr>
        </p:nvSpPr>
        <p:spPr bwMode="auto">
          <a:xfrm>
            <a:off x="10287000" y="6356350"/>
            <a:ext cx="10668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43</a:t>
            </a:fld>
            <a:endParaRPr/>
          </a:p>
        </p:txBody>
      </p:sp>
      <p:graphicFrame>
        <p:nvGraphicFramePr>
          <p:cNvPr id="984665691" name="Google Shape;701;p44"/>
          <p:cNvGraphicFramePr>
            <a:graphicFrameLocks xmlns:a="http://schemas.openxmlformats.org/drawingml/2006/main"/>
          </p:cNvGraphicFramePr>
          <p:nvPr/>
        </p:nvGraphicFramePr>
        <p:xfrm rot="0">
          <a:off x="4241800" y="1908647"/>
          <a:ext cx="5105424" cy="304800"/>
        </p:xfrm>
        <a:graphic>
          <a:graphicData uri="http://schemas.openxmlformats.org/drawingml/2006/table">
            <a:tbl>
              <a:tblPr firstRow="1" firstCol="1" lastRow="0" lastCol="0" bandRow="1" bandCol="0">
                <a:tableStyleId>{EA8E3DBC-DD3C-47B4-B7B0-9EDAE2CE88E3}</a:tableStyleId>
                <a:noFill/>
              </a:tblPr>
              <a:tblGrid>
                <a:gridCol w="1600200"/>
                <a:gridCol w="1767840"/>
                <a:gridCol w="1737385"/>
              </a:tblGrid>
              <a:tr h="304800">
                <a:tc>
                  <a:txBody>
                    <a:bodyPr/>
                    <a:p>
                      <a:pPr marL="0" marR="0" lvl="0" indent="0" algn="r" rtl="0">
                        <a:lnSpc>
                          <a:spcPct val="114999"/>
                        </a:lnSpc>
                        <a:spcBef>
                          <a:spcPts val="0"/>
                        </a:spcBef>
                        <a:spcAft>
                          <a:spcPts val="0"/>
                        </a:spcAft>
                        <a:buNone/>
                        <a:defRPr/>
                      </a:pPr>
                      <a:r>
                        <a:rPr lang="en-US" sz="1800" u="none" strike="noStrike" cap="none">
                          <a:solidFill>
                            <a:srgbClr val="FF0000"/>
                          </a:solidFill>
                        </a:rPr>
                        <a:t>0.9174</a:t>
                      </a:r>
                      <a:endParaRPr sz="1800" u="none" strike="noStrike" cap="none">
                        <a:solidFill>
                          <a:srgbClr val="FF0000"/>
                        </a:solidFill>
                        <a:latin typeface="Times New Roman"/>
                        <a:ea typeface="Times New Roman"/>
                        <a:cs typeface="Times New Roman"/>
                      </a:endParaRPr>
                    </a:p>
                  </a:txBody>
                  <a:tcPr marL="64825" marR="64825" marT="0" marB="0">
                    <a:noFill/>
                  </a:tcPr>
                </a:tc>
                <a:tc>
                  <a:txBody>
                    <a:bodyPr/>
                    <a:p>
                      <a:pPr marL="0" marR="0" lvl="0" indent="0" algn="r" rtl="0">
                        <a:lnSpc>
                          <a:spcPct val="114999"/>
                        </a:lnSpc>
                        <a:spcBef>
                          <a:spcPts val="0"/>
                        </a:spcBef>
                        <a:spcAft>
                          <a:spcPts val="0"/>
                        </a:spcAft>
                        <a:buNone/>
                        <a:defRPr/>
                      </a:pPr>
                      <a:r>
                        <a:rPr lang="en-US" sz="1800" u="none" strike="noStrike" cap="none">
                          <a:solidFill>
                            <a:srgbClr val="FF0000"/>
                          </a:solidFill>
                        </a:rPr>
                        <a:t>0.8417</a:t>
                      </a:r>
                      <a:endParaRPr sz="1800" u="none" strike="noStrike" cap="none">
                        <a:solidFill>
                          <a:srgbClr val="FF0000"/>
                        </a:solidFill>
                        <a:latin typeface="Times New Roman"/>
                        <a:ea typeface="Times New Roman"/>
                        <a:cs typeface="Times New Roman"/>
                      </a:endParaRPr>
                    </a:p>
                  </a:txBody>
                  <a:tcPr marL="64825" marR="64825" marT="0" marB="0">
                    <a:noFill/>
                  </a:tcPr>
                </a:tc>
                <a:tc>
                  <a:txBody>
                    <a:bodyPr/>
                    <a:p>
                      <a:pPr marL="0" marR="0" lvl="0" indent="0" algn="r" rtl="0">
                        <a:lnSpc>
                          <a:spcPct val="114999"/>
                        </a:lnSpc>
                        <a:spcBef>
                          <a:spcPts val="0"/>
                        </a:spcBef>
                        <a:spcAft>
                          <a:spcPts val="0"/>
                        </a:spcAft>
                        <a:buNone/>
                        <a:defRPr/>
                      </a:pPr>
                      <a:r>
                        <a:rPr lang="en-US" sz="1800" u="none" strike="noStrike" cap="none">
                          <a:solidFill>
                            <a:srgbClr val="FF0000"/>
                          </a:solidFill>
                        </a:rPr>
                        <a:t>0.7722</a:t>
                      </a:r>
                      <a:endParaRPr sz="1800" u="none" strike="noStrike" cap="none">
                        <a:solidFill>
                          <a:srgbClr val="FF0000"/>
                        </a:solidFill>
                        <a:latin typeface="Times New Roman"/>
                        <a:ea typeface="Times New Roman"/>
                        <a:cs typeface="Times New Roman"/>
                      </a:endParaRPr>
                    </a:p>
                  </a:txBody>
                  <a:tcPr marL="64825" marR="64825" marT="0" marB="0">
                    <a:noFill/>
                  </a:tcPr>
                </a:tc>
              </a:tr>
            </a:tbl>
          </a:graphicData>
        </a:graphic>
      </p:graphicFrame>
      <p:graphicFrame>
        <p:nvGraphicFramePr>
          <p:cNvPr id="1381233725" name="Google Shape;702;p44"/>
          <p:cNvGraphicFramePr>
            <a:graphicFrameLocks xmlns:a="http://schemas.openxmlformats.org/drawingml/2006/main"/>
          </p:cNvGraphicFramePr>
          <p:nvPr/>
        </p:nvGraphicFramePr>
        <p:xfrm rot="0">
          <a:off x="4217575" y="3367427"/>
          <a:ext cx="5105424" cy="304800"/>
        </p:xfrm>
        <a:graphic>
          <a:graphicData uri="http://schemas.openxmlformats.org/drawingml/2006/table">
            <a:tbl>
              <a:tblPr firstRow="1" firstCol="1" lastRow="0" lastCol="0" bandRow="1" bandCol="0">
                <a:tableStyleId>{EA8E3DBC-DD3C-47B4-B7B0-9EDAE2CE88E3}</a:tableStyleId>
                <a:noFill/>
              </a:tblPr>
              <a:tblGrid>
                <a:gridCol w="1640425"/>
                <a:gridCol w="1751840"/>
                <a:gridCol w="1713160"/>
              </a:tblGrid>
              <a:tr h="304800">
                <a:tc>
                  <a:txBody>
                    <a:bodyPr/>
                    <a:p>
                      <a:pPr marL="0" marR="0" lvl="0" indent="0" algn="r" rtl="0">
                        <a:lnSpc>
                          <a:spcPct val="114999"/>
                        </a:lnSpc>
                        <a:spcBef>
                          <a:spcPts val="0"/>
                        </a:spcBef>
                        <a:spcAft>
                          <a:spcPts val="0"/>
                        </a:spcAft>
                        <a:buNone/>
                        <a:defRPr/>
                      </a:pPr>
                      <a:r>
                        <a:rPr lang="en-US" sz="1800" u="none" strike="noStrike" cap="none">
                          <a:solidFill>
                            <a:srgbClr val="FF0000"/>
                          </a:solidFill>
                        </a:rPr>
                        <a:t>0.9174</a:t>
                      </a:r>
                      <a:endParaRPr sz="1800" u="none" strike="noStrike" cap="none">
                        <a:solidFill>
                          <a:srgbClr val="FF0000"/>
                        </a:solidFill>
                        <a:latin typeface="Times New Roman"/>
                        <a:ea typeface="Times New Roman"/>
                        <a:cs typeface="Times New Roman"/>
                      </a:endParaRPr>
                    </a:p>
                  </a:txBody>
                  <a:tcPr marL="64825" marR="64825" marT="0" marB="0">
                    <a:noFill/>
                  </a:tcPr>
                </a:tc>
                <a:tc>
                  <a:txBody>
                    <a:bodyPr/>
                    <a:p>
                      <a:pPr marL="0" marR="0" lvl="0" indent="0" algn="r" rtl="0">
                        <a:lnSpc>
                          <a:spcPct val="114999"/>
                        </a:lnSpc>
                        <a:spcBef>
                          <a:spcPts val="0"/>
                        </a:spcBef>
                        <a:spcAft>
                          <a:spcPts val="0"/>
                        </a:spcAft>
                        <a:buNone/>
                        <a:defRPr/>
                      </a:pPr>
                      <a:r>
                        <a:rPr lang="en-US" sz="1800" u="none" strike="noStrike" cap="none">
                          <a:solidFill>
                            <a:srgbClr val="FF0000"/>
                          </a:solidFill>
                        </a:rPr>
                        <a:t>0.8417</a:t>
                      </a:r>
                      <a:endParaRPr sz="1800" u="none" strike="noStrike" cap="none">
                        <a:solidFill>
                          <a:srgbClr val="FF0000"/>
                        </a:solidFill>
                        <a:latin typeface="Times New Roman"/>
                        <a:ea typeface="Times New Roman"/>
                        <a:cs typeface="Times New Roman"/>
                      </a:endParaRPr>
                    </a:p>
                  </a:txBody>
                  <a:tcPr marL="64825" marR="64825" marT="0" marB="0">
                    <a:noFill/>
                  </a:tcPr>
                </a:tc>
                <a:tc>
                  <a:txBody>
                    <a:bodyPr/>
                    <a:p>
                      <a:pPr marL="0" marR="0" lvl="0" indent="0" algn="r" rtl="0">
                        <a:lnSpc>
                          <a:spcPct val="114999"/>
                        </a:lnSpc>
                        <a:spcBef>
                          <a:spcPts val="0"/>
                        </a:spcBef>
                        <a:spcAft>
                          <a:spcPts val="0"/>
                        </a:spcAft>
                        <a:buNone/>
                        <a:defRPr/>
                      </a:pPr>
                      <a:r>
                        <a:rPr lang="en-US" sz="1800" u="none" strike="noStrike" cap="none">
                          <a:solidFill>
                            <a:srgbClr val="FF0000"/>
                          </a:solidFill>
                        </a:rPr>
                        <a:t>0.7722</a:t>
                      </a:r>
                      <a:endParaRPr sz="1800" u="none" strike="noStrike" cap="none">
                        <a:solidFill>
                          <a:srgbClr val="FF0000"/>
                        </a:solidFill>
                        <a:latin typeface="Times New Roman"/>
                        <a:ea typeface="Times New Roman"/>
                        <a:cs typeface="Times New Roman"/>
                      </a:endParaRPr>
                    </a:p>
                  </a:txBody>
                  <a:tcPr marL="64825" marR="64825" marT="0" marB="0">
                    <a:noFill/>
                  </a:tcPr>
                </a:tc>
              </a:tr>
            </a:tbl>
          </a:graphicData>
        </a:graphic>
      </p:graphicFrame>
      <p:graphicFrame>
        <p:nvGraphicFramePr>
          <p:cNvPr id="638716882" name="Google Shape;703;p44"/>
          <p:cNvGraphicFramePr>
            <a:graphicFrameLocks xmlns:a="http://schemas.openxmlformats.org/drawingml/2006/main"/>
          </p:cNvGraphicFramePr>
          <p:nvPr/>
        </p:nvGraphicFramePr>
        <p:xfrm rot="0">
          <a:off x="4252428" y="2312289"/>
          <a:ext cx="5070573" cy="349850"/>
        </p:xfrm>
        <a:graphic>
          <a:graphicData uri="http://schemas.openxmlformats.org/drawingml/2006/table">
            <a:tbl>
              <a:tblPr firstRow="1" firstCol="1" lastRow="0" lastCol="0" bandRow="1" bandCol="0">
                <a:tableStyleId>{EA8E3DBC-DD3C-47B4-B7B0-9EDAE2CE88E3}</a:tableStyleId>
                <a:noFill/>
              </a:tblPr>
              <a:tblGrid>
                <a:gridCol w="1590433"/>
                <a:gridCol w="1797803"/>
                <a:gridCol w="1682337"/>
              </a:tblGrid>
              <a:tr h="349851">
                <a:tc>
                  <a:txBody>
                    <a:bodyPr/>
                    <a:p>
                      <a:pPr marL="0" marR="0" lvl="0" indent="0" algn="r" rtl="0">
                        <a:lnSpc>
                          <a:spcPct val="114999"/>
                        </a:lnSpc>
                        <a:spcBef>
                          <a:spcPts val="0"/>
                        </a:spcBef>
                        <a:spcAft>
                          <a:spcPts val="0"/>
                        </a:spcAft>
                        <a:buNone/>
                        <a:defRPr/>
                      </a:pPr>
                      <a:r>
                        <a:rPr lang="en-US" sz="1800" b="1" u="none" strike="noStrike" cap="none">
                          <a:solidFill>
                            <a:srgbClr val="FF0000"/>
                          </a:solidFill>
                        </a:rPr>
                        <a:t>55,044</a:t>
                      </a:r>
                      <a:endParaRPr sz="1800" b="1" u="none" strike="noStrike" cap="none">
                        <a:solidFill>
                          <a:srgbClr val="FF0000"/>
                        </a:solidFill>
                      </a:endParaRPr>
                    </a:p>
                  </a:txBody>
                  <a:tcPr marL="64825" marR="64825" marT="0" marB="0">
                    <a:noFill/>
                  </a:tcPr>
                </a:tc>
                <a:tc>
                  <a:txBody>
                    <a:bodyPr/>
                    <a:p>
                      <a:pPr marL="0" marR="0" lvl="0" indent="0" algn="r" rtl="0">
                        <a:lnSpc>
                          <a:spcPct val="114999"/>
                        </a:lnSpc>
                        <a:spcBef>
                          <a:spcPts val="0"/>
                        </a:spcBef>
                        <a:spcAft>
                          <a:spcPts val="0"/>
                        </a:spcAft>
                        <a:buNone/>
                        <a:defRPr/>
                      </a:pPr>
                      <a:r>
                        <a:rPr lang="en-US" sz="1800" b="1" u="none" strike="noStrike" cap="none">
                          <a:solidFill>
                            <a:srgbClr val="FF0000"/>
                          </a:solidFill>
                        </a:rPr>
                        <a:t>50,502</a:t>
                      </a:r>
                      <a:endParaRPr sz="1800" b="1" u="none" strike="noStrike" cap="none">
                        <a:solidFill>
                          <a:srgbClr val="FF0000"/>
                        </a:solidFill>
                        <a:latin typeface="Times New Roman"/>
                        <a:ea typeface="Times New Roman"/>
                        <a:cs typeface="Times New Roman"/>
                      </a:endParaRPr>
                    </a:p>
                  </a:txBody>
                  <a:tcPr marL="64825" marR="64825" marT="0" marB="0">
                    <a:noFill/>
                  </a:tcPr>
                </a:tc>
                <a:tc>
                  <a:txBody>
                    <a:bodyPr/>
                    <a:p>
                      <a:pPr marL="0" marR="0" lvl="0" indent="0" algn="r" rtl="0">
                        <a:lnSpc>
                          <a:spcPct val="114999"/>
                        </a:lnSpc>
                        <a:spcBef>
                          <a:spcPts val="0"/>
                        </a:spcBef>
                        <a:spcAft>
                          <a:spcPts val="0"/>
                        </a:spcAft>
                        <a:buNone/>
                        <a:defRPr/>
                      </a:pPr>
                      <a:r>
                        <a:rPr lang="en-US" sz="1800" b="1" u="none" strike="noStrike" cap="none">
                          <a:solidFill>
                            <a:srgbClr val="FF0000"/>
                          </a:solidFill>
                        </a:rPr>
                        <a:t>38,610</a:t>
                      </a:r>
                      <a:endParaRPr sz="1800" b="1" u="none" strike="noStrike" cap="none">
                        <a:solidFill>
                          <a:srgbClr val="FF0000"/>
                        </a:solidFill>
                        <a:latin typeface="Times New Roman"/>
                        <a:ea typeface="Times New Roman"/>
                        <a:cs typeface="Times New Roman"/>
                      </a:endParaRPr>
                    </a:p>
                  </a:txBody>
                  <a:tcPr marL="64825" marR="64825" marT="0" marB="0">
                    <a:noFill/>
                  </a:tcPr>
                </a:tc>
              </a:tr>
            </a:tbl>
          </a:graphicData>
        </a:graphic>
      </p:graphicFrame>
      <p:graphicFrame>
        <p:nvGraphicFramePr>
          <p:cNvPr id="1878138784" name="Google Shape;704;p44"/>
          <p:cNvGraphicFramePr>
            <a:graphicFrameLocks xmlns:a="http://schemas.openxmlformats.org/drawingml/2006/main"/>
          </p:cNvGraphicFramePr>
          <p:nvPr/>
        </p:nvGraphicFramePr>
        <p:xfrm rot="0">
          <a:off x="4252428" y="3824844"/>
          <a:ext cx="5070572" cy="349850"/>
        </p:xfrm>
        <a:graphic>
          <a:graphicData uri="http://schemas.openxmlformats.org/drawingml/2006/table">
            <a:tbl>
              <a:tblPr firstRow="1" firstCol="1" lastRow="0" lastCol="0" bandRow="1" bandCol="0">
                <a:tableStyleId>{EA8E3DBC-DD3C-47B4-B7B0-9EDAE2CE88E3}</a:tableStyleId>
                <a:noFill/>
              </a:tblPr>
              <a:tblGrid>
                <a:gridCol w="1559436"/>
                <a:gridCol w="1782305"/>
                <a:gridCol w="1728831"/>
              </a:tblGrid>
              <a:tr h="349851">
                <a:tc>
                  <a:txBody>
                    <a:bodyPr/>
                    <a:p>
                      <a:pPr marL="0" marR="0" lvl="0" indent="0" algn="r" rtl="0">
                        <a:lnSpc>
                          <a:spcPct val="114999"/>
                        </a:lnSpc>
                        <a:spcBef>
                          <a:spcPts val="0"/>
                        </a:spcBef>
                        <a:spcAft>
                          <a:spcPts val="0"/>
                        </a:spcAft>
                        <a:buNone/>
                        <a:defRPr/>
                      </a:pPr>
                      <a:r>
                        <a:rPr lang="en-US" sz="1800" b="1" u="none" strike="noStrike" cap="none">
                          <a:solidFill>
                            <a:srgbClr val="FF0000"/>
                          </a:solidFill>
                        </a:rPr>
                        <a:t>73,392</a:t>
                      </a:r>
                      <a:endParaRPr sz="1800" b="1" u="none" strike="noStrike" cap="none">
                        <a:solidFill>
                          <a:srgbClr val="FF0000"/>
                        </a:solidFill>
                      </a:endParaRPr>
                    </a:p>
                  </a:txBody>
                  <a:tcPr marL="64825" marR="64825" marT="0" marB="0">
                    <a:noFill/>
                  </a:tcPr>
                </a:tc>
                <a:tc>
                  <a:txBody>
                    <a:bodyPr/>
                    <a:p>
                      <a:pPr marL="0" marR="0" lvl="0" indent="0" algn="r" rtl="0">
                        <a:lnSpc>
                          <a:spcPct val="114999"/>
                        </a:lnSpc>
                        <a:spcBef>
                          <a:spcPts val="0"/>
                        </a:spcBef>
                        <a:spcAft>
                          <a:spcPts val="0"/>
                        </a:spcAft>
                        <a:buNone/>
                        <a:defRPr/>
                      </a:pPr>
                      <a:r>
                        <a:rPr lang="en-US" sz="1800" b="1" u="none" strike="noStrike" cap="none">
                          <a:solidFill>
                            <a:srgbClr val="FF0000"/>
                          </a:solidFill>
                        </a:rPr>
                        <a:t>75,753</a:t>
                      </a:r>
                      <a:endParaRPr sz="1800" b="1" u="none" strike="noStrike" cap="none">
                        <a:solidFill>
                          <a:srgbClr val="FF0000"/>
                        </a:solidFill>
                      </a:endParaRPr>
                    </a:p>
                  </a:txBody>
                  <a:tcPr marL="64825" marR="64825" marT="0" marB="0">
                    <a:noFill/>
                  </a:tcPr>
                </a:tc>
                <a:tc>
                  <a:txBody>
                    <a:bodyPr/>
                    <a:p>
                      <a:pPr marL="0" marR="0" lvl="0" indent="0" algn="r" rtl="0">
                        <a:lnSpc>
                          <a:spcPct val="114999"/>
                        </a:lnSpc>
                        <a:spcBef>
                          <a:spcPts val="0"/>
                        </a:spcBef>
                        <a:spcAft>
                          <a:spcPts val="0"/>
                        </a:spcAft>
                        <a:buNone/>
                        <a:defRPr/>
                      </a:pPr>
                      <a:r>
                        <a:rPr lang="en-US" sz="1800" b="1" u="none" strike="noStrike" cap="none">
                          <a:solidFill>
                            <a:srgbClr val="FF0000"/>
                          </a:solidFill>
                        </a:rPr>
                        <a:t>138,996</a:t>
                      </a:r>
                      <a:endParaRPr sz="1800" b="1" u="none" strike="noStrike" cap="none">
                        <a:solidFill>
                          <a:srgbClr val="FF0000"/>
                        </a:solidFill>
                      </a:endParaRPr>
                    </a:p>
                  </a:txBody>
                  <a:tcPr marL="64825" marR="64825" marT="0" marB="0">
                    <a:noFill/>
                  </a:tcPr>
                </a:tc>
              </a:tr>
            </a:tbl>
          </a:graphicData>
        </a:graphic>
      </p:graphicFrame>
      <p:graphicFrame>
        <p:nvGraphicFramePr>
          <p:cNvPr id="1594542233" name="Google Shape;705;p44"/>
          <p:cNvGraphicFramePr>
            <a:graphicFrameLocks xmlns:a="http://schemas.openxmlformats.org/drawingml/2006/main"/>
          </p:cNvGraphicFramePr>
          <p:nvPr/>
        </p:nvGraphicFramePr>
        <p:xfrm rot="0">
          <a:off x="4241800" y="4664975"/>
          <a:ext cx="5085668" cy="349850"/>
        </p:xfrm>
        <a:graphic>
          <a:graphicData uri="http://schemas.openxmlformats.org/drawingml/2006/table">
            <a:tbl>
              <a:tblPr firstRow="1" firstCol="1" lastRow="0" lastCol="0" bandRow="1" bandCol="0">
                <a:tableStyleId>{EA8E3DBC-DD3C-47B4-B7B0-9EDAE2CE88E3}</a:tableStyleId>
                <a:noFill/>
              </a:tblPr>
              <a:tblGrid>
                <a:gridCol w="1527705"/>
                <a:gridCol w="1804760"/>
                <a:gridCol w="1753203"/>
              </a:tblGrid>
              <a:tr h="349851">
                <a:tc>
                  <a:txBody>
                    <a:bodyPr/>
                    <a:p>
                      <a:pPr marL="0" marR="0" lvl="0" indent="0" algn="ctr" rtl="0">
                        <a:lnSpc>
                          <a:spcPct val="114999"/>
                        </a:lnSpc>
                        <a:spcBef>
                          <a:spcPts val="0"/>
                        </a:spcBef>
                        <a:spcAft>
                          <a:spcPts val="0"/>
                        </a:spcAft>
                        <a:buNone/>
                        <a:defRPr/>
                      </a:pPr>
                      <a:r>
                        <a:rPr lang="en-US" sz="1800" u="none" strike="noStrike" cap="none">
                          <a:solidFill>
                            <a:schemeClr val="bg1"/>
                          </a:solidFill>
                        </a:rPr>
                        <a:t>18,348</a:t>
                      </a:r>
                      <a:endParaRPr sz="1800" u="none" strike="noStrike" cap="none">
                        <a:solidFill>
                          <a:schemeClr val="bg1"/>
                        </a:solidFill>
                        <a:latin typeface="Times New Roman"/>
                        <a:ea typeface="Times New Roman"/>
                        <a:cs typeface="Times New Roman"/>
                      </a:endParaRPr>
                    </a:p>
                  </a:txBody>
                  <a:tcPr marL="64825" marR="64825" marT="0" marB="0"/>
                </a:tc>
                <a:tc>
                  <a:txBody>
                    <a:bodyPr/>
                    <a:p>
                      <a:pPr marL="0" marR="0" lvl="0" indent="0" algn="ctr" rtl="0">
                        <a:lnSpc>
                          <a:spcPct val="114999"/>
                        </a:lnSpc>
                        <a:spcBef>
                          <a:spcPts val="0"/>
                        </a:spcBef>
                        <a:spcAft>
                          <a:spcPts val="0"/>
                        </a:spcAft>
                        <a:buNone/>
                        <a:defRPr/>
                      </a:pPr>
                      <a:r>
                        <a:rPr lang="en-US" sz="1800" u="none" strike="noStrike" cap="none">
                          <a:solidFill>
                            <a:schemeClr val="bg1"/>
                          </a:solidFill>
                        </a:rPr>
                        <a:t>25,251</a:t>
                      </a:r>
                      <a:endParaRPr sz="1800" u="none" strike="noStrike" cap="none">
                        <a:solidFill>
                          <a:schemeClr val="bg1"/>
                        </a:solidFill>
                        <a:latin typeface="Times New Roman"/>
                        <a:ea typeface="Times New Roman"/>
                        <a:cs typeface="Times New Roman"/>
                      </a:endParaRPr>
                    </a:p>
                  </a:txBody>
                  <a:tcPr marL="64825" marR="64825" marT="0" marB="0"/>
                </a:tc>
                <a:tc>
                  <a:txBody>
                    <a:bodyPr/>
                    <a:p>
                      <a:pPr marL="0" marR="0" lvl="0" indent="0" algn="ctr" rtl="0">
                        <a:lnSpc>
                          <a:spcPct val="114999"/>
                        </a:lnSpc>
                        <a:spcBef>
                          <a:spcPts val="0"/>
                        </a:spcBef>
                        <a:spcAft>
                          <a:spcPts val="0"/>
                        </a:spcAft>
                        <a:buNone/>
                        <a:defRPr/>
                      </a:pPr>
                      <a:r>
                        <a:rPr lang="en-US" sz="1800" u="none" strike="noStrike" cap="none">
                          <a:solidFill>
                            <a:schemeClr val="bg1"/>
                          </a:solidFill>
                        </a:rPr>
                        <a:t>100,386</a:t>
                      </a:r>
                      <a:endParaRPr sz="1800" u="none" strike="noStrike" cap="none">
                        <a:solidFill>
                          <a:schemeClr val="bg1"/>
                        </a:solidFill>
                        <a:latin typeface="Times New Roman"/>
                        <a:ea typeface="Times New Roman"/>
                        <a:cs typeface="Times New Roman"/>
                      </a:endParaRPr>
                    </a:p>
                  </a:txBody>
                  <a:tcPr marL="64825" marR="64825" marT="0" marB="0"/>
                </a:tc>
              </a:tr>
            </a:tbl>
          </a:graphicData>
        </a:graphic>
      </p:graphicFrame>
      <p:graphicFrame>
        <p:nvGraphicFramePr>
          <p:cNvPr id="1058609689" name="Google Shape;706;p44"/>
          <p:cNvGraphicFramePr>
            <a:graphicFrameLocks xmlns:a="http://schemas.openxmlformats.org/drawingml/2006/main"/>
          </p:cNvGraphicFramePr>
          <p:nvPr/>
        </p:nvGraphicFramePr>
        <p:xfrm rot="0">
          <a:off x="9389650" y="2312288"/>
          <a:ext cx="1740650" cy="2822323"/>
        </p:xfrm>
        <a:graphic>
          <a:graphicData uri="http://schemas.openxmlformats.org/drawingml/2006/table">
            <a:tbl>
              <a:tblPr firstRow="1" firstCol="1" lastRow="0" lastCol="0" bandRow="1" bandCol="0">
                <a:tableStyleId>{EA8E3DBC-DD3C-47B4-B7B0-9EDAE2CE88E3}</a:tableStyleId>
                <a:noFill/>
              </a:tblPr>
              <a:tblGrid>
                <a:gridCol w="1740650"/>
              </a:tblGrid>
              <a:tr h="533357">
                <a:tc>
                  <a:txBody>
                    <a:bodyPr/>
                    <a:p>
                      <a:pPr marL="0" marR="0" lvl="0" indent="0" algn="r" rtl="0">
                        <a:lnSpc>
                          <a:spcPct val="114999"/>
                        </a:lnSpc>
                        <a:spcBef>
                          <a:spcPts val="0"/>
                        </a:spcBef>
                        <a:spcAft>
                          <a:spcPts val="0"/>
                        </a:spcAft>
                        <a:buNone/>
                        <a:defRPr/>
                      </a:pPr>
                      <a:r>
                        <a:rPr lang="en-US" sz="1800" u="none" strike="noStrike" cap="none">
                          <a:solidFill>
                            <a:srgbClr val="FF0000"/>
                          </a:solidFill>
                        </a:rPr>
                        <a:t>244,156</a:t>
                      </a:r>
                      <a:endParaRPr sz="1800" u="none" strike="noStrike" cap="none">
                        <a:solidFill>
                          <a:srgbClr val="FF0000"/>
                        </a:solidFill>
                        <a:latin typeface="Times New Roman"/>
                        <a:ea typeface="Times New Roman"/>
                        <a:cs typeface="Times New Roman"/>
                      </a:endParaRPr>
                    </a:p>
                  </a:txBody>
                  <a:tcPr marL="64825" marR="64825" marT="0" marB="0">
                    <a:lnL w="12700" algn="ctr">
                      <a:noFill/>
                    </a:lnL>
                    <a:lnR w="12700" algn="ctr">
                      <a:noFill/>
                    </a:lnR>
                    <a:lnT w="12700" algn="ctr">
                      <a:noFill/>
                    </a:lnT>
                    <a:lnB w="38100" algn="ctr">
                      <a:noFill/>
                    </a:lnB>
                    <a:noFill/>
                  </a:tcPr>
                </a:tc>
              </a:tr>
              <a:tr h="283016">
                <a:tc>
                  <a:txBody>
                    <a:bodyPr/>
                    <a:p>
                      <a:pPr marL="0" marR="0" lvl="0" indent="0" algn="ct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4825" marR="64825" marT="0" marB="0">
                    <a:lnL w="12700" algn="ctr">
                      <a:noFill/>
                    </a:lnL>
                    <a:lnR w="12700" algn="ctr">
                      <a:noFill/>
                    </a:lnR>
                    <a:lnT w="38100" algn="ctr">
                      <a:noFill/>
                    </a:lnT>
                    <a:lnB w="12700" algn="ctr">
                      <a:noFill/>
                    </a:lnB>
                    <a:noFill/>
                  </a:tcPr>
                </a:tc>
              </a:tr>
              <a:tr h="283016">
                <a:tc>
                  <a:txBody>
                    <a:bodyPr/>
                    <a:p>
                      <a:pPr marL="0" marR="0" lvl="0" indent="0" algn="ct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4825" marR="64825" marT="0" marB="0">
                    <a:lnL w="12700" algn="ctr">
                      <a:noFill/>
                    </a:lnL>
                    <a:lnR w="12700" algn="ctr">
                      <a:noFill/>
                    </a:lnR>
                    <a:lnT w="12700" algn="ctr">
                      <a:noFill/>
                    </a:lnT>
                    <a:lnB w="12700" algn="ctr">
                      <a:noFill/>
                    </a:lnB>
                    <a:noFill/>
                  </a:tcPr>
                </a:tc>
              </a:tr>
              <a:tr h="352534">
                <a:tc>
                  <a:txBody>
                    <a:bodyPr/>
                    <a:p>
                      <a:pPr marL="0" marR="0" lvl="0" indent="0" algn="ctr" rtl="0">
                        <a:lnSpc>
                          <a:spcPct val="114999"/>
                        </a:lnSpc>
                        <a:spcBef>
                          <a:spcPts val="0"/>
                        </a:spcBef>
                        <a:spcAft>
                          <a:spcPts val="0"/>
                        </a:spcAft>
                        <a:buNone/>
                        <a:defRPr/>
                      </a:pPr>
                      <a:r>
                        <a:rPr lang="en-US" sz="1800" u="none" strike="noStrike" cap="none">
                          <a:solidFill>
                            <a:schemeClr val="dk1"/>
                          </a:solidFill>
                        </a:rPr>
                        <a:t> </a:t>
                      </a:r>
                      <a:endParaRPr sz="1800" u="none" strike="noStrike" cap="none">
                        <a:solidFill>
                          <a:schemeClr val="dk1"/>
                        </a:solidFill>
                        <a:latin typeface="Times New Roman"/>
                        <a:ea typeface="Times New Roman"/>
                        <a:cs typeface="Times New Roman"/>
                      </a:endParaRPr>
                    </a:p>
                  </a:txBody>
                  <a:tcPr marL="64825" marR="64825" marT="0" marB="0">
                    <a:lnL w="12700" algn="ctr">
                      <a:noFill/>
                    </a:lnL>
                    <a:lnR w="12700" algn="ctr">
                      <a:noFill/>
                    </a:lnR>
                    <a:lnT w="12700" algn="ctr">
                      <a:noFill/>
                    </a:lnT>
                    <a:lnB w="12700" algn="ctr">
                      <a:noFill/>
                    </a:lnB>
                    <a:noFill/>
                  </a:tcPr>
                </a:tc>
              </a:tr>
              <a:tr h="533357">
                <a:tc>
                  <a:txBody>
                    <a:bodyPr/>
                    <a:p>
                      <a:pPr marL="0" marR="0" lvl="0" indent="0" algn="r" rtl="0">
                        <a:lnSpc>
                          <a:spcPct val="114999"/>
                        </a:lnSpc>
                        <a:spcBef>
                          <a:spcPts val="0"/>
                        </a:spcBef>
                        <a:spcAft>
                          <a:spcPts val="0"/>
                        </a:spcAft>
                        <a:buNone/>
                        <a:defRPr/>
                      </a:pPr>
                      <a:r>
                        <a:rPr lang="en-US" sz="1800" u="none" strike="noStrike" cap="none">
                          <a:solidFill>
                            <a:srgbClr val="FF0000"/>
                          </a:solidFill>
                        </a:rPr>
                        <a:t>288,141</a:t>
                      </a:r>
                      <a:endParaRPr sz="1800" u="none" strike="noStrike" cap="none">
                        <a:solidFill>
                          <a:srgbClr val="FF0000"/>
                        </a:solidFill>
                        <a:latin typeface="Times New Roman"/>
                        <a:ea typeface="Times New Roman"/>
                        <a:cs typeface="Times New Roman"/>
                      </a:endParaRPr>
                    </a:p>
                  </a:txBody>
                  <a:tcPr marL="64825" marR="64825" marT="0" marB="0">
                    <a:lnL w="12700" algn="ctr">
                      <a:noFill/>
                    </a:lnL>
                    <a:lnR w="12700" algn="ctr">
                      <a:noFill/>
                    </a:lnR>
                    <a:lnT w="12700" algn="ctr">
                      <a:noFill/>
                    </a:lnT>
                    <a:lnB w="12700" algn="ctr">
                      <a:noFill/>
                    </a:lnB>
                    <a:noFill/>
                  </a:tcPr>
                </a:tc>
              </a:tr>
              <a:tr h="278020">
                <a:tc>
                  <a:txBody>
                    <a:bodyPr/>
                    <a:p>
                      <a:pPr marL="0" marR="0" lvl="0" indent="0" algn="ctr" rtl="0">
                        <a:lnSpc>
                          <a:spcPct val="114999"/>
                        </a:lnSpc>
                        <a:spcBef>
                          <a:spcPts val="0"/>
                        </a:spcBef>
                        <a:spcAft>
                          <a:spcPts val="0"/>
                        </a:spcAft>
                        <a:buNone/>
                        <a:defRPr/>
                      </a:pPr>
                      <a:endParaRPr sz="1800" u="none" strike="noStrike" cap="none">
                        <a:solidFill>
                          <a:schemeClr val="dk1"/>
                        </a:solidFill>
                        <a:latin typeface="Times New Roman"/>
                        <a:ea typeface="Times New Roman"/>
                        <a:cs typeface="Times New Roman"/>
                      </a:endParaRPr>
                    </a:p>
                  </a:txBody>
                  <a:tcPr marL="64825" marR="64825" marT="0" marB="0">
                    <a:lnL w="12700" algn="ctr">
                      <a:noFill/>
                    </a:lnL>
                    <a:lnR w="12700" algn="ctr">
                      <a:noFill/>
                    </a:lnR>
                    <a:lnT w="12700" algn="ctr">
                      <a:noFill/>
                    </a:lnT>
                    <a:lnB w="12700" algn="ctr">
                      <a:noFill/>
                    </a:lnB>
                    <a:noFill/>
                  </a:tcPr>
                </a:tc>
              </a:tr>
              <a:tr h="521948">
                <a:tc>
                  <a:txBody>
                    <a:bodyPr/>
                    <a:p>
                      <a:pPr marL="0" marR="0" lvl="0" indent="0" algn="l" rtl="0">
                        <a:lnSpc>
                          <a:spcPct val="114999"/>
                        </a:lnSpc>
                        <a:spcBef>
                          <a:spcPts val="0"/>
                        </a:spcBef>
                        <a:spcAft>
                          <a:spcPts val="0"/>
                        </a:spcAft>
                        <a:buNone/>
                        <a:defRPr/>
                      </a:pPr>
                      <a:r>
                        <a:rPr lang="en-US" sz="1800" b="1" u="none" strike="noStrike" cap="none">
                          <a:solidFill>
                            <a:srgbClr val="FF0000"/>
                          </a:solidFill>
                        </a:rPr>
                        <a:t>NPV = </a:t>
                      </a:r>
                      <a:endParaRPr sz="1800" b="1" u="none" strike="noStrike" cap="none">
                        <a:solidFill>
                          <a:srgbClr val="FF0000"/>
                        </a:solidFill>
                      </a:endParaRPr>
                    </a:p>
                  </a:txBody>
                  <a:tcPr marL="64825" marR="64825" marT="0" marB="0">
                    <a:lnT w="12700" algn="ctr">
                      <a:noFill/>
                    </a:lnT>
                    <a:noFill/>
                  </a:tcPr>
                </a:tc>
              </a:tr>
            </a:tbl>
          </a:graphicData>
        </a:graphic>
      </p:graphicFrame>
      <p:sp>
        <p:nvSpPr>
          <p:cNvPr id="326441753" name="TextBox 1"/>
          <p:cNvSpPr txBox="1"/>
          <p:nvPr/>
        </p:nvSpPr>
        <p:spPr bwMode="auto">
          <a:xfrm>
            <a:off x="1859280" y="754063"/>
            <a:ext cx="8321039" cy="400110"/>
          </a:xfrm>
          <a:prstGeom prst="rect">
            <a:avLst/>
          </a:prstGeom>
          <a:noFill/>
          <a:ln>
            <a:solidFill>
              <a:schemeClr val="tx1"/>
            </a:solidFill>
          </a:ln>
        </p:spPr>
        <p:txBody>
          <a:bodyPr wrap="square" rtlCol="0">
            <a:spAutoFit/>
          </a:bodyPr>
          <a:lstStyle/>
          <a:p>
            <a:pPr>
              <a:defRPr/>
            </a:pPr>
            <a:r>
              <a:rPr lang="en-US" sz="2000" b="1" u="none" strike="noStrike" cap="none">
                <a:solidFill>
                  <a:schemeClr val="dk1"/>
                </a:solidFill>
                <a:latin typeface="Times New Roman"/>
                <a:ea typeface="Times New Roman"/>
                <a:cs typeface="Times New Roman"/>
              </a:rPr>
              <a:t>ROI = NPV / Discounted Cost x 100%</a:t>
            </a:r>
            <a:endParaRPr lang="en-MY" sz="2000" b="1"/>
          </a:p>
        </p:txBody>
      </p:sp>
      <p:sp>
        <p:nvSpPr>
          <p:cNvPr id="784608527" name="TextBox 2"/>
          <p:cNvSpPr txBox="1"/>
          <p:nvPr/>
        </p:nvSpPr>
        <p:spPr bwMode="auto">
          <a:xfrm>
            <a:off x="2483394" y="6113849"/>
            <a:ext cx="9210766" cy="1015663"/>
          </a:xfrm>
          <a:prstGeom prst="rect">
            <a:avLst/>
          </a:prstGeom>
          <a:noFill/>
        </p:spPr>
        <p:txBody>
          <a:bodyPr wrap="square" rtlCol="0">
            <a:spAutoFit/>
          </a:bodyPr>
          <a:lstStyle/>
          <a:p>
            <a:pPr>
              <a:defRPr/>
            </a:pPr>
            <a:r>
              <a:rPr lang="en-US" sz="2000" u="none" strike="noStrike" cap="none">
                <a:solidFill>
                  <a:srgbClr val="0000FF"/>
                </a:solidFill>
                <a:latin typeface="Times New Roman"/>
                <a:ea typeface="Times New Roman"/>
                <a:cs typeface="Times New Roman"/>
              </a:rPr>
              <a:t>Total Discounted Benefits – Total Discounted Cost  / Total Discounted Cost x 100%</a:t>
            </a:r>
            <a:endParaRPr/>
          </a:p>
          <a:p>
            <a:pPr>
              <a:defRPr/>
            </a:pPr>
            <a:r>
              <a:rPr lang="en-US" sz="2000" u="none" strike="noStrike" cap="none">
                <a:solidFill>
                  <a:srgbClr val="0000FF"/>
                </a:solidFill>
                <a:latin typeface="Times New Roman"/>
                <a:ea typeface="Times New Roman"/>
                <a:cs typeface="Times New Roman"/>
              </a:rPr>
              <a:t> = </a:t>
            </a:r>
            <a:r>
              <a:rPr lang="en-US" sz="2000" u="none" strike="noStrike" cap="none">
                <a:solidFill>
                  <a:srgbClr val="0000FF"/>
                </a:solidFill>
              </a:rPr>
              <a:t>(43,985/244,156 ) X 100%  = 18.02% </a:t>
            </a:r>
            <a:endParaRPr lang="en-US" sz="1800" u="none" strike="noStrike" cap="none">
              <a:solidFill>
                <a:srgbClr val="0000FF"/>
              </a:solidFill>
              <a:latin typeface="Times New Roman"/>
              <a:ea typeface="Times New Roman"/>
              <a:cs typeface="Times New Roman"/>
            </a:endParaRPr>
          </a:p>
          <a:p>
            <a:pPr>
              <a:defRPr/>
            </a:pPr>
            <a:endParaRPr lang="en-MY" sz="2000">
              <a:solidFill>
                <a:srgbClr val="FF0000"/>
              </a:solidFill>
            </a:endParaRPr>
          </a:p>
        </p:txBody>
      </p:sp>
      <p:sp>
        <p:nvSpPr>
          <p:cNvPr id="950349404" name="TextBox 3"/>
          <p:cNvSpPr txBox="1"/>
          <p:nvPr/>
        </p:nvSpPr>
        <p:spPr bwMode="auto">
          <a:xfrm>
            <a:off x="10279188" y="4615921"/>
            <a:ext cx="939800" cy="369332"/>
          </a:xfrm>
          <a:prstGeom prst="rect">
            <a:avLst/>
          </a:prstGeom>
          <a:noFill/>
        </p:spPr>
        <p:txBody>
          <a:bodyPr wrap="square" rtlCol="0">
            <a:spAutoFit/>
          </a:bodyPr>
          <a:lstStyle/>
          <a:p>
            <a:pPr>
              <a:defRPr/>
            </a:pPr>
            <a:r>
              <a:rPr lang="en-US" sz="1800" b="1" u="none" strike="noStrike" cap="none">
                <a:solidFill>
                  <a:srgbClr val="FF0000"/>
                </a:solidFill>
              </a:rPr>
              <a:t>43,985</a:t>
            </a:r>
            <a:endParaRPr lang="en-MY"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8466569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812337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3871688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7813878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5860968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50349404"/>
                                        </p:tgtEl>
                                        <p:attrNameLst>
                                          <p:attrName>style.visibility</p:attrName>
                                        </p:attrNameLst>
                                      </p:cBhvr>
                                      <p:to>
                                        <p:strVal val="visible"/>
                                      </p:to>
                                    </p:set>
                                    <p:animEffect transition="in" filter="wipe(left)">
                                      <p:cBhvr>
                                        <p:cTn id="23" dur="500"/>
                                        <p:tgtEl>
                                          <p:spTgt spid="950349404"/>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784608527"/>
                                        </p:tgtEl>
                                        <p:attrNameLst>
                                          <p:attrName>style.visibility</p:attrName>
                                        </p:attrNameLst>
                                      </p:cBhvr>
                                      <p:to>
                                        <p:strVal val="visible"/>
                                      </p:to>
                                    </p:set>
                                    <p:anim calcmode="lin" valueType="num">
                                      <p:cBhvr additive="base">
                                        <p:cTn id="28" dur="500" fill="hold"/>
                                        <p:tgtEl>
                                          <p:spTgt spid="784608527"/>
                                        </p:tgtEl>
                                        <p:attrNameLst>
                                          <p:attrName>ppt_x</p:attrName>
                                        </p:attrNameLst>
                                      </p:cBhvr>
                                      <p:tavLst>
                                        <p:tav tm="0">
                                          <p:val>
                                            <p:strVal val="#ppt_x"/>
                                          </p:val>
                                        </p:tav>
                                        <p:tav tm="100000">
                                          <p:val>
                                            <p:strVal val="#ppt_x"/>
                                          </p:val>
                                        </p:tav>
                                      </p:tavLst>
                                    </p:anim>
                                    <p:anim calcmode="lin" valueType="num">
                                      <p:cBhvr additive="base">
                                        <p:cTn id="29" dur="500" fill="hold"/>
                                        <p:tgtEl>
                                          <p:spTgt spid="7846085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4608527" grpId="0"/>
      <p:bldP spid="950349404" grpId="0"/>
    </p:bldLst>
  </p:timing>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2485736" name="Google Shape;347;p19"/>
          <p:cNvSpPr txBox="1">
            <a:spLocks noGrp="1"/>
          </p:cNvSpPr>
          <p:nvPr>
            <p:ph type="ctrTitle"/>
          </p:nvPr>
        </p:nvSpPr>
        <p:spPr bwMode="auto">
          <a:xfrm>
            <a:off x="5791200" y="1066800"/>
            <a:ext cx="6248400" cy="1163637"/>
          </a:xfrm>
          <a:prstGeom prst="rect">
            <a:avLst/>
          </a:prstGeom>
          <a:noFill/>
          <a:ln>
            <a:noFill/>
          </a:ln>
        </p:spPr>
        <p:txBody>
          <a:bodyPr spcFirstLastPara="1" wrap="square" lIns="91425" tIns="45700" rIns="91425" bIns="45700" anchor="b" anchorCtr="0">
            <a:normAutofit/>
          </a:bodyPr>
          <a:lstStyle/>
          <a:p>
            <a:pPr marL="719138" lvl="0" indent="-719138" algn="l" rtl="0">
              <a:lnSpc>
                <a:spcPct val="90000"/>
              </a:lnSpc>
              <a:spcBef>
                <a:spcPts val="0"/>
              </a:spcBef>
              <a:spcAft>
                <a:spcPts val="0"/>
              </a:spcAft>
              <a:buClr>
                <a:schemeClr val="dk1"/>
              </a:buClr>
              <a:buSzPts val="3800"/>
              <a:buFont typeface="Calibri"/>
              <a:buNone/>
              <a:defRPr/>
            </a:pPr>
            <a:r>
              <a:rPr lang="en-US" sz="3800" b="1"/>
              <a:t>1.3 Project Appraisal</a:t>
            </a:r>
            <a:endParaRPr strike="sngStrike"/>
          </a:p>
        </p:txBody>
      </p:sp>
      <p:sp>
        <p:nvSpPr>
          <p:cNvPr id="917186143" name="Google Shape;348;p19"/>
          <p:cNvSpPr txBox="1">
            <a:spLocks noGrp="1"/>
          </p:cNvSpPr>
          <p:nvPr>
            <p:ph type="subTitle" idx="1"/>
          </p:nvPr>
        </p:nvSpPr>
        <p:spPr bwMode="auto">
          <a:xfrm>
            <a:off x="6011075" y="2667000"/>
            <a:ext cx="5334000" cy="3821114"/>
          </a:xfrm>
          <a:prstGeom prst="rect">
            <a:avLst/>
          </a:prstGeom>
          <a:noFill/>
          <a:ln>
            <a:noFill/>
          </a:ln>
        </p:spPr>
        <p:txBody>
          <a:bodyPr spcFirstLastPara="1" wrap="square" lIns="91425" tIns="45700" rIns="91425" bIns="45700" anchor="t" anchorCtr="0">
            <a:noAutofit/>
          </a:bodyPr>
          <a:lstStyle/>
          <a:p>
            <a:pPr marL="355600" lvl="0" indent="-355600" algn="l">
              <a:spcBef>
                <a:spcPts val="0"/>
              </a:spcBef>
              <a:buFont typeface="Arial"/>
              <a:buChar char="•"/>
              <a:defRPr/>
            </a:pPr>
            <a:r>
              <a:rPr lang="en-US" sz="2800" b="1">
                <a:solidFill>
                  <a:schemeClr val="tx1"/>
                </a:solidFill>
              </a:rPr>
              <a:t>Cash Flow Forecasting</a:t>
            </a:r>
            <a:endParaRPr sz="2800" b="1">
              <a:solidFill>
                <a:schemeClr val="tx1"/>
              </a:solidFill>
            </a:endParaRPr>
          </a:p>
          <a:p>
            <a:pPr marL="355600" lvl="0" indent="-355600" algn="l" rtl="0">
              <a:lnSpc>
                <a:spcPct val="90000"/>
              </a:lnSpc>
              <a:spcBef>
                <a:spcPts val="1000"/>
              </a:spcBef>
              <a:spcAft>
                <a:spcPts val="0"/>
              </a:spcAft>
              <a:buClr>
                <a:schemeClr val="dk1"/>
              </a:buClr>
              <a:buSzPts val="2400"/>
              <a:buFont typeface="Arial"/>
              <a:buChar char="•"/>
              <a:defRPr/>
            </a:pPr>
            <a:r>
              <a:rPr lang="en-US" sz="2800" b="1">
                <a:solidFill>
                  <a:schemeClr val="tx1"/>
                </a:solidFill>
              </a:rPr>
              <a:t>Cost &amp; Benefit Analysis</a:t>
            </a:r>
            <a:endParaRPr/>
          </a:p>
          <a:p>
            <a:pPr marL="355600" lvl="0" indent="-355600" algn="l" rtl="0">
              <a:lnSpc>
                <a:spcPct val="90000"/>
              </a:lnSpc>
              <a:spcBef>
                <a:spcPts val="1000"/>
              </a:spcBef>
              <a:spcAft>
                <a:spcPts val="0"/>
              </a:spcAft>
              <a:buClr>
                <a:schemeClr val="dk1"/>
              </a:buClr>
              <a:buSzPts val="2400"/>
              <a:buFont typeface="Arial"/>
              <a:buChar char="•"/>
              <a:defRPr/>
            </a:pPr>
            <a:r>
              <a:rPr lang="en-US" sz="2800" b="1"/>
              <a:t>Financial Techniques</a:t>
            </a:r>
            <a:endParaRPr sz="2800" b="1"/>
          </a:p>
          <a:p>
            <a:pPr marL="812800" lvl="1" indent="-355600" algn="l">
              <a:spcBef>
                <a:spcPts val="1000"/>
              </a:spcBef>
              <a:buSzPts val="2400"/>
              <a:buFont typeface="Arial"/>
              <a:buChar char="•"/>
              <a:defRPr/>
            </a:pPr>
            <a:r>
              <a:rPr lang="en-US" sz="2400"/>
              <a:t>Net Profit</a:t>
            </a:r>
            <a:endParaRPr sz="2400"/>
          </a:p>
          <a:p>
            <a:pPr marL="812800" lvl="1" indent="-355600" algn="l">
              <a:spcBef>
                <a:spcPts val="1000"/>
              </a:spcBef>
              <a:buSzPts val="2400"/>
              <a:buFont typeface="Arial"/>
              <a:buChar char="•"/>
              <a:defRPr/>
            </a:pPr>
            <a:r>
              <a:rPr lang="en-US" sz="2400"/>
              <a:t>Payback Period</a:t>
            </a:r>
            <a:endParaRPr sz="2400"/>
          </a:p>
          <a:p>
            <a:pPr marL="812800" lvl="1" indent="-355600" algn="l">
              <a:spcBef>
                <a:spcPts val="1000"/>
              </a:spcBef>
              <a:buSzPts val="2400"/>
              <a:buFont typeface="Arial"/>
              <a:buChar char="•"/>
              <a:defRPr/>
            </a:pPr>
            <a:r>
              <a:rPr lang="en-US" sz="2400"/>
              <a:t>Return on Investment (ROI)</a:t>
            </a:r>
            <a:endParaRPr sz="2400"/>
          </a:p>
          <a:p>
            <a:pPr marL="812800" lvl="1" indent="-355600" algn="l">
              <a:spcBef>
                <a:spcPts val="1000"/>
              </a:spcBef>
              <a:buSzPts val="2400"/>
              <a:buFont typeface="Arial"/>
              <a:buChar char="•"/>
              <a:defRPr/>
            </a:pPr>
            <a:r>
              <a:rPr lang="en-US" sz="2400"/>
              <a:t>Net Present Value (NPV)</a:t>
            </a:r>
            <a:endParaRPr sz="2400"/>
          </a:p>
        </p:txBody>
      </p:sp>
      <p:sp>
        <p:nvSpPr>
          <p:cNvPr id="826377889" name="Google Shape;349;p19"/>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44</a:t>
            </a:fld>
            <a:endParaRPr/>
          </a:p>
        </p:txBody>
      </p:sp>
      <p:pic>
        <p:nvPicPr>
          <p:cNvPr id="1694204189" name="Google Shape;350;p19"/>
          <p:cNvPicPr/>
          <p:nvPr/>
        </p:nvPicPr>
        <p:blipFill rotWithShape="1">
          <a:blip r:embed="rId3">
            <a:alphaModFix/>
          </a:blip>
          <a:stretch/>
        </p:blipFill>
        <p:spPr bwMode="auto">
          <a:xfrm>
            <a:off x="0" y="1"/>
            <a:ext cx="5638800" cy="6858000"/>
          </a:xfrm>
          <a:prstGeom prst="rect">
            <a:avLst/>
          </a:prstGeom>
          <a:noFill/>
          <a:ln>
            <a:noFill/>
          </a:ln>
        </p:spPr>
      </p:pic>
      <p:sp>
        <p:nvSpPr>
          <p:cNvPr id="885153725" name="Right Brace 1"/>
          <p:cNvSpPr/>
          <p:nvPr/>
        </p:nvSpPr>
        <p:spPr bwMode="auto">
          <a:xfrm>
            <a:off x="8841742" y="4303534"/>
            <a:ext cx="363550" cy="1819455"/>
          </a:xfrm>
          <a:prstGeom prst="rightBrace">
            <a:avLst>
              <a:gd name="adj1" fmla="val 8333"/>
              <a:gd name="adj2" fmla="val 32519"/>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MY"/>
          </a:p>
        </p:txBody>
      </p:sp>
      <p:sp>
        <p:nvSpPr>
          <p:cNvPr id="1750279873" name="TextBox 2"/>
          <p:cNvSpPr txBox="1"/>
          <p:nvPr/>
        </p:nvSpPr>
        <p:spPr bwMode="auto">
          <a:xfrm>
            <a:off x="9033456" y="4238813"/>
            <a:ext cx="1496282" cy="923330"/>
          </a:xfrm>
          <a:prstGeom prst="rect">
            <a:avLst/>
          </a:prstGeom>
          <a:noFill/>
        </p:spPr>
        <p:txBody>
          <a:bodyPr wrap="square" rtlCol="0">
            <a:spAutoFit/>
          </a:bodyPr>
          <a:lstStyle/>
          <a:p>
            <a:pPr>
              <a:defRPr/>
            </a:pPr>
            <a:r>
              <a:rPr lang="en-MY" sz="1800" b="1" i="1"/>
              <a:t>Measure project profitability</a:t>
            </a:r>
            <a:endParaRPr/>
          </a:p>
        </p:txBody>
      </p:sp>
      <p:sp>
        <p:nvSpPr>
          <p:cNvPr id="978292588" name="TextBox 3"/>
          <p:cNvSpPr txBox="1"/>
          <p:nvPr/>
        </p:nvSpPr>
        <p:spPr bwMode="auto">
          <a:xfrm>
            <a:off x="5638800" y="682079"/>
            <a:ext cx="4561668" cy="769441"/>
          </a:xfrm>
          <a:prstGeom prst="rect">
            <a:avLst/>
          </a:prstGeom>
          <a:noFill/>
        </p:spPr>
        <p:txBody>
          <a:bodyPr wrap="square" rtlCol="0">
            <a:spAutoFit/>
          </a:bodyPr>
          <a:lstStyle/>
          <a:p>
            <a:pPr>
              <a:defRPr/>
            </a:pPr>
            <a:r>
              <a:rPr lang="en-MY" sz="4400" b="1">
                <a:solidFill>
                  <a:srgbClr val="FF00FF"/>
                </a:solidFill>
              </a:rPr>
              <a:t>Quick Review</a:t>
            </a:r>
            <a:endParaRPr/>
          </a:p>
        </p:txBody>
      </p:sp>
      <p:sp>
        <p:nvSpPr>
          <p:cNvPr id="417273019" name="Right Brace 4"/>
          <p:cNvSpPr/>
          <p:nvPr/>
        </p:nvSpPr>
        <p:spPr bwMode="auto">
          <a:xfrm>
            <a:off x="10214000" y="2615158"/>
            <a:ext cx="626165" cy="3963575"/>
          </a:xfrm>
          <a:prstGeom prst="rightBrace">
            <a:avLst>
              <a:gd name="adj1" fmla="val 8333"/>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MY"/>
          </a:p>
        </p:txBody>
      </p:sp>
      <p:sp>
        <p:nvSpPr>
          <p:cNvPr id="1819099254" name="TextBox 5"/>
          <p:cNvSpPr txBox="1"/>
          <p:nvPr/>
        </p:nvSpPr>
        <p:spPr bwMode="auto">
          <a:xfrm>
            <a:off x="10594064" y="2688021"/>
            <a:ext cx="1510748" cy="1446550"/>
          </a:xfrm>
          <a:prstGeom prst="rect">
            <a:avLst/>
          </a:prstGeom>
          <a:noFill/>
        </p:spPr>
        <p:txBody>
          <a:bodyPr wrap="square" rtlCol="0">
            <a:spAutoFit/>
          </a:bodyPr>
          <a:lstStyle/>
          <a:p>
            <a:pPr>
              <a:defRPr/>
            </a:pPr>
            <a:r>
              <a:rPr lang="en-MY" sz="2200">
                <a:solidFill>
                  <a:srgbClr val="FF0000"/>
                </a:solidFill>
              </a:rPr>
              <a:t>Things to do </a:t>
            </a:r>
            <a:r>
              <a:rPr lang="en-MY" sz="2200" b="1">
                <a:solidFill>
                  <a:srgbClr val="FF0000"/>
                </a:solidFill>
              </a:rPr>
              <a:t>____</a:t>
            </a:r>
            <a:r>
              <a:rPr lang="en-MY" sz="2200">
                <a:solidFill>
                  <a:srgbClr val="FF0000"/>
                </a:solidFill>
              </a:rPr>
              <a:t> project starts</a:t>
            </a:r>
            <a:endParaRPr/>
          </a:p>
        </p:txBody>
      </p:sp>
      <p:sp>
        <p:nvSpPr>
          <p:cNvPr id="1184380371" name="TextBox 6"/>
          <p:cNvSpPr txBox="1"/>
          <p:nvPr/>
        </p:nvSpPr>
        <p:spPr bwMode="auto">
          <a:xfrm>
            <a:off x="10602839" y="4017758"/>
            <a:ext cx="1624834" cy="2123658"/>
          </a:xfrm>
          <a:prstGeom prst="rect">
            <a:avLst/>
          </a:prstGeom>
          <a:noFill/>
        </p:spPr>
        <p:txBody>
          <a:bodyPr wrap="square" rtlCol="0">
            <a:spAutoFit/>
          </a:bodyPr>
          <a:lstStyle/>
          <a:p>
            <a:pPr>
              <a:defRPr/>
            </a:pPr>
            <a:r>
              <a:rPr lang="en-US" sz="2200">
                <a:solidFill>
                  <a:srgbClr val="FF0000"/>
                </a:solidFill>
              </a:rPr>
              <a:t>to </a:t>
            </a:r>
            <a:r>
              <a:rPr lang="en-US" sz="2200" b="1">
                <a:solidFill>
                  <a:srgbClr val="FF0000"/>
                </a:solidFill>
              </a:rPr>
              <a:t>____</a:t>
            </a:r>
            <a:r>
              <a:rPr lang="en-US" sz="2200">
                <a:solidFill>
                  <a:srgbClr val="FF0000"/>
                </a:solidFill>
              </a:rPr>
              <a:t> the </a:t>
            </a:r>
            <a:r>
              <a:rPr lang="en-US" sz="2200">
                <a:solidFill>
                  <a:srgbClr val="FF0000"/>
                </a:solidFill>
              </a:rPr>
              <a:t>organisation</a:t>
            </a:r>
            <a:r>
              <a:rPr lang="en-US" sz="2200">
                <a:solidFill>
                  <a:srgbClr val="FF0000"/>
                </a:solidFill>
              </a:rPr>
              <a:t> from a bad decision or investment.</a:t>
            </a:r>
            <a:endParaRPr lang="en-MY" sz="2200">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78292588"/>
                                        </p:tgtEl>
                                        <p:attrNameLst>
                                          <p:attrName>style.visibility</p:attrName>
                                        </p:attrNameLst>
                                      </p:cBhvr>
                                      <p:to>
                                        <p:strVal val="visible"/>
                                      </p:to>
                                    </p:set>
                                    <p:animEffect transition="in" filter="wipe(left)">
                                      <p:cBhvr>
                                        <p:cTn id="7" dur="500"/>
                                        <p:tgtEl>
                                          <p:spTgt spid="97829258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885153725"/>
                                        </p:tgtEl>
                                        <p:attrNameLst>
                                          <p:attrName>style.visibility</p:attrName>
                                        </p:attrNameLst>
                                      </p:cBhvr>
                                      <p:to>
                                        <p:strVal val="visible"/>
                                      </p:to>
                                    </p:set>
                                    <p:animEffect transition="in" filter="wipe(right)">
                                      <p:cBhvr>
                                        <p:cTn id="12" dur="500"/>
                                        <p:tgtEl>
                                          <p:spTgt spid="885153725"/>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1750279873"/>
                                        </p:tgtEl>
                                        <p:attrNameLst>
                                          <p:attrName>style.visibility</p:attrName>
                                        </p:attrNameLst>
                                      </p:cBhvr>
                                      <p:to>
                                        <p:strVal val="visible"/>
                                      </p:to>
                                    </p:set>
                                    <p:animEffect transition="in" filter="wipe(right)">
                                      <p:cBhvr>
                                        <p:cTn id="15" dur="500"/>
                                        <p:tgtEl>
                                          <p:spTgt spid="175027987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17273019"/>
                                        </p:tgtEl>
                                        <p:attrNameLst>
                                          <p:attrName>style.visibility</p:attrName>
                                        </p:attrNameLst>
                                      </p:cBhvr>
                                      <p:to>
                                        <p:strVal val="visible"/>
                                      </p:to>
                                    </p:set>
                                    <p:animEffect transition="in" filter="wipe(left)">
                                      <p:cBhvr>
                                        <p:cTn id="20" dur="500"/>
                                        <p:tgtEl>
                                          <p:spTgt spid="417273019"/>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819099254"/>
                                        </p:tgtEl>
                                        <p:attrNameLst>
                                          <p:attrName>style.visibility</p:attrName>
                                        </p:attrNameLst>
                                      </p:cBhvr>
                                      <p:to>
                                        <p:strVal val="visible"/>
                                      </p:to>
                                    </p:set>
                                    <p:animEffect transition="in" filter="wipe(left)">
                                      <p:cBhvr>
                                        <p:cTn id="23" dur="500"/>
                                        <p:tgtEl>
                                          <p:spTgt spid="1819099254"/>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1184380371"/>
                                        </p:tgtEl>
                                        <p:attrNameLst>
                                          <p:attrName>style.visibility</p:attrName>
                                        </p:attrNameLst>
                                      </p:cBhvr>
                                      <p:to>
                                        <p:strVal val="visible"/>
                                      </p:to>
                                    </p:set>
                                    <p:anim calcmode="lin" valueType="num">
                                      <p:cBhvr additive="base">
                                        <p:cTn id="28" dur="500" fill="hold"/>
                                        <p:tgtEl>
                                          <p:spTgt spid="1184380371"/>
                                        </p:tgtEl>
                                        <p:attrNameLst>
                                          <p:attrName>ppt_x</p:attrName>
                                        </p:attrNameLst>
                                      </p:cBhvr>
                                      <p:tavLst>
                                        <p:tav tm="0">
                                          <p:val>
                                            <p:strVal val="#ppt_x"/>
                                          </p:val>
                                        </p:tav>
                                        <p:tav tm="100000">
                                          <p:val>
                                            <p:strVal val="#ppt_x"/>
                                          </p:val>
                                        </p:tav>
                                      </p:tavLst>
                                    </p:anim>
                                    <p:anim calcmode="lin" valueType="num">
                                      <p:cBhvr additive="base">
                                        <p:cTn id="29" dur="500" fill="hold"/>
                                        <p:tgtEl>
                                          <p:spTgt spid="11843803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5153725" grpId="0" animBg="1"/>
      <p:bldP spid="1750279873" grpId="0"/>
      <p:bldP spid="978292588" grpId="0"/>
      <p:bldP spid="417273019" grpId="0" animBg="1"/>
      <p:bldP spid="1819099254" grpId="0"/>
      <p:bldP spid="1184380371" grpId="0"/>
    </p:bldLst>
  </p:timing>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8040589" name="Google Shape;112;p2"/>
          <p:cNvSpPr txBox="1">
            <a:spLocks noGrp="1"/>
          </p:cNvSpPr>
          <p:nvPr>
            <p:ph type="title"/>
          </p:nvPr>
        </p:nvSpPr>
        <p:spPr bwMode="auto">
          <a:xfrm>
            <a:off x="761999" y="365125"/>
            <a:ext cx="6066183"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defRPr/>
            </a:pPr>
            <a:r>
              <a:rPr lang="en-US" sz="4000" b="1" u="sng">
                <a:solidFill>
                  <a:srgbClr val="0000FF"/>
                </a:solidFill>
              </a:rPr>
              <a:t>L2</a:t>
            </a:r>
            <a:r>
              <a:rPr lang="en-US" sz="4000" b="1">
                <a:solidFill>
                  <a:srgbClr val="0000FF"/>
                </a:solidFill>
              </a:rPr>
              <a:t>: Quick Review of  </a:t>
            </a:r>
            <a:r>
              <a:rPr lang="en-US" sz="4000" b="1">
                <a:solidFill>
                  <a:srgbClr val="0000FF"/>
                </a:solidFill>
              </a:rPr>
              <a:t>PrevL</a:t>
            </a:r>
            <a:endParaRPr sz="4000" b="1">
              <a:solidFill>
                <a:srgbClr val="0000FF"/>
              </a:solidFill>
            </a:endParaRPr>
          </a:p>
        </p:txBody>
      </p:sp>
      <p:sp>
        <p:nvSpPr>
          <p:cNvPr id="1885073869" name="Google Shape;113;p2"/>
          <p:cNvSpPr txBox="1">
            <a:spLocks noGrp="1"/>
          </p:cNvSpPr>
          <p:nvPr>
            <p:ph type="body" idx="1"/>
          </p:nvPr>
        </p:nvSpPr>
        <p:spPr bwMode="auto">
          <a:xfrm>
            <a:off x="838200" y="1825625"/>
            <a:ext cx="9297692" cy="4895850"/>
          </a:xfrm>
          <a:prstGeom prst="rect">
            <a:avLst/>
          </a:prstGeom>
          <a:noFill/>
          <a:ln>
            <a:noFill/>
          </a:ln>
        </p:spPr>
        <p:txBody>
          <a:bodyPr spcFirstLastPara="1" wrap="square" lIns="91425" tIns="45700" rIns="91425" bIns="45700" anchor="t" anchorCtr="0">
            <a:normAutofit/>
          </a:bodyPr>
          <a:lstStyle/>
          <a:p>
            <a:pPr marL="538163" lvl="0" indent="-538163" algn="l" rtl="0">
              <a:lnSpc>
                <a:spcPct val="90000"/>
              </a:lnSpc>
              <a:spcBef>
                <a:spcPts val="0"/>
              </a:spcBef>
              <a:spcAft>
                <a:spcPts val="0"/>
              </a:spcAft>
              <a:buClr>
                <a:schemeClr val="dk1"/>
              </a:buClr>
              <a:buSzPts val="2800"/>
              <a:buNone/>
              <a:defRPr/>
            </a:pPr>
            <a:r>
              <a:rPr lang="en-US" sz="2800"/>
              <a:t>1.1 Introduction to Project Management</a:t>
            </a:r>
            <a:endParaRPr/>
          </a:p>
          <a:p>
            <a:pPr marL="620713" lvl="0" indent="4763" algn="l" rtl="0">
              <a:lnSpc>
                <a:spcPct val="90000"/>
              </a:lnSpc>
              <a:spcBef>
                <a:spcPts val="0"/>
              </a:spcBef>
              <a:spcAft>
                <a:spcPts val="0"/>
              </a:spcAft>
              <a:buClr>
                <a:schemeClr val="dk1"/>
              </a:buClr>
              <a:buSzPts val="2800"/>
              <a:buNone/>
              <a:defRPr/>
            </a:pPr>
            <a:r>
              <a:rPr lang="en-US" sz="2000">
                <a:solidFill>
                  <a:srgbClr val="0000FF"/>
                </a:solidFill>
              </a:rPr>
              <a:t>What is PM?, What is a project? Characteristics of project, Software projects Vs other types of projects, Challenges in software projects</a:t>
            </a:r>
            <a:endParaRPr sz="2000">
              <a:solidFill>
                <a:srgbClr val="0000FF"/>
              </a:solidFill>
            </a:endParaRPr>
          </a:p>
          <a:p>
            <a:pPr marL="538163" lvl="0" indent="-538163" algn="l" rtl="0">
              <a:lnSpc>
                <a:spcPct val="90000"/>
              </a:lnSpc>
              <a:spcBef>
                <a:spcPts val="1000"/>
              </a:spcBef>
              <a:spcAft>
                <a:spcPts val="0"/>
              </a:spcAft>
              <a:buClr>
                <a:schemeClr val="dk1"/>
              </a:buClr>
              <a:buSzPts val="2800"/>
              <a:buNone/>
              <a:defRPr/>
            </a:pPr>
            <a:r>
              <a:rPr lang="en-US" sz="2800"/>
              <a:t>1.2 Project Life Cycle</a:t>
            </a:r>
            <a:endParaRPr/>
          </a:p>
          <a:p>
            <a:pPr marL="995363" lvl="1" indent="-374650">
              <a:spcBef>
                <a:spcPts val="1000"/>
              </a:spcBef>
              <a:buSzPts val="2800"/>
              <a:buNone/>
              <a:defRPr/>
            </a:pPr>
            <a:r>
              <a:rPr lang="en-US" sz="2000">
                <a:solidFill>
                  <a:srgbClr val="0000FF"/>
                </a:solidFill>
              </a:rPr>
              <a:t>4 stages, PLC processes</a:t>
            </a:r>
            <a:endParaRPr sz="2000">
              <a:solidFill>
                <a:srgbClr val="0000FF"/>
              </a:solidFill>
            </a:endParaRPr>
          </a:p>
          <a:p>
            <a:pPr marL="538163" lvl="0" indent="-538163" algn="l" rtl="0">
              <a:lnSpc>
                <a:spcPct val="90000"/>
              </a:lnSpc>
              <a:spcBef>
                <a:spcPts val="1000"/>
              </a:spcBef>
              <a:spcAft>
                <a:spcPts val="0"/>
              </a:spcAft>
              <a:buClr>
                <a:schemeClr val="dk1"/>
              </a:buClr>
              <a:buSzPts val="2800"/>
              <a:buNone/>
              <a:defRPr/>
            </a:pPr>
            <a:r>
              <a:rPr lang="en-US" sz="2800"/>
              <a:t>1.3 Project Appraisal</a:t>
            </a:r>
            <a:endParaRPr lang="en-US" sz="2800" strike="sngStrike"/>
          </a:p>
          <a:p>
            <a:pPr marL="995363" lvl="1" indent="-374650">
              <a:spcBef>
                <a:spcPts val="1000"/>
              </a:spcBef>
              <a:buSzPts val="2800"/>
              <a:buNone/>
              <a:defRPr/>
            </a:pPr>
            <a:r>
              <a:rPr lang="en-US" sz="2000">
                <a:solidFill>
                  <a:srgbClr val="0000FF"/>
                </a:solidFill>
              </a:rPr>
              <a:t>Cash flow forecasting, Cost &amp; benefits analysis</a:t>
            </a:r>
            <a:endParaRPr/>
          </a:p>
          <a:p>
            <a:pPr marL="995363" lvl="1" indent="-374650">
              <a:spcBef>
                <a:spcPts val="1000"/>
              </a:spcBef>
              <a:buSzPts val="2800"/>
              <a:buNone/>
              <a:defRPr/>
            </a:pPr>
            <a:r>
              <a:rPr lang="en-US" sz="2000">
                <a:solidFill>
                  <a:srgbClr val="0000FF"/>
                </a:solidFill>
              </a:rPr>
              <a:t>Financial techniques: NP, PP, ROI, NPV</a:t>
            </a:r>
            <a:endParaRPr/>
          </a:p>
          <a:p>
            <a:pPr marL="995363" lvl="1" indent="-374650">
              <a:spcBef>
                <a:spcPts val="1000"/>
              </a:spcBef>
              <a:buSzPts val="2800"/>
              <a:buNone/>
              <a:defRPr/>
            </a:pPr>
            <a:r>
              <a:rPr lang="en-US" sz="2000">
                <a:solidFill>
                  <a:srgbClr val="0000FF"/>
                </a:solidFill>
              </a:rPr>
              <a:t>Non-financial technique: __________</a:t>
            </a:r>
            <a:endParaRPr sz="2000">
              <a:solidFill>
                <a:srgbClr val="0000FF"/>
              </a:solidFill>
            </a:endParaRPr>
          </a:p>
          <a:p>
            <a:pPr marL="538163" lvl="0" indent="-538163" algn="l" rtl="0">
              <a:lnSpc>
                <a:spcPct val="90000"/>
              </a:lnSpc>
              <a:spcBef>
                <a:spcPts val="1000"/>
              </a:spcBef>
              <a:spcAft>
                <a:spcPts val="0"/>
              </a:spcAft>
              <a:buClr>
                <a:schemeClr val="dk1"/>
              </a:buClr>
              <a:buSzPts val="2800"/>
              <a:buNone/>
              <a:defRPr/>
            </a:pPr>
            <a:r>
              <a:rPr lang="en-US" sz="2800"/>
              <a:t>1.4 Knowledge and Attributes of a Project Manager</a:t>
            </a:r>
            <a:endParaRPr/>
          </a:p>
          <a:p>
            <a:pPr marL="538163" lvl="0" indent="-538163" algn="l" rtl="0">
              <a:lnSpc>
                <a:spcPct val="90000"/>
              </a:lnSpc>
              <a:spcBef>
                <a:spcPts val="1000"/>
              </a:spcBef>
              <a:spcAft>
                <a:spcPts val="0"/>
              </a:spcAft>
              <a:buClr>
                <a:schemeClr val="dk1"/>
              </a:buClr>
              <a:buSzPts val="2800"/>
              <a:buNone/>
              <a:defRPr/>
            </a:pPr>
            <a:r>
              <a:rPr lang="en-US" sz="2800"/>
              <a:t>1.5 Project Management Failure</a:t>
            </a:r>
            <a:endParaRPr/>
          </a:p>
        </p:txBody>
      </p:sp>
      <p:sp>
        <p:nvSpPr>
          <p:cNvPr id="311872533" name="Google Shape;114;p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45</a:t>
            </a:fld>
            <a:endParaRPr/>
          </a:p>
        </p:txBody>
      </p:sp>
      <p:cxnSp>
        <p:nvCxnSpPr>
          <p:cNvPr id="1807731498" name="Google Shape;115;p2"/>
          <p:cNvCxnSpPr/>
          <p:nvPr/>
        </p:nvCxnSpPr>
        <p:spPr bwMode="auto">
          <a:xfrm rot="10800000">
            <a:off x="2209800" y="1447800"/>
            <a:ext cx="1023822" cy="0"/>
          </a:xfrm>
          <a:prstGeom prst="straightConnector1">
            <a:avLst/>
          </a:prstGeom>
          <a:noFill/>
          <a:ln w="28575" cap="flat" cmpd="sng">
            <a:solidFill>
              <a:srgbClr val="3F3F3F"/>
            </a:solidFill>
            <a:prstDash val="solid"/>
            <a:miter lim="800000"/>
            <a:headEnd type="none" w="sm" len="sm"/>
            <a:tailEnd type="none" w="sm" len="sm"/>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800" advClick="1">
        <p:fade thruBlk="0"/>
      </p:transition>
    </mc:Choice>
    <mc:Fallback>
      <p:transition spd="slow"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38040589"/>
                                        </p:tgtEl>
                                        <p:attrNameLst>
                                          <p:attrName>style.visibility</p:attrName>
                                        </p:attrNameLst>
                                      </p:cBhvr>
                                      <p:to>
                                        <p:strVal val="visible"/>
                                      </p:to>
                                    </p:set>
                                    <p:anim calcmode="lin" valueType="num">
                                      <p:cBhvr additive="base">
                                        <p:cTn id="7" dur="500" fill="hold"/>
                                        <p:tgtEl>
                                          <p:spTgt spid="138040589"/>
                                        </p:tgtEl>
                                        <p:attrNameLst>
                                          <p:attrName>ppt_x</p:attrName>
                                        </p:attrNameLst>
                                      </p:cBhvr>
                                      <p:tavLst>
                                        <p:tav tm="0">
                                          <p:val>
                                            <p:strVal val="#ppt_x"/>
                                          </p:val>
                                        </p:tav>
                                        <p:tav tm="100000">
                                          <p:val>
                                            <p:strVal val="#ppt_x"/>
                                          </p:val>
                                        </p:tav>
                                      </p:tavLst>
                                    </p:anim>
                                    <p:anim calcmode="lin" valueType="num">
                                      <p:cBhvr additive="base">
                                        <p:cTn id="8" dur="500" fill="hold"/>
                                        <p:tgtEl>
                                          <p:spTgt spid="13804058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040589" grpId="0"/>
    </p:bldLst>
  </p:timing>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13252279" name="Google Shape;650;p40"/>
          <p:cNvSpPr txBox="1">
            <a:spLocks noGrp="1"/>
          </p:cNvSpPr>
          <p:nvPr>
            <p:ph type="title"/>
          </p:nvPr>
        </p:nvSpPr>
        <p:spPr bwMode="auto">
          <a:xfrm>
            <a:off x="2743200" y="457200"/>
            <a:ext cx="5791200" cy="533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defRPr/>
            </a:pPr>
            <a:r>
              <a:rPr lang="en-US" b="1"/>
              <a:t>Weighted Scoring Model</a:t>
            </a:r>
            <a:endParaRPr/>
          </a:p>
        </p:txBody>
      </p:sp>
      <p:sp>
        <p:nvSpPr>
          <p:cNvPr id="1508970393" name="Google Shape;651;p40"/>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46</a:t>
            </a:fld>
            <a:endParaRPr/>
          </a:p>
        </p:txBody>
      </p:sp>
      <p:sp>
        <p:nvSpPr>
          <p:cNvPr id="2004041785" name="Google Shape;652;p40"/>
          <p:cNvSpPr txBox="1"/>
          <p:nvPr/>
        </p:nvSpPr>
        <p:spPr bwMode="auto">
          <a:xfrm>
            <a:off x="2782649" y="964852"/>
            <a:ext cx="4191000"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1.3 Project Appraisal</a:t>
            </a:r>
            <a:endParaRPr/>
          </a:p>
        </p:txBody>
      </p:sp>
      <p:cxnSp>
        <p:nvCxnSpPr>
          <p:cNvPr id="1077967121" name="Google Shape;653;p40"/>
          <p:cNvCxnSpPr/>
          <p:nvPr/>
        </p:nvCxnSpPr>
        <p:spPr bwMode="auto">
          <a:xfrm rot="10800000">
            <a:off x="2895600" y="1371600"/>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1252619918" name="Google Shape;654;p40"/>
          <p:cNvGrpSpPr/>
          <p:nvPr/>
        </p:nvGrpSpPr>
        <p:grpSpPr bwMode="auto">
          <a:xfrm>
            <a:off x="0" y="6980"/>
            <a:ext cx="2209800" cy="6851020"/>
            <a:chOff x="0" y="6980"/>
            <a:chExt cx="2209800" cy="6851020"/>
          </a:xfrm>
        </p:grpSpPr>
        <p:pic>
          <p:nvPicPr>
            <p:cNvPr id="655" name="Google Shape;655;p40"/>
            <p:cNvPicPr/>
            <p:nvPr/>
          </p:nvPicPr>
          <p:blipFill rotWithShape="1">
            <a:blip r:embed="rId3">
              <a:alphaModFix/>
            </a:blip>
            <a:srcRect l="23750" t="0" r="39999" b="0"/>
            <a:stretch/>
          </p:blipFill>
          <p:spPr bwMode="auto">
            <a:xfrm>
              <a:off x="0" y="2800350"/>
              <a:ext cx="2209800" cy="4057650"/>
            </a:xfrm>
            <a:prstGeom prst="rect">
              <a:avLst/>
            </a:prstGeom>
            <a:noFill/>
            <a:ln>
              <a:noFill/>
            </a:ln>
          </p:spPr>
        </p:pic>
        <p:pic>
          <p:nvPicPr>
            <p:cNvPr id="656" name="Google Shape;656;p40"/>
            <p:cNvPicPr/>
            <p:nvPr/>
          </p:nvPicPr>
          <p:blipFill rotWithShape="1">
            <a:blip r:embed="rId4">
              <a:alphaModFix/>
            </a:blip>
            <a:srcRect l="8750" t="0" r="55000" b="0"/>
            <a:stretch/>
          </p:blipFill>
          <p:spPr bwMode="auto">
            <a:xfrm>
              <a:off x="0" y="6980"/>
              <a:ext cx="2209800" cy="3590925"/>
            </a:xfrm>
            <a:prstGeom prst="rect">
              <a:avLst/>
            </a:prstGeom>
            <a:noFill/>
            <a:ln>
              <a:noFill/>
            </a:ln>
          </p:spPr>
        </p:pic>
      </p:grpSp>
      <p:sp>
        <p:nvSpPr>
          <p:cNvPr id="667864488" name="Google Shape;657;p40"/>
          <p:cNvSpPr txBox="1"/>
          <p:nvPr/>
        </p:nvSpPr>
        <p:spPr bwMode="auto">
          <a:xfrm>
            <a:off x="2800204" y="1516064"/>
            <a:ext cx="8458200" cy="1184274"/>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nSpc>
                <a:spcPct val="90000"/>
              </a:lnSpc>
              <a:buClr>
                <a:schemeClr val="dk1"/>
              </a:buClr>
              <a:buSzPct val="100000"/>
              <a:buFont typeface="Arial"/>
              <a:buChar char="•"/>
              <a:defRPr/>
            </a:pPr>
            <a:r>
              <a:rPr lang="en-US" sz="2800" b="1">
                <a:solidFill>
                  <a:schemeClr val="dk1"/>
                </a:solidFill>
                <a:latin typeface="Calibri"/>
                <a:ea typeface="Calibri"/>
                <a:cs typeface="Calibri"/>
              </a:rPr>
              <a:t>Specify the relevant </a:t>
            </a:r>
            <a:r>
              <a:rPr lang="en-US" sz="2800" b="1">
                <a:solidFill>
                  <a:srgbClr val="FF0000"/>
                </a:solidFill>
                <a:latin typeface="Calibri"/>
                <a:ea typeface="Calibri"/>
                <a:cs typeface="Calibri"/>
              </a:rPr>
              <a:t>criterion</a:t>
            </a:r>
            <a:r>
              <a:rPr lang="en-US" sz="2800">
                <a:solidFill>
                  <a:srgbClr val="FF0000"/>
                </a:solidFill>
                <a:latin typeface="Calibri"/>
                <a:ea typeface="Calibri"/>
                <a:cs typeface="Calibri"/>
              </a:rPr>
              <a:t> </a:t>
            </a:r>
            <a:r>
              <a:rPr lang="en-US" sz="2800" b="1">
                <a:solidFill>
                  <a:srgbClr val="FF0000"/>
                </a:solidFill>
                <a:latin typeface="Calibri"/>
                <a:ea typeface="Calibri"/>
                <a:cs typeface="Calibri"/>
              </a:rPr>
              <a:t>for</a:t>
            </a:r>
            <a:r>
              <a:rPr lang="en-US" sz="2800">
                <a:solidFill>
                  <a:srgbClr val="FF0000"/>
                </a:solidFill>
                <a:latin typeface="Calibri"/>
                <a:ea typeface="Calibri"/>
                <a:cs typeface="Calibri"/>
              </a:rPr>
              <a:t> </a:t>
            </a:r>
            <a:r>
              <a:rPr lang="en-US" sz="2800" b="1">
                <a:solidFill>
                  <a:srgbClr val="FF0000"/>
                </a:solidFill>
                <a:latin typeface="Calibri"/>
                <a:ea typeface="Calibri"/>
                <a:cs typeface="Calibri"/>
              </a:rPr>
              <a:t>project selection</a:t>
            </a:r>
            <a:endParaRPr>
              <a:solidFill>
                <a:srgbClr val="FF0000"/>
              </a:solidFill>
            </a:endParaRPr>
          </a:p>
          <a:p>
            <a:pPr marL="276225">
              <a:lnSpc>
                <a:spcPct val="90000"/>
              </a:lnSpc>
              <a:spcBef>
                <a:spcPts val="1000"/>
              </a:spcBef>
              <a:buClr>
                <a:srgbClr val="C00000"/>
              </a:buClr>
              <a:buSzPct val="100000"/>
              <a:defRPr/>
            </a:pPr>
            <a:r>
              <a:rPr lang="en-US" sz="2800" i="1">
                <a:solidFill>
                  <a:schemeClr val="dk1"/>
                </a:solidFill>
                <a:latin typeface="Calibri"/>
                <a:ea typeface="Calibri"/>
                <a:cs typeface="Calibri"/>
              </a:rPr>
              <a:t>(NPV, ROI can be the criterion)</a:t>
            </a:r>
            <a:endParaRPr lang="en-US" sz="2800" i="1"/>
          </a:p>
          <a:p>
            <a:pPr marL="228600" marR="0" lvl="0" indent="-228600" algn="l" rtl="0">
              <a:lnSpc>
                <a:spcPct val="90000"/>
              </a:lnSpc>
              <a:spcBef>
                <a:spcPts val="1000"/>
              </a:spcBef>
              <a:spcAft>
                <a:spcPts val="0"/>
              </a:spcAft>
              <a:buClr>
                <a:srgbClr val="C00000"/>
              </a:buClr>
              <a:buSzPct val="100000"/>
              <a:buFont typeface="Arial"/>
              <a:buChar char="•"/>
              <a:defRPr/>
            </a:pPr>
            <a:r>
              <a:rPr lang="en-US" sz="2800" b="1">
                <a:solidFill>
                  <a:srgbClr val="FF00FF"/>
                </a:solidFill>
                <a:latin typeface="Calibri"/>
                <a:ea typeface="Calibri"/>
                <a:cs typeface="Calibri"/>
              </a:rPr>
              <a:t>Weight</a:t>
            </a:r>
            <a:r>
              <a:rPr lang="en-US" sz="2800">
                <a:solidFill>
                  <a:schemeClr val="dk1"/>
                </a:solidFill>
                <a:latin typeface="Calibri"/>
                <a:ea typeface="Calibri"/>
                <a:cs typeface="Calibri"/>
              </a:rPr>
              <a:t> the importance of each criterion. </a:t>
            </a:r>
            <a:endParaRPr/>
          </a:p>
          <a:p>
            <a:pPr marL="228600" marR="0" lvl="0" indent="-104140" algn="l" rtl="0">
              <a:lnSpc>
                <a:spcPct val="90000"/>
              </a:lnSpc>
              <a:spcBef>
                <a:spcPts val="1000"/>
              </a:spcBef>
              <a:spcAft>
                <a:spcPts val="0"/>
              </a:spcAft>
              <a:buClr>
                <a:schemeClr val="dk1"/>
              </a:buClr>
              <a:buSzPct val="100000"/>
              <a:buFont typeface="Arial"/>
              <a:buNone/>
              <a:defRPr/>
            </a:pPr>
            <a:endParaRPr sz="2800">
              <a:solidFill>
                <a:schemeClr val="dk1"/>
              </a:solidFill>
              <a:latin typeface="Calibri"/>
              <a:ea typeface="Calibri"/>
              <a:cs typeface="Calibri"/>
            </a:endParaRPr>
          </a:p>
        </p:txBody>
      </p:sp>
      <p:graphicFrame>
        <p:nvGraphicFramePr>
          <p:cNvPr id="2057799321" name="Google Shape;658;p40"/>
          <p:cNvGraphicFramePr>
            <a:graphicFrameLocks xmlns:a="http://schemas.openxmlformats.org/drawingml/2006/main"/>
          </p:cNvGraphicFramePr>
          <p:nvPr/>
        </p:nvGraphicFramePr>
        <p:xfrm rot="0">
          <a:off x="2952605" y="2933148"/>
          <a:ext cx="8305800" cy="2960000"/>
        </p:xfrm>
        <a:graphic>
          <a:graphicData uri="http://schemas.openxmlformats.org/drawingml/2006/table">
            <a:tbl>
              <a:tblPr firstRow="0" firstCol="0" lastRow="0" lastCol="0" bandRow="0" bandCol="0">
                <a:tableStyleId>{4C38C2D8-9331-4F24-B9CF-3786705C414E}</a:tableStyleId>
                <a:noFill/>
              </a:tblPr>
              <a:tblGrid>
                <a:gridCol w="3048000"/>
                <a:gridCol w="1314450"/>
                <a:gridCol w="1314450"/>
                <a:gridCol w="1314450"/>
                <a:gridCol w="1314450"/>
              </a:tblGrid>
              <a:tr h="365725">
                <a:tc>
                  <a:txBody>
                    <a:bodyPr/>
                    <a:p>
                      <a:pPr marL="0" marR="0" lvl="0" indent="0" algn="l" rtl="0">
                        <a:lnSpc>
                          <a:spcPct val="100000"/>
                        </a:lnSpc>
                        <a:spcBef>
                          <a:spcPts val="0"/>
                        </a:spcBef>
                        <a:spcAft>
                          <a:spcPts val="0"/>
                        </a:spcAft>
                        <a:buClr>
                          <a:schemeClr val="dk1"/>
                        </a:buClr>
                        <a:buSzPts val="1400"/>
                        <a:buFont typeface="Arial"/>
                        <a:buNone/>
                        <a:defRPr/>
                      </a:pPr>
                      <a:r>
                        <a:rPr lang="en-US" sz="1400" b="1" i="0" u="none" strike="noStrike" cap="none">
                          <a:solidFill>
                            <a:srgbClr val="FF0000"/>
                          </a:solidFill>
                          <a:latin typeface="Arial"/>
                          <a:ea typeface="Arial"/>
                          <a:cs typeface="Arial"/>
                        </a:rPr>
                        <a:t>Criteria (for project selection)</a:t>
                      </a:r>
                      <a:endParaRPr>
                        <a:solidFill>
                          <a:srgbClr val="FF0000"/>
                        </a:solidFill>
                      </a:endParaRPr>
                    </a:p>
                  </a:txBody>
                  <a:tcPr marL="91450" marR="91450" marT="45700" marB="45700">
                    <a:lnL w="28575" algn="ctr">
                      <a:solidFill>
                        <a:schemeClr val="dk1"/>
                      </a:solidFill>
                    </a:lnL>
                    <a:lnR w="12700" algn="ctr">
                      <a:solidFill>
                        <a:schemeClr val="dk1"/>
                      </a:solidFill>
                    </a:lnR>
                    <a:lnT w="28575" algn="ctr">
                      <a:solidFill>
                        <a:schemeClr val="dk1"/>
                      </a:solidFill>
                    </a:lnT>
                    <a:lnB w="38100" algn="ctr">
                      <a:solidFill>
                        <a:schemeClr val="tx1"/>
                      </a:solidFill>
                    </a:lnB>
                    <a:solidFill>
                      <a:schemeClr val="accent5">
                        <a:lumMod val="20000"/>
                        <a:lumOff val="80000"/>
                      </a:schemeClr>
                    </a:solidFill>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1" i="0" u="none" strike="noStrike" cap="none">
                          <a:solidFill>
                            <a:srgbClr val="FF00FF"/>
                          </a:solidFill>
                          <a:latin typeface="Arial"/>
                          <a:ea typeface="Arial"/>
                          <a:cs typeface="Arial"/>
                        </a:rPr>
                        <a:t>Weight (%)</a:t>
                      </a:r>
                      <a:endParaRPr>
                        <a:solidFill>
                          <a:srgbClr val="FF00FF"/>
                        </a:solidFill>
                      </a:endParaRPr>
                    </a:p>
                  </a:txBody>
                  <a:tcPr marL="91450" marR="91450" marT="45700" marB="45700">
                    <a:lnL w="12700" algn="ctr">
                      <a:solidFill>
                        <a:schemeClr val="dk1"/>
                      </a:solidFill>
                    </a:lnL>
                    <a:lnR w="12700" algn="ctr">
                      <a:solidFill>
                        <a:schemeClr val="dk1"/>
                      </a:solidFill>
                    </a:lnR>
                    <a:lnT w="28575" algn="ctr">
                      <a:solidFill>
                        <a:schemeClr val="dk1"/>
                      </a:solidFill>
                    </a:lnT>
                    <a:lnB w="38100" algn="ctr">
                      <a:solidFill>
                        <a:schemeClr val="tx1"/>
                      </a:solidFill>
                    </a:lnB>
                    <a:solidFill>
                      <a:schemeClr val="accent5">
                        <a:lumMod val="20000"/>
                        <a:lumOff val="80000"/>
                      </a:schemeClr>
                    </a:solidFill>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1" i="0" u="none" strike="noStrike" cap="none">
                          <a:solidFill>
                            <a:schemeClr val="dk1"/>
                          </a:solidFill>
                          <a:latin typeface="Arial"/>
                          <a:ea typeface="Arial"/>
                          <a:cs typeface="Arial"/>
                        </a:rPr>
                        <a:t>Project 1</a:t>
                      </a:r>
                      <a:endParaRPr/>
                    </a:p>
                  </a:txBody>
                  <a:tcPr marL="91450" marR="91450" marT="45700" marB="45700">
                    <a:lnL w="12700" algn="ctr">
                      <a:solidFill>
                        <a:schemeClr val="dk1"/>
                      </a:solidFill>
                    </a:lnL>
                    <a:lnR w="12700" algn="ctr">
                      <a:solidFill>
                        <a:schemeClr val="dk1"/>
                      </a:solidFill>
                    </a:lnR>
                    <a:lnT w="28575" algn="ctr">
                      <a:solidFill>
                        <a:schemeClr val="dk1"/>
                      </a:solidFill>
                    </a:lnT>
                    <a:lnB w="38100" algn="ctr">
                      <a:solidFill>
                        <a:schemeClr val="tx1"/>
                      </a:solidFill>
                    </a:lnB>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1" i="0" u="none" strike="noStrike" cap="none">
                          <a:solidFill>
                            <a:schemeClr val="dk1"/>
                          </a:solidFill>
                          <a:latin typeface="Arial"/>
                          <a:ea typeface="Arial"/>
                          <a:cs typeface="Arial"/>
                        </a:rPr>
                        <a:t>Project 2</a:t>
                      </a:r>
                      <a:endParaRPr/>
                    </a:p>
                  </a:txBody>
                  <a:tcPr marL="91450" marR="91450" marT="45700" marB="45700">
                    <a:lnL w="12700" algn="ctr">
                      <a:solidFill>
                        <a:schemeClr val="dk1"/>
                      </a:solidFill>
                    </a:lnL>
                    <a:lnR w="12700" algn="ctr">
                      <a:solidFill>
                        <a:schemeClr val="dk1"/>
                      </a:solidFill>
                    </a:lnR>
                    <a:lnT w="28575" algn="ctr">
                      <a:solidFill>
                        <a:schemeClr val="dk1"/>
                      </a:solidFill>
                    </a:lnT>
                    <a:lnB w="38100" algn="ctr">
                      <a:solidFill>
                        <a:schemeClr val="tx1"/>
                      </a:solidFill>
                    </a:lnB>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1" i="0" u="none" strike="noStrike" cap="none">
                          <a:solidFill>
                            <a:schemeClr val="dk1"/>
                          </a:solidFill>
                          <a:latin typeface="Arial"/>
                          <a:ea typeface="Arial"/>
                          <a:cs typeface="Arial"/>
                        </a:rPr>
                        <a:t>Project 3</a:t>
                      </a:r>
                      <a:endParaRPr/>
                    </a:p>
                  </a:txBody>
                  <a:tcPr marL="91450" marR="91450" marT="45700" marB="45700">
                    <a:lnL w="12700" algn="ctr">
                      <a:solidFill>
                        <a:schemeClr val="dk1"/>
                      </a:solidFill>
                    </a:lnL>
                    <a:lnR w="28575" algn="ctr">
                      <a:solidFill>
                        <a:schemeClr val="dk1"/>
                      </a:solidFill>
                    </a:lnR>
                    <a:lnT w="28575" algn="ctr">
                      <a:solidFill>
                        <a:schemeClr val="dk1"/>
                      </a:solidFill>
                    </a:lnT>
                    <a:lnB w="38100" algn="ctr">
                      <a:solidFill>
                        <a:schemeClr val="tx1"/>
                      </a:solidFill>
                    </a:lnB>
                  </a:tcPr>
                </a:tc>
              </a:tr>
              <a:tr h="365725">
                <a:tc>
                  <a:txBody>
                    <a:bodyPr/>
                    <a:p>
                      <a:pPr marL="0" marR="0" lvl="0" indent="0" algn="l" rtl="0">
                        <a:lnSpc>
                          <a:spcPct val="100000"/>
                        </a:lnSpc>
                        <a:spcBef>
                          <a:spcPts val="0"/>
                        </a:spcBef>
                        <a:spcAft>
                          <a:spcPts val="0"/>
                        </a:spcAft>
                        <a:buClr>
                          <a:schemeClr val="dk1"/>
                        </a:buClr>
                        <a:buSzPts val="1400"/>
                        <a:buFont typeface="Arial"/>
                        <a:buNone/>
                        <a:defRPr/>
                      </a:pPr>
                      <a:r>
                        <a:rPr lang="en-US" sz="1400" b="0" i="0" u="none" strike="noStrike" cap="none">
                          <a:solidFill>
                            <a:srgbClr val="FF0000"/>
                          </a:solidFill>
                          <a:latin typeface="Arial"/>
                          <a:ea typeface="Arial"/>
                          <a:cs typeface="Arial"/>
                        </a:rPr>
                        <a:t>Support business objectives </a:t>
                      </a:r>
                      <a:endParaRPr>
                        <a:solidFill>
                          <a:srgbClr val="FF0000"/>
                        </a:solidFill>
                      </a:endParaRPr>
                    </a:p>
                  </a:txBody>
                  <a:tcPr marL="91450" marR="91450" marT="45700" marB="45700">
                    <a:lnL w="28575" algn="ctr">
                      <a:solidFill>
                        <a:schemeClr val="dk1"/>
                      </a:solidFill>
                    </a:lnL>
                    <a:lnR w="12700" algn="ctr">
                      <a:solidFill>
                        <a:schemeClr val="dk1"/>
                      </a:solidFill>
                    </a:lnR>
                    <a:lnT w="38100" algn="ctr">
                      <a:solidFill>
                        <a:schemeClr val="tx1"/>
                      </a:solidFill>
                    </a:lnT>
                    <a:lnB w="12700" algn="ctr">
                      <a:solidFill>
                        <a:schemeClr val="dk1"/>
                      </a:solidFill>
                    </a:lnB>
                    <a:solidFill>
                      <a:schemeClr val="accent5">
                        <a:lumMod val="20000"/>
                        <a:lumOff val="80000"/>
                      </a:schemeClr>
                    </a:solidFill>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rgbClr val="FF00FF"/>
                          </a:solidFill>
                          <a:latin typeface="Arial"/>
                          <a:ea typeface="Arial"/>
                          <a:cs typeface="Arial"/>
                        </a:rPr>
                        <a:t>10%</a:t>
                      </a:r>
                      <a:endParaRPr>
                        <a:solidFill>
                          <a:srgbClr val="FF00FF"/>
                        </a:solidFill>
                      </a:endParaRPr>
                    </a:p>
                  </a:txBody>
                  <a:tcPr marL="91450" marR="91450" marT="45700" marB="45700">
                    <a:lnL w="12700" algn="ctr">
                      <a:solidFill>
                        <a:schemeClr val="dk1"/>
                      </a:solidFill>
                    </a:lnL>
                    <a:lnR w="12700" algn="ctr">
                      <a:solidFill>
                        <a:schemeClr val="dk1"/>
                      </a:solidFill>
                    </a:lnR>
                    <a:lnT w="38100" algn="ctr">
                      <a:solidFill>
                        <a:schemeClr val="tx1"/>
                      </a:solidFill>
                    </a:lnT>
                    <a:lnB w="12700" algn="ctr">
                      <a:solidFill>
                        <a:schemeClr val="dk1"/>
                      </a:solidFill>
                    </a:lnB>
                    <a:solidFill>
                      <a:schemeClr val="accent5">
                        <a:lumMod val="20000"/>
                        <a:lumOff val="80000"/>
                      </a:schemeClr>
                    </a:solidFill>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12700" algn="ctr">
                      <a:solidFill>
                        <a:schemeClr val="dk1"/>
                      </a:solidFill>
                    </a:lnR>
                    <a:lnT w="38100" algn="ctr">
                      <a:solidFill>
                        <a:schemeClr val="tx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12700" algn="ctr">
                      <a:solidFill>
                        <a:schemeClr val="dk1"/>
                      </a:solidFill>
                    </a:lnR>
                    <a:lnT w="38100" algn="ctr">
                      <a:solidFill>
                        <a:schemeClr val="tx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28575" algn="ctr">
                      <a:solidFill>
                        <a:schemeClr val="dk1"/>
                      </a:solidFill>
                    </a:lnR>
                    <a:lnT w="38100" algn="ctr">
                      <a:solidFill>
                        <a:schemeClr val="tx1"/>
                      </a:solidFill>
                    </a:lnT>
                    <a:lnB w="12700" algn="ctr">
                      <a:solidFill>
                        <a:schemeClr val="dk1"/>
                      </a:solidFill>
                    </a:lnB>
                  </a:tcPr>
                </a:tc>
              </a:tr>
              <a:tr h="365725">
                <a:tc>
                  <a:txBody>
                    <a:bodyPr/>
                    <a:p>
                      <a:pPr marL="0" marR="0" lvl="0" indent="0" algn="l" rtl="0">
                        <a:lnSpc>
                          <a:spcPct val="100000"/>
                        </a:lnSpc>
                        <a:spcBef>
                          <a:spcPts val="0"/>
                        </a:spcBef>
                        <a:spcAft>
                          <a:spcPts val="0"/>
                        </a:spcAft>
                        <a:buClr>
                          <a:schemeClr val="dk1"/>
                        </a:buClr>
                        <a:buSzPts val="1400"/>
                        <a:buFont typeface="Arial"/>
                        <a:buNone/>
                        <a:defRPr/>
                      </a:pPr>
                      <a:r>
                        <a:rPr lang="en-US" sz="1400" b="0" i="0" u="none" strike="noStrike" cap="none">
                          <a:solidFill>
                            <a:srgbClr val="FF0000"/>
                          </a:solidFill>
                          <a:latin typeface="Arial"/>
                          <a:ea typeface="Arial"/>
                          <a:cs typeface="Arial"/>
                        </a:rPr>
                        <a:t>Availability of resources</a:t>
                      </a:r>
                      <a:endParaRPr>
                        <a:solidFill>
                          <a:srgbClr val="FF0000"/>
                        </a:solidFill>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accent5">
                        <a:lumMod val="20000"/>
                        <a:lumOff val="80000"/>
                      </a:schemeClr>
                    </a:solidFill>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rgbClr val="FF00FF"/>
                          </a:solidFill>
                          <a:latin typeface="Arial"/>
                          <a:ea typeface="Arial"/>
                          <a:cs typeface="Arial"/>
                        </a:rPr>
                        <a:t>10%</a:t>
                      </a:r>
                      <a:endParaRPr>
                        <a:solidFill>
                          <a:srgbClr val="FF00FF"/>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accent5">
                        <a:lumMod val="20000"/>
                        <a:lumOff val="80000"/>
                      </a:schemeClr>
                    </a:solidFill>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l" rtl="0">
                        <a:lnSpc>
                          <a:spcPct val="100000"/>
                        </a:lnSpc>
                        <a:spcBef>
                          <a:spcPts val="0"/>
                        </a:spcBef>
                        <a:spcAft>
                          <a:spcPts val="0"/>
                        </a:spcAft>
                        <a:buClr>
                          <a:schemeClr val="dk1"/>
                        </a:buClr>
                        <a:buSzPts val="1400"/>
                        <a:buFont typeface="Arial"/>
                        <a:buNone/>
                        <a:defRPr/>
                      </a:pPr>
                      <a:r>
                        <a:rPr lang="en-US" sz="1400" b="0" i="0" u="none" strike="noStrike" cap="none">
                          <a:solidFill>
                            <a:srgbClr val="FF0000"/>
                          </a:solidFill>
                          <a:latin typeface="Arial"/>
                          <a:ea typeface="Arial"/>
                          <a:cs typeface="Arial"/>
                        </a:rPr>
                        <a:t>Duration &lt; 12 months</a:t>
                      </a:r>
                      <a:endParaRPr>
                        <a:solidFill>
                          <a:srgbClr val="FF0000"/>
                        </a:solidFill>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accent5">
                        <a:lumMod val="20000"/>
                        <a:lumOff val="80000"/>
                      </a:schemeClr>
                    </a:solidFill>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rgbClr val="FF00FF"/>
                          </a:solidFill>
                          <a:latin typeface="Arial"/>
                          <a:ea typeface="Arial"/>
                          <a:cs typeface="Arial"/>
                        </a:rPr>
                        <a:t>10%</a:t>
                      </a:r>
                      <a:endParaRPr>
                        <a:solidFill>
                          <a:srgbClr val="FF00FF"/>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accent5">
                        <a:lumMod val="20000"/>
                        <a:lumOff val="80000"/>
                      </a:schemeClr>
                    </a:solidFill>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l" rtl="0">
                        <a:lnSpc>
                          <a:spcPct val="100000"/>
                        </a:lnSpc>
                        <a:spcBef>
                          <a:spcPts val="0"/>
                        </a:spcBef>
                        <a:spcAft>
                          <a:spcPts val="0"/>
                        </a:spcAft>
                        <a:buClr>
                          <a:schemeClr val="dk1"/>
                        </a:buClr>
                        <a:buSzPts val="1400"/>
                        <a:buFont typeface="Arial"/>
                        <a:buNone/>
                        <a:defRPr/>
                      </a:pPr>
                      <a:r>
                        <a:rPr lang="en-US" sz="1400" b="0" i="0" u="none" strike="noStrike" cap="none">
                          <a:solidFill>
                            <a:srgbClr val="FF0000"/>
                          </a:solidFill>
                          <a:latin typeface="Arial"/>
                          <a:ea typeface="Arial"/>
                          <a:cs typeface="Arial"/>
                        </a:rPr>
                        <a:t>Low risk</a:t>
                      </a:r>
                      <a:endParaRPr>
                        <a:solidFill>
                          <a:srgbClr val="FF0000"/>
                        </a:solidFill>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accent5">
                        <a:lumMod val="20000"/>
                        <a:lumOff val="80000"/>
                      </a:schemeClr>
                    </a:solidFill>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rgbClr val="FF00FF"/>
                          </a:solidFill>
                          <a:latin typeface="Arial"/>
                          <a:ea typeface="Arial"/>
                          <a:cs typeface="Arial"/>
                        </a:rPr>
                        <a:t>5%</a:t>
                      </a:r>
                      <a:endParaRPr>
                        <a:solidFill>
                          <a:srgbClr val="FF00FF"/>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accent5">
                        <a:lumMod val="20000"/>
                        <a:lumOff val="80000"/>
                      </a:schemeClr>
                    </a:solidFill>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l" rtl="0">
                        <a:lnSpc>
                          <a:spcPct val="100000"/>
                        </a:lnSpc>
                        <a:spcBef>
                          <a:spcPts val="0"/>
                        </a:spcBef>
                        <a:spcAft>
                          <a:spcPts val="0"/>
                        </a:spcAft>
                        <a:buClr>
                          <a:schemeClr val="dk1"/>
                        </a:buClr>
                        <a:buSzPts val="1400"/>
                        <a:buFont typeface="Arial"/>
                        <a:buNone/>
                        <a:defRPr/>
                      </a:pPr>
                      <a:r>
                        <a:rPr lang="en-US" sz="1400" b="0" i="0" u="none" strike="noStrike" cap="none">
                          <a:solidFill>
                            <a:srgbClr val="FF0000"/>
                          </a:solidFill>
                          <a:latin typeface="Arial"/>
                          <a:ea typeface="Arial"/>
                          <a:cs typeface="Arial"/>
                        </a:rPr>
                        <a:t>High probability of project success</a:t>
                      </a:r>
                      <a:endParaRPr>
                        <a:solidFill>
                          <a:srgbClr val="FF0000"/>
                        </a:solidFill>
                      </a:endParaRPr>
                    </a:p>
                  </a:txBody>
                  <a:tcPr marL="91450" marR="91450" marT="45700" marB="45700">
                    <a:lnL w="28575" algn="ctr">
                      <a:solidFill>
                        <a:schemeClr val="dk1"/>
                      </a:solidFill>
                    </a:lnL>
                    <a:lnR w="12700" algn="ctr">
                      <a:solidFill>
                        <a:schemeClr val="dk1"/>
                      </a:solidFill>
                    </a:lnR>
                    <a:lnT w="12700" algn="ctr">
                      <a:solidFill>
                        <a:schemeClr val="dk1"/>
                      </a:solidFill>
                    </a:lnT>
                    <a:lnB w="12700" algn="ctr">
                      <a:solidFill>
                        <a:schemeClr val="dk1"/>
                      </a:solidFill>
                    </a:lnB>
                    <a:solidFill>
                      <a:schemeClr val="accent5">
                        <a:lumMod val="20000"/>
                        <a:lumOff val="80000"/>
                      </a:schemeClr>
                    </a:solidFill>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rgbClr val="FF00FF"/>
                          </a:solidFill>
                          <a:latin typeface="Arial"/>
                          <a:ea typeface="Arial"/>
                          <a:cs typeface="Arial"/>
                        </a:rPr>
                        <a:t>15%</a:t>
                      </a:r>
                      <a:endParaRPr>
                        <a:solidFill>
                          <a:srgbClr val="FF00FF"/>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solidFill>
                      <a:schemeClr val="accent5">
                        <a:lumMod val="20000"/>
                        <a:lumOff val="80000"/>
                      </a:schemeClr>
                    </a:solidFill>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99925">
                <a:tc>
                  <a:txBody>
                    <a:bodyPr/>
                    <a:p>
                      <a:pPr marL="0" marR="0" lvl="0" indent="0" algn="l" rtl="0">
                        <a:lnSpc>
                          <a:spcPct val="100000"/>
                        </a:lnSpc>
                        <a:spcBef>
                          <a:spcPts val="0"/>
                        </a:spcBef>
                        <a:spcAft>
                          <a:spcPts val="0"/>
                        </a:spcAft>
                        <a:buClr>
                          <a:schemeClr val="dk1"/>
                        </a:buClr>
                        <a:buSzPts val="1400"/>
                        <a:buFont typeface="Arial"/>
                        <a:buNone/>
                        <a:defRPr/>
                      </a:pPr>
                      <a:r>
                        <a:rPr lang="en-US" sz="1400" b="0" i="1" u="none" strike="noStrike" cap="none">
                          <a:solidFill>
                            <a:srgbClr val="FF0000"/>
                          </a:solidFill>
                          <a:latin typeface="Arial"/>
                          <a:ea typeface="Arial"/>
                          <a:cs typeface="Arial"/>
                        </a:rPr>
                        <a:t>Good ROI (above 40%)</a:t>
                      </a:r>
                      <a:endParaRPr i="1">
                        <a:solidFill>
                          <a:srgbClr val="FF0000"/>
                        </a:solidFill>
                      </a:endParaRPr>
                    </a:p>
                  </a:txBody>
                  <a:tcPr marL="91450" marR="91450" marT="45700" marB="45700">
                    <a:lnL w="28575" algn="ctr">
                      <a:solidFill>
                        <a:schemeClr val="dk1"/>
                      </a:solidFill>
                    </a:lnL>
                    <a:lnR w="12700" algn="ctr">
                      <a:solidFill>
                        <a:schemeClr val="dk1"/>
                      </a:solidFill>
                    </a:lnR>
                    <a:lnT w="12700" algn="ctr">
                      <a:solidFill>
                        <a:schemeClr val="dk1"/>
                      </a:solidFill>
                    </a:lnT>
                    <a:lnB w="38100" algn="ctr">
                      <a:solidFill>
                        <a:schemeClr val="tx1"/>
                      </a:solidFill>
                    </a:lnB>
                    <a:solidFill>
                      <a:schemeClr val="accent5">
                        <a:lumMod val="20000"/>
                        <a:lumOff val="80000"/>
                      </a:schemeClr>
                    </a:solidFill>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1" i="0" u="none" strike="noStrike" cap="none">
                          <a:solidFill>
                            <a:srgbClr val="FF00FF"/>
                          </a:solidFill>
                          <a:latin typeface="Arial"/>
                          <a:ea typeface="Arial"/>
                          <a:cs typeface="Arial"/>
                        </a:rPr>
                        <a:t>50%</a:t>
                      </a:r>
                      <a:endParaRPr b="1">
                        <a:solidFill>
                          <a:srgbClr val="FF00FF"/>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38100" algn="ctr">
                      <a:solidFill>
                        <a:schemeClr val="tx1"/>
                      </a:solidFill>
                    </a:lnB>
                    <a:solidFill>
                      <a:schemeClr val="accent5">
                        <a:lumMod val="20000"/>
                        <a:lumOff val="80000"/>
                      </a:schemeClr>
                    </a:solidFill>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65725">
                <a:tc>
                  <a:txBody>
                    <a:bodyPr/>
                    <a:p>
                      <a:pPr marL="0" marR="0" lvl="0" indent="0" algn="l" rtl="0">
                        <a:lnSpc>
                          <a:spcPct val="100000"/>
                        </a:lnSpc>
                        <a:spcBef>
                          <a:spcPts val="0"/>
                        </a:spcBef>
                        <a:spcAft>
                          <a:spcPts val="0"/>
                        </a:spcAft>
                        <a:buClr>
                          <a:schemeClr val="dk1"/>
                        </a:buClr>
                        <a:buSzPts val="1400"/>
                        <a:buFont typeface="Arial"/>
                        <a:buNone/>
                        <a:defRPr/>
                      </a:pPr>
                      <a:r>
                        <a:rPr lang="en-US" sz="1400" b="1" i="0" u="none" strike="noStrike" cap="none">
                          <a:solidFill>
                            <a:srgbClr val="008000"/>
                          </a:solidFill>
                          <a:latin typeface="Arial"/>
                          <a:ea typeface="Arial"/>
                          <a:cs typeface="Arial"/>
                        </a:rPr>
                        <a:t>Weighted Project Scores</a:t>
                      </a:r>
                      <a:endParaRPr>
                        <a:solidFill>
                          <a:srgbClr val="008000"/>
                        </a:solidFill>
                      </a:endParaRPr>
                    </a:p>
                  </a:txBody>
                  <a:tcPr marL="91450" marR="91450" marT="45700" marB="45700">
                    <a:lnL w="28575" algn="ctr">
                      <a:solidFill>
                        <a:schemeClr val="dk1"/>
                      </a:solidFill>
                    </a:lnL>
                    <a:lnR w="12700" algn="ctr">
                      <a:solidFill>
                        <a:schemeClr val="dk1"/>
                      </a:solidFill>
                    </a:lnR>
                    <a:lnT w="38100" algn="ctr">
                      <a:solidFill>
                        <a:schemeClr val="tx1"/>
                      </a:solidFill>
                    </a:lnT>
                    <a:lnB w="12700" algn="ctr">
                      <a:solidFill>
                        <a:schemeClr val="dk1"/>
                      </a:solidFill>
                    </a:lnB>
                    <a:solidFill>
                      <a:schemeClr val="accent5">
                        <a:lumMod val="20000"/>
                        <a:lumOff val="80000"/>
                      </a:schemeClr>
                    </a:solidFill>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1" i="0" u="none" strike="noStrike" cap="none">
                          <a:solidFill>
                            <a:srgbClr val="008000"/>
                          </a:solidFill>
                          <a:latin typeface="Arial"/>
                          <a:ea typeface="Arial"/>
                          <a:cs typeface="Arial"/>
                        </a:rPr>
                        <a:t>100%</a:t>
                      </a:r>
                      <a:endParaRPr b="1">
                        <a:solidFill>
                          <a:srgbClr val="008000"/>
                        </a:solidFill>
                      </a:endParaRPr>
                    </a:p>
                  </a:txBody>
                  <a:tcPr marL="91450" marR="91450" marT="45700" marB="45700">
                    <a:lnL w="12700" algn="ctr">
                      <a:solidFill>
                        <a:schemeClr val="dk1"/>
                      </a:solidFill>
                    </a:lnL>
                    <a:lnR w="12700" algn="ctr">
                      <a:solidFill>
                        <a:schemeClr val="dk1"/>
                      </a:solidFill>
                    </a:lnR>
                    <a:lnT w="38100" algn="ctr">
                      <a:solidFill>
                        <a:schemeClr val="tx1"/>
                      </a:solidFill>
                    </a:lnT>
                    <a:lnB w="12700" algn="ctr">
                      <a:solidFill>
                        <a:schemeClr val="dk1"/>
                      </a:solidFill>
                    </a:lnB>
                    <a:solidFill>
                      <a:schemeClr val="accent5">
                        <a:lumMod val="20000"/>
                        <a:lumOff val="80000"/>
                      </a:schemeClr>
                    </a:solidFill>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bl>
          </a:graphicData>
        </a:graphic>
      </p:graphicFrame>
      <p:sp>
        <p:nvSpPr>
          <p:cNvPr id="326443999" name="Google Shape;659;p40"/>
          <p:cNvSpPr/>
          <p:nvPr/>
        </p:nvSpPr>
        <p:spPr bwMode="auto">
          <a:xfrm>
            <a:off x="2725381" y="5998897"/>
            <a:ext cx="9163195" cy="86173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defRPr/>
            </a:pPr>
            <a:r>
              <a:rPr lang="en-US" sz="1400" b="1">
                <a:solidFill>
                  <a:srgbClr val="000000"/>
                </a:solidFill>
                <a:latin typeface="Roboto"/>
                <a:ea typeface="Roboto"/>
                <a:cs typeface="Roboto"/>
              </a:rPr>
              <a:t>Weighted Project Scores for Project 2: </a:t>
            </a:r>
            <a:r>
              <a:rPr lang="en-US" sz="1400">
                <a:solidFill>
                  <a:srgbClr val="000000"/>
                </a:solidFill>
                <a:latin typeface="Roboto"/>
                <a:ea typeface="Roboto"/>
                <a:cs typeface="Roboto"/>
              </a:rPr>
              <a:t>(10% * 90) + (10% * 70) + (10% * 90) + (5% * 50) + (15% * 90) + (50% * 90) </a:t>
            </a:r>
            <a:r>
              <a:rPr lang="en-US" sz="1800">
                <a:solidFill>
                  <a:srgbClr val="000000"/>
                </a:solidFill>
                <a:latin typeface="Roboto"/>
                <a:ea typeface="Roboto"/>
                <a:cs typeface="Roboto"/>
              </a:rPr>
              <a:t>= </a:t>
            </a:r>
            <a:r>
              <a:rPr lang="en-US" sz="1800" b="1">
                <a:solidFill>
                  <a:srgbClr val="000000"/>
                </a:solidFill>
                <a:latin typeface="Roboto"/>
                <a:ea typeface="Roboto"/>
                <a:cs typeface="Roboto"/>
              </a:rPr>
              <a:t>86</a:t>
            </a:r>
            <a:endParaRPr/>
          </a:p>
          <a:p>
            <a:pPr marL="0" marR="0" lvl="0" indent="0" rtl="0">
              <a:spcBef>
                <a:spcPts val="0"/>
              </a:spcBef>
              <a:spcAft>
                <a:spcPts val="0"/>
              </a:spcAft>
              <a:buNone/>
              <a:defRPr/>
            </a:pPr>
            <a:r>
              <a:rPr lang="en-US" sz="1800" b="1">
                <a:latin typeface="Roboto"/>
                <a:ea typeface="Roboto"/>
                <a:cs typeface="Roboto"/>
              </a:rPr>
              <a:t>  Choose project with the highest score!</a:t>
            </a:r>
            <a:endParaRPr sz="1800">
              <a:solidFill>
                <a:schemeClr val="dk1"/>
              </a:solidFill>
              <a:latin typeface="Calibri"/>
              <a:ea typeface="Calibri"/>
              <a:cs typeface="Calibri"/>
            </a:endParaRPr>
          </a:p>
        </p:txBody>
      </p:sp>
      <p:sp>
        <p:nvSpPr>
          <p:cNvPr id="1069739664" name="Rectangle 1"/>
          <p:cNvSpPr/>
          <p:nvPr/>
        </p:nvSpPr>
        <p:spPr bwMode="auto">
          <a:xfrm>
            <a:off x="7623313" y="3429000"/>
            <a:ext cx="3438939" cy="2110206"/>
          </a:xfrm>
          <a:prstGeom prst="rect">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493246046" name="Callout: Line 3"/>
          <p:cNvSpPr/>
          <p:nvPr/>
        </p:nvSpPr>
        <p:spPr bwMode="auto">
          <a:xfrm>
            <a:off x="8242300" y="1858223"/>
            <a:ext cx="1533939" cy="625682"/>
          </a:xfrm>
          <a:prstGeom prst="borderCallout1">
            <a:avLst>
              <a:gd name="adj1" fmla="val 90234"/>
              <a:gd name="adj2" fmla="val 5922"/>
              <a:gd name="adj3" fmla="val 242054"/>
              <a:gd name="adj4" fmla="val -28754"/>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MY">
                <a:solidFill>
                  <a:schemeClr val="tx1"/>
                </a:solidFill>
              </a:rPr>
              <a:t>Assign a score (0 to 100) to each criterion </a:t>
            </a:r>
            <a:endParaRPr/>
          </a:p>
        </p:txBody>
      </p:sp>
      <p:graphicFrame>
        <p:nvGraphicFramePr>
          <p:cNvPr id="1706252056" name="Table 5"/>
          <p:cNvGraphicFramePr>
            <a:graphicFrameLocks xmlns:a="http://schemas.openxmlformats.org/drawingml/2006/main" noGrp="1"/>
          </p:cNvGraphicFramePr>
          <p:nvPr/>
        </p:nvGraphicFramePr>
        <p:xfrm rot="0">
          <a:off x="7284059" y="3385966"/>
          <a:ext cx="3943350" cy="2185469"/>
        </p:xfrm>
        <a:graphic>
          <a:graphicData uri="http://schemas.openxmlformats.org/drawingml/2006/table">
            <a:tbl>
              <a:tblPr firstRow="0" firstCol="0" lastRow="0" lastCol="0" bandRow="0" bandCol="0">
                <a:tableStyleId>{4C38C2D8-9331-4F24-B9CF-3786705C414E}</a:tableStyleId>
                <a:noFill/>
              </a:tblPr>
              <a:tblGrid>
                <a:gridCol w="1314450"/>
                <a:gridCol w="1314450"/>
                <a:gridCol w="1314450"/>
              </a:tblGrid>
              <a:tr h="358655">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chemeClr val="tx1"/>
                          </a:solidFill>
                          <a:latin typeface="Arial"/>
                          <a:ea typeface="Arial"/>
                          <a:cs typeface="Arial"/>
                        </a:rPr>
                        <a:t>80</a:t>
                      </a:r>
                      <a:endParaRPr>
                        <a:solidFill>
                          <a:schemeClr val="tx1"/>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chemeClr val="tx1"/>
                          </a:solidFill>
                          <a:latin typeface="Arial"/>
                          <a:ea typeface="Arial"/>
                          <a:cs typeface="Arial"/>
                        </a:rPr>
                        <a:t>90</a:t>
                      </a:r>
                      <a:endParaRPr b="0">
                        <a:solidFill>
                          <a:schemeClr val="tx1"/>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chemeClr val="dk1"/>
                          </a:solidFill>
                          <a:latin typeface="Arial"/>
                          <a:ea typeface="Arial"/>
                          <a:cs typeface="Arial"/>
                        </a:rPr>
                        <a:t>50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58655">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chemeClr val="dk1"/>
                          </a:solidFill>
                          <a:latin typeface="Arial"/>
                          <a:ea typeface="Arial"/>
                          <a:cs typeface="Arial"/>
                        </a:rPr>
                        <a:t>70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chemeClr val="tx1"/>
                          </a:solidFill>
                          <a:latin typeface="Arial"/>
                          <a:ea typeface="Arial"/>
                          <a:cs typeface="Arial"/>
                        </a:rPr>
                        <a:t>70</a:t>
                      </a:r>
                      <a:endParaRPr>
                        <a:solidFill>
                          <a:schemeClr val="tx1"/>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chemeClr val="dk1"/>
                          </a:solidFill>
                          <a:latin typeface="Arial"/>
                          <a:ea typeface="Arial"/>
                          <a:cs typeface="Arial"/>
                        </a:rPr>
                        <a:t>50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58655">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chemeClr val="dk1"/>
                          </a:solidFill>
                          <a:latin typeface="Arial"/>
                          <a:ea typeface="Arial"/>
                          <a:cs typeface="Arial"/>
                        </a:rPr>
                        <a:t>70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chemeClr val="tx1"/>
                          </a:solidFill>
                          <a:latin typeface="Arial"/>
                          <a:ea typeface="Arial"/>
                          <a:cs typeface="Arial"/>
                        </a:rPr>
                        <a:t>90</a:t>
                      </a:r>
                      <a:endParaRPr b="0">
                        <a:solidFill>
                          <a:schemeClr val="tx1"/>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chemeClr val="dk1"/>
                          </a:solidFill>
                          <a:latin typeface="Arial"/>
                          <a:ea typeface="Arial"/>
                          <a:cs typeface="Arial"/>
                        </a:rPr>
                        <a:t>50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58655">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chemeClr val="dk1"/>
                          </a:solidFill>
                          <a:latin typeface="Arial"/>
                          <a:ea typeface="Arial"/>
                          <a:cs typeface="Arial"/>
                        </a:rPr>
                        <a:t>50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noFill/>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chemeClr val="dk1"/>
                          </a:solidFill>
                          <a:latin typeface="Arial"/>
                          <a:ea typeface="Arial"/>
                          <a:cs typeface="Arial"/>
                        </a:rPr>
                        <a:t>50</a:t>
                      </a:r>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noFill/>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chemeClr val="dk1"/>
                          </a:solidFill>
                          <a:latin typeface="Arial"/>
                          <a:ea typeface="Arial"/>
                          <a:cs typeface="Arial"/>
                        </a:rPr>
                        <a:t>50</a:t>
                      </a:r>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58655">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chemeClr val="tx1"/>
                          </a:solidFill>
                          <a:latin typeface="Arial"/>
                          <a:ea typeface="Arial"/>
                          <a:cs typeface="Arial"/>
                        </a:rPr>
                        <a:t>90</a:t>
                      </a:r>
                      <a:endParaRPr b="0">
                        <a:solidFill>
                          <a:schemeClr val="tx1"/>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chemeClr val="tx1"/>
                          </a:solidFill>
                          <a:latin typeface="Arial"/>
                          <a:ea typeface="Arial"/>
                          <a:cs typeface="Arial"/>
                        </a:rPr>
                        <a:t>90</a:t>
                      </a:r>
                      <a:endParaRPr b="0">
                        <a:solidFill>
                          <a:schemeClr val="tx1"/>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chemeClr val="tx1"/>
                          </a:solidFill>
                          <a:latin typeface="Arial"/>
                          <a:ea typeface="Arial"/>
                          <a:cs typeface="Arial"/>
                        </a:rPr>
                        <a:t>50</a:t>
                      </a:r>
                      <a:endParaRPr>
                        <a:solidFill>
                          <a:schemeClr val="tx1"/>
                        </a:solidFill>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r h="392194">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chemeClr val="tx1"/>
                          </a:solidFill>
                          <a:latin typeface="Arial"/>
                          <a:ea typeface="Arial"/>
                          <a:cs typeface="Arial"/>
                        </a:rPr>
                        <a:t>80</a:t>
                      </a:r>
                      <a:endParaRPr b="0">
                        <a:solidFill>
                          <a:schemeClr val="tx1"/>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chemeClr val="tx1"/>
                          </a:solidFill>
                          <a:latin typeface="Arial"/>
                          <a:ea typeface="Arial"/>
                          <a:cs typeface="Arial"/>
                        </a:rPr>
                        <a:t>90</a:t>
                      </a:r>
                      <a:endParaRPr b="0">
                        <a:solidFill>
                          <a:schemeClr val="tx1"/>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0" i="0" u="none" strike="noStrike" cap="none">
                          <a:solidFill>
                            <a:schemeClr val="dk1"/>
                          </a:solidFill>
                          <a:latin typeface="Arial"/>
                          <a:ea typeface="Arial"/>
                          <a:cs typeface="Arial"/>
                        </a:rPr>
                        <a:t>50</a:t>
                      </a:r>
                      <a:endParaRPr b="0"/>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bl>
          </a:graphicData>
        </a:graphic>
      </p:graphicFrame>
      <p:graphicFrame>
        <p:nvGraphicFramePr>
          <p:cNvPr id="1415191884" name="Table 6"/>
          <p:cNvGraphicFramePr>
            <a:graphicFrameLocks xmlns:a="http://schemas.openxmlformats.org/drawingml/2006/main" noGrp="1"/>
          </p:cNvGraphicFramePr>
          <p:nvPr/>
        </p:nvGraphicFramePr>
        <p:xfrm rot="0">
          <a:off x="7290871" y="5575935"/>
          <a:ext cx="3943350" cy="310593"/>
        </p:xfrm>
        <a:graphic>
          <a:graphicData uri="http://schemas.openxmlformats.org/drawingml/2006/table">
            <a:tbl>
              <a:tblPr firstRow="0" firstCol="0" lastRow="0" lastCol="0" bandRow="0" bandCol="0">
                <a:tableStyleId>{4C38C2D8-9331-4F24-B9CF-3786705C414E}</a:tableStyleId>
                <a:noFill/>
              </a:tblPr>
              <a:tblGrid>
                <a:gridCol w="1314450"/>
                <a:gridCol w="1314450"/>
                <a:gridCol w="1314450"/>
              </a:tblGrid>
              <a:tr h="310593">
                <a:tc>
                  <a:txBody>
                    <a:bodyPr/>
                    <a:p>
                      <a:pPr marL="0" marR="0" lvl="0" indent="0" algn="ctr" rtl="0">
                        <a:lnSpc>
                          <a:spcPct val="100000"/>
                        </a:lnSpc>
                        <a:spcBef>
                          <a:spcPts val="0"/>
                        </a:spcBef>
                        <a:spcAft>
                          <a:spcPts val="0"/>
                        </a:spcAft>
                        <a:buClr>
                          <a:schemeClr val="dk1"/>
                        </a:buClr>
                        <a:buSzPts val="1400"/>
                        <a:buFont typeface="Arial"/>
                        <a:buNone/>
                        <a:defRPr/>
                      </a:pPr>
                      <a:r>
                        <a:rPr lang="en-US" sz="1400" b="1" i="0" u="none" strike="noStrike" cap="none">
                          <a:solidFill>
                            <a:srgbClr val="008000"/>
                          </a:solidFill>
                          <a:latin typeface="Arial"/>
                          <a:ea typeface="Arial"/>
                          <a:cs typeface="Arial"/>
                        </a:rPr>
                        <a:t>78</a:t>
                      </a:r>
                      <a:endParaRPr b="1">
                        <a:solidFill>
                          <a:srgbClr val="008000"/>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1" i="0" u="none" strike="noStrike" cap="none">
                          <a:solidFill>
                            <a:srgbClr val="008000"/>
                          </a:solidFill>
                          <a:latin typeface="Arial"/>
                          <a:ea typeface="Arial"/>
                          <a:cs typeface="Arial"/>
                        </a:rPr>
                        <a:t>86</a:t>
                      </a:r>
                      <a:endParaRPr b="1">
                        <a:solidFill>
                          <a:srgbClr val="008000"/>
                        </a:solidFill>
                      </a:endParaRPr>
                    </a:p>
                  </a:txBody>
                  <a:tcPr marL="91450" marR="91450" marT="45700" marB="45700">
                    <a:lnL w="12700" algn="ctr">
                      <a:solidFill>
                        <a:schemeClr val="dk1"/>
                      </a:solidFill>
                    </a:lnL>
                    <a:lnR w="12700" algn="ctr">
                      <a:solidFill>
                        <a:schemeClr val="dk1"/>
                      </a:solidFill>
                    </a:lnR>
                    <a:lnT w="12700" algn="ctr">
                      <a:solidFill>
                        <a:schemeClr val="dk1"/>
                      </a:solidFill>
                    </a:lnT>
                    <a:lnB w="12700" algn="ctr">
                      <a:solidFill>
                        <a:schemeClr val="dk1"/>
                      </a:solidFill>
                    </a:lnB>
                  </a:tcPr>
                </a:tc>
                <a:tc>
                  <a:txBody>
                    <a:bodyPr/>
                    <a:p>
                      <a:pPr marL="0" marR="0" lvl="0" indent="0" algn="ctr" rtl="0">
                        <a:lnSpc>
                          <a:spcPct val="100000"/>
                        </a:lnSpc>
                        <a:spcBef>
                          <a:spcPts val="0"/>
                        </a:spcBef>
                        <a:spcAft>
                          <a:spcPts val="0"/>
                        </a:spcAft>
                        <a:buClr>
                          <a:schemeClr val="dk1"/>
                        </a:buClr>
                        <a:buSzPts val="1400"/>
                        <a:buFont typeface="Arial"/>
                        <a:buNone/>
                        <a:defRPr/>
                      </a:pPr>
                      <a:r>
                        <a:rPr lang="en-US" sz="1400" b="1" i="0" u="none" strike="noStrike" cap="none">
                          <a:solidFill>
                            <a:srgbClr val="008000"/>
                          </a:solidFill>
                          <a:latin typeface="Arial"/>
                          <a:ea typeface="Arial"/>
                          <a:cs typeface="Arial"/>
                        </a:rPr>
                        <a:t>50</a:t>
                      </a:r>
                      <a:endParaRPr b="1">
                        <a:solidFill>
                          <a:srgbClr val="008000"/>
                        </a:solidFill>
                      </a:endParaRPr>
                    </a:p>
                  </a:txBody>
                  <a:tcPr marL="91450" marR="91450" marT="45700" marB="45700">
                    <a:lnL w="12700" algn="ctr">
                      <a:solidFill>
                        <a:schemeClr val="dk1"/>
                      </a:solidFill>
                    </a:lnL>
                    <a:lnR w="28575" algn="ctr">
                      <a:solidFill>
                        <a:schemeClr val="dk1"/>
                      </a:solidFill>
                    </a:lnR>
                    <a:lnT w="12700" algn="ctr">
                      <a:solidFill>
                        <a:schemeClr val="dk1"/>
                      </a:solidFill>
                    </a:lnT>
                    <a:lnB w="12700" algn="ctr">
                      <a:solidFill>
                        <a:schemeClr val="dk1"/>
                      </a:solidFill>
                    </a:lnB>
                  </a:tcPr>
                </a:tc>
              </a:tr>
            </a:tbl>
          </a:graphicData>
        </a:graphic>
      </p:graphicFrame>
      <p:sp>
        <p:nvSpPr>
          <p:cNvPr id="319218325" name="TextBox 7"/>
          <p:cNvSpPr txBox="1"/>
          <p:nvPr/>
        </p:nvSpPr>
        <p:spPr bwMode="auto">
          <a:xfrm>
            <a:off x="9884165" y="1318795"/>
            <a:ext cx="2022491" cy="954107"/>
          </a:xfrm>
          <a:prstGeom prst="rect">
            <a:avLst/>
          </a:prstGeom>
          <a:noFill/>
        </p:spPr>
        <p:txBody>
          <a:bodyPr wrap="square" rtlCol="0">
            <a:spAutoFit/>
          </a:bodyPr>
          <a:lstStyle/>
          <a:p>
            <a:pPr marL="87313" indent="-87313">
              <a:defRPr/>
            </a:pPr>
            <a:r>
              <a:rPr lang="en-US">
                <a:solidFill>
                  <a:srgbClr val="0000FF"/>
                </a:solidFill>
              </a:rPr>
              <a:t>- </a:t>
            </a:r>
            <a:r>
              <a:rPr lang="en-US" b="1">
                <a:solidFill>
                  <a:srgbClr val="0000FF"/>
                </a:solidFill>
                <a:highlight>
                  <a:srgbClr val="00FFFF"/>
                </a:highlight>
              </a:rPr>
              <a:t>High</a:t>
            </a:r>
            <a:r>
              <a:rPr lang="en-US">
                <a:solidFill>
                  <a:srgbClr val="0000FF"/>
                </a:solidFill>
                <a:highlight>
                  <a:srgbClr val="00FFFF"/>
                </a:highlight>
              </a:rPr>
              <a:t> </a:t>
            </a:r>
            <a:r>
              <a:rPr lang="en-US" b="1">
                <a:solidFill>
                  <a:srgbClr val="0000FF"/>
                </a:solidFill>
                <a:highlight>
                  <a:srgbClr val="00FFFF"/>
                </a:highlight>
              </a:rPr>
              <a:t>score</a:t>
            </a:r>
            <a:r>
              <a:rPr lang="en-US">
                <a:solidFill>
                  <a:srgbClr val="0000FF"/>
                </a:solidFill>
                <a:highlight>
                  <a:srgbClr val="00FFFF"/>
                </a:highlight>
              </a:rPr>
              <a:t> </a:t>
            </a:r>
            <a:r>
              <a:rPr lang="en-US">
                <a:solidFill>
                  <a:srgbClr val="0000FF"/>
                </a:solidFill>
              </a:rPr>
              <a:t>means the project strongly meet the specified criterion</a:t>
            </a:r>
            <a:endParaRPr lang="en-GB">
              <a:solidFill>
                <a:srgbClr val="0000FF"/>
              </a:solidFill>
            </a:endParaRPr>
          </a:p>
        </p:txBody>
      </p:sp>
      <p:sp>
        <p:nvSpPr>
          <p:cNvPr id="78696946" name="TextBox 8"/>
          <p:cNvSpPr txBox="1"/>
          <p:nvPr/>
        </p:nvSpPr>
        <p:spPr bwMode="auto">
          <a:xfrm>
            <a:off x="9776239" y="2186091"/>
            <a:ext cx="2415761" cy="738664"/>
          </a:xfrm>
          <a:prstGeom prst="rect">
            <a:avLst/>
          </a:prstGeom>
          <a:noFill/>
        </p:spPr>
        <p:txBody>
          <a:bodyPr wrap="square" rtlCol="0">
            <a:spAutoFit/>
          </a:bodyPr>
          <a:lstStyle/>
          <a:p>
            <a:pPr marL="87313" indent="-87313">
              <a:defRPr/>
            </a:pPr>
            <a:r>
              <a:rPr lang="en-US">
                <a:solidFill>
                  <a:srgbClr val="0000FF"/>
                </a:solidFill>
              </a:rPr>
              <a:t>- </a:t>
            </a:r>
            <a:r>
              <a:rPr lang="en-US" b="1">
                <a:solidFill>
                  <a:schemeClr val="tx1"/>
                </a:solidFill>
                <a:highlight>
                  <a:srgbClr val="FFFF00"/>
                </a:highlight>
              </a:rPr>
              <a:t>Low score </a:t>
            </a:r>
            <a:r>
              <a:rPr lang="en-US">
                <a:solidFill>
                  <a:schemeClr val="tx1"/>
                </a:solidFill>
              </a:rPr>
              <a:t>means the project is less likely to meet the specified criterion</a:t>
            </a:r>
            <a:endParaRPr lang="en-GB">
              <a:solidFill>
                <a:schemeClr val="tx1"/>
              </a:solidFill>
            </a:endParaRPr>
          </a:p>
        </p:txBody>
      </p:sp>
      <p:sp>
        <p:nvSpPr>
          <p:cNvPr id="716940988" name="Callout: Line 2"/>
          <p:cNvSpPr/>
          <p:nvPr/>
        </p:nvSpPr>
        <p:spPr bwMode="auto">
          <a:xfrm>
            <a:off x="4907943" y="3916392"/>
            <a:ext cx="1501842" cy="809597"/>
          </a:xfrm>
          <a:prstGeom prst="borderCallout1">
            <a:avLst>
              <a:gd name="adj1" fmla="val 95749"/>
              <a:gd name="adj2" fmla="val 44163"/>
              <a:gd name="adj3" fmla="val 169605"/>
              <a:gd name="adj4" fmla="val 97063"/>
            </a:avLst>
          </a:pr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MY">
                <a:solidFill>
                  <a:srgbClr val="FF00FF"/>
                </a:solidFill>
              </a:rPr>
              <a:t>50% means Good ROI is a very important criteria</a:t>
            </a:r>
            <a:endParaRPr/>
          </a:p>
        </p:txBody>
      </p:sp>
      <p:sp>
        <p:nvSpPr>
          <p:cNvPr id="1580625562" name="Rectangle 4"/>
          <p:cNvSpPr/>
          <p:nvPr/>
        </p:nvSpPr>
        <p:spPr bwMode="auto">
          <a:xfrm>
            <a:off x="7759700" y="4825999"/>
            <a:ext cx="1727199" cy="309085"/>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775874375" name="Rectangle 9"/>
          <p:cNvSpPr/>
          <p:nvPr/>
        </p:nvSpPr>
        <p:spPr bwMode="auto">
          <a:xfrm>
            <a:off x="10120519" y="5161993"/>
            <a:ext cx="674481" cy="309085"/>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913252279"/>
                                        </p:tgtEl>
                                        <p:attrNameLst>
                                          <p:attrName>style.visibility</p:attrName>
                                        </p:attrNameLst>
                                      </p:cBhvr>
                                      <p:to>
                                        <p:strVal val="visible"/>
                                      </p:to>
                                    </p:set>
                                    <p:anim calcmode="lin" valueType="num">
                                      <p:cBhvr additive="base">
                                        <p:cTn id="7" dur="500" fill="hold"/>
                                        <p:tgtEl>
                                          <p:spTgt spid="1913252279"/>
                                        </p:tgtEl>
                                        <p:attrNameLst>
                                          <p:attrName>ppt_x</p:attrName>
                                        </p:attrNameLst>
                                      </p:cBhvr>
                                      <p:tavLst>
                                        <p:tav tm="0">
                                          <p:val>
                                            <p:strVal val="#ppt_x"/>
                                          </p:val>
                                        </p:tav>
                                        <p:tav tm="100000">
                                          <p:val>
                                            <p:strVal val="#ppt_x"/>
                                          </p:val>
                                        </p:tav>
                                      </p:tavLst>
                                    </p:anim>
                                    <p:anim calcmode="lin" valueType="num">
                                      <p:cBhvr additive="base">
                                        <p:cTn id="8" dur="500" fill="hold"/>
                                        <p:tgtEl>
                                          <p:spTgt spid="1913252279"/>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057799321"/>
                                        </p:tgtEl>
                                        <p:attrNameLst>
                                          <p:attrName>style.visibility</p:attrName>
                                        </p:attrNameLst>
                                      </p:cBhvr>
                                      <p:to>
                                        <p:strVal val="visible"/>
                                      </p:to>
                                    </p:set>
                                    <p:animEffect transition="in" filter="wipe(left)">
                                      <p:cBhvr>
                                        <p:cTn id="13" dur="500"/>
                                        <p:tgtEl>
                                          <p:spTgt spid="205779932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716940988"/>
                                        </p:tgtEl>
                                        <p:attrNameLst>
                                          <p:attrName>style.visibility</p:attrName>
                                        </p:attrNameLst>
                                      </p:cBhvr>
                                      <p:to>
                                        <p:strVal val="visible"/>
                                      </p:to>
                                    </p:set>
                                    <p:animEffect transition="in" filter="wipe(up)">
                                      <p:cBhvr>
                                        <p:cTn id="18" dur="500"/>
                                        <p:tgtEl>
                                          <p:spTgt spid="71694098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069739664"/>
                                        </p:tgtEl>
                                        <p:attrNameLst>
                                          <p:attrName>style.visibility</p:attrName>
                                        </p:attrNameLst>
                                      </p:cBhvr>
                                      <p:to>
                                        <p:strVal val="visible"/>
                                      </p:to>
                                    </p:set>
                                    <p:animEffect transition="in" filter="wipe(left)">
                                      <p:cBhvr>
                                        <p:cTn id="23" dur="500"/>
                                        <p:tgtEl>
                                          <p:spTgt spid="1069739664"/>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493246046"/>
                                        </p:tgtEl>
                                        <p:attrNameLst>
                                          <p:attrName>style.visibility</p:attrName>
                                        </p:attrNameLst>
                                      </p:cBhvr>
                                      <p:to>
                                        <p:strVal val="visible"/>
                                      </p:to>
                                    </p:set>
                                    <p:animEffect transition="in" filter="wipe(left)">
                                      <p:cBhvr>
                                        <p:cTn id="26" dur="500"/>
                                        <p:tgtEl>
                                          <p:spTgt spid="493246046"/>
                                        </p:tgtEl>
                                      </p:cBhvr>
                                    </p:animEffect>
                                  </p:childTnLst>
                                </p:cTn>
                              </p:par>
                              <p:par>
                                <p:cTn id="27" presetID="22" presetClass="entr" presetSubtype="8" fill="hold" nodeType="withEffect">
                                  <p:stCondLst>
                                    <p:cond delay="0"/>
                                  </p:stCondLst>
                                  <p:childTnLst>
                                    <p:set>
                                      <p:cBhvr>
                                        <p:cTn id="28" dur="1" fill="hold">
                                          <p:stCondLst>
                                            <p:cond delay="0"/>
                                          </p:stCondLst>
                                        </p:cTn>
                                        <p:tgtEl>
                                          <p:spTgt spid="1706252056"/>
                                        </p:tgtEl>
                                        <p:attrNameLst>
                                          <p:attrName>style.visibility</p:attrName>
                                        </p:attrNameLst>
                                      </p:cBhvr>
                                      <p:to>
                                        <p:strVal val="visible"/>
                                      </p:to>
                                    </p:set>
                                    <p:animEffect transition="in" filter="wipe(left)">
                                      <p:cBhvr>
                                        <p:cTn id="29" dur="500"/>
                                        <p:tgtEl>
                                          <p:spTgt spid="170625205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319218325"/>
                                        </p:tgtEl>
                                        <p:attrNameLst>
                                          <p:attrName>style.visibility</p:attrName>
                                        </p:attrNameLst>
                                      </p:cBhvr>
                                      <p:to>
                                        <p:strVal val="visible"/>
                                      </p:to>
                                    </p:set>
                                    <p:animEffect transition="in" filter="wipe(left)">
                                      <p:cBhvr>
                                        <p:cTn id="34" dur="500"/>
                                        <p:tgtEl>
                                          <p:spTgt spid="31921832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580625562"/>
                                        </p:tgtEl>
                                        <p:attrNameLst>
                                          <p:attrName>style.visibility</p:attrName>
                                        </p:attrNameLst>
                                      </p:cBhvr>
                                      <p:to>
                                        <p:strVal val="visible"/>
                                      </p:to>
                                    </p:set>
                                    <p:animEffect transition="in" filter="wipe(left)">
                                      <p:cBhvr>
                                        <p:cTn id="39" dur="500"/>
                                        <p:tgtEl>
                                          <p:spTgt spid="158062556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78696946"/>
                                        </p:tgtEl>
                                        <p:attrNameLst>
                                          <p:attrName>style.visibility</p:attrName>
                                        </p:attrNameLst>
                                      </p:cBhvr>
                                      <p:to>
                                        <p:strVal val="visible"/>
                                      </p:to>
                                    </p:set>
                                    <p:animEffect transition="in" filter="wipe(left)">
                                      <p:cBhvr>
                                        <p:cTn id="44" dur="500"/>
                                        <p:tgtEl>
                                          <p:spTgt spid="7869694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775874375"/>
                                        </p:tgtEl>
                                        <p:attrNameLst>
                                          <p:attrName>style.visibility</p:attrName>
                                        </p:attrNameLst>
                                      </p:cBhvr>
                                      <p:to>
                                        <p:strVal val="visible"/>
                                      </p:to>
                                    </p:set>
                                    <p:animEffect transition="in" filter="wipe(left)">
                                      <p:cBhvr>
                                        <p:cTn id="49" dur="500"/>
                                        <p:tgtEl>
                                          <p:spTgt spid="77587437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415191884"/>
                                        </p:tgtEl>
                                        <p:attrNameLst>
                                          <p:attrName>style.visibility</p:attrName>
                                        </p:attrNameLst>
                                      </p:cBhvr>
                                      <p:to>
                                        <p:strVal val="visible"/>
                                      </p:to>
                                    </p:set>
                                    <p:animEffect transition="in" filter="wipe(left)">
                                      <p:cBhvr>
                                        <p:cTn id="54" dur="500"/>
                                        <p:tgtEl>
                                          <p:spTgt spid="141519188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326443999">
                                            <p:txEl>
                                              <p:pRg st="0" end="0"/>
                                            </p:txEl>
                                          </p:spTgt>
                                        </p:tgtEl>
                                        <p:attrNameLst>
                                          <p:attrName>style.visibility</p:attrName>
                                        </p:attrNameLst>
                                      </p:cBhvr>
                                      <p:to>
                                        <p:strVal val="visible"/>
                                      </p:to>
                                    </p:set>
                                    <p:animEffect transition="in" filter="wipe(left)">
                                      <p:cBhvr>
                                        <p:cTn id="59" dur="500"/>
                                        <p:tgtEl>
                                          <p:spTgt spid="326443999">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nodeType="clickEffect">
                                  <p:stCondLst>
                                    <p:cond delay="0"/>
                                  </p:stCondLst>
                                  <p:childTnLst>
                                    <p:set>
                                      <p:cBhvr>
                                        <p:cTn id="63" dur="1" fill="hold">
                                          <p:stCondLst>
                                            <p:cond delay="0"/>
                                          </p:stCondLst>
                                        </p:cTn>
                                        <p:tgtEl>
                                          <p:spTgt spid="326443999">
                                            <p:txEl>
                                              <p:pRg st="1" end="1"/>
                                            </p:txEl>
                                          </p:spTgt>
                                        </p:tgtEl>
                                        <p:attrNameLst>
                                          <p:attrName>style.visibility</p:attrName>
                                        </p:attrNameLst>
                                      </p:cBhvr>
                                      <p:to>
                                        <p:strVal val="visible"/>
                                      </p:to>
                                    </p:set>
                                    <p:anim calcmode="lin" valueType="num">
                                      <p:cBhvr additive="base">
                                        <p:cTn id="64" dur="500" fill="hold"/>
                                        <p:tgtEl>
                                          <p:spTgt spid="326443999">
                                            <p:txEl>
                                              <p:pRg st="1" end="1"/>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32644399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3252279" grpId="0"/>
      <p:bldP spid="1069739664" grpId="0" animBg="1"/>
      <p:bldP spid="493246046" grpId="0" animBg="1"/>
      <p:bldP spid="319218325" grpId="0"/>
      <p:bldP spid="78696946" grpId="0"/>
      <p:bldP spid="716940988" grpId="0" animBg="1"/>
      <p:bldP spid="1580625562" grpId="0" animBg="1"/>
      <p:bldP spid="775874375" grpId="0" animBg="1"/>
    </p:bldLst>
  </p:timing>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35353546" name="Google Shape;712;p45"/>
          <p:cNvSpPr txBox="1">
            <a:spLocks noGrp="1"/>
          </p:cNvSpPr>
          <p:nvPr>
            <p:ph type="ctrTitle"/>
          </p:nvPr>
        </p:nvSpPr>
        <p:spPr bwMode="auto">
          <a:xfrm>
            <a:off x="914400" y="1066800"/>
            <a:ext cx="6248400" cy="1143000"/>
          </a:xfrm>
          <a:prstGeom prst="rect">
            <a:avLst/>
          </a:prstGeom>
          <a:noFill/>
          <a:ln>
            <a:noFill/>
          </a:ln>
        </p:spPr>
        <p:txBody>
          <a:bodyPr spcFirstLastPara="1" wrap="square" lIns="91425" tIns="45700" rIns="91425" bIns="45700" anchor="b" anchorCtr="0">
            <a:normAutofit/>
          </a:bodyPr>
          <a:lstStyle/>
          <a:p>
            <a:pPr marL="628650" lvl="0" indent="-628650" algn="l" rtl="0">
              <a:lnSpc>
                <a:spcPct val="90000"/>
              </a:lnSpc>
              <a:spcBef>
                <a:spcPts val="0"/>
              </a:spcBef>
              <a:spcAft>
                <a:spcPts val="0"/>
              </a:spcAft>
              <a:buClr>
                <a:schemeClr val="dk1"/>
              </a:buClr>
              <a:buSzPts val="3500"/>
              <a:buFont typeface="Calibri"/>
              <a:buNone/>
              <a:defRPr/>
            </a:pPr>
            <a:r>
              <a:rPr lang="en-US" sz="3500"/>
              <a:t>1.4 </a:t>
            </a:r>
            <a:r>
              <a:rPr lang="en-US" sz="3500" b="1"/>
              <a:t>Knowledge</a:t>
            </a:r>
            <a:r>
              <a:rPr lang="en-US" sz="3500"/>
              <a:t> &amp; </a:t>
            </a:r>
            <a:r>
              <a:rPr lang="en-US" sz="3500" b="1"/>
              <a:t>Attributes</a:t>
            </a:r>
            <a:r>
              <a:rPr lang="en-US" sz="3500"/>
              <a:t> of a Project Manager (PM)</a:t>
            </a:r>
            <a:endParaRPr/>
          </a:p>
        </p:txBody>
      </p:sp>
      <p:sp>
        <p:nvSpPr>
          <p:cNvPr id="1915836069" name="Google Shape;713;p45"/>
          <p:cNvSpPr txBox="1">
            <a:spLocks noGrp="1"/>
          </p:cNvSpPr>
          <p:nvPr>
            <p:ph type="subTitle" idx="1"/>
          </p:nvPr>
        </p:nvSpPr>
        <p:spPr bwMode="auto">
          <a:xfrm>
            <a:off x="1600200" y="3124200"/>
            <a:ext cx="3886200" cy="1219200"/>
          </a:xfrm>
          <a:prstGeom prst="rect">
            <a:avLst/>
          </a:prstGeom>
          <a:noFill/>
          <a:ln>
            <a:noFill/>
          </a:ln>
        </p:spPr>
        <p:txBody>
          <a:bodyPr spcFirstLastPara="1" wrap="square" lIns="91425" tIns="45700" rIns="91425" bIns="45700" anchor="t" anchorCtr="0">
            <a:normAutofit/>
          </a:bodyPr>
          <a:lstStyle/>
          <a:p>
            <a:pPr marL="355600" lvl="0" indent="-355600" algn="l" rtl="0">
              <a:lnSpc>
                <a:spcPct val="90000"/>
              </a:lnSpc>
              <a:spcBef>
                <a:spcPts val="0"/>
              </a:spcBef>
              <a:spcAft>
                <a:spcPts val="0"/>
              </a:spcAft>
              <a:buClr>
                <a:schemeClr val="dk1"/>
              </a:buClr>
              <a:buSzPts val="2800"/>
              <a:buFont typeface="Arial"/>
              <a:buChar char="•"/>
              <a:defRPr/>
            </a:pPr>
            <a:r>
              <a:rPr lang="en-US" sz="2800"/>
              <a:t>Knowledge of a PM</a:t>
            </a:r>
            <a:endParaRPr/>
          </a:p>
          <a:p>
            <a:pPr marL="355600" lvl="0" indent="-355600" algn="l" rtl="0">
              <a:lnSpc>
                <a:spcPct val="90000"/>
              </a:lnSpc>
              <a:spcBef>
                <a:spcPts val="1000"/>
              </a:spcBef>
              <a:spcAft>
                <a:spcPts val="0"/>
              </a:spcAft>
              <a:buClr>
                <a:schemeClr val="dk1"/>
              </a:buClr>
              <a:buSzPts val="2800"/>
              <a:buFont typeface="Arial"/>
              <a:buChar char="•"/>
              <a:defRPr/>
            </a:pPr>
            <a:r>
              <a:rPr lang="en-US" sz="2800"/>
              <a:t>Attributes of a PM</a:t>
            </a:r>
            <a:endParaRPr/>
          </a:p>
        </p:txBody>
      </p:sp>
      <p:sp>
        <p:nvSpPr>
          <p:cNvPr id="363668108" name="Google Shape;714;p4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47</a:t>
            </a:fld>
            <a:endParaRPr/>
          </a:p>
        </p:txBody>
      </p:sp>
      <p:cxnSp>
        <p:nvCxnSpPr>
          <p:cNvPr id="1397383604" name="Google Shape;715;p45"/>
          <p:cNvCxnSpPr/>
          <p:nvPr/>
        </p:nvCxnSpPr>
        <p:spPr bwMode="auto">
          <a:xfrm rot="10800000">
            <a:off x="2561625" y="2260068"/>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1092275433" name="Google Shape;716;p45"/>
          <p:cNvPicPr/>
          <p:nvPr/>
        </p:nvPicPr>
        <p:blipFill rotWithShape="1">
          <a:blip r:embed="rId3">
            <a:alphaModFix/>
          </a:blip>
          <a:stretch/>
        </p:blipFill>
        <p:spPr bwMode="auto">
          <a:xfrm>
            <a:off x="7509294" y="0"/>
            <a:ext cx="4648200" cy="60960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300" advClick="1">
        <p:fade thruBlk="0"/>
      </p:transition>
    </mc:Choice>
    <mc:Fallback>
      <p:transition spd="slow" advClick="1">
        <p:fade thruBlk="0"/>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35353546"/>
                                        </p:tgtEl>
                                        <p:attrNameLst>
                                          <p:attrName>style.visibility</p:attrName>
                                        </p:attrNameLst>
                                      </p:cBhvr>
                                      <p:to>
                                        <p:strVal val="visible"/>
                                      </p:to>
                                    </p:set>
                                    <p:anim calcmode="lin" valueType="num">
                                      <p:cBhvr additive="base">
                                        <p:cTn id="7" dur="500" fill="hold"/>
                                        <p:tgtEl>
                                          <p:spTgt spid="335353546"/>
                                        </p:tgtEl>
                                        <p:attrNameLst>
                                          <p:attrName>ppt_x</p:attrName>
                                        </p:attrNameLst>
                                      </p:cBhvr>
                                      <p:tavLst>
                                        <p:tav tm="0">
                                          <p:val>
                                            <p:strVal val="#ppt_x"/>
                                          </p:val>
                                        </p:tav>
                                        <p:tav tm="100000">
                                          <p:val>
                                            <p:strVal val="#ppt_x"/>
                                          </p:val>
                                        </p:tav>
                                      </p:tavLst>
                                    </p:anim>
                                    <p:anim calcmode="lin" valueType="num">
                                      <p:cBhvr additive="base">
                                        <p:cTn id="8" dur="500" fill="hold"/>
                                        <p:tgtEl>
                                          <p:spTgt spid="33535354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353546" grpId="0"/>
    </p:bldLst>
  </p:timing>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46909120" name="Google Shape;721;p46"/>
          <p:cNvPicPr/>
          <p:nvPr/>
        </p:nvPicPr>
        <p:blipFill rotWithShape="1">
          <a:blip r:embed="rId3">
            <a:alphaModFix/>
          </a:blip>
          <a:srcRect l="21648" t="0" r="35518" b="0"/>
          <a:stretch/>
        </p:blipFill>
        <p:spPr bwMode="auto">
          <a:xfrm>
            <a:off x="-49211" y="-9876"/>
            <a:ext cx="4419600" cy="6867876"/>
          </a:xfrm>
          <a:prstGeom prst="rect">
            <a:avLst/>
          </a:prstGeom>
          <a:noFill/>
          <a:ln>
            <a:noFill/>
          </a:ln>
        </p:spPr>
      </p:pic>
      <p:sp>
        <p:nvSpPr>
          <p:cNvPr id="591738610" name="Google Shape;722;p46"/>
          <p:cNvSpPr txBox="1">
            <a:spLocks noGrp="1"/>
          </p:cNvSpPr>
          <p:nvPr>
            <p:ph type="title"/>
          </p:nvPr>
        </p:nvSpPr>
        <p:spPr bwMode="auto">
          <a:xfrm>
            <a:off x="609600" y="302394"/>
            <a:ext cx="5105400" cy="7159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defRPr/>
            </a:pPr>
            <a:r>
              <a:rPr lang="en-US" b="1"/>
              <a:t>Knowledge of a PM</a:t>
            </a:r>
            <a:endParaRPr/>
          </a:p>
        </p:txBody>
      </p:sp>
      <p:grpSp>
        <p:nvGrpSpPr>
          <p:cNvPr id="1898063026" name="Google Shape;723;p46"/>
          <p:cNvGrpSpPr/>
          <p:nvPr/>
        </p:nvGrpSpPr>
        <p:grpSpPr bwMode="auto">
          <a:xfrm>
            <a:off x="5101159" y="1733961"/>
            <a:ext cx="6100240" cy="4657009"/>
            <a:chOff x="5688824" y="1864854"/>
            <a:chExt cx="4394200" cy="4133851"/>
          </a:xfrm>
        </p:grpSpPr>
        <p:grpSp>
          <p:nvGrpSpPr>
            <p:cNvPr id="724" name="Google Shape;724;p46"/>
            <p:cNvGrpSpPr/>
            <p:nvPr/>
          </p:nvGrpSpPr>
          <p:grpSpPr bwMode="auto">
            <a:xfrm>
              <a:off x="6438123" y="2544305"/>
              <a:ext cx="3048000" cy="2873375"/>
              <a:chOff x="1981198" y="861054"/>
              <a:chExt cx="2895602" cy="2872745"/>
            </a:xfrm>
          </p:grpSpPr>
          <p:sp>
            <p:nvSpPr>
              <p:cNvPr id="725" name="Google Shape;725;p46"/>
              <p:cNvSpPr/>
              <p:nvPr/>
            </p:nvSpPr>
            <p:spPr bwMode="auto">
              <a:xfrm>
                <a:off x="1981198" y="861054"/>
                <a:ext cx="2895602" cy="2872745"/>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26" name="Google Shape;726;p46"/>
              <p:cNvSpPr/>
              <p:nvPr/>
            </p:nvSpPr>
            <p:spPr bwMode="auto">
              <a:xfrm>
                <a:off x="2405060" y="1281650"/>
                <a:ext cx="2047876" cy="2031554"/>
              </a:xfrm>
              <a:prstGeom prst="rect">
                <a:avLst/>
              </a:prstGeom>
              <a:noFill/>
              <a:ln>
                <a:noFill/>
              </a:ln>
            </p:spPr>
            <p:txBody>
              <a:bodyPr spcFirstLastPara="1" wrap="square" lIns="44450" tIns="44450" rIns="44450" bIns="44450" anchor="ctr" anchorCtr="0">
                <a:noAutofit/>
              </a:bodyPr>
              <a:lstStyle/>
              <a:p>
                <a:pPr marL="0" marR="0" lvl="0" indent="0" algn="ctr" rtl="0">
                  <a:lnSpc>
                    <a:spcPct val="90000"/>
                  </a:lnSpc>
                  <a:spcBef>
                    <a:spcPts val="0"/>
                  </a:spcBef>
                  <a:spcAft>
                    <a:spcPts val="0"/>
                  </a:spcAft>
                  <a:buNone/>
                  <a:defRPr/>
                </a:pPr>
                <a:r>
                  <a:rPr lang="en-US" sz="3500">
                    <a:solidFill>
                      <a:schemeClr val="dk1"/>
                    </a:solidFill>
                    <a:latin typeface="Calibri"/>
                    <a:ea typeface="Calibri"/>
                    <a:cs typeface="Calibri"/>
                  </a:rPr>
                  <a:t>Integration</a:t>
                </a:r>
                <a:endParaRPr/>
              </a:p>
            </p:txBody>
          </p:sp>
        </p:grpSp>
        <p:grpSp>
          <p:nvGrpSpPr>
            <p:cNvPr id="727" name="Google Shape;727;p46"/>
            <p:cNvGrpSpPr/>
            <p:nvPr/>
          </p:nvGrpSpPr>
          <p:grpSpPr bwMode="auto">
            <a:xfrm>
              <a:off x="7306486" y="1864854"/>
              <a:ext cx="1158875" cy="947738"/>
              <a:chOff x="2849129" y="181000"/>
              <a:chExt cx="1159740" cy="947887"/>
            </a:xfrm>
          </p:grpSpPr>
          <p:sp>
            <p:nvSpPr>
              <p:cNvPr id="728" name="Google Shape;728;p46"/>
              <p:cNvSpPr/>
              <p:nvPr/>
            </p:nvSpPr>
            <p:spPr bwMode="auto">
              <a:xfrm>
                <a:off x="2849129" y="181000"/>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29" name="Google Shape;729;p46"/>
              <p:cNvSpPr/>
              <p:nvPr/>
            </p:nvSpPr>
            <p:spPr bwMode="auto">
              <a:xfrm>
                <a:off x="3019119" y="319135"/>
                <a:ext cx="819761"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Scope</a:t>
                </a:r>
                <a:endParaRPr/>
              </a:p>
            </p:txBody>
          </p:sp>
        </p:grpSp>
        <p:grpSp>
          <p:nvGrpSpPr>
            <p:cNvPr id="730" name="Google Shape;730;p46"/>
            <p:cNvGrpSpPr/>
            <p:nvPr/>
          </p:nvGrpSpPr>
          <p:grpSpPr bwMode="auto">
            <a:xfrm>
              <a:off x="8495523" y="2249029"/>
              <a:ext cx="1160462" cy="947738"/>
              <a:chOff x="3904896" y="565268"/>
              <a:chExt cx="1159740" cy="947887"/>
            </a:xfrm>
          </p:grpSpPr>
          <p:sp>
            <p:nvSpPr>
              <p:cNvPr id="731" name="Google Shape;731;p46"/>
              <p:cNvSpPr/>
              <p:nvPr/>
            </p:nvSpPr>
            <p:spPr bwMode="auto">
              <a:xfrm>
                <a:off x="3904896" y="565268"/>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2" name="Google Shape;732;p46"/>
              <p:cNvSpPr/>
              <p:nvPr/>
            </p:nvSpPr>
            <p:spPr bwMode="auto">
              <a:xfrm>
                <a:off x="4074652" y="703403"/>
                <a:ext cx="820227"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Time</a:t>
                </a:r>
                <a:endParaRPr/>
              </a:p>
            </p:txBody>
          </p:sp>
        </p:grpSp>
        <p:grpSp>
          <p:nvGrpSpPr>
            <p:cNvPr id="733" name="Google Shape;733;p46"/>
            <p:cNvGrpSpPr/>
            <p:nvPr/>
          </p:nvGrpSpPr>
          <p:grpSpPr bwMode="auto">
            <a:xfrm>
              <a:off x="8922561" y="3222168"/>
              <a:ext cx="1160463" cy="947737"/>
              <a:chOff x="4466658" y="1538269"/>
              <a:chExt cx="1159740" cy="947887"/>
            </a:xfrm>
          </p:grpSpPr>
          <p:sp>
            <p:nvSpPr>
              <p:cNvPr id="734" name="Google Shape;734;p46"/>
              <p:cNvSpPr/>
              <p:nvPr/>
            </p:nvSpPr>
            <p:spPr bwMode="auto">
              <a:xfrm>
                <a:off x="4466658" y="1538269"/>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5" name="Google Shape;735;p46"/>
              <p:cNvSpPr/>
              <p:nvPr/>
            </p:nvSpPr>
            <p:spPr bwMode="auto">
              <a:xfrm>
                <a:off x="4636415" y="1676403"/>
                <a:ext cx="820226"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Cost</a:t>
                </a:r>
                <a:endParaRPr/>
              </a:p>
            </p:txBody>
          </p:sp>
        </p:grpSp>
        <p:grpSp>
          <p:nvGrpSpPr>
            <p:cNvPr id="736" name="Google Shape;736;p46"/>
            <p:cNvGrpSpPr/>
            <p:nvPr/>
          </p:nvGrpSpPr>
          <p:grpSpPr bwMode="auto">
            <a:xfrm>
              <a:off x="8800323" y="4328654"/>
              <a:ext cx="1160462" cy="947738"/>
              <a:chOff x="4271560" y="2644723"/>
              <a:chExt cx="1159740" cy="947887"/>
            </a:xfrm>
          </p:grpSpPr>
          <p:sp>
            <p:nvSpPr>
              <p:cNvPr id="737" name="Google Shape;737;p46"/>
              <p:cNvSpPr/>
              <p:nvPr/>
            </p:nvSpPr>
            <p:spPr bwMode="auto">
              <a:xfrm>
                <a:off x="4271560" y="2644723"/>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8" name="Google Shape;738;p46"/>
              <p:cNvSpPr/>
              <p:nvPr/>
            </p:nvSpPr>
            <p:spPr bwMode="auto">
              <a:xfrm>
                <a:off x="4441316" y="2782859"/>
                <a:ext cx="820227"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Quality</a:t>
                </a:r>
                <a:endParaRPr/>
              </a:p>
            </p:txBody>
          </p:sp>
        </p:grpSp>
        <p:grpSp>
          <p:nvGrpSpPr>
            <p:cNvPr id="739" name="Google Shape;739;p46"/>
            <p:cNvGrpSpPr/>
            <p:nvPr/>
          </p:nvGrpSpPr>
          <p:grpSpPr bwMode="auto">
            <a:xfrm>
              <a:off x="7912910" y="5050968"/>
              <a:ext cx="1160463" cy="947737"/>
              <a:chOff x="3410891" y="3366911"/>
              <a:chExt cx="1159740" cy="947887"/>
            </a:xfrm>
          </p:grpSpPr>
          <p:sp>
            <p:nvSpPr>
              <p:cNvPr id="740" name="Google Shape;740;p46"/>
              <p:cNvSpPr/>
              <p:nvPr/>
            </p:nvSpPr>
            <p:spPr bwMode="auto">
              <a:xfrm>
                <a:off x="3410891" y="3366911"/>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1" name="Google Shape;741;p46"/>
              <p:cNvSpPr/>
              <p:nvPr/>
            </p:nvSpPr>
            <p:spPr bwMode="auto">
              <a:xfrm>
                <a:off x="3580648" y="3505045"/>
                <a:ext cx="820226"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Human Resource</a:t>
                </a:r>
                <a:endParaRPr/>
              </a:p>
            </p:txBody>
          </p:sp>
        </p:grpSp>
        <p:grpSp>
          <p:nvGrpSpPr>
            <p:cNvPr id="742" name="Google Shape;742;p46"/>
            <p:cNvGrpSpPr/>
            <p:nvPr/>
          </p:nvGrpSpPr>
          <p:grpSpPr bwMode="auto">
            <a:xfrm>
              <a:off x="6684186" y="5050968"/>
              <a:ext cx="1160463" cy="947737"/>
              <a:chOff x="2287367" y="3366911"/>
              <a:chExt cx="1159740" cy="947887"/>
            </a:xfrm>
          </p:grpSpPr>
          <p:sp>
            <p:nvSpPr>
              <p:cNvPr id="743" name="Google Shape;743;p46"/>
              <p:cNvSpPr/>
              <p:nvPr/>
            </p:nvSpPr>
            <p:spPr bwMode="auto">
              <a:xfrm>
                <a:off x="2287367" y="3366911"/>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4" name="Google Shape;744;p46"/>
              <p:cNvSpPr/>
              <p:nvPr/>
            </p:nvSpPr>
            <p:spPr bwMode="auto">
              <a:xfrm>
                <a:off x="2338135" y="3505045"/>
                <a:ext cx="1032819"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Communication</a:t>
                </a:r>
                <a:endParaRPr/>
              </a:p>
            </p:txBody>
          </p:sp>
        </p:grpSp>
        <p:grpSp>
          <p:nvGrpSpPr>
            <p:cNvPr id="745" name="Google Shape;745;p46"/>
            <p:cNvGrpSpPr/>
            <p:nvPr/>
          </p:nvGrpSpPr>
          <p:grpSpPr bwMode="auto">
            <a:xfrm>
              <a:off x="5845986" y="4328654"/>
              <a:ext cx="1160463" cy="947738"/>
              <a:chOff x="1426698" y="2644723"/>
              <a:chExt cx="1159740" cy="947887"/>
            </a:xfrm>
          </p:grpSpPr>
          <p:sp>
            <p:nvSpPr>
              <p:cNvPr id="746" name="Google Shape;746;p46"/>
              <p:cNvSpPr/>
              <p:nvPr/>
            </p:nvSpPr>
            <p:spPr bwMode="auto">
              <a:xfrm>
                <a:off x="1426698" y="2644723"/>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7" name="Google Shape;747;p46"/>
              <p:cNvSpPr/>
              <p:nvPr/>
            </p:nvSpPr>
            <p:spPr bwMode="auto">
              <a:xfrm>
                <a:off x="1596455" y="2782859"/>
                <a:ext cx="820226"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Risk</a:t>
                </a:r>
                <a:endParaRPr/>
              </a:p>
            </p:txBody>
          </p:sp>
        </p:grpSp>
        <p:grpSp>
          <p:nvGrpSpPr>
            <p:cNvPr id="748" name="Google Shape;748;p46"/>
            <p:cNvGrpSpPr/>
            <p:nvPr/>
          </p:nvGrpSpPr>
          <p:grpSpPr bwMode="auto">
            <a:xfrm>
              <a:off x="5688824" y="3222168"/>
              <a:ext cx="1158875" cy="947737"/>
              <a:chOff x="1231599" y="1538269"/>
              <a:chExt cx="1159741" cy="947887"/>
            </a:xfrm>
          </p:grpSpPr>
          <p:sp>
            <p:nvSpPr>
              <p:cNvPr id="749" name="Google Shape;749;p46"/>
              <p:cNvSpPr/>
              <p:nvPr/>
            </p:nvSpPr>
            <p:spPr bwMode="auto">
              <a:xfrm>
                <a:off x="1231600" y="1538269"/>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50" name="Google Shape;750;p46"/>
              <p:cNvSpPr/>
              <p:nvPr/>
            </p:nvSpPr>
            <p:spPr bwMode="auto">
              <a:xfrm>
                <a:off x="1231599" y="1676403"/>
                <a:ext cx="1154974"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Procurement</a:t>
                </a:r>
                <a:endParaRPr/>
              </a:p>
            </p:txBody>
          </p:sp>
        </p:grpSp>
        <p:grpSp>
          <p:nvGrpSpPr>
            <p:cNvPr id="751" name="Google Shape;751;p46"/>
            <p:cNvGrpSpPr/>
            <p:nvPr/>
          </p:nvGrpSpPr>
          <p:grpSpPr bwMode="auto">
            <a:xfrm>
              <a:off x="6150786" y="2249029"/>
              <a:ext cx="1160463" cy="947738"/>
              <a:chOff x="1793362" y="565268"/>
              <a:chExt cx="1159740" cy="947887"/>
            </a:xfrm>
          </p:grpSpPr>
          <p:sp>
            <p:nvSpPr>
              <p:cNvPr id="752" name="Google Shape;752;p46"/>
              <p:cNvSpPr/>
              <p:nvPr/>
            </p:nvSpPr>
            <p:spPr bwMode="auto">
              <a:xfrm>
                <a:off x="1793362" y="565268"/>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53" name="Google Shape;753;p46"/>
              <p:cNvSpPr/>
              <p:nvPr/>
            </p:nvSpPr>
            <p:spPr bwMode="auto">
              <a:xfrm>
                <a:off x="1850476" y="703403"/>
                <a:ext cx="1102626"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Stakeholders</a:t>
                </a:r>
                <a:endParaRPr/>
              </a:p>
            </p:txBody>
          </p:sp>
        </p:grpSp>
      </p:grpSp>
      <p:sp>
        <p:nvSpPr>
          <p:cNvPr id="88006748" name="Google Shape;754;p46"/>
          <p:cNvSpPr txBox="1"/>
          <p:nvPr/>
        </p:nvSpPr>
        <p:spPr bwMode="auto">
          <a:xfrm>
            <a:off x="646828" y="98775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sp>
        <p:nvSpPr>
          <p:cNvPr id="957863034" name="Google Shape;755;p46"/>
          <p:cNvSpPr txBox="1"/>
          <p:nvPr/>
        </p:nvSpPr>
        <p:spPr bwMode="auto">
          <a:xfrm>
            <a:off x="681560" y="1703714"/>
            <a:ext cx="2970213"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defRPr/>
            </a:pPr>
            <a:r>
              <a:rPr lang="en-US" sz="2400">
                <a:solidFill>
                  <a:srgbClr val="FF0000"/>
                </a:solidFill>
                <a:latin typeface="Times New Roman"/>
                <a:ea typeface="Times New Roman"/>
                <a:cs typeface="Times New Roman"/>
              </a:rPr>
              <a:t>10 </a:t>
            </a:r>
            <a:r>
              <a:rPr lang="en-US" sz="2400">
                <a:solidFill>
                  <a:schemeClr val="dk1"/>
                </a:solidFill>
                <a:latin typeface="Times New Roman"/>
                <a:ea typeface="Times New Roman"/>
                <a:cs typeface="Times New Roman"/>
              </a:rPr>
              <a:t>Knowledge </a:t>
            </a:r>
            <a:r>
              <a:rPr lang="en-US" sz="2400">
                <a:solidFill>
                  <a:srgbClr val="FF0000"/>
                </a:solidFill>
                <a:latin typeface="Times New Roman"/>
                <a:ea typeface="Times New Roman"/>
                <a:cs typeface="Times New Roman"/>
              </a:rPr>
              <a:t>Areas</a:t>
            </a:r>
            <a:endParaRPr>
              <a:solidFill>
                <a:srgbClr val="FF0000"/>
              </a:solidFill>
            </a:endParaRPr>
          </a:p>
        </p:txBody>
      </p:sp>
      <p:sp>
        <p:nvSpPr>
          <p:cNvPr id="1919519867" name="Google Shape;756;p4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48</a:t>
            </a:fld>
            <a:endParaRPr/>
          </a:p>
        </p:txBody>
      </p:sp>
      <p:cxnSp>
        <p:nvCxnSpPr>
          <p:cNvPr id="440655406" name="Google Shape;757;p46"/>
          <p:cNvCxnSpPr/>
          <p:nvPr/>
        </p:nvCxnSpPr>
        <p:spPr bwMode="auto">
          <a:xfrm rot="10800000">
            <a:off x="762000" y="1461268"/>
            <a:ext cx="1023822" cy="0"/>
          </a:xfrm>
          <a:prstGeom prst="straightConnector1">
            <a:avLst/>
          </a:prstGeom>
          <a:noFill/>
          <a:ln w="28575" cap="flat" cmpd="sng">
            <a:solidFill>
              <a:srgbClr val="3F3F3F"/>
            </a:solidFill>
            <a:prstDash val="solid"/>
            <a:miter lim="800000"/>
            <a:headEnd type="none" w="sm" len="sm"/>
            <a:tailEnd type="none" w="sm" len="sm"/>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83275484" name="Google Shape;763;p47"/>
          <p:cNvSpPr txBox="1"/>
          <p:nvPr/>
        </p:nvSpPr>
        <p:spPr bwMode="auto">
          <a:xfrm>
            <a:off x="2590800" y="152400"/>
            <a:ext cx="7696200" cy="3698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defRPr/>
            </a:pPr>
            <a:r>
              <a:rPr lang="en-US" sz="1800">
                <a:solidFill>
                  <a:schemeClr val="dk1"/>
                </a:solidFill>
                <a:latin typeface="Times New Roman"/>
                <a:ea typeface="Times New Roman"/>
                <a:cs typeface="Times New Roman"/>
              </a:rPr>
              <a:t>Project Management Process Group and Knowledge Area Mapping</a:t>
            </a:r>
            <a:endParaRPr/>
          </a:p>
        </p:txBody>
      </p:sp>
      <p:graphicFrame>
        <p:nvGraphicFramePr>
          <p:cNvPr id="1393302125" name="Google Shape;764;p47"/>
          <p:cNvGraphicFramePr>
            <a:graphicFrameLocks xmlns:a="http://schemas.openxmlformats.org/drawingml/2006/main"/>
          </p:cNvGraphicFramePr>
          <p:nvPr/>
        </p:nvGraphicFramePr>
        <p:xfrm rot="0">
          <a:off x="2" y="170554"/>
          <a:ext cx="12191974" cy="6288345"/>
        </p:xfrm>
        <a:graphic>
          <a:graphicData uri="http://schemas.openxmlformats.org/drawingml/2006/table">
            <a:tbl>
              <a:tblPr firstRow="1" firstCol="0" lastRow="0" lastCol="0" bandRow="1" bandCol="0">
                <a:tableStyleId>{EA8E3DBC-DD3C-47B4-B7B0-9EDAE2CE88E3}</a:tableStyleId>
                <a:noFill/>
              </a:tblPr>
              <a:tblGrid>
                <a:gridCol w="1447800"/>
                <a:gridCol w="1445225"/>
                <a:gridCol w="3409625"/>
                <a:gridCol w="2169750"/>
                <a:gridCol w="2273075"/>
                <a:gridCol w="1446500"/>
              </a:tblGrid>
              <a:tr h="254875">
                <a:tc>
                  <a:txBody>
                    <a:bodyPr/>
                    <a:p>
                      <a:pPr marL="0" marR="0" lvl="0" indent="0" algn="l" rtl="0">
                        <a:spcBef>
                          <a:spcPts val="0"/>
                        </a:spcBef>
                        <a:spcAft>
                          <a:spcPts val="0"/>
                        </a:spcAft>
                        <a:buNone/>
                        <a:defRPr/>
                      </a:pPr>
                      <a:endParaRPr sz="1050"/>
                    </a:p>
                  </a:txBody>
                  <a:tcPr marL="91450" marR="91450" marT="45725" marB="45725">
                    <a:lnL w="12700" algn="ctr">
                      <a:noFill/>
                    </a:lnL>
                    <a:lnR w="38100" algn="ctr">
                      <a:solidFill>
                        <a:schemeClr val="tx1"/>
                      </a:solidFill>
                    </a:lnR>
                    <a:lnT w="12700" algn="ctr">
                      <a:noFill/>
                    </a:lnT>
                    <a:lnB w="38100" algn="ctr">
                      <a:solidFill>
                        <a:schemeClr val="tx1"/>
                      </a:solidFill>
                    </a:lnB>
                  </a:tcPr>
                </a:tc>
                <a:tc>
                  <a:txBody>
                    <a:bodyPr/>
                    <a:p>
                      <a:pPr marL="0" marR="0" lvl="0" indent="0" algn="l" rtl="0">
                        <a:spcBef>
                          <a:spcPts val="0"/>
                        </a:spcBef>
                        <a:spcAft>
                          <a:spcPts val="0"/>
                        </a:spcAft>
                        <a:buNone/>
                        <a:defRPr/>
                      </a:pPr>
                      <a:r>
                        <a:rPr lang="en-US" sz="1050">
                          <a:solidFill>
                            <a:schemeClr val="dk1"/>
                          </a:solidFill>
                        </a:rPr>
                        <a:t>Initiating</a:t>
                      </a:r>
                      <a:endParaRPr/>
                    </a:p>
                  </a:txBody>
                  <a:tcPr marL="91450" marR="91450" marT="45725" marB="45725">
                    <a:lnL w="38100" algn="ctr">
                      <a:solidFill>
                        <a:schemeClr val="tx1"/>
                      </a:solidFill>
                    </a:lnL>
                    <a:lnR w="38100" algn="ctr">
                      <a:solidFill>
                        <a:schemeClr val="tx1"/>
                      </a:solidFill>
                    </a:lnR>
                    <a:lnT w="12700" algn="ctr">
                      <a:noFill/>
                    </a:lnT>
                    <a:lnB w="38100" algn="ctr">
                      <a:solidFill>
                        <a:schemeClr val="tx1"/>
                      </a:solidFill>
                    </a:lnB>
                  </a:tcPr>
                </a:tc>
                <a:tc>
                  <a:txBody>
                    <a:bodyPr/>
                    <a:p>
                      <a:pPr marL="0" marR="0" lvl="0" indent="0" algn="l" rtl="0">
                        <a:spcBef>
                          <a:spcPts val="0"/>
                        </a:spcBef>
                        <a:spcAft>
                          <a:spcPts val="0"/>
                        </a:spcAft>
                        <a:buNone/>
                        <a:defRPr/>
                      </a:pPr>
                      <a:r>
                        <a:rPr lang="en-US" sz="1050">
                          <a:solidFill>
                            <a:schemeClr val="dk1"/>
                          </a:solidFill>
                        </a:rPr>
                        <a:t>Planning</a:t>
                      </a:r>
                      <a:endParaRPr/>
                    </a:p>
                  </a:txBody>
                  <a:tcPr marL="91450" marR="91450" marT="45725" marB="45725">
                    <a:lnL w="38100" algn="ctr">
                      <a:solidFill>
                        <a:schemeClr val="tx1"/>
                      </a:solidFill>
                    </a:lnL>
                    <a:lnB w="38100" algn="ctr">
                      <a:solidFill>
                        <a:schemeClr val="tx1"/>
                      </a:solidFill>
                    </a:lnB>
                  </a:tcPr>
                </a:tc>
                <a:tc>
                  <a:txBody>
                    <a:bodyPr/>
                    <a:p>
                      <a:pPr marL="0" marR="0" lvl="0" indent="0" algn="l" rtl="0">
                        <a:spcBef>
                          <a:spcPts val="0"/>
                        </a:spcBef>
                        <a:spcAft>
                          <a:spcPts val="0"/>
                        </a:spcAft>
                        <a:buNone/>
                        <a:defRPr/>
                      </a:pPr>
                      <a:r>
                        <a:rPr lang="en-US" sz="1050">
                          <a:solidFill>
                            <a:schemeClr val="dk1"/>
                          </a:solidFill>
                        </a:rPr>
                        <a:t>Executing</a:t>
                      </a:r>
                      <a:endParaRPr/>
                    </a:p>
                  </a:txBody>
                  <a:tcPr marL="91450" marR="91450" marT="45725" marB="45725">
                    <a:lnB w="38100" algn="ctr">
                      <a:solidFill>
                        <a:schemeClr val="tx1"/>
                      </a:solidFill>
                    </a:lnB>
                  </a:tcPr>
                </a:tc>
                <a:tc>
                  <a:txBody>
                    <a:bodyPr/>
                    <a:p>
                      <a:pPr marL="0" marR="0" lvl="0" indent="0" algn="l" rtl="0">
                        <a:spcBef>
                          <a:spcPts val="0"/>
                        </a:spcBef>
                        <a:spcAft>
                          <a:spcPts val="0"/>
                        </a:spcAft>
                        <a:buNone/>
                        <a:defRPr/>
                      </a:pPr>
                      <a:r>
                        <a:rPr lang="en-US" sz="1050">
                          <a:solidFill>
                            <a:schemeClr val="dk1"/>
                          </a:solidFill>
                        </a:rPr>
                        <a:t>M&amp;C</a:t>
                      </a:r>
                      <a:endParaRPr/>
                    </a:p>
                  </a:txBody>
                  <a:tcPr marL="91450" marR="91450" marT="45725" marB="45725">
                    <a:lnR w="38100" algn="ctr">
                      <a:solidFill>
                        <a:schemeClr val="tx1"/>
                      </a:solidFill>
                    </a:lnR>
                    <a:lnB w="38100" algn="ctr">
                      <a:solidFill>
                        <a:schemeClr val="tx1"/>
                      </a:solidFill>
                    </a:lnB>
                  </a:tcPr>
                </a:tc>
                <a:tc>
                  <a:txBody>
                    <a:bodyPr/>
                    <a:p>
                      <a:pPr marL="0" marR="0" lvl="0" indent="0" algn="l" rtl="0">
                        <a:spcBef>
                          <a:spcPts val="0"/>
                        </a:spcBef>
                        <a:spcAft>
                          <a:spcPts val="0"/>
                        </a:spcAft>
                        <a:buNone/>
                        <a:defRPr/>
                      </a:pPr>
                      <a:r>
                        <a:rPr lang="en-US" sz="1050">
                          <a:solidFill>
                            <a:schemeClr val="dk1"/>
                          </a:solidFill>
                        </a:rPr>
                        <a:t>Closing</a:t>
                      </a:r>
                      <a:endParaRPr/>
                    </a:p>
                  </a:txBody>
                  <a:tcPr marL="91450" marR="91450" marT="45725" marB="45725">
                    <a:lnL w="38100" algn="ctr">
                      <a:solidFill>
                        <a:schemeClr val="tx1"/>
                      </a:solidFill>
                    </a:lnL>
                    <a:lnB w="38100" algn="ctr">
                      <a:solidFill>
                        <a:schemeClr val="tx1"/>
                      </a:solidFill>
                    </a:lnB>
                  </a:tcPr>
                </a:tc>
              </a:tr>
              <a:tr h="569600">
                <a:tc>
                  <a:txBody>
                    <a:bodyPr/>
                    <a:p>
                      <a:pPr marL="0" marR="0" lvl="0" indent="0" algn="l" rtl="0">
                        <a:spcBef>
                          <a:spcPts val="0"/>
                        </a:spcBef>
                        <a:spcAft>
                          <a:spcPts val="0"/>
                        </a:spcAft>
                        <a:buNone/>
                        <a:defRPr/>
                      </a:pPr>
                      <a:r>
                        <a:rPr lang="en-US" sz="1050" b="1"/>
                        <a:t>Integration</a:t>
                      </a:r>
                      <a:endParaRPr/>
                    </a:p>
                  </a:txBody>
                  <a:tcPr marL="91450" marR="91450" marT="45725" marB="45725">
                    <a:lnR w="38100" algn="ctr">
                      <a:solidFill>
                        <a:schemeClr val="tx1"/>
                      </a:solidFill>
                    </a:lnR>
                    <a:lnT w="38100" algn="ctr">
                      <a:solidFill>
                        <a:schemeClr val="tx1"/>
                      </a:solidFill>
                    </a:lnT>
                  </a:tcPr>
                </a:tc>
                <a:tc>
                  <a:txBody>
                    <a:bodyPr/>
                    <a:p>
                      <a:pPr marL="0" marR="0" lvl="0" indent="0" algn="l" rtl="0">
                        <a:spcBef>
                          <a:spcPts val="0"/>
                        </a:spcBef>
                        <a:spcAft>
                          <a:spcPts val="0"/>
                        </a:spcAft>
                        <a:buNone/>
                        <a:defRPr/>
                      </a:pPr>
                      <a:r>
                        <a:rPr lang="en-US" sz="1050">
                          <a:solidFill>
                            <a:srgbClr val="FF0000"/>
                          </a:solidFill>
                        </a:rPr>
                        <a:t>Develop Project Charter</a:t>
                      </a:r>
                      <a:endParaRPr>
                        <a:solidFill>
                          <a:srgbClr val="FF0000"/>
                        </a:solidFill>
                      </a:endParaRPr>
                    </a:p>
                  </a:txBody>
                  <a:tcPr marL="91450" marR="91450" marT="45725" marB="45725">
                    <a:lnL w="38100" algn="ctr">
                      <a:solidFill>
                        <a:schemeClr val="tx1"/>
                      </a:solidFill>
                    </a:lnL>
                    <a:lnR w="38100" algn="ctr">
                      <a:solidFill>
                        <a:schemeClr val="tx1"/>
                      </a:solidFill>
                    </a:lnR>
                    <a:lnT w="38100" algn="ctr">
                      <a:solidFill>
                        <a:schemeClr val="tx1"/>
                      </a:solidFill>
                    </a:lnT>
                    <a:lnB w="12700" algn="ctr">
                      <a:noFill/>
                    </a:lnB>
                  </a:tcPr>
                </a:tc>
                <a:tc>
                  <a:txBody>
                    <a:bodyPr/>
                    <a:p>
                      <a:pPr marL="0" marR="0" lvl="0" indent="0" algn="l" rtl="0">
                        <a:spcBef>
                          <a:spcPts val="0"/>
                        </a:spcBef>
                        <a:spcAft>
                          <a:spcPts val="0"/>
                        </a:spcAft>
                        <a:buNone/>
                        <a:defRPr/>
                      </a:pPr>
                      <a:r>
                        <a:rPr lang="en-US" sz="1050">
                          <a:solidFill>
                            <a:srgbClr val="FF0000"/>
                          </a:solidFill>
                        </a:rPr>
                        <a:t>Develop PM Plan</a:t>
                      </a:r>
                      <a:endParaRPr>
                        <a:solidFill>
                          <a:srgbClr val="FF0000"/>
                        </a:solidFill>
                      </a:endParaRPr>
                    </a:p>
                  </a:txBody>
                  <a:tcPr marL="91450" marR="91450" marT="45725" marB="45725">
                    <a:lnL w="38100" algn="ctr">
                      <a:solidFill>
                        <a:schemeClr val="tx1"/>
                      </a:solidFill>
                    </a:lnL>
                    <a:lnT w="38100" algn="ctr">
                      <a:solidFill>
                        <a:schemeClr val="tx1"/>
                      </a:solidFill>
                    </a:lnT>
                  </a:tcPr>
                </a:tc>
                <a:tc>
                  <a:txBody>
                    <a:bodyPr/>
                    <a:p>
                      <a:pPr marL="0" marR="0" lvl="0" indent="0" algn="l" rtl="0">
                        <a:spcBef>
                          <a:spcPts val="0"/>
                        </a:spcBef>
                        <a:spcAft>
                          <a:spcPts val="0"/>
                        </a:spcAft>
                        <a:buNone/>
                        <a:defRPr/>
                      </a:pPr>
                      <a:r>
                        <a:rPr lang="en-US" sz="1050">
                          <a:solidFill>
                            <a:srgbClr val="FF0000"/>
                          </a:solidFill>
                        </a:rPr>
                        <a:t>Direct &amp; Manage Project Work</a:t>
                      </a:r>
                      <a:endParaRPr>
                        <a:solidFill>
                          <a:srgbClr val="FF0000"/>
                        </a:solidFill>
                      </a:endParaRPr>
                    </a:p>
                  </a:txBody>
                  <a:tcPr marL="91450" marR="91450" marT="45725" marB="45725">
                    <a:lnT w="38100" algn="ctr">
                      <a:solidFill>
                        <a:schemeClr val="tx1"/>
                      </a:solidFill>
                    </a:lnT>
                  </a:tcPr>
                </a:tc>
                <a:tc>
                  <a:txBody>
                    <a:bodyPr/>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M&amp;C Project Work</a:t>
                      </a:r>
                      <a:endParaRPr>
                        <a:solidFill>
                          <a:srgbClr val="FF0000"/>
                        </a:solidFill>
                      </a:endParaRPr>
                    </a:p>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Perform Integrated Change Control</a:t>
                      </a:r>
                      <a:endParaRPr>
                        <a:solidFill>
                          <a:srgbClr val="FF0000"/>
                        </a:solidFill>
                      </a:endParaRPr>
                    </a:p>
                  </a:txBody>
                  <a:tcPr marL="91450" marR="91450" marT="45725" marB="45725">
                    <a:lnR w="38100" algn="ctr">
                      <a:solidFill>
                        <a:schemeClr val="tx1"/>
                      </a:solidFill>
                    </a:lnR>
                    <a:lnT w="38100" algn="ctr">
                      <a:solidFill>
                        <a:schemeClr val="tx1"/>
                      </a:solidFill>
                    </a:lnT>
                  </a:tcPr>
                </a:tc>
                <a:tc>
                  <a:txBody>
                    <a:bodyPr/>
                    <a:p>
                      <a:pPr marL="0" marR="0" lvl="0" indent="0" algn="l" rtl="0">
                        <a:spcBef>
                          <a:spcPts val="0"/>
                        </a:spcBef>
                        <a:spcAft>
                          <a:spcPts val="0"/>
                        </a:spcAft>
                        <a:buNone/>
                        <a:defRPr/>
                      </a:pPr>
                      <a:r>
                        <a:rPr lang="en-US" sz="1050">
                          <a:solidFill>
                            <a:srgbClr val="FF0000"/>
                          </a:solidFill>
                        </a:rPr>
                        <a:t>Close Project or Phase</a:t>
                      </a:r>
                      <a:endParaRPr>
                        <a:solidFill>
                          <a:srgbClr val="FF0000"/>
                        </a:solidFill>
                      </a:endParaRPr>
                    </a:p>
                  </a:txBody>
                  <a:tcPr marL="91450" marR="91450" marT="45725" marB="45725">
                    <a:lnL w="38100" algn="ctr">
                      <a:solidFill>
                        <a:schemeClr val="tx1"/>
                      </a:solidFill>
                    </a:lnL>
                    <a:lnT w="38100" algn="ctr">
                      <a:solidFill>
                        <a:schemeClr val="tx1"/>
                      </a:solidFill>
                    </a:lnT>
                  </a:tcPr>
                </a:tc>
              </a:tr>
              <a:tr h="732775">
                <a:tc>
                  <a:txBody>
                    <a:bodyPr/>
                    <a:p>
                      <a:pPr marL="0" marR="0" lvl="0" indent="0" algn="l" rtl="0">
                        <a:spcBef>
                          <a:spcPts val="0"/>
                        </a:spcBef>
                        <a:spcAft>
                          <a:spcPts val="0"/>
                        </a:spcAft>
                        <a:buNone/>
                        <a:defRPr/>
                      </a:pPr>
                      <a:r>
                        <a:rPr lang="en-US" sz="1050" b="1"/>
                        <a:t>Scope</a:t>
                      </a:r>
                      <a:endParaRPr/>
                    </a:p>
                  </a:txBody>
                  <a:tcPr marL="91450" marR="91450" marT="45725" marB="45725">
                    <a:lnR w="38100" algn="ctr">
                      <a:solidFill>
                        <a:schemeClr val="tx1"/>
                      </a:solidFill>
                    </a:lnR>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lnL w="38100" algn="ctr">
                      <a:solidFill>
                        <a:schemeClr val="tx1"/>
                      </a:solidFill>
                    </a:lnL>
                    <a:lnR w="38100" algn="ctr">
                      <a:solidFill>
                        <a:schemeClr val="tx1"/>
                      </a:solidFill>
                    </a:lnR>
                    <a:lnT w="12700" algn="ctr">
                      <a:noFill/>
                    </a:lnT>
                    <a:lnB w="12700" algn="ctr">
                      <a:noFill/>
                    </a:lnB>
                  </a:tcPr>
                </a:tc>
                <a:tc>
                  <a:txBody>
                    <a:bodyPr/>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Plan Scope Management</a:t>
                      </a:r>
                      <a:endParaRPr>
                        <a:solidFill>
                          <a:srgbClr val="FF0000"/>
                        </a:solidFill>
                      </a:endParaRPr>
                    </a:p>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Collect Requirements</a:t>
                      </a:r>
                      <a:endParaRPr>
                        <a:solidFill>
                          <a:srgbClr val="FF0000"/>
                        </a:solidFill>
                      </a:endParaRPr>
                    </a:p>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Define Scope</a:t>
                      </a:r>
                      <a:endParaRPr>
                        <a:solidFill>
                          <a:srgbClr val="FF0000"/>
                        </a:solidFill>
                      </a:endParaRPr>
                    </a:p>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Create WBS</a:t>
                      </a:r>
                      <a:endParaRPr>
                        <a:solidFill>
                          <a:srgbClr val="FF0000"/>
                        </a:solidFill>
                      </a:endParaRPr>
                    </a:p>
                  </a:txBody>
                  <a:tcPr marL="91450" marR="91450" marT="45725" marB="45725">
                    <a:lnL w="38100" algn="ctr">
                      <a:solidFill>
                        <a:schemeClr val="tx1"/>
                      </a:solidFill>
                    </a:lnL>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tc>
                <a:tc>
                  <a:txBody>
                    <a:bodyPr/>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Validate Scope</a:t>
                      </a:r>
                      <a:endParaRPr>
                        <a:solidFill>
                          <a:srgbClr val="FF0000"/>
                        </a:solidFill>
                      </a:endParaRPr>
                    </a:p>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Control Scope</a:t>
                      </a:r>
                      <a:endParaRPr>
                        <a:solidFill>
                          <a:srgbClr val="FF0000"/>
                        </a:solidFill>
                      </a:endParaRPr>
                    </a:p>
                  </a:txBody>
                  <a:tcPr marL="91450" marR="91450" marT="45725" marB="45725">
                    <a:lnR w="38100" algn="ctr">
                      <a:solidFill>
                        <a:schemeClr val="tx1"/>
                      </a:solidFill>
                    </a:lnR>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lnL w="38100" algn="ctr">
                      <a:solidFill>
                        <a:schemeClr val="tx1"/>
                      </a:solidFill>
                    </a:lnL>
                  </a:tcPr>
                </a:tc>
              </a:tr>
              <a:tr h="1051350">
                <a:tc>
                  <a:txBody>
                    <a:bodyPr/>
                    <a:p>
                      <a:pPr marL="0" marR="0" lvl="0" indent="0" algn="l" rtl="0">
                        <a:spcBef>
                          <a:spcPts val="0"/>
                        </a:spcBef>
                        <a:spcAft>
                          <a:spcPts val="0"/>
                        </a:spcAft>
                        <a:buNone/>
                        <a:defRPr/>
                      </a:pPr>
                      <a:r>
                        <a:rPr lang="en-US" sz="1050" b="1"/>
                        <a:t>Time</a:t>
                      </a:r>
                      <a:endParaRPr/>
                    </a:p>
                  </a:txBody>
                  <a:tcPr marL="91450" marR="91450" marT="45725" marB="45725">
                    <a:lnR w="38100" algn="ctr">
                      <a:solidFill>
                        <a:schemeClr val="tx1"/>
                      </a:solidFill>
                    </a:lnR>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lnL w="38100" algn="ctr">
                      <a:solidFill>
                        <a:schemeClr val="tx1"/>
                      </a:solidFill>
                    </a:lnL>
                    <a:lnR w="38100" algn="ctr">
                      <a:solidFill>
                        <a:schemeClr val="tx1"/>
                      </a:solidFill>
                    </a:lnR>
                    <a:lnT w="12700" algn="ctr">
                      <a:noFill/>
                    </a:lnT>
                    <a:lnB w="12700" algn="ctr">
                      <a:noFill/>
                    </a:lnB>
                  </a:tcPr>
                </a:tc>
                <a:tc>
                  <a:txBody>
                    <a:bodyPr/>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Plan Schedule Management</a:t>
                      </a:r>
                      <a:endParaRPr>
                        <a:solidFill>
                          <a:srgbClr val="FF0000"/>
                        </a:solidFill>
                      </a:endParaRPr>
                    </a:p>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Define Activities</a:t>
                      </a:r>
                      <a:endParaRPr>
                        <a:solidFill>
                          <a:srgbClr val="FF0000"/>
                        </a:solidFill>
                      </a:endParaRPr>
                    </a:p>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Sequence Activities</a:t>
                      </a:r>
                      <a:endParaRPr>
                        <a:solidFill>
                          <a:srgbClr val="FF0000"/>
                        </a:solidFill>
                      </a:endParaRPr>
                    </a:p>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Estimate Activity Resources</a:t>
                      </a:r>
                      <a:endParaRPr>
                        <a:solidFill>
                          <a:srgbClr val="FF0000"/>
                        </a:solidFill>
                      </a:endParaRPr>
                    </a:p>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Estimate Activity Durations</a:t>
                      </a:r>
                      <a:endParaRPr>
                        <a:solidFill>
                          <a:srgbClr val="FF0000"/>
                        </a:solidFill>
                      </a:endParaRPr>
                    </a:p>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Develop Schedule</a:t>
                      </a:r>
                      <a:endParaRPr sz="1050">
                        <a:solidFill>
                          <a:srgbClr val="FF0000"/>
                        </a:solidFill>
                      </a:endParaRPr>
                    </a:p>
                  </a:txBody>
                  <a:tcPr marL="91450" marR="91450" marT="45725" marB="45725">
                    <a:lnL w="38100" algn="ctr">
                      <a:solidFill>
                        <a:schemeClr val="tx1"/>
                      </a:solidFill>
                    </a:lnL>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tc>
                <a:tc>
                  <a:txBody>
                    <a:bodyPr/>
                    <a:p>
                      <a:pPr marL="0" marR="0" lvl="0" indent="0" algn="l" rtl="0">
                        <a:spcBef>
                          <a:spcPts val="0"/>
                        </a:spcBef>
                        <a:spcAft>
                          <a:spcPts val="0"/>
                        </a:spcAft>
                        <a:buNone/>
                        <a:defRPr/>
                      </a:pPr>
                      <a:r>
                        <a:rPr lang="en-US" sz="1050">
                          <a:solidFill>
                            <a:srgbClr val="FF0000"/>
                          </a:solidFill>
                        </a:rPr>
                        <a:t>Control Schedule</a:t>
                      </a:r>
                      <a:endParaRPr>
                        <a:solidFill>
                          <a:srgbClr val="FF0000"/>
                        </a:solidFill>
                      </a:endParaRPr>
                    </a:p>
                  </a:txBody>
                  <a:tcPr marL="91450" marR="91450" marT="45725" marB="45725">
                    <a:lnR w="38100" algn="ctr">
                      <a:solidFill>
                        <a:schemeClr val="tx1"/>
                      </a:solidFill>
                    </a:lnR>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lnL w="38100" algn="ctr">
                      <a:solidFill>
                        <a:schemeClr val="tx1"/>
                      </a:solidFill>
                    </a:lnL>
                  </a:tcPr>
                </a:tc>
              </a:tr>
              <a:tr h="573475">
                <a:tc>
                  <a:txBody>
                    <a:bodyPr/>
                    <a:p>
                      <a:pPr marL="0" marR="0" lvl="0" indent="0" algn="l" rtl="0">
                        <a:spcBef>
                          <a:spcPts val="0"/>
                        </a:spcBef>
                        <a:spcAft>
                          <a:spcPts val="0"/>
                        </a:spcAft>
                        <a:buNone/>
                        <a:defRPr/>
                      </a:pPr>
                      <a:r>
                        <a:rPr lang="en-US" sz="1050" b="1"/>
                        <a:t>Cost</a:t>
                      </a:r>
                      <a:endParaRPr/>
                    </a:p>
                  </a:txBody>
                  <a:tcPr marL="91450" marR="91450" marT="45725" marB="45725">
                    <a:lnR w="38100" algn="ctr">
                      <a:solidFill>
                        <a:schemeClr val="tx1"/>
                      </a:solidFill>
                    </a:lnR>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lnL w="38100" algn="ctr">
                      <a:solidFill>
                        <a:schemeClr val="tx1"/>
                      </a:solidFill>
                    </a:lnL>
                    <a:lnR w="38100" algn="ctr">
                      <a:solidFill>
                        <a:schemeClr val="tx1"/>
                      </a:solidFill>
                    </a:lnR>
                    <a:lnT w="12700" algn="ctr">
                      <a:noFill/>
                    </a:lnT>
                    <a:lnB w="12700" algn="ctr">
                      <a:noFill/>
                    </a:lnB>
                  </a:tcPr>
                </a:tc>
                <a:tc>
                  <a:txBody>
                    <a:bodyPr/>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Plan Cost Management</a:t>
                      </a:r>
                      <a:endParaRPr>
                        <a:solidFill>
                          <a:srgbClr val="FF0000"/>
                        </a:solidFill>
                      </a:endParaRPr>
                    </a:p>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Estimate Costs</a:t>
                      </a:r>
                      <a:endParaRPr>
                        <a:solidFill>
                          <a:srgbClr val="FF0000"/>
                        </a:solidFill>
                      </a:endParaRPr>
                    </a:p>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Determine Budget</a:t>
                      </a:r>
                      <a:endParaRPr>
                        <a:solidFill>
                          <a:srgbClr val="FF0000"/>
                        </a:solidFill>
                      </a:endParaRPr>
                    </a:p>
                  </a:txBody>
                  <a:tcPr marL="91450" marR="91450" marT="45725" marB="45725">
                    <a:lnL w="38100" algn="ctr">
                      <a:solidFill>
                        <a:schemeClr val="tx1"/>
                      </a:solidFill>
                    </a:lnL>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tc>
                <a:tc>
                  <a:txBody>
                    <a:bodyPr/>
                    <a:p>
                      <a:pPr marL="0" marR="0" lvl="0" indent="0" algn="l" rtl="0">
                        <a:spcBef>
                          <a:spcPts val="0"/>
                        </a:spcBef>
                        <a:spcAft>
                          <a:spcPts val="0"/>
                        </a:spcAft>
                        <a:buNone/>
                        <a:defRPr/>
                      </a:pPr>
                      <a:r>
                        <a:rPr lang="en-US" sz="1050">
                          <a:solidFill>
                            <a:srgbClr val="FF0000"/>
                          </a:solidFill>
                        </a:rPr>
                        <a:t>Control Costs</a:t>
                      </a:r>
                      <a:endParaRPr>
                        <a:solidFill>
                          <a:srgbClr val="FF0000"/>
                        </a:solidFill>
                      </a:endParaRPr>
                    </a:p>
                  </a:txBody>
                  <a:tcPr marL="91450" marR="91450" marT="45725" marB="45725">
                    <a:lnR w="38100" algn="ctr">
                      <a:solidFill>
                        <a:schemeClr val="tx1"/>
                      </a:solidFill>
                    </a:lnR>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lnL w="38100" algn="ctr">
                      <a:solidFill>
                        <a:schemeClr val="tx1"/>
                      </a:solidFill>
                    </a:lnL>
                  </a:tcPr>
                </a:tc>
              </a:tr>
              <a:tr h="410125">
                <a:tc>
                  <a:txBody>
                    <a:bodyPr/>
                    <a:p>
                      <a:pPr marL="0" marR="0" lvl="0" indent="0" algn="l" rtl="0">
                        <a:spcBef>
                          <a:spcPts val="0"/>
                        </a:spcBef>
                        <a:spcAft>
                          <a:spcPts val="0"/>
                        </a:spcAft>
                        <a:buNone/>
                        <a:defRPr/>
                      </a:pPr>
                      <a:r>
                        <a:rPr lang="en-US" sz="1050" b="1"/>
                        <a:t>Quality</a:t>
                      </a:r>
                      <a:endParaRPr/>
                    </a:p>
                  </a:txBody>
                  <a:tcPr marL="91450" marR="91450" marT="45725" marB="45725">
                    <a:lnR w="38100" algn="ctr">
                      <a:solidFill>
                        <a:schemeClr val="tx1"/>
                      </a:solidFill>
                    </a:lnR>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lnL w="38100" algn="ctr">
                      <a:solidFill>
                        <a:schemeClr val="tx1"/>
                      </a:solidFill>
                    </a:lnL>
                    <a:lnR w="38100" algn="ctr">
                      <a:solidFill>
                        <a:schemeClr val="tx1"/>
                      </a:solidFill>
                    </a:lnR>
                    <a:lnT w="12700" algn="ctr">
                      <a:noFill/>
                    </a:lnT>
                    <a:lnB w="12700" algn="ctr">
                      <a:noFill/>
                    </a:lnB>
                  </a:tcPr>
                </a:tc>
                <a:tc>
                  <a:txBody>
                    <a:bodyPr/>
                    <a:p>
                      <a:pPr marL="0" marR="0" lvl="0" indent="0" algn="l" rtl="0">
                        <a:spcBef>
                          <a:spcPts val="0"/>
                        </a:spcBef>
                        <a:spcAft>
                          <a:spcPts val="0"/>
                        </a:spcAft>
                        <a:buNone/>
                        <a:defRPr/>
                      </a:pPr>
                      <a:r>
                        <a:rPr lang="en-US" sz="1050">
                          <a:solidFill>
                            <a:srgbClr val="FF0000"/>
                          </a:solidFill>
                        </a:rPr>
                        <a:t>Plan Quality Management</a:t>
                      </a:r>
                      <a:endParaRPr>
                        <a:solidFill>
                          <a:srgbClr val="FF0000"/>
                        </a:solidFill>
                      </a:endParaRPr>
                    </a:p>
                  </a:txBody>
                  <a:tcPr marL="91450" marR="91450" marT="45725" marB="45725">
                    <a:lnL w="38100" algn="ctr">
                      <a:solidFill>
                        <a:schemeClr val="tx1"/>
                      </a:solidFill>
                    </a:lnL>
                  </a:tcPr>
                </a:tc>
                <a:tc>
                  <a:txBody>
                    <a:bodyPr/>
                    <a:p>
                      <a:pPr marL="0" marR="0" lvl="0" indent="0" algn="l" rtl="0">
                        <a:spcBef>
                          <a:spcPts val="0"/>
                        </a:spcBef>
                        <a:spcAft>
                          <a:spcPts val="0"/>
                        </a:spcAft>
                        <a:buNone/>
                        <a:defRPr/>
                      </a:pPr>
                      <a:r>
                        <a:rPr lang="en-US" sz="1050">
                          <a:solidFill>
                            <a:srgbClr val="FF0000"/>
                          </a:solidFill>
                        </a:rPr>
                        <a:t>Perform Quality Assurance</a:t>
                      </a:r>
                      <a:endParaRPr>
                        <a:solidFill>
                          <a:srgbClr val="FF0000"/>
                        </a:solidFill>
                      </a:endParaRPr>
                    </a:p>
                  </a:txBody>
                  <a:tcPr marL="91450" marR="91450" marT="45725" marB="45725"/>
                </a:tc>
                <a:tc>
                  <a:txBody>
                    <a:bodyPr/>
                    <a:p>
                      <a:pPr marL="0" marR="0" lvl="0" indent="0" algn="l" rtl="0">
                        <a:spcBef>
                          <a:spcPts val="0"/>
                        </a:spcBef>
                        <a:spcAft>
                          <a:spcPts val="0"/>
                        </a:spcAft>
                        <a:buNone/>
                        <a:defRPr/>
                      </a:pPr>
                      <a:r>
                        <a:rPr lang="en-US" sz="1050">
                          <a:solidFill>
                            <a:srgbClr val="FF0000"/>
                          </a:solidFill>
                        </a:rPr>
                        <a:t>Control Quality</a:t>
                      </a:r>
                      <a:endParaRPr>
                        <a:solidFill>
                          <a:srgbClr val="FF0000"/>
                        </a:solidFill>
                      </a:endParaRPr>
                    </a:p>
                  </a:txBody>
                  <a:tcPr marL="91450" marR="91450" marT="45725" marB="45725">
                    <a:lnR w="38100" algn="ctr">
                      <a:solidFill>
                        <a:schemeClr val="tx1"/>
                      </a:solidFill>
                    </a:lnR>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lnL w="38100" algn="ctr">
                      <a:solidFill>
                        <a:schemeClr val="tx1"/>
                      </a:solidFill>
                    </a:lnL>
                  </a:tcPr>
                </a:tc>
              </a:tr>
              <a:tr h="573475">
                <a:tc>
                  <a:txBody>
                    <a:bodyPr/>
                    <a:p>
                      <a:pPr marL="0" marR="0" lvl="0" indent="0" algn="l" rtl="0">
                        <a:spcBef>
                          <a:spcPts val="0"/>
                        </a:spcBef>
                        <a:spcAft>
                          <a:spcPts val="0"/>
                        </a:spcAft>
                        <a:buNone/>
                        <a:defRPr/>
                      </a:pPr>
                      <a:r>
                        <a:rPr lang="en-US" sz="1050" b="1"/>
                        <a:t>HR</a:t>
                      </a:r>
                      <a:endParaRPr/>
                    </a:p>
                  </a:txBody>
                  <a:tcPr marL="91450" marR="91450" marT="45725" marB="45725">
                    <a:lnR w="38100" algn="ctr">
                      <a:solidFill>
                        <a:schemeClr val="tx1"/>
                      </a:solidFill>
                    </a:lnR>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lnL w="38100" algn="ctr">
                      <a:solidFill>
                        <a:schemeClr val="tx1"/>
                      </a:solidFill>
                    </a:lnL>
                    <a:lnR w="38100" algn="ctr">
                      <a:solidFill>
                        <a:schemeClr val="tx1"/>
                      </a:solidFill>
                    </a:lnR>
                    <a:lnT w="12700" algn="ctr">
                      <a:noFill/>
                    </a:lnT>
                    <a:lnB w="12700" algn="ctr">
                      <a:noFill/>
                    </a:lnB>
                  </a:tcPr>
                </a:tc>
                <a:tc>
                  <a:txBody>
                    <a:bodyPr/>
                    <a:p>
                      <a:pPr marL="0" marR="0" lvl="0" indent="0" algn="l" rtl="0">
                        <a:spcBef>
                          <a:spcPts val="0"/>
                        </a:spcBef>
                        <a:spcAft>
                          <a:spcPts val="0"/>
                        </a:spcAft>
                        <a:buNone/>
                        <a:defRPr/>
                      </a:pPr>
                      <a:r>
                        <a:rPr lang="en-US" sz="1050">
                          <a:solidFill>
                            <a:srgbClr val="FF0000"/>
                          </a:solidFill>
                        </a:rPr>
                        <a:t>Plan HR Management</a:t>
                      </a:r>
                      <a:endParaRPr>
                        <a:solidFill>
                          <a:srgbClr val="FF0000"/>
                        </a:solidFill>
                      </a:endParaRPr>
                    </a:p>
                  </a:txBody>
                  <a:tcPr marL="91450" marR="91450" marT="45725" marB="45725">
                    <a:lnL w="38100" algn="ctr">
                      <a:solidFill>
                        <a:schemeClr val="tx1"/>
                      </a:solidFill>
                    </a:lnL>
                  </a:tcPr>
                </a:tc>
                <a:tc>
                  <a:txBody>
                    <a:bodyPr/>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Acquire Project Team</a:t>
                      </a:r>
                      <a:endParaRPr>
                        <a:solidFill>
                          <a:srgbClr val="FF0000"/>
                        </a:solidFill>
                      </a:endParaRPr>
                    </a:p>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Develop Project Team</a:t>
                      </a:r>
                      <a:endParaRPr>
                        <a:solidFill>
                          <a:srgbClr val="FF0000"/>
                        </a:solidFill>
                      </a:endParaRPr>
                    </a:p>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Manage Project Team</a:t>
                      </a:r>
                      <a:endParaRPr sz="1050">
                        <a:solidFill>
                          <a:srgbClr val="FF0000"/>
                        </a:solidFill>
                      </a:endParaRPr>
                    </a:p>
                  </a:txBody>
                  <a:tcPr marL="91450" marR="91450" marT="45725" marB="45725"/>
                </a:tc>
                <a:tc>
                  <a:txBody>
                    <a:bodyPr/>
                    <a:p>
                      <a:pPr marL="0" marR="0" lvl="0" indent="0" algn="l" rtl="0">
                        <a:spcBef>
                          <a:spcPts val="0"/>
                        </a:spcBef>
                        <a:spcAft>
                          <a:spcPts val="0"/>
                        </a:spcAft>
                        <a:buNone/>
                        <a:defRPr/>
                      </a:pPr>
                      <a:endParaRPr sz="1050">
                        <a:solidFill>
                          <a:srgbClr val="FF0000"/>
                        </a:solidFill>
                      </a:endParaRPr>
                    </a:p>
                  </a:txBody>
                  <a:tcPr marL="91450" marR="91450" marT="45725" marB="45725">
                    <a:lnR w="38100" algn="ctr">
                      <a:solidFill>
                        <a:schemeClr val="tx1"/>
                      </a:solidFill>
                    </a:lnR>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lnL w="38100" algn="ctr">
                      <a:solidFill>
                        <a:schemeClr val="tx1"/>
                      </a:solidFill>
                    </a:lnL>
                  </a:tcPr>
                </a:tc>
              </a:tr>
              <a:tr h="410125">
                <a:tc>
                  <a:txBody>
                    <a:bodyPr/>
                    <a:p>
                      <a:pPr marL="0" marR="0" lvl="0" indent="0" algn="l" rtl="0">
                        <a:spcBef>
                          <a:spcPts val="0"/>
                        </a:spcBef>
                        <a:spcAft>
                          <a:spcPts val="0"/>
                        </a:spcAft>
                        <a:buNone/>
                        <a:defRPr/>
                      </a:pPr>
                      <a:r>
                        <a:rPr lang="en-US" sz="1050" b="1"/>
                        <a:t>Communications</a:t>
                      </a:r>
                      <a:endParaRPr/>
                    </a:p>
                  </a:txBody>
                  <a:tcPr marL="91450" marR="91450" marT="45725" marB="45725">
                    <a:lnR w="38100" algn="ctr">
                      <a:solidFill>
                        <a:schemeClr val="tx1"/>
                      </a:solidFill>
                    </a:lnR>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lnL w="38100" algn="ctr">
                      <a:solidFill>
                        <a:schemeClr val="tx1"/>
                      </a:solidFill>
                    </a:lnL>
                    <a:lnR w="38100" algn="ctr">
                      <a:solidFill>
                        <a:schemeClr val="tx1"/>
                      </a:solidFill>
                    </a:lnR>
                    <a:lnT w="12700" algn="ctr">
                      <a:noFill/>
                    </a:lnT>
                    <a:lnB w="12700" algn="ctr">
                      <a:noFill/>
                    </a:lnB>
                  </a:tcPr>
                </a:tc>
                <a:tc>
                  <a:txBody>
                    <a:bodyPr/>
                    <a:p>
                      <a:pPr marL="0" marR="0" lvl="0" indent="0" algn="l" rtl="0">
                        <a:spcBef>
                          <a:spcPts val="0"/>
                        </a:spcBef>
                        <a:spcAft>
                          <a:spcPts val="0"/>
                        </a:spcAft>
                        <a:buNone/>
                        <a:defRPr/>
                      </a:pPr>
                      <a:r>
                        <a:rPr lang="en-US" sz="1050">
                          <a:solidFill>
                            <a:srgbClr val="FF0000"/>
                          </a:solidFill>
                        </a:rPr>
                        <a:t>Plan Communications Management</a:t>
                      </a:r>
                      <a:endParaRPr>
                        <a:solidFill>
                          <a:srgbClr val="FF0000"/>
                        </a:solidFill>
                      </a:endParaRPr>
                    </a:p>
                  </a:txBody>
                  <a:tcPr marL="91450" marR="91450" marT="45725" marB="45725">
                    <a:lnL w="38100" algn="ctr">
                      <a:solidFill>
                        <a:schemeClr val="tx1"/>
                      </a:solidFill>
                    </a:lnL>
                  </a:tcPr>
                </a:tc>
                <a:tc>
                  <a:txBody>
                    <a:bodyPr/>
                    <a:p>
                      <a:pPr marL="0" marR="0" lvl="0" indent="0" algn="l" rtl="0">
                        <a:spcBef>
                          <a:spcPts val="0"/>
                        </a:spcBef>
                        <a:spcAft>
                          <a:spcPts val="0"/>
                        </a:spcAft>
                        <a:buNone/>
                        <a:defRPr/>
                      </a:pPr>
                      <a:r>
                        <a:rPr lang="en-US" sz="1050">
                          <a:solidFill>
                            <a:srgbClr val="FF0000"/>
                          </a:solidFill>
                        </a:rPr>
                        <a:t>Manage Communications</a:t>
                      </a:r>
                      <a:endParaRPr>
                        <a:solidFill>
                          <a:srgbClr val="FF0000"/>
                        </a:solidFill>
                      </a:endParaRPr>
                    </a:p>
                  </a:txBody>
                  <a:tcPr marL="91450" marR="91450" marT="45725" marB="45725"/>
                </a:tc>
                <a:tc>
                  <a:txBody>
                    <a:bodyPr/>
                    <a:p>
                      <a:pPr marL="0" marR="0" lvl="0" indent="0" algn="l" rtl="0">
                        <a:spcBef>
                          <a:spcPts val="0"/>
                        </a:spcBef>
                        <a:spcAft>
                          <a:spcPts val="0"/>
                        </a:spcAft>
                        <a:buNone/>
                        <a:defRPr/>
                      </a:pPr>
                      <a:r>
                        <a:rPr lang="en-US" sz="1050">
                          <a:solidFill>
                            <a:srgbClr val="FF0000"/>
                          </a:solidFill>
                        </a:rPr>
                        <a:t>Control Communications</a:t>
                      </a:r>
                      <a:endParaRPr>
                        <a:solidFill>
                          <a:srgbClr val="FF0000"/>
                        </a:solidFill>
                      </a:endParaRPr>
                    </a:p>
                  </a:txBody>
                  <a:tcPr marL="91450" marR="91450" marT="45725" marB="45725">
                    <a:lnR w="38100" algn="ctr">
                      <a:solidFill>
                        <a:schemeClr val="tx1"/>
                      </a:solidFill>
                    </a:lnR>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lnL w="38100" algn="ctr">
                      <a:solidFill>
                        <a:schemeClr val="tx1"/>
                      </a:solidFill>
                    </a:lnL>
                  </a:tcPr>
                </a:tc>
              </a:tr>
              <a:tr h="892075">
                <a:tc>
                  <a:txBody>
                    <a:bodyPr/>
                    <a:p>
                      <a:pPr marL="0" marR="0" lvl="0" indent="0" algn="l" rtl="0">
                        <a:spcBef>
                          <a:spcPts val="0"/>
                        </a:spcBef>
                        <a:spcAft>
                          <a:spcPts val="0"/>
                        </a:spcAft>
                        <a:buNone/>
                        <a:defRPr/>
                      </a:pPr>
                      <a:r>
                        <a:rPr lang="en-US" sz="1050" b="1"/>
                        <a:t>Risk</a:t>
                      </a:r>
                      <a:endParaRPr/>
                    </a:p>
                  </a:txBody>
                  <a:tcPr marL="91450" marR="91450" marT="45725" marB="45725">
                    <a:lnR w="38100" algn="ctr">
                      <a:solidFill>
                        <a:schemeClr val="tx1"/>
                      </a:solidFill>
                    </a:lnR>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lnL w="38100" algn="ctr">
                      <a:solidFill>
                        <a:schemeClr val="tx1"/>
                      </a:solidFill>
                    </a:lnL>
                    <a:lnR w="38100" algn="ctr">
                      <a:solidFill>
                        <a:schemeClr val="tx1"/>
                      </a:solidFill>
                    </a:lnR>
                    <a:lnT w="12700" algn="ctr">
                      <a:noFill/>
                    </a:lnT>
                    <a:lnB w="12700" algn="ctr">
                      <a:noFill/>
                    </a:lnB>
                  </a:tcPr>
                </a:tc>
                <a:tc>
                  <a:txBody>
                    <a:bodyPr/>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Plan Risk Management</a:t>
                      </a:r>
                      <a:endParaRPr>
                        <a:solidFill>
                          <a:srgbClr val="FF0000"/>
                        </a:solidFill>
                      </a:endParaRPr>
                    </a:p>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Identify Risks</a:t>
                      </a:r>
                      <a:endParaRPr>
                        <a:solidFill>
                          <a:srgbClr val="FF0000"/>
                        </a:solidFill>
                      </a:endParaRPr>
                    </a:p>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Perform Qualitative Risk Analysis</a:t>
                      </a:r>
                      <a:endParaRPr>
                        <a:solidFill>
                          <a:srgbClr val="FF0000"/>
                        </a:solidFill>
                      </a:endParaRPr>
                    </a:p>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Perform Quantitative Risk Analysis</a:t>
                      </a:r>
                      <a:endParaRPr>
                        <a:solidFill>
                          <a:srgbClr val="FF0000"/>
                        </a:solidFill>
                      </a:endParaRPr>
                    </a:p>
                    <a:p>
                      <a:pPr marL="171450" marR="0" lvl="0" indent="-171450" algn="l" rtl="0">
                        <a:spcBef>
                          <a:spcPts val="0"/>
                        </a:spcBef>
                        <a:spcAft>
                          <a:spcPts val="0"/>
                        </a:spcAft>
                        <a:buClr>
                          <a:schemeClr val="dk1"/>
                        </a:buClr>
                        <a:buSzPts val="1050"/>
                        <a:buFont typeface="Arial"/>
                        <a:buChar char="•"/>
                        <a:defRPr/>
                      </a:pPr>
                      <a:r>
                        <a:rPr lang="en-US" sz="1050">
                          <a:solidFill>
                            <a:srgbClr val="FF0000"/>
                          </a:solidFill>
                        </a:rPr>
                        <a:t>Plan Risk Responses</a:t>
                      </a:r>
                      <a:endParaRPr sz="1050">
                        <a:solidFill>
                          <a:srgbClr val="FF0000"/>
                        </a:solidFill>
                      </a:endParaRPr>
                    </a:p>
                  </a:txBody>
                  <a:tcPr marL="91450" marR="91450" marT="45725" marB="45725">
                    <a:lnL w="38100" algn="ctr">
                      <a:solidFill>
                        <a:schemeClr val="tx1"/>
                      </a:solidFill>
                    </a:lnL>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tc>
                <a:tc>
                  <a:txBody>
                    <a:bodyPr/>
                    <a:p>
                      <a:pPr marL="0" marR="0" lvl="0" indent="0" algn="l" rtl="0">
                        <a:spcBef>
                          <a:spcPts val="0"/>
                        </a:spcBef>
                        <a:spcAft>
                          <a:spcPts val="0"/>
                        </a:spcAft>
                        <a:buNone/>
                        <a:defRPr/>
                      </a:pPr>
                      <a:r>
                        <a:rPr lang="en-US" sz="1050">
                          <a:solidFill>
                            <a:srgbClr val="FF0000"/>
                          </a:solidFill>
                        </a:rPr>
                        <a:t>Control risks</a:t>
                      </a:r>
                      <a:endParaRPr>
                        <a:solidFill>
                          <a:srgbClr val="FF0000"/>
                        </a:solidFill>
                      </a:endParaRPr>
                    </a:p>
                  </a:txBody>
                  <a:tcPr marL="91450" marR="91450" marT="45725" marB="45725">
                    <a:lnR w="38100" algn="ctr">
                      <a:solidFill>
                        <a:schemeClr val="tx1"/>
                      </a:solidFill>
                    </a:lnR>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lnL w="38100" algn="ctr">
                      <a:solidFill>
                        <a:schemeClr val="tx1"/>
                      </a:solidFill>
                    </a:lnL>
                  </a:tcPr>
                </a:tc>
              </a:tr>
              <a:tr h="410125">
                <a:tc>
                  <a:txBody>
                    <a:bodyPr/>
                    <a:p>
                      <a:pPr marL="0" marR="0" lvl="0" indent="0" algn="l" rtl="0">
                        <a:spcBef>
                          <a:spcPts val="0"/>
                        </a:spcBef>
                        <a:spcAft>
                          <a:spcPts val="0"/>
                        </a:spcAft>
                        <a:buNone/>
                        <a:defRPr/>
                      </a:pPr>
                      <a:r>
                        <a:rPr lang="en-US" sz="1050" b="1"/>
                        <a:t>Procurement</a:t>
                      </a:r>
                      <a:endParaRPr/>
                    </a:p>
                  </a:txBody>
                  <a:tcPr marL="91450" marR="91450" marT="45725" marB="45725">
                    <a:lnR w="38100" algn="ctr">
                      <a:solidFill>
                        <a:schemeClr val="tx1"/>
                      </a:solidFill>
                    </a:lnR>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lnL w="38100" algn="ctr">
                      <a:solidFill>
                        <a:schemeClr val="tx1"/>
                      </a:solidFill>
                    </a:lnL>
                    <a:lnR w="38100" algn="ctr">
                      <a:solidFill>
                        <a:schemeClr val="tx1"/>
                      </a:solidFill>
                    </a:lnR>
                    <a:lnT w="12700" algn="ctr">
                      <a:noFill/>
                    </a:lnT>
                    <a:lnB w="12700" algn="ctr">
                      <a:noFill/>
                    </a:lnB>
                  </a:tcPr>
                </a:tc>
                <a:tc>
                  <a:txBody>
                    <a:bodyPr/>
                    <a:p>
                      <a:pPr marL="0" marR="0" lvl="0" indent="0" algn="l" rtl="0">
                        <a:spcBef>
                          <a:spcPts val="0"/>
                        </a:spcBef>
                        <a:spcAft>
                          <a:spcPts val="0"/>
                        </a:spcAft>
                        <a:buNone/>
                        <a:defRPr/>
                      </a:pPr>
                      <a:r>
                        <a:rPr lang="en-US" sz="1050">
                          <a:solidFill>
                            <a:srgbClr val="FF0000"/>
                          </a:solidFill>
                        </a:rPr>
                        <a:t>Plan Procurement Management</a:t>
                      </a:r>
                      <a:endParaRPr>
                        <a:solidFill>
                          <a:srgbClr val="FF0000"/>
                        </a:solidFill>
                      </a:endParaRPr>
                    </a:p>
                  </a:txBody>
                  <a:tcPr marL="91450" marR="91450" marT="45725" marB="45725">
                    <a:lnL w="38100" algn="ctr">
                      <a:solidFill>
                        <a:schemeClr val="tx1"/>
                      </a:solidFill>
                    </a:lnL>
                  </a:tcPr>
                </a:tc>
                <a:tc>
                  <a:txBody>
                    <a:bodyPr/>
                    <a:p>
                      <a:pPr marL="0" marR="0" lvl="0" indent="0" algn="l" rtl="0">
                        <a:spcBef>
                          <a:spcPts val="0"/>
                        </a:spcBef>
                        <a:spcAft>
                          <a:spcPts val="0"/>
                        </a:spcAft>
                        <a:buNone/>
                        <a:defRPr/>
                      </a:pPr>
                      <a:r>
                        <a:rPr lang="en-US" sz="1050">
                          <a:solidFill>
                            <a:srgbClr val="FF0000"/>
                          </a:solidFill>
                        </a:rPr>
                        <a:t>Conduct Procurements</a:t>
                      </a:r>
                      <a:endParaRPr>
                        <a:solidFill>
                          <a:srgbClr val="FF0000"/>
                        </a:solidFill>
                      </a:endParaRPr>
                    </a:p>
                  </a:txBody>
                  <a:tcPr marL="91450" marR="91450" marT="45725" marB="45725"/>
                </a:tc>
                <a:tc>
                  <a:txBody>
                    <a:bodyPr/>
                    <a:p>
                      <a:pPr marL="0" marR="0" lvl="0" indent="0" algn="l" rtl="0">
                        <a:spcBef>
                          <a:spcPts val="0"/>
                        </a:spcBef>
                        <a:spcAft>
                          <a:spcPts val="0"/>
                        </a:spcAft>
                        <a:buNone/>
                        <a:defRPr/>
                      </a:pPr>
                      <a:r>
                        <a:rPr lang="en-US" sz="1050">
                          <a:solidFill>
                            <a:srgbClr val="FF0000"/>
                          </a:solidFill>
                        </a:rPr>
                        <a:t>Control Procurements</a:t>
                      </a:r>
                      <a:endParaRPr>
                        <a:solidFill>
                          <a:srgbClr val="FF0000"/>
                        </a:solidFill>
                      </a:endParaRPr>
                    </a:p>
                  </a:txBody>
                  <a:tcPr marL="91450" marR="91450" marT="45725" marB="45725">
                    <a:lnR w="38100" algn="ctr">
                      <a:solidFill>
                        <a:schemeClr val="tx1"/>
                      </a:solidFill>
                    </a:lnR>
                  </a:tcPr>
                </a:tc>
                <a:tc>
                  <a:txBody>
                    <a:bodyPr/>
                    <a:p>
                      <a:pPr marL="0" marR="0" lvl="0" indent="0" algn="l" rtl="0">
                        <a:spcBef>
                          <a:spcPts val="0"/>
                        </a:spcBef>
                        <a:spcAft>
                          <a:spcPts val="0"/>
                        </a:spcAft>
                        <a:buNone/>
                        <a:defRPr/>
                      </a:pPr>
                      <a:r>
                        <a:rPr lang="en-US" sz="1050">
                          <a:solidFill>
                            <a:srgbClr val="FF0000"/>
                          </a:solidFill>
                        </a:rPr>
                        <a:t>Close Procurements</a:t>
                      </a:r>
                      <a:endParaRPr>
                        <a:solidFill>
                          <a:srgbClr val="FF0000"/>
                        </a:solidFill>
                      </a:endParaRPr>
                    </a:p>
                  </a:txBody>
                  <a:tcPr marL="91450" marR="91450" marT="45725" marB="45725">
                    <a:lnL w="38100" algn="ctr">
                      <a:solidFill>
                        <a:schemeClr val="tx1"/>
                      </a:solidFill>
                    </a:lnL>
                  </a:tcPr>
                </a:tc>
              </a:tr>
              <a:tr h="410125">
                <a:tc>
                  <a:txBody>
                    <a:bodyPr/>
                    <a:p>
                      <a:pPr marL="0" marR="0" lvl="0" indent="0" algn="l" rtl="0">
                        <a:spcBef>
                          <a:spcPts val="0"/>
                        </a:spcBef>
                        <a:spcAft>
                          <a:spcPts val="0"/>
                        </a:spcAft>
                        <a:buNone/>
                        <a:defRPr/>
                      </a:pPr>
                      <a:r>
                        <a:rPr lang="en-US" sz="1050" b="1"/>
                        <a:t>Stakeholder</a:t>
                      </a:r>
                      <a:endParaRPr/>
                    </a:p>
                  </a:txBody>
                  <a:tcPr marL="91450" marR="91450" marT="45725" marB="45725">
                    <a:lnR w="38100" algn="ctr">
                      <a:solidFill>
                        <a:schemeClr val="tx1"/>
                      </a:solidFill>
                    </a:lnR>
                  </a:tcPr>
                </a:tc>
                <a:tc>
                  <a:txBody>
                    <a:bodyPr/>
                    <a:p>
                      <a:pPr marL="0" marR="0" lvl="0" indent="0" algn="l" rtl="0">
                        <a:spcBef>
                          <a:spcPts val="0"/>
                        </a:spcBef>
                        <a:spcAft>
                          <a:spcPts val="0"/>
                        </a:spcAft>
                        <a:buNone/>
                        <a:defRPr/>
                      </a:pPr>
                      <a:r>
                        <a:rPr lang="en-US" sz="1050">
                          <a:solidFill>
                            <a:srgbClr val="FF0000"/>
                          </a:solidFill>
                        </a:rPr>
                        <a:t>Identify Stakeholders</a:t>
                      </a:r>
                      <a:endParaRPr>
                        <a:solidFill>
                          <a:srgbClr val="FF0000"/>
                        </a:solidFill>
                      </a:endParaRPr>
                    </a:p>
                  </a:txBody>
                  <a:tcPr marL="91450" marR="91450" marT="45725" marB="45725">
                    <a:lnL w="38100" algn="ctr">
                      <a:solidFill>
                        <a:schemeClr val="tx1"/>
                      </a:solidFill>
                    </a:lnL>
                    <a:lnR w="38100" algn="ctr">
                      <a:solidFill>
                        <a:schemeClr val="tx1"/>
                      </a:solidFill>
                    </a:lnR>
                    <a:lnT w="12700" algn="ctr">
                      <a:noFill/>
                    </a:lnT>
                    <a:lnB w="38100" algn="ctr">
                      <a:noFill/>
                    </a:lnB>
                  </a:tcPr>
                </a:tc>
                <a:tc>
                  <a:txBody>
                    <a:bodyPr/>
                    <a:p>
                      <a:pPr marL="0" marR="0" lvl="0" indent="0" algn="l" rtl="0">
                        <a:spcBef>
                          <a:spcPts val="0"/>
                        </a:spcBef>
                        <a:spcAft>
                          <a:spcPts val="0"/>
                        </a:spcAft>
                        <a:buNone/>
                        <a:defRPr/>
                      </a:pPr>
                      <a:r>
                        <a:rPr lang="en-US" sz="1050">
                          <a:solidFill>
                            <a:srgbClr val="FF0000"/>
                          </a:solidFill>
                        </a:rPr>
                        <a:t>Plan Stakeholder Management</a:t>
                      </a:r>
                      <a:endParaRPr>
                        <a:solidFill>
                          <a:srgbClr val="FF0000"/>
                        </a:solidFill>
                      </a:endParaRPr>
                    </a:p>
                  </a:txBody>
                  <a:tcPr marL="91450" marR="91450" marT="45725" marB="45725">
                    <a:lnL w="38100" algn="ctr">
                      <a:solidFill>
                        <a:schemeClr val="tx1"/>
                      </a:solidFill>
                    </a:lnL>
                  </a:tcPr>
                </a:tc>
                <a:tc>
                  <a:txBody>
                    <a:bodyPr/>
                    <a:p>
                      <a:pPr marL="0" marR="0" lvl="0" indent="0" algn="l" rtl="0">
                        <a:spcBef>
                          <a:spcPts val="0"/>
                        </a:spcBef>
                        <a:spcAft>
                          <a:spcPts val="0"/>
                        </a:spcAft>
                        <a:buNone/>
                        <a:defRPr/>
                      </a:pPr>
                      <a:r>
                        <a:rPr lang="en-US" sz="1050">
                          <a:solidFill>
                            <a:srgbClr val="FF0000"/>
                          </a:solidFill>
                        </a:rPr>
                        <a:t>Manage Stakeholder  Expectation</a:t>
                      </a:r>
                      <a:endParaRPr>
                        <a:solidFill>
                          <a:srgbClr val="FF0000"/>
                        </a:solidFill>
                      </a:endParaRPr>
                    </a:p>
                  </a:txBody>
                  <a:tcPr marL="91450" marR="91450" marT="45725" marB="45725"/>
                </a:tc>
                <a:tc>
                  <a:txBody>
                    <a:bodyPr/>
                    <a:p>
                      <a:pPr marL="0" marR="0" lvl="0" indent="0" algn="l" rtl="0">
                        <a:spcBef>
                          <a:spcPts val="0"/>
                        </a:spcBef>
                        <a:spcAft>
                          <a:spcPts val="0"/>
                        </a:spcAft>
                        <a:buNone/>
                        <a:defRPr/>
                      </a:pPr>
                      <a:r>
                        <a:rPr lang="en-US" sz="1050">
                          <a:solidFill>
                            <a:srgbClr val="FF0000"/>
                          </a:solidFill>
                        </a:rPr>
                        <a:t>Monitor Stakeholder  Engagement</a:t>
                      </a:r>
                      <a:endParaRPr>
                        <a:solidFill>
                          <a:srgbClr val="FF0000"/>
                        </a:solidFill>
                      </a:endParaRPr>
                    </a:p>
                  </a:txBody>
                  <a:tcPr marL="91450" marR="91450" marT="45725" marB="45725">
                    <a:lnR w="38100" algn="ctr">
                      <a:solidFill>
                        <a:schemeClr val="tx1"/>
                      </a:solidFill>
                    </a:lnR>
                  </a:tcPr>
                </a:tc>
                <a:tc>
                  <a:txBody>
                    <a:bodyPr/>
                    <a:p>
                      <a:pPr marL="0" marR="0" lvl="0" indent="0" algn="l" rtl="0">
                        <a:spcBef>
                          <a:spcPts val="0"/>
                        </a:spcBef>
                        <a:spcAft>
                          <a:spcPts val="0"/>
                        </a:spcAft>
                        <a:buNone/>
                        <a:defRPr/>
                      </a:pPr>
                      <a:endParaRPr sz="1050">
                        <a:solidFill>
                          <a:srgbClr val="FF0000"/>
                        </a:solidFill>
                      </a:endParaRPr>
                    </a:p>
                  </a:txBody>
                  <a:tcPr marL="91450" marR="91450" marT="45725" marB="45725">
                    <a:lnL w="38100" algn="ctr">
                      <a:solidFill>
                        <a:schemeClr val="tx1"/>
                      </a:solidFill>
                    </a:lnL>
                  </a:tcPr>
                </a:tc>
              </a:tr>
            </a:tbl>
          </a:graphicData>
        </a:graphic>
      </p:graphicFrame>
      <p:sp>
        <p:nvSpPr>
          <p:cNvPr id="2031982130" name="Google Shape;765;p4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49</a:t>
            </a:fld>
            <a:endParaRPr/>
          </a:p>
        </p:txBody>
      </p:sp>
      <p:sp>
        <p:nvSpPr>
          <p:cNvPr id="1764796931" name="TextBox 1"/>
          <p:cNvSpPr txBox="1"/>
          <p:nvPr/>
        </p:nvSpPr>
        <p:spPr bwMode="auto">
          <a:xfrm>
            <a:off x="1441173" y="-10565"/>
            <a:ext cx="1182757" cy="307777"/>
          </a:xfrm>
          <a:prstGeom prst="rect">
            <a:avLst/>
          </a:prstGeom>
          <a:noFill/>
        </p:spPr>
        <p:txBody>
          <a:bodyPr wrap="square" rtlCol="0">
            <a:spAutoFit/>
          </a:bodyPr>
          <a:lstStyle/>
          <a:p>
            <a:pPr>
              <a:defRPr/>
            </a:pPr>
            <a:r>
              <a:rPr lang="en-MY">
                <a:solidFill>
                  <a:srgbClr val="FF0000"/>
                </a:solidFill>
              </a:rPr>
              <a:t>PLC/S1 + 2</a:t>
            </a:r>
            <a:endParaRPr/>
          </a:p>
        </p:txBody>
      </p:sp>
      <p:sp>
        <p:nvSpPr>
          <p:cNvPr id="532022444" name="TextBox 2"/>
          <p:cNvSpPr txBox="1"/>
          <p:nvPr/>
        </p:nvSpPr>
        <p:spPr bwMode="auto">
          <a:xfrm>
            <a:off x="2902222" y="-10565"/>
            <a:ext cx="3193778" cy="307777"/>
          </a:xfrm>
          <a:prstGeom prst="rect">
            <a:avLst/>
          </a:prstGeom>
          <a:noFill/>
        </p:spPr>
        <p:txBody>
          <a:bodyPr wrap="square" rtlCol="0">
            <a:spAutoFit/>
          </a:bodyPr>
          <a:lstStyle/>
          <a:p>
            <a:pPr>
              <a:defRPr/>
            </a:pPr>
            <a:r>
              <a:rPr lang="en-MY">
                <a:solidFill>
                  <a:srgbClr val="FF0000"/>
                </a:solidFill>
              </a:rPr>
              <a:t>PLC/S3 (PERFORM THE PROJECT)</a:t>
            </a:r>
            <a:endParaRPr/>
          </a:p>
        </p:txBody>
      </p:sp>
      <p:sp>
        <p:nvSpPr>
          <p:cNvPr id="775988198" name="TextBox 3"/>
          <p:cNvSpPr txBox="1"/>
          <p:nvPr/>
        </p:nvSpPr>
        <p:spPr bwMode="auto">
          <a:xfrm>
            <a:off x="10750827" y="0"/>
            <a:ext cx="1182757" cy="307777"/>
          </a:xfrm>
          <a:prstGeom prst="rect">
            <a:avLst/>
          </a:prstGeom>
          <a:noFill/>
        </p:spPr>
        <p:txBody>
          <a:bodyPr wrap="square" rtlCol="0">
            <a:spAutoFit/>
          </a:bodyPr>
          <a:lstStyle/>
          <a:p>
            <a:pPr>
              <a:defRPr/>
            </a:pPr>
            <a:r>
              <a:rPr lang="en-MY">
                <a:solidFill>
                  <a:srgbClr val="FF0000"/>
                </a:solidFill>
              </a:rPr>
              <a:t>PLC/S4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53838468" name="Google Shape;770;p48"/>
          <p:cNvPicPr/>
          <p:nvPr/>
        </p:nvPicPr>
        <p:blipFill rotWithShape="1">
          <a:blip r:embed="rId3">
            <a:alphaModFix/>
          </a:blip>
          <a:srcRect l="26819" t="0" r="42164" b="0"/>
          <a:stretch/>
        </p:blipFill>
        <p:spPr bwMode="auto">
          <a:xfrm>
            <a:off x="8991600" y="-16274"/>
            <a:ext cx="3200400" cy="6867876"/>
          </a:xfrm>
          <a:prstGeom prst="rect">
            <a:avLst/>
          </a:prstGeom>
          <a:noFill/>
          <a:ln>
            <a:noFill/>
          </a:ln>
        </p:spPr>
      </p:pic>
      <p:sp>
        <p:nvSpPr>
          <p:cNvPr id="883532487" name="Google Shape;771;p48"/>
          <p:cNvSpPr txBox="1">
            <a:spLocks noGrp="1"/>
          </p:cNvSpPr>
          <p:nvPr>
            <p:ph type="title"/>
          </p:nvPr>
        </p:nvSpPr>
        <p:spPr bwMode="auto">
          <a:xfrm>
            <a:off x="343771" y="381441"/>
            <a:ext cx="7010399" cy="7159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defRPr/>
            </a:pPr>
            <a:r>
              <a:rPr lang="en-US" sz="4000" b="1"/>
              <a:t>Project Scope Management</a:t>
            </a:r>
            <a:endParaRPr sz="4000" b="1"/>
          </a:p>
        </p:txBody>
      </p:sp>
      <p:sp>
        <p:nvSpPr>
          <p:cNvPr id="377757464" name="Google Shape;772;p48"/>
          <p:cNvSpPr txBox="1"/>
          <p:nvPr/>
        </p:nvSpPr>
        <p:spPr bwMode="auto">
          <a:xfrm>
            <a:off x="381000" y="10668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sp>
        <p:nvSpPr>
          <p:cNvPr id="11960277" name="Google Shape;773;p48"/>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50</a:t>
            </a:fld>
            <a:endParaRPr/>
          </a:p>
        </p:txBody>
      </p:sp>
      <p:cxnSp>
        <p:nvCxnSpPr>
          <p:cNvPr id="1890872856" name="Google Shape;774;p48"/>
          <p:cNvCxnSpPr/>
          <p:nvPr/>
        </p:nvCxnSpPr>
        <p:spPr bwMode="auto">
          <a:xfrm rot="10800000">
            <a:off x="496172" y="1540315"/>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559990496" name="Google Shape;775;p48"/>
          <p:cNvSpPr txBox="1"/>
          <p:nvPr/>
        </p:nvSpPr>
        <p:spPr bwMode="auto">
          <a:xfrm>
            <a:off x="496172" y="2057400"/>
            <a:ext cx="8114428" cy="4419601"/>
          </a:xfrm>
          <a:prstGeom prst="rect">
            <a:avLst/>
          </a:prstGeom>
          <a:noFill/>
          <a:ln>
            <a:noFill/>
          </a:ln>
        </p:spPr>
        <p:txBody>
          <a:bodyPr spcFirstLastPara="1" wrap="square" lIns="91425" tIns="45700" rIns="91425" bIns="45700" anchor="t" anchorCtr="0">
            <a:normAutofit lnSpcReduction="10000"/>
          </a:bodyPr>
          <a:lstStyle/>
          <a:p>
            <a:pPr marL="228600" marR="0" lvl="0" indent="-228600" algn="l" rtl="0">
              <a:lnSpc>
                <a:spcPct val="90000"/>
              </a:lnSpc>
              <a:spcBef>
                <a:spcPts val="0"/>
              </a:spcBef>
              <a:spcAft>
                <a:spcPts val="0"/>
              </a:spcAft>
              <a:buClr>
                <a:schemeClr val="dk1"/>
              </a:buClr>
              <a:buSzPct val="100000"/>
              <a:buFont typeface="Arial"/>
              <a:buChar char="•"/>
              <a:defRPr/>
            </a:pPr>
            <a:r>
              <a:rPr lang="en-US" sz="2800" b="1">
                <a:solidFill>
                  <a:schemeClr val="tx1"/>
                </a:solidFill>
                <a:latin typeface="Calibri"/>
                <a:ea typeface="Calibri"/>
                <a:cs typeface="Calibri"/>
              </a:rPr>
              <a:t>Define and control what work is and is </a:t>
            </a:r>
            <a:r>
              <a:rPr lang="en-US" sz="2800" b="1" u="sng">
                <a:solidFill>
                  <a:schemeClr val="tx1"/>
                </a:solidFill>
                <a:latin typeface="Calibri"/>
                <a:ea typeface="Calibri"/>
                <a:cs typeface="Calibri"/>
              </a:rPr>
              <a:t>not included </a:t>
            </a:r>
            <a:r>
              <a:rPr lang="en-US" sz="2800" b="1">
                <a:solidFill>
                  <a:schemeClr val="tx1"/>
                </a:solidFill>
                <a:latin typeface="Calibri"/>
                <a:ea typeface="Calibri"/>
                <a:cs typeface="Calibri"/>
              </a:rPr>
              <a:t>in a project.</a:t>
            </a:r>
            <a:endParaRPr b="1">
              <a:solidFill>
                <a:schemeClr val="tx1"/>
              </a:solidFill>
            </a:endParaRPr>
          </a:p>
          <a:p>
            <a:pPr marL="228600" marR="0" lvl="0" indent="-228600" algn="l" rtl="0">
              <a:lnSpc>
                <a:spcPct val="90000"/>
              </a:lnSpc>
              <a:spcBef>
                <a:spcPts val="600"/>
              </a:spcBef>
              <a:spcAft>
                <a:spcPts val="0"/>
              </a:spcAft>
              <a:buClr>
                <a:schemeClr val="dk1"/>
              </a:buClr>
              <a:buSzPct val="100000"/>
              <a:buFont typeface="Arial"/>
              <a:buChar char="•"/>
              <a:defRPr/>
            </a:pPr>
            <a:r>
              <a:rPr lang="en-US" sz="2800">
                <a:solidFill>
                  <a:schemeClr val="tx1"/>
                </a:solidFill>
                <a:latin typeface="Calibri"/>
                <a:ea typeface="Calibri"/>
                <a:cs typeface="Calibri"/>
              </a:rPr>
              <a:t>ensures that the project team and stakeholders have the same understanding of deliverable (products) and what processes the project team will use to produce them.</a:t>
            </a:r>
            <a:endParaRPr>
              <a:solidFill>
                <a:schemeClr val="tx1"/>
              </a:solidFill>
            </a:endParaRPr>
          </a:p>
          <a:p>
            <a:pPr marL="228600" marR="0" lvl="0" indent="-228600" algn="l" rtl="0">
              <a:lnSpc>
                <a:spcPct val="90000"/>
              </a:lnSpc>
              <a:spcBef>
                <a:spcPts val="600"/>
              </a:spcBef>
              <a:spcAft>
                <a:spcPts val="0"/>
              </a:spcAft>
              <a:buClr>
                <a:schemeClr val="dk1"/>
              </a:buClr>
              <a:buSzPct val="100000"/>
              <a:buFont typeface="Arial"/>
              <a:buChar char="•"/>
              <a:defRPr/>
            </a:pPr>
            <a:r>
              <a:rPr lang="en-US" sz="2800" b="1">
                <a:solidFill>
                  <a:schemeClr val="tx1"/>
                </a:solidFill>
                <a:latin typeface="Calibri"/>
                <a:ea typeface="Calibri"/>
                <a:cs typeface="Calibri"/>
              </a:rPr>
              <a:t>6 main processes:</a:t>
            </a:r>
            <a:endParaRPr b="1">
              <a:solidFill>
                <a:schemeClr val="tx1"/>
              </a:solidFill>
            </a:endParaRPr>
          </a:p>
          <a:p>
            <a:pPr marL="914400" marR="0" lvl="1" indent="-457200" algn="l" rtl="0">
              <a:lnSpc>
                <a:spcPct val="90000"/>
              </a:lnSpc>
              <a:spcBef>
                <a:spcPts val="0"/>
              </a:spcBef>
              <a:spcAft>
                <a:spcPts val="0"/>
              </a:spcAft>
              <a:buClr>
                <a:schemeClr val="dk1"/>
              </a:buClr>
              <a:buSzPct val="100000"/>
              <a:buFont typeface="Times New Roman"/>
              <a:buAutoNum type="arabicPeriod"/>
              <a:defRPr/>
            </a:pPr>
            <a:r>
              <a:rPr lang="en-US" sz="2400" i="0" u="none" strike="noStrike" cap="none">
                <a:solidFill>
                  <a:schemeClr val="tx1"/>
                </a:solidFill>
                <a:latin typeface="Calibri"/>
                <a:ea typeface="Calibri"/>
                <a:cs typeface="Calibri"/>
              </a:rPr>
              <a:t>Plan scope management</a:t>
            </a:r>
            <a:endParaRPr>
              <a:solidFill>
                <a:schemeClr val="tx1"/>
              </a:solidFill>
            </a:endParaRPr>
          </a:p>
          <a:p>
            <a:pPr marL="914400" marR="0" lvl="1" indent="-457200" algn="l" rtl="0">
              <a:lnSpc>
                <a:spcPct val="90000"/>
              </a:lnSpc>
              <a:spcBef>
                <a:spcPts val="0"/>
              </a:spcBef>
              <a:spcAft>
                <a:spcPts val="0"/>
              </a:spcAft>
              <a:buClr>
                <a:schemeClr val="dk1"/>
              </a:buClr>
              <a:buSzPct val="100000"/>
              <a:buFont typeface="Times New Roman"/>
              <a:buAutoNum type="arabicPeriod"/>
              <a:defRPr/>
            </a:pPr>
            <a:r>
              <a:rPr lang="en-US" sz="2400" i="0" u="none" strike="noStrike" cap="none">
                <a:solidFill>
                  <a:schemeClr val="tx1"/>
                </a:solidFill>
                <a:latin typeface="Calibri"/>
                <a:ea typeface="Calibri"/>
                <a:cs typeface="Calibri"/>
              </a:rPr>
              <a:t>Collect requirements</a:t>
            </a:r>
            <a:endParaRPr>
              <a:solidFill>
                <a:schemeClr val="tx1"/>
              </a:solidFill>
            </a:endParaRPr>
          </a:p>
          <a:p>
            <a:pPr marL="914400" marR="0" lvl="1" indent="-457200" algn="l" rtl="0">
              <a:lnSpc>
                <a:spcPct val="90000"/>
              </a:lnSpc>
              <a:spcBef>
                <a:spcPts val="0"/>
              </a:spcBef>
              <a:spcAft>
                <a:spcPts val="0"/>
              </a:spcAft>
              <a:buClr>
                <a:schemeClr val="dk1"/>
              </a:buClr>
              <a:buSzPct val="100000"/>
              <a:buFont typeface="Times New Roman"/>
              <a:buAutoNum type="arabicPeriod"/>
              <a:defRPr/>
            </a:pPr>
            <a:r>
              <a:rPr lang="en-US" sz="2400" i="0" u="none" strike="noStrike" cap="none">
                <a:solidFill>
                  <a:schemeClr val="tx1"/>
                </a:solidFill>
                <a:latin typeface="Calibri"/>
                <a:ea typeface="Calibri"/>
                <a:cs typeface="Calibri"/>
              </a:rPr>
              <a:t>Define scope</a:t>
            </a:r>
            <a:endParaRPr>
              <a:solidFill>
                <a:schemeClr val="tx1"/>
              </a:solidFill>
            </a:endParaRPr>
          </a:p>
          <a:p>
            <a:pPr marL="914400" marR="0" lvl="1" indent="-457200" algn="l" rtl="0">
              <a:lnSpc>
                <a:spcPct val="90000"/>
              </a:lnSpc>
              <a:spcBef>
                <a:spcPts val="0"/>
              </a:spcBef>
              <a:spcAft>
                <a:spcPts val="0"/>
              </a:spcAft>
              <a:buClr>
                <a:schemeClr val="dk1"/>
              </a:buClr>
              <a:buSzPct val="100000"/>
              <a:buFont typeface="Times New Roman"/>
              <a:buAutoNum type="arabicPeriod"/>
              <a:defRPr/>
            </a:pPr>
            <a:r>
              <a:rPr lang="en-US" sz="2400" i="0" u="none" strike="noStrike" cap="none">
                <a:solidFill>
                  <a:schemeClr val="tx1"/>
                </a:solidFill>
                <a:latin typeface="Calibri"/>
                <a:ea typeface="Calibri"/>
                <a:cs typeface="Calibri"/>
              </a:rPr>
              <a:t>Create WBS</a:t>
            </a:r>
            <a:endParaRPr>
              <a:solidFill>
                <a:schemeClr val="tx1"/>
              </a:solidFill>
            </a:endParaRPr>
          </a:p>
          <a:p>
            <a:pPr marL="914400" marR="0" lvl="1" indent="-457200" algn="l" rtl="0">
              <a:lnSpc>
                <a:spcPct val="90000"/>
              </a:lnSpc>
              <a:spcBef>
                <a:spcPts val="0"/>
              </a:spcBef>
              <a:spcAft>
                <a:spcPts val="0"/>
              </a:spcAft>
              <a:buClr>
                <a:schemeClr val="dk1"/>
              </a:buClr>
              <a:buSzPct val="100000"/>
              <a:buFont typeface="Times New Roman"/>
              <a:buAutoNum type="arabicPeriod"/>
              <a:defRPr/>
            </a:pPr>
            <a:r>
              <a:rPr lang="en-US" sz="2400" i="0" u="none" strike="noStrike" cap="none">
                <a:solidFill>
                  <a:schemeClr val="tx1"/>
                </a:solidFill>
                <a:latin typeface="Calibri"/>
                <a:ea typeface="Calibri"/>
                <a:cs typeface="Calibri"/>
              </a:rPr>
              <a:t>Validate scope</a:t>
            </a:r>
            <a:endParaRPr>
              <a:solidFill>
                <a:schemeClr val="tx1"/>
              </a:solidFill>
            </a:endParaRPr>
          </a:p>
          <a:p>
            <a:pPr marL="914400" marR="0" lvl="1" indent="-457200" algn="l" rtl="0">
              <a:lnSpc>
                <a:spcPct val="90000"/>
              </a:lnSpc>
              <a:spcBef>
                <a:spcPts val="0"/>
              </a:spcBef>
              <a:spcAft>
                <a:spcPts val="0"/>
              </a:spcAft>
              <a:buClr>
                <a:schemeClr val="dk1"/>
              </a:buClr>
              <a:buSzPct val="100000"/>
              <a:buFont typeface="Times New Roman"/>
              <a:buAutoNum type="arabicPeriod"/>
              <a:defRPr/>
            </a:pPr>
            <a:r>
              <a:rPr lang="en-US" sz="2400" i="0" u="none" strike="noStrike" cap="none">
                <a:solidFill>
                  <a:schemeClr val="tx1"/>
                </a:solidFill>
                <a:latin typeface="Calibri"/>
                <a:ea typeface="Calibri"/>
                <a:cs typeface="Calibri"/>
              </a:rPr>
              <a:t>Control scope</a:t>
            </a:r>
            <a:endParaRPr>
              <a:solidFill>
                <a:schemeClr val="tx1"/>
              </a:solidFill>
            </a:endParaRPr>
          </a:p>
        </p:txBody>
      </p:sp>
      <p:sp>
        <p:nvSpPr>
          <p:cNvPr id="2004212742" name="TextBox 1"/>
          <p:cNvSpPr txBox="1"/>
          <p:nvPr/>
        </p:nvSpPr>
        <p:spPr bwMode="auto">
          <a:xfrm>
            <a:off x="6544976" y="2375452"/>
            <a:ext cx="1212574" cy="307777"/>
          </a:xfrm>
          <a:prstGeom prst="rect">
            <a:avLst/>
          </a:prstGeom>
          <a:noFill/>
        </p:spPr>
        <p:txBody>
          <a:bodyPr wrap="square" rtlCol="0">
            <a:spAutoFit/>
          </a:bodyPr>
          <a:lstStyle/>
          <a:p>
            <a:pPr>
              <a:defRPr/>
            </a:pPr>
            <a:r>
              <a:rPr lang="en-MY" i="1"/>
              <a:t>(Exclusion)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l"/>
      </p:transition>
    </mc:Choice>
    <mc:Fallback>
      <p:transition spd="slow" advClick="1">
        <p:push dir="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883532487"/>
                                        </p:tgtEl>
                                        <p:attrNameLst>
                                          <p:attrName>style.visibility</p:attrName>
                                        </p:attrNameLst>
                                      </p:cBhvr>
                                      <p:to>
                                        <p:strVal val="visible"/>
                                      </p:to>
                                    </p:set>
                                    <p:anim calcmode="lin" valueType="num">
                                      <p:cBhvr additive="base">
                                        <p:cTn id="7" dur="500" fill="hold"/>
                                        <p:tgtEl>
                                          <p:spTgt spid="883532487"/>
                                        </p:tgtEl>
                                        <p:attrNameLst>
                                          <p:attrName>ppt_x</p:attrName>
                                        </p:attrNameLst>
                                      </p:cBhvr>
                                      <p:tavLst>
                                        <p:tav tm="0">
                                          <p:val>
                                            <p:strVal val="#ppt_x"/>
                                          </p:val>
                                        </p:tav>
                                        <p:tav tm="100000">
                                          <p:val>
                                            <p:strVal val="#ppt_x"/>
                                          </p:val>
                                        </p:tav>
                                      </p:tavLst>
                                    </p:anim>
                                    <p:anim calcmode="lin" valueType="num">
                                      <p:cBhvr additive="base">
                                        <p:cTn id="8" dur="500" fill="hold"/>
                                        <p:tgtEl>
                                          <p:spTgt spid="88353248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559990496">
                                            <p:txEl>
                                              <p:pRg st="2" end="2"/>
                                            </p:txEl>
                                          </p:spTgt>
                                        </p:tgtEl>
                                        <p:attrNameLst>
                                          <p:attrName>style.visibility</p:attrName>
                                        </p:attrNameLst>
                                      </p:cBhvr>
                                      <p:to>
                                        <p:strVal val="visible"/>
                                      </p:to>
                                    </p:set>
                                    <p:animEffect transition="in" filter="wipe(left)">
                                      <p:cBhvr>
                                        <p:cTn id="13" dur="500"/>
                                        <p:tgtEl>
                                          <p:spTgt spid="559990496">
                                            <p:txEl>
                                              <p:pRg st="2" end="2"/>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559990496">
                                            <p:txEl>
                                              <p:pRg st="3" end="3"/>
                                            </p:txEl>
                                          </p:spTgt>
                                        </p:tgtEl>
                                        <p:attrNameLst>
                                          <p:attrName>style.visibility</p:attrName>
                                        </p:attrNameLst>
                                      </p:cBhvr>
                                      <p:to>
                                        <p:strVal val="visible"/>
                                      </p:to>
                                    </p:set>
                                    <p:animEffect transition="in" filter="wipe(left)">
                                      <p:cBhvr>
                                        <p:cTn id="16" dur="500"/>
                                        <p:tgtEl>
                                          <p:spTgt spid="559990496">
                                            <p:txEl>
                                              <p:pRg st="3" end="3"/>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559990496">
                                            <p:txEl>
                                              <p:pRg st="4" end="4"/>
                                            </p:txEl>
                                          </p:spTgt>
                                        </p:tgtEl>
                                        <p:attrNameLst>
                                          <p:attrName>style.visibility</p:attrName>
                                        </p:attrNameLst>
                                      </p:cBhvr>
                                      <p:to>
                                        <p:strVal val="visible"/>
                                      </p:to>
                                    </p:set>
                                    <p:animEffect transition="in" filter="wipe(left)">
                                      <p:cBhvr>
                                        <p:cTn id="19" dur="500"/>
                                        <p:tgtEl>
                                          <p:spTgt spid="559990496">
                                            <p:txEl>
                                              <p:pRg st="4" end="4"/>
                                            </p:txEl>
                                          </p:spTgt>
                                        </p:tgtEl>
                                      </p:cBhvr>
                                    </p:animEffect>
                                  </p:childTnLst>
                                </p:cTn>
                              </p:par>
                              <p:par>
                                <p:cTn id="20" presetID="22" presetClass="entr" presetSubtype="8" fill="hold" nodeType="withEffect">
                                  <p:stCondLst>
                                    <p:cond delay="0"/>
                                  </p:stCondLst>
                                  <p:childTnLst>
                                    <p:set>
                                      <p:cBhvr>
                                        <p:cTn id="21" dur="1" fill="hold">
                                          <p:stCondLst>
                                            <p:cond delay="0"/>
                                          </p:stCondLst>
                                        </p:cTn>
                                        <p:tgtEl>
                                          <p:spTgt spid="559990496">
                                            <p:txEl>
                                              <p:pRg st="5" end="5"/>
                                            </p:txEl>
                                          </p:spTgt>
                                        </p:tgtEl>
                                        <p:attrNameLst>
                                          <p:attrName>style.visibility</p:attrName>
                                        </p:attrNameLst>
                                      </p:cBhvr>
                                      <p:to>
                                        <p:strVal val="visible"/>
                                      </p:to>
                                    </p:set>
                                    <p:animEffect transition="in" filter="wipe(left)">
                                      <p:cBhvr>
                                        <p:cTn id="22" dur="500"/>
                                        <p:tgtEl>
                                          <p:spTgt spid="559990496">
                                            <p:txEl>
                                              <p:pRg st="5" end="5"/>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559990496">
                                            <p:txEl>
                                              <p:pRg st="6" end="6"/>
                                            </p:txEl>
                                          </p:spTgt>
                                        </p:tgtEl>
                                        <p:attrNameLst>
                                          <p:attrName>style.visibility</p:attrName>
                                        </p:attrNameLst>
                                      </p:cBhvr>
                                      <p:to>
                                        <p:strVal val="visible"/>
                                      </p:to>
                                    </p:set>
                                    <p:animEffect transition="in" filter="wipe(left)">
                                      <p:cBhvr>
                                        <p:cTn id="25" dur="500"/>
                                        <p:tgtEl>
                                          <p:spTgt spid="559990496">
                                            <p:txEl>
                                              <p:pRg st="6" end="6"/>
                                            </p:txEl>
                                          </p:spTgt>
                                        </p:tgtEl>
                                      </p:cBhvr>
                                    </p:animEffect>
                                  </p:childTnLst>
                                </p:cTn>
                              </p:par>
                              <p:par>
                                <p:cTn id="26" presetID="22" presetClass="entr" presetSubtype="8" fill="hold" nodeType="withEffect">
                                  <p:stCondLst>
                                    <p:cond delay="0"/>
                                  </p:stCondLst>
                                  <p:childTnLst>
                                    <p:set>
                                      <p:cBhvr>
                                        <p:cTn id="27" dur="1" fill="hold">
                                          <p:stCondLst>
                                            <p:cond delay="0"/>
                                          </p:stCondLst>
                                        </p:cTn>
                                        <p:tgtEl>
                                          <p:spTgt spid="559990496">
                                            <p:txEl>
                                              <p:pRg st="7" end="7"/>
                                            </p:txEl>
                                          </p:spTgt>
                                        </p:tgtEl>
                                        <p:attrNameLst>
                                          <p:attrName>style.visibility</p:attrName>
                                        </p:attrNameLst>
                                      </p:cBhvr>
                                      <p:to>
                                        <p:strVal val="visible"/>
                                      </p:to>
                                    </p:set>
                                    <p:animEffect transition="in" filter="wipe(left)">
                                      <p:cBhvr>
                                        <p:cTn id="28" dur="500"/>
                                        <p:tgtEl>
                                          <p:spTgt spid="559990496">
                                            <p:txEl>
                                              <p:pRg st="7" end="7"/>
                                            </p:txEl>
                                          </p:spTgt>
                                        </p:tgtEl>
                                      </p:cBhvr>
                                    </p:animEffect>
                                  </p:childTnLst>
                                </p:cTn>
                              </p:par>
                              <p:par>
                                <p:cTn id="29" presetID="22" presetClass="entr" presetSubtype="8" fill="hold" nodeType="withEffect">
                                  <p:stCondLst>
                                    <p:cond delay="0"/>
                                  </p:stCondLst>
                                  <p:childTnLst>
                                    <p:set>
                                      <p:cBhvr>
                                        <p:cTn id="30" dur="1" fill="hold">
                                          <p:stCondLst>
                                            <p:cond delay="0"/>
                                          </p:stCondLst>
                                        </p:cTn>
                                        <p:tgtEl>
                                          <p:spTgt spid="559990496">
                                            <p:txEl>
                                              <p:pRg st="8" end="8"/>
                                            </p:txEl>
                                          </p:spTgt>
                                        </p:tgtEl>
                                        <p:attrNameLst>
                                          <p:attrName>style.visibility</p:attrName>
                                        </p:attrNameLst>
                                      </p:cBhvr>
                                      <p:to>
                                        <p:strVal val="visible"/>
                                      </p:to>
                                    </p:set>
                                    <p:animEffect transition="in" filter="wipe(left)">
                                      <p:cBhvr>
                                        <p:cTn id="31" dur="500"/>
                                        <p:tgtEl>
                                          <p:spTgt spid="55999049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3532487" grpId="0"/>
    </p:bldLst>
  </p:timing>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16688406" name="Google Shape;780;p49"/>
          <p:cNvPicPr/>
          <p:nvPr/>
        </p:nvPicPr>
        <p:blipFill rotWithShape="1">
          <a:blip r:embed="rId3">
            <a:alphaModFix/>
          </a:blip>
          <a:srcRect l="26819" t="0" r="42164" b="0"/>
          <a:stretch/>
        </p:blipFill>
        <p:spPr bwMode="auto">
          <a:xfrm>
            <a:off x="8991600" y="-16274"/>
            <a:ext cx="3200400" cy="6867876"/>
          </a:xfrm>
          <a:prstGeom prst="rect">
            <a:avLst/>
          </a:prstGeom>
          <a:noFill/>
          <a:ln>
            <a:noFill/>
          </a:ln>
        </p:spPr>
      </p:pic>
      <p:sp>
        <p:nvSpPr>
          <p:cNvPr id="75381546" name="Google Shape;781;p49"/>
          <p:cNvSpPr txBox="1">
            <a:spLocks noGrp="1"/>
          </p:cNvSpPr>
          <p:nvPr>
            <p:ph type="body" idx="1"/>
          </p:nvPr>
        </p:nvSpPr>
        <p:spPr bwMode="auto">
          <a:xfrm>
            <a:off x="479303" y="3613990"/>
            <a:ext cx="8714393" cy="2863010"/>
          </a:xfrm>
          <a:prstGeom prst="rect">
            <a:avLst/>
          </a:prstGeom>
          <a:noFill/>
          <a:ln>
            <a:noFill/>
          </a:ln>
        </p:spPr>
        <p:txBody>
          <a:bodyPr spcFirstLastPara="1" wrap="square" lIns="91425" tIns="45700" rIns="91425" bIns="45700" anchor="t" anchorCtr="0">
            <a:normAutofit/>
          </a:bodyPr>
          <a:lstStyle/>
          <a:p>
            <a:pPr marL="514350" lvl="0" indent="-514350" algn="l" rtl="0">
              <a:lnSpc>
                <a:spcPct val="90000"/>
              </a:lnSpc>
              <a:spcBef>
                <a:spcPts val="0"/>
              </a:spcBef>
              <a:spcAft>
                <a:spcPts val="0"/>
              </a:spcAft>
              <a:buClr>
                <a:schemeClr val="dk1"/>
              </a:buClr>
              <a:buSzPts val="2800"/>
              <a:buAutoNum type="arabicPeriod"/>
              <a:defRPr/>
            </a:pPr>
            <a:r>
              <a:rPr lang="en-US" b="1" u="sng"/>
              <a:t>Plan</a:t>
            </a:r>
            <a:r>
              <a:rPr lang="en-US" b="1"/>
              <a:t> scope management</a:t>
            </a:r>
            <a:endParaRPr/>
          </a:p>
          <a:p>
            <a:pPr marL="514350" lvl="0" indent="-514350" algn="l" rtl="0">
              <a:lnSpc>
                <a:spcPct val="90000"/>
              </a:lnSpc>
              <a:spcBef>
                <a:spcPts val="0"/>
              </a:spcBef>
              <a:spcAft>
                <a:spcPts val="0"/>
              </a:spcAft>
              <a:buClr>
                <a:schemeClr val="dk1"/>
              </a:buClr>
              <a:buSzPts val="2800"/>
              <a:buAutoNum type="arabicPeriod"/>
              <a:defRPr/>
            </a:pPr>
            <a:endParaRPr lang="en-US" sz="1000" b="1"/>
          </a:p>
          <a:p>
            <a:pPr marL="536575" indent="0">
              <a:spcBef>
                <a:spcPts val="0"/>
              </a:spcBef>
              <a:buSzPts val="2800"/>
              <a:buNone/>
              <a:defRPr/>
            </a:pPr>
            <a:r>
              <a:rPr lang="en-US" b="1"/>
              <a:t>Scope</a:t>
            </a:r>
            <a:r>
              <a:rPr lang="en-US"/>
              <a:t> defines what work will be done and what won’t.</a:t>
            </a:r>
            <a:endParaRPr/>
          </a:p>
          <a:p>
            <a:pPr marL="514350" lvl="0" indent="-514350" algn="l" rtl="0">
              <a:lnSpc>
                <a:spcPct val="90000"/>
              </a:lnSpc>
              <a:spcBef>
                <a:spcPts val="0"/>
              </a:spcBef>
              <a:spcAft>
                <a:spcPts val="0"/>
              </a:spcAft>
              <a:buClr>
                <a:schemeClr val="dk1"/>
              </a:buClr>
              <a:buSzPts val="2800"/>
              <a:buAutoNum type="arabicPeriod"/>
              <a:defRPr/>
            </a:pPr>
            <a:endParaRPr sz="1000"/>
          </a:p>
          <a:p>
            <a:pPr marL="536575" lvl="1" indent="0" algn="l" rtl="0">
              <a:lnSpc>
                <a:spcPct val="90000"/>
              </a:lnSpc>
              <a:spcBef>
                <a:spcPts val="500"/>
              </a:spcBef>
              <a:spcAft>
                <a:spcPts val="0"/>
              </a:spcAft>
              <a:buClr>
                <a:schemeClr val="dk1"/>
              </a:buClr>
              <a:buSzPts val="2400"/>
              <a:buNone/>
              <a:defRPr/>
            </a:pPr>
            <a:r>
              <a:rPr lang="en-US" sz="2800" b="1">
                <a:solidFill>
                  <a:schemeClr val="tx1"/>
                </a:solidFill>
              </a:rPr>
              <a:t>Scope </a:t>
            </a:r>
            <a:r>
              <a:rPr lang="en-US" sz="2800" b="1">
                <a:solidFill>
                  <a:schemeClr val="tx1"/>
                </a:solidFill>
              </a:rPr>
              <a:t>mgmt</a:t>
            </a:r>
            <a:r>
              <a:rPr lang="en-US" sz="2800" b="1">
                <a:solidFill>
                  <a:schemeClr val="tx1"/>
                </a:solidFill>
              </a:rPr>
              <a:t> define </a:t>
            </a:r>
            <a:r>
              <a:rPr lang="en-US" sz="2800" b="1"/>
              <a:t>how scope will be </a:t>
            </a:r>
            <a:r>
              <a:rPr lang="en-US" sz="2800" b="1" u="sng"/>
              <a:t>managed</a:t>
            </a:r>
            <a:r>
              <a:rPr lang="en-US" sz="2800" b="1"/>
              <a:t> </a:t>
            </a:r>
            <a:r>
              <a:rPr lang="en-US" sz="2800"/>
              <a:t>throughout the project</a:t>
            </a:r>
            <a:endParaRPr sz="2800"/>
          </a:p>
        </p:txBody>
      </p:sp>
      <p:sp>
        <p:nvSpPr>
          <p:cNvPr id="551277818" name="Google Shape;782;p49"/>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51</a:t>
            </a:fld>
            <a:endParaRPr/>
          </a:p>
        </p:txBody>
      </p:sp>
      <p:grpSp>
        <p:nvGrpSpPr>
          <p:cNvPr id="319612597" name="Google Shape;783;p49"/>
          <p:cNvGrpSpPr/>
          <p:nvPr/>
        </p:nvGrpSpPr>
        <p:grpSpPr bwMode="auto">
          <a:xfrm>
            <a:off x="484735" y="2257721"/>
            <a:ext cx="11114335" cy="808315"/>
            <a:chOff x="5432" y="200321"/>
            <a:chExt cx="11114335" cy="808315"/>
          </a:xfrm>
        </p:grpSpPr>
        <p:sp>
          <p:nvSpPr>
            <p:cNvPr id="784" name="Google Shape;784;p49"/>
            <p:cNvSpPr/>
            <p:nvPr/>
          </p:nvSpPr>
          <p:spPr bwMode="auto">
            <a:xfrm>
              <a:off x="5432" y="200321"/>
              <a:ext cx="2020788" cy="808315"/>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85" name="Google Shape;785;p49"/>
            <p:cNvSpPr txBox="1"/>
            <p:nvPr/>
          </p:nvSpPr>
          <p:spPr bwMode="auto">
            <a:xfrm>
              <a:off x="409590"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1">
                  <a:solidFill>
                    <a:schemeClr val="lt1"/>
                  </a:solidFill>
                  <a:latin typeface="Calibri"/>
                  <a:ea typeface="Calibri"/>
                  <a:cs typeface="Calibri"/>
                </a:rPr>
                <a:t>1.              Plan scope management</a:t>
              </a:r>
              <a:endParaRPr/>
            </a:p>
          </p:txBody>
        </p:sp>
        <p:sp>
          <p:nvSpPr>
            <p:cNvPr id="786" name="Google Shape;786;p49"/>
            <p:cNvSpPr/>
            <p:nvPr/>
          </p:nvSpPr>
          <p:spPr bwMode="auto">
            <a:xfrm>
              <a:off x="1824141"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87" name="Google Shape;787;p49"/>
            <p:cNvSpPr txBox="1"/>
            <p:nvPr/>
          </p:nvSpPr>
          <p:spPr bwMode="auto">
            <a:xfrm>
              <a:off x="2228299"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2. </a:t>
              </a:r>
              <a:br>
                <a:rPr lang="en-US" sz="1600">
                  <a:solidFill>
                    <a:schemeClr val="lt1"/>
                  </a:solidFill>
                  <a:latin typeface="Calibri"/>
                  <a:ea typeface="Calibri"/>
                  <a:cs typeface="Calibri"/>
                </a:rPr>
              </a:br>
              <a:r>
                <a:rPr lang="en-US" sz="1600">
                  <a:solidFill>
                    <a:schemeClr val="lt1"/>
                  </a:solidFill>
                  <a:latin typeface="Calibri"/>
                  <a:ea typeface="Calibri"/>
                  <a:cs typeface="Calibri"/>
                </a:rPr>
                <a:t>Collect requirements</a:t>
              </a:r>
              <a:endParaRPr/>
            </a:p>
          </p:txBody>
        </p:sp>
        <p:sp>
          <p:nvSpPr>
            <p:cNvPr id="788" name="Google Shape;788;p49"/>
            <p:cNvSpPr/>
            <p:nvPr/>
          </p:nvSpPr>
          <p:spPr bwMode="auto">
            <a:xfrm>
              <a:off x="3642851"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89" name="Google Shape;789;p49"/>
            <p:cNvSpPr txBox="1"/>
            <p:nvPr/>
          </p:nvSpPr>
          <p:spPr bwMode="auto">
            <a:xfrm>
              <a:off x="4047009"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3. </a:t>
              </a:r>
              <a:br>
                <a:rPr lang="en-US" sz="1600">
                  <a:solidFill>
                    <a:schemeClr val="lt1"/>
                  </a:solidFill>
                  <a:latin typeface="Calibri"/>
                  <a:ea typeface="Calibri"/>
                  <a:cs typeface="Calibri"/>
                </a:rPr>
              </a:br>
              <a:r>
                <a:rPr lang="en-US" sz="1600">
                  <a:solidFill>
                    <a:schemeClr val="lt1"/>
                  </a:solidFill>
                  <a:latin typeface="Calibri"/>
                  <a:ea typeface="Calibri"/>
                  <a:cs typeface="Calibri"/>
                </a:rPr>
                <a:t>Define </a:t>
              </a:r>
              <a:br>
                <a:rPr lang="en-US" sz="1600">
                  <a:solidFill>
                    <a:schemeClr val="lt1"/>
                  </a:solidFill>
                  <a:latin typeface="Calibri"/>
                  <a:ea typeface="Calibri"/>
                  <a:cs typeface="Calibri"/>
                </a:rPr>
              </a:br>
              <a:r>
                <a:rPr lang="en-US" sz="1600">
                  <a:solidFill>
                    <a:schemeClr val="lt1"/>
                  </a:solidFill>
                  <a:latin typeface="Calibri"/>
                  <a:ea typeface="Calibri"/>
                  <a:cs typeface="Calibri"/>
                </a:rPr>
                <a:t>scope</a:t>
              </a:r>
              <a:endParaRPr/>
            </a:p>
          </p:txBody>
        </p:sp>
        <p:sp>
          <p:nvSpPr>
            <p:cNvPr id="790" name="Google Shape;790;p49"/>
            <p:cNvSpPr/>
            <p:nvPr/>
          </p:nvSpPr>
          <p:spPr bwMode="auto">
            <a:xfrm>
              <a:off x="5461560"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91" name="Google Shape;791;p49"/>
            <p:cNvSpPr txBox="1"/>
            <p:nvPr/>
          </p:nvSpPr>
          <p:spPr bwMode="auto">
            <a:xfrm>
              <a:off x="5865718"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4. </a:t>
              </a:r>
              <a:br>
                <a:rPr lang="en-US" sz="1600">
                  <a:solidFill>
                    <a:schemeClr val="lt1"/>
                  </a:solidFill>
                  <a:latin typeface="Calibri"/>
                  <a:ea typeface="Calibri"/>
                  <a:cs typeface="Calibri"/>
                </a:rPr>
              </a:br>
              <a:r>
                <a:rPr lang="en-US" sz="1600">
                  <a:solidFill>
                    <a:schemeClr val="lt1"/>
                  </a:solidFill>
                  <a:latin typeface="Calibri"/>
                  <a:ea typeface="Calibri"/>
                  <a:cs typeface="Calibri"/>
                </a:rPr>
                <a:t>Create </a:t>
              </a:r>
              <a:br>
                <a:rPr lang="en-US" sz="1600">
                  <a:solidFill>
                    <a:schemeClr val="lt1"/>
                  </a:solidFill>
                  <a:latin typeface="Calibri"/>
                  <a:ea typeface="Calibri"/>
                  <a:cs typeface="Calibri"/>
                </a:rPr>
              </a:br>
              <a:r>
                <a:rPr lang="en-US" sz="1600">
                  <a:solidFill>
                    <a:schemeClr val="lt1"/>
                  </a:solidFill>
                  <a:latin typeface="Calibri"/>
                  <a:ea typeface="Calibri"/>
                  <a:cs typeface="Calibri"/>
                </a:rPr>
                <a:t>WBS</a:t>
              </a:r>
              <a:endParaRPr/>
            </a:p>
          </p:txBody>
        </p:sp>
        <p:sp>
          <p:nvSpPr>
            <p:cNvPr id="792" name="Google Shape;792;p49"/>
            <p:cNvSpPr/>
            <p:nvPr/>
          </p:nvSpPr>
          <p:spPr bwMode="auto">
            <a:xfrm>
              <a:off x="7280270"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93" name="Google Shape;793;p49"/>
            <p:cNvSpPr txBox="1"/>
            <p:nvPr/>
          </p:nvSpPr>
          <p:spPr bwMode="auto">
            <a:xfrm>
              <a:off x="7684428"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5. </a:t>
              </a:r>
              <a:br>
                <a:rPr lang="en-US" sz="1600">
                  <a:solidFill>
                    <a:schemeClr val="lt1"/>
                  </a:solidFill>
                  <a:latin typeface="Calibri"/>
                  <a:ea typeface="Calibri"/>
                  <a:cs typeface="Calibri"/>
                </a:rPr>
              </a:br>
              <a:r>
                <a:rPr lang="en-US" sz="1600">
                  <a:solidFill>
                    <a:schemeClr val="lt1"/>
                  </a:solidFill>
                  <a:latin typeface="Calibri"/>
                  <a:ea typeface="Calibri"/>
                  <a:cs typeface="Calibri"/>
                </a:rPr>
                <a:t>Validate scope</a:t>
              </a:r>
              <a:endParaRPr/>
            </a:p>
          </p:txBody>
        </p:sp>
        <p:sp>
          <p:nvSpPr>
            <p:cNvPr id="794" name="Google Shape;794;p49"/>
            <p:cNvSpPr/>
            <p:nvPr/>
          </p:nvSpPr>
          <p:spPr bwMode="auto">
            <a:xfrm>
              <a:off x="9098979"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95" name="Google Shape;795;p49"/>
            <p:cNvSpPr txBox="1"/>
            <p:nvPr/>
          </p:nvSpPr>
          <p:spPr bwMode="auto">
            <a:xfrm>
              <a:off x="9503137"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6. </a:t>
              </a:r>
              <a:br>
                <a:rPr lang="en-US" sz="1600">
                  <a:solidFill>
                    <a:schemeClr val="lt1"/>
                  </a:solidFill>
                  <a:latin typeface="Calibri"/>
                  <a:ea typeface="Calibri"/>
                  <a:cs typeface="Calibri"/>
                </a:rPr>
              </a:br>
              <a:r>
                <a:rPr lang="en-US" sz="1600">
                  <a:solidFill>
                    <a:schemeClr val="lt1"/>
                  </a:solidFill>
                  <a:latin typeface="Calibri"/>
                  <a:ea typeface="Calibri"/>
                  <a:cs typeface="Calibri"/>
                </a:rPr>
                <a:t>Control scope</a:t>
              </a:r>
              <a:endParaRPr/>
            </a:p>
          </p:txBody>
        </p:sp>
      </p:grpSp>
      <p:sp>
        <p:nvSpPr>
          <p:cNvPr id="1344302912" name="Google Shape;796;p49"/>
          <p:cNvSpPr txBox="1">
            <a:spLocks noGrp="1"/>
          </p:cNvSpPr>
          <p:nvPr>
            <p:ph type="title"/>
          </p:nvPr>
        </p:nvSpPr>
        <p:spPr bwMode="auto">
          <a:xfrm>
            <a:off x="343771" y="381441"/>
            <a:ext cx="7010399" cy="7159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defRPr/>
            </a:pPr>
            <a:r>
              <a:rPr lang="en-US" sz="4000" b="1"/>
              <a:t>Project Scope Management</a:t>
            </a:r>
            <a:endParaRPr sz="4000" b="1"/>
          </a:p>
        </p:txBody>
      </p:sp>
      <p:sp>
        <p:nvSpPr>
          <p:cNvPr id="1942702840" name="Google Shape;797;p49"/>
          <p:cNvSpPr txBox="1"/>
          <p:nvPr/>
        </p:nvSpPr>
        <p:spPr bwMode="auto">
          <a:xfrm>
            <a:off x="381000" y="10668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625328016" name="Google Shape;798;p49"/>
          <p:cNvCxnSpPr/>
          <p:nvPr/>
        </p:nvCxnSpPr>
        <p:spPr bwMode="auto">
          <a:xfrm rot="10800000">
            <a:off x="496172" y="1540315"/>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818920329" name="TextBox 1"/>
          <p:cNvSpPr txBox="1"/>
          <p:nvPr/>
        </p:nvSpPr>
        <p:spPr bwMode="auto">
          <a:xfrm>
            <a:off x="3751760" y="4904586"/>
            <a:ext cx="4291117" cy="1107996"/>
          </a:xfrm>
          <a:prstGeom prst="rect">
            <a:avLst/>
          </a:prstGeom>
          <a:noFill/>
        </p:spPr>
        <p:txBody>
          <a:bodyPr wrap="square" rtlCol="0">
            <a:spAutoFit/>
          </a:bodyPr>
          <a:lstStyle/>
          <a:p>
            <a:pPr marL="285750" indent="-285750" algn="r">
              <a:buFontTx/>
              <a:buChar char="-"/>
              <a:defRPr/>
            </a:pPr>
            <a:endParaRPr lang="en-US" sz="1000">
              <a:latin typeface="Calibri"/>
              <a:ea typeface="Calibri"/>
              <a:cs typeface="Calibri"/>
            </a:endParaRPr>
          </a:p>
          <a:p>
            <a:pPr algn="r">
              <a:defRPr/>
            </a:pPr>
            <a:r>
              <a:rPr lang="en-US" sz="2800" i="1">
                <a:latin typeface="Calibri"/>
                <a:ea typeface="Calibri"/>
                <a:cs typeface="Calibri"/>
              </a:rPr>
              <a:t>to prevent uncontrolled changes</a:t>
            </a:r>
            <a:r>
              <a:rPr lang="en-US" sz="2000">
                <a:latin typeface="Calibri"/>
                <a:ea typeface="Calibri"/>
                <a:cs typeface="Calibri"/>
              </a:rPr>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5381546">
                                            <p:txEl>
                                              <p:pRg st="0" end="0"/>
                                            </p:txEl>
                                          </p:spTgt>
                                        </p:tgtEl>
                                        <p:attrNameLst>
                                          <p:attrName>style.visibility</p:attrName>
                                        </p:attrNameLst>
                                      </p:cBhvr>
                                      <p:to>
                                        <p:strVal val="visible"/>
                                      </p:to>
                                    </p:set>
                                    <p:animEffect transition="in" filter="wipe(left)">
                                      <p:cBhvr>
                                        <p:cTn id="7" dur="500"/>
                                        <p:tgtEl>
                                          <p:spTgt spid="7538154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381546">
                                            <p:txEl>
                                              <p:pRg st="2" end="2"/>
                                            </p:txEl>
                                          </p:spTgt>
                                        </p:tgtEl>
                                        <p:attrNameLst>
                                          <p:attrName>style.visibility</p:attrName>
                                        </p:attrNameLst>
                                      </p:cBhvr>
                                      <p:to>
                                        <p:strVal val="visible"/>
                                      </p:to>
                                    </p:set>
                                    <p:animEffect transition="in" filter="wipe(left)">
                                      <p:cBhvr>
                                        <p:cTn id="12" dur="500"/>
                                        <p:tgtEl>
                                          <p:spTgt spid="7538154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381546">
                                            <p:txEl>
                                              <p:pRg st="4" end="4"/>
                                            </p:txEl>
                                          </p:spTgt>
                                        </p:tgtEl>
                                        <p:attrNameLst>
                                          <p:attrName>style.visibility</p:attrName>
                                        </p:attrNameLst>
                                      </p:cBhvr>
                                      <p:to>
                                        <p:strVal val="visible"/>
                                      </p:to>
                                    </p:set>
                                    <p:animEffect transition="in" filter="wipe(left)">
                                      <p:cBhvr>
                                        <p:cTn id="17" dur="500"/>
                                        <p:tgtEl>
                                          <p:spTgt spid="75381546">
                                            <p:txEl>
                                              <p:pRg st="4" end="4"/>
                                            </p:txEl>
                                          </p:spTgt>
                                        </p:tgtEl>
                                      </p:cBhvr>
                                    </p:animEffect>
                                  </p:childTnLst>
                                </p:cTn>
                              </p:par>
                              <p:par>
                                <p:cTn id="18" presetID="22" presetClass="entr" presetSubtype="8" fill="hold" nodeType="withEffect">
                                  <p:stCondLst>
                                    <p:cond delay="0"/>
                                  </p:stCondLst>
                                  <p:childTnLst>
                                    <p:set>
                                      <p:cBhvr>
                                        <p:cTn id="19" dur="1" fill="hold">
                                          <p:stCondLst>
                                            <p:cond delay="0"/>
                                          </p:stCondLst>
                                        </p:cTn>
                                        <p:tgtEl>
                                          <p:spTgt spid="818920329">
                                            <p:txEl>
                                              <p:pRg st="1" end="1"/>
                                            </p:txEl>
                                          </p:spTgt>
                                        </p:tgtEl>
                                        <p:attrNameLst>
                                          <p:attrName>style.visibility</p:attrName>
                                        </p:attrNameLst>
                                      </p:cBhvr>
                                      <p:to>
                                        <p:strVal val="visible"/>
                                      </p:to>
                                    </p:set>
                                    <p:animEffect transition="in" filter="wipe(left)">
                                      <p:cBhvr>
                                        <p:cTn id="20" dur="500"/>
                                        <p:tgtEl>
                                          <p:spTgt spid="81892032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381546"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53386728" name="Google Shape;803;p50"/>
          <p:cNvPicPr/>
          <p:nvPr/>
        </p:nvPicPr>
        <p:blipFill rotWithShape="1">
          <a:blip r:embed="rId3">
            <a:alphaModFix/>
          </a:blip>
          <a:srcRect l="26819" t="0" r="42164" b="0"/>
          <a:stretch/>
        </p:blipFill>
        <p:spPr bwMode="auto">
          <a:xfrm>
            <a:off x="8991600" y="-16274"/>
            <a:ext cx="3200400" cy="6867876"/>
          </a:xfrm>
          <a:prstGeom prst="rect">
            <a:avLst/>
          </a:prstGeom>
          <a:noFill/>
          <a:ln>
            <a:noFill/>
          </a:ln>
        </p:spPr>
      </p:pic>
      <p:sp>
        <p:nvSpPr>
          <p:cNvPr id="253683341" name="Google Shape;804;p50"/>
          <p:cNvSpPr txBox="1">
            <a:spLocks noGrp="1"/>
          </p:cNvSpPr>
          <p:nvPr>
            <p:ph type="body" idx="1"/>
          </p:nvPr>
        </p:nvSpPr>
        <p:spPr bwMode="auto">
          <a:xfrm>
            <a:off x="496172" y="3827338"/>
            <a:ext cx="7848600" cy="23669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Calibri"/>
              <a:buNone/>
              <a:defRPr/>
            </a:pPr>
            <a:r>
              <a:rPr lang="en-US" b="1"/>
              <a:t>2. Collect Requirements</a:t>
            </a:r>
            <a:endParaRPr/>
          </a:p>
          <a:p>
            <a:pPr marL="457200" lvl="1" indent="0">
              <a:buSzPts val="2400"/>
              <a:buNone/>
              <a:defRPr/>
            </a:pPr>
            <a:endParaRPr lang="en-US" sz="1000"/>
          </a:p>
          <a:p>
            <a:pPr marL="457200" lvl="1" indent="0">
              <a:buSzPts val="2400"/>
              <a:buNone/>
              <a:defRPr/>
            </a:pPr>
            <a:r>
              <a:rPr lang="en-US"/>
              <a:t>Gather and document the needs of </a:t>
            </a:r>
            <a:r>
              <a:rPr lang="en-US" b="1"/>
              <a:t>stakeholders</a:t>
            </a:r>
            <a:r>
              <a:rPr lang="en-US"/>
              <a:t> </a:t>
            </a:r>
            <a:r>
              <a:rPr lang="en-US" b="1"/>
              <a:t>(</a:t>
            </a:r>
            <a:r>
              <a:rPr lang="en-US" b="1" u="sng"/>
              <a:t>customer/project sponsor</a:t>
            </a:r>
            <a:r>
              <a:rPr lang="en-US" b="1"/>
              <a:t>) </a:t>
            </a:r>
            <a:r>
              <a:rPr lang="en-US"/>
              <a:t>and translate them into project requirements.</a:t>
            </a:r>
            <a:endParaRPr/>
          </a:p>
        </p:txBody>
      </p:sp>
      <p:sp>
        <p:nvSpPr>
          <p:cNvPr id="1555659695" name="Google Shape;805;p50"/>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52</a:t>
            </a:fld>
            <a:endParaRPr/>
          </a:p>
        </p:txBody>
      </p:sp>
      <p:grpSp>
        <p:nvGrpSpPr>
          <p:cNvPr id="817836347" name="Google Shape;806;p50"/>
          <p:cNvGrpSpPr/>
          <p:nvPr/>
        </p:nvGrpSpPr>
        <p:grpSpPr bwMode="auto">
          <a:xfrm>
            <a:off x="496999" y="2403477"/>
            <a:ext cx="11123545" cy="801796"/>
            <a:chOff x="827" y="203581"/>
            <a:chExt cx="11123545" cy="801796"/>
          </a:xfrm>
        </p:grpSpPr>
        <p:sp>
          <p:nvSpPr>
            <p:cNvPr id="807" name="Google Shape;807;p50"/>
            <p:cNvSpPr/>
            <p:nvPr/>
          </p:nvSpPr>
          <p:spPr bwMode="auto">
            <a:xfrm>
              <a:off x="827" y="203581"/>
              <a:ext cx="2004491" cy="801796"/>
            </a:xfrm>
            <a:prstGeom prst="chevron">
              <a:avLst>
                <a:gd name="adj" fmla="val 50000"/>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08" name="Google Shape;808;p50"/>
            <p:cNvSpPr txBox="1"/>
            <p:nvPr/>
          </p:nvSpPr>
          <p:spPr bwMode="auto">
            <a:xfrm>
              <a:off x="401725" y="203581"/>
              <a:ext cx="1202695" cy="801796"/>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0">
                  <a:solidFill>
                    <a:schemeClr val="lt1"/>
                  </a:solidFill>
                  <a:latin typeface="Calibri"/>
                  <a:ea typeface="Calibri"/>
                  <a:cs typeface="Calibri"/>
                </a:rPr>
                <a:t>1. </a:t>
              </a:r>
              <a:br>
                <a:rPr lang="en-US" sz="1600">
                  <a:solidFill>
                    <a:schemeClr val="lt1"/>
                  </a:solidFill>
                  <a:latin typeface="Calibri"/>
                  <a:ea typeface="Calibri"/>
                  <a:cs typeface="Calibri"/>
                </a:rPr>
              </a:br>
              <a:r>
                <a:rPr lang="en-US" sz="1600" b="0">
                  <a:solidFill>
                    <a:schemeClr val="lt1"/>
                  </a:solidFill>
                  <a:latin typeface="Calibri"/>
                  <a:ea typeface="Calibri"/>
                  <a:cs typeface="Calibri"/>
                </a:rPr>
                <a:t>Plan scope management</a:t>
              </a:r>
              <a:endParaRPr/>
            </a:p>
          </p:txBody>
        </p:sp>
        <p:sp>
          <p:nvSpPr>
            <p:cNvPr id="809" name="Google Shape;809;p50"/>
            <p:cNvSpPr/>
            <p:nvPr/>
          </p:nvSpPr>
          <p:spPr bwMode="auto">
            <a:xfrm>
              <a:off x="1804869" y="203581"/>
              <a:ext cx="2103333" cy="801796"/>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10" name="Google Shape;810;p50"/>
            <p:cNvSpPr txBox="1"/>
            <p:nvPr/>
          </p:nvSpPr>
          <p:spPr bwMode="auto">
            <a:xfrm>
              <a:off x="2205767" y="203581"/>
              <a:ext cx="1301537" cy="801796"/>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1">
                  <a:solidFill>
                    <a:schemeClr val="lt1"/>
                  </a:solidFill>
                  <a:latin typeface="Calibri"/>
                  <a:ea typeface="Calibri"/>
                  <a:cs typeface="Calibri"/>
                </a:rPr>
                <a:t>2. </a:t>
              </a:r>
              <a:br>
                <a:rPr lang="en-US" sz="1600">
                  <a:solidFill>
                    <a:schemeClr val="lt1"/>
                  </a:solidFill>
                  <a:latin typeface="Calibri"/>
                  <a:ea typeface="Calibri"/>
                  <a:cs typeface="Calibri"/>
                </a:rPr>
              </a:br>
              <a:r>
                <a:rPr lang="en-US" sz="1600" b="1">
                  <a:solidFill>
                    <a:schemeClr val="lt1"/>
                  </a:solidFill>
                  <a:latin typeface="Calibri"/>
                  <a:ea typeface="Calibri"/>
                  <a:cs typeface="Calibri"/>
                </a:rPr>
                <a:t>Collect requirements</a:t>
              </a:r>
              <a:endParaRPr/>
            </a:p>
          </p:txBody>
        </p:sp>
        <p:sp>
          <p:nvSpPr>
            <p:cNvPr id="811" name="Google Shape;811;p50"/>
            <p:cNvSpPr/>
            <p:nvPr/>
          </p:nvSpPr>
          <p:spPr bwMode="auto">
            <a:xfrm>
              <a:off x="3707753" y="203581"/>
              <a:ext cx="2004491" cy="801796"/>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12" name="Google Shape;812;p50"/>
            <p:cNvSpPr txBox="1"/>
            <p:nvPr/>
          </p:nvSpPr>
          <p:spPr bwMode="auto">
            <a:xfrm>
              <a:off x="4108651" y="203581"/>
              <a:ext cx="1202695" cy="801796"/>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3. </a:t>
              </a:r>
              <a:br>
                <a:rPr lang="en-US" sz="1600">
                  <a:solidFill>
                    <a:schemeClr val="lt1"/>
                  </a:solidFill>
                  <a:latin typeface="Calibri"/>
                  <a:ea typeface="Calibri"/>
                  <a:cs typeface="Calibri"/>
                </a:rPr>
              </a:br>
              <a:r>
                <a:rPr lang="en-US" sz="1600">
                  <a:solidFill>
                    <a:schemeClr val="lt1"/>
                  </a:solidFill>
                  <a:latin typeface="Calibri"/>
                  <a:ea typeface="Calibri"/>
                  <a:cs typeface="Calibri"/>
                </a:rPr>
                <a:t>Define </a:t>
              </a:r>
              <a:br>
                <a:rPr lang="en-US" sz="1600">
                  <a:solidFill>
                    <a:schemeClr val="lt1"/>
                  </a:solidFill>
                  <a:latin typeface="Calibri"/>
                  <a:ea typeface="Calibri"/>
                  <a:cs typeface="Calibri"/>
                </a:rPr>
              </a:br>
              <a:r>
                <a:rPr lang="en-US" sz="1600">
                  <a:solidFill>
                    <a:schemeClr val="lt1"/>
                  </a:solidFill>
                  <a:latin typeface="Calibri"/>
                  <a:ea typeface="Calibri"/>
                  <a:cs typeface="Calibri"/>
                </a:rPr>
                <a:t>scope</a:t>
              </a:r>
              <a:endParaRPr/>
            </a:p>
          </p:txBody>
        </p:sp>
        <p:sp>
          <p:nvSpPr>
            <p:cNvPr id="813" name="Google Shape;813;p50"/>
            <p:cNvSpPr/>
            <p:nvPr/>
          </p:nvSpPr>
          <p:spPr bwMode="auto">
            <a:xfrm>
              <a:off x="5511796" y="203581"/>
              <a:ext cx="2004491" cy="801796"/>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14" name="Google Shape;814;p50"/>
            <p:cNvSpPr txBox="1"/>
            <p:nvPr/>
          </p:nvSpPr>
          <p:spPr bwMode="auto">
            <a:xfrm>
              <a:off x="5912694" y="203581"/>
              <a:ext cx="1202695" cy="801796"/>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4. </a:t>
              </a:r>
              <a:br>
                <a:rPr lang="en-US" sz="1600">
                  <a:solidFill>
                    <a:schemeClr val="lt1"/>
                  </a:solidFill>
                  <a:latin typeface="Calibri"/>
                  <a:ea typeface="Calibri"/>
                  <a:cs typeface="Calibri"/>
                </a:rPr>
              </a:br>
              <a:r>
                <a:rPr lang="en-US" sz="1600">
                  <a:solidFill>
                    <a:schemeClr val="lt1"/>
                  </a:solidFill>
                  <a:latin typeface="Calibri"/>
                  <a:ea typeface="Calibri"/>
                  <a:cs typeface="Calibri"/>
                </a:rPr>
                <a:t>Create </a:t>
              </a:r>
              <a:br>
                <a:rPr lang="en-US" sz="1600">
                  <a:solidFill>
                    <a:schemeClr val="lt1"/>
                  </a:solidFill>
                  <a:latin typeface="Calibri"/>
                  <a:ea typeface="Calibri"/>
                  <a:cs typeface="Calibri"/>
                </a:rPr>
              </a:br>
              <a:r>
                <a:rPr lang="en-US" sz="1600">
                  <a:solidFill>
                    <a:schemeClr val="lt1"/>
                  </a:solidFill>
                  <a:latin typeface="Calibri"/>
                  <a:ea typeface="Calibri"/>
                  <a:cs typeface="Calibri"/>
                </a:rPr>
                <a:t>WBS</a:t>
              </a:r>
              <a:endParaRPr/>
            </a:p>
          </p:txBody>
        </p:sp>
        <p:sp>
          <p:nvSpPr>
            <p:cNvPr id="815" name="Google Shape;815;p50"/>
            <p:cNvSpPr/>
            <p:nvPr/>
          </p:nvSpPr>
          <p:spPr bwMode="auto">
            <a:xfrm>
              <a:off x="7315838" y="203581"/>
              <a:ext cx="2004491" cy="801796"/>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16" name="Google Shape;816;p50"/>
            <p:cNvSpPr txBox="1"/>
            <p:nvPr/>
          </p:nvSpPr>
          <p:spPr bwMode="auto">
            <a:xfrm>
              <a:off x="7716736" y="203581"/>
              <a:ext cx="1202695" cy="801796"/>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5. </a:t>
              </a:r>
              <a:br>
                <a:rPr lang="en-US" sz="1600">
                  <a:solidFill>
                    <a:schemeClr val="lt1"/>
                  </a:solidFill>
                  <a:latin typeface="Calibri"/>
                  <a:ea typeface="Calibri"/>
                  <a:cs typeface="Calibri"/>
                </a:rPr>
              </a:br>
              <a:r>
                <a:rPr lang="en-US" sz="1600">
                  <a:solidFill>
                    <a:schemeClr val="lt1"/>
                  </a:solidFill>
                  <a:latin typeface="Calibri"/>
                  <a:ea typeface="Calibri"/>
                  <a:cs typeface="Calibri"/>
                </a:rPr>
                <a:t>Validate scope</a:t>
              </a:r>
              <a:endParaRPr/>
            </a:p>
          </p:txBody>
        </p:sp>
        <p:sp>
          <p:nvSpPr>
            <p:cNvPr id="817" name="Google Shape;817;p50"/>
            <p:cNvSpPr/>
            <p:nvPr/>
          </p:nvSpPr>
          <p:spPr bwMode="auto">
            <a:xfrm>
              <a:off x="9119881" y="203581"/>
              <a:ext cx="2004491" cy="801796"/>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18" name="Google Shape;818;p50"/>
            <p:cNvSpPr txBox="1"/>
            <p:nvPr/>
          </p:nvSpPr>
          <p:spPr bwMode="auto">
            <a:xfrm>
              <a:off x="9520779" y="203581"/>
              <a:ext cx="1202695" cy="801796"/>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6. </a:t>
              </a:r>
              <a:br>
                <a:rPr lang="en-US" sz="1600">
                  <a:solidFill>
                    <a:schemeClr val="lt1"/>
                  </a:solidFill>
                  <a:latin typeface="Calibri"/>
                  <a:ea typeface="Calibri"/>
                  <a:cs typeface="Calibri"/>
                </a:rPr>
              </a:br>
              <a:r>
                <a:rPr lang="en-US" sz="1600">
                  <a:solidFill>
                    <a:schemeClr val="lt1"/>
                  </a:solidFill>
                  <a:latin typeface="Calibri"/>
                  <a:ea typeface="Calibri"/>
                  <a:cs typeface="Calibri"/>
                </a:rPr>
                <a:t>Control scope</a:t>
              </a:r>
              <a:endParaRPr/>
            </a:p>
          </p:txBody>
        </p:sp>
      </p:grpSp>
      <p:sp>
        <p:nvSpPr>
          <p:cNvPr id="1000877753" name="Google Shape;819;p50"/>
          <p:cNvSpPr txBox="1">
            <a:spLocks noGrp="1"/>
          </p:cNvSpPr>
          <p:nvPr>
            <p:ph type="title"/>
          </p:nvPr>
        </p:nvSpPr>
        <p:spPr bwMode="auto">
          <a:xfrm>
            <a:off x="343771" y="381441"/>
            <a:ext cx="7010399" cy="7159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defRPr/>
            </a:pPr>
            <a:r>
              <a:rPr lang="en-US" sz="4000" b="1"/>
              <a:t>Project Scope Management</a:t>
            </a:r>
            <a:endParaRPr sz="4000" b="1"/>
          </a:p>
        </p:txBody>
      </p:sp>
      <p:sp>
        <p:nvSpPr>
          <p:cNvPr id="205812823" name="Google Shape;820;p50"/>
          <p:cNvSpPr txBox="1"/>
          <p:nvPr/>
        </p:nvSpPr>
        <p:spPr bwMode="auto">
          <a:xfrm>
            <a:off x="381000" y="10668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402930615" name="Google Shape;821;p50"/>
          <p:cNvCxnSpPr/>
          <p:nvPr/>
        </p:nvCxnSpPr>
        <p:spPr bwMode="auto">
          <a:xfrm rot="10800000">
            <a:off x="496172" y="1540315"/>
            <a:ext cx="1023822" cy="0"/>
          </a:xfrm>
          <a:prstGeom prst="straightConnector1">
            <a:avLst/>
          </a:prstGeom>
          <a:noFill/>
          <a:ln w="28575" cap="flat" cmpd="sng">
            <a:solidFill>
              <a:srgbClr val="3F3F3F"/>
            </a:solidFill>
            <a:prstDash val="solid"/>
            <a:miter lim="800000"/>
            <a:headEnd type="none" w="sm" len="sm"/>
            <a:tailEnd type="none" w="sm" len="sm"/>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53683341">
                                            <p:txEl>
                                              <p:pRg st="0" end="0"/>
                                            </p:txEl>
                                          </p:spTgt>
                                        </p:tgtEl>
                                        <p:attrNameLst>
                                          <p:attrName>style.visibility</p:attrName>
                                        </p:attrNameLst>
                                      </p:cBhvr>
                                      <p:to>
                                        <p:strVal val="visible"/>
                                      </p:to>
                                    </p:set>
                                    <p:animEffect transition="in" filter="wipe(left)">
                                      <p:cBhvr>
                                        <p:cTn id="7" dur="500"/>
                                        <p:tgtEl>
                                          <p:spTgt spid="2536833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92573310" name="Google Shape;827;p51"/>
          <p:cNvPicPr/>
          <p:nvPr/>
        </p:nvPicPr>
        <p:blipFill rotWithShape="1">
          <a:blip r:embed="rId3">
            <a:alphaModFix/>
          </a:blip>
          <a:srcRect l="26819" t="0" r="42164" b="0"/>
          <a:stretch/>
        </p:blipFill>
        <p:spPr bwMode="auto">
          <a:xfrm>
            <a:off x="8991600" y="-16274"/>
            <a:ext cx="3200400" cy="6867876"/>
          </a:xfrm>
          <a:prstGeom prst="rect">
            <a:avLst/>
          </a:prstGeom>
          <a:noFill/>
          <a:ln>
            <a:noFill/>
          </a:ln>
        </p:spPr>
      </p:pic>
      <p:sp>
        <p:nvSpPr>
          <p:cNvPr id="666147764" name="Google Shape;828;p51"/>
          <p:cNvSpPr txBox="1">
            <a:spLocks noGrp="1"/>
          </p:cNvSpPr>
          <p:nvPr>
            <p:ph type="body" idx="1"/>
          </p:nvPr>
        </p:nvSpPr>
        <p:spPr bwMode="auto">
          <a:xfrm>
            <a:off x="496172" y="3505199"/>
            <a:ext cx="8343028" cy="26717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Calibri"/>
              <a:buNone/>
              <a:defRPr/>
            </a:pPr>
            <a:r>
              <a:rPr lang="en-US" b="1"/>
              <a:t>3. Define Scope</a:t>
            </a:r>
            <a:endParaRPr/>
          </a:p>
          <a:p>
            <a:pPr marL="685800" lvl="1" indent="-228600" algn="l" rtl="0">
              <a:lnSpc>
                <a:spcPct val="90000"/>
              </a:lnSpc>
              <a:spcBef>
                <a:spcPts val="500"/>
              </a:spcBef>
              <a:spcAft>
                <a:spcPts val="0"/>
              </a:spcAft>
              <a:buClr>
                <a:schemeClr val="dk1"/>
              </a:buClr>
              <a:buSzPts val="2400"/>
              <a:buChar char="•"/>
              <a:defRPr/>
            </a:pPr>
            <a:r>
              <a:rPr lang="en-US"/>
              <a:t>Review the project charter, requirements documents, and </a:t>
            </a:r>
            <a:r>
              <a:rPr lang="en-US">
                <a:solidFill>
                  <a:schemeClr val="tx1"/>
                </a:solidFill>
              </a:rPr>
              <a:t>organizational process assets to </a:t>
            </a:r>
            <a:r>
              <a:rPr lang="en-US" b="1">
                <a:solidFill>
                  <a:schemeClr val="tx1"/>
                </a:solidFill>
              </a:rPr>
              <a:t>create a scope statement (</a:t>
            </a:r>
            <a:r>
              <a:rPr lang="en-US" b="1"/>
              <a:t>what are </a:t>
            </a:r>
            <a:r>
              <a:rPr lang="en-US" b="1" u="sng"/>
              <a:t>included</a:t>
            </a:r>
            <a:r>
              <a:rPr lang="en-US" b="1"/>
              <a:t> and </a:t>
            </a:r>
            <a:r>
              <a:rPr lang="en-US" b="1" u="sng"/>
              <a:t>excluded</a:t>
            </a:r>
            <a:r>
              <a:rPr lang="en-US" b="1"/>
              <a:t>)</a:t>
            </a:r>
            <a:endParaRPr/>
          </a:p>
          <a:p>
            <a:pPr marL="685800" lvl="1" indent="-228600" algn="l" rtl="0">
              <a:lnSpc>
                <a:spcPct val="90000"/>
              </a:lnSpc>
              <a:spcBef>
                <a:spcPts val="500"/>
              </a:spcBef>
              <a:spcAft>
                <a:spcPts val="0"/>
              </a:spcAft>
              <a:buClr>
                <a:schemeClr val="dk1"/>
              </a:buClr>
              <a:buSzPts val="2400"/>
              <a:buChar char="•"/>
              <a:defRPr/>
            </a:pPr>
            <a:r>
              <a:rPr lang="en-US" b="1">
                <a:solidFill>
                  <a:schemeClr val="tx1"/>
                </a:solidFill>
              </a:rPr>
              <a:t>Adding more information to the scope statement as requirements are developed and change requests are approved.</a:t>
            </a:r>
            <a:endParaRPr b="1">
              <a:solidFill>
                <a:schemeClr val="tx1"/>
              </a:solidFill>
            </a:endParaRPr>
          </a:p>
        </p:txBody>
      </p:sp>
      <p:sp>
        <p:nvSpPr>
          <p:cNvPr id="1063895472" name="Google Shape;829;p5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53</a:t>
            </a:fld>
            <a:endParaRPr/>
          </a:p>
        </p:txBody>
      </p:sp>
      <p:grpSp>
        <p:nvGrpSpPr>
          <p:cNvPr id="579502065" name="Google Shape;830;p51"/>
          <p:cNvGrpSpPr/>
          <p:nvPr/>
        </p:nvGrpSpPr>
        <p:grpSpPr bwMode="auto">
          <a:xfrm>
            <a:off x="501603" y="2173220"/>
            <a:ext cx="11114335" cy="808315"/>
            <a:chOff x="5432" y="200321"/>
            <a:chExt cx="11114335" cy="808315"/>
          </a:xfrm>
        </p:grpSpPr>
        <p:sp>
          <p:nvSpPr>
            <p:cNvPr id="831" name="Google Shape;831;p51"/>
            <p:cNvSpPr/>
            <p:nvPr/>
          </p:nvSpPr>
          <p:spPr bwMode="auto">
            <a:xfrm>
              <a:off x="5432" y="200321"/>
              <a:ext cx="2020788" cy="808315"/>
            </a:xfrm>
            <a:prstGeom prst="chevron">
              <a:avLst>
                <a:gd name="adj" fmla="val 50000"/>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32" name="Google Shape;832;p51"/>
            <p:cNvSpPr txBox="1"/>
            <p:nvPr/>
          </p:nvSpPr>
          <p:spPr bwMode="auto">
            <a:xfrm>
              <a:off x="409590"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0">
                  <a:solidFill>
                    <a:schemeClr val="lt1"/>
                  </a:solidFill>
                  <a:latin typeface="Calibri"/>
                  <a:ea typeface="Calibri"/>
                  <a:cs typeface="Calibri"/>
                </a:rPr>
                <a:t>1.</a:t>
              </a:r>
              <a:br>
                <a:rPr lang="en-US" sz="1600">
                  <a:solidFill>
                    <a:schemeClr val="lt1"/>
                  </a:solidFill>
                  <a:latin typeface="Calibri"/>
                  <a:ea typeface="Calibri"/>
                  <a:cs typeface="Calibri"/>
                </a:rPr>
              </a:br>
              <a:r>
                <a:rPr lang="en-US" sz="1600" b="0">
                  <a:solidFill>
                    <a:schemeClr val="lt1"/>
                  </a:solidFill>
                  <a:latin typeface="Calibri"/>
                  <a:ea typeface="Calibri"/>
                  <a:cs typeface="Calibri"/>
                </a:rPr>
                <a:t>Plan scope management</a:t>
              </a:r>
              <a:endParaRPr/>
            </a:p>
          </p:txBody>
        </p:sp>
        <p:sp>
          <p:nvSpPr>
            <p:cNvPr id="833" name="Google Shape;833;p51"/>
            <p:cNvSpPr/>
            <p:nvPr/>
          </p:nvSpPr>
          <p:spPr bwMode="auto">
            <a:xfrm>
              <a:off x="1824141"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34" name="Google Shape;834;p51"/>
            <p:cNvSpPr txBox="1"/>
            <p:nvPr/>
          </p:nvSpPr>
          <p:spPr bwMode="auto">
            <a:xfrm>
              <a:off x="2228299"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2. </a:t>
              </a:r>
              <a:br>
                <a:rPr lang="en-US" sz="1600">
                  <a:solidFill>
                    <a:schemeClr val="lt1"/>
                  </a:solidFill>
                  <a:latin typeface="Calibri"/>
                  <a:ea typeface="Calibri"/>
                  <a:cs typeface="Calibri"/>
                </a:rPr>
              </a:br>
              <a:r>
                <a:rPr lang="en-US" sz="1600">
                  <a:solidFill>
                    <a:schemeClr val="lt1"/>
                  </a:solidFill>
                  <a:latin typeface="Calibri"/>
                  <a:ea typeface="Calibri"/>
                  <a:cs typeface="Calibri"/>
                </a:rPr>
                <a:t>Collect requirements</a:t>
              </a:r>
              <a:endParaRPr/>
            </a:p>
          </p:txBody>
        </p:sp>
        <p:sp>
          <p:nvSpPr>
            <p:cNvPr id="835" name="Google Shape;835;p51"/>
            <p:cNvSpPr/>
            <p:nvPr/>
          </p:nvSpPr>
          <p:spPr bwMode="auto">
            <a:xfrm>
              <a:off x="3642851" y="200321"/>
              <a:ext cx="2020788" cy="808315"/>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36" name="Google Shape;836;p51"/>
            <p:cNvSpPr txBox="1"/>
            <p:nvPr/>
          </p:nvSpPr>
          <p:spPr bwMode="auto">
            <a:xfrm>
              <a:off x="4047009"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1">
                  <a:solidFill>
                    <a:schemeClr val="lt1"/>
                  </a:solidFill>
                  <a:latin typeface="Calibri"/>
                  <a:ea typeface="Calibri"/>
                  <a:cs typeface="Calibri"/>
                </a:rPr>
                <a:t>3. </a:t>
              </a:r>
              <a:br>
                <a:rPr lang="en-US" sz="1600">
                  <a:solidFill>
                    <a:schemeClr val="lt1"/>
                  </a:solidFill>
                  <a:latin typeface="Calibri"/>
                  <a:ea typeface="Calibri"/>
                  <a:cs typeface="Calibri"/>
                </a:rPr>
              </a:br>
              <a:r>
                <a:rPr lang="en-US" sz="1600" b="1">
                  <a:solidFill>
                    <a:schemeClr val="lt1"/>
                  </a:solidFill>
                  <a:latin typeface="Calibri"/>
                  <a:ea typeface="Calibri"/>
                  <a:cs typeface="Calibri"/>
                </a:rPr>
                <a:t>Define </a:t>
              </a:r>
              <a:br>
                <a:rPr lang="en-US" sz="1600">
                  <a:solidFill>
                    <a:schemeClr val="lt1"/>
                  </a:solidFill>
                  <a:latin typeface="Calibri"/>
                  <a:ea typeface="Calibri"/>
                  <a:cs typeface="Calibri"/>
                </a:rPr>
              </a:br>
              <a:r>
                <a:rPr lang="en-US" sz="1600" b="1">
                  <a:solidFill>
                    <a:schemeClr val="lt1"/>
                  </a:solidFill>
                  <a:latin typeface="Calibri"/>
                  <a:ea typeface="Calibri"/>
                  <a:cs typeface="Calibri"/>
                </a:rPr>
                <a:t>scope</a:t>
              </a:r>
              <a:endParaRPr/>
            </a:p>
          </p:txBody>
        </p:sp>
        <p:sp>
          <p:nvSpPr>
            <p:cNvPr id="837" name="Google Shape;837;p51"/>
            <p:cNvSpPr/>
            <p:nvPr/>
          </p:nvSpPr>
          <p:spPr bwMode="auto">
            <a:xfrm>
              <a:off x="5461560"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38" name="Google Shape;838;p51"/>
            <p:cNvSpPr txBox="1"/>
            <p:nvPr/>
          </p:nvSpPr>
          <p:spPr bwMode="auto">
            <a:xfrm>
              <a:off x="5865718"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4. </a:t>
              </a:r>
              <a:br>
                <a:rPr lang="en-US" sz="1600">
                  <a:solidFill>
                    <a:schemeClr val="lt1"/>
                  </a:solidFill>
                  <a:latin typeface="Calibri"/>
                  <a:ea typeface="Calibri"/>
                  <a:cs typeface="Calibri"/>
                </a:rPr>
              </a:br>
              <a:r>
                <a:rPr lang="en-US" sz="1600">
                  <a:solidFill>
                    <a:schemeClr val="lt1"/>
                  </a:solidFill>
                  <a:latin typeface="Calibri"/>
                  <a:ea typeface="Calibri"/>
                  <a:cs typeface="Calibri"/>
                </a:rPr>
                <a:t>Create </a:t>
              </a:r>
              <a:br>
                <a:rPr lang="en-US" sz="1600">
                  <a:solidFill>
                    <a:schemeClr val="lt1"/>
                  </a:solidFill>
                  <a:latin typeface="Calibri"/>
                  <a:ea typeface="Calibri"/>
                  <a:cs typeface="Calibri"/>
                </a:rPr>
              </a:br>
              <a:r>
                <a:rPr lang="en-US" sz="1600">
                  <a:solidFill>
                    <a:schemeClr val="lt1"/>
                  </a:solidFill>
                  <a:latin typeface="Calibri"/>
                  <a:ea typeface="Calibri"/>
                  <a:cs typeface="Calibri"/>
                </a:rPr>
                <a:t>WBS</a:t>
              </a:r>
              <a:endParaRPr/>
            </a:p>
          </p:txBody>
        </p:sp>
        <p:sp>
          <p:nvSpPr>
            <p:cNvPr id="839" name="Google Shape;839;p51"/>
            <p:cNvSpPr/>
            <p:nvPr/>
          </p:nvSpPr>
          <p:spPr bwMode="auto">
            <a:xfrm>
              <a:off x="7280270"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40" name="Google Shape;840;p51"/>
            <p:cNvSpPr txBox="1"/>
            <p:nvPr/>
          </p:nvSpPr>
          <p:spPr bwMode="auto">
            <a:xfrm>
              <a:off x="7684428"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5. </a:t>
              </a:r>
              <a:br>
                <a:rPr lang="en-US" sz="1600">
                  <a:solidFill>
                    <a:schemeClr val="lt1"/>
                  </a:solidFill>
                  <a:latin typeface="Calibri"/>
                  <a:ea typeface="Calibri"/>
                  <a:cs typeface="Calibri"/>
                </a:rPr>
              </a:br>
              <a:r>
                <a:rPr lang="en-US" sz="1600">
                  <a:solidFill>
                    <a:schemeClr val="lt1"/>
                  </a:solidFill>
                  <a:latin typeface="Calibri"/>
                  <a:ea typeface="Calibri"/>
                  <a:cs typeface="Calibri"/>
                </a:rPr>
                <a:t>Validate scope</a:t>
              </a:r>
              <a:endParaRPr/>
            </a:p>
          </p:txBody>
        </p:sp>
        <p:sp>
          <p:nvSpPr>
            <p:cNvPr id="841" name="Google Shape;841;p51"/>
            <p:cNvSpPr/>
            <p:nvPr/>
          </p:nvSpPr>
          <p:spPr bwMode="auto">
            <a:xfrm>
              <a:off x="9098979"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42" name="Google Shape;842;p51"/>
            <p:cNvSpPr txBox="1"/>
            <p:nvPr/>
          </p:nvSpPr>
          <p:spPr bwMode="auto">
            <a:xfrm>
              <a:off x="9503137"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6. </a:t>
              </a:r>
              <a:br>
                <a:rPr lang="en-US" sz="1600">
                  <a:solidFill>
                    <a:schemeClr val="lt1"/>
                  </a:solidFill>
                  <a:latin typeface="Calibri"/>
                  <a:ea typeface="Calibri"/>
                  <a:cs typeface="Calibri"/>
                </a:rPr>
              </a:br>
              <a:r>
                <a:rPr lang="en-US" sz="1600">
                  <a:solidFill>
                    <a:schemeClr val="lt1"/>
                  </a:solidFill>
                  <a:latin typeface="Calibri"/>
                  <a:ea typeface="Calibri"/>
                  <a:cs typeface="Calibri"/>
                </a:rPr>
                <a:t>Control scope</a:t>
              </a:r>
              <a:endParaRPr/>
            </a:p>
          </p:txBody>
        </p:sp>
      </p:grpSp>
      <p:sp>
        <p:nvSpPr>
          <p:cNvPr id="1133402859" name="Google Shape;843;p51"/>
          <p:cNvSpPr txBox="1">
            <a:spLocks noGrp="1"/>
          </p:cNvSpPr>
          <p:nvPr>
            <p:ph type="title"/>
          </p:nvPr>
        </p:nvSpPr>
        <p:spPr bwMode="auto">
          <a:xfrm>
            <a:off x="343771" y="381441"/>
            <a:ext cx="7010399" cy="7159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defRPr/>
            </a:pPr>
            <a:r>
              <a:rPr lang="en-US" sz="4000" b="1"/>
              <a:t>Project Scope Management</a:t>
            </a:r>
            <a:endParaRPr sz="4000" b="1"/>
          </a:p>
        </p:txBody>
      </p:sp>
      <p:sp>
        <p:nvSpPr>
          <p:cNvPr id="598872000" name="Google Shape;844;p51"/>
          <p:cNvSpPr txBox="1"/>
          <p:nvPr/>
        </p:nvSpPr>
        <p:spPr bwMode="auto">
          <a:xfrm>
            <a:off x="381000" y="10668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108850374" name="Google Shape;845;p51"/>
          <p:cNvCxnSpPr/>
          <p:nvPr/>
        </p:nvCxnSpPr>
        <p:spPr bwMode="auto">
          <a:xfrm rot="10800000">
            <a:off x="496172" y="1540315"/>
            <a:ext cx="1023822" cy="0"/>
          </a:xfrm>
          <a:prstGeom prst="straightConnector1">
            <a:avLst/>
          </a:prstGeom>
          <a:noFill/>
          <a:ln w="28575" cap="flat" cmpd="sng">
            <a:solidFill>
              <a:srgbClr val="3F3F3F"/>
            </a:solidFill>
            <a:prstDash val="solid"/>
            <a:miter lim="800000"/>
            <a:headEnd type="none" w="sm" len="sm"/>
            <a:tailEnd type="none" w="sm" len="sm"/>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666147764">
                                            <p:txEl>
                                              <p:pRg st="0" end="0"/>
                                            </p:txEl>
                                          </p:spTgt>
                                        </p:tgtEl>
                                        <p:attrNameLst>
                                          <p:attrName>style.visibility</p:attrName>
                                        </p:attrNameLst>
                                      </p:cBhvr>
                                      <p:to>
                                        <p:strVal val="visible"/>
                                      </p:to>
                                    </p:set>
                                    <p:animEffect transition="in" filter="wipe(left)">
                                      <p:cBhvr>
                                        <p:cTn id="7" dur="500"/>
                                        <p:tgtEl>
                                          <p:spTgt spid="6661477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66147764">
                                            <p:txEl>
                                              <p:pRg st="2" end="2"/>
                                            </p:txEl>
                                          </p:spTgt>
                                        </p:tgtEl>
                                        <p:attrNameLst>
                                          <p:attrName>style.visibility</p:attrName>
                                        </p:attrNameLst>
                                      </p:cBhvr>
                                      <p:to>
                                        <p:strVal val="visible"/>
                                      </p:to>
                                    </p:set>
                                    <p:anim calcmode="lin" valueType="num">
                                      <p:cBhvr additive="base">
                                        <p:cTn id="12" dur="500" fill="hold"/>
                                        <p:tgtEl>
                                          <p:spTgt spid="666147764">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6614776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09423777" name="Google Shape;851;p52"/>
          <p:cNvPicPr/>
          <p:nvPr/>
        </p:nvPicPr>
        <p:blipFill rotWithShape="1">
          <a:blip r:embed="rId3">
            <a:alphaModFix/>
          </a:blip>
          <a:srcRect l="26819" t="0" r="42164" b="0"/>
          <a:stretch/>
        </p:blipFill>
        <p:spPr bwMode="auto">
          <a:xfrm>
            <a:off x="8991600" y="-16274"/>
            <a:ext cx="3200400" cy="6867876"/>
          </a:xfrm>
          <a:prstGeom prst="rect">
            <a:avLst/>
          </a:prstGeom>
          <a:noFill/>
          <a:ln>
            <a:noFill/>
          </a:ln>
        </p:spPr>
      </p:pic>
      <p:sp>
        <p:nvSpPr>
          <p:cNvPr id="705322358" name="Google Shape;852;p52"/>
          <p:cNvSpPr txBox="1">
            <a:spLocks noGrp="1"/>
          </p:cNvSpPr>
          <p:nvPr>
            <p:ph type="body" idx="1"/>
          </p:nvPr>
        </p:nvSpPr>
        <p:spPr bwMode="auto">
          <a:xfrm>
            <a:off x="381000" y="3200400"/>
            <a:ext cx="6724338" cy="3484921"/>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ts val="2800"/>
              <a:buFont typeface="Calibri"/>
              <a:buNone/>
              <a:defRPr/>
            </a:pPr>
            <a:r>
              <a:rPr lang="en-US" b="1"/>
              <a:t>4. Create A Work Breakdown Structure (WBS)</a:t>
            </a:r>
            <a:endParaRPr/>
          </a:p>
          <a:p>
            <a:pPr marL="685800" lvl="1" indent="-228600" algn="l" rtl="0">
              <a:lnSpc>
                <a:spcPct val="90000"/>
              </a:lnSpc>
              <a:spcBef>
                <a:spcPts val="500"/>
              </a:spcBef>
              <a:spcAft>
                <a:spcPts val="0"/>
              </a:spcAft>
              <a:buClr>
                <a:schemeClr val="dk1"/>
              </a:buClr>
              <a:buSzPts val="2400"/>
              <a:buChar char="•"/>
              <a:defRPr/>
            </a:pPr>
            <a:r>
              <a:rPr lang="en-US"/>
              <a:t>Subdivide the major project activities into smaller, more manageable components.</a:t>
            </a:r>
            <a:endParaRPr/>
          </a:p>
          <a:p>
            <a:pPr marL="685800" lvl="1" indent="-228600" algn="l" rtl="0">
              <a:lnSpc>
                <a:spcPct val="90000"/>
              </a:lnSpc>
              <a:spcBef>
                <a:spcPts val="500"/>
              </a:spcBef>
              <a:spcAft>
                <a:spcPts val="0"/>
              </a:spcAft>
              <a:buClr>
                <a:schemeClr val="dk1"/>
              </a:buClr>
              <a:buSzPts val="2400"/>
              <a:buChar char="•"/>
              <a:defRPr/>
            </a:pPr>
            <a:r>
              <a:rPr lang="en-US" b="1"/>
              <a:t>WBS is a hierarchy of activities.</a:t>
            </a:r>
            <a:endParaRPr b="1"/>
          </a:p>
          <a:p>
            <a:pPr marL="685800" lvl="1" indent="-228600" algn="l" rtl="0">
              <a:lnSpc>
                <a:spcPct val="90000"/>
              </a:lnSpc>
              <a:spcBef>
                <a:spcPts val="500"/>
              </a:spcBef>
              <a:spcAft>
                <a:spcPts val="0"/>
              </a:spcAft>
              <a:buClr>
                <a:schemeClr val="dk1"/>
              </a:buClr>
              <a:buSzPts val="2400"/>
              <a:buChar char="•"/>
              <a:defRPr/>
            </a:pPr>
            <a:r>
              <a:rPr lang="en-US"/>
              <a:t>Can be organized around project products, project phase, or using the project management process groups.</a:t>
            </a:r>
            <a:endParaRPr/>
          </a:p>
          <a:p>
            <a:pPr marL="685800" lvl="1" indent="-228600" algn="l" rtl="0">
              <a:lnSpc>
                <a:spcPct val="90000"/>
              </a:lnSpc>
              <a:spcBef>
                <a:spcPts val="500"/>
              </a:spcBef>
              <a:spcAft>
                <a:spcPts val="0"/>
              </a:spcAft>
              <a:buClr>
                <a:schemeClr val="dk1"/>
              </a:buClr>
              <a:buSzPts val="2400"/>
              <a:buChar char="•"/>
              <a:defRPr/>
            </a:pPr>
            <a:r>
              <a:rPr lang="en-US" b="1">
                <a:solidFill>
                  <a:srgbClr val="0000FF"/>
                </a:solidFill>
              </a:rPr>
              <a:t>Guideline</a:t>
            </a:r>
            <a:r>
              <a:rPr lang="en-US"/>
              <a:t>: </a:t>
            </a:r>
            <a:r>
              <a:rPr lang="en-US" b="1"/>
              <a:t>breakdown the work until </a:t>
            </a:r>
            <a:r>
              <a:rPr lang="en-US" b="1">
                <a:solidFill>
                  <a:srgbClr val="0000FF"/>
                </a:solidFill>
              </a:rPr>
              <a:t>each task </a:t>
            </a:r>
            <a:r>
              <a:rPr lang="en-US" b="1"/>
              <a:t>can be performed by </a:t>
            </a:r>
            <a:r>
              <a:rPr lang="en-US" b="1">
                <a:solidFill>
                  <a:srgbClr val="0000FF"/>
                </a:solidFill>
              </a:rPr>
              <a:t>1 person </a:t>
            </a:r>
            <a:r>
              <a:rPr lang="en-US" b="1"/>
              <a:t>within 8-80 hours </a:t>
            </a:r>
            <a:r>
              <a:rPr lang="en-US" b="1">
                <a:solidFill>
                  <a:srgbClr val="0000FF"/>
                </a:solidFill>
              </a:rPr>
              <a:t>(1-10 days)</a:t>
            </a:r>
            <a:endParaRPr b="1">
              <a:solidFill>
                <a:srgbClr val="0000FF"/>
              </a:solidFill>
            </a:endParaRPr>
          </a:p>
        </p:txBody>
      </p:sp>
      <p:sp>
        <p:nvSpPr>
          <p:cNvPr id="1488330619" name="Google Shape;853;p5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54</a:t>
            </a:fld>
            <a:endParaRPr/>
          </a:p>
        </p:txBody>
      </p:sp>
      <p:grpSp>
        <p:nvGrpSpPr>
          <p:cNvPr id="940496606" name="Google Shape;854;p52"/>
          <p:cNvGrpSpPr/>
          <p:nvPr/>
        </p:nvGrpSpPr>
        <p:grpSpPr bwMode="auto">
          <a:xfrm>
            <a:off x="386432" y="2152471"/>
            <a:ext cx="11114335" cy="808315"/>
            <a:chOff x="5432" y="200321"/>
            <a:chExt cx="11114335" cy="808315"/>
          </a:xfrm>
        </p:grpSpPr>
        <p:sp>
          <p:nvSpPr>
            <p:cNvPr id="855" name="Google Shape;855;p52"/>
            <p:cNvSpPr/>
            <p:nvPr/>
          </p:nvSpPr>
          <p:spPr bwMode="auto">
            <a:xfrm>
              <a:off x="5432" y="200321"/>
              <a:ext cx="2020788" cy="808315"/>
            </a:xfrm>
            <a:prstGeom prst="chevron">
              <a:avLst>
                <a:gd name="adj" fmla="val 50000"/>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56" name="Google Shape;856;p52"/>
            <p:cNvSpPr txBox="1"/>
            <p:nvPr/>
          </p:nvSpPr>
          <p:spPr bwMode="auto">
            <a:xfrm>
              <a:off x="409590"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0">
                  <a:solidFill>
                    <a:schemeClr val="lt1"/>
                  </a:solidFill>
                  <a:latin typeface="Calibri"/>
                  <a:ea typeface="Calibri"/>
                  <a:cs typeface="Calibri"/>
                </a:rPr>
                <a:t>1. </a:t>
              </a:r>
              <a:br>
                <a:rPr lang="en-US" sz="1600">
                  <a:solidFill>
                    <a:schemeClr val="lt1"/>
                  </a:solidFill>
                  <a:latin typeface="Calibri"/>
                  <a:ea typeface="Calibri"/>
                  <a:cs typeface="Calibri"/>
                </a:rPr>
              </a:br>
              <a:r>
                <a:rPr lang="en-US" sz="1600" b="0">
                  <a:solidFill>
                    <a:schemeClr val="lt1"/>
                  </a:solidFill>
                  <a:latin typeface="Calibri"/>
                  <a:ea typeface="Calibri"/>
                  <a:cs typeface="Calibri"/>
                </a:rPr>
                <a:t>Plan scope management</a:t>
              </a:r>
              <a:endParaRPr/>
            </a:p>
          </p:txBody>
        </p:sp>
        <p:sp>
          <p:nvSpPr>
            <p:cNvPr id="857" name="Google Shape;857;p52"/>
            <p:cNvSpPr/>
            <p:nvPr/>
          </p:nvSpPr>
          <p:spPr bwMode="auto">
            <a:xfrm>
              <a:off x="1824141"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58" name="Google Shape;858;p52"/>
            <p:cNvSpPr txBox="1"/>
            <p:nvPr/>
          </p:nvSpPr>
          <p:spPr bwMode="auto">
            <a:xfrm>
              <a:off x="2228299"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2. </a:t>
              </a:r>
              <a:br>
                <a:rPr lang="en-US" sz="1600">
                  <a:solidFill>
                    <a:schemeClr val="lt1"/>
                  </a:solidFill>
                  <a:latin typeface="Calibri"/>
                  <a:ea typeface="Calibri"/>
                  <a:cs typeface="Calibri"/>
                </a:rPr>
              </a:br>
              <a:r>
                <a:rPr lang="en-US" sz="1600">
                  <a:solidFill>
                    <a:schemeClr val="lt1"/>
                  </a:solidFill>
                  <a:latin typeface="Calibri"/>
                  <a:ea typeface="Calibri"/>
                  <a:cs typeface="Calibri"/>
                </a:rPr>
                <a:t>Collect requirements</a:t>
              </a:r>
              <a:endParaRPr/>
            </a:p>
          </p:txBody>
        </p:sp>
        <p:sp>
          <p:nvSpPr>
            <p:cNvPr id="859" name="Google Shape;859;p52"/>
            <p:cNvSpPr/>
            <p:nvPr/>
          </p:nvSpPr>
          <p:spPr bwMode="auto">
            <a:xfrm>
              <a:off x="3642851"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60" name="Google Shape;860;p52"/>
            <p:cNvSpPr txBox="1"/>
            <p:nvPr/>
          </p:nvSpPr>
          <p:spPr bwMode="auto">
            <a:xfrm>
              <a:off x="4047009"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3. </a:t>
              </a:r>
              <a:br>
                <a:rPr lang="en-US" sz="1600">
                  <a:solidFill>
                    <a:schemeClr val="lt1"/>
                  </a:solidFill>
                  <a:latin typeface="Calibri"/>
                  <a:ea typeface="Calibri"/>
                  <a:cs typeface="Calibri"/>
                </a:rPr>
              </a:br>
              <a:r>
                <a:rPr lang="en-US" sz="1600">
                  <a:solidFill>
                    <a:schemeClr val="lt1"/>
                  </a:solidFill>
                  <a:latin typeface="Calibri"/>
                  <a:ea typeface="Calibri"/>
                  <a:cs typeface="Calibri"/>
                </a:rPr>
                <a:t>Define </a:t>
              </a:r>
              <a:br>
                <a:rPr lang="en-US" sz="1600">
                  <a:solidFill>
                    <a:schemeClr val="lt1"/>
                  </a:solidFill>
                  <a:latin typeface="Calibri"/>
                  <a:ea typeface="Calibri"/>
                  <a:cs typeface="Calibri"/>
                </a:rPr>
              </a:br>
              <a:r>
                <a:rPr lang="en-US" sz="1600">
                  <a:solidFill>
                    <a:schemeClr val="lt1"/>
                  </a:solidFill>
                  <a:latin typeface="Calibri"/>
                  <a:ea typeface="Calibri"/>
                  <a:cs typeface="Calibri"/>
                </a:rPr>
                <a:t>scope</a:t>
              </a:r>
              <a:endParaRPr/>
            </a:p>
          </p:txBody>
        </p:sp>
        <p:sp>
          <p:nvSpPr>
            <p:cNvPr id="861" name="Google Shape;861;p52"/>
            <p:cNvSpPr/>
            <p:nvPr/>
          </p:nvSpPr>
          <p:spPr bwMode="auto">
            <a:xfrm>
              <a:off x="5461560" y="200321"/>
              <a:ext cx="2020788" cy="808315"/>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62" name="Google Shape;862;p52"/>
            <p:cNvSpPr txBox="1"/>
            <p:nvPr/>
          </p:nvSpPr>
          <p:spPr bwMode="auto">
            <a:xfrm>
              <a:off x="5865718"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1">
                  <a:solidFill>
                    <a:schemeClr val="lt1"/>
                  </a:solidFill>
                  <a:latin typeface="Calibri"/>
                  <a:ea typeface="Calibri"/>
                  <a:cs typeface="Calibri"/>
                </a:rPr>
                <a:t>4. </a:t>
              </a:r>
              <a:br>
                <a:rPr lang="en-US" sz="1600">
                  <a:solidFill>
                    <a:schemeClr val="lt1"/>
                  </a:solidFill>
                  <a:latin typeface="Calibri"/>
                  <a:ea typeface="Calibri"/>
                  <a:cs typeface="Calibri"/>
                </a:rPr>
              </a:br>
              <a:r>
                <a:rPr lang="en-US" sz="1600" b="1">
                  <a:solidFill>
                    <a:schemeClr val="lt1"/>
                  </a:solidFill>
                  <a:latin typeface="Calibri"/>
                  <a:ea typeface="Calibri"/>
                  <a:cs typeface="Calibri"/>
                </a:rPr>
                <a:t>Create </a:t>
              </a:r>
              <a:br>
                <a:rPr lang="en-US" sz="1600">
                  <a:solidFill>
                    <a:schemeClr val="lt1"/>
                  </a:solidFill>
                  <a:latin typeface="Calibri"/>
                  <a:ea typeface="Calibri"/>
                  <a:cs typeface="Calibri"/>
                </a:rPr>
              </a:br>
              <a:r>
                <a:rPr lang="en-US" sz="1600" b="1">
                  <a:solidFill>
                    <a:schemeClr val="lt1"/>
                  </a:solidFill>
                  <a:latin typeface="Calibri"/>
                  <a:ea typeface="Calibri"/>
                  <a:cs typeface="Calibri"/>
                </a:rPr>
                <a:t>WBS</a:t>
              </a:r>
              <a:endParaRPr/>
            </a:p>
          </p:txBody>
        </p:sp>
        <p:sp>
          <p:nvSpPr>
            <p:cNvPr id="863" name="Google Shape;863;p52"/>
            <p:cNvSpPr/>
            <p:nvPr/>
          </p:nvSpPr>
          <p:spPr bwMode="auto">
            <a:xfrm>
              <a:off x="7280270"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64" name="Google Shape;864;p52"/>
            <p:cNvSpPr txBox="1"/>
            <p:nvPr/>
          </p:nvSpPr>
          <p:spPr bwMode="auto">
            <a:xfrm>
              <a:off x="7684428"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5. </a:t>
              </a:r>
              <a:br>
                <a:rPr lang="en-US" sz="1600">
                  <a:solidFill>
                    <a:schemeClr val="lt1"/>
                  </a:solidFill>
                  <a:latin typeface="Calibri"/>
                  <a:ea typeface="Calibri"/>
                  <a:cs typeface="Calibri"/>
                </a:rPr>
              </a:br>
              <a:r>
                <a:rPr lang="en-US" sz="1600">
                  <a:solidFill>
                    <a:schemeClr val="lt1"/>
                  </a:solidFill>
                  <a:latin typeface="Calibri"/>
                  <a:ea typeface="Calibri"/>
                  <a:cs typeface="Calibri"/>
                </a:rPr>
                <a:t>Validate scope</a:t>
              </a:r>
              <a:endParaRPr/>
            </a:p>
          </p:txBody>
        </p:sp>
        <p:sp>
          <p:nvSpPr>
            <p:cNvPr id="865" name="Google Shape;865;p52"/>
            <p:cNvSpPr/>
            <p:nvPr/>
          </p:nvSpPr>
          <p:spPr bwMode="auto">
            <a:xfrm>
              <a:off x="9098979"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66" name="Google Shape;866;p52"/>
            <p:cNvSpPr txBox="1"/>
            <p:nvPr/>
          </p:nvSpPr>
          <p:spPr bwMode="auto">
            <a:xfrm>
              <a:off x="9503137"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6. </a:t>
              </a:r>
              <a:br>
                <a:rPr lang="en-US" sz="1600">
                  <a:solidFill>
                    <a:schemeClr val="lt1"/>
                  </a:solidFill>
                  <a:latin typeface="Calibri"/>
                  <a:ea typeface="Calibri"/>
                  <a:cs typeface="Calibri"/>
                </a:rPr>
              </a:br>
              <a:r>
                <a:rPr lang="en-US" sz="1600">
                  <a:solidFill>
                    <a:schemeClr val="lt1"/>
                  </a:solidFill>
                  <a:latin typeface="Calibri"/>
                  <a:ea typeface="Calibri"/>
                  <a:cs typeface="Calibri"/>
                </a:rPr>
                <a:t>Control scope</a:t>
              </a:r>
              <a:endParaRPr/>
            </a:p>
          </p:txBody>
        </p:sp>
      </p:grpSp>
      <p:sp>
        <p:nvSpPr>
          <p:cNvPr id="1040155839" name="Google Shape;867;p52"/>
          <p:cNvSpPr txBox="1">
            <a:spLocks noGrp="1"/>
          </p:cNvSpPr>
          <p:nvPr>
            <p:ph type="title"/>
          </p:nvPr>
        </p:nvSpPr>
        <p:spPr bwMode="auto">
          <a:xfrm>
            <a:off x="343771" y="381441"/>
            <a:ext cx="7010399" cy="7159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defRPr/>
            </a:pPr>
            <a:r>
              <a:rPr lang="en-US" sz="4000" b="1"/>
              <a:t>Project Scope Management</a:t>
            </a:r>
            <a:endParaRPr sz="4000" b="1"/>
          </a:p>
        </p:txBody>
      </p:sp>
      <p:sp>
        <p:nvSpPr>
          <p:cNvPr id="692622655" name="Google Shape;868;p52"/>
          <p:cNvSpPr txBox="1"/>
          <p:nvPr/>
        </p:nvSpPr>
        <p:spPr bwMode="auto">
          <a:xfrm>
            <a:off x="381000" y="10668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238446600" name="Google Shape;869;p52"/>
          <p:cNvCxnSpPr/>
          <p:nvPr/>
        </p:nvCxnSpPr>
        <p:spPr bwMode="auto">
          <a:xfrm rot="10800000">
            <a:off x="496172" y="1540315"/>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425182281" name="Google Shape;874;p53"/>
          <p:cNvSpPr txBox="1"/>
          <p:nvPr/>
        </p:nvSpPr>
        <p:spPr bwMode="auto">
          <a:xfrm>
            <a:off x="6954946" y="1710747"/>
            <a:ext cx="5181600" cy="5027332"/>
          </a:xfrm>
          <a:prstGeom prst="rect">
            <a:avLst/>
          </a:prstGeom>
          <a:gradFill>
            <a:gsLst>
              <a:gs pos="0">
                <a:srgbClr val="FFDABF"/>
              </a:gs>
              <a:gs pos="50000">
                <a:srgbClr val="FFE6D6"/>
              </a:gs>
              <a:gs pos="100000">
                <a:srgbClr val="FFF2EA"/>
              </a:gs>
            </a:gsLst>
            <a:lin ang="16200000" scaled="0"/>
          </a:gra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marL="228600" indent="-228600">
              <a:lnSpc>
                <a:spcPct val="120000"/>
              </a:lnSpc>
              <a:spcBef>
                <a:spcPts val="0"/>
              </a:spcBef>
              <a:buSzPct val="100000"/>
              <a:buFont typeface="Calibri"/>
              <a:buNone/>
              <a:defRPr/>
            </a:pPr>
            <a:r>
              <a:rPr lang="en-US" sz="1800"/>
              <a:t>1.0 Concept</a:t>
            </a:r>
            <a:endParaRPr/>
          </a:p>
          <a:p>
            <a:pPr marL="228600" indent="-228600">
              <a:lnSpc>
                <a:spcPct val="120000"/>
              </a:lnSpc>
              <a:spcBef>
                <a:spcPts val="0"/>
              </a:spcBef>
              <a:buSzPct val="100000"/>
              <a:buFont typeface="Calibri"/>
              <a:buNone/>
              <a:defRPr/>
            </a:pPr>
            <a:r>
              <a:rPr lang="en-US" sz="1800"/>
              <a:t>	</a:t>
            </a:r>
            <a:r>
              <a:rPr lang="en-US" sz="1800" b="1"/>
              <a:t>1.1 Evaluate current systems</a:t>
            </a:r>
            <a:endParaRPr lang="en-US" sz="1800" b="1">
              <a:solidFill>
                <a:srgbClr val="FF0000"/>
              </a:solidFill>
            </a:endParaRPr>
          </a:p>
          <a:p>
            <a:pPr marL="228600" indent="-228600">
              <a:lnSpc>
                <a:spcPct val="120000"/>
              </a:lnSpc>
              <a:spcBef>
                <a:spcPts val="0"/>
              </a:spcBef>
              <a:buSzPct val="100000"/>
              <a:buFont typeface="Calibri"/>
              <a:buNone/>
              <a:defRPr/>
            </a:pPr>
            <a:r>
              <a:rPr lang="en-US" sz="1800"/>
              <a:t>	1.2 Define requirements</a:t>
            </a:r>
            <a:endParaRPr/>
          </a:p>
          <a:p>
            <a:pPr marL="228600" indent="-228600">
              <a:lnSpc>
                <a:spcPct val="120000"/>
              </a:lnSpc>
              <a:spcBef>
                <a:spcPts val="0"/>
              </a:spcBef>
              <a:buSzPct val="100000"/>
              <a:buFont typeface="Calibri"/>
              <a:buNone/>
              <a:defRPr/>
            </a:pPr>
            <a:r>
              <a:rPr lang="en-US" sz="1800"/>
              <a:t>		</a:t>
            </a:r>
            <a:r>
              <a:rPr lang="en-US" sz="1800" b="1"/>
              <a:t>1.2.1 Define user requirements</a:t>
            </a:r>
            <a:endParaRPr/>
          </a:p>
          <a:p>
            <a:pPr marL="228600" indent="-228600">
              <a:lnSpc>
                <a:spcPct val="120000"/>
              </a:lnSpc>
              <a:spcBef>
                <a:spcPts val="0"/>
              </a:spcBef>
              <a:buSzPct val="100000"/>
              <a:buFont typeface="Calibri"/>
              <a:buNone/>
              <a:defRPr/>
            </a:pPr>
            <a:r>
              <a:rPr lang="en-US" sz="1800" b="1"/>
              <a:t>		1.2.2 Define content requirements</a:t>
            </a:r>
            <a:endParaRPr/>
          </a:p>
          <a:p>
            <a:pPr marL="228600" indent="-228600">
              <a:lnSpc>
                <a:spcPct val="120000"/>
              </a:lnSpc>
              <a:spcBef>
                <a:spcPts val="0"/>
              </a:spcBef>
              <a:buSzPct val="100000"/>
              <a:buFont typeface="Calibri"/>
              <a:buNone/>
              <a:defRPr/>
            </a:pPr>
            <a:r>
              <a:rPr lang="en-US" sz="1800" b="1"/>
              <a:t>		1.2.3 Define system requirements</a:t>
            </a:r>
            <a:endParaRPr/>
          </a:p>
          <a:p>
            <a:pPr marL="228600" indent="-228600">
              <a:lnSpc>
                <a:spcPct val="120000"/>
              </a:lnSpc>
              <a:spcBef>
                <a:spcPts val="0"/>
              </a:spcBef>
              <a:buSzPct val="100000"/>
              <a:buFont typeface="Calibri"/>
              <a:buNone/>
              <a:defRPr/>
            </a:pPr>
            <a:r>
              <a:rPr lang="en-US" sz="1800" b="1"/>
              <a:t>		1.2.4 Define server owner requirements</a:t>
            </a:r>
            <a:endParaRPr/>
          </a:p>
          <a:p>
            <a:pPr marL="228600" indent="-228600">
              <a:lnSpc>
                <a:spcPct val="120000"/>
              </a:lnSpc>
              <a:spcBef>
                <a:spcPts val="0"/>
              </a:spcBef>
              <a:buSzPct val="100000"/>
              <a:buFont typeface="Calibri"/>
              <a:buNone/>
              <a:defRPr/>
            </a:pPr>
            <a:r>
              <a:rPr lang="en-US" sz="1800"/>
              <a:t>	</a:t>
            </a:r>
            <a:r>
              <a:rPr lang="en-US" sz="1800" b="1"/>
              <a:t>1.3 Define specific functionality</a:t>
            </a:r>
            <a:endParaRPr/>
          </a:p>
          <a:p>
            <a:pPr marL="228600" indent="-228600">
              <a:lnSpc>
                <a:spcPct val="120000"/>
              </a:lnSpc>
              <a:spcBef>
                <a:spcPts val="0"/>
              </a:spcBef>
              <a:buSzPct val="100000"/>
              <a:buFont typeface="Calibri"/>
              <a:buNone/>
              <a:defRPr/>
            </a:pPr>
            <a:r>
              <a:rPr lang="en-US" sz="1800" b="1"/>
              <a:t>	1.4 Define risks and risk management approach</a:t>
            </a:r>
            <a:endParaRPr/>
          </a:p>
          <a:p>
            <a:pPr marL="228600" indent="-228600">
              <a:lnSpc>
                <a:spcPct val="120000"/>
              </a:lnSpc>
              <a:spcBef>
                <a:spcPts val="0"/>
              </a:spcBef>
              <a:buSzPct val="100000"/>
              <a:buFont typeface="Calibri"/>
              <a:buNone/>
              <a:defRPr/>
            </a:pPr>
            <a:r>
              <a:rPr lang="en-US" sz="1800" b="1"/>
              <a:t>	1.5 Develop project plan</a:t>
            </a:r>
            <a:endParaRPr/>
          </a:p>
          <a:p>
            <a:pPr marL="228600" indent="-228600">
              <a:lnSpc>
                <a:spcPct val="120000"/>
              </a:lnSpc>
              <a:spcBef>
                <a:spcPts val="0"/>
              </a:spcBef>
              <a:buSzPct val="100000"/>
              <a:buFont typeface="Calibri"/>
              <a:buNone/>
              <a:defRPr/>
            </a:pPr>
            <a:r>
              <a:rPr lang="en-US" sz="1800" b="1"/>
              <a:t>	1.6 Brief Web development team</a:t>
            </a:r>
            <a:endParaRPr/>
          </a:p>
          <a:p>
            <a:pPr marL="228600" indent="-228600">
              <a:lnSpc>
                <a:spcPct val="120000"/>
              </a:lnSpc>
              <a:spcBef>
                <a:spcPts val="0"/>
              </a:spcBef>
              <a:buSzPct val="100000"/>
              <a:buFont typeface="Calibri"/>
              <a:buNone/>
              <a:defRPr/>
            </a:pPr>
            <a:r>
              <a:rPr lang="en-US" sz="1800" b="1"/>
              <a:t>2.0 Web site design</a:t>
            </a:r>
            <a:endParaRPr/>
          </a:p>
          <a:p>
            <a:pPr marL="228600" indent="-228600">
              <a:lnSpc>
                <a:spcPct val="120000"/>
              </a:lnSpc>
              <a:spcBef>
                <a:spcPts val="0"/>
              </a:spcBef>
              <a:buSzPct val="100000"/>
              <a:buFont typeface="Calibri"/>
              <a:buNone/>
              <a:defRPr/>
            </a:pPr>
            <a:r>
              <a:rPr lang="en-US" sz="1800" b="1"/>
              <a:t>3.0 Web site development</a:t>
            </a:r>
            <a:endParaRPr/>
          </a:p>
          <a:p>
            <a:pPr marL="228600" indent="-228600">
              <a:lnSpc>
                <a:spcPct val="120000"/>
              </a:lnSpc>
              <a:spcBef>
                <a:spcPts val="0"/>
              </a:spcBef>
              <a:buSzPct val="100000"/>
              <a:buFont typeface="Calibri"/>
              <a:buNone/>
              <a:defRPr/>
            </a:pPr>
            <a:r>
              <a:rPr lang="en-US" sz="1800" b="1"/>
              <a:t>4.0 Roll out</a:t>
            </a:r>
            <a:endParaRPr/>
          </a:p>
          <a:p>
            <a:pPr marL="228600" indent="-228600">
              <a:lnSpc>
                <a:spcPct val="120000"/>
              </a:lnSpc>
              <a:spcBef>
                <a:spcPts val="0"/>
              </a:spcBef>
              <a:buSzPct val="100000"/>
              <a:buFont typeface="Calibri"/>
              <a:buNone/>
              <a:defRPr/>
            </a:pPr>
            <a:r>
              <a:rPr lang="en-US" sz="1800" b="1"/>
              <a:t>5.0 Support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05322358">
                                            <p:txEl>
                                              <p:pRg st="0" end="0"/>
                                            </p:txEl>
                                          </p:spTgt>
                                        </p:tgtEl>
                                        <p:attrNameLst>
                                          <p:attrName>style.visibility</p:attrName>
                                        </p:attrNameLst>
                                      </p:cBhvr>
                                      <p:to>
                                        <p:strVal val="visible"/>
                                      </p:to>
                                    </p:set>
                                    <p:animEffect transition="in" filter="wipe(left)">
                                      <p:cBhvr>
                                        <p:cTn id="7" dur="500"/>
                                        <p:tgtEl>
                                          <p:spTgt spid="7053223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25182281"/>
                                        </p:tgtEl>
                                        <p:attrNameLst>
                                          <p:attrName>style.visibility</p:attrName>
                                        </p:attrNameLst>
                                      </p:cBhvr>
                                      <p:to>
                                        <p:strVal val="visible"/>
                                      </p:to>
                                    </p:set>
                                    <p:animEffect transition="in" filter="wipe(left)">
                                      <p:cBhvr>
                                        <p:cTn id="12" dur="500"/>
                                        <p:tgtEl>
                                          <p:spTgt spid="425182281"/>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05322358">
                                            <p:txEl>
                                              <p:pRg st="4" end="4"/>
                                            </p:txEl>
                                          </p:spTgt>
                                        </p:tgtEl>
                                        <p:attrNameLst>
                                          <p:attrName>style.visibility</p:attrName>
                                        </p:attrNameLst>
                                      </p:cBhvr>
                                      <p:to>
                                        <p:strVal val="visible"/>
                                      </p:to>
                                    </p:set>
                                    <p:anim calcmode="lin" valueType="num">
                                      <p:cBhvr additive="base">
                                        <p:cTn id="17" dur="500" fill="hold"/>
                                        <p:tgtEl>
                                          <p:spTgt spid="705322358">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0532235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182281" grpId="0" animBg="1"/>
    </p:bldLst>
  </p:timing>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90284786" name="Google Shape;874;p53"/>
          <p:cNvSpPr txBox="1">
            <a:spLocks noGrp="1"/>
          </p:cNvSpPr>
          <p:nvPr>
            <p:ph type="body" idx="1"/>
          </p:nvPr>
        </p:nvSpPr>
        <p:spPr bwMode="auto">
          <a:xfrm>
            <a:off x="3751384" y="1690575"/>
            <a:ext cx="5181600" cy="5027332"/>
          </a:xfrm>
          <a:prstGeom prst="rect">
            <a:avLst/>
          </a:prstGeom>
          <a:gradFill>
            <a:gsLst>
              <a:gs pos="0">
                <a:srgbClr val="FFDABF"/>
              </a:gs>
              <a:gs pos="50000">
                <a:srgbClr val="FFE6D6"/>
              </a:gs>
              <a:gs pos="100000">
                <a:srgbClr val="FFF2EA"/>
              </a:gs>
            </a:gsLst>
            <a:lin ang="16200000" scaled="0"/>
          </a:gra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228600" lvl="0" indent="-228600" algn="l" rtl="0">
              <a:lnSpc>
                <a:spcPct val="120000"/>
              </a:lnSpc>
              <a:spcBef>
                <a:spcPts val="0"/>
              </a:spcBef>
              <a:spcAft>
                <a:spcPts val="0"/>
              </a:spcAft>
              <a:buClr>
                <a:schemeClr val="dk1"/>
              </a:buClr>
              <a:buSzPct val="100000"/>
              <a:buFont typeface="Calibri"/>
              <a:buNone/>
              <a:defRPr/>
            </a:pPr>
            <a:r>
              <a:rPr lang="en-US" sz="1800"/>
              <a:t>1.0 Concept</a:t>
            </a:r>
            <a:endParaRPr sz="1800"/>
          </a:p>
          <a:p>
            <a:pPr marL="228600" lvl="0" indent="-228600" algn="l" rtl="0">
              <a:lnSpc>
                <a:spcPct val="120000"/>
              </a:lnSpc>
              <a:spcBef>
                <a:spcPts val="0"/>
              </a:spcBef>
              <a:spcAft>
                <a:spcPts val="0"/>
              </a:spcAft>
              <a:buClr>
                <a:schemeClr val="dk1"/>
              </a:buClr>
              <a:buSzPct val="100000"/>
              <a:buFont typeface="Calibri"/>
              <a:buNone/>
              <a:defRPr/>
            </a:pPr>
            <a:r>
              <a:rPr lang="en-US" sz="1800"/>
              <a:t>	1.1 Evaluate current systems</a:t>
            </a:r>
            <a:endParaRPr sz="1800"/>
          </a:p>
          <a:p>
            <a:pPr marL="228600" lvl="0" indent="-228600" algn="l" rtl="0">
              <a:lnSpc>
                <a:spcPct val="120000"/>
              </a:lnSpc>
              <a:spcBef>
                <a:spcPts val="0"/>
              </a:spcBef>
              <a:spcAft>
                <a:spcPts val="0"/>
              </a:spcAft>
              <a:buClr>
                <a:schemeClr val="dk1"/>
              </a:buClr>
              <a:buSzPct val="100000"/>
              <a:buFont typeface="Calibri"/>
              <a:buNone/>
              <a:defRPr/>
            </a:pPr>
            <a:r>
              <a:rPr lang="en-US" sz="1800"/>
              <a:t>	1.2 Define requirements</a:t>
            </a:r>
            <a:endParaRPr sz="1800"/>
          </a:p>
          <a:p>
            <a:pPr marL="228600" lvl="0" indent="-228600" algn="l" rtl="0">
              <a:lnSpc>
                <a:spcPct val="120000"/>
              </a:lnSpc>
              <a:spcBef>
                <a:spcPts val="0"/>
              </a:spcBef>
              <a:spcAft>
                <a:spcPts val="0"/>
              </a:spcAft>
              <a:buClr>
                <a:schemeClr val="dk1"/>
              </a:buClr>
              <a:buSzPct val="100000"/>
              <a:buFont typeface="Calibri"/>
              <a:buNone/>
              <a:defRPr/>
            </a:pPr>
            <a:r>
              <a:rPr lang="en-US" sz="1800"/>
              <a:t>		1.2.1 Define user requirements</a:t>
            </a:r>
            <a:endParaRPr sz="1800"/>
          </a:p>
          <a:p>
            <a:pPr marL="228600" lvl="0" indent="-228600" algn="l" rtl="0">
              <a:lnSpc>
                <a:spcPct val="120000"/>
              </a:lnSpc>
              <a:spcBef>
                <a:spcPts val="0"/>
              </a:spcBef>
              <a:spcAft>
                <a:spcPts val="0"/>
              </a:spcAft>
              <a:buClr>
                <a:schemeClr val="dk1"/>
              </a:buClr>
              <a:buSzPct val="100000"/>
              <a:buFont typeface="Calibri"/>
              <a:buNone/>
              <a:defRPr/>
            </a:pPr>
            <a:r>
              <a:rPr lang="en-US" sz="1800"/>
              <a:t>		1.2.2 Define content requirements</a:t>
            </a:r>
            <a:endParaRPr sz="1800"/>
          </a:p>
          <a:p>
            <a:pPr marL="228600" lvl="0" indent="-228600" algn="l" rtl="0">
              <a:lnSpc>
                <a:spcPct val="120000"/>
              </a:lnSpc>
              <a:spcBef>
                <a:spcPts val="0"/>
              </a:spcBef>
              <a:spcAft>
                <a:spcPts val="0"/>
              </a:spcAft>
              <a:buClr>
                <a:schemeClr val="dk1"/>
              </a:buClr>
              <a:buSzPct val="100000"/>
              <a:buFont typeface="Calibri"/>
              <a:buNone/>
              <a:defRPr/>
            </a:pPr>
            <a:r>
              <a:rPr lang="en-US" sz="1800"/>
              <a:t>		1.2.3 Define system requirements</a:t>
            </a:r>
            <a:endParaRPr sz="1800"/>
          </a:p>
          <a:p>
            <a:pPr marL="228600" lvl="0" indent="-228600" algn="l" rtl="0">
              <a:lnSpc>
                <a:spcPct val="120000"/>
              </a:lnSpc>
              <a:spcBef>
                <a:spcPts val="0"/>
              </a:spcBef>
              <a:spcAft>
                <a:spcPts val="0"/>
              </a:spcAft>
              <a:buClr>
                <a:schemeClr val="dk1"/>
              </a:buClr>
              <a:buSzPct val="100000"/>
              <a:buFont typeface="Calibri"/>
              <a:buNone/>
              <a:defRPr/>
            </a:pPr>
            <a:r>
              <a:rPr lang="en-US" sz="1800"/>
              <a:t>		1.2.4 Define server owner requirements</a:t>
            </a:r>
            <a:endParaRPr sz="1800"/>
          </a:p>
          <a:p>
            <a:pPr marL="228600" lvl="0" indent="-228600" algn="l" rtl="0">
              <a:lnSpc>
                <a:spcPct val="120000"/>
              </a:lnSpc>
              <a:spcBef>
                <a:spcPts val="0"/>
              </a:spcBef>
              <a:spcAft>
                <a:spcPts val="0"/>
              </a:spcAft>
              <a:buClr>
                <a:schemeClr val="dk1"/>
              </a:buClr>
              <a:buSzPct val="100000"/>
              <a:buFont typeface="Calibri"/>
              <a:buNone/>
              <a:defRPr/>
            </a:pPr>
            <a:r>
              <a:rPr lang="en-US" sz="1800"/>
              <a:t>	1.3 Define specific functionality</a:t>
            </a:r>
            <a:endParaRPr sz="1800"/>
          </a:p>
          <a:p>
            <a:pPr marL="228600" lvl="0" indent="-228600" algn="l" rtl="0">
              <a:lnSpc>
                <a:spcPct val="120000"/>
              </a:lnSpc>
              <a:spcBef>
                <a:spcPts val="0"/>
              </a:spcBef>
              <a:spcAft>
                <a:spcPts val="0"/>
              </a:spcAft>
              <a:buClr>
                <a:schemeClr val="dk1"/>
              </a:buClr>
              <a:buSzPct val="100000"/>
              <a:buFont typeface="Calibri"/>
              <a:buNone/>
              <a:defRPr/>
            </a:pPr>
            <a:r>
              <a:rPr lang="en-US" sz="1800"/>
              <a:t>	1.4 Define risks and risk management approach</a:t>
            </a:r>
            <a:endParaRPr sz="1800"/>
          </a:p>
          <a:p>
            <a:pPr marL="228600" lvl="0" indent="-228600" algn="l" rtl="0">
              <a:lnSpc>
                <a:spcPct val="120000"/>
              </a:lnSpc>
              <a:spcBef>
                <a:spcPts val="0"/>
              </a:spcBef>
              <a:spcAft>
                <a:spcPts val="0"/>
              </a:spcAft>
              <a:buClr>
                <a:schemeClr val="dk1"/>
              </a:buClr>
              <a:buSzPct val="100000"/>
              <a:buFont typeface="Calibri"/>
              <a:buNone/>
              <a:defRPr/>
            </a:pPr>
            <a:r>
              <a:rPr lang="en-US" sz="1800"/>
              <a:t>	1.5 Develop project plan</a:t>
            </a:r>
            <a:endParaRPr sz="1800"/>
          </a:p>
          <a:p>
            <a:pPr marL="228600" lvl="0" indent="-228600" algn="l" rtl="0">
              <a:lnSpc>
                <a:spcPct val="120000"/>
              </a:lnSpc>
              <a:spcBef>
                <a:spcPts val="0"/>
              </a:spcBef>
              <a:spcAft>
                <a:spcPts val="0"/>
              </a:spcAft>
              <a:buClr>
                <a:schemeClr val="dk1"/>
              </a:buClr>
              <a:buSzPct val="100000"/>
              <a:buFont typeface="Calibri"/>
              <a:buNone/>
              <a:defRPr/>
            </a:pPr>
            <a:r>
              <a:rPr lang="en-US" sz="1800"/>
              <a:t>	1.6 Brief Web development team</a:t>
            </a:r>
            <a:endParaRPr sz="1800"/>
          </a:p>
          <a:p>
            <a:pPr marL="228600" lvl="0" indent="-228600" algn="l" rtl="0">
              <a:lnSpc>
                <a:spcPct val="120000"/>
              </a:lnSpc>
              <a:spcBef>
                <a:spcPts val="0"/>
              </a:spcBef>
              <a:spcAft>
                <a:spcPts val="0"/>
              </a:spcAft>
              <a:buClr>
                <a:schemeClr val="dk1"/>
              </a:buClr>
              <a:buSzPct val="100000"/>
              <a:buFont typeface="Calibri"/>
              <a:buNone/>
              <a:defRPr/>
            </a:pPr>
            <a:r>
              <a:rPr lang="en-US" sz="1800"/>
              <a:t>2.0 Web site design</a:t>
            </a:r>
            <a:endParaRPr sz="1800"/>
          </a:p>
          <a:p>
            <a:pPr marL="228600" lvl="0" indent="-228600" algn="l" rtl="0">
              <a:lnSpc>
                <a:spcPct val="120000"/>
              </a:lnSpc>
              <a:spcBef>
                <a:spcPts val="0"/>
              </a:spcBef>
              <a:spcAft>
                <a:spcPts val="0"/>
              </a:spcAft>
              <a:buClr>
                <a:schemeClr val="dk1"/>
              </a:buClr>
              <a:buSzPct val="100000"/>
              <a:buFont typeface="Calibri"/>
              <a:buNone/>
              <a:defRPr/>
            </a:pPr>
            <a:r>
              <a:rPr lang="en-US" sz="1800"/>
              <a:t>3.0 Web site development</a:t>
            </a:r>
            <a:endParaRPr sz="1800"/>
          </a:p>
          <a:p>
            <a:pPr marL="228600" lvl="0" indent="-228600" algn="l" rtl="0">
              <a:lnSpc>
                <a:spcPct val="120000"/>
              </a:lnSpc>
              <a:spcBef>
                <a:spcPts val="0"/>
              </a:spcBef>
              <a:spcAft>
                <a:spcPts val="0"/>
              </a:spcAft>
              <a:buClr>
                <a:schemeClr val="dk1"/>
              </a:buClr>
              <a:buSzPct val="100000"/>
              <a:buFont typeface="Calibri"/>
              <a:buNone/>
              <a:defRPr/>
            </a:pPr>
            <a:r>
              <a:rPr lang="en-US" sz="1800"/>
              <a:t>4.0 Roll out</a:t>
            </a:r>
            <a:endParaRPr sz="1800"/>
          </a:p>
          <a:p>
            <a:pPr marL="228600" lvl="0" indent="-228600" algn="l" rtl="0">
              <a:lnSpc>
                <a:spcPct val="120000"/>
              </a:lnSpc>
              <a:spcBef>
                <a:spcPts val="0"/>
              </a:spcBef>
              <a:spcAft>
                <a:spcPts val="0"/>
              </a:spcAft>
              <a:buClr>
                <a:schemeClr val="dk1"/>
              </a:buClr>
              <a:buSzPct val="100000"/>
              <a:buFont typeface="Calibri"/>
              <a:buNone/>
              <a:defRPr/>
            </a:pPr>
            <a:r>
              <a:rPr lang="en-US" sz="1800"/>
              <a:t>5.0 Support</a:t>
            </a:r>
            <a:endParaRPr sz="1800"/>
          </a:p>
        </p:txBody>
      </p:sp>
      <p:sp>
        <p:nvSpPr>
          <p:cNvPr id="876704210" name="Google Shape;876;p5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55</a:t>
            </a:fld>
            <a:endParaRPr/>
          </a:p>
        </p:txBody>
      </p:sp>
      <p:pic>
        <p:nvPicPr>
          <p:cNvPr id="895666782" name="Google Shape;877;p53"/>
          <p:cNvPicPr/>
          <p:nvPr/>
        </p:nvPicPr>
        <p:blipFill rotWithShape="1">
          <a:blip r:embed="rId3">
            <a:alphaModFix/>
          </a:blip>
          <a:srcRect l="26819" t="0" r="42164" b="0"/>
          <a:stretch/>
        </p:blipFill>
        <p:spPr bwMode="auto">
          <a:xfrm>
            <a:off x="8991600" y="-16274"/>
            <a:ext cx="3200400" cy="6867876"/>
          </a:xfrm>
          <a:prstGeom prst="rect">
            <a:avLst/>
          </a:prstGeom>
          <a:noFill/>
          <a:ln>
            <a:noFill/>
          </a:ln>
        </p:spPr>
      </p:pic>
      <p:sp>
        <p:nvSpPr>
          <p:cNvPr id="999577959" name="Google Shape;878;p53"/>
          <p:cNvSpPr txBox="1">
            <a:spLocks noGrp="1"/>
          </p:cNvSpPr>
          <p:nvPr>
            <p:ph type="title"/>
          </p:nvPr>
        </p:nvSpPr>
        <p:spPr bwMode="auto">
          <a:xfrm>
            <a:off x="343771" y="381441"/>
            <a:ext cx="7010399" cy="7159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defRPr/>
            </a:pPr>
            <a:r>
              <a:rPr lang="en-US" sz="4000" b="1"/>
              <a:t>Project Scope Management</a:t>
            </a:r>
            <a:endParaRPr sz="4000" b="1"/>
          </a:p>
        </p:txBody>
      </p:sp>
      <p:sp>
        <p:nvSpPr>
          <p:cNvPr id="1199637428" name="Google Shape;879;p53"/>
          <p:cNvSpPr txBox="1"/>
          <p:nvPr/>
        </p:nvSpPr>
        <p:spPr bwMode="auto">
          <a:xfrm>
            <a:off x="381000" y="10668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637487678" name="Google Shape;880;p53"/>
          <p:cNvCxnSpPr/>
          <p:nvPr/>
        </p:nvCxnSpPr>
        <p:spPr bwMode="auto">
          <a:xfrm rot="10800000">
            <a:off x="496172" y="1540315"/>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781497054" name="Google Shape;875;p53"/>
          <p:cNvSpPr txBox="1"/>
          <p:nvPr/>
        </p:nvSpPr>
        <p:spPr bwMode="auto">
          <a:xfrm>
            <a:off x="343771" y="1598930"/>
            <a:ext cx="3200400" cy="1446509"/>
          </a:xfrm>
          <a:prstGeom prst="rect">
            <a:avLst/>
          </a:prstGeom>
          <a:noFill/>
          <a:ln>
            <a:noFill/>
          </a:ln>
        </p:spPr>
        <p:txBody>
          <a:bodyPr spcFirstLastPara="1" wrap="square" lIns="91425" tIns="45700" rIns="91425" bIns="45700" anchor="t" anchorCtr="0">
            <a:spAutoFit/>
          </a:bodyPr>
          <a:lstStyle/>
          <a:p>
            <a:pPr lvl="0">
              <a:buClr>
                <a:schemeClr val="dk1"/>
              </a:buClr>
              <a:buSzPts val="1500"/>
              <a:defRPr/>
            </a:pPr>
            <a:r>
              <a:rPr lang="en-US" sz="2200" b="1">
                <a:solidFill>
                  <a:schemeClr val="dk1"/>
                </a:solidFill>
                <a:latin typeface="Times New Roman"/>
                <a:ea typeface="Times New Roman"/>
                <a:cs typeface="Times New Roman"/>
              </a:rPr>
              <a:t>Organized the </a:t>
            </a:r>
            <a:r>
              <a:rPr lang="en-US" sz="2200" b="1">
                <a:solidFill>
                  <a:srgbClr val="FF0000"/>
                </a:solidFill>
                <a:latin typeface="Times New Roman"/>
                <a:ea typeface="Times New Roman"/>
                <a:cs typeface="Times New Roman"/>
              </a:rPr>
              <a:t>WBS </a:t>
            </a:r>
            <a:r>
              <a:rPr lang="en-US" sz="2200" b="1">
                <a:solidFill>
                  <a:schemeClr val="dk1"/>
                </a:solidFill>
                <a:latin typeface="Times New Roman"/>
                <a:ea typeface="Times New Roman"/>
                <a:cs typeface="Times New Roman"/>
              </a:rPr>
              <a:t>by </a:t>
            </a:r>
            <a:r>
              <a:rPr lang="en-US" sz="2200" b="1" u="sng">
                <a:solidFill>
                  <a:schemeClr val="dk1"/>
                </a:solidFill>
                <a:latin typeface="Times New Roman"/>
                <a:ea typeface="Times New Roman"/>
                <a:cs typeface="Times New Roman"/>
              </a:rPr>
              <a:t>phases/stages</a:t>
            </a:r>
            <a:r>
              <a:rPr lang="en-US" sz="2200" b="1">
                <a:solidFill>
                  <a:schemeClr val="dk1"/>
                </a:solidFill>
                <a:latin typeface="Times New Roman"/>
                <a:ea typeface="Times New Roman"/>
                <a:cs typeface="Times New Roman"/>
              </a:rPr>
              <a:t> in OUTLINE NUMBERING format</a:t>
            </a:r>
            <a:endParaRPr sz="2200" b="1">
              <a:solidFill>
                <a:schemeClr val="dk1"/>
              </a:solidFill>
              <a:latin typeface="Times New Roman"/>
              <a:ea typeface="Times New Roman"/>
              <a:cs typeface="Times New Roman"/>
            </a:endParaRPr>
          </a:p>
        </p:txBody>
      </p:sp>
      <p:sp>
        <p:nvSpPr>
          <p:cNvPr id="1995438085" name="TextBox 1"/>
          <p:cNvSpPr txBox="1"/>
          <p:nvPr/>
        </p:nvSpPr>
        <p:spPr bwMode="auto">
          <a:xfrm>
            <a:off x="381000" y="3596998"/>
            <a:ext cx="3200401" cy="1569660"/>
          </a:xfrm>
          <a:prstGeom prst="rect">
            <a:avLst/>
          </a:prstGeom>
          <a:noFill/>
        </p:spPr>
        <p:txBody>
          <a:bodyPr wrap="square" rtlCol="0">
            <a:spAutoFit/>
          </a:bodyPr>
          <a:lstStyle/>
          <a:p>
            <a:pPr marL="449263" indent="-449263">
              <a:defRPr/>
            </a:pPr>
            <a:r>
              <a:rPr lang="en-US" sz="2400" b="1">
                <a:solidFill>
                  <a:srgbClr val="FF0000"/>
                </a:solidFill>
              </a:rPr>
              <a:t>Q) </a:t>
            </a:r>
            <a:r>
              <a:rPr lang="en-US" sz="2400">
                <a:solidFill>
                  <a:srgbClr val="FF0000"/>
                </a:solidFill>
              </a:rPr>
              <a:t>There are how many </a:t>
            </a:r>
            <a:r>
              <a:rPr lang="en-US" sz="2400" b="1">
                <a:solidFill>
                  <a:srgbClr val="FF0000"/>
                </a:solidFill>
              </a:rPr>
              <a:t>phases or stages </a:t>
            </a:r>
            <a:r>
              <a:rPr lang="en-US" sz="2400">
                <a:solidFill>
                  <a:srgbClr val="FF0000"/>
                </a:solidFill>
              </a:rPr>
              <a:t>in this WBS?</a:t>
            </a:r>
            <a:endParaRPr lang="en-MY" sz="2400">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81497054"/>
                                        </p:tgtEl>
                                        <p:attrNameLst>
                                          <p:attrName>style.visibility</p:attrName>
                                        </p:attrNameLst>
                                      </p:cBhvr>
                                      <p:to>
                                        <p:strVal val="visible"/>
                                      </p:to>
                                    </p:set>
                                    <p:animEffect transition="in" filter="wipe(left)">
                                      <p:cBhvr>
                                        <p:cTn id="7" dur="500"/>
                                        <p:tgtEl>
                                          <p:spTgt spid="78149705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995438085"/>
                                        </p:tgtEl>
                                        <p:attrNameLst>
                                          <p:attrName>style.visibility</p:attrName>
                                        </p:attrNameLst>
                                      </p:cBhvr>
                                      <p:to>
                                        <p:strVal val="visible"/>
                                      </p:to>
                                    </p:set>
                                    <p:anim calcmode="lin" valueType="num">
                                      <p:cBhvr additive="base">
                                        <p:cTn id="12" dur="500" fill="hold"/>
                                        <p:tgtEl>
                                          <p:spTgt spid="1995438085"/>
                                        </p:tgtEl>
                                        <p:attrNameLst>
                                          <p:attrName>ppt_x</p:attrName>
                                        </p:attrNameLst>
                                      </p:cBhvr>
                                      <p:tavLst>
                                        <p:tav tm="0">
                                          <p:val>
                                            <p:strVal val="#ppt_x"/>
                                          </p:val>
                                        </p:tav>
                                        <p:tav tm="100000">
                                          <p:val>
                                            <p:strVal val="#ppt_x"/>
                                          </p:val>
                                        </p:tav>
                                      </p:tavLst>
                                    </p:anim>
                                    <p:anim calcmode="lin" valueType="num">
                                      <p:cBhvr additive="base">
                                        <p:cTn id="13" dur="500" fill="hold"/>
                                        <p:tgtEl>
                                          <p:spTgt spid="19954380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1497054" grpId="0"/>
      <p:bldP spid="1995438085" grpId="0"/>
    </p:bldLst>
  </p:timing>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10526282" name="Google Shape;851;p52"/>
          <p:cNvPicPr/>
          <p:nvPr/>
        </p:nvPicPr>
        <p:blipFill rotWithShape="1">
          <a:blip r:embed="rId3">
            <a:alphaModFix/>
          </a:blip>
          <a:srcRect l="26819" t="0" r="42164" b="0"/>
          <a:stretch/>
        </p:blipFill>
        <p:spPr bwMode="auto">
          <a:xfrm>
            <a:off x="8991600" y="-16274"/>
            <a:ext cx="3200400" cy="6867876"/>
          </a:xfrm>
          <a:prstGeom prst="rect">
            <a:avLst/>
          </a:prstGeom>
          <a:noFill/>
          <a:ln>
            <a:noFill/>
          </a:ln>
        </p:spPr>
      </p:pic>
      <p:sp>
        <p:nvSpPr>
          <p:cNvPr id="279554884" name="Google Shape;852;p52"/>
          <p:cNvSpPr txBox="1">
            <a:spLocks noGrp="1"/>
          </p:cNvSpPr>
          <p:nvPr>
            <p:ph type="body" idx="1"/>
          </p:nvPr>
        </p:nvSpPr>
        <p:spPr bwMode="auto">
          <a:xfrm>
            <a:off x="381000" y="3200400"/>
            <a:ext cx="6724338" cy="3484921"/>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Font typeface="Calibri"/>
              <a:buNone/>
              <a:defRPr/>
            </a:pPr>
            <a:r>
              <a:rPr lang="en-US" b="1"/>
              <a:t>4. Create Work Breakdown Structure (WBS)</a:t>
            </a:r>
            <a:endParaRPr/>
          </a:p>
          <a:p>
            <a:pPr marL="685800" lvl="1" indent="-228600" algn="l" rtl="0">
              <a:lnSpc>
                <a:spcPct val="90000"/>
              </a:lnSpc>
              <a:spcBef>
                <a:spcPts val="500"/>
              </a:spcBef>
              <a:spcAft>
                <a:spcPts val="0"/>
              </a:spcAft>
              <a:buClr>
                <a:schemeClr val="dk1"/>
              </a:buClr>
              <a:buSzPts val="2400"/>
              <a:buChar char="•"/>
              <a:defRPr/>
            </a:pPr>
            <a:r>
              <a:rPr lang="en-US"/>
              <a:t>Subdivide the major project deliverables into smaller, more manageable components.</a:t>
            </a:r>
            <a:endParaRPr/>
          </a:p>
          <a:p>
            <a:pPr marL="685800" lvl="1" indent="-228600" algn="l" rtl="0">
              <a:lnSpc>
                <a:spcPct val="90000"/>
              </a:lnSpc>
              <a:spcBef>
                <a:spcPts val="500"/>
              </a:spcBef>
              <a:spcAft>
                <a:spcPts val="0"/>
              </a:spcAft>
              <a:buClr>
                <a:schemeClr val="dk1"/>
              </a:buClr>
              <a:buSzPts val="2400"/>
              <a:buChar char="•"/>
              <a:defRPr/>
            </a:pPr>
            <a:r>
              <a:rPr lang="en-US" b="1"/>
              <a:t>WBS is a hierarchy of activities.</a:t>
            </a:r>
            <a:endParaRPr b="1"/>
          </a:p>
          <a:p>
            <a:pPr marL="685800" lvl="1" indent="-228600" algn="l" rtl="0">
              <a:lnSpc>
                <a:spcPct val="90000"/>
              </a:lnSpc>
              <a:spcBef>
                <a:spcPts val="500"/>
              </a:spcBef>
              <a:spcAft>
                <a:spcPts val="0"/>
              </a:spcAft>
              <a:buClr>
                <a:schemeClr val="dk1"/>
              </a:buClr>
              <a:buSzPts val="2400"/>
              <a:buChar char="•"/>
              <a:defRPr/>
            </a:pPr>
            <a:r>
              <a:rPr lang="en-US"/>
              <a:t>Can be organized around project products, project phase, or using the project management process groups.</a:t>
            </a:r>
            <a:endParaRPr/>
          </a:p>
          <a:p>
            <a:pPr marL="685800" lvl="1" indent="-228600" algn="l" rtl="0">
              <a:lnSpc>
                <a:spcPct val="90000"/>
              </a:lnSpc>
              <a:spcBef>
                <a:spcPts val="500"/>
              </a:spcBef>
              <a:spcAft>
                <a:spcPts val="0"/>
              </a:spcAft>
              <a:buClr>
                <a:schemeClr val="dk1"/>
              </a:buClr>
              <a:buSzPts val="2400"/>
              <a:buChar char="•"/>
              <a:defRPr/>
            </a:pPr>
            <a:r>
              <a:rPr lang="en-US" b="1">
                <a:solidFill>
                  <a:srgbClr val="FF0000"/>
                </a:solidFill>
              </a:rPr>
              <a:t>Guideline</a:t>
            </a:r>
            <a:r>
              <a:rPr lang="en-US"/>
              <a:t>: </a:t>
            </a:r>
            <a:r>
              <a:rPr lang="en-US" b="1"/>
              <a:t>breakdown the work until each task can be performed by 1 person within 8-80 hours (1-10 days)</a:t>
            </a:r>
            <a:endParaRPr b="1"/>
          </a:p>
        </p:txBody>
      </p:sp>
      <p:sp>
        <p:nvSpPr>
          <p:cNvPr id="367632493" name="Google Shape;853;p5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56</a:t>
            </a:fld>
            <a:endParaRPr/>
          </a:p>
        </p:txBody>
      </p:sp>
      <p:grpSp>
        <p:nvGrpSpPr>
          <p:cNvPr id="115637470" name="Google Shape;854;p52"/>
          <p:cNvGrpSpPr/>
          <p:nvPr/>
        </p:nvGrpSpPr>
        <p:grpSpPr bwMode="auto">
          <a:xfrm>
            <a:off x="386432" y="2152471"/>
            <a:ext cx="11114335" cy="808315"/>
            <a:chOff x="5432" y="200321"/>
            <a:chExt cx="11114335" cy="808315"/>
          </a:xfrm>
        </p:grpSpPr>
        <p:sp>
          <p:nvSpPr>
            <p:cNvPr id="855" name="Google Shape;855;p52"/>
            <p:cNvSpPr/>
            <p:nvPr/>
          </p:nvSpPr>
          <p:spPr bwMode="auto">
            <a:xfrm>
              <a:off x="5432" y="200321"/>
              <a:ext cx="2020788" cy="808315"/>
            </a:xfrm>
            <a:prstGeom prst="chevron">
              <a:avLst>
                <a:gd name="adj" fmla="val 50000"/>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56" name="Google Shape;856;p52"/>
            <p:cNvSpPr txBox="1"/>
            <p:nvPr/>
          </p:nvSpPr>
          <p:spPr bwMode="auto">
            <a:xfrm>
              <a:off x="409590"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0">
                  <a:solidFill>
                    <a:schemeClr val="lt1"/>
                  </a:solidFill>
                  <a:latin typeface="Calibri"/>
                  <a:ea typeface="Calibri"/>
                  <a:cs typeface="Calibri"/>
                </a:rPr>
                <a:t>1. </a:t>
              </a:r>
              <a:br>
                <a:rPr lang="en-US" sz="1600">
                  <a:solidFill>
                    <a:schemeClr val="lt1"/>
                  </a:solidFill>
                  <a:latin typeface="Calibri"/>
                  <a:ea typeface="Calibri"/>
                  <a:cs typeface="Calibri"/>
                </a:rPr>
              </a:br>
              <a:r>
                <a:rPr lang="en-US" sz="1600" b="0">
                  <a:solidFill>
                    <a:schemeClr val="lt1"/>
                  </a:solidFill>
                  <a:latin typeface="Calibri"/>
                  <a:ea typeface="Calibri"/>
                  <a:cs typeface="Calibri"/>
                </a:rPr>
                <a:t>Plan scope management</a:t>
              </a:r>
              <a:endParaRPr/>
            </a:p>
          </p:txBody>
        </p:sp>
        <p:sp>
          <p:nvSpPr>
            <p:cNvPr id="857" name="Google Shape;857;p52"/>
            <p:cNvSpPr/>
            <p:nvPr/>
          </p:nvSpPr>
          <p:spPr bwMode="auto">
            <a:xfrm>
              <a:off x="1824141"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58" name="Google Shape;858;p52"/>
            <p:cNvSpPr txBox="1"/>
            <p:nvPr/>
          </p:nvSpPr>
          <p:spPr bwMode="auto">
            <a:xfrm>
              <a:off x="2228299"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2. </a:t>
              </a:r>
              <a:br>
                <a:rPr lang="en-US" sz="1600">
                  <a:solidFill>
                    <a:schemeClr val="lt1"/>
                  </a:solidFill>
                  <a:latin typeface="Calibri"/>
                  <a:ea typeface="Calibri"/>
                  <a:cs typeface="Calibri"/>
                </a:rPr>
              </a:br>
              <a:r>
                <a:rPr lang="en-US" sz="1600">
                  <a:solidFill>
                    <a:schemeClr val="lt1"/>
                  </a:solidFill>
                  <a:latin typeface="Calibri"/>
                  <a:ea typeface="Calibri"/>
                  <a:cs typeface="Calibri"/>
                </a:rPr>
                <a:t>Collect requirements</a:t>
              </a:r>
              <a:endParaRPr/>
            </a:p>
          </p:txBody>
        </p:sp>
        <p:sp>
          <p:nvSpPr>
            <p:cNvPr id="859" name="Google Shape;859;p52"/>
            <p:cNvSpPr/>
            <p:nvPr/>
          </p:nvSpPr>
          <p:spPr bwMode="auto">
            <a:xfrm>
              <a:off x="3642851"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60" name="Google Shape;860;p52"/>
            <p:cNvSpPr txBox="1"/>
            <p:nvPr/>
          </p:nvSpPr>
          <p:spPr bwMode="auto">
            <a:xfrm>
              <a:off x="4047009"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3. </a:t>
              </a:r>
              <a:br>
                <a:rPr lang="en-US" sz="1600">
                  <a:solidFill>
                    <a:schemeClr val="lt1"/>
                  </a:solidFill>
                  <a:latin typeface="Calibri"/>
                  <a:ea typeface="Calibri"/>
                  <a:cs typeface="Calibri"/>
                </a:rPr>
              </a:br>
              <a:r>
                <a:rPr lang="en-US" sz="1600">
                  <a:solidFill>
                    <a:schemeClr val="lt1"/>
                  </a:solidFill>
                  <a:latin typeface="Calibri"/>
                  <a:ea typeface="Calibri"/>
                  <a:cs typeface="Calibri"/>
                </a:rPr>
                <a:t>Define </a:t>
              </a:r>
              <a:br>
                <a:rPr lang="en-US" sz="1600">
                  <a:solidFill>
                    <a:schemeClr val="lt1"/>
                  </a:solidFill>
                  <a:latin typeface="Calibri"/>
                  <a:ea typeface="Calibri"/>
                  <a:cs typeface="Calibri"/>
                </a:rPr>
              </a:br>
              <a:r>
                <a:rPr lang="en-US" sz="1600">
                  <a:solidFill>
                    <a:schemeClr val="lt1"/>
                  </a:solidFill>
                  <a:latin typeface="Calibri"/>
                  <a:ea typeface="Calibri"/>
                  <a:cs typeface="Calibri"/>
                </a:rPr>
                <a:t>scope</a:t>
              </a:r>
              <a:endParaRPr/>
            </a:p>
          </p:txBody>
        </p:sp>
        <p:sp>
          <p:nvSpPr>
            <p:cNvPr id="861" name="Google Shape;861;p52"/>
            <p:cNvSpPr/>
            <p:nvPr/>
          </p:nvSpPr>
          <p:spPr bwMode="auto">
            <a:xfrm>
              <a:off x="5461560" y="200321"/>
              <a:ext cx="2020788" cy="808315"/>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62" name="Google Shape;862;p52"/>
            <p:cNvSpPr txBox="1"/>
            <p:nvPr/>
          </p:nvSpPr>
          <p:spPr bwMode="auto">
            <a:xfrm>
              <a:off x="5865718"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1">
                  <a:solidFill>
                    <a:schemeClr val="lt1"/>
                  </a:solidFill>
                  <a:latin typeface="Calibri"/>
                  <a:ea typeface="Calibri"/>
                  <a:cs typeface="Calibri"/>
                </a:rPr>
                <a:t>4. </a:t>
              </a:r>
              <a:br>
                <a:rPr lang="en-US" sz="1600">
                  <a:solidFill>
                    <a:schemeClr val="lt1"/>
                  </a:solidFill>
                  <a:latin typeface="Calibri"/>
                  <a:ea typeface="Calibri"/>
                  <a:cs typeface="Calibri"/>
                </a:rPr>
              </a:br>
              <a:r>
                <a:rPr lang="en-US" sz="1600" b="1">
                  <a:solidFill>
                    <a:schemeClr val="lt1"/>
                  </a:solidFill>
                  <a:latin typeface="Calibri"/>
                  <a:ea typeface="Calibri"/>
                  <a:cs typeface="Calibri"/>
                </a:rPr>
                <a:t>Create </a:t>
              </a:r>
              <a:br>
                <a:rPr lang="en-US" sz="1600">
                  <a:solidFill>
                    <a:schemeClr val="lt1"/>
                  </a:solidFill>
                  <a:latin typeface="Calibri"/>
                  <a:ea typeface="Calibri"/>
                  <a:cs typeface="Calibri"/>
                </a:rPr>
              </a:br>
              <a:r>
                <a:rPr lang="en-US" sz="1600" b="1">
                  <a:solidFill>
                    <a:schemeClr val="lt1"/>
                  </a:solidFill>
                  <a:latin typeface="Calibri"/>
                  <a:ea typeface="Calibri"/>
                  <a:cs typeface="Calibri"/>
                </a:rPr>
                <a:t>WBS</a:t>
              </a:r>
              <a:endParaRPr/>
            </a:p>
          </p:txBody>
        </p:sp>
        <p:sp>
          <p:nvSpPr>
            <p:cNvPr id="863" name="Google Shape;863;p52"/>
            <p:cNvSpPr/>
            <p:nvPr/>
          </p:nvSpPr>
          <p:spPr bwMode="auto">
            <a:xfrm>
              <a:off x="7280270"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64" name="Google Shape;864;p52"/>
            <p:cNvSpPr txBox="1"/>
            <p:nvPr/>
          </p:nvSpPr>
          <p:spPr bwMode="auto">
            <a:xfrm>
              <a:off x="7684428"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5. </a:t>
              </a:r>
              <a:br>
                <a:rPr lang="en-US" sz="1600">
                  <a:solidFill>
                    <a:schemeClr val="lt1"/>
                  </a:solidFill>
                  <a:latin typeface="Calibri"/>
                  <a:ea typeface="Calibri"/>
                  <a:cs typeface="Calibri"/>
                </a:rPr>
              </a:br>
              <a:r>
                <a:rPr lang="en-US" sz="1600">
                  <a:solidFill>
                    <a:schemeClr val="lt1"/>
                  </a:solidFill>
                  <a:latin typeface="Calibri"/>
                  <a:ea typeface="Calibri"/>
                  <a:cs typeface="Calibri"/>
                </a:rPr>
                <a:t>Validate scope</a:t>
              </a:r>
              <a:endParaRPr/>
            </a:p>
          </p:txBody>
        </p:sp>
        <p:sp>
          <p:nvSpPr>
            <p:cNvPr id="865" name="Google Shape;865;p52"/>
            <p:cNvSpPr/>
            <p:nvPr/>
          </p:nvSpPr>
          <p:spPr bwMode="auto">
            <a:xfrm>
              <a:off x="9098979"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66" name="Google Shape;866;p52"/>
            <p:cNvSpPr txBox="1"/>
            <p:nvPr/>
          </p:nvSpPr>
          <p:spPr bwMode="auto">
            <a:xfrm>
              <a:off x="9503137"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6. </a:t>
              </a:r>
              <a:br>
                <a:rPr lang="en-US" sz="1600">
                  <a:solidFill>
                    <a:schemeClr val="lt1"/>
                  </a:solidFill>
                  <a:latin typeface="Calibri"/>
                  <a:ea typeface="Calibri"/>
                  <a:cs typeface="Calibri"/>
                </a:rPr>
              </a:br>
              <a:r>
                <a:rPr lang="en-US" sz="1600">
                  <a:solidFill>
                    <a:schemeClr val="lt1"/>
                  </a:solidFill>
                  <a:latin typeface="Calibri"/>
                  <a:ea typeface="Calibri"/>
                  <a:cs typeface="Calibri"/>
                </a:rPr>
                <a:t>Control scope</a:t>
              </a:r>
              <a:endParaRPr/>
            </a:p>
          </p:txBody>
        </p:sp>
      </p:grpSp>
      <p:sp>
        <p:nvSpPr>
          <p:cNvPr id="1255393467" name="Google Shape;867;p52"/>
          <p:cNvSpPr txBox="1">
            <a:spLocks noGrp="1"/>
          </p:cNvSpPr>
          <p:nvPr>
            <p:ph type="title"/>
          </p:nvPr>
        </p:nvSpPr>
        <p:spPr bwMode="auto">
          <a:xfrm>
            <a:off x="343771" y="381441"/>
            <a:ext cx="7010399" cy="7159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defRPr/>
            </a:pPr>
            <a:r>
              <a:rPr lang="en-US" sz="4000" b="1"/>
              <a:t>Project Scope Management</a:t>
            </a:r>
            <a:endParaRPr sz="4000" b="1"/>
          </a:p>
        </p:txBody>
      </p:sp>
      <p:sp>
        <p:nvSpPr>
          <p:cNvPr id="1952371792" name="Google Shape;868;p52"/>
          <p:cNvSpPr txBox="1"/>
          <p:nvPr/>
        </p:nvSpPr>
        <p:spPr bwMode="auto">
          <a:xfrm>
            <a:off x="381000" y="10668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146543841" name="Google Shape;869;p52"/>
          <p:cNvCxnSpPr/>
          <p:nvPr/>
        </p:nvCxnSpPr>
        <p:spPr bwMode="auto">
          <a:xfrm rot="10800000">
            <a:off x="496172" y="1540315"/>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265532807" name="Google Shape;874;p53"/>
          <p:cNvSpPr txBox="1"/>
          <p:nvPr/>
        </p:nvSpPr>
        <p:spPr bwMode="auto">
          <a:xfrm>
            <a:off x="520181" y="1710747"/>
            <a:ext cx="5181600" cy="5027332"/>
          </a:xfrm>
          <a:prstGeom prst="rect">
            <a:avLst/>
          </a:prstGeom>
          <a:gradFill>
            <a:gsLst>
              <a:gs pos="0">
                <a:srgbClr val="FFDABF"/>
              </a:gs>
              <a:gs pos="50000">
                <a:srgbClr val="FFE6D6"/>
              </a:gs>
              <a:gs pos="100000">
                <a:srgbClr val="FFF2EA"/>
              </a:gs>
            </a:gsLst>
            <a:lin ang="16200000" scaled="0"/>
          </a:gra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marL="228600" indent="-228600">
              <a:lnSpc>
                <a:spcPct val="120000"/>
              </a:lnSpc>
              <a:spcBef>
                <a:spcPts val="0"/>
              </a:spcBef>
              <a:buSzPct val="100000"/>
              <a:buFont typeface="Calibri"/>
              <a:buNone/>
              <a:defRPr/>
            </a:pPr>
            <a:r>
              <a:rPr lang="en-US" sz="1800"/>
              <a:t>1.0 Concept</a:t>
            </a:r>
            <a:endParaRPr/>
          </a:p>
          <a:p>
            <a:pPr marL="228600" indent="-228600">
              <a:lnSpc>
                <a:spcPct val="120000"/>
              </a:lnSpc>
              <a:spcBef>
                <a:spcPts val="0"/>
              </a:spcBef>
              <a:buSzPct val="100000"/>
              <a:buFont typeface="Calibri"/>
              <a:buNone/>
              <a:defRPr/>
            </a:pPr>
            <a:r>
              <a:rPr lang="en-US" sz="1800"/>
              <a:t>	</a:t>
            </a:r>
            <a:r>
              <a:rPr lang="en-US" sz="1800">
                <a:solidFill>
                  <a:srgbClr val="0000FF"/>
                </a:solidFill>
              </a:rPr>
              <a:t>1.1 Evaluate current systems</a:t>
            </a:r>
            <a:endParaRPr/>
          </a:p>
          <a:p>
            <a:pPr marL="228600" indent="-228600">
              <a:lnSpc>
                <a:spcPct val="120000"/>
              </a:lnSpc>
              <a:spcBef>
                <a:spcPts val="0"/>
              </a:spcBef>
              <a:buSzPct val="100000"/>
              <a:buFont typeface="Calibri"/>
              <a:buNone/>
              <a:defRPr/>
            </a:pPr>
            <a:r>
              <a:rPr lang="en-US" sz="1800">
                <a:solidFill>
                  <a:srgbClr val="0000FF"/>
                </a:solidFill>
              </a:rPr>
              <a:t>	1.2 Define requirements</a:t>
            </a:r>
            <a:endParaRPr/>
          </a:p>
          <a:p>
            <a:pPr marL="228600" indent="-228600">
              <a:lnSpc>
                <a:spcPct val="120000"/>
              </a:lnSpc>
              <a:spcBef>
                <a:spcPts val="0"/>
              </a:spcBef>
              <a:buSzPct val="100000"/>
              <a:buFont typeface="Calibri"/>
              <a:buNone/>
              <a:defRPr/>
            </a:pPr>
            <a:r>
              <a:rPr lang="en-US" sz="1800">
                <a:solidFill>
                  <a:srgbClr val="0000FF"/>
                </a:solidFill>
              </a:rPr>
              <a:t>		</a:t>
            </a:r>
            <a:r>
              <a:rPr lang="en-US" sz="1800" b="1">
                <a:solidFill>
                  <a:srgbClr val="0000FF"/>
                </a:solidFill>
              </a:rPr>
              <a:t>1.2.1 Define user requirements</a:t>
            </a:r>
            <a:endParaRPr/>
          </a:p>
          <a:p>
            <a:pPr marL="228600" indent="-228600">
              <a:lnSpc>
                <a:spcPct val="120000"/>
              </a:lnSpc>
              <a:spcBef>
                <a:spcPts val="0"/>
              </a:spcBef>
              <a:buSzPct val="100000"/>
              <a:buFont typeface="Calibri"/>
              <a:buNone/>
              <a:defRPr/>
            </a:pPr>
            <a:r>
              <a:rPr lang="en-US" sz="1800" b="1">
                <a:solidFill>
                  <a:srgbClr val="0000FF"/>
                </a:solidFill>
              </a:rPr>
              <a:t>		1.2.2 Define content requirements</a:t>
            </a:r>
            <a:endParaRPr/>
          </a:p>
          <a:p>
            <a:pPr marL="228600" indent="-228600">
              <a:lnSpc>
                <a:spcPct val="120000"/>
              </a:lnSpc>
              <a:spcBef>
                <a:spcPts val="0"/>
              </a:spcBef>
              <a:buSzPct val="100000"/>
              <a:buFont typeface="Calibri"/>
              <a:buNone/>
              <a:defRPr/>
            </a:pPr>
            <a:r>
              <a:rPr lang="en-US" sz="1800" b="1">
                <a:solidFill>
                  <a:srgbClr val="0000FF"/>
                </a:solidFill>
              </a:rPr>
              <a:t>		1.2.3 Define system requirements</a:t>
            </a:r>
            <a:endParaRPr/>
          </a:p>
          <a:p>
            <a:pPr marL="228600" indent="-228600">
              <a:lnSpc>
                <a:spcPct val="120000"/>
              </a:lnSpc>
              <a:spcBef>
                <a:spcPts val="0"/>
              </a:spcBef>
              <a:buSzPct val="100000"/>
              <a:buFont typeface="Calibri"/>
              <a:buNone/>
              <a:defRPr/>
            </a:pPr>
            <a:r>
              <a:rPr lang="en-US" sz="1800" b="1">
                <a:solidFill>
                  <a:srgbClr val="0000FF"/>
                </a:solidFill>
              </a:rPr>
              <a:t>		1.2.4 Define server owner requirements</a:t>
            </a:r>
            <a:endParaRPr/>
          </a:p>
          <a:p>
            <a:pPr marL="228600" indent="-228600">
              <a:lnSpc>
                <a:spcPct val="120000"/>
              </a:lnSpc>
              <a:spcBef>
                <a:spcPts val="0"/>
              </a:spcBef>
              <a:buSzPct val="100000"/>
              <a:buFont typeface="Calibri"/>
              <a:buNone/>
              <a:defRPr/>
            </a:pPr>
            <a:r>
              <a:rPr lang="en-US" sz="1800">
                <a:solidFill>
                  <a:srgbClr val="0000FF"/>
                </a:solidFill>
              </a:rPr>
              <a:t>	1.3 Define specific functionality</a:t>
            </a:r>
            <a:endParaRPr/>
          </a:p>
          <a:p>
            <a:pPr marL="228600" indent="-228600">
              <a:lnSpc>
                <a:spcPct val="120000"/>
              </a:lnSpc>
              <a:spcBef>
                <a:spcPts val="0"/>
              </a:spcBef>
              <a:buSzPct val="100000"/>
              <a:buFont typeface="Calibri"/>
              <a:buNone/>
              <a:defRPr/>
            </a:pPr>
            <a:r>
              <a:rPr lang="en-US" sz="1800">
                <a:solidFill>
                  <a:srgbClr val="0000FF"/>
                </a:solidFill>
              </a:rPr>
              <a:t>	1.4 Define risks and risk management approach</a:t>
            </a:r>
            <a:endParaRPr/>
          </a:p>
          <a:p>
            <a:pPr marL="228600" indent="-228600">
              <a:lnSpc>
                <a:spcPct val="120000"/>
              </a:lnSpc>
              <a:spcBef>
                <a:spcPts val="0"/>
              </a:spcBef>
              <a:buSzPct val="100000"/>
              <a:buFont typeface="Calibri"/>
              <a:buNone/>
              <a:defRPr/>
            </a:pPr>
            <a:r>
              <a:rPr lang="en-US" sz="1800">
                <a:solidFill>
                  <a:srgbClr val="0000FF"/>
                </a:solidFill>
              </a:rPr>
              <a:t>	1.5 Develop project plan</a:t>
            </a:r>
            <a:endParaRPr/>
          </a:p>
          <a:p>
            <a:pPr marL="228600" indent="-228600">
              <a:lnSpc>
                <a:spcPct val="120000"/>
              </a:lnSpc>
              <a:spcBef>
                <a:spcPts val="0"/>
              </a:spcBef>
              <a:buSzPct val="100000"/>
              <a:buFont typeface="Calibri"/>
              <a:buNone/>
              <a:defRPr/>
            </a:pPr>
            <a:r>
              <a:rPr lang="en-US" sz="1800">
                <a:solidFill>
                  <a:srgbClr val="0000FF"/>
                </a:solidFill>
              </a:rPr>
              <a:t>	1.6 Brief Web development team</a:t>
            </a:r>
            <a:endParaRPr/>
          </a:p>
          <a:p>
            <a:pPr marL="228600" indent="-228600">
              <a:lnSpc>
                <a:spcPct val="120000"/>
              </a:lnSpc>
              <a:spcBef>
                <a:spcPts val="0"/>
              </a:spcBef>
              <a:buSzPct val="100000"/>
              <a:buFont typeface="Calibri"/>
              <a:buNone/>
              <a:defRPr/>
            </a:pPr>
            <a:r>
              <a:rPr lang="en-US" sz="1800"/>
              <a:t>2.0 Web site design</a:t>
            </a:r>
            <a:endParaRPr/>
          </a:p>
          <a:p>
            <a:pPr marL="228600" indent="-228600">
              <a:lnSpc>
                <a:spcPct val="120000"/>
              </a:lnSpc>
              <a:spcBef>
                <a:spcPts val="0"/>
              </a:spcBef>
              <a:buSzPct val="100000"/>
              <a:buFont typeface="Calibri"/>
              <a:buNone/>
              <a:defRPr/>
            </a:pPr>
            <a:r>
              <a:rPr lang="en-US" sz="1800"/>
              <a:t>3.0 Web site development</a:t>
            </a:r>
            <a:endParaRPr/>
          </a:p>
          <a:p>
            <a:pPr marL="228600" indent="-228600">
              <a:lnSpc>
                <a:spcPct val="120000"/>
              </a:lnSpc>
              <a:spcBef>
                <a:spcPts val="0"/>
              </a:spcBef>
              <a:buSzPct val="100000"/>
              <a:buFont typeface="Calibri"/>
              <a:buNone/>
              <a:defRPr/>
            </a:pPr>
            <a:r>
              <a:rPr lang="en-US" sz="1800"/>
              <a:t>4.0 Roll out</a:t>
            </a:r>
            <a:endParaRPr/>
          </a:p>
          <a:p>
            <a:pPr marL="228600" indent="-228600">
              <a:lnSpc>
                <a:spcPct val="120000"/>
              </a:lnSpc>
              <a:spcBef>
                <a:spcPts val="0"/>
              </a:spcBef>
              <a:buSzPct val="100000"/>
              <a:buFont typeface="Calibri"/>
              <a:buNone/>
              <a:defRPr/>
            </a:pPr>
            <a:r>
              <a:rPr lang="en-US" sz="1800"/>
              <a:t>5.0 Support</a:t>
            </a:r>
            <a:endParaRPr/>
          </a:p>
        </p:txBody>
      </p:sp>
      <p:sp>
        <p:nvSpPr>
          <p:cNvPr id="1271865028" name="Google Shape;874;p53"/>
          <p:cNvSpPr txBox="1"/>
          <p:nvPr/>
        </p:nvSpPr>
        <p:spPr bwMode="auto">
          <a:xfrm>
            <a:off x="6687101" y="1710747"/>
            <a:ext cx="5181600" cy="5027332"/>
          </a:xfrm>
          <a:prstGeom prst="rect">
            <a:avLst/>
          </a:prstGeom>
          <a:gradFill>
            <a:gsLst>
              <a:gs pos="0">
                <a:srgbClr val="FFDABF"/>
              </a:gs>
              <a:gs pos="50000">
                <a:srgbClr val="FFE6D6"/>
              </a:gs>
              <a:gs pos="100000">
                <a:srgbClr val="FFF2EA"/>
              </a:gs>
            </a:gsLst>
            <a:lin ang="16200000" scaled="0"/>
          </a:gra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marL="228600" indent="-228600">
              <a:lnSpc>
                <a:spcPct val="120000"/>
              </a:lnSpc>
              <a:spcBef>
                <a:spcPts val="0"/>
              </a:spcBef>
              <a:buSzPct val="100000"/>
              <a:buFont typeface="Calibri"/>
              <a:buNone/>
              <a:defRPr/>
            </a:pPr>
            <a:r>
              <a:rPr lang="en-US" sz="1800"/>
              <a:t>1.0 Concept</a:t>
            </a:r>
            <a:endParaRPr/>
          </a:p>
          <a:p>
            <a:pPr marL="228600" indent="-228600">
              <a:lnSpc>
                <a:spcPct val="120000"/>
              </a:lnSpc>
              <a:spcBef>
                <a:spcPts val="0"/>
              </a:spcBef>
              <a:buSzPct val="100000"/>
              <a:buFont typeface="Calibri"/>
              <a:buNone/>
              <a:defRPr/>
            </a:pPr>
            <a:r>
              <a:rPr lang="en-US" sz="1800"/>
              <a:t>1.1 Evaluate current systems</a:t>
            </a:r>
            <a:endParaRPr lang="en-US" sz="1800" b="1">
              <a:solidFill>
                <a:srgbClr val="FF0000"/>
              </a:solidFill>
            </a:endParaRPr>
          </a:p>
          <a:p>
            <a:pPr marL="228600" indent="-228600">
              <a:lnSpc>
                <a:spcPct val="120000"/>
              </a:lnSpc>
              <a:spcBef>
                <a:spcPts val="0"/>
              </a:spcBef>
              <a:buSzPct val="100000"/>
              <a:buFont typeface="Calibri"/>
              <a:buNone/>
              <a:defRPr/>
            </a:pPr>
            <a:r>
              <a:rPr lang="en-US" sz="1800"/>
              <a:t>1.2 Define requirements</a:t>
            </a:r>
            <a:endParaRPr/>
          </a:p>
          <a:p>
            <a:pPr marL="228600" indent="-228600">
              <a:lnSpc>
                <a:spcPct val="120000"/>
              </a:lnSpc>
              <a:spcBef>
                <a:spcPts val="0"/>
              </a:spcBef>
              <a:buSzPct val="100000"/>
              <a:buFont typeface="Calibri"/>
              <a:buNone/>
              <a:defRPr/>
            </a:pPr>
            <a:r>
              <a:rPr lang="en-US" sz="1800"/>
              <a:t>1.2.1 Define user requirements</a:t>
            </a:r>
            <a:endParaRPr lang="en-US" sz="1800" b="1"/>
          </a:p>
          <a:p>
            <a:pPr marL="228600" indent="-228600">
              <a:lnSpc>
                <a:spcPct val="120000"/>
              </a:lnSpc>
              <a:spcBef>
                <a:spcPts val="0"/>
              </a:spcBef>
              <a:buSzPct val="100000"/>
              <a:buFont typeface="Calibri"/>
              <a:buNone/>
              <a:defRPr/>
            </a:pPr>
            <a:r>
              <a:rPr lang="en-US" sz="1800"/>
              <a:t>1.2.2 Define content requirements</a:t>
            </a:r>
            <a:endParaRPr/>
          </a:p>
          <a:p>
            <a:pPr marL="228600" indent="-228600">
              <a:lnSpc>
                <a:spcPct val="120000"/>
              </a:lnSpc>
              <a:spcBef>
                <a:spcPts val="0"/>
              </a:spcBef>
              <a:buSzPct val="100000"/>
              <a:buFont typeface="Calibri"/>
              <a:buNone/>
              <a:defRPr/>
            </a:pPr>
            <a:r>
              <a:rPr lang="en-US" sz="1800"/>
              <a:t>1.2.3 Define system requirements</a:t>
            </a:r>
            <a:endParaRPr/>
          </a:p>
          <a:p>
            <a:pPr marL="228600" indent="-228600">
              <a:lnSpc>
                <a:spcPct val="120000"/>
              </a:lnSpc>
              <a:spcBef>
                <a:spcPts val="0"/>
              </a:spcBef>
              <a:buSzPct val="100000"/>
              <a:buFont typeface="Calibri"/>
              <a:buNone/>
              <a:defRPr/>
            </a:pPr>
            <a:r>
              <a:rPr lang="en-US" sz="1800"/>
              <a:t>1.2.4 Define server owner requirements</a:t>
            </a:r>
            <a:endParaRPr/>
          </a:p>
          <a:p>
            <a:pPr marL="228600" indent="-228600">
              <a:lnSpc>
                <a:spcPct val="120000"/>
              </a:lnSpc>
              <a:spcBef>
                <a:spcPts val="0"/>
              </a:spcBef>
              <a:buSzPct val="100000"/>
              <a:buFont typeface="Calibri"/>
              <a:buNone/>
              <a:defRPr/>
            </a:pPr>
            <a:r>
              <a:rPr lang="en-US" sz="1800"/>
              <a:t>1.3 Define specific functionality</a:t>
            </a:r>
            <a:endParaRPr/>
          </a:p>
          <a:p>
            <a:pPr marL="228600" indent="-228600">
              <a:lnSpc>
                <a:spcPct val="120000"/>
              </a:lnSpc>
              <a:spcBef>
                <a:spcPts val="0"/>
              </a:spcBef>
              <a:buSzPct val="100000"/>
              <a:buFont typeface="Calibri"/>
              <a:buNone/>
              <a:defRPr/>
            </a:pPr>
            <a:r>
              <a:rPr lang="en-US" sz="1800"/>
              <a:t>1.4 Define risks and risk management approach</a:t>
            </a:r>
            <a:endParaRPr/>
          </a:p>
          <a:p>
            <a:pPr marL="228600" indent="-228600">
              <a:lnSpc>
                <a:spcPct val="120000"/>
              </a:lnSpc>
              <a:spcBef>
                <a:spcPts val="0"/>
              </a:spcBef>
              <a:buSzPct val="100000"/>
              <a:buFont typeface="Calibri"/>
              <a:buNone/>
              <a:defRPr/>
            </a:pPr>
            <a:r>
              <a:rPr lang="en-US" sz="1800"/>
              <a:t>1.5 Develop project plan</a:t>
            </a:r>
            <a:endParaRPr/>
          </a:p>
          <a:p>
            <a:pPr marL="228600" indent="-228600">
              <a:lnSpc>
                <a:spcPct val="120000"/>
              </a:lnSpc>
              <a:spcBef>
                <a:spcPts val="0"/>
              </a:spcBef>
              <a:buSzPct val="100000"/>
              <a:buFont typeface="Calibri"/>
              <a:buNone/>
              <a:defRPr/>
            </a:pPr>
            <a:r>
              <a:rPr lang="en-US" sz="1800"/>
              <a:t>1.6 Brief Web development team</a:t>
            </a:r>
            <a:endParaRPr/>
          </a:p>
          <a:p>
            <a:pPr marL="228600" indent="-228600">
              <a:lnSpc>
                <a:spcPct val="120000"/>
              </a:lnSpc>
              <a:spcBef>
                <a:spcPts val="0"/>
              </a:spcBef>
              <a:buSzPct val="100000"/>
              <a:buFont typeface="Calibri"/>
              <a:buNone/>
              <a:defRPr/>
            </a:pPr>
            <a:r>
              <a:rPr lang="en-US" sz="1800"/>
              <a:t>2.0 Web site design</a:t>
            </a:r>
            <a:endParaRPr/>
          </a:p>
          <a:p>
            <a:pPr marL="228600" indent="-228600">
              <a:lnSpc>
                <a:spcPct val="120000"/>
              </a:lnSpc>
              <a:spcBef>
                <a:spcPts val="0"/>
              </a:spcBef>
              <a:buSzPct val="100000"/>
              <a:buFont typeface="Calibri"/>
              <a:buNone/>
              <a:defRPr/>
            </a:pPr>
            <a:r>
              <a:rPr lang="en-US" sz="1800"/>
              <a:t>3.0 Web site development</a:t>
            </a:r>
            <a:endParaRPr/>
          </a:p>
          <a:p>
            <a:pPr marL="228600" indent="-228600">
              <a:lnSpc>
                <a:spcPct val="120000"/>
              </a:lnSpc>
              <a:spcBef>
                <a:spcPts val="0"/>
              </a:spcBef>
              <a:buSzPct val="100000"/>
              <a:buFont typeface="Calibri"/>
              <a:buNone/>
              <a:defRPr/>
            </a:pPr>
            <a:r>
              <a:rPr lang="en-US" sz="1800"/>
              <a:t>4.0 Roll out</a:t>
            </a:r>
            <a:endParaRPr/>
          </a:p>
          <a:p>
            <a:pPr marL="228600" indent="-228600">
              <a:lnSpc>
                <a:spcPct val="120000"/>
              </a:lnSpc>
              <a:spcBef>
                <a:spcPts val="0"/>
              </a:spcBef>
              <a:buSzPct val="100000"/>
              <a:buFont typeface="Calibri"/>
              <a:buNone/>
              <a:defRPr/>
            </a:pPr>
            <a:r>
              <a:rPr lang="en-US" sz="1800"/>
              <a:t>5.0 Support</a:t>
            </a:r>
            <a:endParaRPr/>
          </a:p>
        </p:txBody>
      </p:sp>
      <p:sp>
        <p:nvSpPr>
          <p:cNvPr id="1200036812" name="Speech Bubble: Rectangle 3"/>
          <p:cNvSpPr/>
          <p:nvPr/>
        </p:nvSpPr>
        <p:spPr bwMode="auto">
          <a:xfrm>
            <a:off x="2272342" y="1463500"/>
            <a:ext cx="3869821" cy="492114"/>
          </a:xfrm>
          <a:prstGeom prst="wedgeRectCallout">
            <a:avLst>
              <a:gd name="adj1" fmla="val 3288"/>
              <a:gd name="adj2" fmla="val 21767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defRPr/>
            </a:pPr>
            <a:r>
              <a:rPr lang="en-US" sz="1600"/>
              <a:t>1. Arrange WBS in logical sequence</a:t>
            </a:r>
            <a:endParaRPr/>
          </a:p>
          <a:p>
            <a:pPr>
              <a:defRPr/>
            </a:pPr>
            <a:r>
              <a:rPr lang="en-US" sz="1600"/>
              <a:t>2. Indent sub-tasks</a:t>
            </a:r>
            <a:endParaRPr lang="en-GB" sz="1600"/>
          </a:p>
        </p:txBody>
      </p:sp>
      <p:grpSp>
        <p:nvGrpSpPr>
          <p:cNvPr id="367453063" name="Group 4"/>
          <p:cNvGrpSpPr/>
          <p:nvPr/>
        </p:nvGrpSpPr>
        <p:grpSpPr bwMode="auto">
          <a:xfrm>
            <a:off x="9982200" y="3087002"/>
            <a:ext cx="1280027" cy="1283813"/>
            <a:chOff x="7137963" y="2308142"/>
            <a:chExt cx="2890706" cy="3789911"/>
          </a:xfrm>
        </p:grpSpPr>
        <p:cxnSp>
          <p:nvCxnSpPr>
            <p:cNvPr id="6" name="Straight Connector 5"/>
            <p:cNvCxnSpPr/>
            <p:nvPr/>
          </p:nvCxnSpPr>
          <p:spPr bwMode="auto">
            <a:xfrm flipH="1">
              <a:off x="7149171" y="2308142"/>
              <a:ext cx="2879498" cy="378991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auto">
            <a:xfrm>
              <a:off x="7137963" y="2324746"/>
              <a:ext cx="2761743" cy="356964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27889487" name="Rectangle 7"/>
          <p:cNvSpPr/>
          <p:nvPr/>
        </p:nvSpPr>
        <p:spPr bwMode="auto">
          <a:xfrm>
            <a:off x="6625802" y="2090688"/>
            <a:ext cx="4318393" cy="327644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200036812"/>
                                        </p:tgtEl>
                                        <p:attrNameLst>
                                          <p:attrName>style.visibility</p:attrName>
                                        </p:attrNameLst>
                                      </p:cBhvr>
                                      <p:to>
                                        <p:strVal val="visible"/>
                                      </p:to>
                                    </p:set>
                                    <p:animEffect transition="in" filter="wipe(up)">
                                      <p:cBhvr>
                                        <p:cTn id="7" dur="500"/>
                                        <p:tgtEl>
                                          <p:spTgt spid="12000368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67632493"/>
                                        </p:tgtEl>
                                        <p:attrNameLst>
                                          <p:attrName>style.visibility</p:attrName>
                                        </p:attrNameLst>
                                      </p:cBhvr>
                                      <p:to>
                                        <p:strVal val="visible"/>
                                      </p:to>
                                    </p:set>
                                    <p:anim calcmode="lin" valueType="num">
                                      <p:cBhvr additive="base">
                                        <p:cTn id="12" dur="500" fill="hold"/>
                                        <p:tgtEl>
                                          <p:spTgt spid="367632493"/>
                                        </p:tgtEl>
                                        <p:attrNameLst>
                                          <p:attrName>ppt_x</p:attrName>
                                        </p:attrNameLst>
                                      </p:cBhvr>
                                      <p:tavLst>
                                        <p:tav tm="0">
                                          <p:val>
                                            <p:strVal val="#ppt_x"/>
                                          </p:val>
                                        </p:tav>
                                        <p:tav tm="100000">
                                          <p:val>
                                            <p:strVal val="#ppt_x"/>
                                          </p:val>
                                        </p:tav>
                                      </p:tavLst>
                                    </p:anim>
                                    <p:anim calcmode="lin" valueType="num">
                                      <p:cBhvr additive="base">
                                        <p:cTn id="13" dur="500" fill="hold"/>
                                        <p:tgtEl>
                                          <p:spTgt spid="367632493"/>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271865028"/>
                                        </p:tgtEl>
                                        <p:attrNameLst>
                                          <p:attrName>style.visibility</p:attrName>
                                        </p:attrNameLst>
                                      </p:cBhvr>
                                      <p:to>
                                        <p:strVal val="visible"/>
                                      </p:to>
                                    </p:set>
                                    <p:anim calcmode="lin" valueType="num">
                                      <p:cBhvr additive="base">
                                        <p:cTn id="16" dur="500" fill="hold"/>
                                        <p:tgtEl>
                                          <p:spTgt spid="1271865028"/>
                                        </p:tgtEl>
                                        <p:attrNameLst>
                                          <p:attrName>ppt_x</p:attrName>
                                        </p:attrNameLst>
                                      </p:cBhvr>
                                      <p:tavLst>
                                        <p:tav tm="0">
                                          <p:val>
                                            <p:strVal val="#ppt_x"/>
                                          </p:val>
                                        </p:tav>
                                        <p:tav tm="100000">
                                          <p:val>
                                            <p:strVal val="#ppt_x"/>
                                          </p:val>
                                        </p:tav>
                                      </p:tavLst>
                                    </p:anim>
                                    <p:anim calcmode="lin" valueType="num">
                                      <p:cBhvr additive="base">
                                        <p:cTn id="17" dur="500" fill="hold"/>
                                        <p:tgtEl>
                                          <p:spTgt spid="1271865028"/>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67453063"/>
                                        </p:tgtEl>
                                        <p:attrNameLst>
                                          <p:attrName>style.visibility</p:attrName>
                                        </p:attrNameLst>
                                      </p:cBhvr>
                                      <p:to>
                                        <p:strVal val="visible"/>
                                      </p:to>
                                    </p:set>
                                    <p:anim calcmode="lin" valueType="num">
                                      <p:cBhvr additive="base">
                                        <p:cTn id="20" dur="500" fill="hold"/>
                                        <p:tgtEl>
                                          <p:spTgt spid="367453063"/>
                                        </p:tgtEl>
                                        <p:attrNameLst>
                                          <p:attrName>ppt_x</p:attrName>
                                        </p:attrNameLst>
                                      </p:cBhvr>
                                      <p:tavLst>
                                        <p:tav tm="0">
                                          <p:val>
                                            <p:strVal val="#ppt_x"/>
                                          </p:val>
                                        </p:tav>
                                        <p:tav tm="100000">
                                          <p:val>
                                            <p:strVal val="#ppt_x"/>
                                          </p:val>
                                        </p:tav>
                                      </p:tavLst>
                                    </p:anim>
                                    <p:anim calcmode="lin" valueType="num">
                                      <p:cBhvr additive="base">
                                        <p:cTn id="21" dur="500" fill="hold"/>
                                        <p:tgtEl>
                                          <p:spTgt spid="367453063"/>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927889487"/>
                                        </p:tgtEl>
                                        <p:attrNameLst>
                                          <p:attrName>style.visibility</p:attrName>
                                        </p:attrNameLst>
                                      </p:cBhvr>
                                      <p:to>
                                        <p:strVal val="visible"/>
                                      </p:to>
                                    </p:set>
                                    <p:anim calcmode="lin" valueType="num">
                                      <p:cBhvr additive="base">
                                        <p:cTn id="24" dur="500" fill="hold"/>
                                        <p:tgtEl>
                                          <p:spTgt spid="927889487"/>
                                        </p:tgtEl>
                                        <p:attrNameLst>
                                          <p:attrName>ppt_x</p:attrName>
                                        </p:attrNameLst>
                                      </p:cBhvr>
                                      <p:tavLst>
                                        <p:tav tm="0">
                                          <p:val>
                                            <p:strVal val="#ppt_x"/>
                                          </p:val>
                                        </p:tav>
                                        <p:tav tm="100000">
                                          <p:val>
                                            <p:strVal val="#ppt_x"/>
                                          </p:val>
                                        </p:tav>
                                      </p:tavLst>
                                    </p:anim>
                                    <p:anim calcmode="lin" valueType="num">
                                      <p:cBhvr additive="base">
                                        <p:cTn id="25" dur="500" fill="hold"/>
                                        <p:tgtEl>
                                          <p:spTgt spid="92788948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32493" grpId="0"/>
      <p:bldP spid="1271865028" grpId="0" animBg="1"/>
      <p:bldP spid="1200036812" grpId="0" animBg="1"/>
      <p:bldP spid="927889487" grpId="0" animBg="1"/>
    </p:bldLst>
  </p:timing>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15754725" name="Google Shape;885;p54"/>
          <p:cNvPicPr/>
          <p:nvPr/>
        </p:nvPicPr>
        <p:blipFill rotWithShape="1">
          <a:blip r:embed="rId3">
            <a:alphaModFix/>
          </a:blip>
          <a:srcRect l="26819" t="0" r="42164" b="0"/>
          <a:stretch/>
        </p:blipFill>
        <p:spPr bwMode="auto">
          <a:xfrm>
            <a:off x="8991600" y="-16274"/>
            <a:ext cx="3200400" cy="6867876"/>
          </a:xfrm>
          <a:prstGeom prst="rect">
            <a:avLst/>
          </a:prstGeom>
          <a:noFill/>
          <a:ln>
            <a:noFill/>
          </a:ln>
        </p:spPr>
      </p:pic>
      <p:sp>
        <p:nvSpPr>
          <p:cNvPr id="1840258838" name="Google Shape;886;p54"/>
          <p:cNvSpPr txBox="1">
            <a:spLocks noGrp="1"/>
          </p:cNvSpPr>
          <p:nvPr>
            <p:ph type="body" idx="1"/>
          </p:nvPr>
        </p:nvSpPr>
        <p:spPr bwMode="auto">
          <a:xfrm>
            <a:off x="496172" y="3581400"/>
            <a:ext cx="6461219" cy="2595562"/>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ts val="2800"/>
              <a:buFont typeface="Calibri"/>
              <a:buNone/>
              <a:defRPr/>
            </a:pPr>
            <a:r>
              <a:rPr lang="en-US" b="1"/>
              <a:t>5. Validate Scope</a:t>
            </a:r>
            <a:endParaRPr/>
          </a:p>
          <a:p>
            <a:pPr marL="685800" lvl="1" indent="-228600">
              <a:buSzPts val="2400"/>
              <a:defRPr/>
            </a:pPr>
            <a:r>
              <a:rPr lang="en-US"/>
              <a:t>To formalize acceptance of the project </a:t>
            </a:r>
            <a:r>
              <a:rPr lang="en-US" u="sng"/>
              <a:t>deliverables</a:t>
            </a:r>
            <a:endParaRPr/>
          </a:p>
          <a:p>
            <a:pPr marL="685800" lvl="1" indent="-228600">
              <a:buSzPts val="2400"/>
              <a:defRPr/>
            </a:pPr>
            <a:r>
              <a:rPr lang="en-US" b="1"/>
              <a:t>Let Stakeholders </a:t>
            </a:r>
            <a:r>
              <a:rPr lang="en-US"/>
              <a:t>(</a:t>
            </a:r>
            <a:r>
              <a:rPr lang="en-US" u="sng"/>
              <a:t>customer/project sponsor</a:t>
            </a:r>
            <a:r>
              <a:rPr lang="en-US"/>
              <a:t>) </a:t>
            </a:r>
            <a:r>
              <a:rPr lang="en-US" b="1"/>
              <a:t>inspect and formally accept deliverable</a:t>
            </a:r>
            <a:r>
              <a:rPr lang="en-US"/>
              <a:t> during this process.</a:t>
            </a:r>
            <a:endParaRPr/>
          </a:p>
          <a:p>
            <a:pPr marL="685800" lvl="1" indent="-228600" algn="l" rtl="0">
              <a:lnSpc>
                <a:spcPct val="90000"/>
              </a:lnSpc>
              <a:spcBef>
                <a:spcPts val="1500"/>
              </a:spcBef>
              <a:spcAft>
                <a:spcPts val="0"/>
              </a:spcAft>
              <a:buClr>
                <a:schemeClr val="dk1"/>
              </a:buClr>
              <a:buSzPts val="2400"/>
              <a:buChar char="•"/>
              <a:defRPr/>
            </a:pPr>
            <a:r>
              <a:rPr lang="en-US" b="1"/>
              <a:t>If not acceptable, stakeholder usually request for changes</a:t>
            </a:r>
            <a:endParaRPr b="1"/>
          </a:p>
        </p:txBody>
      </p:sp>
      <p:sp>
        <p:nvSpPr>
          <p:cNvPr id="2119260632" name="Google Shape;887;p5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57</a:t>
            </a:fld>
            <a:endParaRPr/>
          </a:p>
        </p:txBody>
      </p:sp>
      <p:grpSp>
        <p:nvGrpSpPr>
          <p:cNvPr id="1779366873" name="Google Shape;888;p54"/>
          <p:cNvGrpSpPr/>
          <p:nvPr/>
        </p:nvGrpSpPr>
        <p:grpSpPr bwMode="auto">
          <a:xfrm>
            <a:off x="406791" y="2250584"/>
            <a:ext cx="11114335" cy="808315"/>
            <a:chOff x="5432" y="200321"/>
            <a:chExt cx="11114335" cy="808315"/>
          </a:xfrm>
        </p:grpSpPr>
        <p:sp>
          <p:nvSpPr>
            <p:cNvPr id="889" name="Google Shape;889;p54"/>
            <p:cNvSpPr/>
            <p:nvPr/>
          </p:nvSpPr>
          <p:spPr bwMode="auto">
            <a:xfrm>
              <a:off x="5432" y="200321"/>
              <a:ext cx="2020788" cy="808315"/>
            </a:xfrm>
            <a:prstGeom prst="chevron">
              <a:avLst>
                <a:gd name="adj" fmla="val 50000"/>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90" name="Google Shape;890;p54"/>
            <p:cNvSpPr txBox="1"/>
            <p:nvPr/>
          </p:nvSpPr>
          <p:spPr bwMode="auto">
            <a:xfrm>
              <a:off x="409590"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0">
                  <a:solidFill>
                    <a:schemeClr val="lt1"/>
                  </a:solidFill>
                  <a:latin typeface="Calibri"/>
                  <a:ea typeface="Calibri"/>
                  <a:cs typeface="Calibri"/>
                </a:rPr>
                <a:t>1. </a:t>
              </a:r>
              <a:br>
                <a:rPr lang="en-US" sz="1600">
                  <a:solidFill>
                    <a:schemeClr val="lt1"/>
                  </a:solidFill>
                  <a:latin typeface="Calibri"/>
                  <a:ea typeface="Calibri"/>
                  <a:cs typeface="Calibri"/>
                </a:rPr>
              </a:br>
              <a:r>
                <a:rPr lang="en-US" sz="1600" b="0">
                  <a:solidFill>
                    <a:schemeClr val="lt1"/>
                  </a:solidFill>
                  <a:latin typeface="Calibri"/>
                  <a:ea typeface="Calibri"/>
                  <a:cs typeface="Calibri"/>
                </a:rPr>
                <a:t>Plan scope management</a:t>
              </a:r>
              <a:endParaRPr/>
            </a:p>
          </p:txBody>
        </p:sp>
        <p:sp>
          <p:nvSpPr>
            <p:cNvPr id="891" name="Google Shape;891;p54"/>
            <p:cNvSpPr/>
            <p:nvPr/>
          </p:nvSpPr>
          <p:spPr bwMode="auto">
            <a:xfrm>
              <a:off x="1824141"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92" name="Google Shape;892;p54"/>
            <p:cNvSpPr txBox="1"/>
            <p:nvPr/>
          </p:nvSpPr>
          <p:spPr bwMode="auto">
            <a:xfrm>
              <a:off x="2228299"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2. </a:t>
              </a:r>
              <a:br>
                <a:rPr lang="en-US" sz="1600">
                  <a:solidFill>
                    <a:schemeClr val="lt1"/>
                  </a:solidFill>
                  <a:latin typeface="Calibri"/>
                  <a:ea typeface="Calibri"/>
                  <a:cs typeface="Calibri"/>
                </a:rPr>
              </a:br>
              <a:r>
                <a:rPr lang="en-US" sz="1600">
                  <a:solidFill>
                    <a:schemeClr val="lt1"/>
                  </a:solidFill>
                  <a:latin typeface="Calibri"/>
                  <a:ea typeface="Calibri"/>
                  <a:cs typeface="Calibri"/>
                </a:rPr>
                <a:t>Collect requirements</a:t>
              </a:r>
              <a:endParaRPr/>
            </a:p>
          </p:txBody>
        </p:sp>
        <p:sp>
          <p:nvSpPr>
            <p:cNvPr id="893" name="Google Shape;893;p54"/>
            <p:cNvSpPr/>
            <p:nvPr/>
          </p:nvSpPr>
          <p:spPr bwMode="auto">
            <a:xfrm>
              <a:off x="3642851"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94" name="Google Shape;894;p54"/>
            <p:cNvSpPr txBox="1"/>
            <p:nvPr/>
          </p:nvSpPr>
          <p:spPr bwMode="auto">
            <a:xfrm>
              <a:off x="4047009"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3. </a:t>
              </a:r>
              <a:br>
                <a:rPr lang="en-US" sz="1600">
                  <a:solidFill>
                    <a:schemeClr val="lt1"/>
                  </a:solidFill>
                  <a:latin typeface="Calibri"/>
                  <a:ea typeface="Calibri"/>
                  <a:cs typeface="Calibri"/>
                </a:rPr>
              </a:br>
              <a:r>
                <a:rPr lang="en-US" sz="1600">
                  <a:solidFill>
                    <a:schemeClr val="lt1"/>
                  </a:solidFill>
                  <a:latin typeface="Calibri"/>
                  <a:ea typeface="Calibri"/>
                  <a:cs typeface="Calibri"/>
                </a:rPr>
                <a:t>Define </a:t>
              </a:r>
              <a:br>
                <a:rPr lang="en-US" sz="1600">
                  <a:solidFill>
                    <a:schemeClr val="lt1"/>
                  </a:solidFill>
                  <a:latin typeface="Calibri"/>
                  <a:ea typeface="Calibri"/>
                  <a:cs typeface="Calibri"/>
                </a:rPr>
              </a:br>
              <a:r>
                <a:rPr lang="en-US" sz="1600">
                  <a:solidFill>
                    <a:schemeClr val="lt1"/>
                  </a:solidFill>
                  <a:latin typeface="Calibri"/>
                  <a:ea typeface="Calibri"/>
                  <a:cs typeface="Calibri"/>
                </a:rPr>
                <a:t>scope</a:t>
              </a:r>
              <a:endParaRPr/>
            </a:p>
          </p:txBody>
        </p:sp>
        <p:sp>
          <p:nvSpPr>
            <p:cNvPr id="895" name="Google Shape;895;p54"/>
            <p:cNvSpPr/>
            <p:nvPr/>
          </p:nvSpPr>
          <p:spPr bwMode="auto">
            <a:xfrm>
              <a:off x="5461560"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96" name="Google Shape;896;p54"/>
            <p:cNvSpPr txBox="1"/>
            <p:nvPr/>
          </p:nvSpPr>
          <p:spPr bwMode="auto">
            <a:xfrm>
              <a:off x="5865718"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4.</a:t>
              </a:r>
              <a:br>
                <a:rPr lang="en-US" sz="1600">
                  <a:solidFill>
                    <a:schemeClr val="lt1"/>
                  </a:solidFill>
                  <a:latin typeface="Calibri"/>
                  <a:ea typeface="Calibri"/>
                  <a:cs typeface="Calibri"/>
                </a:rPr>
              </a:br>
              <a:r>
                <a:rPr lang="en-US" sz="1600">
                  <a:solidFill>
                    <a:schemeClr val="lt1"/>
                  </a:solidFill>
                  <a:latin typeface="Calibri"/>
                  <a:ea typeface="Calibri"/>
                  <a:cs typeface="Calibri"/>
                </a:rPr>
                <a:t> Create WBS</a:t>
              </a:r>
              <a:endParaRPr/>
            </a:p>
          </p:txBody>
        </p:sp>
        <p:sp>
          <p:nvSpPr>
            <p:cNvPr id="897" name="Google Shape;897;p54"/>
            <p:cNvSpPr/>
            <p:nvPr/>
          </p:nvSpPr>
          <p:spPr bwMode="auto">
            <a:xfrm>
              <a:off x="7280270" y="200321"/>
              <a:ext cx="2020788" cy="808315"/>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98" name="Google Shape;898;p54"/>
            <p:cNvSpPr txBox="1"/>
            <p:nvPr/>
          </p:nvSpPr>
          <p:spPr bwMode="auto">
            <a:xfrm>
              <a:off x="7684428"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1">
                  <a:solidFill>
                    <a:schemeClr val="lt1"/>
                  </a:solidFill>
                  <a:latin typeface="Calibri"/>
                  <a:ea typeface="Calibri"/>
                  <a:cs typeface="Calibri"/>
                </a:rPr>
                <a:t>5. </a:t>
              </a:r>
              <a:br>
                <a:rPr lang="en-US" sz="1600">
                  <a:solidFill>
                    <a:schemeClr val="lt1"/>
                  </a:solidFill>
                  <a:latin typeface="Calibri"/>
                  <a:ea typeface="Calibri"/>
                  <a:cs typeface="Calibri"/>
                </a:rPr>
              </a:br>
              <a:r>
                <a:rPr lang="en-US" sz="1600" b="1">
                  <a:solidFill>
                    <a:schemeClr val="lt1"/>
                  </a:solidFill>
                  <a:latin typeface="Calibri"/>
                  <a:ea typeface="Calibri"/>
                  <a:cs typeface="Calibri"/>
                </a:rPr>
                <a:t>Validate scope</a:t>
              </a:r>
              <a:endParaRPr/>
            </a:p>
          </p:txBody>
        </p:sp>
        <p:sp>
          <p:nvSpPr>
            <p:cNvPr id="899" name="Google Shape;899;p54"/>
            <p:cNvSpPr/>
            <p:nvPr/>
          </p:nvSpPr>
          <p:spPr bwMode="auto">
            <a:xfrm>
              <a:off x="9098979"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00" name="Google Shape;900;p54"/>
            <p:cNvSpPr txBox="1"/>
            <p:nvPr/>
          </p:nvSpPr>
          <p:spPr bwMode="auto">
            <a:xfrm>
              <a:off x="9503137"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6. </a:t>
              </a:r>
              <a:br>
                <a:rPr lang="en-US" sz="1600">
                  <a:solidFill>
                    <a:schemeClr val="lt1"/>
                  </a:solidFill>
                  <a:latin typeface="Calibri"/>
                  <a:ea typeface="Calibri"/>
                  <a:cs typeface="Calibri"/>
                </a:rPr>
              </a:br>
              <a:r>
                <a:rPr lang="en-US" sz="1600">
                  <a:solidFill>
                    <a:schemeClr val="lt1"/>
                  </a:solidFill>
                  <a:latin typeface="Calibri"/>
                  <a:ea typeface="Calibri"/>
                  <a:cs typeface="Calibri"/>
                </a:rPr>
                <a:t>Control scope</a:t>
              </a:r>
              <a:endParaRPr/>
            </a:p>
          </p:txBody>
        </p:sp>
      </p:grpSp>
      <p:sp>
        <p:nvSpPr>
          <p:cNvPr id="1672431667" name="Google Shape;901;p54"/>
          <p:cNvSpPr txBox="1">
            <a:spLocks noGrp="1"/>
          </p:cNvSpPr>
          <p:nvPr>
            <p:ph type="title"/>
          </p:nvPr>
        </p:nvSpPr>
        <p:spPr bwMode="auto">
          <a:xfrm>
            <a:off x="343771" y="381441"/>
            <a:ext cx="7010399" cy="7159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defRPr/>
            </a:pPr>
            <a:r>
              <a:rPr lang="en-US" sz="4000" b="1"/>
              <a:t>Project Scope Management</a:t>
            </a:r>
            <a:endParaRPr sz="4000" b="1"/>
          </a:p>
        </p:txBody>
      </p:sp>
      <p:sp>
        <p:nvSpPr>
          <p:cNvPr id="1202614173" name="Google Shape;902;p54"/>
          <p:cNvSpPr txBox="1"/>
          <p:nvPr/>
        </p:nvSpPr>
        <p:spPr bwMode="auto">
          <a:xfrm>
            <a:off x="381000" y="10668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2003867497" name="Google Shape;903;p54"/>
          <p:cNvCxnSpPr/>
          <p:nvPr/>
        </p:nvCxnSpPr>
        <p:spPr bwMode="auto">
          <a:xfrm rot="10800000">
            <a:off x="496172" y="1540315"/>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208833498" name="Google Shape;874;p53"/>
          <p:cNvSpPr txBox="1"/>
          <p:nvPr/>
        </p:nvSpPr>
        <p:spPr bwMode="auto">
          <a:xfrm>
            <a:off x="6951664" y="1747148"/>
            <a:ext cx="5181600" cy="5027332"/>
          </a:xfrm>
          <a:prstGeom prst="rect">
            <a:avLst/>
          </a:prstGeom>
          <a:gradFill>
            <a:gsLst>
              <a:gs pos="0">
                <a:srgbClr val="FFDABF"/>
              </a:gs>
              <a:gs pos="50000">
                <a:srgbClr val="FFE6D6"/>
              </a:gs>
              <a:gs pos="100000">
                <a:srgbClr val="FFF2EA"/>
              </a:gs>
            </a:gsLst>
            <a:lin ang="16200000" scaled="0"/>
          </a:gra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marL="228600" indent="-228600">
              <a:lnSpc>
                <a:spcPct val="120000"/>
              </a:lnSpc>
              <a:spcBef>
                <a:spcPts val="0"/>
              </a:spcBef>
              <a:buSzPct val="100000"/>
              <a:buFont typeface="Calibri"/>
              <a:buNone/>
              <a:defRPr/>
            </a:pPr>
            <a:r>
              <a:rPr lang="en-US" sz="1800"/>
              <a:t>1.0 Concept</a:t>
            </a:r>
            <a:endParaRPr/>
          </a:p>
          <a:p>
            <a:pPr marL="228600" indent="-228600">
              <a:lnSpc>
                <a:spcPct val="120000"/>
              </a:lnSpc>
              <a:spcBef>
                <a:spcPts val="0"/>
              </a:spcBef>
              <a:buSzPct val="100000"/>
              <a:buFont typeface="Calibri"/>
              <a:buNone/>
              <a:defRPr/>
            </a:pPr>
            <a:r>
              <a:rPr lang="en-US" sz="1800"/>
              <a:t>	1.1 Evaluate current systems</a:t>
            </a:r>
            <a:endParaRPr/>
          </a:p>
          <a:p>
            <a:pPr marL="228600" indent="-228600">
              <a:lnSpc>
                <a:spcPct val="120000"/>
              </a:lnSpc>
              <a:spcBef>
                <a:spcPts val="0"/>
              </a:spcBef>
              <a:buSzPct val="100000"/>
              <a:buFont typeface="Calibri"/>
              <a:buNone/>
              <a:defRPr/>
            </a:pPr>
            <a:r>
              <a:rPr lang="en-US" sz="1800"/>
              <a:t>	1.2 Define requirements</a:t>
            </a:r>
            <a:endParaRPr/>
          </a:p>
          <a:p>
            <a:pPr marL="228600" indent="-228600">
              <a:lnSpc>
                <a:spcPct val="120000"/>
              </a:lnSpc>
              <a:spcBef>
                <a:spcPts val="0"/>
              </a:spcBef>
              <a:buSzPct val="100000"/>
              <a:buFont typeface="Calibri"/>
              <a:buNone/>
              <a:defRPr/>
            </a:pPr>
            <a:r>
              <a:rPr lang="en-US" sz="1800"/>
              <a:t>		1.2.1 Define user requirements</a:t>
            </a:r>
            <a:endParaRPr/>
          </a:p>
          <a:p>
            <a:pPr marL="228600" indent="-228600">
              <a:lnSpc>
                <a:spcPct val="120000"/>
              </a:lnSpc>
              <a:spcBef>
                <a:spcPts val="0"/>
              </a:spcBef>
              <a:buSzPct val="100000"/>
              <a:buFont typeface="Calibri"/>
              <a:buNone/>
              <a:defRPr/>
            </a:pPr>
            <a:r>
              <a:rPr lang="en-US" sz="1800"/>
              <a:t>		1.2.2 Define content requirements</a:t>
            </a:r>
            <a:endParaRPr/>
          </a:p>
          <a:p>
            <a:pPr marL="228600" indent="-228600">
              <a:lnSpc>
                <a:spcPct val="120000"/>
              </a:lnSpc>
              <a:spcBef>
                <a:spcPts val="0"/>
              </a:spcBef>
              <a:buSzPct val="100000"/>
              <a:buFont typeface="Calibri"/>
              <a:buNone/>
              <a:defRPr/>
            </a:pPr>
            <a:r>
              <a:rPr lang="en-US" sz="1800"/>
              <a:t>		1.2.3 Define system requirements</a:t>
            </a:r>
            <a:endParaRPr/>
          </a:p>
          <a:p>
            <a:pPr marL="228600" indent="-228600">
              <a:lnSpc>
                <a:spcPct val="120000"/>
              </a:lnSpc>
              <a:spcBef>
                <a:spcPts val="0"/>
              </a:spcBef>
              <a:buSzPct val="100000"/>
              <a:buFont typeface="Calibri"/>
              <a:buNone/>
              <a:defRPr/>
            </a:pPr>
            <a:r>
              <a:rPr lang="en-US" sz="1800"/>
              <a:t>		1.2.4 Define server owner requirements</a:t>
            </a:r>
            <a:endParaRPr/>
          </a:p>
          <a:p>
            <a:pPr marL="228600" indent="-228600">
              <a:lnSpc>
                <a:spcPct val="120000"/>
              </a:lnSpc>
              <a:spcBef>
                <a:spcPts val="0"/>
              </a:spcBef>
              <a:buSzPct val="100000"/>
              <a:buFont typeface="Calibri"/>
              <a:buNone/>
              <a:defRPr/>
            </a:pPr>
            <a:r>
              <a:rPr lang="en-US" sz="1800"/>
              <a:t>	1.3 Define specific functionality</a:t>
            </a:r>
            <a:endParaRPr/>
          </a:p>
          <a:p>
            <a:pPr marL="228600" indent="-228600">
              <a:lnSpc>
                <a:spcPct val="120000"/>
              </a:lnSpc>
              <a:spcBef>
                <a:spcPts val="0"/>
              </a:spcBef>
              <a:buSzPct val="100000"/>
              <a:buFont typeface="Calibri"/>
              <a:buNone/>
              <a:defRPr/>
            </a:pPr>
            <a:r>
              <a:rPr lang="en-US" sz="1800"/>
              <a:t>	1.4 Define risks and risk management approach</a:t>
            </a:r>
            <a:endParaRPr/>
          </a:p>
          <a:p>
            <a:pPr marL="228600" indent="-228600">
              <a:lnSpc>
                <a:spcPct val="120000"/>
              </a:lnSpc>
              <a:spcBef>
                <a:spcPts val="0"/>
              </a:spcBef>
              <a:buSzPct val="100000"/>
              <a:buFont typeface="Calibri"/>
              <a:buNone/>
              <a:defRPr/>
            </a:pPr>
            <a:r>
              <a:rPr lang="en-US" sz="1800"/>
              <a:t>	1.5 Develop project plan</a:t>
            </a:r>
            <a:endParaRPr/>
          </a:p>
          <a:p>
            <a:pPr marL="228600" indent="-228600">
              <a:lnSpc>
                <a:spcPct val="120000"/>
              </a:lnSpc>
              <a:spcBef>
                <a:spcPts val="0"/>
              </a:spcBef>
              <a:buSzPct val="100000"/>
              <a:buFont typeface="Calibri"/>
              <a:buNone/>
              <a:defRPr/>
            </a:pPr>
            <a:r>
              <a:rPr lang="en-US" sz="1800"/>
              <a:t>	1.6 Brief Web development team</a:t>
            </a:r>
            <a:endParaRPr/>
          </a:p>
          <a:p>
            <a:pPr marL="228600" indent="-228600">
              <a:lnSpc>
                <a:spcPct val="120000"/>
              </a:lnSpc>
              <a:spcBef>
                <a:spcPts val="0"/>
              </a:spcBef>
              <a:buSzPct val="100000"/>
              <a:buFont typeface="Calibri"/>
              <a:buNone/>
              <a:defRPr/>
            </a:pPr>
            <a:r>
              <a:rPr lang="en-US" sz="1800"/>
              <a:t>2.0 Web site design</a:t>
            </a:r>
            <a:endParaRPr/>
          </a:p>
          <a:p>
            <a:pPr marL="228600" indent="-228600">
              <a:lnSpc>
                <a:spcPct val="120000"/>
              </a:lnSpc>
              <a:spcBef>
                <a:spcPts val="0"/>
              </a:spcBef>
              <a:buSzPct val="100000"/>
              <a:buFont typeface="Calibri"/>
              <a:buNone/>
              <a:defRPr/>
            </a:pPr>
            <a:r>
              <a:rPr lang="en-US" sz="1800"/>
              <a:t>3.0 Web site development</a:t>
            </a:r>
            <a:endParaRPr/>
          </a:p>
          <a:p>
            <a:pPr marL="228600" indent="-228600">
              <a:lnSpc>
                <a:spcPct val="120000"/>
              </a:lnSpc>
              <a:spcBef>
                <a:spcPts val="0"/>
              </a:spcBef>
              <a:buSzPct val="100000"/>
              <a:buFont typeface="Calibri"/>
              <a:buNone/>
              <a:defRPr/>
            </a:pPr>
            <a:r>
              <a:rPr lang="en-US" sz="1800"/>
              <a:t>4.0 Roll out</a:t>
            </a:r>
            <a:endParaRPr/>
          </a:p>
          <a:p>
            <a:pPr marL="228600" indent="-228600">
              <a:lnSpc>
                <a:spcPct val="120000"/>
              </a:lnSpc>
              <a:spcBef>
                <a:spcPts val="0"/>
              </a:spcBef>
              <a:buSzPct val="100000"/>
              <a:buFont typeface="Calibri"/>
              <a:buNone/>
              <a:defRPr/>
            </a:pPr>
            <a:r>
              <a:rPr lang="en-US" sz="1800"/>
              <a:t>5.0 Support</a:t>
            </a:r>
            <a:endParaRPr lang="en-US"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840258838">
                                            <p:txEl>
                                              <p:pRg st="0" end="0"/>
                                            </p:txEl>
                                          </p:spTgt>
                                        </p:tgtEl>
                                        <p:attrNameLst>
                                          <p:attrName>style.visibility</p:attrName>
                                        </p:attrNameLst>
                                      </p:cBhvr>
                                      <p:to>
                                        <p:strVal val="visible"/>
                                      </p:to>
                                    </p:set>
                                    <p:animEffect transition="in" filter="wipe(left)">
                                      <p:cBhvr>
                                        <p:cTn id="7" dur="500"/>
                                        <p:tgtEl>
                                          <p:spTgt spid="184025883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43668564" name="Google Shape;908;p55"/>
          <p:cNvPicPr/>
          <p:nvPr/>
        </p:nvPicPr>
        <p:blipFill rotWithShape="1">
          <a:blip r:embed="rId3">
            <a:alphaModFix/>
          </a:blip>
          <a:srcRect l="26819" t="0" r="42164" b="0"/>
          <a:stretch/>
        </p:blipFill>
        <p:spPr bwMode="auto">
          <a:xfrm>
            <a:off x="8991600" y="-16274"/>
            <a:ext cx="3200400" cy="6867876"/>
          </a:xfrm>
          <a:prstGeom prst="rect">
            <a:avLst/>
          </a:prstGeom>
          <a:noFill/>
          <a:ln>
            <a:noFill/>
          </a:ln>
        </p:spPr>
      </p:pic>
      <p:sp>
        <p:nvSpPr>
          <p:cNvPr id="947078483" name="Google Shape;909;p55"/>
          <p:cNvSpPr txBox="1">
            <a:spLocks noGrp="1"/>
          </p:cNvSpPr>
          <p:nvPr>
            <p:ph type="body" idx="1"/>
          </p:nvPr>
        </p:nvSpPr>
        <p:spPr bwMode="auto">
          <a:xfrm>
            <a:off x="380999" y="3810000"/>
            <a:ext cx="4054571" cy="23669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Calibri"/>
              <a:buNone/>
              <a:defRPr/>
            </a:pPr>
            <a:r>
              <a:rPr lang="en-US" sz="3600" b="1"/>
              <a:t>6. Control Scope</a:t>
            </a:r>
            <a:endParaRPr sz="3600"/>
          </a:p>
          <a:p>
            <a:pPr marL="536575" lvl="1" indent="0" algn="l" rtl="0">
              <a:lnSpc>
                <a:spcPct val="90000"/>
              </a:lnSpc>
              <a:spcBef>
                <a:spcPts val="500"/>
              </a:spcBef>
              <a:spcAft>
                <a:spcPts val="0"/>
              </a:spcAft>
              <a:buClr>
                <a:schemeClr val="dk1"/>
              </a:buClr>
              <a:buSzPts val="2400"/>
              <a:buNone/>
              <a:defRPr/>
            </a:pPr>
            <a:r>
              <a:rPr lang="en-US">
                <a:solidFill>
                  <a:srgbClr val="FF0000"/>
                </a:solidFill>
              </a:rPr>
              <a:t>Control </a:t>
            </a:r>
            <a:r>
              <a:rPr lang="en-US" u="sng">
                <a:solidFill>
                  <a:srgbClr val="FF0000"/>
                </a:solidFill>
              </a:rPr>
              <a:t>changes</a:t>
            </a:r>
            <a:r>
              <a:rPr lang="en-US">
                <a:solidFill>
                  <a:srgbClr val="FF0000"/>
                </a:solidFill>
              </a:rPr>
              <a:t> to project scope throughout the life of the project.</a:t>
            </a:r>
            <a:endParaRPr>
              <a:solidFill>
                <a:srgbClr val="FF0000"/>
              </a:solidFill>
            </a:endParaRPr>
          </a:p>
        </p:txBody>
      </p:sp>
      <p:sp>
        <p:nvSpPr>
          <p:cNvPr id="199313117" name="Google Shape;910;p5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58</a:t>
            </a:fld>
            <a:endParaRPr/>
          </a:p>
        </p:txBody>
      </p:sp>
      <p:grpSp>
        <p:nvGrpSpPr>
          <p:cNvPr id="100052112" name="Google Shape;911;p55"/>
          <p:cNvGrpSpPr/>
          <p:nvPr/>
        </p:nvGrpSpPr>
        <p:grpSpPr bwMode="auto">
          <a:xfrm>
            <a:off x="393994" y="2409026"/>
            <a:ext cx="11114335" cy="808315"/>
            <a:chOff x="5432" y="200321"/>
            <a:chExt cx="11114335" cy="808315"/>
          </a:xfrm>
        </p:grpSpPr>
        <p:sp>
          <p:nvSpPr>
            <p:cNvPr id="912" name="Google Shape;912;p55"/>
            <p:cNvSpPr/>
            <p:nvPr/>
          </p:nvSpPr>
          <p:spPr bwMode="auto">
            <a:xfrm>
              <a:off x="5432" y="200321"/>
              <a:ext cx="2020788" cy="808315"/>
            </a:xfrm>
            <a:prstGeom prst="chevron">
              <a:avLst>
                <a:gd name="adj" fmla="val 50000"/>
              </a:avLst>
            </a:prstGeom>
            <a:solidFill>
              <a:schemeClr val="accent1"/>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13" name="Google Shape;913;p55"/>
            <p:cNvSpPr txBox="1"/>
            <p:nvPr/>
          </p:nvSpPr>
          <p:spPr bwMode="auto">
            <a:xfrm>
              <a:off x="409590"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0">
                  <a:solidFill>
                    <a:schemeClr val="lt1"/>
                  </a:solidFill>
                  <a:latin typeface="Calibri"/>
                  <a:ea typeface="Calibri"/>
                  <a:cs typeface="Calibri"/>
                </a:rPr>
                <a:t>1. </a:t>
              </a:r>
              <a:br>
                <a:rPr lang="en-US" sz="1600">
                  <a:solidFill>
                    <a:schemeClr val="lt1"/>
                  </a:solidFill>
                  <a:latin typeface="Calibri"/>
                  <a:ea typeface="Calibri"/>
                  <a:cs typeface="Calibri"/>
                </a:rPr>
              </a:br>
              <a:r>
                <a:rPr lang="en-US" sz="1600" b="0">
                  <a:solidFill>
                    <a:schemeClr val="lt1"/>
                  </a:solidFill>
                  <a:latin typeface="Calibri"/>
                  <a:ea typeface="Calibri"/>
                  <a:cs typeface="Calibri"/>
                </a:rPr>
                <a:t>Plan scope management</a:t>
              </a:r>
              <a:endParaRPr/>
            </a:p>
          </p:txBody>
        </p:sp>
        <p:sp>
          <p:nvSpPr>
            <p:cNvPr id="914" name="Google Shape;914;p55"/>
            <p:cNvSpPr/>
            <p:nvPr/>
          </p:nvSpPr>
          <p:spPr bwMode="auto">
            <a:xfrm>
              <a:off x="1824141"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15" name="Google Shape;915;p55"/>
            <p:cNvSpPr txBox="1"/>
            <p:nvPr/>
          </p:nvSpPr>
          <p:spPr bwMode="auto">
            <a:xfrm>
              <a:off x="2228299"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2. </a:t>
              </a:r>
              <a:br>
                <a:rPr lang="en-US" sz="1600">
                  <a:solidFill>
                    <a:schemeClr val="lt1"/>
                  </a:solidFill>
                  <a:latin typeface="Calibri"/>
                  <a:ea typeface="Calibri"/>
                  <a:cs typeface="Calibri"/>
                </a:rPr>
              </a:br>
              <a:r>
                <a:rPr lang="en-US" sz="1600">
                  <a:solidFill>
                    <a:schemeClr val="lt1"/>
                  </a:solidFill>
                  <a:latin typeface="Calibri"/>
                  <a:ea typeface="Calibri"/>
                  <a:cs typeface="Calibri"/>
                </a:rPr>
                <a:t>Collect requirements</a:t>
              </a:r>
              <a:endParaRPr/>
            </a:p>
          </p:txBody>
        </p:sp>
        <p:sp>
          <p:nvSpPr>
            <p:cNvPr id="916" name="Google Shape;916;p55"/>
            <p:cNvSpPr/>
            <p:nvPr/>
          </p:nvSpPr>
          <p:spPr bwMode="auto">
            <a:xfrm>
              <a:off x="3642851"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17" name="Google Shape;917;p55"/>
            <p:cNvSpPr txBox="1"/>
            <p:nvPr/>
          </p:nvSpPr>
          <p:spPr bwMode="auto">
            <a:xfrm>
              <a:off x="4047009"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3. </a:t>
              </a:r>
              <a:br>
                <a:rPr lang="en-US" sz="1600">
                  <a:solidFill>
                    <a:schemeClr val="lt1"/>
                  </a:solidFill>
                  <a:latin typeface="Calibri"/>
                  <a:ea typeface="Calibri"/>
                  <a:cs typeface="Calibri"/>
                </a:rPr>
              </a:br>
              <a:r>
                <a:rPr lang="en-US" sz="1600">
                  <a:solidFill>
                    <a:schemeClr val="lt1"/>
                  </a:solidFill>
                  <a:latin typeface="Calibri"/>
                  <a:ea typeface="Calibri"/>
                  <a:cs typeface="Calibri"/>
                </a:rPr>
                <a:t>Define </a:t>
              </a:r>
              <a:br>
                <a:rPr lang="en-US" sz="1600">
                  <a:solidFill>
                    <a:schemeClr val="lt1"/>
                  </a:solidFill>
                  <a:latin typeface="Calibri"/>
                  <a:ea typeface="Calibri"/>
                  <a:cs typeface="Calibri"/>
                </a:rPr>
              </a:br>
              <a:r>
                <a:rPr lang="en-US" sz="1600">
                  <a:solidFill>
                    <a:schemeClr val="lt1"/>
                  </a:solidFill>
                  <a:latin typeface="Calibri"/>
                  <a:ea typeface="Calibri"/>
                  <a:cs typeface="Calibri"/>
                </a:rPr>
                <a:t>scope</a:t>
              </a:r>
              <a:endParaRPr/>
            </a:p>
          </p:txBody>
        </p:sp>
        <p:sp>
          <p:nvSpPr>
            <p:cNvPr id="918" name="Google Shape;918;p55"/>
            <p:cNvSpPr/>
            <p:nvPr/>
          </p:nvSpPr>
          <p:spPr bwMode="auto">
            <a:xfrm>
              <a:off x="5461560"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19" name="Google Shape;919;p55"/>
            <p:cNvSpPr txBox="1"/>
            <p:nvPr/>
          </p:nvSpPr>
          <p:spPr bwMode="auto">
            <a:xfrm>
              <a:off x="5865718"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4. </a:t>
              </a:r>
              <a:br>
                <a:rPr lang="en-US" sz="1600">
                  <a:solidFill>
                    <a:schemeClr val="lt1"/>
                  </a:solidFill>
                  <a:latin typeface="Calibri"/>
                  <a:ea typeface="Calibri"/>
                  <a:cs typeface="Calibri"/>
                </a:rPr>
              </a:br>
              <a:r>
                <a:rPr lang="en-US" sz="1600">
                  <a:solidFill>
                    <a:schemeClr val="lt1"/>
                  </a:solidFill>
                  <a:latin typeface="Calibri"/>
                  <a:ea typeface="Calibri"/>
                  <a:cs typeface="Calibri"/>
                </a:rPr>
                <a:t>Create </a:t>
              </a:r>
              <a:br>
                <a:rPr lang="en-US" sz="1600">
                  <a:solidFill>
                    <a:schemeClr val="lt1"/>
                  </a:solidFill>
                  <a:latin typeface="Calibri"/>
                  <a:ea typeface="Calibri"/>
                  <a:cs typeface="Calibri"/>
                </a:rPr>
              </a:br>
              <a:r>
                <a:rPr lang="en-US" sz="1600">
                  <a:solidFill>
                    <a:schemeClr val="lt1"/>
                  </a:solidFill>
                  <a:latin typeface="Calibri"/>
                  <a:ea typeface="Calibri"/>
                  <a:cs typeface="Calibri"/>
                </a:rPr>
                <a:t>WBS</a:t>
              </a:r>
              <a:endParaRPr/>
            </a:p>
          </p:txBody>
        </p:sp>
        <p:sp>
          <p:nvSpPr>
            <p:cNvPr id="920" name="Google Shape;920;p55"/>
            <p:cNvSpPr/>
            <p:nvPr/>
          </p:nvSpPr>
          <p:spPr bwMode="auto">
            <a:xfrm>
              <a:off x="7280270" y="200321"/>
              <a:ext cx="2020788" cy="808315"/>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21" name="Google Shape;921;p55"/>
            <p:cNvSpPr txBox="1"/>
            <p:nvPr/>
          </p:nvSpPr>
          <p:spPr bwMode="auto">
            <a:xfrm>
              <a:off x="7684428"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a:solidFill>
                    <a:schemeClr val="lt1"/>
                  </a:solidFill>
                  <a:latin typeface="Calibri"/>
                  <a:ea typeface="Calibri"/>
                  <a:cs typeface="Calibri"/>
                </a:rPr>
                <a:t>5. </a:t>
              </a:r>
              <a:br>
                <a:rPr lang="en-US" sz="1600">
                  <a:solidFill>
                    <a:schemeClr val="lt1"/>
                  </a:solidFill>
                  <a:latin typeface="Calibri"/>
                  <a:ea typeface="Calibri"/>
                  <a:cs typeface="Calibri"/>
                </a:rPr>
              </a:br>
              <a:r>
                <a:rPr lang="en-US" sz="1600">
                  <a:solidFill>
                    <a:schemeClr val="lt1"/>
                  </a:solidFill>
                  <a:latin typeface="Calibri"/>
                  <a:ea typeface="Calibri"/>
                  <a:cs typeface="Calibri"/>
                </a:rPr>
                <a:t>Validate scope</a:t>
              </a:r>
              <a:endParaRPr/>
            </a:p>
          </p:txBody>
        </p:sp>
        <p:sp>
          <p:nvSpPr>
            <p:cNvPr id="922" name="Google Shape;922;p55"/>
            <p:cNvSpPr/>
            <p:nvPr/>
          </p:nvSpPr>
          <p:spPr bwMode="auto">
            <a:xfrm>
              <a:off x="9098979" y="200321"/>
              <a:ext cx="2020788" cy="808315"/>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23" name="Google Shape;923;p55"/>
            <p:cNvSpPr txBox="1"/>
            <p:nvPr/>
          </p:nvSpPr>
          <p:spPr bwMode="auto">
            <a:xfrm>
              <a:off x="9503137" y="200321"/>
              <a:ext cx="1212473" cy="808315"/>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1">
                  <a:solidFill>
                    <a:schemeClr val="lt1"/>
                  </a:solidFill>
                  <a:latin typeface="Calibri"/>
                  <a:ea typeface="Calibri"/>
                  <a:cs typeface="Calibri"/>
                </a:rPr>
                <a:t>6. </a:t>
              </a:r>
              <a:br>
                <a:rPr lang="en-US" sz="1600">
                  <a:solidFill>
                    <a:schemeClr val="lt1"/>
                  </a:solidFill>
                  <a:latin typeface="Calibri"/>
                  <a:ea typeface="Calibri"/>
                  <a:cs typeface="Calibri"/>
                </a:rPr>
              </a:br>
              <a:r>
                <a:rPr lang="en-US" sz="1600" b="1">
                  <a:solidFill>
                    <a:schemeClr val="lt1"/>
                  </a:solidFill>
                  <a:latin typeface="Calibri"/>
                  <a:ea typeface="Calibri"/>
                  <a:cs typeface="Calibri"/>
                </a:rPr>
                <a:t>Control scope</a:t>
              </a:r>
              <a:endParaRPr/>
            </a:p>
          </p:txBody>
        </p:sp>
      </p:grpSp>
      <p:sp>
        <p:nvSpPr>
          <p:cNvPr id="3056253" name="Google Shape;924;p55"/>
          <p:cNvSpPr txBox="1">
            <a:spLocks noGrp="1"/>
          </p:cNvSpPr>
          <p:nvPr>
            <p:ph type="title"/>
          </p:nvPr>
        </p:nvSpPr>
        <p:spPr bwMode="auto">
          <a:xfrm>
            <a:off x="343771" y="381441"/>
            <a:ext cx="7010399" cy="7159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defRPr/>
            </a:pPr>
            <a:r>
              <a:rPr lang="en-US" sz="4000" b="1"/>
              <a:t>Project Scope Management</a:t>
            </a:r>
            <a:endParaRPr sz="4000" b="1"/>
          </a:p>
        </p:txBody>
      </p:sp>
      <p:sp>
        <p:nvSpPr>
          <p:cNvPr id="807674748" name="Google Shape;925;p55"/>
          <p:cNvSpPr txBox="1"/>
          <p:nvPr/>
        </p:nvSpPr>
        <p:spPr bwMode="auto">
          <a:xfrm>
            <a:off x="381000" y="10668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2103076988" name="Google Shape;926;p55"/>
          <p:cNvCxnSpPr/>
          <p:nvPr/>
        </p:nvCxnSpPr>
        <p:spPr bwMode="auto">
          <a:xfrm rot="10800000">
            <a:off x="496172" y="1540315"/>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296889770" name="Google Shape;874;p53"/>
          <p:cNvSpPr txBox="1"/>
          <p:nvPr/>
        </p:nvSpPr>
        <p:spPr bwMode="auto">
          <a:xfrm>
            <a:off x="4715138" y="1694143"/>
            <a:ext cx="5181600" cy="5027332"/>
          </a:xfrm>
          <a:prstGeom prst="rect">
            <a:avLst/>
          </a:prstGeom>
          <a:gradFill>
            <a:gsLst>
              <a:gs pos="0">
                <a:srgbClr val="FFDABF"/>
              </a:gs>
              <a:gs pos="50000">
                <a:srgbClr val="FFE6D6"/>
              </a:gs>
              <a:gs pos="100000">
                <a:srgbClr val="FFF2EA"/>
              </a:gs>
            </a:gsLst>
            <a:lin ang="16200000" scaled="0"/>
          </a:gradFill>
          <a:ln w="9525"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marL="228600" indent="-228600">
              <a:lnSpc>
                <a:spcPct val="120000"/>
              </a:lnSpc>
              <a:spcBef>
                <a:spcPts val="0"/>
              </a:spcBef>
              <a:buSzPct val="100000"/>
              <a:buFont typeface="Calibri"/>
              <a:buNone/>
              <a:defRPr/>
            </a:pPr>
            <a:r>
              <a:rPr lang="en-US" sz="1800">
                <a:solidFill>
                  <a:schemeClr val="tx1">
                    <a:lumMod val="65000"/>
                    <a:lumOff val="35000"/>
                  </a:schemeClr>
                </a:solidFill>
              </a:rPr>
              <a:t>1.0 Concept</a:t>
            </a:r>
            <a:endParaRPr/>
          </a:p>
          <a:p>
            <a:pPr marL="228600" indent="-228600">
              <a:lnSpc>
                <a:spcPct val="120000"/>
              </a:lnSpc>
              <a:spcBef>
                <a:spcPts val="0"/>
              </a:spcBef>
              <a:buSzPct val="100000"/>
              <a:buFont typeface="Calibri"/>
              <a:buNone/>
              <a:defRPr/>
            </a:pPr>
            <a:r>
              <a:rPr lang="en-US" sz="1800">
                <a:solidFill>
                  <a:schemeClr val="tx1">
                    <a:lumMod val="65000"/>
                    <a:lumOff val="35000"/>
                  </a:schemeClr>
                </a:solidFill>
              </a:rPr>
              <a:t>	1.1 Evaluate current systems</a:t>
            </a:r>
            <a:endParaRPr/>
          </a:p>
          <a:p>
            <a:pPr marL="228600" indent="-228600">
              <a:lnSpc>
                <a:spcPct val="120000"/>
              </a:lnSpc>
              <a:spcBef>
                <a:spcPts val="0"/>
              </a:spcBef>
              <a:buSzPct val="100000"/>
              <a:buFont typeface="Calibri"/>
              <a:buNone/>
              <a:defRPr/>
            </a:pPr>
            <a:r>
              <a:rPr lang="en-US" sz="1800">
                <a:solidFill>
                  <a:schemeClr val="tx1">
                    <a:lumMod val="65000"/>
                    <a:lumOff val="35000"/>
                  </a:schemeClr>
                </a:solidFill>
              </a:rPr>
              <a:t>	1.2 Define requirements</a:t>
            </a:r>
            <a:endParaRPr/>
          </a:p>
          <a:p>
            <a:pPr marL="228600" indent="-228600">
              <a:lnSpc>
                <a:spcPct val="120000"/>
              </a:lnSpc>
              <a:spcBef>
                <a:spcPts val="0"/>
              </a:spcBef>
              <a:buSzPct val="100000"/>
              <a:buFont typeface="Calibri"/>
              <a:buNone/>
              <a:defRPr/>
            </a:pPr>
            <a:r>
              <a:rPr lang="en-US" sz="1800">
                <a:solidFill>
                  <a:schemeClr val="tx1">
                    <a:lumMod val="65000"/>
                    <a:lumOff val="35000"/>
                  </a:schemeClr>
                </a:solidFill>
              </a:rPr>
              <a:t>		1.2.1 Define user requirements</a:t>
            </a:r>
            <a:endParaRPr/>
          </a:p>
          <a:p>
            <a:pPr marL="228600" indent="-228600">
              <a:lnSpc>
                <a:spcPct val="120000"/>
              </a:lnSpc>
              <a:spcBef>
                <a:spcPts val="0"/>
              </a:spcBef>
              <a:buSzPct val="100000"/>
              <a:buFont typeface="Calibri"/>
              <a:buNone/>
              <a:defRPr/>
            </a:pPr>
            <a:r>
              <a:rPr lang="en-US" sz="1800">
                <a:solidFill>
                  <a:schemeClr val="tx1">
                    <a:lumMod val="65000"/>
                    <a:lumOff val="35000"/>
                  </a:schemeClr>
                </a:solidFill>
              </a:rPr>
              <a:t>		1.2.2 Define content requirements</a:t>
            </a:r>
            <a:endParaRPr/>
          </a:p>
          <a:p>
            <a:pPr marL="228600" indent="-228600">
              <a:lnSpc>
                <a:spcPct val="120000"/>
              </a:lnSpc>
              <a:spcBef>
                <a:spcPts val="0"/>
              </a:spcBef>
              <a:buSzPct val="100000"/>
              <a:buFont typeface="Calibri"/>
              <a:buNone/>
              <a:defRPr/>
            </a:pPr>
            <a:r>
              <a:rPr lang="en-US" sz="1800">
                <a:solidFill>
                  <a:schemeClr val="tx1">
                    <a:lumMod val="65000"/>
                    <a:lumOff val="35000"/>
                  </a:schemeClr>
                </a:solidFill>
              </a:rPr>
              <a:t>		1.2.3 Define system requirements</a:t>
            </a:r>
            <a:endParaRPr/>
          </a:p>
          <a:p>
            <a:pPr marL="228600" indent="-228600">
              <a:lnSpc>
                <a:spcPct val="120000"/>
              </a:lnSpc>
              <a:spcBef>
                <a:spcPts val="0"/>
              </a:spcBef>
              <a:buSzPct val="100000"/>
              <a:buFont typeface="Calibri"/>
              <a:buNone/>
              <a:defRPr/>
            </a:pPr>
            <a:r>
              <a:rPr lang="en-US" sz="1800">
                <a:solidFill>
                  <a:schemeClr val="tx1">
                    <a:lumMod val="65000"/>
                    <a:lumOff val="35000"/>
                  </a:schemeClr>
                </a:solidFill>
              </a:rPr>
              <a:t>		1.2.4 Define server owner requirements</a:t>
            </a:r>
            <a:endParaRPr/>
          </a:p>
          <a:p>
            <a:pPr marL="228600" indent="-228600">
              <a:lnSpc>
                <a:spcPct val="120000"/>
              </a:lnSpc>
              <a:spcBef>
                <a:spcPts val="0"/>
              </a:spcBef>
              <a:buSzPct val="100000"/>
              <a:buFont typeface="Calibri"/>
              <a:buNone/>
              <a:defRPr/>
            </a:pPr>
            <a:r>
              <a:rPr lang="en-US" sz="1800">
                <a:solidFill>
                  <a:schemeClr val="tx1">
                    <a:lumMod val="65000"/>
                    <a:lumOff val="35000"/>
                  </a:schemeClr>
                </a:solidFill>
              </a:rPr>
              <a:t>	1.3 Define specific functionality</a:t>
            </a:r>
            <a:endParaRPr/>
          </a:p>
          <a:p>
            <a:pPr marL="228600" indent="-228600">
              <a:lnSpc>
                <a:spcPct val="120000"/>
              </a:lnSpc>
              <a:spcBef>
                <a:spcPts val="0"/>
              </a:spcBef>
              <a:buSzPct val="100000"/>
              <a:buFont typeface="Calibri"/>
              <a:buNone/>
              <a:defRPr/>
            </a:pPr>
            <a:r>
              <a:rPr lang="en-US" sz="1800">
                <a:solidFill>
                  <a:schemeClr val="tx1">
                    <a:lumMod val="65000"/>
                    <a:lumOff val="35000"/>
                  </a:schemeClr>
                </a:solidFill>
              </a:rPr>
              <a:t>	1.4 Define risks and risk management approach</a:t>
            </a:r>
            <a:endParaRPr/>
          </a:p>
          <a:p>
            <a:pPr marL="228600" indent="-228600">
              <a:lnSpc>
                <a:spcPct val="120000"/>
              </a:lnSpc>
              <a:spcBef>
                <a:spcPts val="0"/>
              </a:spcBef>
              <a:buSzPct val="100000"/>
              <a:buFont typeface="Calibri"/>
              <a:buNone/>
              <a:defRPr/>
            </a:pPr>
            <a:r>
              <a:rPr lang="en-US" sz="1800">
                <a:solidFill>
                  <a:schemeClr val="tx1">
                    <a:lumMod val="65000"/>
                    <a:lumOff val="35000"/>
                  </a:schemeClr>
                </a:solidFill>
              </a:rPr>
              <a:t>	1.5 Develop project plan</a:t>
            </a:r>
            <a:endParaRPr/>
          </a:p>
          <a:p>
            <a:pPr marL="228600" indent="-228600">
              <a:lnSpc>
                <a:spcPct val="120000"/>
              </a:lnSpc>
              <a:spcBef>
                <a:spcPts val="0"/>
              </a:spcBef>
              <a:buSzPct val="100000"/>
              <a:buFont typeface="Calibri"/>
              <a:buNone/>
              <a:defRPr/>
            </a:pPr>
            <a:r>
              <a:rPr lang="en-US" sz="1800">
                <a:solidFill>
                  <a:schemeClr val="tx1">
                    <a:lumMod val="65000"/>
                    <a:lumOff val="35000"/>
                  </a:schemeClr>
                </a:solidFill>
              </a:rPr>
              <a:t>	1.6 Brief Web development team</a:t>
            </a:r>
            <a:endParaRPr/>
          </a:p>
          <a:p>
            <a:pPr marL="228600" indent="-228600">
              <a:lnSpc>
                <a:spcPct val="120000"/>
              </a:lnSpc>
              <a:spcBef>
                <a:spcPts val="0"/>
              </a:spcBef>
              <a:buSzPct val="100000"/>
              <a:buFont typeface="Calibri"/>
              <a:buNone/>
              <a:defRPr/>
            </a:pPr>
            <a:r>
              <a:rPr lang="en-US" sz="1800">
                <a:solidFill>
                  <a:schemeClr val="tx1">
                    <a:lumMod val="65000"/>
                    <a:lumOff val="35000"/>
                  </a:schemeClr>
                </a:solidFill>
              </a:rPr>
              <a:t>2.0 Web site design</a:t>
            </a:r>
            <a:endParaRPr/>
          </a:p>
          <a:p>
            <a:pPr marL="228600" indent="-228600">
              <a:lnSpc>
                <a:spcPct val="120000"/>
              </a:lnSpc>
              <a:spcBef>
                <a:spcPts val="0"/>
              </a:spcBef>
              <a:buSzPct val="100000"/>
              <a:buFont typeface="Calibri"/>
              <a:buNone/>
              <a:defRPr/>
            </a:pPr>
            <a:r>
              <a:rPr lang="en-US" sz="1800">
                <a:solidFill>
                  <a:schemeClr val="tx1">
                    <a:lumMod val="65000"/>
                    <a:lumOff val="35000"/>
                  </a:schemeClr>
                </a:solidFill>
              </a:rPr>
              <a:t>3.0 Web site development</a:t>
            </a:r>
            <a:endParaRPr/>
          </a:p>
          <a:p>
            <a:pPr marL="228600" indent="-228600">
              <a:lnSpc>
                <a:spcPct val="120000"/>
              </a:lnSpc>
              <a:spcBef>
                <a:spcPts val="0"/>
              </a:spcBef>
              <a:buSzPct val="100000"/>
              <a:buFont typeface="Calibri"/>
              <a:buNone/>
              <a:defRPr/>
            </a:pPr>
            <a:r>
              <a:rPr lang="en-US" sz="1800">
                <a:solidFill>
                  <a:schemeClr val="tx1">
                    <a:lumMod val="65000"/>
                    <a:lumOff val="35000"/>
                  </a:schemeClr>
                </a:solidFill>
              </a:rPr>
              <a:t>4.0 Roll out</a:t>
            </a:r>
            <a:endParaRPr/>
          </a:p>
          <a:p>
            <a:pPr marL="228600" indent="-228600">
              <a:lnSpc>
                <a:spcPct val="120000"/>
              </a:lnSpc>
              <a:spcBef>
                <a:spcPts val="0"/>
              </a:spcBef>
              <a:buSzPct val="100000"/>
              <a:buFont typeface="Calibri"/>
              <a:buNone/>
              <a:defRPr/>
            </a:pPr>
            <a:r>
              <a:rPr lang="en-US" sz="1800">
                <a:solidFill>
                  <a:schemeClr val="tx1">
                    <a:lumMod val="65000"/>
                    <a:lumOff val="35000"/>
                  </a:schemeClr>
                </a:solidFill>
              </a:rPr>
              <a:t>5.0 Support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47078483">
                                            <p:txEl>
                                              <p:pRg st="0" end="0"/>
                                            </p:txEl>
                                          </p:spTgt>
                                        </p:tgtEl>
                                        <p:attrNameLst>
                                          <p:attrName>style.visibility</p:attrName>
                                        </p:attrNameLst>
                                      </p:cBhvr>
                                      <p:to>
                                        <p:strVal val="visible"/>
                                      </p:to>
                                    </p:set>
                                    <p:animEffect transition="in" filter="wipe(left)">
                                      <p:cBhvr>
                                        <p:cTn id="7" dur="500"/>
                                        <p:tgtEl>
                                          <p:spTgt spid="94707848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26549363" name="Google Shape;721;p46"/>
          <p:cNvPicPr/>
          <p:nvPr/>
        </p:nvPicPr>
        <p:blipFill rotWithShape="1">
          <a:blip r:embed="rId3">
            <a:alphaModFix/>
          </a:blip>
          <a:srcRect l="21648" t="0" r="35518" b="0"/>
          <a:stretch/>
        </p:blipFill>
        <p:spPr bwMode="auto">
          <a:xfrm>
            <a:off x="-49211" y="-9876"/>
            <a:ext cx="4419600" cy="6867876"/>
          </a:xfrm>
          <a:prstGeom prst="rect">
            <a:avLst/>
          </a:prstGeom>
          <a:noFill/>
          <a:ln>
            <a:noFill/>
          </a:ln>
        </p:spPr>
      </p:pic>
      <p:sp>
        <p:nvSpPr>
          <p:cNvPr id="119586338" name="Google Shape;722;p46"/>
          <p:cNvSpPr txBox="1">
            <a:spLocks noGrp="1"/>
          </p:cNvSpPr>
          <p:nvPr>
            <p:ph type="title"/>
          </p:nvPr>
        </p:nvSpPr>
        <p:spPr bwMode="auto">
          <a:xfrm>
            <a:off x="609600" y="302394"/>
            <a:ext cx="5105400" cy="7159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defRPr/>
            </a:pPr>
            <a:r>
              <a:rPr lang="en-US" b="1"/>
              <a:t>Knowledge of a PM</a:t>
            </a:r>
            <a:endParaRPr/>
          </a:p>
        </p:txBody>
      </p:sp>
      <p:grpSp>
        <p:nvGrpSpPr>
          <p:cNvPr id="324286524" name="Google Shape;723;p46"/>
          <p:cNvGrpSpPr/>
          <p:nvPr/>
        </p:nvGrpSpPr>
        <p:grpSpPr bwMode="auto">
          <a:xfrm>
            <a:off x="5101159" y="1733961"/>
            <a:ext cx="6100240" cy="4657009"/>
            <a:chOff x="5688824" y="1864854"/>
            <a:chExt cx="4394200" cy="4133851"/>
          </a:xfrm>
        </p:grpSpPr>
        <p:grpSp>
          <p:nvGrpSpPr>
            <p:cNvPr id="724" name="Google Shape;724;p46"/>
            <p:cNvGrpSpPr/>
            <p:nvPr/>
          </p:nvGrpSpPr>
          <p:grpSpPr bwMode="auto">
            <a:xfrm>
              <a:off x="6438123" y="2544305"/>
              <a:ext cx="3048000" cy="2873375"/>
              <a:chOff x="1981198" y="861054"/>
              <a:chExt cx="2895602" cy="2872745"/>
            </a:xfrm>
          </p:grpSpPr>
          <p:sp>
            <p:nvSpPr>
              <p:cNvPr id="725" name="Google Shape;725;p46"/>
              <p:cNvSpPr/>
              <p:nvPr/>
            </p:nvSpPr>
            <p:spPr bwMode="auto">
              <a:xfrm>
                <a:off x="1981198" y="861054"/>
                <a:ext cx="2895602" cy="2872745"/>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26" name="Google Shape;726;p46"/>
              <p:cNvSpPr/>
              <p:nvPr/>
            </p:nvSpPr>
            <p:spPr bwMode="auto">
              <a:xfrm>
                <a:off x="2405060" y="1281650"/>
                <a:ext cx="2047876" cy="2031554"/>
              </a:xfrm>
              <a:prstGeom prst="rect">
                <a:avLst/>
              </a:prstGeom>
              <a:noFill/>
              <a:ln>
                <a:noFill/>
              </a:ln>
            </p:spPr>
            <p:txBody>
              <a:bodyPr spcFirstLastPara="1" wrap="square" lIns="44450" tIns="44450" rIns="44450" bIns="44450" anchor="ctr" anchorCtr="0">
                <a:noAutofit/>
              </a:bodyPr>
              <a:lstStyle/>
              <a:p>
                <a:pPr marL="0" marR="0" lvl="0" indent="0" algn="ctr" rtl="0">
                  <a:lnSpc>
                    <a:spcPct val="90000"/>
                  </a:lnSpc>
                  <a:spcBef>
                    <a:spcPts val="0"/>
                  </a:spcBef>
                  <a:spcAft>
                    <a:spcPts val="0"/>
                  </a:spcAft>
                  <a:buNone/>
                  <a:defRPr/>
                </a:pPr>
                <a:r>
                  <a:rPr lang="en-US" sz="3500">
                    <a:solidFill>
                      <a:schemeClr val="dk1"/>
                    </a:solidFill>
                    <a:latin typeface="Calibri"/>
                    <a:ea typeface="Calibri"/>
                    <a:cs typeface="Calibri"/>
                  </a:rPr>
                  <a:t>Integration</a:t>
                </a:r>
                <a:endParaRPr/>
              </a:p>
            </p:txBody>
          </p:sp>
        </p:grpSp>
        <p:grpSp>
          <p:nvGrpSpPr>
            <p:cNvPr id="727" name="Google Shape;727;p46"/>
            <p:cNvGrpSpPr/>
            <p:nvPr/>
          </p:nvGrpSpPr>
          <p:grpSpPr bwMode="auto">
            <a:xfrm>
              <a:off x="7306486" y="1864854"/>
              <a:ext cx="1158875" cy="947738"/>
              <a:chOff x="2849129" y="181000"/>
              <a:chExt cx="1159740" cy="947887"/>
            </a:xfrm>
          </p:grpSpPr>
          <p:sp>
            <p:nvSpPr>
              <p:cNvPr id="728" name="Google Shape;728;p46"/>
              <p:cNvSpPr/>
              <p:nvPr/>
            </p:nvSpPr>
            <p:spPr bwMode="auto">
              <a:xfrm>
                <a:off x="2849129" y="181000"/>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29" name="Google Shape;729;p46"/>
              <p:cNvSpPr/>
              <p:nvPr/>
            </p:nvSpPr>
            <p:spPr bwMode="auto">
              <a:xfrm>
                <a:off x="3019119" y="319135"/>
                <a:ext cx="819761"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Scope</a:t>
                </a:r>
                <a:endParaRPr/>
              </a:p>
            </p:txBody>
          </p:sp>
        </p:grpSp>
        <p:grpSp>
          <p:nvGrpSpPr>
            <p:cNvPr id="730" name="Google Shape;730;p46"/>
            <p:cNvGrpSpPr/>
            <p:nvPr/>
          </p:nvGrpSpPr>
          <p:grpSpPr bwMode="auto">
            <a:xfrm>
              <a:off x="8495523" y="2249029"/>
              <a:ext cx="1160462" cy="947738"/>
              <a:chOff x="3904896" y="565268"/>
              <a:chExt cx="1159740" cy="947887"/>
            </a:xfrm>
          </p:grpSpPr>
          <p:sp>
            <p:nvSpPr>
              <p:cNvPr id="731" name="Google Shape;731;p46"/>
              <p:cNvSpPr/>
              <p:nvPr/>
            </p:nvSpPr>
            <p:spPr bwMode="auto">
              <a:xfrm>
                <a:off x="3904896" y="565268"/>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2" name="Google Shape;732;p46"/>
              <p:cNvSpPr/>
              <p:nvPr/>
            </p:nvSpPr>
            <p:spPr bwMode="auto">
              <a:xfrm>
                <a:off x="4074652" y="703403"/>
                <a:ext cx="820227"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Time</a:t>
                </a:r>
                <a:endParaRPr/>
              </a:p>
            </p:txBody>
          </p:sp>
        </p:grpSp>
        <p:grpSp>
          <p:nvGrpSpPr>
            <p:cNvPr id="733" name="Google Shape;733;p46"/>
            <p:cNvGrpSpPr/>
            <p:nvPr/>
          </p:nvGrpSpPr>
          <p:grpSpPr bwMode="auto">
            <a:xfrm>
              <a:off x="8922561" y="3222168"/>
              <a:ext cx="1160463" cy="947737"/>
              <a:chOff x="4466658" y="1538269"/>
              <a:chExt cx="1159740" cy="947887"/>
            </a:xfrm>
          </p:grpSpPr>
          <p:sp>
            <p:nvSpPr>
              <p:cNvPr id="734" name="Google Shape;734;p46"/>
              <p:cNvSpPr/>
              <p:nvPr/>
            </p:nvSpPr>
            <p:spPr bwMode="auto">
              <a:xfrm>
                <a:off x="4466658" y="1538269"/>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5" name="Google Shape;735;p46"/>
              <p:cNvSpPr/>
              <p:nvPr/>
            </p:nvSpPr>
            <p:spPr bwMode="auto">
              <a:xfrm>
                <a:off x="4636415" y="1676403"/>
                <a:ext cx="820226"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Cost</a:t>
                </a:r>
                <a:endParaRPr/>
              </a:p>
            </p:txBody>
          </p:sp>
        </p:grpSp>
        <p:grpSp>
          <p:nvGrpSpPr>
            <p:cNvPr id="736" name="Google Shape;736;p46"/>
            <p:cNvGrpSpPr/>
            <p:nvPr/>
          </p:nvGrpSpPr>
          <p:grpSpPr bwMode="auto">
            <a:xfrm>
              <a:off x="8800323" y="4328654"/>
              <a:ext cx="1160462" cy="947738"/>
              <a:chOff x="4271560" y="2644723"/>
              <a:chExt cx="1159740" cy="947887"/>
            </a:xfrm>
          </p:grpSpPr>
          <p:sp>
            <p:nvSpPr>
              <p:cNvPr id="737" name="Google Shape;737;p46"/>
              <p:cNvSpPr/>
              <p:nvPr/>
            </p:nvSpPr>
            <p:spPr bwMode="auto">
              <a:xfrm>
                <a:off x="4271560" y="2644723"/>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8" name="Google Shape;738;p46"/>
              <p:cNvSpPr/>
              <p:nvPr/>
            </p:nvSpPr>
            <p:spPr bwMode="auto">
              <a:xfrm>
                <a:off x="4441316" y="2782859"/>
                <a:ext cx="820227"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Quality</a:t>
                </a:r>
                <a:endParaRPr/>
              </a:p>
            </p:txBody>
          </p:sp>
        </p:grpSp>
        <p:grpSp>
          <p:nvGrpSpPr>
            <p:cNvPr id="739" name="Google Shape;739;p46"/>
            <p:cNvGrpSpPr/>
            <p:nvPr/>
          </p:nvGrpSpPr>
          <p:grpSpPr bwMode="auto">
            <a:xfrm>
              <a:off x="7912910" y="5050968"/>
              <a:ext cx="1160463" cy="947737"/>
              <a:chOff x="3410891" y="3366911"/>
              <a:chExt cx="1159740" cy="947887"/>
            </a:xfrm>
          </p:grpSpPr>
          <p:sp>
            <p:nvSpPr>
              <p:cNvPr id="740" name="Google Shape;740;p46"/>
              <p:cNvSpPr/>
              <p:nvPr/>
            </p:nvSpPr>
            <p:spPr bwMode="auto">
              <a:xfrm>
                <a:off x="3410891" y="3366911"/>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1" name="Google Shape;741;p46"/>
              <p:cNvSpPr/>
              <p:nvPr/>
            </p:nvSpPr>
            <p:spPr bwMode="auto">
              <a:xfrm>
                <a:off x="3580648" y="3505045"/>
                <a:ext cx="820226"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Human Resource</a:t>
                </a:r>
                <a:endParaRPr/>
              </a:p>
            </p:txBody>
          </p:sp>
        </p:grpSp>
        <p:grpSp>
          <p:nvGrpSpPr>
            <p:cNvPr id="742" name="Google Shape;742;p46"/>
            <p:cNvGrpSpPr/>
            <p:nvPr/>
          </p:nvGrpSpPr>
          <p:grpSpPr bwMode="auto">
            <a:xfrm>
              <a:off x="6684186" y="5050968"/>
              <a:ext cx="1160463" cy="947737"/>
              <a:chOff x="2287367" y="3366911"/>
              <a:chExt cx="1159740" cy="947887"/>
            </a:xfrm>
          </p:grpSpPr>
          <p:sp>
            <p:nvSpPr>
              <p:cNvPr id="743" name="Google Shape;743;p46"/>
              <p:cNvSpPr/>
              <p:nvPr/>
            </p:nvSpPr>
            <p:spPr bwMode="auto">
              <a:xfrm>
                <a:off x="2287367" y="3366911"/>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4" name="Google Shape;744;p46"/>
              <p:cNvSpPr/>
              <p:nvPr/>
            </p:nvSpPr>
            <p:spPr bwMode="auto">
              <a:xfrm>
                <a:off x="2338135" y="3505045"/>
                <a:ext cx="1032819"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Communication</a:t>
                </a:r>
                <a:endParaRPr/>
              </a:p>
            </p:txBody>
          </p:sp>
        </p:grpSp>
        <p:grpSp>
          <p:nvGrpSpPr>
            <p:cNvPr id="745" name="Google Shape;745;p46"/>
            <p:cNvGrpSpPr/>
            <p:nvPr/>
          </p:nvGrpSpPr>
          <p:grpSpPr bwMode="auto">
            <a:xfrm>
              <a:off x="5845986" y="4328654"/>
              <a:ext cx="1160463" cy="947738"/>
              <a:chOff x="1426698" y="2644723"/>
              <a:chExt cx="1159740" cy="947887"/>
            </a:xfrm>
          </p:grpSpPr>
          <p:sp>
            <p:nvSpPr>
              <p:cNvPr id="746" name="Google Shape;746;p46"/>
              <p:cNvSpPr/>
              <p:nvPr/>
            </p:nvSpPr>
            <p:spPr bwMode="auto">
              <a:xfrm>
                <a:off x="1426698" y="2644723"/>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7" name="Google Shape;747;p46"/>
              <p:cNvSpPr/>
              <p:nvPr/>
            </p:nvSpPr>
            <p:spPr bwMode="auto">
              <a:xfrm>
                <a:off x="1596455" y="2782859"/>
                <a:ext cx="820226"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Risk</a:t>
                </a:r>
                <a:endParaRPr/>
              </a:p>
            </p:txBody>
          </p:sp>
        </p:grpSp>
        <p:grpSp>
          <p:nvGrpSpPr>
            <p:cNvPr id="748" name="Google Shape;748;p46"/>
            <p:cNvGrpSpPr/>
            <p:nvPr/>
          </p:nvGrpSpPr>
          <p:grpSpPr bwMode="auto">
            <a:xfrm>
              <a:off x="5688824" y="3222168"/>
              <a:ext cx="1158875" cy="947737"/>
              <a:chOff x="1231599" y="1538269"/>
              <a:chExt cx="1159741" cy="947887"/>
            </a:xfrm>
          </p:grpSpPr>
          <p:sp>
            <p:nvSpPr>
              <p:cNvPr id="749" name="Google Shape;749;p46"/>
              <p:cNvSpPr/>
              <p:nvPr/>
            </p:nvSpPr>
            <p:spPr bwMode="auto">
              <a:xfrm>
                <a:off x="1231600" y="1538269"/>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50" name="Google Shape;750;p46"/>
              <p:cNvSpPr/>
              <p:nvPr/>
            </p:nvSpPr>
            <p:spPr bwMode="auto">
              <a:xfrm>
                <a:off x="1231599" y="1676403"/>
                <a:ext cx="1154974"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Procurement</a:t>
                </a:r>
                <a:endParaRPr/>
              </a:p>
            </p:txBody>
          </p:sp>
        </p:grpSp>
        <p:grpSp>
          <p:nvGrpSpPr>
            <p:cNvPr id="751" name="Google Shape;751;p46"/>
            <p:cNvGrpSpPr/>
            <p:nvPr/>
          </p:nvGrpSpPr>
          <p:grpSpPr bwMode="auto">
            <a:xfrm>
              <a:off x="6150786" y="2249029"/>
              <a:ext cx="1160463" cy="947738"/>
              <a:chOff x="1793362" y="565268"/>
              <a:chExt cx="1159740" cy="947887"/>
            </a:xfrm>
          </p:grpSpPr>
          <p:sp>
            <p:nvSpPr>
              <p:cNvPr id="752" name="Google Shape;752;p46"/>
              <p:cNvSpPr/>
              <p:nvPr/>
            </p:nvSpPr>
            <p:spPr bwMode="auto">
              <a:xfrm>
                <a:off x="1793362" y="565268"/>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53" name="Google Shape;753;p46"/>
              <p:cNvSpPr/>
              <p:nvPr/>
            </p:nvSpPr>
            <p:spPr bwMode="auto">
              <a:xfrm>
                <a:off x="1850476" y="703403"/>
                <a:ext cx="1102626"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Stakeholders</a:t>
                </a:r>
                <a:endParaRPr/>
              </a:p>
            </p:txBody>
          </p:sp>
        </p:grpSp>
      </p:grpSp>
      <p:sp>
        <p:nvSpPr>
          <p:cNvPr id="898523643" name="Google Shape;754;p46"/>
          <p:cNvSpPr txBox="1"/>
          <p:nvPr/>
        </p:nvSpPr>
        <p:spPr bwMode="auto">
          <a:xfrm>
            <a:off x="646828" y="98775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sp>
        <p:nvSpPr>
          <p:cNvPr id="791623473" name="Google Shape;755;p46"/>
          <p:cNvSpPr txBox="1"/>
          <p:nvPr/>
        </p:nvSpPr>
        <p:spPr bwMode="auto">
          <a:xfrm>
            <a:off x="681560" y="1703714"/>
            <a:ext cx="2970213"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defRPr/>
            </a:pPr>
            <a:r>
              <a:rPr lang="en-US" sz="2400">
                <a:solidFill>
                  <a:srgbClr val="FF0000"/>
                </a:solidFill>
                <a:latin typeface="Times New Roman"/>
                <a:ea typeface="Times New Roman"/>
                <a:cs typeface="Times New Roman"/>
              </a:rPr>
              <a:t>10 </a:t>
            </a:r>
            <a:r>
              <a:rPr lang="en-US" sz="2400">
                <a:solidFill>
                  <a:schemeClr val="dk1"/>
                </a:solidFill>
                <a:latin typeface="Times New Roman"/>
                <a:ea typeface="Times New Roman"/>
                <a:cs typeface="Times New Roman"/>
              </a:rPr>
              <a:t>Knowledge </a:t>
            </a:r>
            <a:r>
              <a:rPr lang="en-US" sz="2400">
                <a:solidFill>
                  <a:srgbClr val="FF0000"/>
                </a:solidFill>
                <a:latin typeface="Times New Roman"/>
                <a:ea typeface="Times New Roman"/>
                <a:cs typeface="Times New Roman"/>
              </a:rPr>
              <a:t>Areas</a:t>
            </a:r>
            <a:endParaRPr>
              <a:solidFill>
                <a:srgbClr val="FF0000"/>
              </a:solidFill>
            </a:endParaRPr>
          </a:p>
        </p:txBody>
      </p:sp>
      <p:sp>
        <p:nvSpPr>
          <p:cNvPr id="310174681" name="Google Shape;756;p4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59</a:t>
            </a:fld>
            <a:endParaRPr/>
          </a:p>
        </p:txBody>
      </p:sp>
      <p:cxnSp>
        <p:nvCxnSpPr>
          <p:cNvPr id="720801576" name="Google Shape;757;p46"/>
          <p:cNvCxnSpPr/>
          <p:nvPr/>
        </p:nvCxnSpPr>
        <p:spPr bwMode="auto">
          <a:xfrm rot="10800000">
            <a:off x="762000" y="1461268"/>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507839421" name="Freeform: Shape 1"/>
          <p:cNvSpPr/>
          <p:nvPr/>
        </p:nvSpPr>
        <p:spPr bwMode="auto">
          <a:xfrm>
            <a:off x="8183105" y="1999281"/>
            <a:ext cx="449451" cy="604434"/>
          </a:xfrm>
          <a:custGeom>
            <a:avLst/>
            <a:gdLst>
              <a:gd name="connsiteX0" fmla="*/ 0 w 449451"/>
              <a:gd name="connsiteY0" fmla="*/ 418455 h 604434"/>
              <a:gd name="connsiteX1" fmla="*/ 154983 w 449451"/>
              <a:gd name="connsiteY1" fmla="*/ 604434 h 604434"/>
              <a:gd name="connsiteX2" fmla="*/ 449451 w 449451"/>
              <a:gd name="connsiteY2" fmla="*/ 0 h 604434"/>
            </a:gdLst>
            <a:ahLst/>
            <a:cxnLst>
              <a:cxn ang="0">
                <a:pos x="connsiteX0" y="connsiteY0"/>
              </a:cxn>
              <a:cxn ang="0">
                <a:pos x="connsiteX1" y="connsiteY1"/>
              </a:cxn>
              <a:cxn ang="0">
                <a:pos x="connsiteX2" y="connsiteY2"/>
              </a:cxn>
            </a:cxnLst>
            <a:rect l="l" t="t" r="r" b="b"/>
            <a:pathLst>
              <a:path w="449451" h="604434" fill="norm" stroke="1" extrusionOk="0">
                <a:moveTo>
                  <a:pt x="0" y="418455"/>
                </a:moveTo>
                <a:lnTo>
                  <a:pt x="154983" y="604434"/>
                </a:lnTo>
                <a:lnTo>
                  <a:pt x="449451" y="0"/>
                </a:ln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9071900" name="Google Shape;931;p56"/>
          <p:cNvSpPr txBox="1">
            <a:spLocks noGrp="1"/>
          </p:cNvSpPr>
          <p:nvPr>
            <p:ph type="body" idx="1"/>
          </p:nvPr>
        </p:nvSpPr>
        <p:spPr bwMode="auto">
          <a:xfrm>
            <a:off x="1219200" y="2265745"/>
            <a:ext cx="50292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defRPr/>
            </a:pPr>
            <a:r>
              <a:rPr lang="en-US" b="1"/>
              <a:t>7 main processes:</a:t>
            </a:r>
            <a:endParaRPr b="1"/>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t>Plan Schedule Management</a:t>
            </a:r>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t>Define Activities </a:t>
            </a:r>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t>Sequence Activities</a:t>
            </a:r>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t>Estimate Activity Resources</a:t>
            </a:r>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t>Estimate Activity Durations</a:t>
            </a:r>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t>Develop Schedule</a:t>
            </a:r>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t>Control Schedule</a:t>
            </a:r>
            <a:endParaRPr/>
          </a:p>
        </p:txBody>
      </p:sp>
      <p:sp>
        <p:nvSpPr>
          <p:cNvPr id="1554369146" name="Google Shape;932;p5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60</a:t>
            </a:fld>
            <a:endParaRPr/>
          </a:p>
        </p:txBody>
      </p:sp>
      <p:sp>
        <p:nvSpPr>
          <p:cNvPr id="1004867121" name="Google Shape;933;p56"/>
          <p:cNvSpPr txBox="1"/>
          <p:nvPr/>
        </p:nvSpPr>
        <p:spPr bwMode="auto">
          <a:xfrm>
            <a:off x="1066800" y="609600"/>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Time Management</a:t>
            </a:r>
            <a:endParaRPr sz="4000" b="1">
              <a:solidFill>
                <a:schemeClr val="dk1"/>
              </a:solidFill>
              <a:latin typeface="Calibri"/>
              <a:ea typeface="Calibri"/>
              <a:cs typeface="Calibri"/>
            </a:endParaRPr>
          </a:p>
        </p:txBody>
      </p:sp>
      <p:sp>
        <p:nvSpPr>
          <p:cNvPr id="1512487531" name="Google Shape;934;p56"/>
          <p:cNvSpPr txBox="1"/>
          <p:nvPr/>
        </p:nvSpPr>
        <p:spPr bwMode="auto">
          <a:xfrm>
            <a:off x="1104028" y="1294959"/>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200114914" name="Google Shape;935;p56"/>
          <p:cNvCxnSpPr/>
          <p:nvPr/>
        </p:nvCxnSpPr>
        <p:spPr bwMode="auto">
          <a:xfrm rot="10800000">
            <a:off x="1219200" y="1768474"/>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189344624" name="Google Shape;936;p56"/>
          <p:cNvPicPr/>
          <p:nvPr/>
        </p:nvPicPr>
        <p:blipFill rotWithShape="1">
          <a:blip r:embed="rId3">
            <a:alphaModFix/>
          </a:blip>
          <a:srcRect l="55224" t="0" r="8954" b="0"/>
          <a:stretch/>
        </p:blipFill>
        <p:spPr bwMode="auto">
          <a:xfrm>
            <a:off x="8590866" y="0"/>
            <a:ext cx="3684896" cy="68580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04867121"/>
                                        </p:tgtEl>
                                        <p:attrNameLst>
                                          <p:attrName>style.visibility</p:attrName>
                                        </p:attrNameLst>
                                      </p:cBhvr>
                                      <p:to>
                                        <p:strVal val="visible"/>
                                      </p:to>
                                    </p:set>
                                    <p:anim calcmode="lin" valueType="num">
                                      <p:cBhvr additive="base">
                                        <p:cTn id="7" dur="500" fill="hold"/>
                                        <p:tgtEl>
                                          <p:spTgt spid="1004867121"/>
                                        </p:tgtEl>
                                        <p:attrNameLst>
                                          <p:attrName>ppt_x</p:attrName>
                                        </p:attrNameLst>
                                      </p:cBhvr>
                                      <p:tavLst>
                                        <p:tav tm="0">
                                          <p:val>
                                            <p:strVal val="#ppt_x"/>
                                          </p:val>
                                        </p:tav>
                                        <p:tav tm="100000">
                                          <p:val>
                                            <p:strVal val="#ppt_x"/>
                                          </p:val>
                                        </p:tav>
                                      </p:tavLst>
                                    </p:anim>
                                    <p:anim calcmode="lin" valueType="num">
                                      <p:cBhvr additive="base">
                                        <p:cTn id="8" dur="500" fill="hold"/>
                                        <p:tgtEl>
                                          <p:spTgt spid="100486712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867121" grpId="0"/>
    </p:bldLst>
  </p:timing>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72198350" name="Google Shape;941;p57"/>
          <p:cNvPicPr/>
          <p:nvPr/>
        </p:nvPicPr>
        <p:blipFill rotWithShape="1">
          <a:blip r:embed="rId3">
            <a:alphaModFix/>
          </a:blip>
          <a:srcRect l="55224" t="0" r="8954" b="0"/>
          <a:stretch/>
        </p:blipFill>
        <p:spPr bwMode="auto">
          <a:xfrm>
            <a:off x="8590866" y="0"/>
            <a:ext cx="3684896" cy="6858000"/>
          </a:xfrm>
          <a:prstGeom prst="rect">
            <a:avLst/>
          </a:prstGeom>
          <a:noFill/>
          <a:ln>
            <a:noFill/>
          </a:ln>
        </p:spPr>
      </p:pic>
      <p:sp>
        <p:nvSpPr>
          <p:cNvPr id="1172663572" name="Google Shape;942;p57"/>
          <p:cNvSpPr txBox="1">
            <a:spLocks noGrp="1"/>
          </p:cNvSpPr>
          <p:nvPr>
            <p:ph type="body" idx="1"/>
          </p:nvPr>
        </p:nvSpPr>
        <p:spPr bwMode="auto">
          <a:xfrm>
            <a:off x="428719" y="3804414"/>
            <a:ext cx="4380914" cy="2519362"/>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ts val="2800"/>
              <a:buFont typeface="Calibri"/>
              <a:buNone/>
              <a:defRPr/>
            </a:pPr>
            <a:r>
              <a:rPr lang="en-US" b="1"/>
              <a:t>1. Plan </a:t>
            </a:r>
            <a:r>
              <a:rPr lang="en-US" b="1" u="sng"/>
              <a:t>Schedule Management</a:t>
            </a:r>
            <a:endParaRPr u="sng"/>
          </a:p>
          <a:p>
            <a:pPr marL="457200" lvl="1" indent="0" algn="l" rtl="0">
              <a:lnSpc>
                <a:spcPct val="90000"/>
              </a:lnSpc>
              <a:spcBef>
                <a:spcPts val="500"/>
              </a:spcBef>
              <a:spcAft>
                <a:spcPts val="0"/>
              </a:spcAft>
              <a:buClr>
                <a:schemeClr val="dk1"/>
              </a:buClr>
              <a:buSzPts val="2400"/>
              <a:buNone/>
              <a:defRPr/>
            </a:pPr>
            <a:r>
              <a:rPr lang="en-US" b="1">
                <a:solidFill>
                  <a:schemeClr val="tx1"/>
                </a:solidFill>
              </a:rPr>
              <a:t>Establish </a:t>
            </a:r>
            <a:r>
              <a:rPr lang="en-US" b="1" u="sng">
                <a:solidFill>
                  <a:schemeClr val="tx1"/>
                </a:solidFill>
              </a:rPr>
              <a:t>policies</a:t>
            </a:r>
            <a:r>
              <a:rPr lang="en-US" b="1">
                <a:solidFill>
                  <a:schemeClr val="tx1"/>
                </a:solidFill>
              </a:rPr>
              <a:t>, procedures, and documentation for planning, </a:t>
            </a:r>
            <a:r>
              <a:rPr lang="en-US" b="1">
                <a:solidFill>
                  <a:srgbClr val="FF0000"/>
                </a:solidFill>
              </a:rPr>
              <a:t>develop</a:t>
            </a:r>
            <a:r>
              <a:rPr lang="en-US" b="1">
                <a:solidFill>
                  <a:schemeClr val="tx1"/>
                </a:solidFill>
              </a:rPr>
              <a:t>ing,</a:t>
            </a:r>
            <a:r>
              <a:rPr lang="en-US" b="1">
                <a:solidFill>
                  <a:srgbClr val="FF0000"/>
                </a:solidFill>
              </a:rPr>
              <a:t> </a:t>
            </a:r>
            <a:r>
              <a:rPr lang="en-US" b="1">
                <a:solidFill>
                  <a:schemeClr val="tx1"/>
                </a:solidFill>
              </a:rPr>
              <a:t>managing,</a:t>
            </a:r>
            <a:r>
              <a:rPr lang="en-US" b="1">
                <a:solidFill>
                  <a:srgbClr val="FF0000"/>
                </a:solidFill>
              </a:rPr>
              <a:t> execut</a:t>
            </a:r>
            <a:r>
              <a:rPr lang="en-US" b="1">
                <a:solidFill>
                  <a:schemeClr val="tx1"/>
                </a:solidFill>
              </a:rPr>
              <a:t>ing,</a:t>
            </a:r>
            <a:r>
              <a:rPr lang="en-US" b="1">
                <a:solidFill>
                  <a:srgbClr val="FF0000"/>
                </a:solidFill>
              </a:rPr>
              <a:t> and controll</a:t>
            </a:r>
            <a:r>
              <a:rPr lang="en-US" b="1">
                <a:solidFill>
                  <a:schemeClr val="tx1"/>
                </a:solidFill>
              </a:rPr>
              <a:t>ing the </a:t>
            </a:r>
            <a:r>
              <a:rPr lang="en-US" b="1" u="sng">
                <a:solidFill>
                  <a:srgbClr val="FF0000"/>
                </a:solidFill>
              </a:rPr>
              <a:t>project schedule</a:t>
            </a:r>
            <a:r>
              <a:rPr lang="en-US" u="sng">
                <a:solidFill>
                  <a:srgbClr val="FF0000"/>
                </a:solidFill>
              </a:rPr>
              <a:t>.</a:t>
            </a:r>
            <a:endParaRPr u="sng">
              <a:solidFill>
                <a:srgbClr val="FF0000"/>
              </a:solidFill>
            </a:endParaRPr>
          </a:p>
        </p:txBody>
      </p:sp>
      <p:sp>
        <p:nvSpPr>
          <p:cNvPr id="20197936" name="Google Shape;943;p5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61</a:t>
            </a:fld>
            <a:endParaRPr/>
          </a:p>
        </p:txBody>
      </p:sp>
      <p:grpSp>
        <p:nvGrpSpPr>
          <p:cNvPr id="1246994189" name="Google Shape;944;p57"/>
          <p:cNvGrpSpPr/>
          <p:nvPr/>
        </p:nvGrpSpPr>
        <p:grpSpPr bwMode="auto">
          <a:xfrm>
            <a:off x="435182" y="2301998"/>
            <a:ext cx="11112272" cy="903607"/>
            <a:chOff x="6463" y="195896"/>
            <a:chExt cx="11112272" cy="903607"/>
          </a:xfrm>
        </p:grpSpPr>
        <p:sp>
          <p:nvSpPr>
            <p:cNvPr id="945" name="Google Shape;945;p57"/>
            <p:cNvSpPr/>
            <p:nvPr/>
          </p:nvSpPr>
          <p:spPr bwMode="auto">
            <a:xfrm>
              <a:off x="6463" y="195896"/>
              <a:ext cx="1624235" cy="903607"/>
            </a:xfrm>
            <a:prstGeom prst="homePlate">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46" name="Google Shape;946;p57"/>
            <p:cNvSpPr txBox="1"/>
            <p:nvPr/>
          </p:nvSpPr>
          <p:spPr bwMode="auto">
            <a:xfrm>
              <a:off x="6463" y="195896"/>
              <a:ext cx="1398333" cy="903607"/>
            </a:xfrm>
            <a:prstGeom prst="rect">
              <a:avLst/>
            </a:prstGeom>
            <a:noFill/>
            <a:ln>
              <a:noFill/>
            </a:ln>
          </p:spPr>
          <p:txBody>
            <a:bodyPr spcFirstLastPara="1" wrap="square" lIns="90675" tIns="45325" rIns="22650" bIns="45325" anchor="ctr" anchorCtr="0">
              <a:noAutofit/>
            </a:bodyPr>
            <a:lstStyle/>
            <a:p>
              <a:pPr marL="0" marR="0" lvl="0" indent="0" algn="ctr" rtl="0">
                <a:lnSpc>
                  <a:spcPct val="90000"/>
                </a:lnSpc>
                <a:spcBef>
                  <a:spcPts val="0"/>
                </a:spcBef>
                <a:spcAft>
                  <a:spcPts val="0"/>
                </a:spcAft>
                <a:buNone/>
                <a:defRPr/>
              </a:pPr>
              <a:r>
                <a:rPr lang="en-US" sz="1650" b="1">
                  <a:solidFill>
                    <a:schemeClr val="lt1"/>
                  </a:solidFill>
                  <a:latin typeface="Calibri"/>
                  <a:ea typeface="Calibri"/>
                  <a:cs typeface="Calibri"/>
                </a:rPr>
                <a:t>1.                       Plan Schedule Management</a:t>
              </a:r>
              <a:endParaRPr/>
            </a:p>
          </p:txBody>
        </p:sp>
        <p:sp>
          <p:nvSpPr>
            <p:cNvPr id="947" name="Google Shape;947;p57"/>
            <p:cNvSpPr/>
            <p:nvPr/>
          </p:nvSpPr>
          <p:spPr bwMode="auto">
            <a:xfrm>
              <a:off x="1305851" y="195896"/>
              <a:ext cx="1961930"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48" name="Google Shape;948;p57"/>
            <p:cNvSpPr txBox="1"/>
            <p:nvPr/>
          </p:nvSpPr>
          <p:spPr bwMode="auto">
            <a:xfrm>
              <a:off x="1757655" y="195896"/>
              <a:ext cx="1058323"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2.        Define Activities </a:t>
              </a:r>
              <a:endParaRPr/>
            </a:p>
          </p:txBody>
        </p:sp>
        <p:sp>
          <p:nvSpPr>
            <p:cNvPr id="949" name="Google Shape;949;p57"/>
            <p:cNvSpPr/>
            <p:nvPr/>
          </p:nvSpPr>
          <p:spPr bwMode="auto">
            <a:xfrm>
              <a:off x="2942935" y="195896"/>
              <a:ext cx="1889782"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50" name="Google Shape;950;p57"/>
            <p:cNvSpPr txBox="1"/>
            <p:nvPr/>
          </p:nvSpPr>
          <p:spPr bwMode="auto">
            <a:xfrm>
              <a:off x="3394739" y="195896"/>
              <a:ext cx="986175"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3. Sequence Activities</a:t>
              </a:r>
              <a:endParaRPr/>
            </a:p>
          </p:txBody>
        </p:sp>
        <p:sp>
          <p:nvSpPr>
            <p:cNvPr id="951" name="Google Shape;951;p57"/>
            <p:cNvSpPr/>
            <p:nvPr/>
          </p:nvSpPr>
          <p:spPr bwMode="auto">
            <a:xfrm>
              <a:off x="4507870" y="195896"/>
              <a:ext cx="1992774"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52" name="Google Shape;952;p57"/>
            <p:cNvSpPr txBox="1"/>
            <p:nvPr/>
          </p:nvSpPr>
          <p:spPr bwMode="auto">
            <a:xfrm>
              <a:off x="4959673" y="195896"/>
              <a:ext cx="1089167"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4. </a:t>
              </a:r>
              <a:endParaRPr/>
            </a:p>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Estimate Activity Resources</a:t>
              </a:r>
              <a:endParaRPr/>
            </a:p>
          </p:txBody>
        </p:sp>
        <p:sp>
          <p:nvSpPr>
            <p:cNvPr id="953" name="Google Shape;953;p57"/>
            <p:cNvSpPr/>
            <p:nvPr/>
          </p:nvSpPr>
          <p:spPr bwMode="auto">
            <a:xfrm>
              <a:off x="6175797" y="195896"/>
              <a:ext cx="1888385"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54" name="Google Shape;954;p57"/>
            <p:cNvSpPr txBox="1"/>
            <p:nvPr/>
          </p:nvSpPr>
          <p:spPr bwMode="auto">
            <a:xfrm>
              <a:off x="6627601" y="195896"/>
              <a:ext cx="984778"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5. Estimate Activity Durations</a:t>
              </a:r>
              <a:endParaRPr/>
            </a:p>
          </p:txBody>
        </p:sp>
        <p:sp>
          <p:nvSpPr>
            <p:cNvPr id="955" name="Google Shape;955;p57"/>
            <p:cNvSpPr/>
            <p:nvPr/>
          </p:nvSpPr>
          <p:spPr bwMode="auto">
            <a:xfrm>
              <a:off x="7739335" y="195896"/>
              <a:ext cx="1904513"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56" name="Google Shape;956;p57"/>
            <p:cNvSpPr txBox="1"/>
            <p:nvPr/>
          </p:nvSpPr>
          <p:spPr bwMode="auto">
            <a:xfrm>
              <a:off x="8191139" y="195896"/>
              <a:ext cx="1000906"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6.    Develop Schedule</a:t>
              </a:r>
              <a:endParaRPr/>
            </a:p>
          </p:txBody>
        </p:sp>
        <p:sp>
          <p:nvSpPr>
            <p:cNvPr id="957" name="Google Shape;957;p57"/>
            <p:cNvSpPr/>
            <p:nvPr/>
          </p:nvSpPr>
          <p:spPr bwMode="auto">
            <a:xfrm>
              <a:off x="9319002" y="195896"/>
              <a:ext cx="1799734"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58" name="Google Shape;958;p57"/>
            <p:cNvSpPr txBox="1"/>
            <p:nvPr/>
          </p:nvSpPr>
          <p:spPr bwMode="auto">
            <a:xfrm>
              <a:off x="9770806" y="195896"/>
              <a:ext cx="896127"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7.     Control Schedule</a:t>
              </a:r>
              <a:endParaRPr/>
            </a:p>
          </p:txBody>
        </p:sp>
      </p:grpSp>
      <p:sp>
        <p:nvSpPr>
          <p:cNvPr id="259025716" name="Google Shape;959;p57"/>
          <p:cNvSpPr txBox="1"/>
          <p:nvPr/>
        </p:nvSpPr>
        <p:spPr bwMode="auto">
          <a:xfrm>
            <a:off x="343771" y="381441"/>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Time Management</a:t>
            </a:r>
            <a:endParaRPr sz="4000" b="1">
              <a:solidFill>
                <a:schemeClr val="dk1"/>
              </a:solidFill>
              <a:latin typeface="Calibri"/>
              <a:ea typeface="Calibri"/>
              <a:cs typeface="Calibri"/>
            </a:endParaRPr>
          </a:p>
        </p:txBody>
      </p:sp>
      <p:sp>
        <p:nvSpPr>
          <p:cNvPr id="579038009" name="Google Shape;960;p57"/>
          <p:cNvSpPr txBox="1"/>
          <p:nvPr/>
        </p:nvSpPr>
        <p:spPr bwMode="auto">
          <a:xfrm>
            <a:off x="381000" y="10668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686765041" name="Google Shape;961;p57"/>
          <p:cNvCxnSpPr/>
          <p:nvPr/>
        </p:nvCxnSpPr>
        <p:spPr bwMode="auto">
          <a:xfrm rot="10800000">
            <a:off x="496172" y="1540315"/>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556138080" name="Picture 2"/>
          <p:cNvPicPr>
            <a:picLocks noChangeAspect="1"/>
          </p:cNvPicPr>
          <p:nvPr/>
        </p:nvPicPr>
        <p:blipFill rotWithShape="1">
          <a:blip r:embed="rId4"/>
          <a:stretch/>
        </p:blipFill>
        <p:spPr bwMode="auto">
          <a:xfrm>
            <a:off x="5036678" y="2753801"/>
            <a:ext cx="3684896" cy="3820702"/>
          </a:xfrm>
          <a:prstGeom prst="rect">
            <a:avLst/>
          </a:prstGeom>
          <a:ln w="12700">
            <a:solidFill>
              <a:srgbClr val="FF0000"/>
            </a:solidFill>
          </a:ln>
        </p:spPr>
      </p:pic>
      <p:graphicFrame>
        <p:nvGraphicFramePr>
          <p:cNvPr id="317183653" name="Table 4"/>
          <p:cNvGraphicFramePr>
            <a:graphicFrameLocks xmlns:a="http://schemas.openxmlformats.org/drawingml/2006/main" noGrp="1"/>
          </p:cNvGraphicFramePr>
          <p:nvPr/>
        </p:nvGraphicFramePr>
        <p:xfrm rot="0">
          <a:off x="8729959" y="2753801"/>
          <a:ext cx="3455916" cy="3820702"/>
        </p:xfrm>
        <a:graphic>
          <a:graphicData uri="http://schemas.openxmlformats.org/drawingml/2006/table">
            <a:tbl>
              <a:tblPr firstRow="1" firstCol="0" lastRow="0" lastCol="0" bandRow="1" bandCol="0">
                <a:tableStyleId>{4C38C2D8-9331-4F24-B9CF-3786705C414E}</a:tableStyleId>
              </a:tblPr>
              <a:tblGrid>
                <a:gridCol w="863979"/>
                <a:gridCol w="863979"/>
                <a:gridCol w="863979"/>
                <a:gridCol w="863979"/>
              </a:tblGrid>
              <a:tr h="555333">
                <a:tc>
                  <a:txBody>
                    <a:bodyPr/>
                    <a:p>
                      <a:pPr>
                        <a:defRPr/>
                      </a:pPr>
                      <a:r>
                        <a:rPr lang="en-MY" b="1">
                          <a:solidFill>
                            <a:srgbClr val="FF0000"/>
                          </a:solidFill>
                        </a:rPr>
                        <a:t>St.DT</a:t>
                      </a:r>
                      <a:endParaRPr lang="en-MY" b="1">
                        <a:solidFill>
                          <a:srgbClr val="FF0000"/>
                        </a:solidFill>
                      </a:endParaRPr>
                    </a:p>
                  </a:txBody>
                  <a:tcPr>
                    <a:lnR w="12700" algn="ctr">
                      <a:solidFill>
                        <a:srgbClr val="FF0000"/>
                      </a:solidFill>
                    </a:lnR>
                    <a:lnB w="12700" algn="ctr">
                      <a:solidFill>
                        <a:srgbClr val="FF0000"/>
                      </a:solidFill>
                    </a:lnB>
                    <a:solidFill>
                      <a:schemeClr val="accent2">
                        <a:lumMod val="60000"/>
                        <a:lumOff val="40000"/>
                      </a:schemeClr>
                    </a:solidFill>
                  </a:tcPr>
                </a:tc>
                <a:tc>
                  <a:txBody>
                    <a:bodyPr/>
                    <a:p>
                      <a:pPr>
                        <a:defRPr/>
                      </a:pPr>
                      <a:r>
                        <a:rPr lang="en-MY" b="1">
                          <a:solidFill>
                            <a:srgbClr val="FF0000"/>
                          </a:solidFill>
                        </a:rPr>
                        <a:t>En.DT</a:t>
                      </a:r>
                      <a:endParaRPr lang="en-MY" b="1">
                        <a:solidFill>
                          <a:srgbClr val="FF0000"/>
                        </a:solidFill>
                      </a:endParaRPr>
                    </a:p>
                  </a:txBody>
                  <a:tcPr>
                    <a:lnL w="12700" algn="ctr">
                      <a:solidFill>
                        <a:srgbClr val="FF0000"/>
                      </a:solidFill>
                    </a:lnL>
                    <a:lnR w="12700" algn="ctr">
                      <a:solidFill>
                        <a:srgbClr val="FF0000"/>
                      </a:solidFill>
                    </a:lnR>
                    <a:lnB w="12700" algn="ctr">
                      <a:solidFill>
                        <a:srgbClr val="FF0000"/>
                      </a:solidFill>
                    </a:lnB>
                    <a:solidFill>
                      <a:schemeClr val="accent2">
                        <a:lumMod val="60000"/>
                        <a:lumOff val="40000"/>
                      </a:schemeClr>
                    </a:solidFill>
                  </a:tcPr>
                </a:tc>
                <a:tc>
                  <a:txBody>
                    <a:bodyPr/>
                    <a:p>
                      <a:pPr>
                        <a:defRPr/>
                      </a:pPr>
                      <a:r>
                        <a:rPr lang="en-MY" b="1">
                          <a:solidFill>
                            <a:srgbClr val="FF0000"/>
                          </a:solidFill>
                        </a:rPr>
                        <a:t>DUR</a:t>
                      </a:r>
                      <a:endParaRPr/>
                    </a:p>
                  </a:txBody>
                  <a:tcPr>
                    <a:lnL w="12700" algn="ctr">
                      <a:solidFill>
                        <a:srgbClr val="FF0000"/>
                      </a:solidFill>
                    </a:lnL>
                    <a:lnR w="12700" algn="ctr">
                      <a:solidFill>
                        <a:srgbClr val="FF0000"/>
                      </a:solidFill>
                    </a:lnR>
                    <a:lnB w="12700" algn="ctr">
                      <a:solidFill>
                        <a:srgbClr val="FF0000"/>
                      </a:solidFill>
                    </a:lnB>
                    <a:solidFill>
                      <a:schemeClr val="accent2">
                        <a:lumMod val="60000"/>
                        <a:lumOff val="40000"/>
                      </a:schemeClr>
                    </a:solidFill>
                  </a:tcPr>
                </a:tc>
                <a:tc>
                  <a:txBody>
                    <a:bodyPr/>
                    <a:p>
                      <a:pPr>
                        <a:defRPr/>
                      </a:pPr>
                      <a:r>
                        <a:rPr lang="en-MY" b="1">
                          <a:solidFill>
                            <a:srgbClr val="FF0000"/>
                          </a:solidFill>
                        </a:rPr>
                        <a:t>DEPEN, etc</a:t>
                      </a:r>
                      <a:endParaRPr/>
                    </a:p>
                  </a:txBody>
                  <a:tcPr>
                    <a:lnL w="12700" algn="ctr">
                      <a:solidFill>
                        <a:srgbClr val="FF0000"/>
                      </a:solidFill>
                    </a:lnL>
                    <a:lnB w="12700" algn="ctr">
                      <a:solidFill>
                        <a:srgbClr val="FF0000"/>
                      </a:solidFill>
                    </a:lnB>
                    <a:solidFill>
                      <a:schemeClr val="accent2">
                        <a:lumMod val="60000"/>
                        <a:lumOff val="40000"/>
                      </a:schemeClr>
                    </a:solidFill>
                  </a:tcPr>
                </a:tc>
              </a:tr>
              <a:tr h="3265370">
                <a:tc>
                  <a:txBody>
                    <a:bodyPr/>
                    <a:p>
                      <a:pPr>
                        <a:defRPr/>
                      </a:pPr>
                      <a:endParaRPr lang="en-MY">
                        <a:solidFill>
                          <a:srgbClr val="FF0000"/>
                        </a:solidFill>
                      </a:endParaRPr>
                    </a:p>
                  </a:txBody>
                  <a:tcPr>
                    <a:lnR w="12700" algn="ctr">
                      <a:solidFill>
                        <a:srgbClr val="FF0000"/>
                      </a:solidFill>
                    </a:lnR>
                    <a:lnT w="12700" algn="ctr">
                      <a:solidFill>
                        <a:srgbClr val="FF0000"/>
                      </a:solidFill>
                    </a:lnT>
                    <a:solidFill>
                      <a:schemeClr val="accent2">
                        <a:lumMod val="60000"/>
                        <a:lumOff val="40000"/>
                      </a:schemeClr>
                    </a:solidFill>
                  </a:tcPr>
                </a:tc>
                <a:tc>
                  <a:txBody>
                    <a:bodyPr/>
                    <a:p>
                      <a:pPr>
                        <a:defRPr/>
                      </a:pPr>
                      <a:endParaRPr lang="en-MY">
                        <a:solidFill>
                          <a:srgbClr val="FF0000"/>
                        </a:solidFill>
                      </a:endParaRPr>
                    </a:p>
                  </a:txBody>
                  <a:tcPr>
                    <a:lnL w="12700" algn="ctr">
                      <a:solidFill>
                        <a:srgbClr val="FF0000"/>
                      </a:solidFill>
                    </a:lnL>
                    <a:lnR w="12700" algn="ctr">
                      <a:solidFill>
                        <a:srgbClr val="FF0000"/>
                      </a:solidFill>
                    </a:lnR>
                    <a:lnT w="12700" algn="ctr">
                      <a:solidFill>
                        <a:srgbClr val="FF0000"/>
                      </a:solidFill>
                    </a:lnT>
                    <a:solidFill>
                      <a:schemeClr val="accent2">
                        <a:lumMod val="60000"/>
                        <a:lumOff val="40000"/>
                      </a:schemeClr>
                    </a:solidFill>
                  </a:tcPr>
                </a:tc>
                <a:tc>
                  <a:txBody>
                    <a:bodyPr/>
                    <a:p>
                      <a:pPr>
                        <a:defRPr/>
                      </a:pPr>
                      <a:endParaRPr lang="en-MY">
                        <a:solidFill>
                          <a:srgbClr val="FF0000"/>
                        </a:solidFill>
                      </a:endParaRPr>
                    </a:p>
                  </a:txBody>
                  <a:tcPr>
                    <a:lnL w="12700" algn="ctr">
                      <a:solidFill>
                        <a:srgbClr val="FF0000"/>
                      </a:solidFill>
                    </a:lnL>
                    <a:lnR w="12700" algn="ctr">
                      <a:solidFill>
                        <a:srgbClr val="FF0000"/>
                      </a:solidFill>
                    </a:lnR>
                    <a:lnT w="12700" algn="ctr">
                      <a:solidFill>
                        <a:srgbClr val="FF0000"/>
                      </a:solidFill>
                    </a:lnT>
                    <a:solidFill>
                      <a:schemeClr val="accent2">
                        <a:lumMod val="60000"/>
                        <a:lumOff val="40000"/>
                      </a:schemeClr>
                    </a:solidFill>
                  </a:tcPr>
                </a:tc>
                <a:tc>
                  <a:txBody>
                    <a:bodyPr/>
                    <a:p>
                      <a:pPr>
                        <a:defRPr/>
                      </a:pPr>
                      <a:endParaRPr lang="en-MY">
                        <a:solidFill>
                          <a:srgbClr val="FF0000"/>
                        </a:solidFill>
                      </a:endParaRPr>
                    </a:p>
                  </a:txBody>
                  <a:tcPr>
                    <a:lnL w="12700" algn="ctr">
                      <a:solidFill>
                        <a:srgbClr val="FF0000"/>
                      </a:solidFill>
                    </a:lnL>
                    <a:lnT w="12700" algn="ctr">
                      <a:solidFill>
                        <a:srgbClr val="FF0000"/>
                      </a:solidFill>
                    </a:lnT>
                    <a:solidFill>
                      <a:schemeClr val="accent2">
                        <a:lumMod val="60000"/>
                        <a:lumOff val="40000"/>
                      </a:schemeClr>
                    </a:solidFill>
                  </a:tcPr>
                </a:tc>
              </a:tr>
            </a:tbl>
          </a:graphicData>
        </a:graphic>
      </p:graphicFrame>
      <p:sp>
        <p:nvSpPr>
          <p:cNvPr id="1767825960" name="Speech Bubble: Rectangle 1"/>
          <p:cNvSpPr/>
          <p:nvPr/>
        </p:nvSpPr>
        <p:spPr bwMode="auto">
          <a:xfrm>
            <a:off x="8640355" y="824459"/>
            <a:ext cx="3055474" cy="903607"/>
          </a:xfrm>
          <a:prstGeom prst="wedgeRectCallout">
            <a:avLst>
              <a:gd name="adj1" fmla="val 29877"/>
              <a:gd name="adj2" fmla="val 18908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1800"/>
              <a:t>E.g1. unit of measurement for duration is</a:t>
            </a:r>
            <a:endParaRPr/>
          </a:p>
          <a:p>
            <a:pPr algn="ctr">
              <a:defRPr/>
            </a:pPr>
            <a:r>
              <a:rPr lang="en-US" sz="1800"/>
              <a:t>(</a:t>
            </a:r>
            <a:r>
              <a:rPr lang="en-US" sz="1800" strike="sngStrike"/>
              <a:t>hours</a:t>
            </a:r>
            <a:r>
              <a:rPr lang="en-US" sz="1800"/>
              <a:t>/days/</a:t>
            </a:r>
            <a:r>
              <a:rPr lang="en-US" sz="1800" strike="sngStrike"/>
              <a:t>weeks</a:t>
            </a:r>
            <a:r>
              <a:rPr lang="en-US" sz="1800"/>
              <a:t>)</a:t>
            </a:r>
            <a:endParaRPr lang="en-MY" sz="1800"/>
          </a:p>
        </p:txBody>
      </p:sp>
      <p:sp>
        <p:nvSpPr>
          <p:cNvPr id="1397244995" name="TextBox 6"/>
          <p:cNvSpPr txBox="1"/>
          <p:nvPr/>
        </p:nvSpPr>
        <p:spPr bwMode="auto">
          <a:xfrm>
            <a:off x="10433314" y="3401483"/>
            <a:ext cx="1541750" cy="1477328"/>
          </a:xfrm>
          <a:prstGeom prst="rect">
            <a:avLst/>
          </a:prstGeom>
          <a:noFill/>
        </p:spPr>
        <p:txBody>
          <a:bodyPr wrap="square" rtlCol="0">
            <a:spAutoFit/>
          </a:bodyPr>
          <a:lstStyle/>
          <a:p>
            <a:pPr>
              <a:defRPr/>
            </a:pPr>
            <a:r>
              <a:rPr lang="en-US" sz="1800"/>
              <a:t>E.g.2. </a:t>
            </a:r>
            <a:r>
              <a:rPr lang="en-US" sz="1800" b="1"/>
              <a:t>duration</a:t>
            </a:r>
            <a:r>
              <a:rPr lang="en-US" sz="1800"/>
              <a:t> of each task should not be &gt; 10 days </a:t>
            </a:r>
            <a:endParaRPr lang="en-MY" sz="1800"/>
          </a:p>
        </p:txBody>
      </p:sp>
      <p:sp>
        <p:nvSpPr>
          <p:cNvPr id="1136061349" name="TextBox 4"/>
          <p:cNvSpPr txBox="1"/>
          <p:nvPr/>
        </p:nvSpPr>
        <p:spPr bwMode="auto">
          <a:xfrm>
            <a:off x="8849889" y="3804414"/>
            <a:ext cx="1541750" cy="923330"/>
          </a:xfrm>
          <a:prstGeom prst="rect">
            <a:avLst/>
          </a:prstGeom>
          <a:noFill/>
        </p:spPr>
        <p:txBody>
          <a:bodyPr wrap="square" rtlCol="0">
            <a:spAutoFit/>
          </a:bodyPr>
          <a:lstStyle/>
          <a:p>
            <a:pPr>
              <a:defRPr/>
            </a:pPr>
            <a:r>
              <a:rPr lang="en-US" sz="1800"/>
              <a:t>E.g.3. </a:t>
            </a:r>
            <a:r>
              <a:rPr lang="en-US" sz="1800" b="1"/>
              <a:t>date</a:t>
            </a:r>
            <a:r>
              <a:rPr lang="en-US" sz="1800"/>
              <a:t> format use dd/mm/</a:t>
            </a:r>
            <a:r>
              <a:rPr lang="en-US" sz="1800"/>
              <a:t>yyyy</a:t>
            </a:r>
            <a:endParaRPr lang="en-MY"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59025716"/>
                                        </p:tgtEl>
                                        <p:attrNameLst>
                                          <p:attrName>style.visibility</p:attrName>
                                        </p:attrNameLst>
                                      </p:cBhvr>
                                      <p:to>
                                        <p:strVal val="visible"/>
                                      </p:to>
                                    </p:set>
                                    <p:anim calcmode="lin" valueType="num">
                                      <p:cBhvr additive="base">
                                        <p:cTn id="7" dur="500" fill="hold"/>
                                        <p:tgtEl>
                                          <p:spTgt spid="259025716"/>
                                        </p:tgtEl>
                                        <p:attrNameLst>
                                          <p:attrName>ppt_x</p:attrName>
                                        </p:attrNameLst>
                                      </p:cBhvr>
                                      <p:tavLst>
                                        <p:tav tm="0">
                                          <p:val>
                                            <p:strVal val="#ppt_x"/>
                                          </p:val>
                                        </p:tav>
                                        <p:tav tm="100000">
                                          <p:val>
                                            <p:strVal val="#ppt_x"/>
                                          </p:val>
                                        </p:tav>
                                      </p:tavLst>
                                    </p:anim>
                                    <p:anim calcmode="lin" valueType="num">
                                      <p:cBhvr additive="base">
                                        <p:cTn id="8" dur="500" fill="hold"/>
                                        <p:tgtEl>
                                          <p:spTgt spid="25902571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72663572">
                                            <p:txEl>
                                              <p:pRg st="0" end="0"/>
                                            </p:txEl>
                                          </p:spTgt>
                                        </p:tgtEl>
                                        <p:attrNameLst>
                                          <p:attrName>style.visibility</p:attrName>
                                        </p:attrNameLst>
                                      </p:cBhvr>
                                      <p:to>
                                        <p:strVal val="visible"/>
                                      </p:to>
                                    </p:set>
                                    <p:animEffect transition="in" filter="wipe(left)">
                                      <p:cBhvr>
                                        <p:cTn id="13" dur="500"/>
                                        <p:tgtEl>
                                          <p:spTgt spid="1172663572">
                                            <p:txEl>
                                              <p:pRg st="0" end="0"/>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172663572">
                                            <p:txEl>
                                              <p:pRg st="1" end="1"/>
                                            </p:txEl>
                                          </p:spTgt>
                                        </p:tgtEl>
                                        <p:attrNameLst>
                                          <p:attrName>style.visibility</p:attrName>
                                        </p:attrNameLst>
                                      </p:cBhvr>
                                      <p:to>
                                        <p:strVal val="visible"/>
                                      </p:to>
                                    </p:set>
                                    <p:animEffect transition="in" filter="wipe(left)">
                                      <p:cBhvr>
                                        <p:cTn id="16" dur="500"/>
                                        <p:tgtEl>
                                          <p:spTgt spid="1172663572">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556138080"/>
                                        </p:tgtEl>
                                        <p:attrNameLst>
                                          <p:attrName>style.visibility</p:attrName>
                                        </p:attrNameLst>
                                      </p:cBhvr>
                                      <p:to>
                                        <p:strVal val="visible"/>
                                      </p:to>
                                    </p:set>
                                    <p:animEffect transition="in" filter="wipe(left)">
                                      <p:cBhvr>
                                        <p:cTn id="21" dur="500"/>
                                        <p:tgtEl>
                                          <p:spTgt spid="55613808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17183653"/>
                                        </p:tgtEl>
                                        <p:attrNameLst>
                                          <p:attrName>style.visibility</p:attrName>
                                        </p:attrNameLst>
                                      </p:cBhvr>
                                      <p:to>
                                        <p:strVal val="visible"/>
                                      </p:to>
                                    </p:set>
                                    <p:animEffect transition="in" filter="wipe(left)">
                                      <p:cBhvr>
                                        <p:cTn id="26" dur="500"/>
                                        <p:tgtEl>
                                          <p:spTgt spid="31718365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767825960"/>
                                        </p:tgtEl>
                                        <p:attrNameLst>
                                          <p:attrName>style.visibility</p:attrName>
                                        </p:attrNameLst>
                                      </p:cBhvr>
                                      <p:to>
                                        <p:strVal val="visible"/>
                                      </p:to>
                                    </p:set>
                                    <p:animEffect transition="in" filter="wipe(up)">
                                      <p:cBhvr>
                                        <p:cTn id="31" dur="500"/>
                                        <p:tgtEl>
                                          <p:spTgt spid="176782596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397244995"/>
                                        </p:tgtEl>
                                        <p:attrNameLst>
                                          <p:attrName>style.visibility</p:attrName>
                                        </p:attrNameLst>
                                      </p:cBhvr>
                                      <p:to>
                                        <p:strVal val="visible"/>
                                      </p:to>
                                    </p:set>
                                    <p:animEffect transition="in" filter="wipe(left)">
                                      <p:cBhvr>
                                        <p:cTn id="36" dur="500"/>
                                        <p:tgtEl>
                                          <p:spTgt spid="139724499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136061349"/>
                                        </p:tgtEl>
                                        <p:attrNameLst>
                                          <p:attrName>style.visibility</p:attrName>
                                        </p:attrNameLst>
                                      </p:cBhvr>
                                      <p:to>
                                        <p:strVal val="visible"/>
                                      </p:to>
                                    </p:set>
                                    <p:animEffect transition="in" filter="wipe(left)">
                                      <p:cBhvr>
                                        <p:cTn id="41" dur="500"/>
                                        <p:tgtEl>
                                          <p:spTgt spid="1136061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2663572" grpId="0" build="p"/>
      <p:bldP spid="259025716" grpId="0"/>
      <p:bldP spid="1767825960" grpId="0" animBg="1"/>
      <p:bldP spid="1397244995" grpId="0"/>
      <p:bldP spid="1136061349" grpId="0"/>
    </p:bldLst>
  </p:timing>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60032985" name="Google Shape;966;p58"/>
          <p:cNvPicPr/>
          <p:nvPr/>
        </p:nvPicPr>
        <p:blipFill rotWithShape="1">
          <a:blip r:embed="rId3">
            <a:alphaModFix/>
          </a:blip>
          <a:srcRect l="55224" t="0" r="8954" b="0"/>
          <a:stretch/>
        </p:blipFill>
        <p:spPr bwMode="auto">
          <a:xfrm>
            <a:off x="8590866" y="0"/>
            <a:ext cx="3684896" cy="6858000"/>
          </a:xfrm>
          <a:prstGeom prst="rect">
            <a:avLst/>
          </a:prstGeom>
          <a:noFill/>
          <a:ln>
            <a:noFill/>
          </a:ln>
        </p:spPr>
      </p:pic>
      <p:sp>
        <p:nvSpPr>
          <p:cNvPr id="1683409739" name="Google Shape;967;p58"/>
          <p:cNvSpPr txBox="1">
            <a:spLocks noGrp="1"/>
          </p:cNvSpPr>
          <p:nvPr>
            <p:ph type="body" idx="1"/>
          </p:nvPr>
        </p:nvSpPr>
        <p:spPr bwMode="auto">
          <a:xfrm>
            <a:off x="424332" y="3537903"/>
            <a:ext cx="7620000" cy="242728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Calibri"/>
              <a:buNone/>
              <a:defRPr/>
            </a:pPr>
            <a:r>
              <a:rPr lang="en-US" b="1"/>
              <a:t>2. Define Activities</a:t>
            </a:r>
            <a:endParaRPr/>
          </a:p>
          <a:p>
            <a:pPr marL="685800" lvl="1" indent="-228600" algn="l" rtl="0">
              <a:lnSpc>
                <a:spcPct val="90000"/>
              </a:lnSpc>
              <a:spcBef>
                <a:spcPts val="500"/>
              </a:spcBef>
              <a:spcAft>
                <a:spcPts val="0"/>
              </a:spcAft>
              <a:buClr>
                <a:schemeClr val="dk1"/>
              </a:buClr>
              <a:buSzPts val="2400"/>
              <a:buChar char="•"/>
              <a:defRPr/>
            </a:pPr>
            <a:r>
              <a:rPr lang="en-US">
                <a:solidFill>
                  <a:srgbClr val="FF0000"/>
                </a:solidFill>
              </a:rPr>
              <a:t>Identify the specific activities (from the </a:t>
            </a:r>
            <a:r>
              <a:rPr lang="en-US" b="1">
                <a:solidFill>
                  <a:srgbClr val="FF0000"/>
                </a:solidFill>
              </a:rPr>
              <a:t>WBS</a:t>
            </a:r>
            <a:r>
              <a:rPr lang="en-US">
                <a:solidFill>
                  <a:srgbClr val="FF0000"/>
                </a:solidFill>
              </a:rPr>
              <a:t>) </a:t>
            </a:r>
            <a:r>
              <a:rPr lang="en-US" b="1"/>
              <a:t>that the project team members and stakeholders must perform</a:t>
            </a:r>
            <a:r>
              <a:rPr lang="en-US"/>
              <a:t> to </a:t>
            </a:r>
            <a:r>
              <a:rPr lang="en-US">
                <a:solidFill>
                  <a:schemeClr val="tx1"/>
                </a:solidFill>
              </a:rPr>
              <a:t>produce</a:t>
            </a:r>
            <a:r>
              <a:rPr lang="en-US"/>
              <a:t> the project deliverables.</a:t>
            </a:r>
            <a:endParaRPr/>
          </a:p>
          <a:p>
            <a:pPr marL="685800" lvl="1" indent="-228600" algn="l" rtl="0">
              <a:lnSpc>
                <a:spcPct val="90000"/>
              </a:lnSpc>
              <a:spcBef>
                <a:spcPts val="500"/>
              </a:spcBef>
              <a:spcAft>
                <a:spcPts val="0"/>
              </a:spcAft>
              <a:buClr>
                <a:schemeClr val="dk1"/>
              </a:buClr>
              <a:buSzPts val="2400"/>
              <a:buChar char="•"/>
              <a:defRPr/>
            </a:pPr>
            <a:r>
              <a:rPr lang="en-US" b="1">
                <a:solidFill>
                  <a:srgbClr val="FF0000"/>
                </a:solidFill>
              </a:rPr>
              <a:t>Outputs</a:t>
            </a:r>
            <a:r>
              <a:rPr lang="en-US"/>
              <a:t>: </a:t>
            </a:r>
            <a:r>
              <a:rPr lang="en-US" b="1"/>
              <a:t>activity list, activity attributes, and milestone list.</a:t>
            </a:r>
            <a:endParaRPr b="1"/>
          </a:p>
        </p:txBody>
      </p:sp>
      <p:sp>
        <p:nvSpPr>
          <p:cNvPr id="443269947" name="Google Shape;968;p58"/>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62</a:t>
            </a:fld>
            <a:endParaRPr/>
          </a:p>
        </p:txBody>
      </p:sp>
      <p:grpSp>
        <p:nvGrpSpPr>
          <p:cNvPr id="700967359" name="Google Shape;969;p58"/>
          <p:cNvGrpSpPr/>
          <p:nvPr/>
        </p:nvGrpSpPr>
        <p:grpSpPr bwMode="auto">
          <a:xfrm>
            <a:off x="471224" y="2634296"/>
            <a:ext cx="11112272" cy="903607"/>
            <a:chOff x="6463" y="195896"/>
            <a:chExt cx="11112272" cy="903607"/>
          </a:xfrm>
        </p:grpSpPr>
        <p:sp>
          <p:nvSpPr>
            <p:cNvPr id="970" name="Google Shape;970;p58"/>
            <p:cNvSpPr/>
            <p:nvPr/>
          </p:nvSpPr>
          <p:spPr bwMode="auto">
            <a:xfrm>
              <a:off x="6463" y="195896"/>
              <a:ext cx="1624235" cy="903607"/>
            </a:xfrm>
            <a:prstGeom prst="homePlate">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71" name="Google Shape;971;p58"/>
            <p:cNvSpPr txBox="1"/>
            <p:nvPr/>
          </p:nvSpPr>
          <p:spPr bwMode="auto">
            <a:xfrm>
              <a:off x="6463" y="195896"/>
              <a:ext cx="1398333" cy="903607"/>
            </a:xfrm>
            <a:prstGeom prst="rect">
              <a:avLst/>
            </a:prstGeom>
            <a:noFill/>
            <a:ln>
              <a:noFill/>
            </a:ln>
          </p:spPr>
          <p:txBody>
            <a:bodyPr spcFirstLastPara="1" wrap="square" lIns="90675"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1.                       Plan Schedule Management</a:t>
              </a:r>
              <a:endParaRPr/>
            </a:p>
          </p:txBody>
        </p:sp>
        <p:sp>
          <p:nvSpPr>
            <p:cNvPr id="972" name="Google Shape;972;p58"/>
            <p:cNvSpPr/>
            <p:nvPr/>
          </p:nvSpPr>
          <p:spPr bwMode="auto">
            <a:xfrm>
              <a:off x="1305851" y="195896"/>
              <a:ext cx="1961930" cy="903607"/>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73" name="Google Shape;973;p58"/>
            <p:cNvSpPr txBox="1"/>
            <p:nvPr/>
          </p:nvSpPr>
          <p:spPr bwMode="auto">
            <a:xfrm>
              <a:off x="1757655" y="195896"/>
              <a:ext cx="1058323"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b="1">
                  <a:solidFill>
                    <a:schemeClr val="lt1"/>
                  </a:solidFill>
                  <a:latin typeface="Calibri"/>
                  <a:ea typeface="Calibri"/>
                  <a:cs typeface="Calibri"/>
                </a:rPr>
                <a:t>2.        Define Activities </a:t>
              </a:r>
              <a:endParaRPr/>
            </a:p>
          </p:txBody>
        </p:sp>
        <p:sp>
          <p:nvSpPr>
            <p:cNvPr id="974" name="Google Shape;974;p58"/>
            <p:cNvSpPr/>
            <p:nvPr/>
          </p:nvSpPr>
          <p:spPr bwMode="auto">
            <a:xfrm>
              <a:off x="2942935" y="195896"/>
              <a:ext cx="1889782"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75" name="Google Shape;975;p58"/>
            <p:cNvSpPr txBox="1"/>
            <p:nvPr/>
          </p:nvSpPr>
          <p:spPr bwMode="auto">
            <a:xfrm>
              <a:off x="3394739" y="195896"/>
              <a:ext cx="986175"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3. Sequence Activities</a:t>
              </a:r>
              <a:endParaRPr/>
            </a:p>
          </p:txBody>
        </p:sp>
        <p:sp>
          <p:nvSpPr>
            <p:cNvPr id="976" name="Google Shape;976;p58"/>
            <p:cNvSpPr/>
            <p:nvPr/>
          </p:nvSpPr>
          <p:spPr bwMode="auto">
            <a:xfrm>
              <a:off x="4507870" y="195896"/>
              <a:ext cx="1992774"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77" name="Google Shape;977;p58"/>
            <p:cNvSpPr txBox="1"/>
            <p:nvPr/>
          </p:nvSpPr>
          <p:spPr bwMode="auto">
            <a:xfrm>
              <a:off x="4959673" y="195896"/>
              <a:ext cx="1089167"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4. </a:t>
              </a:r>
              <a:endParaRPr/>
            </a:p>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Estimate Activity Resources</a:t>
              </a:r>
              <a:endParaRPr/>
            </a:p>
          </p:txBody>
        </p:sp>
        <p:sp>
          <p:nvSpPr>
            <p:cNvPr id="978" name="Google Shape;978;p58"/>
            <p:cNvSpPr/>
            <p:nvPr/>
          </p:nvSpPr>
          <p:spPr bwMode="auto">
            <a:xfrm>
              <a:off x="6175797" y="195896"/>
              <a:ext cx="1888385"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79" name="Google Shape;979;p58"/>
            <p:cNvSpPr txBox="1"/>
            <p:nvPr/>
          </p:nvSpPr>
          <p:spPr bwMode="auto">
            <a:xfrm>
              <a:off x="6627601" y="195896"/>
              <a:ext cx="984778"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5. Estimate Activity Durations</a:t>
              </a:r>
              <a:endParaRPr/>
            </a:p>
          </p:txBody>
        </p:sp>
        <p:sp>
          <p:nvSpPr>
            <p:cNvPr id="980" name="Google Shape;980;p58"/>
            <p:cNvSpPr/>
            <p:nvPr/>
          </p:nvSpPr>
          <p:spPr bwMode="auto">
            <a:xfrm>
              <a:off x="7739335" y="195896"/>
              <a:ext cx="1904513"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81" name="Google Shape;981;p58"/>
            <p:cNvSpPr txBox="1"/>
            <p:nvPr/>
          </p:nvSpPr>
          <p:spPr bwMode="auto">
            <a:xfrm>
              <a:off x="8191139" y="195896"/>
              <a:ext cx="1000906"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6.    Develop Schedule</a:t>
              </a:r>
              <a:endParaRPr/>
            </a:p>
          </p:txBody>
        </p:sp>
        <p:sp>
          <p:nvSpPr>
            <p:cNvPr id="982" name="Google Shape;982;p58"/>
            <p:cNvSpPr/>
            <p:nvPr/>
          </p:nvSpPr>
          <p:spPr bwMode="auto">
            <a:xfrm>
              <a:off x="9319002" y="195896"/>
              <a:ext cx="1799734"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83" name="Google Shape;983;p58"/>
            <p:cNvSpPr txBox="1"/>
            <p:nvPr/>
          </p:nvSpPr>
          <p:spPr bwMode="auto">
            <a:xfrm>
              <a:off x="9770806" y="195896"/>
              <a:ext cx="896127"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7.     Control Schedule</a:t>
              </a:r>
              <a:endParaRPr/>
            </a:p>
          </p:txBody>
        </p:sp>
      </p:grpSp>
      <p:sp>
        <p:nvSpPr>
          <p:cNvPr id="1083570402" name="Google Shape;984;p58"/>
          <p:cNvSpPr txBox="1"/>
          <p:nvPr/>
        </p:nvSpPr>
        <p:spPr bwMode="auto">
          <a:xfrm>
            <a:off x="343771" y="381441"/>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Time Management</a:t>
            </a:r>
            <a:endParaRPr sz="4000" b="1">
              <a:solidFill>
                <a:schemeClr val="dk1"/>
              </a:solidFill>
              <a:latin typeface="Calibri"/>
              <a:ea typeface="Calibri"/>
              <a:cs typeface="Calibri"/>
            </a:endParaRPr>
          </a:p>
        </p:txBody>
      </p:sp>
      <p:sp>
        <p:nvSpPr>
          <p:cNvPr id="666936635" name="Google Shape;985;p58"/>
          <p:cNvSpPr txBox="1"/>
          <p:nvPr/>
        </p:nvSpPr>
        <p:spPr bwMode="auto">
          <a:xfrm>
            <a:off x="381000" y="10668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509957939" name="Google Shape;986;p58"/>
          <p:cNvCxnSpPr/>
          <p:nvPr/>
        </p:nvCxnSpPr>
        <p:spPr bwMode="auto">
          <a:xfrm rot="10800000">
            <a:off x="496172" y="1540315"/>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5927620" name="Callout: Line 1"/>
          <p:cNvSpPr/>
          <p:nvPr/>
        </p:nvSpPr>
        <p:spPr bwMode="auto">
          <a:xfrm>
            <a:off x="4972631" y="5545015"/>
            <a:ext cx="7031801" cy="365125"/>
          </a:xfrm>
          <a:prstGeom prst="borderCallout1">
            <a:avLst>
              <a:gd name="adj1" fmla="val 16179"/>
              <a:gd name="adj2" fmla="val 64"/>
              <a:gd name="adj3" fmla="val -39966"/>
              <a:gd name="adj4" fmla="val -710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sz="1800" b="1" i="0">
                <a:solidFill>
                  <a:srgbClr val="FF0000"/>
                </a:solidFill>
                <a:latin typeface="Calibri"/>
                <a:cs typeface="Calibri"/>
              </a:rPr>
              <a:t>What are activity attributes?</a:t>
            </a:r>
            <a:endParaRPr lang="en-MY" sz="1800">
              <a:latin typeface="Calibri"/>
              <a:cs typeface="Calibri"/>
            </a:endParaRPr>
          </a:p>
        </p:txBody>
      </p:sp>
      <p:sp>
        <p:nvSpPr>
          <p:cNvPr id="612810889" name="TextBox 2"/>
          <p:cNvSpPr txBox="1"/>
          <p:nvPr/>
        </p:nvSpPr>
        <p:spPr bwMode="auto">
          <a:xfrm>
            <a:off x="5052769" y="5841478"/>
            <a:ext cx="6951663" cy="1077218"/>
          </a:xfrm>
          <a:prstGeom prst="rect">
            <a:avLst/>
          </a:prstGeom>
          <a:noFill/>
        </p:spPr>
        <p:txBody>
          <a:bodyPr wrap="square" rtlCol="0">
            <a:spAutoFit/>
          </a:bodyPr>
          <a:lstStyle/>
          <a:p>
            <a:pPr>
              <a:defRPr/>
            </a:pPr>
            <a:r>
              <a:rPr lang="en-US" sz="1600" i="0">
                <a:solidFill>
                  <a:srgbClr val="151414"/>
                </a:solidFill>
                <a:latin typeface="Calibri"/>
                <a:cs typeface="Calibri"/>
              </a:rPr>
              <a:t>Ans – </a:t>
            </a:r>
            <a:r>
              <a:rPr lang="en-US" sz="1600" b="1" i="0">
                <a:solidFill>
                  <a:srgbClr val="151414"/>
                </a:solidFill>
                <a:latin typeface="Calibri"/>
                <a:cs typeface="Calibri"/>
              </a:rPr>
              <a:t>detailed description of an activity.</a:t>
            </a:r>
            <a:endParaRPr/>
          </a:p>
          <a:p>
            <a:pPr>
              <a:defRPr/>
            </a:pPr>
            <a:r>
              <a:rPr lang="en-US" sz="1600" u="sng">
                <a:solidFill>
                  <a:srgbClr val="151414"/>
                </a:solidFill>
                <a:latin typeface="Calibri"/>
                <a:cs typeface="Calibri"/>
              </a:rPr>
              <a:t>Examples</a:t>
            </a:r>
            <a:r>
              <a:rPr lang="en-US" sz="1600">
                <a:solidFill>
                  <a:srgbClr val="151414"/>
                </a:solidFill>
                <a:latin typeface="Calibri"/>
                <a:cs typeface="Calibri"/>
              </a:rPr>
              <a:t>: </a:t>
            </a:r>
            <a:r>
              <a:rPr lang="en-US" sz="1600" i="0">
                <a:solidFill>
                  <a:srgbClr val="151414"/>
                </a:solidFill>
                <a:latin typeface="Calibri"/>
                <a:cs typeface="Calibri"/>
              </a:rPr>
              <a:t>description of the activity, </a:t>
            </a:r>
            <a:r>
              <a:rPr lang="en-US" sz="1600" b="1" i="0">
                <a:solidFill>
                  <a:srgbClr val="151414"/>
                </a:solidFill>
                <a:latin typeface="Calibri"/>
                <a:cs typeface="Calibri"/>
              </a:rPr>
              <a:t>responsible person, resources required,  location, </a:t>
            </a:r>
            <a:r>
              <a:rPr lang="en-US" sz="1600" b="1" i="0">
                <a:solidFill>
                  <a:srgbClr val="151414"/>
                </a:solidFill>
                <a:latin typeface="Calibri"/>
                <a:cs typeface="Calibri"/>
              </a:rPr>
              <a:t>etc</a:t>
            </a:r>
            <a:r>
              <a:rPr lang="en-US" sz="1600" b="1" i="0">
                <a:solidFill>
                  <a:srgbClr val="151414"/>
                </a:solidFill>
                <a:latin typeface="Calibri"/>
                <a:cs typeface="Calibri"/>
              </a:rPr>
              <a:t> </a:t>
            </a:r>
            <a:endParaRPr lang="en-MY" sz="1600" b="1">
              <a:latin typeface="Calibri"/>
              <a:cs typeface="Calibri"/>
            </a:endParaRPr>
          </a:p>
          <a:p>
            <a:pPr>
              <a:defRPr/>
            </a:pPr>
            <a:endParaRPr lang="en-MY" sz="1600"/>
          </a:p>
        </p:txBody>
      </p:sp>
      <p:sp>
        <p:nvSpPr>
          <p:cNvPr id="1247692070" name="Callout: Line 3"/>
          <p:cNvSpPr/>
          <p:nvPr/>
        </p:nvSpPr>
        <p:spPr bwMode="auto">
          <a:xfrm>
            <a:off x="2431206" y="6105035"/>
            <a:ext cx="1803126" cy="371524"/>
          </a:xfrm>
          <a:prstGeom prst="borderCallout1">
            <a:avLst>
              <a:gd name="adj1" fmla="val 4581"/>
              <a:gd name="adj2" fmla="val 643"/>
              <a:gd name="adj3" fmla="val -105101"/>
              <a:gd name="adj4" fmla="val -17642"/>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sz="1800" b="1" i="0">
                <a:solidFill>
                  <a:srgbClr val="FF0000"/>
                </a:solidFill>
                <a:latin typeface="Calibri"/>
                <a:cs typeface="Calibri"/>
              </a:rPr>
              <a:t>Project stages</a:t>
            </a:r>
            <a:endParaRPr lang="en-MY" sz="1800">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683409739">
                                            <p:txEl>
                                              <p:pRg st="0" end="0"/>
                                            </p:txEl>
                                          </p:spTgt>
                                        </p:tgtEl>
                                        <p:attrNameLst>
                                          <p:attrName>style.visibility</p:attrName>
                                        </p:attrNameLst>
                                      </p:cBhvr>
                                      <p:to>
                                        <p:strVal val="visible"/>
                                      </p:to>
                                    </p:set>
                                    <p:animEffect transition="in" filter="wipe(left)">
                                      <p:cBhvr>
                                        <p:cTn id="7" dur="500"/>
                                        <p:tgtEl>
                                          <p:spTgt spid="16834097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83409739">
                                            <p:txEl>
                                              <p:pRg st="2" end="2"/>
                                            </p:txEl>
                                          </p:spTgt>
                                        </p:tgtEl>
                                        <p:attrNameLst>
                                          <p:attrName>style.visibility</p:attrName>
                                        </p:attrNameLst>
                                      </p:cBhvr>
                                      <p:to>
                                        <p:strVal val="visible"/>
                                      </p:to>
                                    </p:set>
                                    <p:animEffect transition="in" filter="wipe(left)">
                                      <p:cBhvr>
                                        <p:cTn id="12" dur="500"/>
                                        <p:tgtEl>
                                          <p:spTgt spid="16834097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15927620"/>
                                        </p:tgtEl>
                                        <p:attrNameLst>
                                          <p:attrName>style.visibility</p:attrName>
                                        </p:attrNameLst>
                                      </p:cBhvr>
                                      <p:to>
                                        <p:strVal val="visible"/>
                                      </p:to>
                                    </p:set>
                                    <p:animEffect transition="in" filter="wipe(right)">
                                      <p:cBhvr>
                                        <p:cTn id="17" dur="500"/>
                                        <p:tgtEl>
                                          <p:spTgt spid="159276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12810889"/>
                                        </p:tgtEl>
                                        <p:attrNameLst>
                                          <p:attrName>style.visibility</p:attrName>
                                        </p:attrNameLst>
                                      </p:cBhvr>
                                      <p:to>
                                        <p:strVal val="visible"/>
                                      </p:to>
                                    </p:set>
                                    <p:animEffect transition="in" filter="wipe(left)">
                                      <p:cBhvr>
                                        <p:cTn id="22" dur="500"/>
                                        <p:tgtEl>
                                          <p:spTgt spid="61281088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247692070"/>
                                        </p:tgtEl>
                                        <p:attrNameLst>
                                          <p:attrName>style.visibility</p:attrName>
                                        </p:attrNameLst>
                                      </p:cBhvr>
                                      <p:to>
                                        <p:strVal val="visible"/>
                                      </p:to>
                                    </p:set>
                                    <p:anim calcmode="lin" valueType="num">
                                      <p:cBhvr additive="base">
                                        <p:cTn id="27" dur="500" fill="hold"/>
                                        <p:tgtEl>
                                          <p:spTgt spid="1247692070"/>
                                        </p:tgtEl>
                                        <p:attrNameLst>
                                          <p:attrName>ppt_x</p:attrName>
                                        </p:attrNameLst>
                                      </p:cBhvr>
                                      <p:tavLst>
                                        <p:tav tm="0">
                                          <p:val>
                                            <p:strVal val="#ppt_x"/>
                                          </p:val>
                                        </p:tav>
                                        <p:tav tm="100000">
                                          <p:val>
                                            <p:strVal val="#ppt_x"/>
                                          </p:val>
                                        </p:tav>
                                      </p:tavLst>
                                    </p:anim>
                                    <p:anim calcmode="lin" valueType="num">
                                      <p:cBhvr additive="base">
                                        <p:cTn id="28" dur="500" fill="hold"/>
                                        <p:tgtEl>
                                          <p:spTgt spid="12476920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27620" grpId="0" animBg="1"/>
      <p:bldP spid="612810889" grpId="0"/>
      <p:bldP spid="1247692070" grpId="0" animBg="1"/>
    </p:bldLst>
  </p:timing>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6605044" name="Google Shape;991;p59"/>
          <p:cNvSpPr txBox="1">
            <a:spLocks noGrp="1"/>
          </p:cNvSpPr>
          <p:nvPr>
            <p:ph type="body" idx="1"/>
          </p:nvPr>
        </p:nvSpPr>
        <p:spPr bwMode="auto">
          <a:xfrm>
            <a:off x="457200" y="3048000"/>
            <a:ext cx="10896600" cy="1274866"/>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ts val="2800"/>
              <a:buFont typeface="Calibri"/>
              <a:buNone/>
              <a:defRPr/>
            </a:pPr>
            <a:r>
              <a:rPr lang="en-US" b="1"/>
              <a:t>3. Sequence Activities</a:t>
            </a:r>
            <a:endParaRPr/>
          </a:p>
          <a:p>
            <a:pPr marL="685800" lvl="1" indent="-228600" algn="l" rtl="0">
              <a:lnSpc>
                <a:spcPct val="90000"/>
              </a:lnSpc>
              <a:spcBef>
                <a:spcPts val="500"/>
              </a:spcBef>
              <a:spcAft>
                <a:spcPts val="0"/>
              </a:spcAft>
              <a:buClr>
                <a:schemeClr val="dk1"/>
              </a:buClr>
              <a:buSzPts val="2400"/>
              <a:buChar char="•"/>
              <a:defRPr/>
            </a:pPr>
            <a:r>
              <a:rPr lang="en-US"/>
              <a:t>Identify and </a:t>
            </a:r>
            <a:r>
              <a:rPr lang="en-US">
                <a:solidFill>
                  <a:schemeClr val="tx1"/>
                </a:solidFill>
              </a:rPr>
              <a:t>document the relationships between project activities.</a:t>
            </a:r>
            <a:endParaRPr/>
          </a:p>
          <a:p>
            <a:pPr marL="457200" lvl="1" indent="0" algn="l" rtl="0">
              <a:lnSpc>
                <a:spcPct val="90000"/>
              </a:lnSpc>
              <a:spcBef>
                <a:spcPts val="500"/>
              </a:spcBef>
              <a:spcAft>
                <a:spcPts val="0"/>
              </a:spcAft>
              <a:buClr>
                <a:schemeClr val="dk1"/>
              </a:buClr>
              <a:buSzPts val="2400"/>
              <a:buNone/>
              <a:defRPr/>
            </a:pPr>
            <a:r>
              <a:rPr lang="en-MY" i="1"/>
              <a:t>     (</a:t>
            </a:r>
            <a:r>
              <a:rPr lang="en-MY" b="1" i="1" u="sng"/>
              <a:t>specify the predecessor </a:t>
            </a:r>
            <a:r>
              <a:rPr lang="en-MY" i="1"/>
              <a:t>to sequence project activities)</a:t>
            </a:r>
            <a:endParaRPr i="1"/>
          </a:p>
          <a:p>
            <a:pPr marL="685800" lvl="1" indent="-228600" algn="l" rtl="0">
              <a:lnSpc>
                <a:spcPct val="90000"/>
              </a:lnSpc>
              <a:spcBef>
                <a:spcPts val="1000"/>
              </a:spcBef>
              <a:spcAft>
                <a:spcPts val="0"/>
              </a:spcAft>
              <a:buClr>
                <a:schemeClr val="dk1"/>
              </a:buClr>
              <a:buSzPts val="2400"/>
              <a:buChar char="•"/>
              <a:defRPr/>
            </a:pPr>
            <a:r>
              <a:rPr lang="en-US" b="1">
                <a:solidFill>
                  <a:srgbClr val="FF0000"/>
                </a:solidFill>
              </a:rPr>
              <a:t>Main output</a:t>
            </a:r>
            <a:r>
              <a:rPr lang="en-US">
                <a:solidFill>
                  <a:srgbClr val="FF0000"/>
                </a:solidFill>
              </a:rPr>
              <a:t>: </a:t>
            </a:r>
            <a:r>
              <a:rPr lang="en-US" b="1">
                <a:solidFill>
                  <a:srgbClr val="FF0000"/>
                </a:solidFill>
              </a:rPr>
              <a:t>Gantt Chart</a:t>
            </a:r>
            <a:endParaRPr b="1"/>
          </a:p>
        </p:txBody>
      </p:sp>
      <p:pic>
        <p:nvPicPr>
          <p:cNvPr id="1068966535" name="Google Shape;993;p59" descr="Gantt chart - MS Project"/>
          <p:cNvPicPr/>
          <p:nvPr/>
        </p:nvPicPr>
        <p:blipFill rotWithShape="1">
          <a:blip r:embed="rId3">
            <a:alphaModFix/>
          </a:blip>
          <a:stretch/>
        </p:blipFill>
        <p:spPr bwMode="auto">
          <a:xfrm>
            <a:off x="1299655" y="4322866"/>
            <a:ext cx="6935269" cy="1627258"/>
          </a:xfrm>
          <a:prstGeom prst="rect">
            <a:avLst/>
          </a:prstGeom>
          <a:noFill/>
          <a:ln w="19050">
            <a:solidFill>
              <a:schemeClr val="tx1"/>
            </a:solidFill>
          </a:ln>
        </p:spPr>
      </p:pic>
      <p:grpSp>
        <p:nvGrpSpPr>
          <p:cNvPr id="1729806271" name="Google Shape;994;p59"/>
          <p:cNvGrpSpPr/>
          <p:nvPr/>
        </p:nvGrpSpPr>
        <p:grpSpPr bwMode="auto">
          <a:xfrm>
            <a:off x="502053" y="1945501"/>
            <a:ext cx="11112272" cy="903607"/>
            <a:chOff x="6463" y="195896"/>
            <a:chExt cx="11112272" cy="903607"/>
          </a:xfrm>
        </p:grpSpPr>
        <p:sp>
          <p:nvSpPr>
            <p:cNvPr id="995" name="Google Shape;995;p59"/>
            <p:cNvSpPr/>
            <p:nvPr/>
          </p:nvSpPr>
          <p:spPr bwMode="auto">
            <a:xfrm>
              <a:off x="6463" y="195896"/>
              <a:ext cx="1624235" cy="903607"/>
            </a:xfrm>
            <a:prstGeom prst="homePlate">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96" name="Google Shape;996;p59"/>
            <p:cNvSpPr txBox="1"/>
            <p:nvPr/>
          </p:nvSpPr>
          <p:spPr bwMode="auto">
            <a:xfrm>
              <a:off x="6463" y="195896"/>
              <a:ext cx="1398333" cy="903607"/>
            </a:xfrm>
            <a:prstGeom prst="rect">
              <a:avLst/>
            </a:prstGeom>
            <a:noFill/>
            <a:ln>
              <a:noFill/>
            </a:ln>
          </p:spPr>
          <p:txBody>
            <a:bodyPr spcFirstLastPara="1" wrap="square" lIns="90675"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1.                       Plan Schedule Management</a:t>
              </a:r>
              <a:endParaRPr/>
            </a:p>
          </p:txBody>
        </p:sp>
        <p:sp>
          <p:nvSpPr>
            <p:cNvPr id="997" name="Google Shape;997;p59"/>
            <p:cNvSpPr/>
            <p:nvPr/>
          </p:nvSpPr>
          <p:spPr bwMode="auto">
            <a:xfrm>
              <a:off x="1305851" y="195896"/>
              <a:ext cx="1961930"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98" name="Google Shape;998;p59"/>
            <p:cNvSpPr txBox="1"/>
            <p:nvPr/>
          </p:nvSpPr>
          <p:spPr bwMode="auto">
            <a:xfrm>
              <a:off x="1757655" y="195896"/>
              <a:ext cx="1058323"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2.        Define Activities </a:t>
              </a:r>
              <a:endParaRPr/>
            </a:p>
          </p:txBody>
        </p:sp>
        <p:sp>
          <p:nvSpPr>
            <p:cNvPr id="999" name="Google Shape;999;p59"/>
            <p:cNvSpPr/>
            <p:nvPr/>
          </p:nvSpPr>
          <p:spPr bwMode="auto">
            <a:xfrm>
              <a:off x="2942935" y="195896"/>
              <a:ext cx="1889782" cy="903607"/>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00" name="Google Shape;1000;p59"/>
            <p:cNvSpPr txBox="1"/>
            <p:nvPr/>
          </p:nvSpPr>
          <p:spPr bwMode="auto">
            <a:xfrm>
              <a:off x="3394739" y="195896"/>
              <a:ext cx="986175"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b="1">
                  <a:solidFill>
                    <a:schemeClr val="lt1"/>
                  </a:solidFill>
                  <a:latin typeface="Calibri"/>
                  <a:ea typeface="Calibri"/>
                  <a:cs typeface="Calibri"/>
                </a:rPr>
                <a:t>3. Sequence Activities</a:t>
              </a:r>
              <a:endParaRPr/>
            </a:p>
          </p:txBody>
        </p:sp>
        <p:sp>
          <p:nvSpPr>
            <p:cNvPr id="1001" name="Google Shape;1001;p59"/>
            <p:cNvSpPr/>
            <p:nvPr/>
          </p:nvSpPr>
          <p:spPr bwMode="auto">
            <a:xfrm>
              <a:off x="4507870" y="195896"/>
              <a:ext cx="1992774"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02" name="Google Shape;1002;p59"/>
            <p:cNvSpPr txBox="1"/>
            <p:nvPr/>
          </p:nvSpPr>
          <p:spPr bwMode="auto">
            <a:xfrm>
              <a:off x="4959673" y="195896"/>
              <a:ext cx="1089167"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4. </a:t>
              </a:r>
              <a:endParaRPr/>
            </a:p>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Estimate Activity Resources</a:t>
              </a:r>
              <a:endParaRPr/>
            </a:p>
          </p:txBody>
        </p:sp>
        <p:sp>
          <p:nvSpPr>
            <p:cNvPr id="1003" name="Google Shape;1003;p59"/>
            <p:cNvSpPr/>
            <p:nvPr/>
          </p:nvSpPr>
          <p:spPr bwMode="auto">
            <a:xfrm>
              <a:off x="6175797" y="195896"/>
              <a:ext cx="1888385"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04" name="Google Shape;1004;p59"/>
            <p:cNvSpPr txBox="1"/>
            <p:nvPr/>
          </p:nvSpPr>
          <p:spPr bwMode="auto">
            <a:xfrm>
              <a:off x="6627601" y="195896"/>
              <a:ext cx="984778"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5. Estimate Activity Durations</a:t>
              </a:r>
              <a:endParaRPr/>
            </a:p>
          </p:txBody>
        </p:sp>
        <p:sp>
          <p:nvSpPr>
            <p:cNvPr id="1005" name="Google Shape;1005;p59"/>
            <p:cNvSpPr/>
            <p:nvPr/>
          </p:nvSpPr>
          <p:spPr bwMode="auto">
            <a:xfrm>
              <a:off x="7739335" y="195896"/>
              <a:ext cx="1904513"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06" name="Google Shape;1006;p59"/>
            <p:cNvSpPr txBox="1"/>
            <p:nvPr/>
          </p:nvSpPr>
          <p:spPr bwMode="auto">
            <a:xfrm>
              <a:off x="8191139" y="195896"/>
              <a:ext cx="1000906"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6.    Develop Schedule</a:t>
              </a:r>
              <a:endParaRPr/>
            </a:p>
          </p:txBody>
        </p:sp>
        <p:sp>
          <p:nvSpPr>
            <p:cNvPr id="1007" name="Google Shape;1007;p59"/>
            <p:cNvSpPr/>
            <p:nvPr/>
          </p:nvSpPr>
          <p:spPr bwMode="auto">
            <a:xfrm>
              <a:off x="9319002" y="195896"/>
              <a:ext cx="1799734"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08" name="Google Shape;1008;p59"/>
            <p:cNvSpPr txBox="1"/>
            <p:nvPr/>
          </p:nvSpPr>
          <p:spPr bwMode="auto">
            <a:xfrm>
              <a:off x="9770806" y="195896"/>
              <a:ext cx="896127"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7.     Control Schedule</a:t>
              </a:r>
              <a:endParaRPr/>
            </a:p>
          </p:txBody>
        </p:sp>
      </p:grpSp>
      <p:sp>
        <p:nvSpPr>
          <p:cNvPr id="358519386" name="Google Shape;1009;p59"/>
          <p:cNvSpPr txBox="1"/>
          <p:nvPr/>
        </p:nvSpPr>
        <p:spPr bwMode="auto">
          <a:xfrm>
            <a:off x="343771" y="381441"/>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Time Management</a:t>
            </a:r>
            <a:endParaRPr sz="4000" b="1">
              <a:solidFill>
                <a:schemeClr val="dk1"/>
              </a:solidFill>
              <a:latin typeface="Calibri"/>
              <a:ea typeface="Calibri"/>
              <a:cs typeface="Calibri"/>
            </a:endParaRPr>
          </a:p>
        </p:txBody>
      </p:sp>
      <p:sp>
        <p:nvSpPr>
          <p:cNvPr id="378263729" name="Google Shape;1010;p59"/>
          <p:cNvSpPr txBox="1"/>
          <p:nvPr/>
        </p:nvSpPr>
        <p:spPr bwMode="auto">
          <a:xfrm>
            <a:off x="381000" y="10668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882972784" name="Google Shape;1011;p59"/>
          <p:cNvCxnSpPr/>
          <p:nvPr/>
        </p:nvCxnSpPr>
        <p:spPr bwMode="auto">
          <a:xfrm rot="10800000">
            <a:off x="496172" y="1540315"/>
            <a:ext cx="1023822" cy="0"/>
          </a:xfrm>
          <a:prstGeom prst="straightConnector1">
            <a:avLst/>
          </a:prstGeom>
          <a:noFill/>
          <a:ln w="28575" cap="flat" cmpd="sng">
            <a:solidFill>
              <a:srgbClr val="3F3F3F"/>
            </a:solidFill>
            <a:prstDash val="solid"/>
            <a:miter lim="800000"/>
            <a:headEnd type="none" w="sm" len="sm"/>
            <a:tailEnd type="none" w="sm" len="sm"/>
          </a:ln>
        </p:spPr>
      </p:cxnSp>
      <p:cxnSp>
        <p:nvCxnSpPr>
          <p:cNvPr id="40050007" name="Straight Connector 2">
            <a:hlinkClick r:id="rId4" action="ppaction://hlinkfile"/>
          </p:cNvPr>
          <p:cNvCxnSpPr/>
          <p:nvPr/>
        </p:nvCxnSpPr>
        <p:spPr bwMode="auto">
          <a:xfrm>
            <a:off x="1299655" y="6199322"/>
            <a:ext cx="501786"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686605044">
                                            <p:txEl>
                                              <p:pRg st="0" end="0"/>
                                            </p:txEl>
                                          </p:spTgt>
                                        </p:tgtEl>
                                        <p:attrNameLst>
                                          <p:attrName>style.visibility</p:attrName>
                                        </p:attrNameLst>
                                      </p:cBhvr>
                                      <p:to>
                                        <p:strVal val="visible"/>
                                      </p:to>
                                    </p:set>
                                    <p:animEffect transition="in" filter="wipe(left)">
                                      <p:cBhvr>
                                        <p:cTn id="7" dur="500"/>
                                        <p:tgtEl>
                                          <p:spTgt spid="16866050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68966535"/>
                                        </p:tgtEl>
                                        <p:attrNameLst>
                                          <p:attrName>style.visibility</p:attrName>
                                        </p:attrNameLst>
                                      </p:cBhvr>
                                      <p:to>
                                        <p:strVal val="visible"/>
                                      </p:to>
                                    </p:set>
                                    <p:animEffect transition="in" filter="wipe(left)">
                                      <p:cBhvr>
                                        <p:cTn id="12" dur="500"/>
                                        <p:tgtEl>
                                          <p:spTgt spid="10689665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0050007"/>
                                        </p:tgtEl>
                                        <p:attrNameLst>
                                          <p:attrName>style.visibility</p:attrName>
                                        </p:attrNameLst>
                                      </p:cBhvr>
                                      <p:to>
                                        <p:strVal val="visible"/>
                                      </p:to>
                                    </p:set>
                                    <p:animEffect transition="in" filter="wipe(left)">
                                      <p:cBhvr>
                                        <p:cTn id="17" dur="500"/>
                                        <p:tgtEl>
                                          <p:spTgt spid="400500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44226749" name="Google Shape;1016;p60"/>
          <p:cNvPicPr/>
          <p:nvPr/>
        </p:nvPicPr>
        <p:blipFill rotWithShape="1">
          <a:blip r:embed="rId3">
            <a:alphaModFix/>
          </a:blip>
          <a:srcRect l="55224" t="0" r="8954" b="0"/>
          <a:stretch/>
        </p:blipFill>
        <p:spPr bwMode="auto">
          <a:xfrm>
            <a:off x="8590866" y="0"/>
            <a:ext cx="3684896" cy="6858000"/>
          </a:xfrm>
          <a:prstGeom prst="rect">
            <a:avLst/>
          </a:prstGeom>
          <a:noFill/>
          <a:ln>
            <a:noFill/>
          </a:ln>
        </p:spPr>
      </p:pic>
      <p:sp>
        <p:nvSpPr>
          <p:cNvPr id="1080828832" name="Google Shape;1017;p60"/>
          <p:cNvSpPr txBox="1">
            <a:spLocks noGrp="1"/>
          </p:cNvSpPr>
          <p:nvPr>
            <p:ph type="body" idx="1"/>
          </p:nvPr>
        </p:nvSpPr>
        <p:spPr bwMode="auto">
          <a:xfrm>
            <a:off x="496172" y="3834576"/>
            <a:ext cx="7885828" cy="26717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Calibri"/>
              <a:buNone/>
              <a:defRPr/>
            </a:pPr>
            <a:r>
              <a:rPr lang="en-US"/>
              <a:t>4. Estimate Activity Resources</a:t>
            </a:r>
            <a:endParaRPr/>
          </a:p>
          <a:p>
            <a:pPr marL="685800" lvl="1" indent="-228600" algn="l" rtl="0">
              <a:lnSpc>
                <a:spcPct val="90000"/>
              </a:lnSpc>
              <a:spcBef>
                <a:spcPts val="500"/>
              </a:spcBef>
              <a:spcAft>
                <a:spcPts val="0"/>
              </a:spcAft>
              <a:buClr>
                <a:schemeClr val="dk1"/>
              </a:buClr>
              <a:buSzPts val="2400"/>
              <a:buChar char="•"/>
              <a:defRPr/>
            </a:pPr>
            <a:r>
              <a:rPr lang="en-US" b="1"/>
              <a:t>Estimate the amount of </a:t>
            </a:r>
            <a:r>
              <a:rPr lang="en-US" b="1" u="sng"/>
              <a:t>resources</a:t>
            </a:r>
            <a:r>
              <a:rPr lang="en-US"/>
              <a:t> </a:t>
            </a:r>
            <a:r>
              <a:rPr lang="en-US" b="1"/>
              <a:t>(</a:t>
            </a:r>
            <a:r>
              <a:rPr lang="en-US" b="1">
                <a:solidFill>
                  <a:srgbClr val="C00000"/>
                </a:solidFill>
              </a:rPr>
              <a:t>people, equipment, and materials) </a:t>
            </a:r>
            <a:r>
              <a:rPr lang="en-US" b="1">
                <a:solidFill>
                  <a:schemeClr val="tx1"/>
                </a:solidFill>
              </a:rPr>
              <a:t>needed</a:t>
            </a:r>
            <a:r>
              <a:rPr lang="en-US" b="1">
                <a:solidFill>
                  <a:srgbClr val="C00000"/>
                </a:solidFill>
              </a:rPr>
              <a:t> </a:t>
            </a:r>
            <a:r>
              <a:rPr lang="en-US"/>
              <a:t> </a:t>
            </a:r>
            <a:r>
              <a:rPr lang="en-US" b="1"/>
              <a:t>to perform the activities.</a:t>
            </a:r>
            <a:endParaRPr b="1"/>
          </a:p>
          <a:p>
            <a:pPr marL="685800" lvl="1" indent="-228600" algn="l" rtl="0">
              <a:lnSpc>
                <a:spcPct val="90000"/>
              </a:lnSpc>
              <a:spcBef>
                <a:spcPts val="500"/>
              </a:spcBef>
              <a:spcAft>
                <a:spcPts val="0"/>
              </a:spcAft>
              <a:buClr>
                <a:schemeClr val="dk1"/>
              </a:buClr>
              <a:buSzPts val="2400"/>
              <a:buChar char="•"/>
              <a:defRPr/>
            </a:pPr>
            <a:r>
              <a:rPr lang="en-US">
                <a:solidFill>
                  <a:schemeClr val="tx1"/>
                </a:solidFill>
              </a:rPr>
              <a:t>Outputs: </a:t>
            </a:r>
            <a:r>
              <a:rPr lang="en-US"/>
              <a:t>activity resource requirements, resource breakdown structure</a:t>
            </a:r>
            <a:endParaRPr/>
          </a:p>
        </p:txBody>
      </p:sp>
      <p:sp>
        <p:nvSpPr>
          <p:cNvPr id="1483921386" name="Google Shape;1018;p60"/>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64</a:t>
            </a:fld>
            <a:endParaRPr/>
          </a:p>
        </p:txBody>
      </p:sp>
      <p:grpSp>
        <p:nvGrpSpPr>
          <p:cNvPr id="953118200" name="Google Shape;1019;p60"/>
          <p:cNvGrpSpPr/>
          <p:nvPr/>
        </p:nvGrpSpPr>
        <p:grpSpPr bwMode="auto">
          <a:xfrm>
            <a:off x="478786" y="2309560"/>
            <a:ext cx="11112272" cy="903607"/>
            <a:chOff x="6463" y="195896"/>
            <a:chExt cx="11112272" cy="903607"/>
          </a:xfrm>
        </p:grpSpPr>
        <p:sp>
          <p:nvSpPr>
            <p:cNvPr id="1020" name="Google Shape;1020;p60"/>
            <p:cNvSpPr/>
            <p:nvPr/>
          </p:nvSpPr>
          <p:spPr bwMode="auto">
            <a:xfrm>
              <a:off x="6463" y="195896"/>
              <a:ext cx="1624235" cy="903607"/>
            </a:xfrm>
            <a:prstGeom prst="homePlate">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21" name="Google Shape;1021;p60"/>
            <p:cNvSpPr txBox="1"/>
            <p:nvPr/>
          </p:nvSpPr>
          <p:spPr bwMode="auto">
            <a:xfrm>
              <a:off x="6463" y="195896"/>
              <a:ext cx="1398333" cy="903607"/>
            </a:xfrm>
            <a:prstGeom prst="rect">
              <a:avLst/>
            </a:prstGeom>
            <a:noFill/>
            <a:ln>
              <a:noFill/>
            </a:ln>
          </p:spPr>
          <p:txBody>
            <a:bodyPr spcFirstLastPara="1" wrap="square" lIns="90675"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1.                       Plan Schedule Management</a:t>
              </a:r>
              <a:endParaRPr/>
            </a:p>
          </p:txBody>
        </p:sp>
        <p:sp>
          <p:nvSpPr>
            <p:cNvPr id="1022" name="Google Shape;1022;p60"/>
            <p:cNvSpPr/>
            <p:nvPr/>
          </p:nvSpPr>
          <p:spPr bwMode="auto">
            <a:xfrm>
              <a:off x="1305851" y="195896"/>
              <a:ext cx="1961930"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23" name="Google Shape;1023;p60"/>
            <p:cNvSpPr txBox="1"/>
            <p:nvPr/>
          </p:nvSpPr>
          <p:spPr bwMode="auto">
            <a:xfrm>
              <a:off x="1757655" y="195896"/>
              <a:ext cx="1058323"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2.        Define Activities </a:t>
              </a:r>
              <a:endParaRPr/>
            </a:p>
          </p:txBody>
        </p:sp>
        <p:sp>
          <p:nvSpPr>
            <p:cNvPr id="1024" name="Google Shape;1024;p60"/>
            <p:cNvSpPr/>
            <p:nvPr/>
          </p:nvSpPr>
          <p:spPr bwMode="auto">
            <a:xfrm>
              <a:off x="2942935" y="195896"/>
              <a:ext cx="1889782"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25" name="Google Shape;1025;p60"/>
            <p:cNvSpPr txBox="1"/>
            <p:nvPr/>
          </p:nvSpPr>
          <p:spPr bwMode="auto">
            <a:xfrm>
              <a:off x="3394739" y="195896"/>
              <a:ext cx="986175"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3. Sequence Activities</a:t>
              </a:r>
              <a:endParaRPr/>
            </a:p>
          </p:txBody>
        </p:sp>
        <p:sp>
          <p:nvSpPr>
            <p:cNvPr id="1026" name="Google Shape;1026;p60"/>
            <p:cNvSpPr/>
            <p:nvPr/>
          </p:nvSpPr>
          <p:spPr bwMode="auto">
            <a:xfrm>
              <a:off x="4507870" y="195896"/>
              <a:ext cx="1992774" cy="903607"/>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27" name="Google Shape;1027;p60"/>
            <p:cNvSpPr txBox="1"/>
            <p:nvPr/>
          </p:nvSpPr>
          <p:spPr bwMode="auto">
            <a:xfrm>
              <a:off x="4959673" y="195896"/>
              <a:ext cx="1089167"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b="1">
                  <a:solidFill>
                    <a:schemeClr val="lt1"/>
                  </a:solidFill>
                  <a:latin typeface="Calibri"/>
                  <a:ea typeface="Calibri"/>
                  <a:cs typeface="Calibri"/>
                </a:rPr>
                <a:t>4. </a:t>
              </a:r>
              <a:endParaRPr/>
            </a:p>
            <a:p>
              <a:pPr marL="0" marR="0" lvl="0" indent="0" algn="ctr" rtl="0">
                <a:lnSpc>
                  <a:spcPct val="90000"/>
                </a:lnSpc>
                <a:spcBef>
                  <a:spcPts val="0"/>
                </a:spcBef>
                <a:spcAft>
                  <a:spcPts val="0"/>
                </a:spcAft>
                <a:buNone/>
                <a:defRPr/>
              </a:pPr>
              <a:r>
                <a:rPr lang="en-US" sz="1650" b="1">
                  <a:solidFill>
                    <a:schemeClr val="lt1"/>
                  </a:solidFill>
                  <a:latin typeface="Calibri"/>
                  <a:ea typeface="Calibri"/>
                  <a:cs typeface="Calibri"/>
                </a:rPr>
                <a:t>Estimate Activity Resources</a:t>
              </a:r>
              <a:endParaRPr/>
            </a:p>
          </p:txBody>
        </p:sp>
        <p:sp>
          <p:nvSpPr>
            <p:cNvPr id="1028" name="Google Shape;1028;p60"/>
            <p:cNvSpPr/>
            <p:nvPr/>
          </p:nvSpPr>
          <p:spPr bwMode="auto">
            <a:xfrm>
              <a:off x="6175797" y="195896"/>
              <a:ext cx="1888385"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29" name="Google Shape;1029;p60"/>
            <p:cNvSpPr txBox="1"/>
            <p:nvPr/>
          </p:nvSpPr>
          <p:spPr bwMode="auto">
            <a:xfrm>
              <a:off x="6627601" y="195896"/>
              <a:ext cx="984778"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5. Estimate Activity Durations</a:t>
              </a:r>
              <a:endParaRPr/>
            </a:p>
          </p:txBody>
        </p:sp>
        <p:sp>
          <p:nvSpPr>
            <p:cNvPr id="1030" name="Google Shape;1030;p60"/>
            <p:cNvSpPr/>
            <p:nvPr/>
          </p:nvSpPr>
          <p:spPr bwMode="auto">
            <a:xfrm>
              <a:off x="7739335" y="195896"/>
              <a:ext cx="1904513"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31" name="Google Shape;1031;p60"/>
            <p:cNvSpPr txBox="1"/>
            <p:nvPr/>
          </p:nvSpPr>
          <p:spPr bwMode="auto">
            <a:xfrm>
              <a:off x="8191139" y="195896"/>
              <a:ext cx="1000906"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6.    Develop Schedule</a:t>
              </a:r>
              <a:endParaRPr/>
            </a:p>
          </p:txBody>
        </p:sp>
        <p:sp>
          <p:nvSpPr>
            <p:cNvPr id="1032" name="Google Shape;1032;p60"/>
            <p:cNvSpPr/>
            <p:nvPr/>
          </p:nvSpPr>
          <p:spPr bwMode="auto">
            <a:xfrm>
              <a:off x="9319002" y="195896"/>
              <a:ext cx="1799734"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33" name="Google Shape;1033;p60"/>
            <p:cNvSpPr txBox="1"/>
            <p:nvPr/>
          </p:nvSpPr>
          <p:spPr bwMode="auto">
            <a:xfrm>
              <a:off x="9770806" y="195896"/>
              <a:ext cx="896127"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7.     Control Schedule</a:t>
              </a:r>
              <a:endParaRPr/>
            </a:p>
          </p:txBody>
        </p:sp>
      </p:grpSp>
      <p:sp>
        <p:nvSpPr>
          <p:cNvPr id="1182393623" name="Google Shape;1034;p60"/>
          <p:cNvSpPr txBox="1"/>
          <p:nvPr/>
        </p:nvSpPr>
        <p:spPr bwMode="auto">
          <a:xfrm>
            <a:off x="343771" y="381441"/>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Time Management</a:t>
            </a:r>
            <a:endParaRPr sz="4000" b="1">
              <a:solidFill>
                <a:schemeClr val="dk1"/>
              </a:solidFill>
              <a:latin typeface="Calibri"/>
              <a:ea typeface="Calibri"/>
              <a:cs typeface="Calibri"/>
            </a:endParaRPr>
          </a:p>
        </p:txBody>
      </p:sp>
      <p:sp>
        <p:nvSpPr>
          <p:cNvPr id="1089876642" name="Google Shape;1035;p60"/>
          <p:cNvSpPr txBox="1"/>
          <p:nvPr/>
        </p:nvSpPr>
        <p:spPr bwMode="auto">
          <a:xfrm>
            <a:off x="381000" y="10668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427347308" name="Google Shape;1036;p60"/>
          <p:cNvCxnSpPr/>
          <p:nvPr/>
        </p:nvCxnSpPr>
        <p:spPr bwMode="auto">
          <a:xfrm rot="10800000">
            <a:off x="496172" y="1540315"/>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820237824" name="Ink 1"/>
          <p:cNvPicPr/>
          <p:nvPr/>
        </p:nvPicPr>
        <p:blipFill rotWithShape="1">
          <a:blip r:embed="rId4"/>
          <a:stretch/>
        </p:blipFill>
        <p:spPr bwMode="auto">
          <a:xfrm>
            <a:off x="2268956" y="5491918"/>
            <a:ext cx="18000" cy="18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080828832">
                                            <p:txEl>
                                              <p:pRg st="0" end="0"/>
                                            </p:txEl>
                                          </p:spTgt>
                                        </p:tgtEl>
                                        <p:attrNameLst>
                                          <p:attrName>style.visibility</p:attrName>
                                        </p:attrNameLst>
                                      </p:cBhvr>
                                      <p:to>
                                        <p:strVal val="visible"/>
                                      </p:to>
                                    </p:set>
                                    <p:animEffect transition="in" filter="wipe(left)">
                                      <p:cBhvr>
                                        <p:cTn id="7" dur="500"/>
                                        <p:tgtEl>
                                          <p:spTgt spid="10808288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22754035" name="Google Shape;1042;p61"/>
          <p:cNvPicPr/>
          <p:nvPr/>
        </p:nvPicPr>
        <p:blipFill rotWithShape="1">
          <a:blip r:embed="rId3">
            <a:alphaModFix/>
          </a:blip>
          <a:srcRect l="55224" t="0" r="8954" b="0"/>
          <a:stretch/>
        </p:blipFill>
        <p:spPr bwMode="auto">
          <a:xfrm>
            <a:off x="8590866" y="0"/>
            <a:ext cx="3684896" cy="6858000"/>
          </a:xfrm>
          <a:prstGeom prst="rect">
            <a:avLst/>
          </a:prstGeom>
          <a:noFill/>
          <a:ln>
            <a:noFill/>
          </a:ln>
        </p:spPr>
      </p:pic>
      <p:sp>
        <p:nvSpPr>
          <p:cNvPr id="1416392018" name="Google Shape;1043;p61"/>
          <p:cNvSpPr txBox="1">
            <a:spLocks noGrp="1"/>
          </p:cNvSpPr>
          <p:nvPr>
            <p:ph type="body" idx="1"/>
          </p:nvPr>
        </p:nvSpPr>
        <p:spPr bwMode="auto">
          <a:xfrm>
            <a:off x="499081" y="3622156"/>
            <a:ext cx="7543800" cy="295340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Calibri"/>
              <a:buNone/>
              <a:defRPr/>
            </a:pPr>
            <a:r>
              <a:rPr lang="en-US"/>
              <a:t>5. Estimate Activity Durations</a:t>
            </a:r>
            <a:endParaRPr/>
          </a:p>
          <a:p>
            <a:pPr marL="685800" lvl="1" indent="-228600" algn="l" rtl="0">
              <a:lnSpc>
                <a:spcPct val="90000"/>
              </a:lnSpc>
              <a:spcBef>
                <a:spcPts val="1500"/>
              </a:spcBef>
              <a:spcAft>
                <a:spcPts val="0"/>
              </a:spcAft>
              <a:buClr>
                <a:schemeClr val="dk1"/>
              </a:buClr>
              <a:buSzPts val="2400"/>
              <a:buChar char="•"/>
              <a:defRPr/>
            </a:pPr>
            <a:r>
              <a:rPr lang="en-US" b="1"/>
              <a:t>Estimate durations(days/weeks) needed to complete each activity.</a:t>
            </a:r>
            <a:endParaRPr b="1"/>
          </a:p>
          <a:p>
            <a:pPr marL="685800" lvl="1" indent="-228600" algn="l" rtl="0">
              <a:lnSpc>
                <a:spcPct val="90000"/>
              </a:lnSpc>
              <a:spcBef>
                <a:spcPts val="500"/>
              </a:spcBef>
              <a:spcAft>
                <a:spcPts val="0"/>
              </a:spcAft>
              <a:buClr>
                <a:schemeClr val="dk1"/>
              </a:buClr>
              <a:buSzPts val="2400"/>
              <a:buChar char="•"/>
              <a:defRPr/>
            </a:pPr>
            <a:r>
              <a:rPr lang="en-US"/>
              <a:t>Tool and </a:t>
            </a:r>
            <a:r>
              <a:rPr lang="en-US" u="sng"/>
              <a:t>techniques</a:t>
            </a:r>
            <a:r>
              <a:rPr lang="en-US"/>
              <a:t>: </a:t>
            </a:r>
            <a:r>
              <a:rPr lang="en-US" b="1"/>
              <a:t>three-point estimates</a:t>
            </a:r>
            <a:endParaRPr b="1"/>
          </a:p>
          <a:p>
            <a:pPr marL="685800" lvl="1" indent="-228600" algn="l" rtl="0">
              <a:lnSpc>
                <a:spcPct val="90000"/>
              </a:lnSpc>
              <a:spcBef>
                <a:spcPts val="500"/>
              </a:spcBef>
              <a:spcAft>
                <a:spcPts val="0"/>
              </a:spcAft>
              <a:buClr>
                <a:schemeClr val="dk1"/>
              </a:buClr>
              <a:buSzPts val="2400"/>
              <a:buChar char="•"/>
              <a:defRPr/>
            </a:pPr>
            <a:r>
              <a:rPr lang="en-US">
                <a:solidFill>
                  <a:schemeClr val="tx1"/>
                </a:solidFill>
              </a:rPr>
              <a:t>Main outputs: activity duration estimates</a:t>
            </a:r>
            <a:r>
              <a:rPr lang="en-US" b="1"/>
              <a:t>.</a:t>
            </a:r>
            <a:endParaRPr b="1"/>
          </a:p>
        </p:txBody>
      </p:sp>
      <p:sp>
        <p:nvSpPr>
          <p:cNvPr id="1792500054" name="Google Shape;1044;p6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65</a:t>
            </a:fld>
            <a:endParaRPr/>
          </a:p>
        </p:txBody>
      </p:sp>
      <p:grpSp>
        <p:nvGrpSpPr>
          <p:cNvPr id="567222592" name="Google Shape;1045;p61"/>
          <p:cNvGrpSpPr/>
          <p:nvPr/>
        </p:nvGrpSpPr>
        <p:grpSpPr bwMode="auto">
          <a:xfrm>
            <a:off x="479950" y="2253296"/>
            <a:ext cx="11112272" cy="903607"/>
            <a:chOff x="6463" y="195896"/>
            <a:chExt cx="11112272" cy="903607"/>
          </a:xfrm>
        </p:grpSpPr>
        <p:sp>
          <p:nvSpPr>
            <p:cNvPr id="1046" name="Google Shape;1046;p61"/>
            <p:cNvSpPr/>
            <p:nvPr/>
          </p:nvSpPr>
          <p:spPr bwMode="auto">
            <a:xfrm>
              <a:off x="6463" y="195896"/>
              <a:ext cx="1624235" cy="903607"/>
            </a:xfrm>
            <a:prstGeom prst="homePlate">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47" name="Google Shape;1047;p61"/>
            <p:cNvSpPr txBox="1"/>
            <p:nvPr/>
          </p:nvSpPr>
          <p:spPr bwMode="auto">
            <a:xfrm>
              <a:off x="6463" y="195896"/>
              <a:ext cx="1398333" cy="903607"/>
            </a:xfrm>
            <a:prstGeom prst="rect">
              <a:avLst/>
            </a:prstGeom>
            <a:noFill/>
            <a:ln>
              <a:noFill/>
            </a:ln>
          </p:spPr>
          <p:txBody>
            <a:bodyPr spcFirstLastPara="1" wrap="square" lIns="90675"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1.                       Plan Schedule Management</a:t>
              </a:r>
              <a:endParaRPr/>
            </a:p>
          </p:txBody>
        </p:sp>
        <p:sp>
          <p:nvSpPr>
            <p:cNvPr id="1048" name="Google Shape;1048;p61"/>
            <p:cNvSpPr/>
            <p:nvPr/>
          </p:nvSpPr>
          <p:spPr bwMode="auto">
            <a:xfrm>
              <a:off x="1305851" y="195896"/>
              <a:ext cx="1961930"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49" name="Google Shape;1049;p61"/>
            <p:cNvSpPr txBox="1"/>
            <p:nvPr/>
          </p:nvSpPr>
          <p:spPr bwMode="auto">
            <a:xfrm>
              <a:off x="1757655" y="195896"/>
              <a:ext cx="1058323"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2.        Define Activities </a:t>
              </a:r>
              <a:endParaRPr/>
            </a:p>
          </p:txBody>
        </p:sp>
        <p:sp>
          <p:nvSpPr>
            <p:cNvPr id="1050" name="Google Shape;1050;p61"/>
            <p:cNvSpPr/>
            <p:nvPr/>
          </p:nvSpPr>
          <p:spPr bwMode="auto">
            <a:xfrm>
              <a:off x="2942935" y="195896"/>
              <a:ext cx="1889782"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51" name="Google Shape;1051;p61"/>
            <p:cNvSpPr txBox="1"/>
            <p:nvPr/>
          </p:nvSpPr>
          <p:spPr bwMode="auto">
            <a:xfrm>
              <a:off x="3394739" y="195896"/>
              <a:ext cx="986175"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3. Sequence Activities</a:t>
              </a:r>
              <a:endParaRPr/>
            </a:p>
          </p:txBody>
        </p:sp>
        <p:sp>
          <p:nvSpPr>
            <p:cNvPr id="1052" name="Google Shape;1052;p61"/>
            <p:cNvSpPr/>
            <p:nvPr/>
          </p:nvSpPr>
          <p:spPr bwMode="auto">
            <a:xfrm>
              <a:off x="4507870" y="195896"/>
              <a:ext cx="1992774"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53" name="Google Shape;1053;p61"/>
            <p:cNvSpPr txBox="1"/>
            <p:nvPr/>
          </p:nvSpPr>
          <p:spPr bwMode="auto">
            <a:xfrm>
              <a:off x="4959673" y="195896"/>
              <a:ext cx="1089167"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4. </a:t>
              </a:r>
              <a:endParaRPr/>
            </a:p>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Estimate Activity Resources</a:t>
              </a:r>
              <a:endParaRPr/>
            </a:p>
          </p:txBody>
        </p:sp>
        <p:sp>
          <p:nvSpPr>
            <p:cNvPr id="1054" name="Google Shape;1054;p61"/>
            <p:cNvSpPr/>
            <p:nvPr/>
          </p:nvSpPr>
          <p:spPr bwMode="auto">
            <a:xfrm>
              <a:off x="6175797" y="195896"/>
              <a:ext cx="1888385" cy="903607"/>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55" name="Google Shape;1055;p61"/>
            <p:cNvSpPr txBox="1"/>
            <p:nvPr/>
          </p:nvSpPr>
          <p:spPr bwMode="auto">
            <a:xfrm>
              <a:off x="6627601" y="195896"/>
              <a:ext cx="984778"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b="1">
                  <a:solidFill>
                    <a:schemeClr val="lt1"/>
                  </a:solidFill>
                  <a:latin typeface="Calibri"/>
                  <a:ea typeface="Calibri"/>
                  <a:cs typeface="Calibri"/>
                </a:rPr>
                <a:t>5. Estimate Activity Durations</a:t>
              </a:r>
              <a:endParaRPr/>
            </a:p>
          </p:txBody>
        </p:sp>
        <p:sp>
          <p:nvSpPr>
            <p:cNvPr id="1056" name="Google Shape;1056;p61"/>
            <p:cNvSpPr/>
            <p:nvPr/>
          </p:nvSpPr>
          <p:spPr bwMode="auto">
            <a:xfrm>
              <a:off x="7739335" y="195896"/>
              <a:ext cx="1904513"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57" name="Google Shape;1057;p61"/>
            <p:cNvSpPr txBox="1"/>
            <p:nvPr/>
          </p:nvSpPr>
          <p:spPr bwMode="auto">
            <a:xfrm>
              <a:off x="8191139" y="195896"/>
              <a:ext cx="1000906"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6.    Develop Schedule</a:t>
              </a:r>
              <a:endParaRPr/>
            </a:p>
          </p:txBody>
        </p:sp>
        <p:sp>
          <p:nvSpPr>
            <p:cNvPr id="1058" name="Google Shape;1058;p61"/>
            <p:cNvSpPr/>
            <p:nvPr/>
          </p:nvSpPr>
          <p:spPr bwMode="auto">
            <a:xfrm>
              <a:off x="9319002" y="195896"/>
              <a:ext cx="1799734"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59" name="Google Shape;1059;p61"/>
            <p:cNvSpPr txBox="1"/>
            <p:nvPr/>
          </p:nvSpPr>
          <p:spPr bwMode="auto">
            <a:xfrm>
              <a:off x="9770806" y="195896"/>
              <a:ext cx="896127"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7.     Control Schedule</a:t>
              </a:r>
              <a:endParaRPr/>
            </a:p>
          </p:txBody>
        </p:sp>
      </p:grpSp>
      <p:sp>
        <p:nvSpPr>
          <p:cNvPr id="1315593417" name="Google Shape;1060;p61"/>
          <p:cNvSpPr txBox="1"/>
          <p:nvPr/>
        </p:nvSpPr>
        <p:spPr bwMode="auto">
          <a:xfrm>
            <a:off x="343771" y="381441"/>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Time Management</a:t>
            </a:r>
            <a:endParaRPr sz="4000" b="1">
              <a:solidFill>
                <a:schemeClr val="dk1"/>
              </a:solidFill>
              <a:latin typeface="Calibri"/>
              <a:ea typeface="Calibri"/>
              <a:cs typeface="Calibri"/>
            </a:endParaRPr>
          </a:p>
        </p:txBody>
      </p:sp>
      <p:sp>
        <p:nvSpPr>
          <p:cNvPr id="501558670" name="Google Shape;1061;p61"/>
          <p:cNvSpPr txBox="1"/>
          <p:nvPr/>
        </p:nvSpPr>
        <p:spPr bwMode="auto">
          <a:xfrm>
            <a:off x="381000" y="10668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403216407" name="Google Shape;1062;p61"/>
          <p:cNvCxnSpPr/>
          <p:nvPr/>
        </p:nvCxnSpPr>
        <p:spPr bwMode="auto">
          <a:xfrm rot="10800000">
            <a:off x="496172" y="1540315"/>
            <a:ext cx="1023822" cy="0"/>
          </a:xfrm>
          <a:prstGeom prst="straightConnector1">
            <a:avLst/>
          </a:prstGeom>
          <a:noFill/>
          <a:ln w="28575" cap="flat" cmpd="sng">
            <a:solidFill>
              <a:srgbClr val="3F3F3F"/>
            </a:solidFill>
            <a:prstDash val="solid"/>
            <a:miter lim="800000"/>
            <a:headEnd type="none" w="sm" len="sm"/>
            <a:tailEnd type="none" w="sm" len="sm"/>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416392018">
                                            <p:txEl>
                                              <p:pRg st="0" end="0"/>
                                            </p:txEl>
                                          </p:spTgt>
                                        </p:tgtEl>
                                        <p:attrNameLst>
                                          <p:attrName>style.visibility</p:attrName>
                                        </p:attrNameLst>
                                      </p:cBhvr>
                                      <p:to>
                                        <p:strVal val="visible"/>
                                      </p:to>
                                    </p:set>
                                    <p:animEffect transition="in" filter="wipe(left)">
                                      <p:cBhvr>
                                        <p:cTn id="7" dur="500"/>
                                        <p:tgtEl>
                                          <p:spTgt spid="14163920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05893843" name="Google Shape;1067;p62"/>
          <p:cNvPicPr/>
          <p:nvPr/>
        </p:nvPicPr>
        <p:blipFill rotWithShape="1">
          <a:blip r:embed="rId3">
            <a:alphaModFix/>
          </a:blip>
          <a:srcRect l="55224" t="0" r="8954" b="0"/>
          <a:stretch/>
        </p:blipFill>
        <p:spPr bwMode="auto">
          <a:xfrm>
            <a:off x="8590866" y="0"/>
            <a:ext cx="3684896" cy="6858000"/>
          </a:xfrm>
          <a:prstGeom prst="rect">
            <a:avLst/>
          </a:prstGeom>
          <a:noFill/>
          <a:ln>
            <a:noFill/>
          </a:ln>
        </p:spPr>
      </p:pic>
      <p:sp>
        <p:nvSpPr>
          <p:cNvPr id="884459258" name="Google Shape;1068;p62"/>
          <p:cNvSpPr txBox="1">
            <a:spLocks noGrp="1"/>
          </p:cNvSpPr>
          <p:nvPr>
            <p:ph type="body" idx="1"/>
          </p:nvPr>
        </p:nvSpPr>
        <p:spPr bwMode="auto">
          <a:xfrm>
            <a:off x="496172" y="3352800"/>
            <a:ext cx="4370444" cy="32813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Calibri"/>
              <a:buNone/>
              <a:defRPr/>
            </a:pPr>
            <a:r>
              <a:rPr lang="en-US" b="1"/>
              <a:t>6. Develop Schedule</a:t>
            </a:r>
            <a:endParaRPr/>
          </a:p>
          <a:p>
            <a:pPr marL="685800" lvl="1" indent="-228600" algn="l" rtl="0">
              <a:lnSpc>
                <a:spcPct val="90000"/>
              </a:lnSpc>
              <a:spcBef>
                <a:spcPts val="500"/>
              </a:spcBef>
              <a:spcAft>
                <a:spcPts val="0"/>
              </a:spcAft>
              <a:buClr>
                <a:schemeClr val="dk1"/>
              </a:buClr>
              <a:buSzPts val="2400"/>
              <a:buChar char="•"/>
              <a:defRPr/>
            </a:pPr>
            <a:r>
              <a:rPr lang="en-US"/>
              <a:t>Analyze activity sequences, activity resource estimates, and activity duration estimates to create the project schedule.</a:t>
            </a:r>
            <a:endParaRPr/>
          </a:p>
          <a:p>
            <a:pPr marL="685800" lvl="1" indent="-228600" algn="l" rtl="0">
              <a:lnSpc>
                <a:spcPct val="90000"/>
              </a:lnSpc>
              <a:spcBef>
                <a:spcPts val="500"/>
              </a:spcBef>
              <a:spcAft>
                <a:spcPts val="0"/>
              </a:spcAft>
              <a:buClr>
                <a:schemeClr val="dk1"/>
              </a:buClr>
              <a:buSzPts val="2400"/>
              <a:buChar char="•"/>
              <a:defRPr/>
            </a:pPr>
            <a:r>
              <a:rPr lang="en-US" b="1">
                <a:solidFill>
                  <a:srgbClr val="FF0000"/>
                </a:solidFill>
              </a:rPr>
              <a:t>Outputs</a:t>
            </a:r>
            <a:r>
              <a:rPr lang="en-US"/>
              <a:t>: </a:t>
            </a:r>
            <a:r>
              <a:rPr lang="en-US" b="1"/>
              <a:t>project schedule, </a:t>
            </a:r>
            <a:r>
              <a:rPr lang="en-US"/>
              <a:t>schedule baseline, schedule data, project calendars.</a:t>
            </a:r>
            <a:endParaRPr/>
          </a:p>
        </p:txBody>
      </p:sp>
      <p:sp>
        <p:nvSpPr>
          <p:cNvPr id="2056389568" name="Google Shape;1069;p6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66</a:t>
            </a:fld>
            <a:endParaRPr/>
          </a:p>
        </p:txBody>
      </p:sp>
      <p:grpSp>
        <p:nvGrpSpPr>
          <p:cNvPr id="237414248" name="Google Shape;1070;p62"/>
          <p:cNvGrpSpPr/>
          <p:nvPr/>
        </p:nvGrpSpPr>
        <p:grpSpPr bwMode="auto">
          <a:xfrm>
            <a:off x="492165" y="2078671"/>
            <a:ext cx="11112272" cy="903607"/>
            <a:chOff x="6463" y="195896"/>
            <a:chExt cx="11112272" cy="903607"/>
          </a:xfrm>
        </p:grpSpPr>
        <p:sp>
          <p:nvSpPr>
            <p:cNvPr id="1071" name="Google Shape;1071;p62"/>
            <p:cNvSpPr/>
            <p:nvPr/>
          </p:nvSpPr>
          <p:spPr bwMode="auto">
            <a:xfrm>
              <a:off x="6463" y="195896"/>
              <a:ext cx="1624235" cy="903607"/>
            </a:xfrm>
            <a:prstGeom prst="homePlate">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72" name="Google Shape;1072;p62"/>
            <p:cNvSpPr txBox="1"/>
            <p:nvPr/>
          </p:nvSpPr>
          <p:spPr bwMode="auto">
            <a:xfrm>
              <a:off x="6463" y="195896"/>
              <a:ext cx="1398333" cy="903607"/>
            </a:xfrm>
            <a:prstGeom prst="rect">
              <a:avLst/>
            </a:prstGeom>
            <a:noFill/>
            <a:ln>
              <a:noFill/>
            </a:ln>
          </p:spPr>
          <p:txBody>
            <a:bodyPr spcFirstLastPara="1" wrap="square" lIns="90675"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1.                       Plan Schedule Management</a:t>
              </a:r>
              <a:endParaRPr/>
            </a:p>
          </p:txBody>
        </p:sp>
        <p:sp>
          <p:nvSpPr>
            <p:cNvPr id="1073" name="Google Shape;1073;p62"/>
            <p:cNvSpPr/>
            <p:nvPr/>
          </p:nvSpPr>
          <p:spPr bwMode="auto">
            <a:xfrm>
              <a:off x="1305851" y="195896"/>
              <a:ext cx="1961930"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74" name="Google Shape;1074;p62"/>
            <p:cNvSpPr txBox="1"/>
            <p:nvPr/>
          </p:nvSpPr>
          <p:spPr bwMode="auto">
            <a:xfrm>
              <a:off x="1757655" y="195896"/>
              <a:ext cx="1058323"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2.        Define Activities </a:t>
              </a:r>
              <a:endParaRPr/>
            </a:p>
          </p:txBody>
        </p:sp>
        <p:sp>
          <p:nvSpPr>
            <p:cNvPr id="1075" name="Google Shape;1075;p62"/>
            <p:cNvSpPr/>
            <p:nvPr/>
          </p:nvSpPr>
          <p:spPr bwMode="auto">
            <a:xfrm>
              <a:off x="2942935" y="195896"/>
              <a:ext cx="1889782"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76" name="Google Shape;1076;p62"/>
            <p:cNvSpPr txBox="1"/>
            <p:nvPr/>
          </p:nvSpPr>
          <p:spPr bwMode="auto">
            <a:xfrm>
              <a:off x="3394739" y="195896"/>
              <a:ext cx="986175"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3. Sequence Activities</a:t>
              </a:r>
              <a:endParaRPr/>
            </a:p>
          </p:txBody>
        </p:sp>
        <p:sp>
          <p:nvSpPr>
            <p:cNvPr id="1077" name="Google Shape;1077;p62"/>
            <p:cNvSpPr/>
            <p:nvPr/>
          </p:nvSpPr>
          <p:spPr bwMode="auto">
            <a:xfrm>
              <a:off x="4507870" y="195896"/>
              <a:ext cx="1992774"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78" name="Google Shape;1078;p62"/>
            <p:cNvSpPr txBox="1"/>
            <p:nvPr/>
          </p:nvSpPr>
          <p:spPr bwMode="auto">
            <a:xfrm>
              <a:off x="4959673" y="195896"/>
              <a:ext cx="1089167"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4. </a:t>
              </a:r>
              <a:endParaRPr/>
            </a:p>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Estimate Activity Resources</a:t>
              </a:r>
              <a:endParaRPr/>
            </a:p>
          </p:txBody>
        </p:sp>
        <p:sp>
          <p:nvSpPr>
            <p:cNvPr id="1079" name="Google Shape;1079;p62"/>
            <p:cNvSpPr/>
            <p:nvPr/>
          </p:nvSpPr>
          <p:spPr bwMode="auto">
            <a:xfrm>
              <a:off x="6175797" y="195896"/>
              <a:ext cx="1888385"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80" name="Google Shape;1080;p62"/>
            <p:cNvSpPr txBox="1"/>
            <p:nvPr/>
          </p:nvSpPr>
          <p:spPr bwMode="auto">
            <a:xfrm>
              <a:off x="6627601" y="195896"/>
              <a:ext cx="984778"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5. Estimate Activity Durations</a:t>
              </a:r>
              <a:endParaRPr/>
            </a:p>
          </p:txBody>
        </p:sp>
        <p:sp>
          <p:nvSpPr>
            <p:cNvPr id="1081" name="Google Shape;1081;p62"/>
            <p:cNvSpPr/>
            <p:nvPr/>
          </p:nvSpPr>
          <p:spPr bwMode="auto">
            <a:xfrm>
              <a:off x="7739335" y="195896"/>
              <a:ext cx="1904513" cy="903607"/>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82" name="Google Shape;1082;p62"/>
            <p:cNvSpPr txBox="1"/>
            <p:nvPr/>
          </p:nvSpPr>
          <p:spPr bwMode="auto">
            <a:xfrm>
              <a:off x="8191139" y="195896"/>
              <a:ext cx="1000906"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b="1">
                  <a:solidFill>
                    <a:schemeClr val="lt1"/>
                  </a:solidFill>
                  <a:latin typeface="Calibri"/>
                  <a:ea typeface="Calibri"/>
                  <a:cs typeface="Calibri"/>
                </a:rPr>
                <a:t>6.    Develop Schedule</a:t>
              </a:r>
              <a:endParaRPr/>
            </a:p>
          </p:txBody>
        </p:sp>
        <p:sp>
          <p:nvSpPr>
            <p:cNvPr id="1083" name="Google Shape;1083;p62"/>
            <p:cNvSpPr/>
            <p:nvPr/>
          </p:nvSpPr>
          <p:spPr bwMode="auto">
            <a:xfrm>
              <a:off x="9319002" y="195896"/>
              <a:ext cx="1799734"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84" name="Google Shape;1084;p62"/>
            <p:cNvSpPr txBox="1"/>
            <p:nvPr/>
          </p:nvSpPr>
          <p:spPr bwMode="auto">
            <a:xfrm>
              <a:off x="9770806" y="195896"/>
              <a:ext cx="896127"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7.     Control Schedule</a:t>
              </a:r>
              <a:endParaRPr/>
            </a:p>
          </p:txBody>
        </p:sp>
      </p:grpSp>
      <p:sp>
        <p:nvSpPr>
          <p:cNvPr id="229213613" name="Google Shape;1085;p62"/>
          <p:cNvSpPr txBox="1"/>
          <p:nvPr/>
        </p:nvSpPr>
        <p:spPr bwMode="auto">
          <a:xfrm>
            <a:off x="343771" y="381441"/>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Time Management</a:t>
            </a:r>
            <a:endParaRPr sz="4000" b="1">
              <a:solidFill>
                <a:schemeClr val="dk1"/>
              </a:solidFill>
              <a:latin typeface="Calibri"/>
              <a:ea typeface="Calibri"/>
              <a:cs typeface="Calibri"/>
            </a:endParaRPr>
          </a:p>
        </p:txBody>
      </p:sp>
      <p:sp>
        <p:nvSpPr>
          <p:cNvPr id="960062388" name="Google Shape;1086;p62"/>
          <p:cNvSpPr txBox="1"/>
          <p:nvPr/>
        </p:nvSpPr>
        <p:spPr bwMode="auto">
          <a:xfrm>
            <a:off x="381000" y="10668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623621137" name="Google Shape;1087;p62"/>
          <p:cNvCxnSpPr/>
          <p:nvPr/>
        </p:nvCxnSpPr>
        <p:spPr bwMode="auto">
          <a:xfrm rot="10800000">
            <a:off x="496172" y="1540315"/>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1914884719" name="Google Shape;993;p59" descr="Gantt chart - MS Project"/>
          <p:cNvPicPr/>
          <p:nvPr/>
        </p:nvPicPr>
        <p:blipFill rotWithShape="1">
          <a:blip r:embed="rId4">
            <a:alphaModFix/>
          </a:blip>
          <a:stretch/>
        </p:blipFill>
        <p:spPr bwMode="auto">
          <a:xfrm>
            <a:off x="4952113" y="3875722"/>
            <a:ext cx="7065719" cy="2220281"/>
          </a:xfrm>
          <a:prstGeom prst="rect">
            <a:avLst/>
          </a:prstGeom>
          <a:noFill/>
          <a:ln w="28575">
            <a:solidFill>
              <a:srgbClr val="FF0000"/>
            </a:solid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884459258">
                                            <p:txEl>
                                              <p:pRg st="2" end="2"/>
                                            </p:txEl>
                                          </p:spTgt>
                                        </p:tgtEl>
                                        <p:attrNameLst>
                                          <p:attrName>style.visibility</p:attrName>
                                        </p:attrNameLst>
                                      </p:cBhvr>
                                      <p:to>
                                        <p:strVal val="visible"/>
                                      </p:to>
                                    </p:set>
                                    <p:anim calcmode="lin" valueType="num">
                                      <p:cBhvr additive="base">
                                        <p:cTn id="7" dur="500" fill="hold"/>
                                        <p:tgtEl>
                                          <p:spTgt spid="88445925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8445925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2014953" name="Google Shape;1092;p63"/>
          <p:cNvPicPr/>
          <p:nvPr/>
        </p:nvPicPr>
        <p:blipFill rotWithShape="1">
          <a:blip r:embed="rId3">
            <a:alphaModFix/>
          </a:blip>
          <a:srcRect l="55224" t="0" r="8954" b="0"/>
          <a:stretch/>
        </p:blipFill>
        <p:spPr bwMode="auto">
          <a:xfrm>
            <a:off x="8590866" y="0"/>
            <a:ext cx="3684896" cy="6858000"/>
          </a:xfrm>
          <a:prstGeom prst="rect">
            <a:avLst/>
          </a:prstGeom>
          <a:noFill/>
          <a:ln>
            <a:noFill/>
          </a:ln>
        </p:spPr>
      </p:pic>
      <p:sp>
        <p:nvSpPr>
          <p:cNvPr id="1209869614" name="Google Shape;1093;p63"/>
          <p:cNvSpPr txBox="1">
            <a:spLocks noGrp="1"/>
          </p:cNvSpPr>
          <p:nvPr>
            <p:ph type="body" idx="1"/>
          </p:nvPr>
        </p:nvSpPr>
        <p:spPr bwMode="auto">
          <a:xfrm>
            <a:off x="499081" y="3417366"/>
            <a:ext cx="7543800" cy="32813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Calibri"/>
              <a:buNone/>
              <a:defRPr/>
            </a:pPr>
            <a:r>
              <a:rPr lang="en-US" b="1"/>
              <a:t>7. Control Schedule</a:t>
            </a:r>
            <a:endParaRPr/>
          </a:p>
          <a:p>
            <a:pPr marL="457200" lvl="1" indent="0">
              <a:lnSpc>
                <a:spcPct val="120000"/>
              </a:lnSpc>
              <a:buSzPts val="2400"/>
              <a:buNone/>
              <a:defRPr/>
            </a:pPr>
            <a:r>
              <a:rPr lang="en-US" b="1"/>
              <a:t>Monitor and manage changes to the project schedule  </a:t>
            </a:r>
            <a:r>
              <a:rPr lang="en-US"/>
              <a:t>to ensure the project is completed on time.</a:t>
            </a:r>
            <a:endParaRPr/>
          </a:p>
          <a:p>
            <a:pPr marL="717550" indent="-266700">
              <a:lnSpc>
                <a:spcPct val="150000"/>
              </a:lnSpc>
              <a:spcBef>
                <a:spcPts val="0"/>
              </a:spcBef>
              <a:spcAft>
                <a:spcPts val="0"/>
              </a:spcAft>
              <a:buClrTx/>
              <a:buSzTx/>
              <a:buFontTx/>
              <a:buChar char="•"/>
              <a:defRPr/>
            </a:pPr>
            <a:r>
              <a:rPr lang="en-US" sz="2000" b="1">
                <a:solidFill>
                  <a:schemeClr val="tx1"/>
                </a:solidFill>
                <a:latin typeface="Arial"/>
              </a:rPr>
              <a:t>Update the schedule as needed </a:t>
            </a:r>
            <a:r>
              <a:rPr lang="en-US" sz="2000">
                <a:solidFill>
                  <a:schemeClr val="tx1"/>
                </a:solidFill>
                <a:latin typeface="Arial"/>
              </a:rPr>
              <a:t>to reflect changes</a:t>
            </a:r>
            <a:endParaRPr lang="en-US" sz="2000"/>
          </a:p>
          <a:p>
            <a:pPr marL="717550" lvl="0" indent="-266700">
              <a:lnSpc>
                <a:spcPct val="150000"/>
              </a:lnSpc>
              <a:spcBef>
                <a:spcPts val="0"/>
              </a:spcBef>
              <a:spcAft>
                <a:spcPts val="0"/>
              </a:spcAft>
              <a:buClrTx/>
              <a:buSzTx/>
              <a:buFontTx/>
              <a:buChar char="•"/>
              <a:defRPr/>
            </a:pPr>
            <a:r>
              <a:rPr lang="en-US" sz="2000" b="1">
                <a:solidFill>
                  <a:schemeClr val="tx1"/>
                </a:solidFill>
                <a:latin typeface="Arial"/>
              </a:rPr>
              <a:t>Take</a:t>
            </a:r>
            <a:r>
              <a:rPr lang="en-US" sz="2000">
                <a:solidFill>
                  <a:schemeClr val="tx1"/>
                </a:solidFill>
                <a:latin typeface="Arial"/>
              </a:rPr>
              <a:t> </a:t>
            </a:r>
            <a:r>
              <a:rPr lang="en-US" sz="2000" b="1" u="sng">
                <a:solidFill>
                  <a:schemeClr val="tx1"/>
                </a:solidFill>
                <a:latin typeface="Arial"/>
              </a:rPr>
              <a:t>corrective</a:t>
            </a:r>
            <a:r>
              <a:rPr lang="en-US" sz="2000" u="sng">
                <a:solidFill>
                  <a:schemeClr val="tx1"/>
                </a:solidFill>
                <a:latin typeface="Arial"/>
              </a:rPr>
              <a:t> </a:t>
            </a:r>
            <a:r>
              <a:rPr lang="en-US" sz="2000" b="1" u="sng">
                <a:solidFill>
                  <a:schemeClr val="tx1"/>
                </a:solidFill>
                <a:latin typeface="Arial"/>
              </a:rPr>
              <a:t>actions </a:t>
            </a:r>
            <a:r>
              <a:rPr lang="en-US" sz="2000" b="1">
                <a:solidFill>
                  <a:schemeClr val="tx1"/>
                </a:solidFill>
                <a:latin typeface="Arial"/>
              </a:rPr>
              <a:t>if there is any schedule issues. </a:t>
            </a:r>
            <a:endParaRPr/>
          </a:p>
        </p:txBody>
      </p:sp>
      <p:sp>
        <p:nvSpPr>
          <p:cNvPr id="1560948085" name="Google Shape;1094;p6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67</a:t>
            </a:fld>
            <a:endParaRPr/>
          </a:p>
        </p:txBody>
      </p:sp>
      <p:grpSp>
        <p:nvGrpSpPr>
          <p:cNvPr id="1462733867" name="Google Shape;1095;p63"/>
          <p:cNvGrpSpPr/>
          <p:nvPr/>
        </p:nvGrpSpPr>
        <p:grpSpPr bwMode="auto">
          <a:xfrm>
            <a:off x="502635" y="2027037"/>
            <a:ext cx="11112272" cy="903607"/>
            <a:chOff x="6463" y="195896"/>
            <a:chExt cx="11112272" cy="903607"/>
          </a:xfrm>
        </p:grpSpPr>
        <p:sp>
          <p:nvSpPr>
            <p:cNvPr id="1096" name="Google Shape;1096;p63"/>
            <p:cNvSpPr/>
            <p:nvPr/>
          </p:nvSpPr>
          <p:spPr bwMode="auto">
            <a:xfrm>
              <a:off x="6463" y="195896"/>
              <a:ext cx="1624235" cy="903607"/>
            </a:xfrm>
            <a:prstGeom prst="homePlate">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97" name="Google Shape;1097;p63"/>
            <p:cNvSpPr txBox="1"/>
            <p:nvPr/>
          </p:nvSpPr>
          <p:spPr bwMode="auto">
            <a:xfrm>
              <a:off x="6463" y="195896"/>
              <a:ext cx="1398333" cy="903607"/>
            </a:xfrm>
            <a:prstGeom prst="rect">
              <a:avLst/>
            </a:prstGeom>
            <a:noFill/>
            <a:ln>
              <a:noFill/>
            </a:ln>
          </p:spPr>
          <p:txBody>
            <a:bodyPr spcFirstLastPara="1" wrap="square" lIns="90675"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1.                       Plan Schedule Management</a:t>
              </a:r>
              <a:endParaRPr/>
            </a:p>
          </p:txBody>
        </p:sp>
        <p:sp>
          <p:nvSpPr>
            <p:cNvPr id="1098" name="Google Shape;1098;p63"/>
            <p:cNvSpPr/>
            <p:nvPr/>
          </p:nvSpPr>
          <p:spPr bwMode="auto">
            <a:xfrm>
              <a:off x="1305851" y="195896"/>
              <a:ext cx="1961930"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99" name="Google Shape;1099;p63"/>
            <p:cNvSpPr txBox="1"/>
            <p:nvPr/>
          </p:nvSpPr>
          <p:spPr bwMode="auto">
            <a:xfrm>
              <a:off x="1757655" y="195896"/>
              <a:ext cx="1058323"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2.        Define Activities </a:t>
              </a:r>
              <a:endParaRPr/>
            </a:p>
          </p:txBody>
        </p:sp>
        <p:sp>
          <p:nvSpPr>
            <p:cNvPr id="1100" name="Google Shape;1100;p63"/>
            <p:cNvSpPr/>
            <p:nvPr/>
          </p:nvSpPr>
          <p:spPr bwMode="auto">
            <a:xfrm>
              <a:off x="2942935" y="195896"/>
              <a:ext cx="1889782"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01" name="Google Shape;1101;p63"/>
            <p:cNvSpPr txBox="1"/>
            <p:nvPr/>
          </p:nvSpPr>
          <p:spPr bwMode="auto">
            <a:xfrm>
              <a:off x="3394739" y="195896"/>
              <a:ext cx="986175"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3. Sequence Activities</a:t>
              </a:r>
              <a:endParaRPr/>
            </a:p>
          </p:txBody>
        </p:sp>
        <p:sp>
          <p:nvSpPr>
            <p:cNvPr id="1102" name="Google Shape;1102;p63"/>
            <p:cNvSpPr/>
            <p:nvPr/>
          </p:nvSpPr>
          <p:spPr bwMode="auto">
            <a:xfrm>
              <a:off x="4507870" y="195896"/>
              <a:ext cx="1992774"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03" name="Google Shape;1103;p63"/>
            <p:cNvSpPr txBox="1"/>
            <p:nvPr/>
          </p:nvSpPr>
          <p:spPr bwMode="auto">
            <a:xfrm>
              <a:off x="4959673" y="195896"/>
              <a:ext cx="1089167"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4. </a:t>
              </a:r>
              <a:endParaRPr/>
            </a:p>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Estimate Activity Resources</a:t>
              </a:r>
              <a:endParaRPr/>
            </a:p>
          </p:txBody>
        </p:sp>
        <p:sp>
          <p:nvSpPr>
            <p:cNvPr id="1104" name="Google Shape;1104;p63"/>
            <p:cNvSpPr/>
            <p:nvPr/>
          </p:nvSpPr>
          <p:spPr bwMode="auto">
            <a:xfrm>
              <a:off x="6175797" y="195896"/>
              <a:ext cx="1888385"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05" name="Google Shape;1105;p63"/>
            <p:cNvSpPr txBox="1"/>
            <p:nvPr/>
          </p:nvSpPr>
          <p:spPr bwMode="auto">
            <a:xfrm>
              <a:off x="6627601" y="195896"/>
              <a:ext cx="984778"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5. Estimate Activity Durations</a:t>
              </a:r>
              <a:endParaRPr/>
            </a:p>
          </p:txBody>
        </p:sp>
        <p:sp>
          <p:nvSpPr>
            <p:cNvPr id="1106" name="Google Shape;1106;p63"/>
            <p:cNvSpPr/>
            <p:nvPr/>
          </p:nvSpPr>
          <p:spPr bwMode="auto">
            <a:xfrm>
              <a:off x="7739335" y="195896"/>
              <a:ext cx="1904513" cy="903607"/>
            </a:xfrm>
            <a:prstGeom prst="chevron">
              <a:avLst>
                <a:gd name="adj" fmla="val 50000"/>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07" name="Google Shape;1107;p63"/>
            <p:cNvSpPr txBox="1"/>
            <p:nvPr/>
          </p:nvSpPr>
          <p:spPr bwMode="auto">
            <a:xfrm>
              <a:off x="8191139" y="195896"/>
              <a:ext cx="1000906"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a:solidFill>
                    <a:schemeClr val="lt1"/>
                  </a:solidFill>
                  <a:latin typeface="Calibri"/>
                  <a:ea typeface="Calibri"/>
                  <a:cs typeface="Calibri"/>
                </a:rPr>
                <a:t>6.    Develop Schedule</a:t>
              </a:r>
              <a:endParaRPr/>
            </a:p>
          </p:txBody>
        </p:sp>
        <p:sp>
          <p:nvSpPr>
            <p:cNvPr id="1108" name="Google Shape;1108;p63"/>
            <p:cNvSpPr/>
            <p:nvPr/>
          </p:nvSpPr>
          <p:spPr bwMode="auto">
            <a:xfrm>
              <a:off x="9319002" y="195896"/>
              <a:ext cx="1799734" cy="903607"/>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09" name="Google Shape;1109;p63"/>
            <p:cNvSpPr txBox="1"/>
            <p:nvPr/>
          </p:nvSpPr>
          <p:spPr bwMode="auto">
            <a:xfrm>
              <a:off x="9770806" y="195896"/>
              <a:ext cx="896127" cy="903607"/>
            </a:xfrm>
            <a:prstGeom prst="rect">
              <a:avLst/>
            </a:prstGeom>
            <a:noFill/>
            <a:ln>
              <a:noFill/>
            </a:ln>
          </p:spPr>
          <p:txBody>
            <a:bodyPr spcFirstLastPara="1" wrap="square" lIns="68000" tIns="45325" rIns="22650" bIns="45325" anchor="ctr" anchorCtr="0">
              <a:noAutofit/>
            </a:bodyPr>
            <a:lstStyle/>
            <a:p>
              <a:pPr marL="0" marR="0" lvl="0" indent="0" algn="ctr" rtl="0">
                <a:lnSpc>
                  <a:spcPct val="90000"/>
                </a:lnSpc>
                <a:spcBef>
                  <a:spcPts val="0"/>
                </a:spcBef>
                <a:spcAft>
                  <a:spcPts val="0"/>
                </a:spcAft>
                <a:buNone/>
                <a:defRPr/>
              </a:pPr>
              <a:r>
                <a:rPr lang="en-US" sz="1650" b="1">
                  <a:solidFill>
                    <a:schemeClr val="lt1"/>
                  </a:solidFill>
                  <a:latin typeface="Calibri"/>
                  <a:ea typeface="Calibri"/>
                  <a:cs typeface="Calibri"/>
                </a:rPr>
                <a:t>7.     Control Schedule</a:t>
              </a:r>
              <a:endParaRPr/>
            </a:p>
          </p:txBody>
        </p:sp>
      </p:grpSp>
      <p:sp>
        <p:nvSpPr>
          <p:cNvPr id="1487149056" name="Google Shape;1110;p63"/>
          <p:cNvSpPr txBox="1"/>
          <p:nvPr/>
        </p:nvSpPr>
        <p:spPr bwMode="auto">
          <a:xfrm>
            <a:off x="343771" y="381441"/>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Time Management</a:t>
            </a:r>
            <a:endParaRPr sz="4000" b="1">
              <a:solidFill>
                <a:schemeClr val="dk1"/>
              </a:solidFill>
              <a:latin typeface="Calibri"/>
              <a:ea typeface="Calibri"/>
              <a:cs typeface="Calibri"/>
            </a:endParaRPr>
          </a:p>
        </p:txBody>
      </p:sp>
      <p:sp>
        <p:nvSpPr>
          <p:cNvPr id="1304862031" name="Google Shape;1111;p63"/>
          <p:cNvSpPr txBox="1"/>
          <p:nvPr/>
        </p:nvSpPr>
        <p:spPr bwMode="auto">
          <a:xfrm>
            <a:off x="381000" y="10668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201984520" name="Google Shape;1112;p63"/>
          <p:cNvCxnSpPr/>
          <p:nvPr/>
        </p:nvCxnSpPr>
        <p:spPr bwMode="auto">
          <a:xfrm rot="10800000">
            <a:off x="496172" y="1540315"/>
            <a:ext cx="1023822" cy="0"/>
          </a:xfrm>
          <a:prstGeom prst="straightConnector1">
            <a:avLst/>
          </a:prstGeom>
          <a:noFill/>
          <a:ln w="28575" cap="flat" cmpd="sng">
            <a:solidFill>
              <a:srgbClr val="3F3F3F"/>
            </a:solidFill>
            <a:prstDash val="solid"/>
            <a:miter lim="800000"/>
            <a:headEnd type="none" w="sm" len="sm"/>
            <a:tailEnd type="none" w="sm" len="sm"/>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209869614">
                                            <p:txEl>
                                              <p:pRg st="0" end="0"/>
                                            </p:txEl>
                                          </p:spTgt>
                                        </p:tgtEl>
                                        <p:attrNameLst>
                                          <p:attrName>style.visibility</p:attrName>
                                        </p:attrNameLst>
                                      </p:cBhvr>
                                      <p:to>
                                        <p:strVal val="visible"/>
                                      </p:to>
                                    </p:set>
                                    <p:animEffect transition="in" filter="wipe(left)">
                                      <p:cBhvr>
                                        <p:cTn id="7" dur="500"/>
                                        <p:tgtEl>
                                          <p:spTgt spid="12098696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09869614">
                                            <p:txEl>
                                              <p:pRg st="2" end="2"/>
                                            </p:txEl>
                                          </p:spTgt>
                                        </p:tgtEl>
                                        <p:attrNameLst>
                                          <p:attrName>style.visibility</p:attrName>
                                        </p:attrNameLst>
                                      </p:cBhvr>
                                      <p:to>
                                        <p:strVal val="visible"/>
                                      </p:to>
                                    </p:set>
                                    <p:animEffect transition="in" filter="wipe(left)">
                                      <p:cBhvr>
                                        <p:cTn id="12" dur="500"/>
                                        <p:tgtEl>
                                          <p:spTgt spid="1209869614">
                                            <p:txEl>
                                              <p:pRg st="2" end="2"/>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1209869614">
                                            <p:txEl>
                                              <p:pRg st="3" end="3"/>
                                            </p:txEl>
                                          </p:spTgt>
                                        </p:tgtEl>
                                        <p:attrNameLst>
                                          <p:attrName>style.visibility</p:attrName>
                                        </p:attrNameLst>
                                      </p:cBhvr>
                                      <p:to>
                                        <p:strVal val="visible"/>
                                      </p:to>
                                    </p:set>
                                    <p:animEffect transition="in" filter="wipe(left)">
                                      <p:cBhvr>
                                        <p:cTn id="15" dur="500"/>
                                        <p:tgtEl>
                                          <p:spTgt spid="12098696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88983820" name="Google Shape;721;p46"/>
          <p:cNvPicPr/>
          <p:nvPr/>
        </p:nvPicPr>
        <p:blipFill rotWithShape="1">
          <a:blip r:embed="rId3">
            <a:alphaModFix/>
          </a:blip>
          <a:srcRect l="21648" t="0" r="35518" b="0"/>
          <a:stretch/>
        </p:blipFill>
        <p:spPr bwMode="auto">
          <a:xfrm>
            <a:off x="-49211" y="-9876"/>
            <a:ext cx="4419600" cy="6867876"/>
          </a:xfrm>
          <a:prstGeom prst="rect">
            <a:avLst/>
          </a:prstGeom>
          <a:noFill/>
          <a:ln>
            <a:noFill/>
          </a:ln>
        </p:spPr>
      </p:pic>
      <p:sp>
        <p:nvSpPr>
          <p:cNvPr id="1536061841" name="Google Shape;722;p46"/>
          <p:cNvSpPr txBox="1">
            <a:spLocks noGrp="1"/>
          </p:cNvSpPr>
          <p:nvPr>
            <p:ph type="title"/>
          </p:nvPr>
        </p:nvSpPr>
        <p:spPr bwMode="auto">
          <a:xfrm>
            <a:off x="609600" y="302394"/>
            <a:ext cx="5105400" cy="7159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defRPr/>
            </a:pPr>
            <a:r>
              <a:rPr lang="en-US" b="1"/>
              <a:t>Knowledge of a PM</a:t>
            </a:r>
            <a:endParaRPr/>
          </a:p>
        </p:txBody>
      </p:sp>
      <p:grpSp>
        <p:nvGrpSpPr>
          <p:cNvPr id="354138665" name="Google Shape;723;p46"/>
          <p:cNvGrpSpPr/>
          <p:nvPr/>
        </p:nvGrpSpPr>
        <p:grpSpPr bwMode="auto">
          <a:xfrm>
            <a:off x="5101159" y="1733961"/>
            <a:ext cx="6100240" cy="4657009"/>
            <a:chOff x="5688824" y="1864854"/>
            <a:chExt cx="4394200" cy="4133851"/>
          </a:xfrm>
        </p:grpSpPr>
        <p:grpSp>
          <p:nvGrpSpPr>
            <p:cNvPr id="724" name="Google Shape;724;p46"/>
            <p:cNvGrpSpPr/>
            <p:nvPr/>
          </p:nvGrpSpPr>
          <p:grpSpPr bwMode="auto">
            <a:xfrm>
              <a:off x="6438123" y="2544305"/>
              <a:ext cx="3048000" cy="2873375"/>
              <a:chOff x="1981198" y="861054"/>
              <a:chExt cx="2895602" cy="2872745"/>
            </a:xfrm>
          </p:grpSpPr>
          <p:sp>
            <p:nvSpPr>
              <p:cNvPr id="725" name="Google Shape;725;p46"/>
              <p:cNvSpPr/>
              <p:nvPr/>
            </p:nvSpPr>
            <p:spPr bwMode="auto">
              <a:xfrm>
                <a:off x="1981198" y="861054"/>
                <a:ext cx="2895602" cy="2872745"/>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26" name="Google Shape;726;p46"/>
              <p:cNvSpPr/>
              <p:nvPr/>
            </p:nvSpPr>
            <p:spPr bwMode="auto">
              <a:xfrm>
                <a:off x="2405060" y="1281650"/>
                <a:ext cx="2047876" cy="2031554"/>
              </a:xfrm>
              <a:prstGeom prst="rect">
                <a:avLst/>
              </a:prstGeom>
              <a:noFill/>
              <a:ln>
                <a:noFill/>
              </a:ln>
            </p:spPr>
            <p:txBody>
              <a:bodyPr spcFirstLastPara="1" wrap="square" lIns="44450" tIns="44450" rIns="44450" bIns="44450" anchor="ctr" anchorCtr="0">
                <a:noAutofit/>
              </a:bodyPr>
              <a:lstStyle/>
              <a:p>
                <a:pPr marL="0" marR="0" lvl="0" indent="0" algn="ctr" rtl="0">
                  <a:lnSpc>
                    <a:spcPct val="90000"/>
                  </a:lnSpc>
                  <a:spcBef>
                    <a:spcPts val="0"/>
                  </a:spcBef>
                  <a:spcAft>
                    <a:spcPts val="0"/>
                  </a:spcAft>
                  <a:buNone/>
                  <a:defRPr/>
                </a:pPr>
                <a:r>
                  <a:rPr lang="en-US" sz="3500">
                    <a:solidFill>
                      <a:schemeClr val="dk1"/>
                    </a:solidFill>
                    <a:latin typeface="Calibri"/>
                    <a:ea typeface="Calibri"/>
                    <a:cs typeface="Calibri"/>
                  </a:rPr>
                  <a:t>Integration</a:t>
                </a:r>
                <a:endParaRPr/>
              </a:p>
            </p:txBody>
          </p:sp>
        </p:grpSp>
        <p:grpSp>
          <p:nvGrpSpPr>
            <p:cNvPr id="727" name="Google Shape;727;p46"/>
            <p:cNvGrpSpPr/>
            <p:nvPr/>
          </p:nvGrpSpPr>
          <p:grpSpPr bwMode="auto">
            <a:xfrm>
              <a:off x="7306486" y="1864854"/>
              <a:ext cx="1158875" cy="947738"/>
              <a:chOff x="2849129" y="181000"/>
              <a:chExt cx="1159740" cy="947887"/>
            </a:xfrm>
          </p:grpSpPr>
          <p:sp>
            <p:nvSpPr>
              <p:cNvPr id="728" name="Google Shape;728;p46"/>
              <p:cNvSpPr/>
              <p:nvPr/>
            </p:nvSpPr>
            <p:spPr bwMode="auto">
              <a:xfrm>
                <a:off x="2849129" y="181000"/>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29" name="Google Shape;729;p46"/>
              <p:cNvSpPr/>
              <p:nvPr/>
            </p:nvSpPr>
            <p:spPr bwMode="auto">
              <a:xfrm>
                <a:off x="3019119" y="319135"/>
                <a:ext cx="819761"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Scope</a:t>
                </a:r>
                <a:endParaRPr/>
              </a:p>
            </p:txBody>
          </p:sp>
        </p:grpSp>
        <p:grpSp>
          <p:nvGrpSpPr>
            <p:cNvPr id="730" name="Google Shape;730;p46"/>
            <p:cNvGrpSpPr/>
            <p:nvPr/>
          </p:nvGrpSpPr>
          <p:grpSpPr bwMode="auto">
            <a:xfrm>
              <a:off x="8495523" y="2249029"/>
              <a:ext cx="1160462" cy="947738"/>
              <a:chOff x="3904896" y="565268"/>
              <a:chExt cx="1159740" cy="947887"/>
            </a:xfrm>
          </p:grpSpPr>
          <p:sp>
            <p:nvSpPr>
              <p:cNvPr id="731" name="Google Shape;731;p46"/>
              <p:cNvSpPr/>
              <p:nvPr/>
            </p:nvSpPr>
            <p:spPr bwMode="auto">
              <a:xfrm>
                <a:off x="3904896" y="565268"/>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2" name="Google Shape;732;p46"/>
              <p:cNvSpPr/>
              <p:nvPr/>
            </p:nvSpPr>
            <p:spPr bwMode="auto">
              <a:xfrm>
                <a:off x="4074652" y="703403"/>
                <a:ext cx="820227"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Time</a:t>
                </a:r>
                <a:endParaRPr/>
              </a:p>
            </p:txBody>
          </p:sp>
        </p:grpSp>
        <p:grpSp>
          <p:nvGrpSpPr>
            <p:cNvPr id="733" name="Google Shape;733;p46"/>
            <p:cNvGrpSpPr/>
            <p:nvPr/>
          </p:nvGrpSpPr>
          <p:grpSpPr bwMode="auto">
            <a:xfrm>
              <a:off x="8922561" y="3222168"/>
              <a:ext cx="1160463" cy="947737"/>
              <a:chOff x="4466658" y="1538269"/>
              <a:chExt cx="1159740" cy="947887"/>
            </a:xfrm>
          </p:grpSpPr>
          <p:sp>
            <p:nvSpPr>
              <p:cNvPr id="734" name="Google Shape;734;p46"/>
              <p:cNvSpPr/>
              <p:nvPr/>
            </p:nvSpPr>
            <p:spPr bwMode="auto">
              <a:xfrm>
                <a:off x="4466658" y="1538269"/>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5" name="Google Shape;735;p46"/>
              <p:cNvSpPr/>
              <p:nvPr/>
            </p:nvSpPr>
            <p:spPr bwMode="auto">
              <a:xfrm>
                <a:off x="4636415" y="1676403"/>
                <a:ext cx="820226"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Cost</a:t>
                </a:r>
                <a:endParaRPr/>
              </a:p>
            </p:txBody>
          </p:sp>
        </p:grpSp>
        <p:grpSp>
          <p:nvGrpSpPr>
            <p:cNvPr id="736" name="Google Shape;736;p46"/>
            <p:cNvGrpSpPr/>
            <p:nvPr/>
          </p:nvGrpSpPr>
          <p:grpSpPr bwMode="auto">
            <a:xfrm>
              <a:off x="8800323" y="4328654"/>
              <a:ext cx="1160462" cy="947738"/>
              <a:chOff x="4271560" y="2644723"/>
              <a:chExt cx="1159740" cy="947887"/>
            </a:xfrm>
          </p:grpSpPr>
          <p:sp>
            <p:nvSpPr>
              <p:cNvPr id="737" name="Google Shape;737;p46"/>
              <p:cNvSpPr/>
              <p:nvPr/>
            </p:nvSpPr>
            <p:spPr bwMode="auto">
              <a:xfrm>
                <a:off x="4271560" y="2644723"/>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8" name="Google Shape;738;p46"/>
              <p:cNvSpPr/>
              <p:nvPr/>
            </p:nvSpPr>
            <p:spPr bwMode="auto">
              <a:xfrm>
                <a:off x="4441316" y="2782859"/>
                <a:ext cx="820227"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Quality</a:t>
                </a:r>
                <a:endParaRPr/>
              </a:p>
            </p:txBody>
          </p:sp>
        </p:grpSp>
        <p:grpSp>
          <p:nvGrpSpPr>
            <p:cNvPr id="739" name="Google Shape;739;p46"/>
            <p:cNvGrpSpPr/>
            <p:nvPr/>
          </p:nvGrpSpPr>
          <p:grpSpPr bwMode="auto">
            <a:xfrm>
              <a:off x="7912910" y="5050968"/>
              <a:ext cx="1160463" cy="947737"/>
              <a:chOff x="3410891" y="3366911"/>
              <a:chExt cx="1159740" cy="947887"/>
            </a:xfrm>
          </p:grpSpPr>
          <p:sp>
            <p:nvSpPr>
              <p:cNvPr id="740" name="Google Shape;740;p46"/>
              <p:cNvSpPr/>
              <p:nvPr/>
            </p:nvSpPr>
            <p:spPr bwMode="auto">
              <a:xfrm>
                <a:off x="3410891" y="3366911"/>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1" name="Google Shape;741;p46"/>
              <p:cNvSpPr/>
              <p:nvPr/>
            </p:nvSpPr>
            <p:spPr bwMode="auto">
              <a:xfrm>
                <a:off x="3580648" y="3505045"/>
                <a:ext cx="820226"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Human Resource</a:t>
                </a:r>
                <a:endParaRPr/>
              </a:p>
            </p:txBody>
          </p:sp>
        </p:grpSp>
        <p:grpSp>
          <p:nvGrpSpPr>
            <p:cNvPr id="742" name="Google Shape;742;p46"/>
            <p:cNvGrpSpPr/>
            <p:nvPr/>
          </p:nvGrpSpPr>
          <p:grpSpPr bwMode="auto">
            <a:xfrm>
              <a:off x="6684186" y="5050968"/>
              <a:ext cx="1160463" cy="947737"/>
              <a:chOff x="2287367" y="3366911"/>
              <a:chExt cx="1159740" cy="947887"/>
            </a:xfrm>
          </p:grpSpPr>
          <p:sp>
            <p:nvSpPr>
              <p:cNvPr id="743" name="Google Shape;743;p46"/>
              <p:cNvSpPr/>
              <p:nvPr/>
            </p:nvSpPr>
            <p:spPr bwMode="auto">
              <a:xfrm>
                <a:off x="2287367" y="3366911"/>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4" name="Google Shape;744;p46"/>
              <p:cNvSpPr/>
              <p:nvPr/>
            </p:nvSpPr>
            <p:spPr bwMode="auto">
              <a:xfrm>
                <a:off x="2338135" y="3505045"/>
                <a:ext cx="1032819"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Communication</a:t>
                </a:r>
                <a:endParaRPr/>
              </a:p>
            </p:txBody>
          </p:sp>
        </p:grpSp>
        <p:grpSp>
          <p:nvGrpSpPr>
            <p:cNvPr id="745" name="Google Shape;745;p46"/>
            <p:cNvGrpSpPr/>
            <p:nvPr/>
          </p:nvGrpSpPr>
          <p:grpSpPr bwMode="auto">
            <a:xfrm>
              <a:off x="5845986" y="4328654"/>
              <a:ext cx="1160463" cy="947738"/>
              <a:chOff x="1426698" y="2644723"/>
              <a:chExt cx="1159740" cy="947887"/>
            </a:xfrm>
          </p:grpSpPr>
          <p:sp>
            <p:nvSpPr>
              <p:cNvPr id="746" name="Google Shape;746;p46"/>
              <p:cNvSpPr/>
              <p:nvPr/>
            </p:nvSpPr>
            <p:spPr bwMode="auto">
              <a:xfrm>
                <a:off x="1426698" y="2644723"/>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7" name="Google Shape;747;p46"/>
              <p:cNvSpPr/>
              <p:nvPr/>
            </p:nvSpPr>
            <p:spPr bwMode="auto">
              <a:xfrm>
                <a:off x="1596455" y="2782859"/>
                <a:ext cx="820226"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Risk</a:t>
                </a:r>
                <a:endParaRPr/>
              </a:p>
            </p:txBody>
          </p:sp>
        </p:grpSp>
        <p:grpSp>
          <p:nvGrpSpPr>
            <p:cNvPr id="748" name="Google Shape;748;p46"/>
            <p:cNvGrpSpPr/>
            <p:nvPr/>
          </p:nvGrpSpPr>
          <p:grpSpPr bwMode="auto">
            <a:xfrm>
              <a:off x="5688824" y="3222168"/>
              <a:ext cx="1158875" cy="947737"/>
              <a:chOff x="1231599" y="1538269"/>
              <a:chExt cx="1159741" cy="947887"/>
            </a:xfrm>
          </p:grpSpPr>
          <p:sp>
            <p:nvSpPr>
              <p:cNvPr id="749" name="Google Shape;749;p46"/>
              <p:cNvSpPr/>
              <p:nvPr/>
            </p:nvSpPr>
            <p:spPr bwMode="auto">
              <a:xfrm>
                <a:off x="1231600" y="1538269"/>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50" name="Google Shape;750;p46"/>
              <p:cNvSpPr/>
              <p:nvPr/>
            </p:nvSpPr>
            <p:spPr bwMode="auto">
              <a:xfrm>
                <a:off x="1231599" y="1676403"/>
                <a:ext cx="1154974"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Procurement</a:t>
                </a:r>
                <a:endParaRPr/>
              </a:p>
            </p:txBody>
          </p:sp>
        </p:grpSp>
        <p:grpSp>
          <p:nvGrpSpPr>
            <p:cNvPr id="751" name="Google Shape;751;p46"/>
            <p:cNvGrpSpPr/>
            <p:nvPr/>
          </p:nvGrpSpPr>
          <p:grpSpPr bwMode="auto">
            <a:xfrm>
              <a:off x="6150786" y="2249029"/>
              <a:ext cx="1160463" cy="947738"/>
              <a:chOff x="1793362" y="565268"/>
              <a:chExt cx="1159740" cy="947887"/>
            </a:xfrm>
          </p:grpSpPr>
          <p:sp>
            <p:nvSpPr>
              <p:cNvPr id="752" name="Google Shape;752;p46"/>
              <p:cNvSpPr/>
              <p:nvPr/>
            </p:nvSpPr>
            <p:spPr bwMode="auto">
              <a:xfrm>
                <a:off x="1793362" y="565268"/>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53" name="Google Shape;753;p46"/>
              <p:cNvSpPr/>
              <p:nvPr/>
            </p:nvSpPr>
            <p:spPr bwMode="auto">
              <a:xfrm>
                <a:off x="1850476" y="703403"/>
                <a:ext cx="1102626"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Stakeholders</a:t>
                </a:r>
                <a:endParaRPr/>
              </a:p>
            </p:txBody>
          </p:sp>
        </p:grpSp>
      </p:grpSp>
      <p:sp>
        <p:nvSpPr>
          <p:cNvPr id="608609481" name="Google Shape;754;p46"/>
          <p:cNvSpPr txBox="1"/>
          <p:nvPr/>
        </p:nvSpPr>
        <p:spPr bwMode="auto">
          <a:xfrm>
            <a:off x="646828" y="98775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sp>
        <p:nvSpPr>
          <p:cNvPr id="387081130" name="Google Shape;755;p46"/>
          <p:cNvSpPr txBox="1"/>
          <p:nvPr/>
        </p:nvSpPr>
        <p:spPr bwMode="auto">
          <a:xfrm>
            <a:off x="681560" y="1703714"/>
            <a:ext cx="2970213"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defRPr/>
            </a:pPr>
            <a:r>
              <a:rPr lang="en-US" sz="2400">
                <a:solidFill>
                  <a:srgbClr val="FF0000"/>
                </a:solidFill>
                <a:latin typeface="Times New Roman"/>
                <a:ea typeface="Times New Roman"/>
                <a:cs typeface="Times New Roman"/>
              </a:rPr>
              <a:t>10 </a:t>
            </a:r>
            <a:r>
              <a:rPr lang="en-US" sz="2400">
                <a:solidFill>
                  <a:schemeClr val="dk1"/>
                </a:solidFill>
                <a:latin typeface="Times New Roman"/>
                <a:ea typeface="Times New Roman"/>
                <a:cs typeface="Times New Roman"/>
              </a:rPr>
              <a:t>Knowledge </a:t>
            </a:r>
            <a:r>
              <a:rPr lang="en-US" sz="2400">
                <a:solidFill>
                  <a:srgbClr val="FF0000"/>
                </a:solidFill>
                <a:latin typeface="Times New Roman"/>
                <a:ea typeface="Times New Roman"/>
                <a:cs typeface="Times New Roman"/>
              </a:rPr>
              <a:t>Areas</a:t>
            </a:r>
            <a:endParaRPr>
              <a:solidFill>
                <a:srgbClr val="FF0000"/>
              </a:solidFill>
            </a:endParaRPr>
          </a:p>
        </p:txBody>
      </p:sp>
      <p:sp>
        <p:nvSpPr>
          <p:cNvPr id="1087798410" name="Google Shape;756;p4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68</a:t>
            </a:fld>
            <a:endParaRPr/>
          </a:p>
        </p:txBody>
      </p:sp>
      <p:cxnSp>
        <p:nvCxnSpPr>
          <p:cNvPr id="851278177" name="Google Shape;757;p46"/>
          <p:cNvCxnSpPr/>
          <p:nvPr/>
        </p:nvCxnSpPr>
        <p:spPr bwMode="auto">
          <a:xfrm rot="10800000">
            <a:off x="762000" y="1461268"/>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374119712" name="Freeform: Shape 1"/>
          <p:cNvSpPr/>
          <p:nvPr/>
        </p:nvSpPr>
        <p:spPr bwMode="auto">
          <a:xfrm>
            <a:off x="8183105" y="1999281"/>
            <a:ext cx="449451" cy="604434"/>
          </a:xfrm>
          <a:custGeom>
            <a:avLst/>
            <a:gdLst>
              <a:gd name="connsiteX0" fmla="*/ 0 w 449451"/>
              <a:gd name="connsiteY0" fmla="*/ 418455 h 604434"/>
              <a:gd name="connsiteX1" fmla="*/ 154983 w 449451"/>
              <a:gd name="connsiteY1" fmla="*/ 604434 h 604434"/>
              <a:gd name="connsiteX2" fmla="*/ 449451 w 449451"/>
              <a:gd name="connsiteY2" fmla="*/ 0 h 604434"/>
            </a:gdLst>
            <a:ahLst/>
            <a:cxnLst>
              <a:cxn ang="0">
                <a:pos x="connsiteX0" y="connsiteY0"/>
              </a:cxn>
              <a:cxn ang="0">
                <a:pos x="connsiteX1" y="connsiteY1"/>
              </a:cxn>
              <a:cxn ang="0">
                <a:pos x="connsiteX2" y="connsiteY2"/>
              </a:cxn>
            </a:cxnLst>
            <a:rect l="l" t="t" r="r" b="b"/>
            <a:pathLst>
              <a:path w="449451" h="604434" fill="norm" stroke="1" extrusionOk="0">
                <a:moveTo>
                  <a:pt x="0" y="418455"/>
                </a:moveTo>
                <a:lnTo>
                  <a:pt x="154983" y="604434"/>
                </a:lnTo>
                <a:lnTo>
                  <a:pt x="449451" y="0"/>
                </a:ln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831595011" name="Freeform: Shape 2"/>
          <p:cNvSpPr/>
          <p:nvPr/>
        </p:nvSpPr>
        <p:spPr bwMode="auto">
          <a:xfrm>
            <a:off x="9895037" y="2405269"/>
            <a:ext cx="449451" cy="604434"/>
          </a:xfrm>
          <a:custGeom>
            <a:avLst/>
            <a:gdLst>
              <a:gd name="connsiteX0" fmla="*/ 0 w 449451"/>
              <a:gd name="connsiteY0" fmla="*/ 418455 h 604434"/>
              <a:gd name="connsiteX1" fmla="*/ 154983 w 449451"/>
              <a:gd name="connsiteY1" fmla="*/ 604434 h 604434"/>
              <a:gd name="connsiteX2" fmla="*/ 449451 w 449451"/>
              <a:gd name="connsiteY2" fmla="*/ 0 h 604434"/>
            </a:gdLst>
            <a:ahLst/>
            <a:cxnLst>
              <a:cxn ang="0">
                <a:pos x="connsiteX0" y="connsiteY0"/>
              </a:cxn>
              <a:cxn ang="0">
                <a:pos x="connsiteX1" y="connsiteY1"/>
              </a:cxn>
              <a:cxn ang="0">
                <a:pos x="connsiteX2" y="connsiteY2"/>
              </a:cxn>
            </a:cxnLst>
            <a:rect l="l" t="t" r="r" b="b"/>
            <a:pathLst>
              <a:path w="449451" h="604434" fill="norm" stroke="1" extrusionOk="0">
                <a:moveTo>
                  <a:pt x="0" y="418455"/>
                </a:moveTo>
                <a:lnTo>
                  <a:pt x="154983" y="604434"/>
                </a:lnTo>
                <a:lnTo>
                  <a:pt x="449451" y="0"/>
                </a:ln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72268504" name="Google Shape;1117;p64"/>
          <p:cNvSpPr txBox="1">
            <a:spLocks noGrp="1"/>
          </p:cNvSpPr>
          <p:nvPr>
            <p:ph type="body" idx="1"/>
          </p:nvPr>
        </p:nvSpPr>
        <p:spPr bwMode="auto">
          <a:xfrm>
            <a:off x="4381500" y="2438399"/>
            <a:ext cx="7353300" cy="3738562"/>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defRPr/>
            </a:pPr>
            <a:r>
              <a:rPr lang="en-US"/>
              <a:t>Includes the processes required </a:t>
            </a:r>
            <a:r>
              <a:rPr lang="en-US" b="1"/>
              <a:t>to ensure that project team completes a project within an approved </a:t>
            </a:r>
            <a:r>
              <a:rPr lang="en-US" b="1">
                <a:solidFill>
                  <a:schemeClr val="tx1"/>
                </a:solidFill>
              </a:rPr>
              <a:t>budget</a:t>
            </a:r>
            <a:r>
              <a:rPr lang="en-US"/>
              <a:t>.</a:t>
            </a:r>
            <a:endParaRPr/>
          </a:p>
          <a:p>
            <a:pPr marL="228600" lvl="0" indent="-228600" algn="l" rtl="0">
              <a:lnSpc>
                <a:spcPct val="90000"/>
              </a:lnSpc>
              <a:spcBef>
                <a:spcPts val="1000"/>
              </a:spcBef>
              <a:spcAft>
                <a:spcPts val="0"/>
              </a:spcAft>
              <a:buClr>
                <a:schemeClr val="dk1"/>
              </a:buClr>
              <a:buSzPts val="2800"/>
              <a:buChar char="•"/>
              <a:defRPr/>
            </a:pPr>
            <a:endParaRPr lang="en-US" b="1"/>
          </a:p>
          <a:p>
            <a:pPr marL="228600" lvl="0" indent="-228600" algn="l" rtl="0">
              <a:lnSpc>
                <a:spcPct val="90000"/>
              </a:lnSpc>
              <a:spcBef>
                <a:spcPts val="1000"/>
              </a:spcBef>
              <a:spcAft>
                <a:spcPts val="0"/>
              </a:spcAft>
              <a:buClr>
                <a:schemeClr val="dk1"/>
              </a:buClr>
              <a:buSzPts val="2800"/>
              <a:buChar char="•"/>
              <a:defRPr/>
            </a:pPr>
            <a:r>
              <a:rPr lang="en-US" b="1"/>
              <a:t>4 processes:</a:t>
            </a:r>
            <a:endParaRPr b="1"/>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t>Plan Cost Management</a:t>
            </a:r>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solidFill>
                  <a:srgbClr val="FF0000"/>
                </a:solidFill>
              </a:rPr>
              <a:t>Estimate Cost</a:t>
            </a:r>
            <a:endParaRPr>
              <a:solidFill>
                <a:srgbClr val="FF0000"/>
              </a:solidFill>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solidFill>
                  <a:srgbClr val="FF0000"/>
                </a:solidFill>
              </a:rPr>
              <a:t>Determine Budget</a:t>
            </a:r>
            <a:endParaRPr>
              <a:solidFill>
                <a:srgbClr val="FF0000"/>
              </a:solidFill>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t>Control Costs</a:t>
            </a:r>
            <a:endParaRPr/>
          </a:p>
        </p:txBody>
      </p:sp>
      <p:sp>
        <p:nvSpPr>
          <p:cNvPr id="349062822" name="Google Shape;1118;p6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69</a:t>
            </a:fld>
            <a:endParaRPr/>
          </a:p>
        </p:txBody>
      </p:sp>
      <p:pic>
        <p:nvPicPr>
          <p:cNvPr id="150201525" name="Google Shape;1119;p64"/>
          <p:cNvPicPr/>
          <p:nvPr/>
        </p:nvPicPr>
        <p:blipFill rotWithShape="1">
          <a:blip r:embed="rId3">
            <a:alphaModFix/>
          </a:blip>
          <a:srcRect l="9629" t="0" r="50610" b="0"/>
          <a:stretch/>
        </p:blipFill>
        <p:spPr bwMode="auto">
          <a:xfrm>
            <a:off x="24581" y="0"/>
            <a:ext cx="4090219" cy="6858000"/>
          </a:xfrm>
          <a:prstGeom prst="rect">
            <a:avLst/>
          </a:prstGeom>
          <a:noFill/>
          <a:ln>
            <a:noFill/>
          </a:ln>
        </p:spPr>
      </p:pic>
      <p:sp>
        <p:nvSpPr>
          <p:cNvPr id="1867632279" name="Google Shape;1120;p64"/>
          <p:cNvSpPr txBox="1"/>
          <p:nvPr/>
        </p:nvSpPr>
        <p:spPr bwMode="auto">
          <a:xfrm>
            <a:off x="4229100" y="635524"/>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rgbClr val="FF0000"/>
                </a:solidFill>
                <a:latin typeface="Calibri"/>
                <a:ea typeface="Calibri"/>
                <a:cs typeface="Calibri"/>
              </a:rPr>
              <a:t>Project Cost Management</a:t>
            </a:r>
            <a:endParaRPr sz="4000" b="1">
              <a:solidFill>
                <a:srgbClr val="FF0000"/>
              </a:solidFill>
              <a:latin typeface="Calibri"/>
              <a:ea typeface="Calibri"/>
              <a:cs typeface="Calibri"/>
            </a:endParaRPr>
          </a:p>
        </p:txBody>
      </p:sp>
      <p:sp>
        <p:nvSpPr>
          <p:cNvPr id="1359419518" name="Google Shape;1121;p64"/>
          <p:cNvSpPr txBox="1"/>
          <p:nvPr/>
        </p:nvSpPr>
        <p:spPr bwMode="auto">
          <a:xfrm>
            <a:off x="4266328" y="132088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967549621" name="Google Shape;1122;p64"/>
          <p:cNvCxnSpPr/>
          <p:nvPr/>
        </p:nvCxnSpPr>
        <p:spPr bwMode="auto">
          <a:xfrm rot="10800000">
            <a:off x="4381500" y="1794398"/>
            <a:ext cx="1023822" cy="0"/>
          </a:xfrm>
          <a:prstGeom prst="straightConnector1">
            <a:avLst/>
          </a:prstGeom>
          <a:noFill/>
          <a:ln w="28575" cap="flat" cmpd="sng">
            <a:solidFill>
              <a:srgbClr val="3F3F3F"/>
            </a:solidFill>
            <a:prstDash val="solid"/>
            <a:miter lim="800000"/>
            <a:headEnd type="none" w="sm" len="sm"/>
            <a:tailEnd type="none" w="sm" len="sm"/>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l"/>
      </p:transition>
    </mc:Choice>
    <mc:Fallback>
      <p:transition spd="slow" advClick="1">
        <p:push dir="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867632279"/>
                                        </p:tgtEl>
                                        <p:attrNameLst>
                                          <p:attrName>style.visibility</p:attrName>
                                        </p:attrNameLst>
                                      </p:cBhvr>
                                      <p:to>
                                        <p:strVal val="visible"/>
                                      </p:to>
                                    </p:set>
                                    <p:anim calcmode="lin" valueType="num">
                                      <p:cBhvr additive="base">
                                        <p:cTn id="7" dur="500" fill="hold"/>
                                        <p:tgtEl>
                                          <p:spTgt spid="1867632279"/>
                                        </p:tgtEl>
                                        <p:attrNameLst>
                                          <p:attrName>ppt_x</p:attrName>
                                        </p:attrNameLst>
                                      </p:cBhvr>
                                      <p:tavLst>
                                        <p:tav tm="0">
                                          <p:val>
                                            <p:strVal val="#ppt_x"/>
                                          </p:val>
                                        </p:tav>
                                        <p:tav tm="100000">
                                          <p:val>
                                            <p:strVal val="#ppt_x"/>
                                          </p:val>
                                        </p:tav>
                                      </p:tavLst>
                                    </p:anim>
                                    <p:anim calcmode="lin" valueType="num">
                                      <p:cBhvr additive="base">
                                        <p:cTn id="8" dur="500" fill="hold"/>
                                        <p:tgtEl>
                                          <p:spTgt spid="186763227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7632279" grpId="0"/>
    </p:bldLst>
  </p:timing>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52724164" name="Google Shape;1128;p65"/>
          <p:cNvSpPr txBox="1">
            <a:spLocks noGrp="1"/>
          </p:cNvSpPr>
          <p:nvPr>
            <p:ph type="body" idx="1"/>
          </p:nvPr>
        </p:nvSpPr>
        <p:spPr bwMode="auto">
          <a:xfrm>
            <a:off x="3581400" y="3886200"/>
            <a:ext cx="8458200" cy="2678114"/>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Calibri"/>
              <a:buNone/>
              <a:defRPr/>
            </a:pPr>
            <a:r>
              <a:rPr lang="en-US">
                <a:solidFill>
                  <a:schemeClr val="tx1"/>
                </a:solidFill>
              </a:rPr>
              <a:t>1. Plan Cost Management</a:t>
            </a:r>
            <a:endParaRPr>
              <a:solidFill>
                <a:schemeClr val="tx1"/>
              </a:solidFill>
            </a:endParaRPr>
          </a:p>
          <a:p>
            <a:pPr marL="685800" lvl="1" indent="-228600" algn="l" rtl="0">
              <a:lnSpc>
                <a:spcPct val="90000"/>
              </a:lnSpc>
              <a:spcBef>
                <a:spcPts val="500"/>
              </a:spcBef>
              <a:spcAft>
                <a:spcPts val="0"/>
              </a:spcAft>
              <a:buClr>
                <a:schemeClr val="dk1"/>
              </a:buClr>
              <a:buSzPts val="2600"/>
              <a:buChar char="•"/>
              <a:defRPr/>
            </a:pPr>
            <a:r>
              <a:rPr lang="en-US" sz="2600">
                <a:solidFill>
                  <a:schemeClr val="tx1"/>
                </a:solidFill>
              </a:rPr>
              <a:t>Establish the policies, procedures, and documentation for planning, managing, expending, and controlling project costs.</a:t>
            </a:r>
            <a:endParaRPr/>
          </a:p>
          <a:p>
            <a:pPr marL="457200" lvl="1" indent="0" algn="l" rtl="0">
              <a:lnSpc>
                <a:spcPct val="90000"/>
              </a:lnSpc>
              <a:spcBef>
                <a:spcPts val="500"/>
              </a:spcBef>
              <a:spcAft>
                <a:spcPts val="0"/>
              </a:spcAft>
              <a:buClr>
                <a:schemeClr val="dk1"/>
              </a:buClr>
              <a:buSzPts val="2600"/>
              <a:buNone/>
              <a:defRPr/>
            </a:pPr>
            <a:endParaRPr sz="1000">
              <a:solidFill>
                <a:schemeClr val="tx1"/>
              </a:solidFill>
            </a:endParaRPr>
          </a:p>
          <a:p>
            <a:pPr marL="685800" lvl="1" indent="-228600" algn="l" rtl="0">
              <a:lnSpc>
                <a:spcPct val="90000"/>
              </a:lnSpc>
              <a:spcBef>
                <a:spcPts val="500"/>
              </a:spcBef>
              <a:spcAft>
                <a:spcPts val="0"/>
              </a:spcAft>
              <a:buClr>
                <a:schemeClr val="dk1"/>
              </a:buClr>
              <a:buSzPts val="2600"/>
              <a:buChar char="•"/>
              <a:defRPr/>
            </a:pPr>
            <a:r>
              <a:rPr lang="en-US" sz="2600">
                <a:solidFill>
                  <a:schemeClr val="tx1"/>
                </a:solidFill>
              </a:rPr>
              <a:t>Outputs: cost management plan.</a:t>
            </a:r>
            <a:endParaRPr>
              <a:solidFill>
                <a:schemeClr val="tx1"/>
              </a:solidFill>
            </a:endParaRPr>
          </a:p>
        </p:txBody>
      </p:sp>
      <p:sp>
        <p:nvSpPr>
          <p:cNvPr id="526659139" name="Google Shape;1129;p6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70</a:t>
            </a:fld>
            <a:endParaRPr/>
          </a:p>
        </p:txBody>
      </p:sp>
      <p:grpSp>
        <p:nvGrpSpPr>
          <p:cNvPr id="1222685162" name="Google Shape;1130;p65"/>
          <p:cNvGrpSpPr/>
          <p:nvPr/>
        </p:nvGrpSpPr>
        <p:grpSpPr bwMode="auto">
          <a:xfrm>
            <a:off x="3584829" y="2534488"/>
            <a:ext cx="7385413" cy="818311"/>
            <a:chOff x="3429" y="19888"/>
            <a:chExt cx="7385413" cy="818311"/>
          </a:xfrm>
        </p:grpSpPr>
        <p:sp>
          <p:nvSpPr>
            <p:cNvPr id="1131" name="Google Shape;1131;p65"/>
            <p:cNvSpPr/>
            <p:nvPr/>
          </p:nvSpPr>
          <p:spPr bwMode="auto">
            <a:xfrm>
              <a:off x="3429" y="19888"/>
              <a:ext cx="1996057" cy="798423"/>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32" name="Google Shape;1132;p65"/>
            <p:cNvSpPr txBox="1"/>
            <p:nvPr/>
          </p:nvSpPr>
          <p:spPr bwMode="auto">
            <a:xfrm>
              <a:off x="402641" y="19888"/>
              <a:ext cx="1197634" cy="7984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1">
                  <a:solidFill>
                    <a:schemeClr val="lt1"/>
                  </a:solidFill>
                  <a:latin typeface="Calibri"/>
                  <a:ea typeface="Calibri"/>
                  <a:cs typeface="Calibri"/>
                </a:rPr>
                <a:t>1.                   Plan Cost Management</a:t>
              </a:r>
              <a:endParaRPr/>
            </a:p>
          </p:txBody>
        </p:sp>
        <p:sp>
          <p:nvSpPr>
            <p:cNvPr id="1133" name="Google Shape;1133;p65"/>
            <p:cNvSpPr/>
            <p:nvPr/>
          </p:nvSpPr>
          <p:spPr bwMode="auto">
            <a:xfrm>
              <a:off x="1799881" y="19888"/>
              <a:ext cx="1996057" cy="7984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34" name="Google Shape;1134;p65"/>
            <p:cNvSpPr txBox="1"/>
            <p:nvPr/>
          </p:nvSpPr>
          <p:spPr bwMode="auto">
            <a:xfrm>
              <a:off x="2199093" y="19888"/>
              <a:ext cx="1197634" cy="7984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2.            Estimate       Cost</a:t>
              </a:r>
              <a:endParaRPr/>
            </a:p>
          </p:txBody>
        </p:sp>
        <p:sp>
          <p:nvSpPr>
            <p:cNvPr id="1135" name="Google Shape;1135;p65"/>
            <p:cNvSpPr/>
            <p:nvPr/>
          </p:nvSpPr>
          <p:spPr bwMode="auto">
            <a:xfrm>
              <a:off x="3645835" y="39776"/>
              <a:ext cx="1996057" cy="7984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36" name="Google Shape;1136;p65"/>
            <p:cNvSpPr txBox="1"/>
            <p:nvPr/>
          </p:nvSpPr>
          <p:spPr bwMode="auto">
            <a:xfrm>
              <a:off x="4045047" y="39776"/>
              <a:ext cx="1197634" cy="7984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3. </a:t>
              </a:r>
              <a:br>
                <a:rPr lang="en-US" sz="1400">
                  <a:solidFill>
                    <a:schemeClr val="lt1"/>
                  </a:solidFill>
                  <a:latin typeface="Calibri"/>
                  <a:ea typeface="Calibri"/>
                  <a:cs typeface="Calibri"/>
                </a:rPr>
              </a:br>
              <a:r>
                <a:rPr lang="en-US" sz="1400">
                  <a:solidFill>
                    <a:schemeClr val="lt1"/>
                  </a:solidFill>
                  <a:latin typeface="Calibri"/>
                  <a:ea typeface="Calibri"/>
                  <a:cs typeface="Calibri"/>
                </a:rPr>
                <a:t>Determine Budget</a:t>
              </a:r>
              <a:endParaRPr sz="1400">
                <a:solidFill>
                  <a:schemeClr val="lt1"/>
                </a:solidFill>
                <a:latin typeface="Calibri"/>
                <a:ea typeface="Calibri"/>
                <a:cs typeface="Calibri"/>
              </a:endParaRPr>
            </a:p>
          </p:txBody>
        </p:sp>
        <p:sp>
          <p:nvSpPr>
            <p:cNvPr id="1137" name="Google Shape;1137;p65"/>
            <p:cNvSpPr/>
            <p:nvPr/>
          </p:nvSpPr>
          <p:spPr bwMode="auto">
            <a:xfrm>
              <a:off x="5392785" y="19888"/>
              <a:ext cx="1996057" cy="7984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38" name="Google Shape;1138;p65"/>
            <p:cNvSpPr txBox="1"/>
            <p:nvPr/>
          </p:nvSpPr>
          <p:spPr bwMode="auto">
            <a:xfrm>
              <a:off x="5791997" y="19888"/>
              <a:ext cx="1197634" cy="7984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4.</a:t>
              </a:r>
              <a:br>
                <a:rPr lang="en-US" sz="1400">
                  <a:solidFill>
                    <a:schemeClr val="lt1"/>
                  </a:solidFill>
                  <a:latin typeface="Calibri"/>
                  <a:ea typeface="Calibri"/>
                  <a:cs typeface="Calibri"/>
                </a:rPr>
              </a:br>
              <a:r>
                <a:rPr lang="en-US" sz="1400">
                  <a:solidFill>
                    <a:schemeClr val="lt1"/>
                  </a:solidFill>
                  <a:latin typeface="Calibri"/>
                  <a:ea typeface="Calibri"/>
                  <a:cs typeface="Calibri"/>
                </a:rPr>
                <a:t>Control </a:t>
              </a:r>
              <a:br>
                <a:rPr lang="en-US" sz="1400">
                  <a:solidFill>
                    <a:schemeClr val="lt1"/>
                  </a:solidFill>
                  <a:latin typeface="Calibri"/>
                  <a:ea typeface="Calibri"/>
                  <a:cs typeface="Calibri"/>
                </a:rPr>
              </a:br>
              <a:r>
                <a:rPr lang="en-US" sz="1400">
                  <a:solidFill>
                    <a:schemeClr val="lt1"/>
                  </a:solidFill>
                  <a:latin typeface="Calibri"/>
                  <a:ea typeface="Calibri"/>
                  <a:cs typeface="Calibri"/>
                </a:rPr>
                <a:t>Costs</a:t>
              </a:r>
              <a:endParaRPr sz="1400">
                <a:solidFill>
                  <a:schemeClr val="lt1"/>
                </a:solidFill>
                <a:latin typeface="Calibri"/>
                <a:ea typeface="Calibri"/>
                <a:cs typeface="Calibri"/>
              </a:endParaRPr>
            </a:p>
          </p:txBody>
        </p:sp>
      </p:grpSp>
      <p:pic>
        <p:nvPicPr>
          <p:cNvPr id="160651399" name="Google Shape;1139;p65"/>
          <p:cNvPicPr/>
          <p:nvPr/>
        </p:nvPicPr>
        <p:blipFill rotWithShape="1">
          <a:blip r:embed="rId3">
            <a:alphaModFix/>
          </a:blip>
          <a:srcRect l="18279" t="0" r="52832" b="0"/>
          <a:stretch/>
        </p:blipFill>
        <p:spPr bwMode="auto">
          <a:xfrm>
            <a:off x="0" y="0"/>
            <a:ext cx="2971800" cy="6858000"/>
          </a:xfrm>
          <a:prstGeom prst="rect">
            <a:avLst/>
          </a:prstGeom>
          <a:noFill/>
          <a:ln>
            <a:noFill/>
          </a:ln>
        </p:spPr>
      </p:pic>
      <p:sp>
        <p:nvSpPr>
          <p:cNvPr id="1708512498" name="Google Shape;1140;p65"/>
          <p:cNvSpPr txBox="1"/>
          <p:nvPr/>
        </p:nvSpPr>
        <p:spPr bwMode="auto">
          <a:xfrm>
            <a:off x="3429000" y="635524"/>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Cost Management</a:t>
            </a:r>
            <a:endParaRPr sz="4000" b="1">
              <a:solidFill>
                <a:schemeClr val="dk1"/>
              </a:solidFill>
              <a:latin typeface="Calibri"/>
              <a:ea typeface="Calibri"/>
              <a:cs typeface="Calibri"/>
            </a:endParaRPr>
          </a:p>
        </p:txBody>
      </p:sp>
      <p:sp>
        <p:nvSpPr>
          <p:cNvPr id="1977691022" name="Google Shape;1141;p65"/>
          <p:cNvSpPr txBox="1"/>
          <p:nvPr/>
        </p:nvSpPr>
        <p:spPr bwMode="auto">
          <a:xfrm>
            <a:off x="3466228" y="132088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211494471" name="Google Shape;1142;p65"/>
          <p:cNvCxnSpPr/>
          <p:nvPr/>
        </p:nvCxnSpPr>
        <p:spPr bwMode="auto">
          <a:xfrm rot="10800000">
            <a:off x="3581400" y="1794398"/>
            <a:ext cx="1023822" cy="0"/>
          </a:xfrm>
          <a:prstGeom prst="straightConnector1">
            <a:avLst/>
          </a:prstGeom>
          <a:noFill/>
          <a:ln w="28575" cap="flat" cmpd="sng">
            <a:solidFill>
              <a:srgbClr val="3F3F3F"/>
            </a:solidFill>
            <a:prstDash val="solid"/>
            <a:miter lim="800000"/>
            <a:headEnd type="none" w="sm" len="sm"/>
            <a:tailEnd type="none" w="sm" len="sm"/>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252724164">
                                            <p:txEl>
                                              <p:pRg st="0" end="0"/>
                                            </p:txEl>
                                          </p:spTgt>
                                        </p:tgtEl>
                                        <p:attrNameLst>
                                          <p:attrName>style.visibility</p:attrName>
                                        </p:attrNameLst>
                                      </p:cBhvr>
                                      <p:to>
                                        <p:strVal val="visible"/>
                                      </p:to>
                                    </p:set>
                                    <p:animEffect transition="in" filter="wipe(left)">
                                      <p:cBhvr>
                                        <p:cTn id="7" dur="500"/>
                                        <p:tgtEl>
                                          <p:spTgt spid="125272416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69154292" name="Google Shape;1148;p66"/>
          <p:cNvSpPr txBox="1">
            <a:spLocks noGrp="1"/>
          </p:cNvSpPr>
          <p:nvPr>
            <p:ph type="body" idx="1"/>
          </p:nvPr>
        </p:nvSpPr>
        <p:spPr bwMode="auto">
          <a:xfrm>
            <a:off x="3466228" y="1794398"/>
            <a:ext cx="8522368" cy="1665532"/>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ts val="2800"/>
              <a:buFont typeface="Calibri"/>
              <a:buNone/>
              <a:defRPr/>
            </a:pPr>
            <a:r>
              <a:rPr lang="en-US" b="1">
                <a:solidFill>
                  <a:srgbClr val="FF0000"/>
                </a:solidFill>
              </a:rPr>
              <a:t>2. Estimate Cost</a:t>
            </a:r>
            <a:endParaRPr>
              <a:solidFill>
                <a:srgbClr val="FF0000"/>
              </a:solidFill>
            </a:endParaRPr>
          </a:p>
          <a:p>
            <a:pPr marL="685800" lvl="1" indent="-228600" algn="l" rtl="0">
              <a:lnSpc>
                <a:spcPct val="90000"/>
              </a:lnSpc>
              <a:spcBef>
                <a:spcPts val="500"/>
              </a:spcBef>
              <a:spcAft>
                <a:spcPts val="0"/>
              </a:spcAft>
              <a:buClr>
                <a:schemeClr val="dk1"/>
              </a:buClr>
              <a:buSzPts val="2600"/>
              <a:buChar char="•"/>
              <a:defRPr/>
            </a:pPr>
            <a:r>
              <a:rPr lang="en-US" sz="2000"/>
              <a:t>To </a:t>
            </a:r>
            <a:r>
              <a:rPr lang="en-US" sz="2000" b="1"/>
              <a:t>estimate</a:t>
            </a:r>
            <a:r>
              <a:rPr lang="en-US" sz="2000"/>
              <a:t> cost need to know all the resources needed to complete the project - E.g. </a:t>
            </a:r>
            <a:r>
              <a:rPr lang="en-US" sz="2000" b="1" u="sng"/>
              <a:t>people</a:t>
            </a:r>
            <a:r>
              <a:rPr lang="en-US" sz="2000" b="1"/>
              <a:t> , </a:t>
            </a:r>
            <a:r>
              <a:rPr lang="en-US" sz="2000" b="1" u="sng"/>
              <a:t>hardware</a:t>
            </a:r>
            <a:r>
              <a:rPr lang="en-US" sz="2000" b="1"/>
              <a:t>, </a:t>
            </a:r>
            <a:r>
              <a:rPr lang="en-US" sz="2000" b="1" u="sng"/>
              <a:t>software</a:t>
            </a:r>
            <a:r>
              <a:rPr lang="en-US" sz="2000"/>
              <a:t>, </a:t>
            </a:r>
            <a:r>
              <a:rPr lang="en-US" sz="2000"/>
              <a:t>etc</a:t>
            </a:r>
            <a:r>
              <a:rPr lang="en-US" sz="2000"/>
              <a:t> </a:t>
            </a:r>
            <a:endParaRPr/>
          </a:p>
          <a:p>
            <a:pPr marL="685800" lvl="1" indent="-228600" algn="l" rtl="0">
              <a:lnSpc>
                <a:spcPct val="90000"/>
              </a:lnSpc>
              <a:spcBef>
                <a:spcPts val="500"/>
              </a:spcBef>
              <a:spcAft>
                <a:spcPts val="0"/>
              </a:spcAft>
              <a:buClr>
                <a:schemeClr val="dk1"/>
              </a:buClr>
              <a:buSzPts val="2600"/>
              <a:buChar char="•"/>
              <a:defRPr/>
            </a:pPr>
            <a:endParaRPr lang="en-US" sz="2000" b="1"/>
          </a:p>
          <a:p>
            <a:pPr marL="685800" lvl="1" indent="-228600" algn="l" rtl="0">
              <a:lnSpc>
                <a:spcPct val="90000"/>
              </a:lnSpc>
              <a:spcBef>
                <a:spcPts val="1200"/>
              </a:spcBef>
              <a:spcAft>
                <a:spcPts val="0"/>
              </a:spcAft>
              <a:buClr>
                <a:schemeClr val="dk1"/>
              </a:buClr>
              <a:buSzPts val="2600"/>
              <a:buChar char="•"/>
              <a:defRPr/>
            </a:pPr>
            <a:r>
              <a:rPr lang="en-US" sz="2000" b="1">
                <a:solidFill>
                  <a:srgbClr val="FF0000"/>
                </a:solidFill>
              </a:rPr>
              <a:t>Outputs</a:t>
            </a:r>
            <a:r>
              <a:rPr lang="en-US" sz="2000"/>
              <a:t>: </a:t>
            </a:r>
            <a:r>
              <a:rPr lang="en-US" sz="2000" b="1" strike="sngStrike"/>
              <a:t>activity</a:t>
            </a:r>
            <a:r>
              <a:rPr lang="en-US" sz="2000" b="1"/>
              <a:t> cost estimates &amp; </a:t>
            </a:r>
            <a:r>
              <a:rPr lang="en-US" sz="2000" b="1" u="sng"/>
              <a:t>basis</a:t>
            </a:r>
            <a:r>
              <a:rPr lang="en-US" sz="2000" b="1"/>
              <a:t> of estimates</a:t>
            </a:r>
            <a:endParaRPr sz="2000" b="1"/>
          </a:p>
        </p:txBody>
      </p:sp>
      <p:sp>
        <p:nvSpPr>
          <p:cNvPr id="474665022" name="Google Shape;1149;p66"/>
          <p:cNvSpPr txBox="1">
            <a:spLocks noGrp="1"/>
          </p:cNvSpPr>
          <p:nvPr>
            <p:ph type="sldNum" idx="12"/>
          </p:nvPr>
        </p:nvSpPr>
        <p:spPr bwMode="auto">
          <a:xfrm>
            <a:off x="8554278" y="5133636"/>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71</a:t>
            </a:fld>
            <a:endParaRPr/>
          </a:p>
        </p:txBody>
      </p:sp>
      <p:pic>
        <p:nvPicPr>
          <p:cNvPr id="1499156423" name="Google Shape;1159;p66"/>
          <p:cNvPicPr/>
          <p:nvPr/>
        </p:nvPicPr>
        <p:blipFill rotWithShape="1">
          <a:blip r:embed="rId3">
            <a:alphaModFix/>
          </a:blip>
          <a:srcRect l="18279" t="0" r="52832" b="0"/>
          <a:stretch/>
        </p:blipFill>
        <p:spPr bwMode="auto">
          <a:xfrm>
            <a:off x="0" y="0"/>
            <a:ext cx="2971800" cy="6858000"/>
          </a:xfrm>
          <a:prstGeom prst="rect">
            <a:avLst/>
          </a:prstGeom>
          <a:noFill/>
          <a:ln>
            <a:noFill/>
          </a:ln>
        </p:spPr>
      </p:pic>
      <p:sp>
        <p:nvSpPr>
          <p:cNvPr id="1677898263" name="Google Shape;1160;p66"/>
          <p:cNvSpPr txBox="1"/>
          <p:nvPr/>
        </p:nvSpPr>
        <p:spPr bwMode="auto">
          <a:xfrm>
            <a:off x="3429000" y="635524"/>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Cost Management</a:t>
            </a:r>
            <a:endParaRPr sz="4000" b="1">
              <a:solidFill>
                <a:schemeClr val="dk1"/>
              </a:solidFill>
              <a:latin typeface="Calibri"/>
              <a:ea typeface="Calibri"/>
              <a:cs typeface="Calibri"/>
            </a:endParaRPr>
          </a:p>
        </p:txBody>
      </p:sp>
      <p:sp>
        <p:nvSpPr>
          <p:cNvPr id="1040805551" name="Google Shape;1161;p66"/>
          <p:cNvSpPr txBox="1"/>
          <p:nvPr/>
        </p:nvSpPr>
        <p:spPr bwMode="auto">
          <a:xfrm>
            <a:off x="3466228" y="132088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596075200" name="Google Shape;1162;p66"/>
          <p:cNvCxnSpPr/>
          <p:nvPr/>
        </p:nvCxnSpPr>
        <p:spPr bwMode="auto">
          <a:xfrm rot="10800000">
            <a:off x="3581400" y="1794398"/>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95214124" name="Picture 3"/>
          <p:cNvPicPr>
            <a:picLocks noChangeAspect="1"/>
          </p:cNvPicPr>
          <p:nvPr/>
        </p:nvPicPr>
        <p:blipFill rotWithShape="1">
          <a:blip r:embed="rId4"/>
          <a:srcRect l="1884" t="26166" r="3332" b="26164"/>
          <a:stretch/>
        </p:blipFill>
        <p:spPr bwMode="auto">
          <a:xfrm>
            <a:off x="3525078" y="3480150"/>
            <a:ext cx="8666922" cy="3269203"/>
          </a:xfrm>
          <a:prstGeom prst="rect">
            <a:avLst/>
          </a:prstGeom>
          <a:ln w="28575">
            <a:noFill/>
          </a:ln>
        </p:spPr>
      </p:pic>
      <p:sp>
        <p:nvSpPr>
          <p:cNvPr id="855163759" name="Speech Bubble: Rectangle with Corners Rounded 2"/>
          <p:cNvSpPr/>
          <p:nvPr/>
        </p:nvSpPr>
        <p:spPr bwMode="auto">
          <a:xfrm>
            <a:off x="10014778" y="2915599"/>
            <a:ext cx="2070317" cy="672550"/>
          </a:xfrm>
          <a:prstGeom prst="wedgeRoundRectCallout">
            <a:avLst>
              <a:gd name="adj1" fmla="val -72738"/>
              <a:gd name="adj2" fmla="val -371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MY" sz="1400" i="1"/>
              <a:t>(The </a:t>
            </a:r>
            <a:r>
              <a:rPr lang="en-MY" sz="1400" b="1" i="1"/>
              <a:t>assumptions</a:t>
            </a:r>
            <a:r>
              <a:rPr lang="en-MY" sz="1400" i="1"/>
              <a:t> made when preparing the costs estimate)</a:t>
            </a:r>
            <a:endParaRPr/>
          </a:p>
        </p:txBody>
      </p:sp>
      <p:sp>
        <p:nvSpPr>
          <p:cNvPr id="591700376" name="Rectangle 4"/>
          <p:cNvSpPr/>
          <p:nvPr/>
        </p:nvSpPr>
        <p:spPr bwMode="auto">
          <a:xfrm>
            <a:off x="5330213" y="4036267"/>
            <a:ext cx="6116354" cy="25021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1620236479" name="Left Brace 1"/>
          <p:cNvSpPr/>
          <p:nvPr/>
        </p:nvSpPr>
        <p:spPr bwMode="auto">
          <a:xfrm>
            <a:off x="2902226" y="3884220"/>
            <a:ext cx="622852" cy="2654184"/>
          </a:xfrm>
          <a:prstGeom prst="leftBrace">
            <a:avLst>
              <a:gd name="adj1" fmla="val 30673"/>
              <a:gd name="adj2" fmla="val 50000"/>
            </a:avLst>
          </a:prstGeom>
          <a:ln w="28575">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MY"/>
          </a:p>
        </p:txBody>
      </p:sp>
      <p:sp>
        <p:nvSpPr>
          <p:cNvPr id="1205503843" name="TextBox 5"/>
          <p:cNvSpPr txBox="1"/>
          <p:nvPr/>
        </p:nvSpPr>
        <p:spPr bwMode="auto">
          <a:xfrm>
            <a:off x="1459397" y="4611147"/>
            <a:ext cx="1394792" cy="1200329"/>
          </a:xfrm>
          <a:prstGeom prst="rect">
            <a:avLst/>
          </a:prstGeom>
          <a:solidFill>
            <a:schemeClr val="accent1">
              <a:lumMod val="20000"/>
              <a:lumOff val="80000"/>
            </a:schemeClr>
          </a:solidFill>
          <a:ln>
            <a:noFill/>
          </a:ln>
        </p:spPr>
        <p:txBody>
          <a:bodyPr wrap="square" rtlCol="0">
            <a:spAutoFit/>
          </a:bodyPr>
          <a:lstStyle/>
          <a:p>
            <a:pPr>
              <a:defRPr/>
            </a:pPr>
            <a:r>
              <a:rPr lang="en-MY" sz="2400">
                <a:solidFill>
                  <a:srgbClr val="0000FF"/>
                </a:solidFill>
              </a:rPr>
              <a:t>Cost item by category</a:t>
            </a:r>
            <a:endParaRPr/>
          </a:p>
        </p:txBody>
      </p:sp>
      <p:cxnSp>
        <p:nvCxnSpPr>
          <p:cNvPr id="1614973672" name="Straight Connector 7"/>
          <p:cNvCxnSpPr/>
          <p:nvPr/>
        </p:nvCxnSpPr>
        <p:spPr bwMode="auto">
          <a:xfrm>
            <a:off x="6659217" y="3680712"/>
            <a:ext cx="725557"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249263460" name="Rectangle 6"/>
          <p:cNvSpPr/>
          <p:nvPr/>
        </p:nvSpPr>
        <p:spPr bwMode="auto">
          <a:xfrm>
            <a:off x="11446567" y="3675223"/>
            <a:ext cx="622852" cy="20899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1110664891" name="Rectangle 8"/>
          <p:cNvSpPr/>
          <p:nvPr/>
        </p:nvSpPr>
        <p:spPr bwMode="auto">
          <a:xfrm>
            <a:off x="4175966" y="6570153"/>
            <a:ext cx="622852" cy="13391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570144351" name="Rectangle 9"/>
          <p:cNvSpPr/>
          <p:nvPr/>
        </p:nvSpPr>
        <p:spPr bwMode="auto">
          <a:xfrm>
            <a:off x="3608694" y="3879877"/>
            <a:ext cx="1587421" cy="265418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923579906" name="TextBox 10"/>
          <p:cNvSpPr txBox="1"/>
          <p:nvPr/>
        </p:nvSpPr>
        <p:spPr bwMode="auto">
          <a:xfrm>
            <a:off x="5003800" y="2607821"/>
            <a:ext cx="5709478" cy="307777"/>
          </a:xfrm>
          <a:prstGeom prst="rect">
            <a:avLst/>
          </a:prstGeom>
          <a:noFill/>
        </p:spPr>
        <p:txBody>
          <a:bodyPr wrap="square" rtlCol="0">
            <a:spAutoFit/>
          </a:bodyPr>
          <a:lstStyle/>
          <a:p>
            <a:pPr marL="0" lvl="0" indent="0">
              <a:lnSpc>
                <a:spcPct val="100000"/>
              </a:lnSpc>
              <a:spcBef>
                <a:spcPts val="0"/>
              </a:spcBef>
              <a:spcAft>
                <a:spcPts val="0"/>
              </a:spcAft>
              <a:buClrTx/>
              <a:buSzTx/>
              <a:defRPr/>
            </a:pPr>
            <a:r>
              <a:rPr lang="en-US" b="1" i="1"/>
              <a:t>(mentioned also the quantity of each resource needed)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069154292">
                                            <p:txEl>
                                              <p:pRg st="0" end="0"/>
                                            </p:txEl>
                                          </p:spTgt>
                                        </p:tgtEl>
                                        <p:attrNameLst>
                                          <p:attrName>style.visibility</p:attrName>
                                        </p:attrNameLst>
                                      </p:cBhvr>
                                      <p:to>
                                        <p:strVal val="visible"/>
                                      </p:to>
                                    </p:set>
                                    <p:animEffect transition="in" filter="wipe(left)">
                                      <p:cBhvr>
                                        <p:cTn id="7" dur="500"/>
                                        <p:tgtEl>
                                          <p:spTgt spid="10691542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3579906"/>
                                        </p:tgtEl>
                                        <p:attrNameLst>
                                          <p:attrName>style.visibility</p:attrName>
                                        </p:attrNameLst>
                                      </p:cBhvr>
                                      <p:to>
                                        <p:strVal val="visible"/>
                                      </p:to>
                                    </p:set>
                                    <p:animEffect transition="in" filter="wipe(left)">
                                      <p:cBhvr>
                                        <p:cTn id="12" dur="500"/>
                                        <p:tgtEl>
                                          <p:spTgt spid="92357990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69154292">
                                            <p:txEl>
                                              <p:pRg st="3" end="3"/>
                                            </p:txEl>
                                          </p:spTgt>
                                        </p:tgtEl>
                                        <p:attrNameLst>
                                          <p:attrName>style.visibility</p:attrName>
                                        </p:attrNameLst>
                                      </p:cBhvr>
                                      <p:to>
                                        <p:strVal val="visible"/>
                                      </p:to>
                                    </p:set>
                                    <p:animEffect transition="in" filter="wipe(left)">
                                      <p:cBhvr>
                                        <p:cTn id="17" dur="500"/>
                                        <p:tgtEl>
                                          <p:spTgt spid="106915429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95214124"/>
                                        </p:tgtEl>
                                        <p:attrNameLst>
                                          <p:attrName>style.visibility</p:attrName>
                                        </p:attrNameLst>
                                      </p:cBhvr>
                                      <p:to>
                                        <p:strVal val="visible"/>
                                      </p:to>
                                    </p:set>
                                    <p:anim calcmode="lin" valueType="num">
                                      <p:cBhvr additive="base">
                                        <p:cTn id="22" dur="500" fill="hold"/>
                                        <p:tgtEl>
                                          <p:spTgt spid="95214124"/>
                                        </p:tgtEl>
                                        <p:attrNameLst>
                                          <p:attrName>ppt_x</p:attrName>
                                        </p:attrNameLst>
                                      </p:cBhvr>
                                      <p:tavLst>
                                        <p:tav tm="0">
                                          <p:val>
                                            <p:strVal val="#ppt_x"/>
                                          </p:val>
                                        </p:tav>
                                        <p:tav tm="100000">
                                          <p:val>
                                            <p:strVal val="#ppt_x"/>
                                          </p:val>
                                        </p:tav>
                                      </p:tavLst>
                                    </p:anim>
                                    <p:anim calcmode="lin" valueType="num">
                                      <p:cBhvr additive="base">
                                        <p:cTn id="23" dur="500" fill="hold"/>
                                        <p:tgtEl>
                                          <p:spTgt spid="95214124"/>
                                        </p:tgtEl>
                                        <p:attrNameLst>
                                          <p:attrName>ppt_y</p:attrName>
                                        </p:attrNameLst>
                                      </p:cBhvr>
                                      <p:tavLst>
                                        <p:tav tm="0">
                                          <p:val>
                                            <p:strVal val="1+#ppt_h/2"/>
                                          </p:val>
                                        </p:tav>
                                        <p:tav tm="100000">
                                          <p:val>
                                            <p:strVal val="#ppt_y"/>
                                          </p:val>
                                        </p:tav>
                                      </p:tavLst>
                                    </p:anim>
                                  </p:childTnLst>
                                </p:cTn>
                              </p:par>
                              <p:par>
                                <p:cTn id="24" presetID="22" presetClass="entr" presetSubtype="8" fill="hold" nodeType="withEffect">
                                  <p:stCondLst>
                                    <p:cond delay="0"/>
                                  </p:stCondLst>
                                  <p:childTnLst>
                                    <p:set>
                                      <p:cBhvr>
                                        <p:cTn id="25" dur="1" fill="hold">
                                          <p:stCondLst>
                                            <p:cond delay="0"/>
                                          </p:stCondLst>
                                        </p:cTn>
                                        <p:tgtEl>
                                          <p:spTgt spid="1614973672"/>
                                        </p:tgtEl>
                                        <p:attrNameLst>
                                          <p:attrName>style.visibility</p:attrName>
                                        </p:attrNameLst>
                                      </p:cBhvr>
                                      <p:to>
                                        <p:strVal val="visible"/>
                                      </p:to>
                                    </p:set>
                                    <p:animEffect transition="in" filter="wipe(left)">
                                      <p:cBhvr>
                                        <p:cTn id="26" dur="500"/>
                                        <p:tgtEl>
                                          <p:spTgt spid="161497367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70144351"/>
                                        </p:tgtEl>
                                        <p:attrNameLst>
                                          <p:attrName>style.visibility</p:attrName>
                                        </p:attrNameLst>
                                      </p:cBhvr>
                                      <p:to>
                                        <p:strVal val="visible"/>
                                      </p:to>
                                    </p:set>
                                    <p:animEffect transition="in" filter="wipe(left)">
                                      <p:cBhvr>
                                        <p:cTn id="31" dur="500"/>
                                        <p:tgtEl>
                                          <p:spTgt spid="57014435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20236479"/>
                                        </p:tgtEl>
                                        <p:attrNameLst>
                                          <p:attrName>style.visibility</p:attrName>
                                        </p:attrNameLst>
                                      </p:cBhvr>
                                      <p:to>
                                        <p:strVal val="visible"/>
                                      </p:to>
                                    </p:set>
                                    <p:animEffect transition="in" filter="wipe(left)">
                                      <p:cBhvr>
                                        <p:cTn id="36" dur="500"/>
                                        <p:tgtEl>
                                          <p:spTgt spid="1620236479"/>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205503843"/>
                                        </p:tgtEl>
                                        <p:attrNameLst>
                                          <p:attrName>style.visibility</p:attrName>
                                        </p:attrNameLst>
                                      </p:cBhvr>
                                      <p:to>
                                        <p:strVal val="visible"/>
                                      </p:to>
                                    </p:set>
                                    <p:animEffect transition="in" filter="wipe(left)">
                                      <p:cBhvr>
                                        <p:cTn id="39" dur="500"/>
                                        <p:tgtEl>
                                          <p:spTgt spid="120550384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591700376"/>
                                        </p:tgtEl>
                                        <p:attrNameLst>
                                          <p:attrName>style.visibility</p:attrName>
                                        </p:attrNameLst>
                                      </p:cBhvr>
                                      <p:to>
                                        <p:strVal val="visible"/>
                                      </p:to>
                                    </p:set>
                                    <p:animEffect transition="in" filter="wipe(left)">
                                      <p:cBhvr>
                                        <p:cTn id="44" dur="500"/>
                                        <p:tgtEl>
                                          <p:spTgt spid="59170037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249263460"/>
                                        </p:tgtEl>
                                        <p:attrNameLst>
                                          <p:attrName>style.visibility</p:attrName>
                                        </p:attrNameLst>
                                      </p:cBhvr>
                                      <p:to>
                                        <p:strVal val="visible"/>
                                      </p:to>
                                    </p:set>
                                    <p:animEffect transition="in" filter="wipe(left)">
                                      <p:cBhvr>
                                        <p:cTn id="49" dur="500"/>
                                        <p:tgtEl>
                                          <p:spTgt spid="124926346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110664891"/>
                                        </p:tgtEl>
                                        <p:attrNameLst>
                                          <p:attrName>style.visibility</p:attrName>
                                        </p:attrNameLst>
                                      </p:cBhvr>
                                      <p:to>
                                        <p:strVal val="visible"/>
                                      </p:to>
                                    </p:set>
                                    <p:animEffect transition="in" filter="wipe(left)">
                                      <p:cBhvr>
                                        <p:cTn id="54" dur="500"/>
                                        <p:tgtEl>
                                          <p:spTgt spid="111066489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grpId="0" nodeType="clickEffect">
                                  <p:stCondLst>
                                    <p:cond delay="0"/>
                                  </p:stCondLst>
                                  <p:childTnLst>
                                    <p:set>
                                      <p:cBhvr>
                                        <p:cTn id="58" dur="1" fill="hold">
                                          <p:stCondLst>
                                            <p:cond delay="0"/>
                                          </p:stCondLst>
                                        </p:cTn>
                                        <p:tgtEl>
                                          <p:spTgt spid="855163759"/>
                                        </p:tgtEl>
                                        <p:attrNameLst>
                                          <p:attrName>style.visibility</p:attrName>
                                        </p:attrNameLst>
                                      </p:cBhvr>
                                      <p:to>
                                        <p:strVal val="visible"/>
                                      </p:to>
                                    </p:set>
                                    <p:animEffect transition="in" filter="wipe(right)">
                                      <p:cBhvr>
                                        <p:cTn id="59" dur="500"/>
                                        <p:tgtEl>
                                          <p:spTgt spid="8551637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5163759" grpId="0" animBg="1"/>
      <p:bldP spid="591700376" grpId="0" animBg="1"/>
      <p:bldP spid="1620236479" grpId="0" animBg="1"/>
      <p:bldP spid="1205503843" grpId="0" animBg="1"/>
      <p:bldP spid="1249263460" grpId="0" animBg="1"/>
      <p:bldP spid="1110664891" grpId="0" animBg="1"/>
      <p:bldP spid="570144351" grpId="0" animBg="1"/>
      <p:bldP spid="923579906" grpId="0"/>
    </p:bldLst>
  </p:timing>
</p:sld>
</file>

<file path=ppt/slides/slide7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51274898" name="Google Shape;1169;p6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72</a:t>
            </a:fld>
            <a:endParaRPr/>
          </a:p>
        </p:txBody>
      </p:sp>
      <p:pic>
        <p:nvPicPr>
          <p:cNvPr id="1883774207" name="Google Shape;1179;p67"/>
          <p:cNvPicPr/>
          <p:nvPr/>
        </p:nvPicPr>
        <p:blipFill rotWithShape="1">
          <a:blip r:embed="rId3">
            <a:alphaModFix/>
          </a:blip>
          <a:srcRect l="18279" t="0" r="52832" b="0"/>
          <a:stretch/>
        </p:blipFill>
        <p:spPr bwMode="auto">
          <a:xfrm>
            <a:off x="0" y="0"/>
            <a:ext cx="2971800" cy="6858000"/>
          </a:xfrm>
          <a:prstGeom prst="rect">
            <a:avLst/>
          </a:prstGeom>
          <a:noFill/>
          <a:ln>
            <a:noFill/>
          </a:ln>
        </p:spPr>
      </p:pic>
      <p:sp>
        <p:nvSpPr>
          <p:cNvPr id="275701212" name="Google Shape;1180;p67"/>
          <p:cNvSpPr txBox="1"/>
          <p:nvPr/>
        </p:nvSpPr>
        <p:spPr bwMode="auto">
          <a:xfrm>
            <a:off x="3429000" y="635524"/>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Cost Management</a:t>
            </a:r>
            <a:endParaRPr sz="4000" b="1">
              <a:solidFill>
                <a:schemeClr val="dk1"/>
              </a:solidFill>
              <a:latin typeface="Calibri"/>
              <a:ea typeface="Calibri"/>
              <a:cs typeface="Calibri"/>
            </a:endParaRPr>
          </a:p>
        </p:txBody>
      </p:sp>
      <p:sp>
        <p:nvSpPr>
          <p:cNvPr id="569206292" name="Google Shape;1168;p67"/>
          <p:cNvSpPr txBox="1">
            <a:spLocks noGrp="1"/>
          </p:cNvSpPr>
          <p:nvPr>
            <p:ph type="body" idx="1"/>
          </p:nvPr>
        </p:nvSpPr>
        <p:spPr bwMode="auto">
          <a:xfrm>
            <a:off x="433811" y="5026959"/>
            <a:ext cx="8666921" cy="1661346"/>
          </a:xfrm>
          <a:prstGeom prst="rect">
            <a:avLst/>
          </a:prstGeom>
          <a:solidFill>
            <a:schemeClr val="bg1"/>
          </a:solid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ct val="100000"/>
              <a:buFont typeface="Calibri"/>
              <a:buNone/>
              <a:defRPr/>
            </a:pPr>
            <a:r>
              <a:rPr lang="en-US">
                <a:solidFill>
                  <a:srgbClr val="FF0000"/>
                </a:solidFill>
              </a:rPr>
              <a:t>3. Determine Budget</a:t>
            </a:r>
            <a:endParaRPr>
              <a:solidFill>
                <a:srgbClr val="FF0000"/>
              </a:solidFill>
            </a:endParaRPr>
          </a:p>
          <a:p>
            <a:pPr marL="228600" indent="-228600">
              <a:spcBef>
                <a:spcPts val="2000"/>
              </a:spcBef>
              <a:buSzPct val="100000"/>
              <a:defRPr/>
            </a:pPr>
            <a:r>
              <a:rPr lang="en-US" sz="2200"/>
              <a:t>Aggregate the estimated costs of individual activities or work packages to establish an authorized cost baseline. </a:t>
            </a:r>
            <a:endParaRPr sz="2200"/>
          </a:p>
          <a:p>
            <a:pPr marL="228600" indent="-228600">
              <a:spcBef>
                <a:spcPts val="500"/>
              </a:spcBef>
              <a:buSzPct val="100000"/>
              <a:defRPr/>
            </a:pPr>
            <a:r>
              <a:rPr lang="en-US" sz="2200">
                <a:solidFill>
                  <a:schemeClr val="tx1"/>
                </a:solidFill>
              </a:rPr>
              <a:t>Main outputs: cost baseline</a:t>
            </a:r>
            <a:r>
              <a:rPr lang="en-US" sz="2200" i="1">
                <a:solidFill>
                  <a:schemeClr val="tx1"/>
                </a:solidFill>
              </a:rPr>
              <a:t>(approved budget)</a:t>
            </a:r>
            <a:r>
              <a:rPr lang="en-US" sz="2200">
                <a:solidFill>
                  <a:schemeClr val="tx1"/>
                </a:solidFill>
              </a:rPr>
              <a:t>, project funding </a:t>
            </a:r>
            <a:r>
              <a:rPr lang="en-US" sz="2200">
                <a:solidFill>
                  <a:schemeClr val="tx1"/>
                </a:solidFill>
              </a:rPr>
              <a:t>reqs</a:t>
            </a:r>
            <a:endParaRPr sz="2200">
              <a:solidFill>
                <a:schemeClr val="tx1"/>
              </a:solidFill>
            </a:endParaRPr>
          </a:p>
        </p:txBody>
      </p:sp>
      <p:sp>
        <p:nvSpPr>
          <p:cNvPr id="1989304741" name="Google Shape;1181;p67"/>
          <p:cNvSpPr txBox="1"/>
          <p:nvPr/>
        </p:nvSpPr>
        <p:spPr bwMode="auto">
          <a:xfrm>
            <a:off x="3466228" y="132088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325396951" name="Google Shape;1182;p67"/>
          <p:cNvCxnSpPr/>
          <p:nvPr/>
        </p:nvCxnSpPr>
        <p:spPr bwMode="auto">
          <a:xfrm rot="10800000">
            <a:off x="3581400" y="1794398"/>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778462043" name="Group 2"/>
          <p:cNvGrpSpPr/>
          <p:nvPr/>
        </p:nvGrpSpPr>
        <p:grpSpPr bwMode="auto">
          <a:xfrm>
            <a:off x="454306" y="1674825"/>
            <a:ext cx="8666922" cy="3269203"/>
            <a:chOff x="3525078" y="3480150"/>
            <a:chExt cx="8666922" cy="3269203"/>
          </a:xfrm>
        </p:grpSpPr>
        <p:pic>
          <p:nvPicPr>
            <p:cNvPr id="12" name="Picture 11"/>
            <p:cNvPicPr>
              <a:picLocks noChangeAspect="1"/>
            </p:cNvPicPr>
            <p:nvPr/>
          </p:nvPicPr>
          <p:blipFill rotWithShape="1">
            <a:blip r:embed="rId4"/>
            <a:srcRect l="1884" t="26166" r="3332" b="26164"/>
            <a:stretch/>
          </p:blipFill>
          <p:spPr bwMode="auto">
            <a:xfrm>
              <a:off x="3525078" y="3480150"/>
              <a:ext cx="8666922" cy="3269203"/>
            </a:xfrm>
            <a:prstGeom prst="rect">
              <a:avLst/>
            </a:prstGeom>
            <a:ln w="28575">
              <a:noFill/>
            </a:ln>
          </p:spPr>
        </p:pic>
        <p:cxnSp>
          <p:nvCxnSpPr>
            <p:cNvPr id="15" name="Straight Connector 14"/>
            <p:cNvCxnSpPr/>
            <p:nvPr/>
          </p:nvCxnSpPr>
          <p:spPr bwMode="auto">
            <a:xfrm>
              <a:off x="5361126" y="3901944"/>
              <a:ext cx="6116354"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2" name="Rectangle 1"/>
            <p:cNvSpPr/>
            <p:nvPr/>
          </p:nvSpPr>
          <p:spPr bwMode="auto">
            <a:xfrm>
              <a:off x="5334000" y="6530009"/>
              <a:ext cx="6143480" cy="175591"/>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8" name="Rectangle 7"/>
            <p:cNvSpPr/>
            <p:nvPr/>
          </p:nvSpPr>
          <p:spPr bwMode="auto">
            <a:xfrm>
              <a:off x="11477480" y="4043359"/>
              <a:ext cx="618022" cy="2453480"/>
            </a:xfrm>
            <a:prstGeom prst="rect">
              <a:avLst/>
            </a:prstGeom>
            <a:no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grpSp>
      <p:sp>
        <p:nvSpPr>
          <p:cNvPr id="917755151" name="Rectangle: Rounded Corners 6"/>
          <p:cNvSpPr/>
          <p:nvPr/>
        </p:nvSpPr>
        <p:spPr bwMode="auto">
          <a:xfrm>
            <a:off x="3429000" y="1674825"/>
            <a:ext cx="1023822" cy="203670"/>
          </a:xfrm>
          <a:prstGeom prst="roundRect">
            <a:avLst>
              <a:gd name="adj" fmla="val 16667"/>
            </a:avLst>
          </a:prstGeom>
          <a:noFill/>
          <a:ln w="5715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60949887" name="TextBox 9"/>
          <p:cNvSpPr txBox="1"/>
          <p:nvPr/>
        </p:nvSpPr>
        <p:spPr bwMode="auto">
          <a:xfrm>
            <a:off x="9147313" y="1815774"/>
            <a:ext cx="2584174" cy="1015663"/>
          </a:xfrm>
          <a:prstGeom prst="rect">
            <a:avLst/>
          </a:prstGeom>
          <a:noFill/>
        </p:spPr>
        <p:txBody>
          <a:bodyPr wrap="square" rtlCol="0">
            <a:spAutoFit/>
          </a:bodyPr>
          <a:lstStyle/>
          <a:p>
            <a:pPr>
              <a:defRPr/>
            </a:pPr>
            <a:r>
              <a:rPr lang="en-MY" sz="2000" b="1">
                <a:solidFill>
                  <a:srgbClr val="0000FF"/>
                </a:solidFill>
              </a:rPr>
              <a:t>COST</a:t>
            </a:r>
            <a:r>
              <a:rPr lang="en-MY" sz="2000"/>
              <a:t> </a:t>
            </a:r>
            <a:r>
              <a:rPr lang="en-MY" sz="2000">
                <a:solidFill>
                  <a:srgbClr val="0000FF"/>
                </a:solidFill>
              </a:rPr>
              <a:t>= forecasted amount to pay to complete a project</a:t>
            </a:r>
            <a:endParaRPr/>
          </a:p>
        </p:txBody>
      </p:sp>
      <p:sp>
        <p:nvSpPr>
          <p:cNvPr id="847197191" name="TextBox 10"/>
          <p:cNvSpPr txBox="1"/>
          <p:nvPr/>
        </p:nvSpPr>
        <p:spPr bwMode="auto">
          <a:xfrm>
            <a:off x="3581400" y="5041473"/>
            <a:ext cx="8321298" cy="677108"/>
          </a:xfrm>
          <a:prstGeom prst="rect">
            <a:avLst/>
          </a:prstGeom>
          <a:noFill/>
        </p:spPr>
        <p:txBody>
          <a:bodyPr wrap="square" rtlCol="0">
            <a:spAutoFit/>
          </a:bodyPr>
          <a:lstStyle/>
          <a:p>
            <a:pPr marL="3048000" indent="-3048000">
              <a:defRPr/>
            </a:pPr>
            <a:r>
              <a:rPr lang="en-MY" sz="2000" b="1">
                <a:solidFill>
                  <a:srgbClr val="0000FF"/>
                </a:solidFill>
              </a:rPr>
              <a:t>(BUDGET</a:t>
            </a:r>
            <a:r>
              <a:rPr lang="en-MY" sz="2000">
                <a:solidFill>
                  <a:srgbClr val="0000FF"/>
                </a:solidFill>
              </a:rPr>
              <a:t> ≈ spending plan </a:t>
            </a:r>
            <a:r>
              <a:rPr lang="en-MY" sz="1800" i="1">
                <a:solidFill>
                  <a:srgbClr val="0000FF"/>
                </a:solidFill>
              </a:rPr>
              <a:t>(anticipated amount of $ to spend from time to time to complete a project) </a:t>
            </a:r>
            <a:endParaRPr/>
          </a:p>
        </p:txBody>
      </p:sp>
      <p:cxnSp>
        <p:nvCxnSpPr>
          <p:cNvPr id="1249967902" name="Straight Connector 16"/>
          <p:cNvCxnSpPr/>
          <p:nvPr/>
        </p:nvCxnSpPr>
        <p:spPr bwMode="auto">
          <a:xfrm>
            <a:off x="2390972" y="2399960"/>
            <a:ext cx="5924353"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33612868" name="Straight Connector 18"/>
          <p:cNvCxnSpPr/>
          <p:nvPr/>
        </p:nvCxnSpPr>
        <p:spPr bwMode="auto">
          <a:xfrm>
            <a:off x="3685663" y="3078140"/>
            <a:ext cx="991112"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36645310" name="Straight Connector 20"/>
          <p:cNvCxnSpPr/>
          <p:nvPr/>
        </p:nvCxnSpPr>
        <p:spPr bwMode="auto">
          <a:xfrm>
            <a:off x="3671260" y="3234792"/>
            <a:ext cx="991112"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295886780" name="Straight Connector 21"/>
          <p:cNvCxnSpPr/>
          <p:nvPr/>
        </p:nvCxnSpPr>
        <p:spPr bwMode="auto">
          <a:xfrm>
            <a:off x="2694551" y="3742792"/>
            <a:ext cx="3604649"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90959637" name="Straight Connector 23"/>
          <p:cNvCxnSpPr/>
          <p:nvPr/>
        </p:nvCxnSpPr>
        <p:spPr bwMode="auto">
          <a:xfrm>
            <a:off x="3180326" y="3895192"/>
            <a:ext cx="3118874"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809940669" name="Straight Connector 27"/>
          <p:cNvCxnSpPr/>
          <p:nvPr/>
        </p:nvCxnSpPr>
        <p:spPr bwMode="auto">
          <a:xfrm>
            <a:off x="6318606" y="4390492"/>
            <a:ext cx="577494"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595809559" name="Straight Connector 4">
            <a:hlinkClick r:id="rId5" action="ppaction://hlinkfile"/>
          </p:cNvPr>
          <p:cNvCxnSpPr/>
          <p:nvPr/>
        </p:nvCxnSpPr>
        <p:spPr bwMode="auto">
          <a:xfrm>
            <a:off x="9360658" y="6470650"/>
            <a:ext cx="375271"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Bar dir="vert"/>
      </p:transition>
    </mc:Choice>
    <mc:Fallback>
      <p:transition spd="med" advClick="1">
        <p:randomBar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17755151"/>
                                        </p:tgtEl>
                                        <p:attrNameLst>
                                          <p:attrName>style.visibility</p:attrName>
                                        </p:attrNameLst>
                                      </p:cBhvr>
                                      <p:to>
                                        <p:strVal val="visible"/>
                                      </p:to>
                                    </p:set>
                                    <p:animEffect transition="in" filter="wipe(left)">
                                      <p:cBhvr>
                                        <p:cTn id="7" dur="500"/>
                                        <p:tgtEl>
                                          <p:spTgt spid="9177551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49967902"/>
                                        </p:tgtEl>
                                        <p:attrNameLst>
                                          <p:attrName>style.visibility</p:attrName>
                                        </p:attrNameLst>
                                      </p:cBhvr>
                                      <p:to>
                                        <p:strVal val="visible"/>
                                      </p:to>
                                    </p:set>
                                    <p:animEffect transition="in" filter="wipe(left)">
                                      <p:cBhvr>
                                        <p:cTn id="12" dur="500"/>
                                        <p:tgtEl>
                                          <p:spTgt spid="124996790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33612868"/>
                                        </p:tgtEl>
                                        <p:attrNameLst>
                                          <p:attrName>style.visibility</p:attrName>
                                        </p:attrNameLst>
                                      </p:cBhvr>
                                      <p:to>
                                        <p:strVal val="visible"/>
                                      </p:to>
                                    </p:set>
                                    <p:animEffect transition="in" filter="wipe(left)">
                                      <p:cBhvr>
                                        <p:cTn id="17" dur="500"/>
                                        <p:tgtEl>
                                          <p:spTgt spid="10336128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6645310"/>
                                        </p:tgtEl>
                                        <p:attrNameLst>
                                          <p:attrName>style.visibility</p:attrName>
                                        </p:attrNameLst>
                                      </p:cBhvr>
                                      <p:to>
                                        <p:strVal val="visible"/>
                                      </p:to>
                                    </p:set>
                                    <p:animEffect transition="in" filter="wipe(left)">
                                      <p:cBhvr>
                                        <p:cTn id="22" dur="500"/>
                                        <p:tgtEl>
                                          <p:spTgt spid="2366453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95886780"/>
                                        </p:tgtEl>
                                        <p:attrNameLst>
                                          <p:attrName>style.visibility</p:attrName>
                                        </p:attrNameLst>
                                      </p:cBhvr>
                                      <p:to>
                                        <p:strVal val="visible"/>
                                      </p:to>
                                    </p:set>
                                    <p:animEffect transition="in" filter="wipe(left)">
                                      <p:cBhvr>
                                        <p:cTn id="27" dur="500"/>
                                        <p:tgtEl>
                                          <p:spTgt spid="129588678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90959637"/>
                                        </p:tgtEl>
                                        <p:attrNameLst>
                                          <p:attrName>style.visibility</p:attrName>
                                        </p:attrNameLst>
                                      </p:cBhvr>
                                      <p:to>
                                        <p:strVal val="visible"/>
                                      </p:to>
                                    </p:set>
                                    <p:animEffect transition="in" filter="wipe(left)">
                                      <p:cBhvr>
                                        <p:cTn id="32" dur="500"/>
                                        <p:tgtEl>
                                          <p:spTgt spid="49095963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09940669"/>
                                        </p:tgtEl>
                                        <p:attrNameLst>
                                          <p:attrName>style.visibility</p:attrName>
                                        </p:attrNameLst>
                                      </p:cBhvr>
                                      <p:to>
                                        <p:strVal val="visible"/>
                                      </p:to>
                                    </p:set>
                                    <p:animEffect transition="in" filter="wipe(left)">
                                      <p:cBhvr>
                                        <p:cTn id="37" dur="500"/>
                                        <p:tgtEl>
                                          <p:spTgt spid="180994066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0949887"/>
                                        </p:tgtEl>
                                        <p:attrNameLst>
                                          <p:attrName>style.visibility</p:attrName>
                                        </p:attrNameLst>
                                      </p:cBhvr>
                                      <p:to>
                                        <p:strVal val="visible"/>
                                      </p:to>
                                    </p:set>
                                    <p:animEffect transition="in" filter="wipe(left)">
                                      <p:cBhvr>
                                        <p:cTn id="42" dur="500"/>
                                        <p:tgtEl>
                                          <p:spTgt spid="6094988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847197191"/>
                                        </p:tgtEl>
                                        <p:attrNameLst>
                                          <p:attrName>style.visibility</p:attrName>
                                        </p:attrNameLst>
                                      </p:cBhvr>
                                      <p:to>
                                        <p:strVal val="visible"/>
                                      </p:to>
                                    </p:set>
                                    <p:animEffect transition="in" filter="wipe(left)">
                                      <p:cBhvr>
                                        <p:cTn id="47" dur="500"/>
                                        <p:tgtEl>
                                          <p:spTgt spid="84719719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595809559"/>
                                        </p:tgtEl>
                                        <p:attrNameLst>
                                          <p:attrName>style.visibility</p:attrName>
                                        </p:attrNameLst>
                                      </p:cBhvr>
                                      <p:to>
                                        <p:strVal val="visible"/>
                                      </p:to>
                                    </p:set>
                                    <p:animEffect transition="in" filter="wipe(left)">
                                      <p:cBhvr>
                                        <p:cTn id="52" dur="500"/>
                                        <p:tgtEl>
                                          <p:spTgt spid="1595809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7755151" grpId="0" animBg="1"/>
      <p:bldP spid="60949887" grpId="0"/>
      <p:bldP spid="847197191" grpId="0"/>
    </p:bldLst>
  </p:timing>
</p:sld>
</file>

<file path=ppt/slides/slide7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41532381" name="Google Shape;1187;p68"/>
          <p:cNvSpPr txBox="1">
            <a:spLocks noGrp="1"/>
          </p:cNvSpPr>
          <p:nvPr>
            <p:ph type="body" idx="1"/>
          </p:nvPr>
        </p:nvSpPr>
        <p:spPr bwMode="auto">
          <a:xfrm>
            <a:off x="3581400" y="3597274"/>
            <a:ext cx="8153399" cy="3124200"/>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ts val="2800"/>
              <a:buFont typeface="Calibri"/>
              <a:buNone/>
              <a:defRPr/>
            </a:pPr>
            <a:r>
              <a:rPr lang="en-US" b="1"/>
              <a:t>4. Control Costs</a:t>
            </a:r>
            <a:endParaRPr/>
          </a:p>
          <a:p>
            <a:pPr marL="685800" lvl="1" indent="-228600" algn="l" rtl="0">
              <a:lnSpc>
                <a:spcPct val="90000"/>
              </a:lnSpc>
              <a:spcBef>
                <a:spcPts val="500"/>
              </a:spcBef>
              <a:spcAft>
                <a:spcPts val="0"/>
              </a:spcAft>
              <a:buClr>
                <a:schemeClr val="dk1"/>
              </a:buClr>
              <a:buSzPts val="2600"/>
              <a:buChar char="•"/>
              <a:defRPr/>
            </a:pPr>
            <a:r>
              <a:rPr lang="en-US" sz="2600"/>
              <a:t>Control changes to the project budget.</a:t>
            </a:r>
            <a:endParaRPr/>
          </a:p>
          <a:p>
            <a:pPr marL="685800" lvl="1" indent="-228600" algn="l" rtl="0">
              <a:lnSpc>
                <a:spcPct val="90000"/>
              </a:lnSpc>
              <a:spcBef>
                <a:spcPts val="500"/>
              </a:spcBef>
              <a:spcAft>
                <a:spcPts val="0"/>
              </a:spcAft>
              <a:buClr>
                <a:schemeClr val="dk1"/>
              </a:buClr>
              <a:buSzPts val="2600"/>
              <a:buChar char="•"/>
              <a:defRPr/>
            </a:pPr>
            <a:endParaRPr sz="900"/>
          </a:p>
          <a:p>
            <a:pPr marL="685800" lvl="1" indent="-228600" algn="l" rtl="0">
              <a:lnSpc>
                <a:spcPct val="90000"/>
              </a:lnSpc>
              <a:spcBef>
                <a:spcPts val="500"/>
              </a:spcBef>
              <a:spcAft>
                <a:spcPts val="0"/>
              </a:spcAft>
              <a:buClr>
                <a:schemeClr val="dk1"/>
              </a:buClr>
              <a:buSzPts val="2600"/>
              <a:buChar char="•"/>
              <a:defRPr/>
            </a:pPr>
            <a:r>
              <a:rPr lang="en-US" sz="2600">
                <a:solidFill>
                  <a:schemeClr val="tx1"/>
                </a:solidFill>
              </a:rPr>
              <a:t>Tool and Technique: </a:t>
            </a:r>
            <a:r>
              <a:rPr lang="en-US" sz="2600" b="1">
                <a:solidFill>
                  <a:schemeClr val="tx1"/>
                </a:solidFill>
              </a:rPr>
              <a:t>use</a:t>
            </a:r>
            <a:r>
              <a:rPr lang="en-US" sz="2600" b="1">
                <a:solidFill>
                  <a:srgbClr val="FF0000"/>
                </a:solidFill>
              </a:rPr>
              <a:t> </a:t>
            </a:r>
            <a:r>
              <a:rPr lang="en-US" sz="2600" b="1"/>
              <a:t>Earned Value Management (EVM) technique </a:t>
            </a:r>
            <a:r>
              <a:rPr lang="en-MY" sz="2600" b="1"/>
              <a:t>to determine whether a project is</a:t>
            </a:r>
            <a:endParaRPr/>
          </a:p>
          <a:p>
            <a:pPr marL="1143000" lvl="2" indent="-228600">
              <a:buSzPts val="2600"/>
              <a:defRPr/>
            </a:pPr>
            <a:r>
              <a:rPr lang="en-MY" sz="2200" b="1"/>
              <a:t>Within budget</a:t>
            </a:r>
            <a:endParaRPr/>
          </a:p>
          <a:p>
            <a:pPr marL="1143000" lvl="2" indent="-228600">
              <a:buSzPts val="2600"/>
              <a:defRPr/>
            </a:pPr>
            <a:r>
              <a:rPr lang="en-MY" sz="2200" b="1"/>
              <a:t>On time</a:t>
            </a:r>
            <a:endParaRPr/>
          </a:p>
          <a:p>
            <a:pPr marL="914400" lvl="2" indent="0">
              <a:buSzPts val="2600"/>
              <a:buNone/>
              <a:defRPr/>
            </a:pPr>
            <a:endParaRPr sz="1100" b="1"/>
          </a:p>
          <a:p>
            <a:pPr marL="685800" lvl="1" indent="-228600" algn="l" rtl="0">
              <a:lnSpc>
                <a:spcPct val="90000"/>
              </a:lnSpc>
              <a:spcBef>
                <a:spcPts val="500"/>
              </a:spcBef>
              <a:spcAft>
                <a:spcPts val="0"/>
              </a:spcAft>
              <a:buClr>
                <a:schemeClr val="dk1"/>
              </a:buClr>
              <a:buSzPts val="2600"/>
              <a:buChar char="•"/>
              <a:defRPr/>
            </a:pPr>
            <a:r>
              <a:rPr lang="en-US" sz="2600"/>
              <a:t>Main outputs: work performance measurements, cost forecasts.</a:t>
            </a:r>
            <a:endParaRPr sz="2600"/>
          </a:p>
        </p:txBody>
      </p:sp>
      <p:sp>
        <p:nvSpPr>
          <p:cNvPr id="1033819056" name="Google Shape;1188;p68"/>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73</a:t>
            </a:fld>
            <a:endParaRPr/>
          </a:p>
        </p:txBody>
      </p:sp>
      <p:grpSp>
        <p:nvGrpSpPr>
          <p:cNvPr id="1546516245" name="Google Shape;1189;p68"/>
          <p:cNvGrpSpPr/>
          <p:nvPr/>
        </p:nvGrpSpPr>
        <p:grpSpPr bwMode="auto">
          <a:xfrm>
            <a:off x="3584829" y="2534488"/>
            <a:ext cx="7385413" cy="818311"/>
            <a:chOff x="3429" y="19888"/>
            <a:chExt cx="7385413" cy="818311"/>
          </a:xfrm>
        </p:grpSpPr>
        <p:sp>
          <p:nvSpPr>
            <p:cNvPr id="1190" name="Google Shape;1190;p68"/>
            <p:cNvSpPr/>
            <p:nvPr/>
          </p:nvSpPr>
          <p:spPr bwMode="auto">
            <a:xfrm>
              <a:off x="3429" y="19888"/>
              <a:ext cx="1996057" cy="7984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91" name="Google Shape;1191;p68"/>
            <p:cNvSpPr txBox="1"/>
            <p:nvPr/>
          </p:nvSpPr>
          <p:spPr bwMode="auto">
            <a:xfrm>
              <a:off x="402641" y="19888"/>
              <a:ext cx="1197634" cy="7984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1.                   Plan Cost Management</a:t>
              </a:r>
              <a:endParaRPr/>
            </a:p>
          </p:txBody>
        </p:sp>
        <p:sp>
          <p:nvSpPr>
            <p:cNvPr id="1192" name="Google Shape;1192;p68"/>
            <p:cNvSpPr/>
            <p:nvPr/>
          </p:nvSpPr>
          <p:spPr bwMode="auto">
            <a:xfrm>
              <a:off x="1799881" y="19888"/>
              <a:ext cx="1996057" cy="7984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93" name="Google Shape;1193;p68"/>
            <p:cNvSpPr txBox="1"/>
            <p:nvPr/>
          </p:nvSpPr>
          <p:spPr bwMode="auto">
            <a:xfrm>
              <a:off x="2199093" y="19888"/>
              <a:ext cx="1197634" cy="7984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2.            Estimate       Cost</a:t>
              </a:r>
              <a:endParaRPr/>
            </a:p>
          </p:txBody>
        </p:sp>
        <p:sp>
          <p:nvSpPr>
            <p:cNvPr id="1194" name="Google Shape;1194;p68"/>
            <p:cNvSpPr/>
            <p:nvPr/>
          </p:nvSpPr>
          <p:spPr bwMode="auto">
            <a:xfrm>
              <a:off x="3645835" y="39776"/>
              <a:ext cx="1996057" cy="7984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95" name="Google Shape;1195;p68"/>
            <p:cNvSpPr txBox="1"/>
            <p:nvPr/>
          </p:nvSpPr>
          <p:spPr bwMode="auto">
            <a:xfrm>
              <a:off x="4045047" y="39776"/>
              <a:ext cx="1197634" cy="7984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3. </a:t>
              </a:r>
              <a:br>
                <a:rPr lang="en-US" sz="1400">
                  <a:solidFill>
                    <a:schemeClr val="lt1"/>
                  </a:solidFill>
                  <a:latin typeface="Calibri"/>
                  <a:ea typeface="Calibri"/>
                  <a:cs typeface="Calibri"/>
                </a:rPr>
              </a:br>
              <a:r>
                <a:rPr lang="en-US" sz="1400">
                  <a:solidFill>
                    <a:schemeClr val="lt1"/>
                  </a:solidFill>
                  <a:latin typeface="Calibri"/>
                  <a:ea typeface="Calibri"/>
                  <a:cs typeface="Calibri"/>
                </a:rPr>
                <a:t>Determine Budget</a:t>
              </a:r>
              <a:endParaRPr sz="1400">
                <a:solidFill>
                  <a:schemeClr val="lt1"/>
                </a:solidFill>
                <a:latin typeface="Calibri"/>
                <a:ea typeface="Calibri"/>
                <a:cs typeface="Calibri"/>
              </a:endParaRPr>
            </a:p>
          </p:txBody>
        </p:sp>
        <p:sp>
          <p:nvSpPr>
            <p:cNvPr id="1196" name="Google Shape;1196;p68"/>
            <p:cNvSpPr/>
            <p:nvPr/>
          </p:nvSpPr>
          <p:spPr bwMode="auto">
            <a:xfrm>
              <a:off x="5392785" y="19888"/>
              <a:ext cx="1996057" cy="798423"/>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97" name="Google Shape;1197;p68"/>
            <p:cNvSpPr txBox="1"/>
            <p:nvPr/>
          </p:nvSpPr>
          <p:spPr bwMode="auto">
            <a:xfrm>
              <a:off x="5791997" y="19888"/>
              <a:ext cx="1197634" cy="7984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1">
                  <a:solidFill>
                    <a:schemeClr val="lt1"/>
                  </a:solidFill>
                  <a:latin typeface="Calibri"/>
                  <a:ea typeface="Calibri"/>
                  <a:cs typeface="Calibri"/>
                </a:rPr>
                <a:t>4.</a:t>
              </a:r>
              <a:br>
                <a:rPr lang="en-US" sz="1400" b="1">
                  <a:solidFill>
                    <a:schemeClr val="lt1"/>
                  </a:solidFill>
                  <a:latin typeface="Calibri"/>
                  <a:ea typeface="Calibri"/>
                  <a:cs typeface="Calibri"/>
                </a:rPr>
              </a:br>
              <a:r>
                <a:rPr lang="en-US" sz="1400" b="1">
                  <a:solidFill>
                    <a:schemeClr val="lt1"/>
                  </a:solidFill>
                  <a:latin typeface="Calibri"/>
                  <a:ea typeface="Calibri"/>
                  <a:cs typeface="Calibri"/>
                </a:rPr>
                <a:t>Control </a:t>
              </a:r>
              <a:br>
                <a:rPr lang="en-US" sz="1400" b="1">
                  <a:solidFill>
                    <a:schemeClr val="lt1"/>
                  </a:solidFill>
                  <a:latin typeface="Calibri"/>
                  <a:ea typeface="Calibri"/>
                  <a:cs typeface="Calibri"/>
                </a:rPr>
              </a:br>
              <a:r>
                <a:rPr lang="en-US" sz="1400" b="1">
                  <a:solidFill>
                    <a:schemeClr val="lt1"/>
                  </a:solidFill>
                  <a:latin typeface="Calibri"/>
                  <a:ea typeface="Calibri"/>
                  <a:cs typeface="Calibri"/>
                </a:rPr>
                <a:t>Costs</a:t>
              </a:r>
              <a:endParaRPr sz="1400" b="1">
                <a:solidFill>
                  <a:schemeClr val="lt1"/>
                </a:solidFill>
                <a:latin typeface="Calibri"/>
                <a:ea typeface="Calibri"/>
                <a:cs typeface="Calibri"/>
              </a:endParaRPr>
            </a:p>
          </p:txBody>
        </p:sp>
      </p:grpSp>
      <p:pic>
        <p:nvPicPr>
          <p:cNvPr id="1400404095" name="Google Shape;1198;p68"/>
          <p:cNvPicPr/>
          <p:nvPr/>
        </p:nvPicPr>
        <p:blipFill rotWithShape="1">
          <a:blip r:embed="rId3">
            <a:alphaModFix/>
          </a:blip>
          <a:srcRect l="18279" t="0" r="52832" b="0"/>
          <a:stretch/>
        </p:blipFill>
        <p:spPr bwMode="auto">
          <a:xfrm>
            <a:off x="0" y="0"/>
            <a:ext cx="2971800" cy="6858000"/>
          </a:xfrm>
          <a:prstGeom prst="rect">
            <a:avLst/>
          </a:prstGeom>
          <a:noFill/>
          <a:ln>
            <a:noFill/>
          </a:ln>
        </p:spPr>
      </p:pic>
      <p:sp>
        <p:nvSpPr>
          <p:cNvPr id="1494241933" name="Google Shape;1199;p68"/>
          <p:cNvSpPr txBox="1"/>
          <p:nvPr/>
        </p:nvSpPr>
        <p:spPr bwMode="auto">
          <a:xfrm>
            <a:off x="3429000" y="635524"/>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Cost Management</a:t>
            </a:r>
            <a:endParaRPr sz="4000" b="1">
              <a:solidFill>
                <a:schemeClr val="dk1"/>
              </a:solidFill>
              <a:latin typeface="Calibri"/>
              <a:ea typeface="Calibri"/>
              <a:cs typeface="Calibri"/>
            </a:endParaRPr>
          </a:p>
        </p:txBody>
      </p:sp>
      <p:sp>
        <p:nvSpPr>
          <p:cNvPr id="824648866" name="Google Shape;1200;p68"/>
          <p:cNvSpPr txBox="1"/>
          <p:nvPr/>
        </p:nvSpPr>
        <p:spPr bwMode="auto">
          <a:xfrm>
            <a:off x="3466228" y="132088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952634743" name="Google Shape;1201;p68"/>
          <p:cNvCxnSpPr/>
          <p:nvPr/>
        </p:nvCxnSpPr>
        <p:spPr bwMode="auto">
          <a:xfrm rot="10800000">
            <a:off x="3581400" y="1794398"/>
            <a:ext cx="1023822" cy="0"/>
          </a:xfrm>
          <a:prstGeom prst="straightConnector1">
            <a:avLst/>
          </a:prstGeom>
          <a:noFill/>
          <a:ln w="28575" cap="flat" cmpd="sng">
            <a:solidFill>
              <a:srgbClr val="3F3F3F"/>
            </a:solidFill>
            <a:prstDash val="solid"/>
            <a:miter lim="800000"/>
            <a:headEnd type="none" w="sm" len="sm"/>
            <a:tailEnd type="none" w="sm" len="sm"/>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441532381">
                                            <p:txEl>
                                              <p:pRg st="0" end="0"/>
                                            </p:txEl>
                                          </p:spTgt>
                                        </p:tgtEl>
                                        <p:attrNameLst>
                                          <p:attrName>style.visibility</p:attrName>
                                        </p:attrNameLst>
                                      </p:cBhvr>
                                      <p:to>
                                        <p:strVal val="visible"/>
                                      </p:to>
                                    </p:set>
                                    <p:animEffect transition="in" filter="wipe(left)">
                                      <p:cBhvr>
                                        <p:cTn id="7" dur="500"/>
                                        <p:tgtEl>
                                          <p:spTgt spid="144153238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441532381">
                                            <p:txEl>
                                              <p:pRg st="1" end="1"/>
                                            </p:txEl>
                                          </p:spTgt>
                                        </p:tgtEl>
                                        <p:attrNameLst>
                                          <p:attrName>style.visibility</p:attrName>
                                        </p:attrNameLst>
                                      </p:cBhvr>
                                      <p:to>
                                        <p:strVal val="visible"/>
                                      </p:to>
                                    </p:set>
                                    <p:anim calcmode="lin" valueType="num">
                                      <p:cBhvr additive="base">
                                        <p:cTn id="12" dur="500" fill="hold"/>
                                        <p:tgtEl>
                                          <p:spTgt spid="144153238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441532381">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441532381">
                                            <p:txEl>
                                              <p:pRg st="3" end="3"/>
                                            </p:txEl>
                                          </p:spTgt>
                                        </p:tgtEl>
                                        <p:attrNameLst>
                                          <p:attrName>style.visibility</p:attrName>
                                        </p:attrNameLst>
                                      </p:cBhvr>
                                      <p:to>
                                        <p:strVal val="visible"/>
                                      </p:to>
                                    </p:set>
                                    <p:anim calcmode="lin" valueType="num">
                                      <p:cBhvr additive="base">
                                        <p:cTn id="16" dur="500" fill="hold"/>
                                        <p:tgtEl>
                                          <p:spTgt spid="1441532381">
                                            <p:txEl>
                                              <p:pRg st="3" end="3"/>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1441532381">
                                            <p:txEl>
                                              <p:pRg st="3" end="3"/>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441532381">
                                            <p:txEl>
                                              <p:pRg st="4" end="4"/>
                                            </p:txEl>
                                          </p:spTgt>
                                        </p:tgtEl>
                                        <p:attrNameLst>
                                          <p:attrName>style.visibility</p:attrName>
                                        </p:attrNameLst>
                                      </p:cBhvr>
                                      <p:to>
                                        <p:strVal val="visible"/>
                                      </p:to>
                                    </p:set>
                                    <p:anim calcmode="lin" valueType="num">
                                      <p:cBhvr additive="base">
                                        <p:cTn id="20" dur="500" fill="hold"/>
                                        <p:tgtEl>
                                          <p:spTgt spid="1441532381">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441532381">
                                            <p:txEl>
                                              <p:pRg st="4" end="4"/>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441532381">
                                            <p:txEl>
                                              <p:pRg st="5" end="5"/>
                                            </p:txEl>
                                          </p:spTgt>
                                        </p:tgtEl>
                                        <p:attrNameLst>
                                          <p:attrName>style.visibility</p:attrName>
                                        </p:attrNameLst>
                                      </p:cBhvr>
                                      <p:to>
                                        <p:strVal val="visible"/>
                                      </p:to>
                                    </p:set>
                                    <p:anim calcmode="lin" valueType="num">
                                      <p:cBhvr additive="base">
                                        <p:cTn id="24" dur="500" fill="hold"/>
                                        <p:tgtEl>
                                          <p:spTgt spid="1441532381">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441532381">
                                            <p:txEl>
                                              <p:pRg st="5" end="5"/>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441532381">
                                            <p:txEl>
                                              <p:pRg st="7" end="7"/>
                                            </p:txEl>
                                          </p:spTgt>
                                        </p:tgtEl>
                                        <p:attrNameLst>
                                          <p:attrName>style.visibility</p:attrName>
                                        </p:attrNameLst>
                                      </p:cBhvr>
                                      <p:to>
                                        <p:strVal val="visible"/>
                                      </p:to>
                                    </p:set>
                                    <p:anim calcmode="lin" valueType="num">
                                      <p:cBhvr additive="base">
                                        <p:cTn id="28" dur="500" fill="hold"/>
                                        <p:tgtEl>
                                          <p:spTgt spid="1441532381">
                                            <p:txEl>
                                              <p:pRg st="7" end="7"/>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44153238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09426479" name="Google Shape;721;p46"/>
          <p:cNvPicPr/>
          <p:nvPr/>
        </p:nvPicPr>
        <p:blipFill rotWithShape="1">
          <a:blip r:embed="rId3">
            <a:alphaModFix/>
          </a:blip>
          <a:srcRect l="21648" t="0" r="35518" b="0"/>
          <a:stretch/>
        </p:blipFill>
        <p:spPr bwMode="auto">
          <a:xfrm>
            <a:off x="-49211" y="-9876"/>
            <a:ext cx="4419600" cy="6867876"/>
          </a:xfrm>
          <a:prstGeom prst="rect">
            <a:avLst/>
          </a:prstGeom>
          <a:noFill/>
          <a:ln>
            <a:noFill/>
          </a:ln>
        </p:spPr>
      </p:pic>
      <p:sp>
        <p:nvSpPr>
          <p:cNvPr id="863955749" name="Google Shape;722;p46"/>
          <p:cNvSpPr txBox="1">
            <a:spLocks noGrp="1"/>
          </p:cNvSpPr>
          <p:nvPr>
            <p:ph type="title"/>
          </p:nvPr>
        </p:nvSpPr>
        <p:spPr bwMode="auto">
          <a:xfrm>
            <a:off x="609600" y="302394"/>
            <a:ext cx="5105400" cy="7159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defRPr/>
            </a:pPr>
            <a:r>
              <a:rPr lang="en-US" b="1"/>
              <a:t>Knowledge of a PM</a:t>
            </a:r>
            <a:endParaRPr/>
          </a:p>
        </p:txBody>
      </p:sp>
      <p:grpSp>
        <p:nvGrpSpPr>
          <p:cNvPr id="1440561249" name="Google Shape;723;p46"/>
          <p:cNvGrpSpPr/>
          <p:nvPr/>
        </p:nvGrpSpPr>
        <p:grpSpPr bwMode="auto">
          <a:xfrm>
            <a:off x="5101159" y="1733961"/>
            <a:ext cx="6100240" cy="4657009"/>
            <a:chOff x="5688824" y="1864854"/>
            <a:chExt cx="4394200" cy="4133851"/>
          </a:xfrm>
        </p:grpSpPr>
        <p:grpSp>
          <p:nvGrpSpPr>
            <p:cNvPr id="724" name="Google Shape;724;p46"/>
            <p:cNvGrpSpPr/>
            <p:nvPr/>
          </p:nvGrpSpPr>
          <p:grpSpPr bwMode="auto">
            <a:xfrm>
              <a:off x="6438123" y="2544305"/>
              <a:ext cx="3048000" cy="2873375"/>
              <a:chOff x="1981198" y="861054"/>
              <a:chExt cx="2895602" cy="2872745"/>
            </a:xfrm>
          </p:grpSpPr>
          <p:sp>
            <p:nvSpPr>
              <p:cNvPr id="725" name="Google Shape;725;p46"/>
              <p:cNvSpPr/>
              <p:nvPr/>
            </p:nvSpPr>
            <p:spPr bwMode="auto">
              <a:xfrm>
                <a:off x="1981198" y="861054"/>
                <a:ext cx="2895602" cy="2872745"/>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26" name="Google Shape;726;p46"/>
              <p:cNvSpPr/>
              <p:nvPr/>
            </p:nvSpPr>
            <p:spPr bwMode="auto">
              <a:xfrm>
                <a:off x="2405060" y="1281650"/>
                <a:ext cx="2047876" cy="2031554"/>
              </a:xfrm>
              <a:prstGeom prst="rect">
                <a:avLst/>
              </a:prstGeom>
              <a:noFill/>
              <a:ln>
                <a:noFill/>
              </a:ln>
            </p:spPr>
            <p:txBody>
              <a:bodyPr spcFirstLastPara="1" wrap="square" lIns="44450" tIns="44450" rIns="44450" bIns="44450" anchor="ctr" anchorCtr="0">
                <a:noAutofit/>
              </a:bodyPr>
              <a:lstStyle/>
              <a:p>
                <a:pPr marL="0" marR="0" lvl="0" indent="0" algn="ctr" rtl="0">
                  <a:lnSpc>
                    <a:spcPct val="90000"/>
                  </a:lnSpc>
                  <a:spcBef>
                    <a:spcPts val="0"/>
                  </a:spcBef>
                  <a:spcAft>
                    <a:spcPts val="0"/>
                  </a:spcAft>
                  <a:buNone/>
                  <a:defRPr/>
                </a:pPr>
                <a:r>
                  <a:rPr lang="en-US" sz="3500">
                    <a:solidFill>
                      <a:schemeClr val="dk1"/>
                    </a:solidFill>
                    <a:latin typeface="Calibri"/>
                    <a:ea typeface="Calibri"/>
                    <a:cs typeface="Calibri"/>
                  </a:rPr>
                  <a:t>Integration</a:t>
                </a:r>
                <a:endParaRPr/>
              </a:p>
            </p:txBody>
          </p:sp>
        </p:grpSp>
        <p:grpSp>
          <p:nvGrpSpPr>
            <p:cNvPr id="727" name="Google Shape;727;p46"/>
            <p:cNvGrpSpPr/>
            <p:nvPr/>
          </p:nvGrpSpPr>
          <p:grpSpPr bwMode="auto">
            <a:xfrm>
              <a:off x="7306486" y="1864854"/>
              <a:ext cx="1158875" cy="947738"/>
              <a:chOff x="2849129" y="181000"/>
              <a:chExt cx="1159740" cy="947887"/>
            </a:xfrm>
          </p:grpSpPr>
          <p:sp>
            <p:nvSpPr>
              <p:cNvPr id="728" name="Google Shape;728;p46"/>
              <p:cNvSpPr/>
              <p:nvPr/>
            </p:nvSpPr>
            <p:spPr bwMode="auto">
              <a:xfrm>
                <a:off x="2849129" y="181000"/>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29" name="Google Shape;729;p46"/>
              <p:cNvSpPr/>
              <p:nvPr/>
            </p:nvSpPr>
            <p:spPr bwMode="auto">
              <a:xfrm>
                <a:off x="3019119" y="319135"/>
                <a:ext cx="819761"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Scope</a:t>
                </a:r>
                <a:endParaRPr/>
              </a:p>
            </p:txBody>
          </p:sp>
        </p:grpSp>
        <p:grpSp>
          <p:nvGrpSpPr>
            <p:cNvPr id="730" name="Google Shape;730;p46"/>
            <p:cNvGrpSpPr/>
            <p:nvPr/>
          </p:nvGrpSpPr>
          <p:grpSpPr bwMode="auto">
            <a:xfrm>
              <a:off x="8495523" y="2249029"/>
              <a:ext cx="1160462" cy="947738"/>
              <a:chOff x="3904896" y="565268"/>
              <a:chExt cx="1159740" cy="947887"/>
            </a:xfrm>
          </p:grpSpPr>
          <p:sp>
            <p:nvSpPr>
              <p:cNvPr id="731" name="Google Shape;731;p46"/>
              <p:cNvSpPr/>
              <p:nvPr/>
            </p:nvSpPr>
            <p:spPr bwMode="auto">
              <a:xfrm>
                <a:off x="3904896" y="565268"/>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2" name="Google Shape;732;p46"/>
              <p:cNvSpPr/>
              <p:nvPr/>
            </p:nvSpPr>
            <p:spPr bwMode="auto">
              <a:xfrm>
                <a:off x="4074652" y="703403"/>
                <a:ext cx="820227"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Time</a:t>
                </a:r>
                <a:endParaRPr/>
              </a:p>
            </p:txBody>
          </p:sp>
        </p:grpSp>
        <p:grpSp>
          <p:nvGrpSpPr>
            <p:cNvPr id="733" name="Google Shape;733;p46"/>
            <p:cNvGrpSpPr/>
            <p:nvPr/>
          </p:nvGrpSpPr>
          <p:grpSpPr bwMode="auto">
            <a:xfrm>
              <a:off x="8922561" y="3222168"/>
              <a:ext cx="1160463" cy="947737"/>
              <a:chOff x="4466658" y="1538269"/>
              <a:chExt cx="1159740" cy="947887"/>
            </a:xfrm>
          </p:grpSpPr>
          <p:sp>
            <p:nvSpPr>
              <p:cNvPr id="734" name="Google Shape;734;p46"/>
              <p:cNvSpPr/>
              <p:nvPr/>
            </p:nvSpPr>
            <p:spPr bwMode="auto">
              <a:xfrm>
                <a:off x="4466658" y="1538269"/>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5" name="Google Shape;735;p46"/>
              <p:cNvSpPr/>
              <p:nvPr/>
            </p:nvSpPr>
            <p:spPr bwMode="auto">
              <a:xfrm>
                <a:off x="4636415" y="1676403"/>
                <a:ext cx="820226"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Cost</a:t>
                </a:r>
                <a:endParaRPr/>
              </a:p>
            </p:txBody>
          </p:sp>
        </p:grpSp>
        <p:grpSp>
          <p:nvGrpSpPr>
            <p:cNvPr id="736" name="Google Shape;736;p46"/>
            <p:cNvGrpSpPr/>
            <p:nvPr/>
          </p:nvGrpSpPr>
          <p:grpSpPr bwMode="auto">
            <a:xfrm>
              <a:off x="8800323" y="4328654"/>
              <a:ext cx="1160462" cy="947738"/>
              <a:chOff x="4271560" y="2644723"/>
              <a:chExt cx="1159740" cy="947887"/>
            </a:xfrm>
          </p:grpSpPr>
          <p:sp>
            <p:nvSpPr>
              <p:cNvPr id="737" name="Google Shape;737;p46"/>
              <p:cNvSpPr/>
              <p:nvPr/>
            </p:nvSpPr>
            <p:spPr bwMode="auto">
              <a:xfrm>
                <a:off x="4271560" y="2644723"/>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8" name="Google Shape;738;p46"/>
              <p:cNvSpPr/>
              <p:nvPr/>
            </p:nvSpPr>
            <p:spPr bwMode="auto">
              <a:xfrm>
                <a:off x="4441316" y="2782859"/>
                <a:ext cx="820227"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Quality</a:t>
                </a:r>
                <a:endParaRPr/>
              </a:p>
            </p:txBody>
          </p:sp>
        </p:grpSp>
        <p:grpSp>
          <p:nvGrpSpPr>
            <p:cNvPr id="739" name="Google Shape;739;p46"/>
            <p:cNvGrpSpPr/>
            <p:nvPr/>
          </p:nvGrpSpPr>
          <p:grpSpPr bwMode="auto">
            <a:xfrm>
              <a:off x="7912910" y="5050968"/>
              <a:ext cx="1160463" cy="947737"/>
              <a:chOff x="3410891" y="3366911"/>
              <a:chExt cx="1159740" cy="947887"/>
            </a:xfrm>
          </p:grpSpPr>
          <p:sp>
            <p:nvSpPr>
              <p:cNvPr id="740" name="Google Shape;740;p46"/>
              <p:cNvSpPr/>
              <p:nvPr/>
            </p:nvSpPr>
            <p:spPr bwMode="auto">
              <a:xfrm>
                <a:off x="3410891" y="3366911"/>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1" name="Google Shape;741;p46"/>
              <p:cNvSpPr/>
              <p:nvPr/>
            </p:nvSpPr>
            <p:spPr bwMode="auto">
              <a:xfrm>
                <a:off x="3580648" y="3505045"/>
                <a:ext cx="820226"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Human Resource</a:t>
                </a:r>
                <a:endParaRPr/>
              </a:p>
            </p:txBody>
          </p:sp>
        </p:grpSp>
        <p:grpSp>
          <p:nvGrpSpPr>
            <p:cNvPr id="742" name="Google Shape;742;p46"/>
            <p:cNvGrpSpPr/>
            <p:nvPr/>
          </p:nvGrpSpPr>
          <p:grpSpPr bwMode="auto">
            <a:xfrm>
              <a:off x="6684186" y="5050968"/>
              <a:ext cx="1160463" cy="947737"/>
              <a:chOff x="2287367" y="3366911"/>
              <a:chExt cx="1159740" cy="947887"/>
            </a:xfrm>
          </p:grpSpPr>
          <p:sp>
            <p:nvSpPr>
              <p:cNvPr id="743" name="Google Shape;743;p46"/>
              <p:cNvSpPr/>
              <p:nvPr/>
            </p:nvSpPr>
            <p:spPr bwMode="auto">
              <a:xfrm>
                <a:off x="2287367" y="3366911"/>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4" name="Google Shape;744;p46"/>
              <p:cNvSpPr/>
              <p:nvPr/>
            </p:nvSpPr>
            <p:spPr bwMode="auto">
              <a:xfrm>
                <a:off x="2338135" y="3505045"/>
                <a:ext cx="1032819"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Communication</a:t>
                </a:r>
                <a:endParaRPr/>
              </a:p>
            </p:txBody>
          </p:sp>
        </p:grpSp>
        <p:grpSp>
          <p:nvGrpSpPr>
            <p:cNvPr id="745" name="Google Shape;745;p46"/>
            <p:cNvGrpSpPr/>
            <p:nvPr/>
          </p:nvGrpSpPr>
          <p:grpSpPr bwMode="auto">
            <a:xfrm>
              <a:off x="5845986" y="4328654"/>
              <a:ext cx="1160463" cy="947738"/>
              <a:chOff x="1426698" y="2644723"/>
              <a:chExt cx="1159740" cy="947887"/>
            </a:xfrm>
          </p:grpSpPr>
          <p:sp>
            <p:nvSpPr>
              <p:cNvPr id="746" name="Google Shape;746;p46"/>
              <p:cNvSpPr/>
              <p:nvPr/>
            </p:nvSpPr>
            <p:spPr bwMode="auto">
              <a:xfrm>
                <a:off x="1426698" y="2644723"/>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7" name="Google Shape;747;p46"/>
              <p:cNvSpPr/>
              <p:nvPr/>
            </p:nvSpPr>
            <p:spPr bwMode="auto">
              <a:xfrm>
                <a:off x="1596455" y="2782859"/>
                <a:ext cx="820226"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Risk</a:t>
                </a:r>
                <a:endParaRPr/>
              </a:p>
            </p:txBody>
          </p:sp>
        </p:grpSp>
        <p:grpSp>
          <p:nvGrpSpPr>
            <p:cNvPr id="748" name="Google Shape;748;p46"/>
            <p:cNvGrpSpPr/>
            <p:nvPr/>
          </p:nvGrpSpPr>
          <p:grpSpPr bwMode="auto">
            <a:xfrm>
              <a:off x="5688824" y="3222168"/>
              <a:ext cx="1158875" cy="947737"/>
              <a:chOff x="1231599" y="1538269"/>
              <a:chExt cx="1159741" cy="947887"/>
            </a:xfrm>
          </p:grpSpPr>
          <p:sp>
            <p:nvSpPr>
              <p:cNvPr id="749" name="Google Shape;749;p46"/>
              <p:cNvSpPr/>
              <p:nvPr/>
            </p:nvSpPr>
            <p:spPr bwMode="auto">
              <a:xfrm>
                <a:off x="1231600" y="1538269"/>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50" name="Google Shape;750;p46"/>
              <p:cNvSpPr/>
              <p:nvPr/>
            </p:nvSpPr>
            <p:spPr bwMode="auto">
              <a:xfrm>
                <a:off x="1231599" y="1676403"/>
                <a:ext cx="1154974"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Procurement</a:t>
                </a:r>
                <a:endParaRPr/>
              </a:p>
            </p:txBody>
          </p:sp>
        </p:grpSp>
        <p:grpSp>
          <p:nvGrpSpPr>
            <p:cNvPr id="751" name="Google Shape;751;p46"/>
            <p:cNvGrpSpPr/>
            <p:nvPr/>
          </p:nvGrpSpPr>
          <p:grpSpPr bwMode="auto">
            <a:xfrm>
              <a:off x="6150786" y="2249029"/>
              <a:ext cx="1160463" cy="947738"/>
              <a:chOff x="1793362" y="565268"/>
              <a:chExt cx="1159740" cy="947887"/>
            </a:xfrm>
          </p:grpSpPr>
          <p:sp>
            <p:nvSpPr>
              <p:cNvPr id="752" name="Google Shape;752;p46"/>
              <p:cNvSpPr/>
              <p:nvPr/>
            </p:nvSpPr>
            <p:spPr bwMode="auto">
              <a:xfrm>
                <a:off x="1793362" y="565268"/>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53" name="Google Shape;753;p46"/>
              <p:cNvSpPr/>
              <p:nvPr/>
            </p:nvSpPr>
            <p:spPr bwMode="auto">
              <a:xfrm>
                <a:off x="1850476" y="703403"/>
                <a:ext cx="1102626"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Stakeholders</a:t>
                </a:r>
                <a:endParaRPr/>
              </a:p>
            </p:txBody>
          </p:sp>
        </p:grpSp>
      </p:grpSp>
      <p:sp>
        <p:nvSpPr>
          <p:cNvPr id="263486362" name="Google Shape;754;p46"/>
          <p:cNvSpPr txBox="1"/>
          <p:nvPr/>
        </p:nvSpPr>
        <p:spPr bwMode="auto">
          <a:xfrm>
            <a:off x="646828" y="98775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sp>
        <p:nvSpPr>
          <p:cNvPr id="2082688256" name="Google Shape;755;p46"/>
          <p:cNvSpPr txBox="1"/>
          <p:nvPr/>
        </p:nvSpPr>
        <p:spPr bwMode="auto">
          <a:xfrm>
            <a:off x="681560" y="1703714"/>
            <a:ext cx="2970213"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defRPr/>
            </a:pPr>
            <a:r>
              <a:rPr lang="en-US" sz="2400">
                <a:solidFill>
                  <a:srgbClr val="FF0000"/>
                </a:solidFill>
                <a:latin typeface="Times New Roman"/>
                <a:ea typeface="Times New Roman"/>
                <a:cs typeface="Times New Roman"/>
              </a:rPr>
              <a:t>10 </a:t>
            </a:r>
            <a:r>
              <a:rPr lang="en-US" sz="2400">
                <a:solidFill>
                  <a:schemeClr val="dk1"/>
                </a:solidFill>
                <a:latin typeface="Times New Roman"/>
                <a:ea typeface="Times New Roman"/>
                <a:cs typeface="Times New Roman"/>
              </a:rPr>
              <a:t>Knowledge </a:t>
            </a:r>
            <a:r>
              <a:rPr lang="en-US" sz="2400">
                <a:solidFill>
                  <a:srgbClr val="FF0000"/>
                </a:solidFill>
                <a:latin typeface="Times New Roman"/>
                <a:ea typeface="Times New Roman"/>
                <a:cs typeface="Times New Roman"/>
              </a:rPr>
              <a:t>Areas</a:t>
            </a:r>
            <a:endParaRPr>
              <a:solidFill>
                <a:srgbClr val="FF0000"/>
              </a:solidFill>
            </a:endParaRPr>
          </a:p>
        </p:txBody>
      </p:sp>
      <p:sp>
        <p:nvSpPr>
          <p:cNvPr id="169003997" name="Google Shape;756;p4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74</a:t>
            </a:fld>
            <a:endParaRPr/>
          </a:p>
        </p:txBody>
      </p:sp>
      <p:cxnSp>
        <p:nvCxnSpPr>
          <p:cNvPr id="1092720410" name="Google Shape;757;p46"/>
          <p:cNvCxnSpPr/>
          <p:nvPr/>
        </p:nvCxnSpPr>
        <p:spPr bwMode="auto">
          <a:xfrm rot="10800000">
            <a:off x="762000" y="1461268"/>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465375400" name="Freeform: Shape 1"/>
          <p:cNvSpPr/>
          <p:nvPr/>
        </p:nvSpPr>
        <p:spPr bwMode="auto">
          <a:xfrm>
            <a:off x="8183105" y="1999281"/>
            <a:ext cx="449451" cy="604434"/>
          </a:xfrm>
          <a:custGeom>
            <a:avLst/>
            <a:gdLst>
              <a:gd name="connsiteX0" fmla="*/ 0 w 449451"/>
              <a:gd name="connsiteY0" fmla="*/ 418455 h 604434"/>
              <a:gd name="connsiteX1" fmla="*/ 154983 w 449451"/>
              <a:gd name="connsiteY1" fmla="*/ 604434 h 604434"/>
              <a:gd name="connsiteX2" fmla="*/ 449451 w 449451"/>
              <a:gd name="connsiteY2" fmla="*/ 0 h 604434"/>
            </a:gdLst>
            <a:ahLst/>
            <a:cxnLst>
              <a:cxn ang="0">
                <a:pos x="connsiteX0" y="connsiteY0"/>
              </a:cxn>
              <a:cxn ang="0">
                <a:pos x="connsiteX1" y="connsiteY1"/>
              </a:cxn>
              <a:cxn ang="0">
                <a:pos x="connsiteX2" y="connsiteY2"/>
              </a:cxn>
            </a:cxnLst>
            <a:rect l="l" t="t" r="r" b="b"/>
            <a:pathLst>
              <a:path w="449451" h="604434" fill="norm" stroke="1" extrusionOk="0">
                <a:moveTo>
                  <a:pt x="0" y="418455"/>
                </a:moveTo>
                <a:lnTo>
                  <a:pt x="154983" y="604434"/>
                </a:lnTo>
                <a:lnTo>
                  <a:pt x="449451" y="0"/>
                </a:ln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472079685" name="Freeform: Shape 2"/>
          <p:cNvSpPr/>
          <p:nvPr/>
        </p:nvSpPr>
        <p:spPr bwMode="auto">
          <a:xfrm>
            <a:off x="9895037" y="2405269"/>
            <a:ext cx="449451" cy="604434"/>
          </a:xfrm>
          <a:custGeom>
            <a:avLst/>
            <a:gdLst>
              <a:gd name="connsiteX0" fmla="*/ 0 w 449451"/>
              <a:gd name="connsiteY0" fmla="*/ 418455 h 604434"/>
              <a:gd name="connsiteX1" fmla="*/ 154983 w 449451"/>
              <a:gd name="connsiteY1" fmla="*/ 604434 h 604434"/>
              <a:gd name="connsiteX2" fmla="*/ 449451 w 449451"/>
              <a:gd name="connsiteY2" fmla="*/ 0 h 604434"/>
            </a:gdLst>
            <a:ahLst/>
            <a:cxnLst>
              <a:cxn ang="0">
                <a:pos x="connsiteX0" y="connsiteY0"/>
              </a:cxn>
              <a:cxn ang="0">
                <a:pos x="connsiteX1" y="connsiteY1"/>
              </a:cxn>
              <a:cxn ang="0">
                <a:pos x="connsiteX2" y="connsiteY2"/>
              </a:cxn>
            </a:cxnLst>
            <a:rect l="l" t="t" r="r" b="b"/>
            <a:pathLst>
              <a:path w="449451" h="604434" fill="norm" stroke="1" extrusionOk="0">
                <a:moveTo>
                  <a:pt x="0" y="418455"/>
                </a:moveTo>
                <a:lnTo>
                  <a:pt x="154983" y="604434"/>
                </a:lnTo>
                <a:lnTo>
                  <a:pt x="449451" y="0"/>
                </a:ln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377113577" name="Freeform: Shape 3"/>
          <p:cNvSpPr/>
          <p:nvPr/>
        </p:nvSpPr>
        <p:spPr bwMode="auto">
          <a:xfrm>
            <a:off x="10477501" y="3494671"/>
            <a:ext cx="449451" cy="604434"/>
          </a:xfrm>
          <a:custGeom>
            <a:avLst/>
            <a:gdLst>
              <a:gd name="connsiteX0" fmla="*/ 0 w 449451"/>
              <a:gd name="connsiteY0" fmla="*/ 418455 h 604434"/>
              <a:gd name="connsiteX1" fmla="*/ 154983 w 449451"/>
              <a:gd name="connsiteY1" fmla="*/ 604434 h 604434"/>
              <a:gd name="connsiteX2" fmla="*/ 449451 w 449451"/>
              <a:gd name="connsiteY2" fmla="*/ 0 h 604434"/>
            </a:gdLst>
            <a:ahLst/>
            <a:cxnLst>
              <a:cxn ang="0">
                <a:pos x="connsiteX0" y="connsiteY0"/>
              </a:cxn>
              <a:cxn ang="0">
                <a:pos x="connsiteX1" y="connsiteY1"/>
              </a:cxn>
              <a:cxn ang="0">
                <a:pos x="connsiteX2" y="connsiteY2"/>
              </a:cxn>
            </a:cxnLst>
            <a:rect l="l" t="t" r="r" b="b"/>
            <a:pathLst>
              <a:path w="449451" h="604434" fill="norm" stroke="1" extrusionOk="0">
                <a:moveTo>
                  <a:pt x="0" y="418455"/>
                </a:moveTo>
                <a:lnTo>
                  <a:pt x="154983" y="604434"/>
                </a:lnTo>
                <a:lnTo>
                  <a:pt x="449451" y="0"/>
                </a:ln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00045848" name="TextBox 4"/>
          <p:cNvSpPr txBox="1"/>
          <p:nvPr/>
        </p:nvSpPr>
        <p:spPr bwMode="auto">
          <a:xfrm>
            <a:off x="9996191" y="5092944"/>
            <a:ext cx="696117" cy="307777"/>
          </a:xfrm>
          <a:prstGeom prst="rect">
            <a:avLst/>
          </a:prstGeom>
          <a:noFill/>
        </p:spPr>
        <p:txBody>
          <a:bodyPr wrap="square" rtlCol="0">
            <a:spAutoFit/>
          </a:bodyPr>
          <a:lstStyle/>
          <a:p>
            <a:pPr>
              <a:defRPr/>
            </a:pPr>
            <a:r>
              <a:rPr lang="en-US">
                <a:solidFill>
                  <a:srgbClr val="FF0000"/>
                </a:solidFill>
              </a:rPr>
              <a:t>(ch3)</a:t>
            </a:r>
            <a:endParaRPr lang="en-GB">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l"/>
      </p:transition>
    </mc:Choice>
    <mc:Fallback>
      <p:transition spd="slow" advClick="1">
        <p:push dir="l"/>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36827367" name="Google Shape;1206;p69"/>
          <p:cNvPicPr/>
          <p:nvPr/>
        </p:nvPicPr>
        <p:blipFill rotWithShape="1">
          <a:blip r:embed="rId3">
            <a:alphaModFix/>
          </a:blip>
          <a:srcRect l="24980" t="0" r="25135" b="0"/>
          <a:stretch/>
        </p:blipFill>
        <p:spPr bwMode="auto">
          <a:xfrm>
            <a:off x="7594562" y="609600"/>
            <a:ext cx="4610638" cy="6153304"/>
          </a:xfrm>
          <a:prstGeom prst="rect">
            <a:avLst/>
          </a:prstGeom>
          <a:noFill/>
          <a:ln>
            <a:noFill/>
          </a:ln>
        </p:spPr>
      </p:pic>
      <p:sp>
        <p:nvSpPr>
          <p:cNvPr id="1844284015" name="Google Shape;1207;p69"/>
          <p:cNvSpPr txBox="1">
            <a:spLocks noGrp="1"/>
          </p:cNvSpPr>
          <p:nvPr>
            <p:ph type="body" idx="1"/>
          </p:nvPr>
        </p:nvSpPr>
        <p:spPr bwMode="auto">
          <a:xfrm>
            <a:off x="646828" y="2509837"/>
            <a:ext cx="6439772" cy="38909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defRPr/>
            </a:pPr>
            <a:r>
              <a:rPr lang="en-US"/>
              <a:t>To ensure that the project will satisfy the needs for which it was undertaken.</a:t>
            </a:r>
            <a:endParaRPr/>
          </a:p>
          <a:p>
            <a:pPr marL="228600" lvl="0" indent="-228600" algn="l" rtl="0">
              <a:lnSpc>
                <a:spcPct val="90000"/>
              </a:lnSpc>
              <a:spcBef>
                <a:spcPts val="1000"/>
              </a:spcBef>
              <a:spcAft>
                <a:spcPts val="0"/>
              </a:spcAft>
              <a:buClr>
                <a:schemeClr val="dk1"/>
              </a:buClr>
              <a:buSzPts val="2800"/>
              <a:buChar char="•"/>
              <a:defRPr/>
            </a:pPr>
            <a:r>
              <a:rPr lang="en-US"/>
              <a:t>3 processes</a:t>
            </a:r>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t>Plan Quality Management</a:t>
            </a:r>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t>Perform Quality Assurance </a:t>
            </a:r>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t>Control Quality</a:t>
            </a:r>
            <a:endParaRPr/>
          </a:p>
        </p:txBody>
      </p:sp>
      <p:sp>
        <p:nvSpPr>
          <p:cNvPr id="1582056020" name="Google Shape;1208;p69"/>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75</a:t>
            </a:fld>
            <a:endParaRPr/>
          </a:p>
        </p:txBody>
      </p:sp>
      <p:sp>
        <p:nvSpPr>
          <p:cNvPr id="120477677" name="Google Shape;1209;p69"/>
          <p:cNvSpPr txBox="1"/>
          <p:nvPr/>
        </p:nvSpPr>
        <p:spPr bwMode="auto">
          <a:xfrm>
            <a:off x="533400" y="830774"/>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Quality Management</a:t>
            </a:r>
            <a:endParaRPr sz="4000" b="1">
              <a:solidFill>
                <a:schemeClr val="dk1"/>
              </a:solidFill>
              <a:latin typeface="Calibri"/>
              <a:ea typeface="Calibri"/>
              <a:cs typeface="Calibri"/>
            </a:endParaRPr>
          </a:p>
        </p:txBody>
      </p:sp>
      <p:sp>
        <p:nvSpPr>
          <p:cNvPr id="1292637005" name="Google Shape;1210;p69"/>
          <p:cNvSpPr txBox="1"/>
          <p:nvPr/>
        </p:nvSpPr>
        <p:spPr bwMode="auto">
          <a:xfrm>
            <a:off x="570628" y="151613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993187484" name="Google Shape;1211;p69"/>
          <p:cNvCxnSpPr/>
          <p:nvPr/>
        </p:nvCxnSpPr>
        <p:spPr bwMode="auto">
          <a:xfrm rot="10800000">
            <a:off x="685800" y="1989648"/>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885843826" name="TextBox 2"/>
          <p:cNvSpPr txBox="1"/>
          <p:nvPr/>
        </p:nvSpPr>
        <p:spPr bwMode="auto">
          <a:xfrm>
            <a:off x="10329006" y="5705811"/>
            <a:ext cx="1764565" cy="1015663"/>
          </a:xfrm>
          <a:prstGeom prst="rect">
            <a:avLst/>
          </a:prstGeom>
          <a:noFill/>
          <a:ln>
            <a:solidFill>
              <a:srgbClr val="FF0000"/>
            </a:solidFill>
          </a:ln>
        </p:spPr>
        <p:txBody>
          <a:bodyPr wrap="square" rtlCol="0">
            <a:spAutoFit/>
          </a:bodyPr>
          <a:lstStyle/>
          <a:p>
            <a:pPr algn="ctr">
              <a:defRPr/>
            </a:pPr>
            <a:r>
              <a:rPr lang="en-MY" sz="2000">
                <a:solidFill>
                  <a:srgbClr val="FF0000"/>
                </a:solidFill>
              </a:rPr>
              <a:t>S</a:t>
            </a:r>
            <a:endParaRPr/>
          </a:p>
          <a:p>
            <a:pPr algn="ctr">
              <a:defRPr/>
            </a:pPr>
            <a:endParaRPr lang="en-MY" sz="2000">
              <a:solidFill>
                <a:srgbClr val="FF0000"/>
              </a:solidFill>
            </a:endParaRPr>
          </a:p>
          <a:p>
            <a:pPr algn="ctr">
              <a:defRPr/>
            </a:pPr>
            <a:r>
              <a:rPr lang="en-MY" sz="2000" u="sng">
                <a:solidFill>
                  <a:srgbClr val="FF0000"/>
                </a:solidFill>
              </a:rPr>
              <a:t>Chap 3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20992988" name="Google Shape;1216;p70"/>
          <p:cNvPicPr/>
          <p:nvPr/>
        </p:nvPicPr>
        <p:blipFill rotWithShape="1">
          <a:blip r:embed="rId3">
            <a:alphaModFix/>
          </a:blip>
          <a:srcRect l="24980" t="0" r="25135" b="0"/>
          <a:stretch/>
        </p:blipFill>
        <p:spPr bwMode="auto">
          <a:xfrm>
            <a:off x="7594562" y="609600"/>
            <a:ext cx="4610638" cy="6153304"/>
          </a:xfrm>
          <a:prstGeom prst="rect">
            <a:avLst/>
          </a:prstGeom>
          <a:noFill/>
          <a:ln>
            <a:noFill/>
          </a:ln>
        </p:spPr>
      </p:pic>
      <p:sp>
        <p:nvSpPr>
          <p:cNvPr id="1441284815" name="Google Shape;1217;p70"/>
          <p:cNvSpPr txBox="1">
            <a:spLocks noGrp="1"/>
          </p:cNvSpPr>
          <p:nvPr>
            <p:ph type="body" idx="1"/>
          </p:nvPr>
        </p:nvSpPr>
        <p:spPr bwMode="auto">
          <a:xfrm>
            <a:off x="646828" y="3505199"/>
            <a:ext cx="6667772" cy="3048000"/>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None/>
              <a:defRPr/>
            </a:pPr>
            <a:r>
              <a:rPr lang="en-US" b="1"/>
              <a:t>1. Plan Quality Management</a:t>
            </a:r>
            <a:endParaRPr/>
          </a:p>
          <a:p>
            <a:pPr marL="685800" lvl="1" indent="-228600" algn="l" rtl="0">
              <a:lnSpc>
                <a:spcPct val="90000"/>
              </a:lnSpc>
              <a:spcBef>
                <a:spcPts val="500"/>
              </a:spcBef>
              <a:spcAft>
                <a:spcPts val="0"/>
              </a:spcAft>
              <a:buClr>
                <a:schemeClr val="dk1"/>
              </a:buClr>
              <a:buSzPct val="100000"/>
              <a:buChar char="•"/>
              <a:defRPr/>
            </a:pPr>
            <a:r>
              <a:rPr lang="en-US"/>
              <a:t>Identify which </a:t>
            </a:r>
            <a:r>
              <a:rPr lang="en-US">
                <a:solidFill>
                  <a:schemeClr val="tx1"/>
                </a:solidFill>
              </a:rPr>
              <a:t>quality standards </a:t>
            </a:r>
            <a:r>
              <a:rPr lang="en-US"/>
              <a:t>are relevant to the project and how to satisfy those standards.</a:t>
            </a:r>
            <a:endParaRPr/>
          </a:p>
          <a:p>
            <a:pPr marL="685800" lvl="1" indent="-228600" algn="l" rtl="0">
              <a:lnSpc>
                <a:spcPct val="90000"/>
              </a:lnSpc>
              <a:spcBef>
                <a:spcPts val="500"/>
              </a:spcBef>
              <a:spcAft>
                <a:spcPts val="0"/>
              </a:spcAft>
              <a:buClr>
                <a:schemeClr val="dk1"/>
              </a:buClr>
              <a:buSzPct val="100000"/>
              <a:buChar char="•"/>
              <a:defRPr/>
            </a:pPr>
            <a:r>
              <a:rPr lang="en-US"/>
              <a:t>Quality standards for IT project, e.g. allow the system growth, reasonable response time, the system produces consistent and accurate information.</a:t>
            </a:r>
            <a:endParaRPr/>
          </a:p>
          <a:p>
            <a:pPr marL="685800" lvl="1" indent="-228600" algn="l" rtl="0">
              <a:lnSpc>
                <a:spcPct val="90000"/>
              </a:lnSpc>
              <a:spcBef>
                <a:spcPts val="500"/>
              </a:spcBef>
              <a:spcAft>
                <a:spcPts val="0"/>
              </a:spcAft>
              <a:buClr>
                <a:schemeClr val="dk1"/>
              </a:buClr>
              <a:buSzPct val="100000"/>
              <a:buChar char="•"/>
              <a:defRPr/>
            </a:pPr>
            <a:r>
              <a:rPr lang="en-US"/>
              <a:t>Main outputs: quality management plan, quality metrics, quality checklists, process improvement plan.</a:t>
            </a:r>
            <a:endParaRPr/>
          </a:p>
        </p:txBody>
      </p:sp>
      <p:sp>
        <p:nvSpPr>
          <p:cNvPr id="947416615" name="Google Shape;1218;p70"/>
          <p:cNvSpPr txBox="1"/>
          <p:nvPr/>
        </p:nvSpPr>
        <p:spPr bwMode="auto">
          <a:xfrm>
            <a:off x="533400" y="830774"/>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Quality Management</a:t>
            </a:r>
            <a:endParaRPr sz="4000" b="1">
              <a:solidFill>
                <a:schemeClr val="dk1"/>
              </a:solidFill>
              <a:latin typeface="Calibri"/>
              <a:ea typeface="Calibri"/>
              <a:cs typeface="Calibri"/>
            </a:endParaRPr>
          </a:p>
        </p:txBody>
      </p:sp>
      <p:sp>
        <p:nvSpPr>
          <p:cNvPr id="1020171834" name="Google Shape;1219;p70"/>
          <p:cNvSpPr txBox="1"/>
          <p:nvPr/>
        </p:nvSpPr>
        <p:spPr bwMode="auto">
          <a:xfrm>
            <a:off x="570628" y="151613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2140089971" name="Google Shape;1220;p70"/>
          <p:cNvCxnSpPr/>
          <p:nvPr/>
        </p:nvCxnSpPr>
        <p:spPr bwMode="auto">
          <a:xfrm rot="10800000">
            <a:off x="685800" y="1989648"/>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1071477004" name="Google Shape;1221;p70"/>
          <p:cNvGrpSpPr/>
          <p:nvPr/>
        </p:nvGrpSpPr>
        <p:grpSpPr bwMode="auto">
          <a:xfrm>
            <a:off x="687142" y="2414683"/>
            <a:ext cx="6625515" cy="905309"/>
            <a:chOff x="1942" y="0"/>
            <a:chExt cx="6625515" cy="905309"/>
          </a:xfrm>
        </p:grpSpPr>
        <p:sp>
          <p:nvSpPr>
            <p:cNvPr id="1222" name="Google Shape;1222;p70"/>
            <p:cNvSpPr/>
            <p:nvPr/>
          </p:nvSpPr>
          <p:spPr bwMode="auto">
            <a:xfrm>
              <a:off x="1942" y="0"/>
              <a:ext cx="2366255" cy="905309"/>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23" name="Google Shape;1223;p70"/>
            <p:cNvSpPr txBox="1"/>
            <p:nvPr/>
          </p:nvSpPr>
          <p:spPr bwMode="auto">
            <a:xfrm>
              <a:off x="454597" y="0"/>
              <a:ext cx="1460946" cy="905309"/>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0">
                  <a:solidFill>
                    <a:schemeClr val="lt1"/>
                  </a:solidFill>
                  <a:latin typeface="Calibri"/>
                  <a:ea typeface="Calibri"/>
                  <a:cs typeface="Calibri"/>
                </a:rPr>
                <a:t>1.                    Plan Quality Management</a:t>
              </a:r>
              <a:endParaRPr/>
            </a:p>
          </p:txBody>
        </p:sp>
        <p:sp>
          <p:nvSpPr>
            <p:cNvPr id="1224" name="Google Shape;1224;p70"/>
            <p:cNvSpPr/>
            <p:nvPr/>
          </p:nvSpPr>
          <p:spPr bwMode="auto">
            <a:xfrm>
              <a:off x="2131572" y="0"/>
              <a:ext cx="2366255" cy="905309"/>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25" name="Google Shape;1225;p70"/>
            <p:cNvSpPr txBox="1"/>
            <p:nvPr/>
          </p:nvSpPr>
          <p:spPr bwMode="auto">
            <a:xfrm>
              <a:off x="2584227" y="0"/>
              <a:ext cx="1460946" cy="905309"/>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0">
                  <a:solidFill>
                    <a:schemeClr val="lt1"/>
                  </a:solidFill>
                  <a:latin typeface="Calibri"/>
                  <a:ea typeface="Calibri"/>
                  <a:cs typeface="Calibri"/>
                </a:rPr>
                <a:t>2. </a:t>
              </a:r>
              <a:br>
                <a:rPr lang="en-US" sz="1600" b="0">
                  <a:solidFill>
                    <a:schemeClr val="lt1"/>
                  </a:solidFill>
                  <a:latin typeface="Calibri"/>
                  <a:ea typeface="Calibri"/>
                  <a:cs typeface="Calibri"/>
                </a:rPr>
              </a:br>
              <a:r>
                <a:rPr lang="en-US" sz="1600" b="0">
                  <a:solidFill>
                    <a:schemeClr val="lt1"/>
                  </a:solidFill>
                  <a:latin typeface="Calibri"/>
                  <a:ea typeface="Calibri"/>
                  <a:cs typeface="Calibri"/>
                </a:rPr>
                <a:t>Perform Quality Assurance </a:t>
              </a:r>
              <a:endParaRPr/>
            </a:p>
          </p:txBody>
        </p:sp>
        <p:sp>
          <p:nvSpPr>
            <p:cNvPr id="1226" name="Google Shape;1226;p70"/>
            <p:cNvSpPr/>
            <p:nvPr/>
          </p:nvSpPr>
          <p:spPr bwMode="auto">
            <a:xfrm>
              <a:off x="4261202" y="0"/>
              <a:ext cx="2366255" cy="905309"/>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27" name="Google Shape;1227;p70"/>
            <p:cNvSpPr txBox="1"/>
            <p:nvPr/>
          </p:nvSpPr>
          <p:spPr bwMode="auto">
            <a:xfrm>
              <a:off x="4713857" y="0"/>
              <a:ext cx="1460946" cy="905309"/>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0">
                  <a:solidFill>
                    <a:schemeClr val="lt1"/>
                  </a:solidFill>
                  <a:latin typeface="Calibri"/>
                  <a:ea typeface="Calibri"/>
                  <a:cs typeface="Calibri"/>
                </a:rPr>
                <a:t>3. </a:t>
              </a:r>
              <a:br>
                <a:rPr lang="en-US" sz="1600" b="0">
                  <a:solidFill>
                    <a:schemeClr val="lt1"/>
                  </a:solidFill>
                  <a:latin typeface="Calibri"/>
                  <a:ea typeface="Calibri"/>
                  <a:cs typeface="Calibri"/>
                </a:rPr>
              </a:br>
              <a:r>
                <a:rPr lang="en-US" sz="1600" b="0">
                  <a:solidFill>
                    <a:schemeClr val="lt1"/>
                  </a:solidFill>
                  <a:latin typeface="Calibri"/>
                  <a:ea typeface="Calibri"/>
                  <a:cs typeface="Calibri"/>
                </a:rPr>
                <a:t>Control </a:t>
              </a:r>
              <a:br>
                <a:rPr lang="en-US" sz="1600" b="0">
                  <a:solidFill>
                    <a:schemeClr val="lt1"/>
                  </a:solidFill>
                  <a:latin typeface="Calibri"/>
                  <a:ea typeface="Calibri"/>
                  <a:cs typeface="Calibri"/>
                </a:rPr>
              </a:br>
              <a:r>
                <a:rPr lang="en-US" sz="1600" b="0">
                  <a:solidFill>
                    <a:schemeClr val="lt1"/>
                  </a:solidFill>
                  <a:latin typeface="Calibri"/>
                  <a:ea typeface="Calibri"/>
                  <a:cs typeface="Calibri"/>
                </a:rPr>
                <a:t>Quality</a:t>
              </a:r>
              <a:endParaRPr/>
            </a:p>
          </p:txBody>
        </p:sp>
      </p:grpSp>
      <p:sp>
        <p:nvSpPr>
          <p:cNvPr id="965200750" name="Google Shape;1228;p70"/>
          <p:cNvSpPr/>
          <p:nvPr/>
        </p:nvSpPr>
        <p:spPr bwMode="auto">
          <a:xfrm>
            <a:off x="8929545" y="4954917"/>
            <a:ext cx="3538200" cy="1754326"/>
          </a:xfrm>
          <a:prstGeom prst="rect">
            <a:avLst/>
          </a:prstGeom>
          <a:noFill/>
          <a:ln>
            <a:noFill/>
          </a:ln>
        </p:spPr>
        <p:txBody>
          <a:bodyPr spcFirstLastPara="1" wrap="square" lIns="91425" tIns="45700" rIns="91425" bIns="45700" anchor="t" anchorCtr="0">
            <a:spAutoFit/>
          </a:bodyPr>
          <a:lstStyle/>
          <a:p>
            <a:pPr marL="0" marR="0" lvl="2" indent="0" algn="l" rtl="0">
              <a:spcBef>
                <a:spcPts val="0"/>
              </a:spcBef>
              <a:spcAft>
                <a:spcPts val="0"/>
              </a:spcAft>
              <a:buClr>
                <a:schemeClr val="dk1"/>
              </a:buClr>
              <a:buSzPts val="1800"/>
              <a:buFont typeface="Calibri"/>
              <a:buNone/>
              <a:defRPr/>
            </a:pPr>
            <a:r>
              <a:rPr lang="en-US" sz="1800" b="0" i="0" u="none" strike="noStrike" cap="none">
                <a:solidFill>
                  <a:schemeClr val="dk1"/>
                </a:solidFill>
                <a:latin typeface="Calibri"/>
                <a:ea typeface="Calibri"/>
                <a:cs typeface="Calibri"/>
              </a:rPr>
              <a:t>Note: </a:t>
            </a:r>
            <a:endParaRPr/>
          </a:p>
          <a:p>
            <a:pPr marL="0" marR="0" lvl="2" indent="0" algn="l" rtl="0">
              <a:spcBef>
                <a:spcPts val="0"/>
              </a:spcBef>
              <a:spcAft>
                <a:spcPts val="0"/>
              </a:spcAft>
              <a:buClr>
                <a:srgbClr val="C00000"/>
              </a:buClr>
              <a:buSzPts val="1800"/>
              <a:buFont typeface="Calibri"/>
              <a:buNone/>
              <a:defRPr/>
            </a:pPr>
            <a:r>
              <a:rPr lang="en-US" sz="1800" b="0" i="0" u="none" strike="noStrike" cap="none">
                <a:solidFill>
                  <a:schemeClr val="tx1"/>
                </a:solidFill>
                <a:latin typeface="Calibri"/>
                <a:ea typeface="Calibri"/>
                <a:cs typeface="Calibri"/>
              </a:rPr>
              <a:t>metric</a:t>
            </a:r>
            <a:r>
              <a:rPr lang="en-US" sz="1800" b="0" i="0" u="none" strike="noStrike" cap="none">
                <a:solidFill>
                  <a:srgbClr val="C00000"/>
                </a:solidFill>
                <a:latin typeface="Calibri"/>
                <a:ea typeface="Calibri"/>
                <a:cs typeface="Calibri"/>
              </a:rPr>
              <a:t> </a:t>
            </a:r>
            <a:r>
              <a:rPr lang="en-US" sz="1800" b="0" i="0" u="none" strike="noStrike" cap="none">
                <a:solidFill>
                  <a:schemeClr val="dk1"/>
                </a:solidFill>
                <a:latin typeface="Calibri"/>
                <a:ea typeface="Calibri"/>
                <a:cs typeface="Calibri"/>
              </a:rPr>
              <a:t>is  a standard of measurement, e.g. failure rates of products produced, availability of goods and services, customer satisfaction ratings.</a:t>
            </a:r>
            <a:endParaRPr/>
          </a:p>
        </p:txBody>
      </p:sp>
      <p:sp>
        <p:nvSpPr>
          <p:cNvPr id="1133529441" name="TextBox 2"/>
          <p:cNvSpPr txBox="1"/>
          <p:nvPr/>
        </p:nvSpPr>
        <p:spPr bwMode="auto">
          <a:xfrm>
            <a:off x="10329006" y="5705811"/>
            <a:ext cx="1764565" cy="1015663"/>
          </a:xfrm>
          <a:prstGeom prst="rect">
            <a:avLst/>
          </a:prstGeom>
          <a:noFill/>
          <a:ln>
            <a:solidFill>
              <a:srgbClr val="FF0000"/>
            </a:solidFill>
          </a:ln>
        </p:spPr>
        <p:txBody>
          <a:bodyPr wrap="square" rtlCol="0">
            <a:spAutoFit/>
          </a:bodyPr>
          <a:lstStyle/>
          <a:p>
            <a:pPr algn="ctr">
              <a:defRPr/>
            </a:pPr>
            <a:r>
              <a:rPr lang="en-MY" sz="2000">
                <a:solidFill>
                  <a:srgbClr val="FF0000"/>
                </a:solidFill>
              </a:rPr>
              <a:t>S</a:t>
            </a:r>
            <a:endParaRPr/>
          </a:p>
          <a:p>
            <a:pPr algn="ctr">
              <a:defRPr/>
            </a:pPr>
            <a:endParaRPr lang="en-MY" sz="2000">
              <a:solidFill>
                <a:srgbClr val="FF0000"/>
              </a:solidFill>
            </a:endParaRPr>
          </a:p>
          <a:p>
            <a:pPr algn="ctr">
              <a:defRPr/>
            </a:pPr>
            <a:r>
              <a:rPr lang="en-MY" sz="2000" u="sng">
                <a:solidFill>
                  <a:srgbClr val="FF0000"/>
                </a:solidFill>
              </a:rPr>
              <a:t>Chap 3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sld>
</file>

<file path=ppt/slides/slide7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99050657" name="Google Shape;1233;p71"/>
          <p:cNvPicPr/>
          <p:nvPr/>
        </p:nvPicPr>
        <p:blipFill rotWithShape="1">
          <a:blip r:embed="rId3">
            <a:alphaModFix/>
          </a:blip>
          <a:srcRect l="24980" t="0" r="25135" b="0"/>
          <a:stretch/>
        </p:blipFill>
        <p:spPr bwMode="auto">
          <a:xfrm>
            <a:off x="7594562" y="609600"/>
            <a:ext cx="4610638" cy="6153304"/>
          </a:xfrm>
          <a:prstGeom prst="rect">
            <a:avLst/>
          </a:prstGeom>
          <a:noFill/>
          <a:ln>
            <a:noFill/>
          </a:ln>
        </p:spPr>
      </p:pic>
      <p:sp>
        <p:nvSpPr>
          <p:cNvPr id="883635411" name="Google Shape;1234;p71"/>
          <p:cNvSpPr txBox="1">
            <a:spLocks noGrp="1"/>
          </p:cNvSpPr>
          <p:nvPr>
            <p:ph type="body" idx="1"/>
          </p:nvPr>
        </p:nvSpPr>
        <p:spPr bwMode="auto">
          <a:xfrm>
            <a:off x="646828" y="3886200"/>
            <a:ext cx="6667772" cy="27432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defRPr/>
            </a:pPr>
            <a:r>
              <a:rPr lang="en-US" b="1"/>
              <a:t>2. Perform Quality Assurance</a:t>
            </a:r>
            <a:endParaRPr/>
          </a:p>
          <a:p>
            <a:pPr marL="685800" lvl="1" indent="-228600" algn="l" rtl="0">
              <a:lnSpc>
                <a:spcPct val="90000"/>
              </a:lnSpc>
              <a:spcBef>
                <a:spcPts val="500"/>
              </a:spcBef>
              <a:spcAft>
                <a:spcPts val="0"/>
              </a:spcAft>
              <a:buClr>
                <a:schemeClr val="dk1"/>
              </a:buClr>
              <a:buSzPts val="2600"/>
              <a:buChar char="•"/>
              <a:defRPr/>
            </a:pPr>
            <a:r>
              <a:rPr lang="en-US" sz="2600"/>
              <a:t>Periodically evaluate overall project performance to ensure that the project will satisfy the relevant quality standards.</a:t>
            </a:r>
            <a:endParaRPr/>
          </a:p>
        </p:txBody>
      </p:sp>
      <p:sp>
        <p:nvSpPr>
          <p:cNvPr id="843376752" name="Google Shape;1235;p7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77</a:t>
            </a:fld>
            <a:endParaRPr/>
          </a:p>
        </p:txBody>
      </p:sp>
      <p:sp>
        <p:nvSpPr>
          <p:cNvPr id="1260301161" name="Google Shape;1236;p71"/>
          <p:cNvSpPr txBox="1"/>
          <p:nvPr/>
        </p:nvSpPr>
        <p:spPr bwMode="auto">
          <a:xfrm>
            <a:off x="533400" y="830774"/>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Quality Management</a:t>
            </a:r>
            <a:endParaRPr sz="4000" b="1">
              <a:solidFill>
                <a:schemeClr val="dk1"/>
              </a:solidFill>
              <a:latin typeface="Calibri"/>
              <a:ea typeface="Calibri"/>
              <a:cs typeface="Calibri"/>
            </a:endParaRPr>
          </a:p>
        </p:txBody>
      </p:sp>
      <p:sp>
        <p:nvSpPr>
          <p:cNvPr id="1128509365" name="Google Shape;1237;p71"/>
          <p:cNvSpPr txBox="1"/>
          <p:nvPr/>
        </p:nvSpPr>
        <p:spPr bwMode="auto">
          <a:xfrm>
            <a:off x="570628" y="151613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809254393" name="Google Shape;1238;p71"/>
          <p:cNvCxnSpPr/>
          <p:nvPr/>
        </p:nvCxnSpPr>
        <p:spPr bwMode="auto">
          <a:xfrm rot="10800000">
            <a:off x="685800" y="1989648"/>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1766767851" name="Google Shape;1239;p71"/>
          <p:cNvGrpSpPr/>
          <p:nvPr/>
        </p:nvGrpSpPr>
        <p:grpSpPr bwMode="auto">
          <a:xfrm>
            <a:off x="687142" y="2414683"/>
            <a:ext cx="6625515" cy="905309"/>
            <a:chOff x="1942" y="0"/>
            <a:chExt cx="6625515" cy="905309"/>
          </a:xfrm>
        </p:grpSpPr>
        <p:sp>
          <p:nvSpPr>
            <p:cNvPr id="1240" name="Google Shape;1240;p71"/>
            <p:cNvSpPr/>
            <p:nvPr/>
          </p:nvSpPr>
          <p:spPr bwMode="auto">
            <a:xfrm>
              <a:off x="1942" y="0"/>
              <a:ext cx="2366255" cy="905309"/>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41" name="Google Shape;1241;p71"/>
            <p:cNvSpPr txBox="1"/>
            <p:nvPr/>
          </p:nvSpPr>
          <p:spPr bwMode="auto">
            <a:xfrm>
              <a:off x="454597" y="0"/>
              <a:ext cx="1460946" cy="905309"/>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0">
                  <a:solidFill>
                    <a:schemeClr val="lt1"/>
                  </a:solidFill>
                  <a:latin typeface="Calibri"/>
                  <a:ea typeface="Calibri"/>
                  <a:cs typeface="Calibri"/>
                </a:rPr>
                <a:t>1.                    Plan Quality Management</a:t>
              </a:r>
              <a:endParaRPr/>
            </a:p>
          </p:txBody>
        </p:sp>
        <p:sp>
          <p:nvSpPr>
            <p:cNvPr id="1242" name="Google Shape;1242;p71"/>
            <p:cNvSpPr/>
            <p:nvPr/>
          </p:nvSpPr>
          <p:spPr bwMode="auto">
            <a:xfrm>
              <a:off x="2131572" y="0"/>
              <a:ext cx="2366255" cy="905309"/>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43" name="Google Shape;1243;p71"/>
            <p:cNvSpPr txBox="1"/>
            <p:nvPr/>
          </p:nvSpPr>
          <p:spPr bwMode="auto">
            <a:xfrm>
              <a:off x="2584227" y="0"/>
              <a:ext cx="1460946" cy="905309"/>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1">
                  <a:solidFill>
                    <a:schemeClr val="lt1"/>
                  </a:solidFill>
                  <a:latin typeface="Calibri"/>
                  <a:ea typeface="Calibri"/>
                  <a:cs typeface="Calibri"/>
                </a:rPr>
                <a:t>2. </a:t>
              </a:r>
              <a:br>
                <a:rPr lang="en-US" sz="1600" b="1">
                  <a:solidFill>
                    <a:schemeClr val="lt1"/>
                  </a:solidFill>
                  <a:latin typeface="Calibri"/>
                  <a:ea typeface="Calibri"/>
                  <a:cs typeface="Calibri"/>
                </a:rPr>
              </a:br>
              <a:r>
                <a:rPr lang="en-US" sz="1600" b="1">
                  <a:solidFill>
                    <a:schemeClr val="lt1"/>
                  </a:solidFill>
                  <a:latin typeface="Calibri"/>
                  <a:ea typeface="Calibri"/>
                  <a:cs typeface="Calibri"/>
                </a:rPr>
                <a:t>Perform Quality Assurance </a:t>
              </a:r>
              <a:endParaRPr/>
            </a:p>
          </p:txBody>
        </p:sp>
        <p:sp>
          <p:nvSpPr>
            <p:cNvPr id="1244" name="Google Shape;1244;p71"/>
            <p:cNvSpPr/>
            <p:nvPr/>
          </p:nvSpPr>
          <p:spPr bwMode="auto">
            <a:xfrm>
              <a:off x="4261202" y="0"/>
              <a:ext cx="2366255" cy="905309"/>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45" name="Google Shape;1245;p71"/>
            <p:cNvSpPr txBox="1"/>
            <p:nvPr/>
          </p:nvSpPr>
          <p:spPr bwMode="auto">
            <a:xfrm>
              <a:off x="4713857" y="0"/>
              <a:ext cx="1460946" cy="905309"/>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0">
                  <a:solidFill>
                    <a:schemeClr val="lt1"/>
                  </a:solidFill>
                  <a:latin typeface="Calibri"/>
                  <a:ea typeface="Calibri"/>
                  <a:cs typeface="Calibri"/>
                </a:rPr>
                <a:t>3. </a:t>
              </a:r>
              <a:br>
                <a:rPr lang="en-US" sz="1600" b="0">
                  <a:solidFill>
                    <a:schemeClr val="lt1"/>
                  </a:solidFill>
                  <a:latin typeface="Calibri"/>
                  <a:ea typeface="Calibri"/>
                  <a:cs typeface="Calibri"/>
                </a:rPr>
              </a:br>
              <a:r>
                <a:rPr lang="en-US" sz="1600" b="0">
                  <a:solidFill>
                    <a:schemeClr val="lt1"/>
                  </a:solidFill>
                  <a:latin typeface="Calibri"/>
                  <a:ea typeface="Calibri"/>
                  <a:cs typeface="Calibri"/>
                </a:rPr>
                <a:t>Control </a:t>
              </a:r>
              <a:br>
                <a:rPr lang="en-US" sz="1600" b="0">
                  <a:solidFill>
                    <a:schemeClr val="lt1"/>
                  </a:solidFill>
                  <a:latin typeface="Calibri"/>
                  <a:ea typeface="Calibri"/>
                  <a:cs typeface="Calibri"/>
                </a:rPr>
              </a:br>
              <a:r>
                <a:rPr lang="en-US" sz="1600" b="0">
                  <a:solidFill>
                    <a:schemeClr val="lt1"/>
                  </a:solidFill>
                  <a:latin typeface="Calibri"/>
                  <a:ea typeface="Calibri"/>
                  <a:cs typeface="Calibri"/>
                </a:rPr>
                <a:t>Quality</a:t>
              </a:r>
              <a:endParaRPr/>
            </a:p>
          </p:txBody>
        </p:sp>
      </p:grpSp>
      <p:sp>
        <p:nvSpPr>
          <p:cNvPr id="859549241" name="TextBox 2"/>
          <p:cNvSpPr txBox="1"/>
          <p:nvPr/>
        </p:nvSpPr>
        <p:spPr bwMode="auto">
          <a:xfrm>
            <a:off x="10329006" y="5705811"/>
            <a:ext cx="1764565" cy="1015663"/>
          </a:xfrm>
          <a:prstGeom prst="rect">
            <a:avLst/>
          </a:prstGeom>
          <a:noFill/>
          <a:ln>
            <a:solidFill>
              <a:srgbClr val="FF0000"/>
            </a:solidFill>
          </a:ln>
        </p:spPr>
        <p:txBody>
          <a:bodyPr wrap="square" rtlCol="0">
            <a:spAutoFit/>
          </a:bodyPr>
          <a:lstStyle/>
          <a:p>
            <a:pPr algn="ctr">
              <a:defRPr/>
            </a:pPr>
            <a:r>
              <a:rPr lang="en-MY" sz="2000">
                <a:solidFill>
                  <a:srgbClr val="FF0000"/>
                </a:solidFill>
              </a:rPr>
              <a:t>S</a:t>
            </a:r>
            <a:endParaRPr/>
          </a:p>
          <a:p>
            <a:pPr algn="ctr">
              <a:defRPr/>
            </a:pPr>
            <a:endParaRPr lang="en-MY" sz="2000">
              <a:solidFill>
                <a:srgbClr val="FF0000"/>
              </a:solidFill>
            </a:endParaRPr>
          </a:p>
          <a:p>
            <a:pPr algn="ctr">
              <a:defRPr/>
            </a:pPr>
            <a:r>
              <a:rPr lang="en-MY" sz="2000" u="sng">
                <a:solidFill>
                  <a:srgbClr val="FF0000"/>
                </a:solidFill>
              </a:rPr>
              <a:t>Chap 3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sld>
</file>

<file path=ppt/slides/slide7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70240209" name="Google Shape;1250;p72"/>
          <p:cNvPicPr/>
          <p:nvPr/>
        </p:nvPicPr>
        <p:blipFill rotWithShape="1">
          <a:blip r:embed="rId3">
            <a:alphaModFix/>
          </a:blip>
          <a:srcRect l="24980" t="0" r="25135" b="0"/>
          <a:stretch/>
        </p:blipFill>
        <p:spPr bwMode="auto">
          <a:xfrm>
            <a:off x="7594562" y="609600"/>
            <a:ext cx="4610638" cy="6153304"/>
          </a:xfrm>
          <a:prstGeom prst="rect">
            <a:avLst/>
          </a:prstGeom>
          <a:noFill/>
          <a:ln>
            <a:noFill/>
          </a:ln>
        </p:spPr>
      </p:pic>
      <p:sp>
        <p:nvSpPr>
          <p:cNvPr id="1067911279" name="Google Shape;1251;p72"/>
          <p:cNvSpPr txBox="1">
            <a:spLocks noGrp="1"/>
          </p:cNvSpPr>
          <p:nvPr>
            <p:ph type="body" idx="1"/>
          </p:nvPr>
        </p:nvSpPr>
        <p:spPr bwMode="auto">
          <a:xfrm>
            <a:off x="646828" y="3745025"/>
            <a:ext cx="6667772" cy="2976449"/>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defRPr/>
            </a:pPr>
            <a:r>
              <a:rPr lang="en-US" b="1"/>
              <a:t>3. Control Quality</a:t>
            </a:r>
            <a:endParaRPr/>
          </a:p>
          <a:p>
            <a:pPr marL="685800" lvl="1" indent="-228600" algn="l" rtl="0">
              <a:lnSpc>
                <a:spcPct val="90000"/>
              </a:lnSpc>
              <a:spcBef>
                <a:spcPts val="500"/>
              </a:spcBef>
              <a:spcAft>
                <a:spcPts val="0"/>
              </a:spcAft>
              <a:buClr>
                <a:schemeClr val="dk1"/>
              </a:buClr>
              <a:buSzPts val="2600"/>
              <a:buChar char="•"/>
              <a:defRPr/>
            </a:pPr>
            <a:r>
              <a:rPr lang="en-US" sz="2600"/>
              <a:t>Monitor and record results of executing the quality activities to assess performance and recommend necessary changes.</a:t>
            </a:r>
            <a:endParaRPr/>
          </a:p>
        </p:txBody>
      </p:sp>
      <p:sp>
        <p:nvSpPr>
          <p:cNvPr id="175671940" name="Google Shape;1252;p7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78</a:t>
            </a:fld>
            <a:endParaRPr/>
          </a:p>
        </p:txBody>
      </p:sp>
      <p:sp>
        <p:nvSpPr>
          <p:cNvPr id="476302757" name="Google Shape;1253;p72"/>
          <p:cNvSpPr txBox="1"/>
          <p:nvPr/>
        </p:nvSpPr>
        <p:spPr bwMode="auto">
          <a:xfrm>
            <a:off x="533400" y="830774"/>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Quality Management</a:t>
            </a:r>
            <a:endParaRPr sz="4000" b="1">
              <a:solidFill>
                <a:schemeClr val="dk1"/>
              </a:solidFill>
              <a:latin typeface="Calibri"/>
              <a:ea typeface="Calibri"/>
              <a:cs typeface="Calibri"/>
            </a:endParaRPr>
          </a:p>
        </p:txBody>
      </p:sp>
      <p:sp>
        <p:nvSpPr>
          <p:cNvPr id="1689389234" name="Google Shape;1254;p72"/>
          <p:cNvSpPr txBox="1"/>
          <p:nvPr/>
        </p:nvSpPr>
        <p:spPr bwMode="auto">
          <a:xfrm>
            <a:off x="570628" y="151613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65355488" name="Google Shape;1255;p72"/>
          <p:cNvCxnSpPr/>
          <p:nvPr/>
        </p:nvCxnSpPr>
        <p:spPr bwMode="auto">
          <a:xfrm rot="10800000">
            <a:off x="685800" y="1989648"/>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483595331" name="Google Shape;1256;p72"/>
          <p:cNvGrpSpPr/>
          <p:nvPr/>
        </p:nvGrpSpPr>
        <p:grpSpPr bwMode="auto">
          <a:xfrm>
            <a:off x="687142" y="2414683"/>
            <a:ext cx="6625515" cy="905309"/>
            <a:chOff x="1942" y="0"/>
            <a:chExt cx="6625515" cy="905309"/>
          </a:xfrm>
        </p:grpSpPr>
        <p:sp>
          <p:nvSpPr>
            <p:cNvPr id="1257" name="Google Shape;1257;p72"/>
            <p:cNvSpPr/>
            <p:nvPr/>
          </p:nvSpPr>
          <p:spPr bwMode="auto">
            <a:xfrm>
              <a:off x="1942" y="0"/>
              <a:ext cx="2366255" cy="905309"/>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58" name="Google Shape;1258;p72"/>
            <p:cNvSpPr txBox="1"/>
            <p:nvPr/>
          </p:nvSpPr>
          <p:spPr bwMode="auto">
            <a:xfrm>
              <a:off x="454597" y="0"/>
              <a:ext cx="1460946" cy="905309"/>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0">
                  <a:solidFill>
                    <a:schemeClr val="lt1"/>
                  </a:solidFill>
                  <a:latin typeface="Calibri"/>
                  <a:ea typeface="Calibri"/>
                  <a:cs typeface="Calibri"/>
                </a:rPr>
                <a:t>1.                    Plan Quality Management</a:t>
              </a:r>
              <a:endParaRPr/>
            </a:p>
          </p:txBody>
        </p:sp>
        <p:sp>
          <p:nvSpPr>
            <p:cNvPr id="1259" name="Google Shape;1259;p72"/>
            <p:cNvSpPr/>
            <p:nvPr/>
          </p:nvSpPr>
          <p:spPr bwMode="auto">
            <a:xfrm>
              <a:off x="2131572" y="0"/>
              <a:ext cx="2366255" cy="905309"/>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60" name="Google Shape;1260;p72"/>
            <p:cNvSpPr txBox="1"/>
            <p:nvPr/>
          </p:nvSpPr>
          <p:spPr bwMode="auto">
            <a:xfrm>
              <a:off x="2584227" y="0"/>
              <a:ext cx="1460946" cy="905309"/>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0">
                  <a:solidFill>
                    <a:schemeClr val="lt1"/>
                  </a:solidFill>
                  <a:latin typeface="Calibri"/>
                  <a:ea typeface="Calibri"/>
                  <a:cs typeface="Calibri"/>
                </a:rPr>
                <a:t>2. </a:t>
              </a:r>
              <a:br>
                <a:rPr lang="en-US" sz="1600" b="0">
                  <a:solidFill>
                    <a:schemeClr val="lt1"/>
                  </a:solidFill>
                  <a:latin typeface="Calibri"/>
                  <a:ea typeface="Calibri"/>
                  <a:cs typeface="Calibri"/>
                </a:rPr>
              </a:br>
              <a:r>
                <a:rPr lang="en-US" sz="1600" b="0">
                  <a:solidFill>
                    <a:schemeClr val="lt1"/>
                  </a:solidFill>
                  <a:latin typeface="Calibri"/>
                  <a:ea typeface="Calibri"/>
                  <a:cs typeface="Calibri"/>
                </a:rPr>
                <a:t>Perform Quality Assurance </a:t>
              </a:r>
              <a:endParaRPr/>
            </a:p>
          </p:txBody>
        </p:sp>
        <p:sp>
          <p:nvSpPr>
            <p:cNvPr id="1261" name="Google Shape;1261;p72"/>
            <p:cNvSpPr/>
            <p:nvPr/>
          </p:nvSpPr>
          <p:spPr bwMode="auto">
            <a:xfrm>
              <a:off x="4261202" y="0"/>
              <a:ext cx="2366255" cy="905309"/>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62" name="Google Shape;1262;p72"/>
            <p:cNvSpPr txBox="1"/>
            <p:nvPr/>
          </p:nvSpPr>
          <p:spPr bwMode="auto">
            <a:xfrm>
              <a:off x="4713857" y="0"/>
              <a:ext cx="1460946" cy="905309"/>
            </a:xfrm>
            <a:prstGeom prst="rect">
              <a:avLst/>
            </a:prstGeom>
            <a:noFill/>
            <a:ln>
              <a:noFill/>
            </a:ln>
          </p:spPr>
          <p:txBody>
            <a:bodyPr spcFirstLastPara="1" wrap="square" lIns="64000" tIns="21325" rIns="21325" bIns="21325" anchor="ctr" anchorCtr="0">
              <a:noAutofit/>
            </a:bodyPr>
            <a:lstStyle/>
            <a:p>
              <a:pPr marL="0" marR="0" lvl="0" indent="0" algn="ctr" rtl="0">
                <a:lnSpc>
                  <a:spcPct val="90000"/>
                </a:lnSpc>
                <a:spcBef>
                  <a:spcPts val="0"/>
                </a:spcBef>
                <a:spcAft>
                  <a:spcPts val="0"/>
                </a:spcAft>
                <a:buNone/>
                <a:defRPr/>
              </a:pPr>
              <a:r>
                <a:rPr lang="en-US" sz="1600" b="1">
                  <a:solidFill>
                    <a:schemeClr val="lt1"/>
                  </a:solidFill>
                  <a:latin typeface="Calibri"/>
                  <a:ea typeface="Calibri"/>
                  <a:cs typeface="Calibri"/>
                </a:rPr>
                <a:t>3. </a:t>
              </a:r>
              <a:br>
                <a:rPr lang="en-US" sz="1600" b="1">
                  <a:solidFill>
                    <a:schemeClr val="lt1"/>
                  </a:solidFill>
                  <a:latin typeface="Calibri"/>
                  <a:ea typeface="Calibri"/>
                  <a:cs typeface="Calibri"/>
                </a:rPr>
              </a:br>
              <a:r>
                <a:rPr lang="en-US" sz="1600" b="1">
                  <a:solidFill>
                    <a:schemeClr val="lt1"/>
                  </a:solidFill>
                  <a:latin typeface="Calibri"/>
                  <a:ea typeface="Calibri"/>
                  <a:cs typeface="Calibri"/>
                </a:rPr>
                <a:t>Control </a:t>
              </a:r>
              <a:br>
                <a:rPr lang="en-US" sz="1600" b="1">
                  <a:solidFill>
                    <a:schemeClr val="lt1"/>
                  </a:solidFill>
                  <a:latin typeface="Calibri"/>
                  <a:ea typeface="Calibri"/>
                  <a:cs typeface="Calibri"/>
                </a:rPr>
              </a:br>
              <a:r>
                <a:rPr lang="en-US" sz="1600" b="1">
                  <a:solidFill>
                    <a:schemeClr val="lt1"/>
                  </a:solidFill>
                  <a:latin typeface="Calibri"/>
                  <a:ea typeface="Calibri"/>
                  <a:cs typeface="Calibri"/>
                </a:rPr>
                <a:t>Quality</a:t>
              </a:r>
              <a:endParaRPr/>
            </a:p>
          </p:txBody>
        </p:sp>
      </p:grpSp>
      <p:sp>
        <p:nvSpPr>
          <p:cNvPr id="1334250601" name="TextBox 1"/>
          <p:cNvSpPr txBox="1"/>
          <p:nvPr/>
        </p:nvSpPr>
        <p:spPr bwMode="auto">
          <a:xfrm>
            <a:off x="10329006" y="5705811"/>
            <a:ext cx="1764565" cy="1015663"/>
          </a:xfrm>
          <a:prstGeom prst="rect">
            <a:avLst/>
          </a:prstGeom>
          <a:noFill/>
          <a:ln>
            <a:solidFill>
              <a:srgbClr val="FF0000"/>
            </a:solidFill>
          </a:ln>
        </p:spPr>
        <p:txBody>
          <a:bodyPr wrap="square" rtlCol="0">
            <a:spAutoFit/>
          </a:bodyPr>
          <a:lstStyle/>
          <a:p>
            <a:pPr algn="ctr">
              <a:defRPr/>
            </a:pPr>
            <a:r>
              <a:rPr lang="en-MY" sz="2000">
                <a:solidFill>
                  <a:srgbClr val="FF0000"/>
                </a:solidFill>
              </a:rPr>
              <a:t>S</a:t>
            </a:r>
            <a:endParaRPr/>
          </a:p>
          <a:p>
            <a:pPr algn="ctr">
              <a:defRPr/>
            </a:pPr>
            <a:endParaRPr lang="en-MY" sz="2000">
              <a:solidFill>
                <a:srgbClr val="FF0000"/>
              </a:solidFill>
            </a:endParaRPr>
          </a:p>
          <a:p>
            <a:pPr algn="ctr">
              <a:defRPr/>
            </a:pPr>
            <a:r>
              <a:rPr lang="en-MY" sz="2000" u="sng">
                <a:solidFill>
                  <a:srgbClr val="FF0000"/>
                </a:solidFill>
              </a:rPr>
              <a:t>Chap 3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sld>
</file>

<file path=ppt/slides/slide7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21090912" name="Google Shape;721;p46"/>
          <p:cNvPicPr/>
          <p:nvPr/>
        </p:nvPicPr>
        <p:blipFill rotWithShape="1">
          <a:blip r:embed="rId3">
            <a:alphaModFix/>
          </a:blip>
          <a:srcRect l="21648" t="0" r="35518" b="0"/>
          <a:stretch/>
        </p:blipFill>
        <p:spPr bwMode="auto">
          <a:xfrm>
            <a:off x="-49211" y="-9876"/>
            <a:ext cx="4419600" cy="6867876"/>
          </a:xfrm>
          <a:prstGeom prst="rect">
            <a:avLst/>
          </a:prstGeom>
          <a:noFill/>
          <a:ln>
            <a:noFill/>
          </a:ln>
        </p:spPr>
      </p:pic>
      <p:sp>
        <p:nvSpPr>
          <p:cNvPr id="1667280539" name="Google Shape;722;p46"/>
          <p:cNvSpPr txBox="1">
            <a:spLocks noGrp="1"/>
          </p:cNvSpPr>
          <p:nvPr>
            <p:ph type="title"/>
          </p:nvPr>
        </p:nvSpPr>
        <p:spPr bwMode="auto">
          <a:xfrm>
            <a:off x="609600" y="302394"/>
            <a:ext cx="5105400" cy="7159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defRPr/>
            </a:pPr>
            <a:r>
              <a:rPr lang="en-US" b="1"/>
              <a:t>Knowledge of a PM</a:t>
            </a:r>
            <a:endParaRPr/>
          </a:p>
        </p:txBody>
      </p:sp>
      <p:grpSp>
        <p:nvGrpSpPr>
          <p:cNvPr id="627078846" name="Google Shape;723;p46"/>
          <p:cNvGrpSpPr/>
          <p:nvPr/>
        </p:nvGrpSpPr>
        <p:grpSpPr bwMode="auto">
          <a:xfrm>
            <a:off x="5101159" y="1733961"/>
            <a:ext cx="6100240" cy="4657009"/>
            <a:chOff x="5688824" y="1864854"/>
            <a:chExt cx="4394200" cy="4133851"/>
          </a:xfrm>
        </p:grpSpPr>
        <p:grpSp>
          <p:nvGrpSpPr>
            <p:cNvPr id="724" name="Google Shape;724;p46"/>
            <p:cNvGrpSpPr/>
            <p:nvPr/>
          </p:nvGrpSpPr>
          <p:grpSpPr bwMode="auto">
            <a:xfrm>
              <a:off x="6438123" y="2544305"/>
              <a:ext cx="3048000" cy="2873375"/>
              <a:chOff x="1981198" y="861054"/>
              <a:chExt cx="2895602" cy="2872745"/>
            </a:xfrm>
          </p:grpSpPr>
          <p:sp>
            <p:nvSpPr>
              <p:cNvPr id="725" name="Google Shape;725;p46"/>
              <p:cNvSpPr/>
              <p:nvPr/>
            </p:nvSpPr>
            <p:spPr bwMode="auto">
              <a:xfrm>
                <a:off x="1981198" y="861054"/>
                <a:ext cx="2895602" cy="2872745"/>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26" name="Google Shape;726;p46"/>
              <p:cNvSpPr/>
              <p:nvPr/>
            </p:nvSpPr>
            <p:spPr bwMode="auto">
              <a:xfrm>
                <a:off x="2405060" y="1281650"/>
                <a:ext cx="2047876" cy="2031554"/>
              </a:xfrm>
              <a:prstGeom prst="rect">
                <a:avLst/>
              </a:prstGeom>
              <a:noFill/>
              <a:ln>
                <a:noFill/>
              </a:ln>
            </p:spPr>
            <p:txBody>
              <a:bodyPr spcFirstLastPara="1" wrap="square" lIns="44450" tIns="44450" rIns="44450" bIns="44450" anchor="ctr" anchorCtr="0">
                <a:noAutofit/>
              </a:bodyPr>
              <a:lstStyle/>
              <a:p>
                <a:pPr marL="0" marR="0" lvl="0" indent="0" algn="ctr" rtl="0">
                  <a:lnSpc>
                    <a:spcPct val="90000"/>
                  </a:lnSpc>
                  <a:spcBef>
                    <a:spcPts val="0"/>
                  </a:spcBef>
                  <a:spcAft>
                    <a:spcPts val="0"/>
                  </a:spcAft>
                  <a:buNone/>
                  <a:defRPr/>
                </a:pPr>
                <a:r>
                  <a:rPr lang="en-US" sz="3500">
                    <a:solidFill>
                      <a:schemeClr val="dk1"/>
                    </a:solidFill>
                    <a:latin typeface="Calibri"/>
                    <a:ea typeface="Calibri"/>
                    <a:cs typeface="Calibri"/>
                  </a:rPr>
                  <a:t>Integration</a:t>
                </a:r>
                <a:endParaRPr/>
              </a:p>
            </p:txBody>
          </p:sp>
        </p:grpSp>
        <p:grpSp>
          <p:nvGrpSpPr>
            <p:cNvPr id="727" name="Google Shape;727;p46"/>
            <p:cNvGrpSpPr/>
            <p:nvPr/>
          </p:nvGrpSpPr>
          <p:grpSpPr bwMode="auto">
            <a:xfrm>
              <a:off x="7306486" y="1864854"/>
              <a:ext cx="1158875" cy="947738"/>
              <a:chOff x="2849129" y="181000"/>
              <a:chExt cx="1159740" cy="947887"/>
            </a:xfrm>
          </p:grpSpPr>
          <p:sp>
            <p:nvSpPr>
              <p:cNvPr id="728" name="Google Shape;728;p46"/>
              <p:cNvSpPr/>
              <p:nvPr/>
            </p:nvSpPr>
            <p:spPr bwMode="auto">
              <a:xfrm>
                <a:off x="2849129" y="181000"/>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29" name="Google Shape;729;p46"/>
              <p:cNvSpPr/>
              <p:nvPr/>
            </p:nvSpPr>
            <p:spPr bwMode="auto">
              <a:xfrm>
                <a:off x="3019119" y="319135"/>
                <a:ext cx="819761"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Scope</a:t>
                </a:r>
                <a:endParaRPr/>
              </a:p>
            </p:txBody>
          </p:sp>
        </p:grpSp>
        <p:grpSp>
          <p:nvGrpSpPr>
            <p:cNvPr id="730" name="Google Shape;730;p46"/>
            <p:cNvGrpSpPr/>
            <p:nvPr/>
          </p:nvGrpSpPr>
          <p:grpSpPr bwMode="auto">
            <a:xfrm>
              <a:off x="8495523" y="2249029"/>
              <a:ext cx="1160462" cy="947738"/>
              <a:chOff x="3904896" y="565268"/>
              <a:chExt cx="1159740" cy="947887"/>
            </a:xfrm>
          </p:grpSpPr>
          <p:sp>
            <p:nvSpPr>
              <p:cNvPr id="731" name="Google Shape;731;p46"/>
              <p:cNvSpPr/>
              <p:nvPr/>
            </p:nvSpPr>
            <p:spPr bwMode="auto">
              <a:xfrm>
                <a:off x="3904896" y="565268"/>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2" name="Google Shape;732;p46"/>
              <p:cNvSpPr/>
              <p:nvPr/>
            </p:nvSpPr>
            <p:spPr bwMode="auto">
              <a:xfrm>
                <a:off x="4074652" y="703403"/>
                <a:ext cx="820227"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Time</a:t>
                </a:r>
                <a:endParaRPr/>
              </a:p>
            </p:txBody>
          </p:sp>
        </p:grpSp>
        <p:grpSp>
          <p:nvGrpSpPr>
            <p:cNvPr id="733" name="Google Shape;733;p46"/>
            <p:cNvGrpSpPr/>
            <p:nvPr/>
          </p:nvGrpSpPr>
          <p:grpSpPr bwMode="auto">
            <a:xfrm>
              <a:off x="8922561" y="3222168"/>
              <a:ext cx="1160463" cy="947737"/>
              <a:chOff x="4466658" y="1538269"/>
              <a:chExt cx="1159740" cy="947887"/>
            </a:xfrm>
          </p:grpSpPr>
          <p:sp>
            <p:nvSpPr>
              <p:cNvPr id="734" name="Google Shape;734;p46"/>
              <p:cNvSpPr/>
              <p:nvPr/>
            </p:nvSpPr>
            <p:spPr bwMode="auto">
              <a:xfrm>
                <a:off x="4466658" y="1538269"/>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5" name="Google Shape;735;p46"/>
              <p:cNvSpPr/>
              <p:nvPr/>
            </p:nvSpPr>
            <p:spPr bwMode="auto">
              <a:xfrm>
                <a:off x="4636415" y="1676403"/>
                <a:ext cx="820226"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Cost</a:t>
                </a:r>
                <a:endParaRPr/>
              </a:p>
            </p:txBody>
          </p:sp>
        </p:grpSp>
        <p:grpSp>
          <p:nvGrpSpPr>
            <p:cNvPr id="736" name="Google Shape;736;p46"/>
            <p:cNvGrpSpPr/>
            <p:nvPr/>
          </p:nvGrpSpPr>
          <p:grpSpPr bwMode="auto">
            <a:xfrm>
              <a:off x="8800323" y="4328654"/>
              <a:ext cx="1160462" cy="947738"/>
              <a:chOff x="4271560" y="2644723"/>
              <a:chExt cx="1159740" cy="947887"/>
            </a:xfrm>
          </p:grpSpPr>
          <p:sp>
            <p:nvSpPr>
              <p:cNvPr id="737" name="Google Shape;737;p46"/>
              <p:cNvSpPr/>
              <p:nvPr/>
            </p:nvSpPr>
            <p:spPr bwMode="auto">
              <a:xfrm>
                <a:off x="4271560" y="2644723"/>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8" name="Google Shape;738;p46"/>
              <p:cNvSpPr/>
              <p:nvPr/>
            </p:nvSpPr>
            <p:spPr bwMode="auto">
              <a:xfrm>
                <a:off x="4441316" y="2782859"/>
                <a:ext cx="820227"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Quality</a:t>
                </a:r>
                <a:endParaRPr/>
              </a:p>
            </p:txBody>
          </p:sp>
        </p:grpSp>
        <p:grpSp>
          <p:nvGrpSpPr>
            <p:cNvPr id="739" name="Google Shape;739;p46"/>
            <p:cNvGrpSpPr/>
            <p:nvPr/>
          </p:nvGrpSpPr>
          <p:grpSpPr bwMode="auto">
            <a:xfrm>
              <a:off x="7912910" y="5050968"/>
              <a:ext cx="1160463" cy="947737"/>
              <a:chOff x="3410891" y="3366911"/>
              <a:chExt cx="1159740" cy="947887"/>
            </a:xfrm>
          </p:grpSpPr>
          <p:sp>
            <p:nvSpPr>
              <p:cNvPr id="740" name="Google Shape;740;p46"/>
              <p:cNvSpPr/>
              <p:nvPr/>
            </p:nvSpPr>
            <p:spPr bwMode="auto">
              <a:xfrm>
                <a:off x="3410891" y="3366911"/>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1" name="Google Shape;741;p46"/>
              <p:cNvSpPr/>
              <p:nvPr/>
            </p:nvSpPr>
            <p:spPr bwMode="auto">
              <a:xfrm>
                <a:off x="3580648" y="3505045"/>
                <a:ext cx="820226"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Human Resource</a:t>
                </a:r>
                <a:endParaRPr/>
              </a:p>
            </p:txBody>
          </p:sp>
        </p:grpSp>
        <p:grpSp>
          <p:nvGrpSpPr>
            <p:cNvPr id="742" name="Google Shape;742;p46"/>
            <p:cNvGrpSpPr/>
            <p:nvPr/>
          </p:nvGrpSpPr>
          <p:grpSpPr bwMode="auto">
            <a:xfrm>
              <a:off x="6684186" y="5050968"/>
              <a:ext cx="1160463" cy="947737"/>
              <a:chOff x="2287367" y="3366911"/>
              <a:chExt cx="1159740" cy="947887"/>
            </a:xfrm>
          </p:grpSpPr>
          <p:sp>
            <p:nvSpPr>
              <p:cNvPr id="743" name="Google Shape;743;p46"/>
              <p:cNvSpPr/>
              <p:nvPr/>
            </p:nvSpPr>
            <p:spPr bwMode="auto">
              <a:xfrm>
                <a:off x="2287367" y="3366911"/>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4" name="Google Shape;744;p46"/>
              <p:cNvSpPr/>
              <p:nvPr/>
            </p:nvSpPr>
            <p:spPr bwMode="auto">
              <a:xfrm>
                <a:off x="2338135" y="3505045"/>
                <a:ext cx="1032819"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Communication</a:t>
                </a:r>
                <a:endParaRPr/>
              </a:p>
            </p:txBody>
          </p:sp>
        </p:grpSp>
        <p:grpSp>
          <p:nvGrpSpPr>
            <p:cNvPr id="745" name="Google Shape;745;p46"/>
            <p:cNvGrpSpPr/>
            <p:nvPr/>
          </p:nvGrpSpPr>
          <p:grpSpPr bwMode="auto">
            <a:xfrm>
              <a:off x="5845986" y="4328654"/>
              <a:ext cx="1160463" cy="947738"/>
              <a:chOff x="1426698" y="2644723"/>
              <a:chExt cx="1159740" cy="947887"/>
            </a:xfrm>
          </p:grpSpPr>
          <p:sp>
            <p:nvSpPr>
              <p:cNvPr id="746" name="Google Shape;746;p46"/>
              <p:cNvSpPr/>
              <p:nvPr/>
            </p:nvSpPr>
            <p:spPr bwMode="auto">
              <a:xfrm>
                <a:off x="1426698" y="2644723"/>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7" name="Google Shape;747;p46"/>
              <p:cNvSpPr/>
              <p:nvPr/>
            </p:nvSpPr>
            <p:spPr bwMode="auto">
              <a:xfrm>
                <a:off x="1596455" y="2782859"/>
                <a:ext cx="820226"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Risk</a:t>
                </a:r>
                <a:endParaRPr/>
              </a:p>
            </p:txBody>
          </p:sp>
        </p:grpSp>
        <p:grpSp>
          <p:nvGrpSpPr>
            <p:cNvPr id="748" name="Google Shape;748;p46"/>
            <p:cNvGrpSpPr/>
            <p:nvPr/>
          </p:nvGrpSpPr>
          <p:grpSpPr bwMode="auto">
            <a:xfrm>
              <a:off x="5688824" y="3222168"/>
              <a:ext cx="1158875" cy="947737"/>
              <a:chOff x="1231599" y="1538269"/>
              <a:chExt cx="1159741" cy="947887"/>
            </a:xfrm>
          </p:grpSpPr>
          <p:sp>
            <p:nvSpPr>
              <p:cNvPr id="749" name="Google Shape;749;p46"/>
              <p:cNvSpPr/>
              <p:nvPr/>
            </p:nvSpPr>
            <p:spPr bwMode="auto">
              <a:xfrm>
                <a:off x="1231600" y="1538269"/>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50" name="Google Shape;750;p46"/>
              <p:cNvSpPr/>
              <p:nvPr/>
            </p:nvSpPr>
            <p:spPr bwMode="auto">
              <a:xfrm>
                <a:off x="1231599" y="1676403"/>
                <a:ext cx="1154974"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Procurement</a:t>
                </a:r>
                <a:endParaRPr/>
              </a:p>
            </p:txBody>
          </p:sp>
        </p:grpSp>
        <p:grpSp>
          <p:nvGrpSpPr>
            <p:cNvPr id="751" name="Google Shape;751;p46"/>
            <p:cNvGrpSpPr/>
            <p:nvPr/>
          </p:nvGrpSpPr>
          <p:grpSpPr bwMode="auto">
            <a:xfrm>
              <a:off x="6150786" y="2249029"/>
              <a:ext cx="1160463" cy="947738"/>
              <a:chOff x="1793362" y="565268"/>
              <a:chExt cx="1159740" cy="947887"/>
            </a:xfrm>
          </p:grpSpPr>
          <p:sp>
            <p:nvSpPr>
              <p:cNvPr id="752" name="Google Shape;752;p46"/>
              <p:cNvSpPr/>
              <p:nvPr/>
            </p:nvSpPr>
            <p:spPr bwMode="auto">
              <a:xfrm>
                <a:off x="1793362" y="565268"/>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53" name="Google Shape;753;p46"/>
              <p:cNvSpPr/>
              <p:nvPr/>
            </p:nvSpPr>
            <p:spPr bwMode="auto">
              <a:xfrm>
                <a:off x="1850476" y="703403"/>
                <a:ext cx="1102626"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Stakeholders</a:t>
                </a:r>
                <a:endParaRPr/>
              </a:p>
            </p:txBody>
          </p:sp>
        </p:grpSp>
      </p:grpSp>
      <p:sp>
        <p:nvSpPr>
          <p:cNvPr id="562330849" name="Google Shape;754;p46"/>
          <p:cNvSpPr txBox="1"/>
          <p:nvPr/>
        </p:nvSpPr>
        <p:spPr bwMode="auto">
          <a:xfrm>
            <a:off x="646828" y="98775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sp>
        <p:nvSpPr>
          <p:cNvPr id="13051211" name="Google Shape;755;p46"/>
          <p:cNvSpPr txBox="1"/>
          <p:nvPr/>
        </p:nvSpPr>
        <p:spPr bwMode="auto">
          <a:xfrm>
            <a:off x="681560" y="1703714"/>
            <a:ext cx="2970213"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defRPr/>
            </a:pPr>
            <a:r>
              <a:rPr lang="en-US" sz="2400">
                <a:solidFill>
                  <a:srgbClr val="FF0000"/>
                </a:solidFill>
                <a:latin typeface="Times New Roman"/>
                <a:ea typeface="Times New Roman"/>
                <a:cs typeface="Times New Roman"/>
              </a:rPr>
              <a:t>10 </a:t>
            </a:r>
            <a:r>
              <a:rPr lang="en-US" sz="2400">
                <a:solidFill>
                  <a:schemeClr val="dk1"/>
                </a:solidFill>
                <a:latin typeface="Times New Roman"/>
                <a:ea typeface="Times New Roman"/>
                <a:cs typeface="Times New Roman"/>
              </a:rPr>
              <a:t>Knowledge </a:t>
            </a:r>
            <a:r>
              <a:rPr lang="en-US" sz="2400">
                <a:solidFill>
                  <a:srgbClr val="FF0000"/>
                </a:solidFill>
                <a:latin typeface="Times New Roman"/>
                <a:ea typeface="Times New Roman"/>
                <a:cs typeface="Times New Roman"/>
              </a:rPr>
              <a:t>Areas</a:t>
            </a:r>
            <a:endParaRPr>
              <a:solidFill>
                <a:srgbClr val="FF0000"/>
              </a:solidFill>
            </a:endParaRPr>
          </a:p>
        </p:txBody>
      </p:sp>
      <p:sp>
        <p:nvSpPr>
          <p:cNvPr id="750463582" name="Google Shape;756;p4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79</a:t>
            </a:fld>
            <a:endParaRPr/>
          </a:p>
        </p:txBody>
      </p:sp>
      <p:cxnSp>
        <p:nvCxnSpPr>
          <p:cNvPr id="1576549196" name="Google Shape;757;p46"/>
          <p:cNvCxnSpPr/>
          <p:nvPr/>
        </p:nvCxnSpPr>
        <p:spPr bwMode="auto">
          <a:xfrm rot="10800000">
            <a:off x="762000" y="1461268"/>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2088191867" name="Freeform: Shape 1"/>
          <p:cNvSpPr/>
          <p:nvPr/>
        </p:nvSpPr>
        <p:spPr bwMode="auto">
          <a:xfrm>
            <a:off x="8183105" y="1999281"/>
            <a:ext cx="449451" cy="604434"/>
          </a:xfrm>
          <a:custGeom>
            <a:avLst/>
            <a:gdLst>
              <a:gd name="connsiteX0" fmla="*/ 0 w 449451"/>
              <a:gd name="connsiteY0" fmla="*/ 418455 h 604434"/>
              <a:gd name="connsiteX1" fmla="*/ 154983 w 449451"/>
              <a:gd name="connsiteY1" fmla="*/ 604434 h 604434"/>
              <a:gd name="connsiteX2" fmla="*/ 449451 w 449451"/>
              <a:gd name="connsiteY2" fmla="*/ 0 h 604434"/>
            </a:gdLst>
            <a:ahLst/>
            <a:cxnLst>
              <a:cxn ang="0">
                <a:pos x="connsiteX0" y="connsiteY0"/>
              </a:cxn>
              <a:cxn ang="0">
                <a:pos x="connsiteX1" y="connsiteY1"/>
              </a:cxn>
              <a:cxn ang="0">
                <a:pos x="connsiteX2" y="connsiteY2"/>
              </a:cxn>
            </a:cxnLst>
            <a:rect l="l" t="t" r="r" b="b"/>
            <a:pathLst>
              <a:path w="449451" h="604434" fill="norm" stroke="1" extrusionOk="0">
                <a:moveTo>
                  <a:pt x="0" y="418455"/>
                </a:moveTo>
                <a:lnTo>
                  <a:pt x="154983" y="604434"/>
                </a:lnTo>
                <a:lnTo>
                  <a:pt x="449451" y="0"/>
                </a:ln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389458060" name="Freeform: Shape 2"/>
          <p:cNvSpPr/>
          <p:nvPr/>
        </p:nvSpPr>
        <p:spPr bwMode="auto">
          <a:xfrm>
            <a:off x="9895037" y="2405269"/>
            <a:ext cx="449451" cy="604434"/>
          </a:xfrm>
          <a:custGeom>
            <a:avLst/>
            <a:gdLst>
              <a:gd name="connsiteX0" fmla="*/ 0 w 449451"/>
              <a:gd name="connsiteY0" fmla="*/ 418455 h 604434"/>
              <a:gd name="connsiteX1" fmla="*/ 154983 w 449451"/>
              <a:gd name="connsiteY1" fmla="*/ 604434 h 604434"/>
              <a:gd name="connsiteX2" fmla="*/ 449451 w 449451"/>
              <a:gd name="connsiteY2" fmla="*/ 0 h 604434"/>
            </a:gdLst>
            <a:ahLst/>
            <a:cxnLst>
              <a:cxn ang="0">
                <a:pos x="connsiteX0" y="connsiteY0"/>
              </a:cxn>
              <a:cxn ang="0">
                <a:pos x="connsiteX1" y="connsiteY1"/>
              </a:cxn>
              <a:cxn ang="0">
                <a:pos x="connsiteX2" y="connsiteY2"/>
              </a:cxn>
            </a:cxnLst>
            <a:rect l="l" t="t" r="r" b="b"/>
            <a:pathLst>
              <a:path w="449451" h="604434" fill="norm" stroke="1" extrusionOk="0">
                <a:moveTo>
                  <a:pt x="0" y="418455"/>
                </a:moveTo>
                <a:lnTo>
                  <a:pt x="154983" y="604434"/>
                </a:lnTo>
                <a:lnTo>
                  <a:pt x="449451" y="0"/>
                </a:ln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67280371" name="Freeform: Shape 3"/>
          <p:cNvSpPr/>
          <p:nvPr/>
        </p:nvSpPr>
        <p:spPr bwMode="auto">
          <a:xfrm>
            <a:off x="10477501" y="3494671"/>
            <a:ext cx="449451" cy="604434"/>
          </a:xfrm>
          <a:custGeom>
            <a:avLst/>
            <a:gdLst>
              <a:gd name="connsiteX0" fmla="*/ 0 w 449451"/>
              <a:gd name="connsiteY0" fmla="*/ 418455 h 604434"/>
              <a:gd name="connsiteX1" fmla="*/ 154983 w 449451"/>
              <a:gd name="connsiteY1" fmla="*/ 604434 h 604434"/>
              <a:gd name="connsiteX2" fmla="*/ 449451 w 449451"/>
              <a:gd name="connsiteY2" fmla="*/ 0 h 604434"/>
            </a:gdLst>
            <a:ahLst/>
            <a:cxnLst>
              <a:cxn ang="0">
                <a:pos x="connsiteX0" y="connsiteY0"/>
              </a:cxn>
              <a:cxn ang="0">
                <a:pos x="connsiteX1" y="connsiteY1"/>
              </a:cxn>
              <a:cxn ang="0">
                <a:pos x="connsiteX2" y="connsiteY2"/>
              </a:cxn>
            </a:cxnLst>
            <a:rect l="l" t="t" r="r" b="b"/>
            <a:pathLst>
              <a:path w="449451" h="604434" fill="norm" stroke="1" extrusionOk="0">
                <a:moveTo>
                  <a:pt x="0" y="418455"/>
                </a:moveTo>
                <a:lnTo>
                  <a:pt x="154983" y="604434"/>
                </a:lnTo>
                <a:lnTo>
                  <a:pt x="449451" y="0"/>
                </a:ln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707922302" name="TextBox 4"/>
          <p:cNvSpPr txBox="1"/>
          <p:nvPr/>
        </p:nvSpPr>
        <p:spPr bwMode="auto">
          <a:xfrm>
            <a:off x="9996191" y="5092944"/>
            <a:ext cx="696117" cy="307777"/>
          </a:xfrm>
          <a:prstGeom prst="rect">
            <a:avLst/>
          </a:prstGeom>
          <a:noFill/>
        </p:spPr>
        <p:txBody>
          <a:bodyPr wrap="square" rtlCol="0">
            <a:spAutoFit/>
          </a:bodyPr>
          <a:lstStyle/>
          <a:p>
            <a:pPr>
              <a:defRPr/>
            </a:pPr>
            <a:r>
              <a:rPr lang="en-US">
                <a:solidFill>
                  <a:srgbClr val="FF0000"/>
                </a:solidFill>
              </a:rPr>
              <a:t>(ch3)</a:t>
            </a:r>
            <a:endParaRPr lang="en-GB">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l"/>
      </p:transition>
    </mc:Choice>
    <mc:Fallback>
      <p:transition spd="slow" advClick="1">
        <p:push dir="l"/>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64087937" name="Google Shape;1268;p73"/>
          <p:cNvPicPr/>
          <p:nvPr/>
        </p:nvPicPr>
        <p:blipFill rotWithShape="1">
          <a:blip r:embed="rId3">
            <a:alphaModFix/>
          </a:blip>
          <a:srcRect l="42835" t="0" r="26308" b="0"/>
          <a:stretch/>
        </p:blipFill>
        <p:spPr bwMode="auto">
          <a:xfrm>
            <a:off x="0" y="-5557"/>
            <a:ext cx="3200400" cy="6863558"/>
          </a:xfrm>
          <a:prstGeom prst="rect">
            <a:avLst/>
          </a:prstGeom>
          <a:noFill/>
          <a:ln>
            <a:noFill/>
          </a:ln>
        </p:spPr>
      </p:pic>
      <p:sp>
        <p:nvSpPr>
          <p:cNvPr id="1203028551" name="Google Shape;1269;p73"/>
          <p:cNvSpPr txBox="1">
            <a:spLocks noGrp="1"/>
          </p:cNvSpPr>
          <p:nvPr>
            <p:ph type="body" idx="1"/>
          </p:nvPr>
        </p:nvSpPr>
        <p:spPr bwMode="auto">
          <a:xfrm>
            <a:off x="3745200" y="2223421"/>
            <a:ext cx="8001000" cy="4101179"/>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400"/>
              <a:buChar char="•"/>
              <a:defRPr/>
            </a:pPr>
            <a:r>
              <a:rPr lang="en-US" sz="2400">
                <a:solidFill>
                  <a:schemeClr val="tx1"/>
                </a:solidFill>
              </a:rPr>
              <a:t>Includes the processes required to make the most effective use of the people involved in a project.</a:t>
            </a:r>
            <a:endParaRPr>
              <a:solidFill>
                <a:schemeClr val="tx1"/>
              </a:solidFill>
            </a:endParaRPr>
          </a:p>
          <a:p>
            <a:pPr marL="228600" lvl="0" indent="-228600" algn="l" rtl="0">
              <a:lnSpc>
                <a:spcPct val="90000"/>
              </a:lnSpc>
              <a:spcBef>
                <a:spcPts val="1000"/>
              </a:spcBef>
              <a:spcAft>
                <a:spcPts val="0"/>
              </a:spcAft>
              <a:buClr>
                <a:schemeClr val="dk1"/>
              </a:buClr>
              <a:buSzPts val="2400"/>
              <a:buChar char="•"/>
              <a:defRPr/>
            </a:pPr>
            <a:r>
              <a:rPr lang="en-US" sz="2400">
                <a:solidFill>
                  <a:schemeClr val="tx1"/>
                </a:solidFill>
              </a:rPr>
              <a:t>Includes all project </a:t>
            </a:r>
            <a:r>
              <a:rPr lang="en-US" sz="2400" i="1">
                <a:solidFill>
                  <a:schemeClr val="tx1"/>
                </a:solidFill>
              </a:rPr>
              <a:t>stakeholders</a:t>
            </a:r>
            <a:r>
              <a:rPr lang="en-US" sz="2400">
                <a:solidFill>
                  <a:schemeClr val="tx1"/>
                </a:solidFill>
              </a:rPr>
              <a:t>: sponsors, customers, project team members, support staff, suppliers supporting the project, etc.</a:t>
            </a:r>
            <a:endParaRPr/>
          </a:p>
          <a:p>
            <a:pPr marL="228600" lvl="0" indent="-228600" algn="l" rtl="0">
              <a:lnSpc>
                <a:spcPct val="90000"/>
              </a:lnSpc>
              <a:spcBef>
                <a:spcPts val="1000"/>
              </a:spcBef>
              <a:spcAft>
                <a:spcPts val="0"/>
              </a:spcAft>
              <a:buClr>
                <a:schemeClr val="dk1"/>
              </a:buClr>
              <a:buSzPts val="2400"/>
              <a:buChar char="•"/>
              <a:defRPr/>
            </a:pPr>
            <a:endParaRPr b="1">
              <a:solidFill>
                <a:schemeClr val="tx1"/>
              </a:solidFill>
            </a:endParaRPr>
          </a:p>
          <a:p>
            <a:pPr marL="228600" lvl="0" indent="-228600" algn="l" rtl="0">
              <a:lnSpc>
                <a:spcPct val="90000"/>
              </a:lnSpc>
              <a:spcBef>
                <a:spcPts val="1000"/>
              </a:spcBef>
              <a:spcAft>
                <a:spcPts val="0"/>
              </a:spcAft>
              <a:buClr>
                <a:schemeClr val="dk1"/>
              </a:buClr>
              <a:buSzPts val="2800"/>
              <a:buChar char="•"/>
              <a:defRPr/>
            </a:pPr>
            <a:r>
              <a:rPr lang="en-US" sz="2800"/>
              <a:t>4 processes:</a:t>
            </a:r>
            <a:endParaRPr/>
          </a:p>
          <a:p>
            <a:pPr marL="914400" lvl="1" indent="-457200" algn="l" rtl="0">
              <a:lnSpc>
                <a:spcPct val="90000"/>
              </a:lnSpc>
              <a:spcBef>
                <a:spcPts val="500"/>
              </a:spcBef>
              <a:spcAft>
                <a:spcPts val="0"/>
              </a:spcAft>
              <a:buClr>
                <a:schemeClr val="dk1"/>
              </a:buClr>
              <a:buSzPts val="2400"/>
              <a:buFont typeface="Times New Roman"/>
              <a:buAutoNum type="arabicPeriod"/>
              <a:defRPr/>
            </a:pPr>
            <a:r>
              <a:rPr lang="en-US" sz="2400" b="1"/>
              <a:t>Plan HR Management</a:t>
            </a:r>
            <a:endParaRPr b="1"/>
          </a:p>
          <a:p>
            <a:pPr marL="914400" lvl="1" indent="-457200" algn="l" rtl="0">
              <a:lnSpc>
                <a:spcPct val="90000"/>
              </a:lnSpc>
              <a:spcBef>
                <a:spcPts val="500"/>
              </a:spcBef>
              <a:spcAft>
                <a:spcPts val="0"/>
              </a:spcAft>
              <a:buClr>
                <a:schemeClr val="dk1"/>
              </a:buClr>
              <a:buSzPts val="2400"/>
              <a:buFont typeface="Times New Roman"/>
              <a:buAutoNum type="arabicPeriod"/>
              <a:defRPr/>
            </a:pPr>
            <a:r>
              <a:rPr lang="en-US" sz="2400" b="1"/>
              <a:t>Acquire Project Team</a:t>
            </a:r>
            <a:endParaRPr b="1"/>
          </a:p>
          <a:p>
            <a:pPr marL="914400" lvl="1" indent="-457200" algn="l" rtl="0">
              <a:lnSpc>
                <a:spcPct val="90000"/>
              </a:lnSpc>
              <a:spcBef>
                <a:spcPts val="500"/>
              </a:spcBef>
              <a:spcAft>
                <a:spcPts val="0"/>
              </a:spcAft>
              <a:buClr>
                <a:schemeClr val="dk1"/>
              </a:buClr>
              <a:buSzPts val="2400"/>
              <a:buFont typeface="Times New Roman"/>
              <a:buAutoNum type="arabicPeriod"/>
              <a:defRPr/>
            </a:pPr>
            <a:r>
              <a:rPr lang="en-US" sz="2400" b="1"/>
              <a:t>Develop Project Team</a:t>
            </a:r>
            <a:endParaRPr b="1"/>
          </a:p>
          <a:p>
            <a:pPr marL="914400" lvl="1" indent="-457200" algn="l" rtl="0">
              <a:lnSpc>
                <a:spcPct val="90000"/>
              </a:lnSpc>
              <a:spcBef>
                <a:spcPts val="500"/>
              </a:spcBef>
              <a:spcAft>
                <a:spcPts val="0"/>
              </a:spcAft>
              <a:buClr>
                <a:schemeClr val="dk1"/>
              </a:buClr>
              <a:buSzPts val="2400"/>
              <a:buFont typeface="Times New Roman"/>
              <a:buAutoNum type="arabicPeriod"/>
              <a:defRPr/>
            </a:pPr>
            <a:r>
              <a:rPr lang="en-US" sz="2400" b="1"/>
              <a:t>Manage Project Team</a:t>
            </a:r>
            <a:endParaRPr sz="2400" b="1"/>
          </a:p>
        </p:txBody>
      </p:sp>
      <p:sp>
        <p:nvSpPr>
          <p:cNvPr id="1697660993" name="Google Shape;1270;p7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80</a:t>
            </a:fld>
            <a:endParaRPr/>
          </a:p>
        </p:txBody>
      </p:sp>
      <p:sp>
        <p:nvSpPr>
          <p:cNvPr id="1989501401" name="Google Shape;1271;p73"/>
          <p:cNvSpPr txBox="1"/>
          <p:nvPr/>
        </p:nvSpPr>
        <p:spPr bwMode="auto">
          <a:xfrm>
            <a:off x="3657600" y="666013"/>
            <a:ext cx="7010399" cy="715961"/>
          </a:xfrm>
          <a:prstGeom prst="rect">
            <a:avLst/>
          </a:prstGeom>
          <a:noFill/>
          <a:ln>
            <a:noFill/>
          </a:ln>
        </p:spPr>
        <p:txBody>
          <a:bodyPr spcFirstLastPara="1" wrap="square" lIns="91425" tIns="45700" rIns="91425" bIns="45700" anchor="ctr" anchorCtr="0">
            <a:normAutofit fontScale="77500" lnSpcReduction="200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Human Resource Management</a:t>
            </a:r>
            <a:endParaRPr sz="4000" b="1">
              <a:solidFill>
                <a:schemeClr val="dk1"/>
              </a:solidFill>
              <a:latin typeface="Calibri"/>
              <a:ea typeface="Calibri"/>
              <a:cs typeface="Calibri"/>
            </a:endParaRPr>
          </a:p>
        </p:txBody>
      </p:sp>
      <p:sp>
        <p:nvSpPr>
          <p:cNvPr id="1911092114" name="Google Shape;1272;p73"/>
          <p:cNvSpPr txBox="1"/>
          <p:nvPr/>
        </p:nvSpPr>
        <p:spPr bwMode="auto">
          <a:xfrm>
            <a:off x="3694828" y="1267746"/>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396863565" name="Google Shape;1273;p73"/>
          <p:cNvCxnSpPr/>
          <p:nvPr/>
        </p:nvCxnSpPr>
        <p:spPr bwMode="auto">
          <a:xfrm rot="10800000">
            <a:off x="3810000" y="1741261"/>
            <a:ext cx="1023822" cy="0"/>
          </a:xfrm>
          <a:prstGeom prst="straightConnector1">
            <a:avLst/>
          </a:prstGeom>
          <a:noFill/>
          <a:ln w="28575" cap="flat" cmpd="sng">
            <a:solidFill>
              <a:srgbClr val="3F3F3F"/>
            </a:solidFill>
            <a:prstDash val="solid"/>
            <a:miter lim="800000"/>
            <a:headEnd type="none" w="sm" len="sm"/>
            <a:tailEnd type="none" w="sm" len="sm"/>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Bar dir="horz"/>
      </p:transition>
    </mc:Choice>
    <mc:Fallback>
      <p:transition spd="med" advClick="1">
        <p:randomBar dir="horz"/>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989501401"/>
                                        </p:tgtEl>
                                        <p:attrNameLst>
                                          <p:attrName>style.visibility</p:attrName>
                                        </p:attrNameLst>
                                      </p:cBhvr>
                                      <p:to>
                                        <p:strVal val="visible"/>
                                      </p:to>
                                    </p:set>
                                    <p:anim calcmode="lin" valueType="num">
                                      <p:cBhvr additive="base">
                                        <p:cTn id="7" dur="500" fill="hold"/>
                                        <p:tgtEl>
                                          <p:spTgt spid="1989501401"/>
                                        </p:tgtEl>
                                        <p:attrNameLst>
                                          <p:attrName>ppt_x</p:attrName>
                                        </p:attrNameLst>
                                      </p:cBhvr>
                                      <p:tavLst>
                                        <p:tav tm="0">
                                          <p:val>
                                            <p:strVal val="#ppt_x"/>
                                          </p:val>
                                        </p:tav>
                                        <p:tav tm="100000">
                                          <p:val>
                                            <p:strVal val="#ppt_x"/>
                                          </p:val>
                                        </p:tav>
                                      </p:tavLst>
                                    </p:anim>
                                    <p:anim calcmode="lin" valueType="num">
                                      <p:cBhvr additive="base">
                                        <p:cTn id="8" dur="500" fill="hold"/>
                                        <p:tgtEl>
                                          <p:spTgt spid="1989501401"/>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9501401" grpId="0"/>
    </p:bldLst>
  </p:timing>
</p:sld>
</file>

<file path=ppt/slides/slide8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31462989" name="Google Shape;1278;p74"/>
          <p:cNvSpPr txBox="1">
            <a:spLocks noGrp="1"/>
          </p:cNvSpPr>
          <p:nvPr>
            <p:ph type="body" idx="1"/>
          </p:nvPr>
        </p:nvSpPr>
        <p:spPr bwMode="auto">
          <a:xfrm>
            <a:off x="3733800" y="3228749"/>
            <a:ext cx="7924800" cy="33528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Calibri"/>
              <a:buNone/>
              <a:defRPr/>
            </a:pPr>
            <a:r>
              <a:rPr lang="en-US" sz="2800" b="1"/>
              <a:t>1. </a:t>
            </a:r>
            <a:r>
              <a:rPr lang="en-US" sz="2800" b="1" u="sng"/>
              <a:t>Plan</a:t>
            </a:r>
            <a:r>
              <a:rPr lang="en-US" sz="2800" b="1"/>
              <a:t> HR Management</a:t>
            </a:r>
            <a:endParaRPr/>
          </a:p>
          <a:p>
            <a:pPr marL="685800" lvl="1" indent="-228600" algn="l" rtl="0">
              <a:lnSpc>
                <a:spcPct val="90000"/>
              </a:lnSpc>
              <a:spcBef>
                <a:spcPts val="500"/>
              </a:spcBef>
              <a:spcAft>
                <a:spcPts val="0"/>
              </a:spcAft>
              <a:buClr>
                <a:schemeClr val="dk1"/>
              </a:buClr>
              <a:buSzPts val="2600"/>
              <a:buChar char="•"/>
              <a:defRPr/>
            </a:pPr>
            <a:r>
              <a:rPr lang="en-US" sz="2600" b="1" u="sng"/>
              <a:t>Identify</a:t>
            </a:r>
            <a:r>
              <a:rPr lang="en-US" sz="2600" b="1"/>
              <a:t> and document project </a:t>
            </a:r>
            <a:r>
              <a:rPr lang="en-US" sz="2600" b="1" u="sng"/>
              <a:t>resources</a:t>
            </a:r>
            <a:r>
              <a:rPr lang="en-US" sz="2600" b="1"/>
              <a:t>, </a:t>
            </a:r>
            <a:r>
              <a:rPr lang="en-US" sz="2600" b="1" u="sng"/>
              <a:t>roles</a:t>
            </a:r>
            <a:r>
              <a:rPr lang="en-US" sz="2600" b="1"/>
              <a:t>, </a:t>
            </a:r>
            <a:r>
              <a:rPr lang="en-US" sz="2600" b="1" u="sng"/>
              <a:t>responsibilities</a:t>
            </a:r>
            <a:r>
              <a:rPr lang="en-US" sz="2600" b="1"/>
              <a:t>, and </a:t>
            </a:r>
            <a:r>
              <a:rPr lang="en-US" sz="2600" b="1" u="sng"/>
              <a:t>reporting relationships</a:t>
            </a:r>
            <a:r>
              <a:rPr lang="en-US" sz="2600" b="1"/>
              <a:t>.</a:t>
            </a:r>
            <a:endParaRPr b="1"/>
          </a:p>
          <a:p>
            <a:pPr marL="685800" lvl="1" indent="-228600" algn="l" rtl="0">
              <a:lnSpc>
                <a:spcPct val="90000"/>
              </a:lnSpc>
              <a:spcBef>
                <a:spcPts val="500"/>
              </a:spcBef>
              <a:spcAft>
                <a:spcPts val="0"/>
              </a:spcAft>
              <a:buClr>
                <a:srgbClr val="C00000"/>
              </a:buClr>
              <a:buSzPts val="2600"/>
              <a:buChar char="•"/>
              <a:defRPr/>
            </a:pPr>
            <a:r>
              <a:rPr lang="en-US" sz="2600" b="1">
                <a:solidFill>
                  <a:schemeClr val="tx1"/>
                </a:solidFill>
              </a:rPr>
              <a:t>Establish an </a:t>
            </a:r>
            <a:r>
              <a:rPr lang="en-US" sz="2600" b="1">
                <a:solidFill>
                  <a:srgbClr val="C00000"/>
                </a:solidFill>
              </a:rPr>
              <a:t>organization structure </a:t>
            </a:r>
            <a:r>
              <a:rPr lang="en-US" sz="2600" b="1"/>
              <a:t>for the project:</a:t>
            </a:r>
            <a:endParaRPr b="1"/>
          </a:p>
          <a:p>
            <a:pPr marL="1076325" lvl="2" indent="-354013" algn="l" rtl="0">
              <a:lnSpc>
                <a:spcPct val="90000"/>
              </a:lnSpc>
              <a:spcBef>
                <a:spcPts val="500"/>
              </a:spcBef>
              <a:spcAft>
                <a:spcPts val="0"/>
              </a:spcAft>
              <a:buClr>
                <a:schemeClr val="dk1"/>
              </a:buClr>
              <a:buSzPts val="2200"/>
              <a:buFont typeface="Calibri"/>
              <a:buAutoNum type="romanLcPeriod"/>
              <a:defRPr/>
            </a:pPr>
            <a:r>
              <a:rPr lang="en-US" sz="2200"/>
              <a:t>The Functional Structure</a:t>
            </a:r>
            <a:endParaRPr/>
          </a:p>
          <a:p>
            <a:pPr marL="1076325" lvl="2" indent="-354013" algn="l" rtl="0">
              <a:lnSpc>
                <a:spcPct val="90000"/>
              </a:lnSpc>
              <a:spcBef>
                <a:spcPts val="500"/>
              </a:spcBef>
              <a:spcAft>
                <a:spcPts val="0"/>
              </a:spcAft>
              <a:buClr>
                <a:schemeClr val="dk1"/>
              </a:buClr>
              <a:buSzPts val="2200"/>
              <a:buFont typeface="Calibri"/>
              <a:buAutoNum type="romanLcPeriod"/>
              <a:defRPr/>
            </a:pPr>
            <a:r>
              <a:rPr lang="en-US" sz="2200"/>
              <a:t>The Project Structure</a:t>
            </a:r>
            <a:endParaRPr/>
          </a:p>
          <a:p>
            <a:pPr marL="1076325" lvl="2" indent="-354013" algn="l" rtl="0">
              <a:lnSpc>
                <a:spcPct val="90000"/>
              </a:lnSpc>
              <a:spcBef>
                <a:spcPts val="500"/>
              </a:spcBef>
              <a:spcAft>
                <a:spcPts val="0"/>
              </a:spcAft>
              <a:buClr>
                <a:schemeClr val="dk1"/>
              </a:buClr>
              <a:buSzPts val="2200"/>
              <a:buFont typeface="Calibri"/>
              <a:buAutoNum type="romanLcPeriod"/>
              <a:defRPr/>
            </a:pPr>
            <a:r>
              <a:rPr lang="en-US" sz="2200"/>
              <a:t>The Matrix Structure</a:t>
            </a:r>
            <a:endParaRPr/>
          </a:p>
          <a:p>
            <a:pPr marL="685800" lvl="1" indent="-228600" algn="l" rtl="0">
              <a:lnSpc>
                <a:spcPct val="90000"/>
              </a:lnSpc>
              <a:spcBef>
                <a:spcPts val="500"/>
              </a:spcBef>
              <a:spcAft>
                <a:spcPts val="0"/>
              </a:spcAft>
              <a:buClr>
                <a:schemeClr val="dk1"/>
              </a:buClr>
              <a:buSzPts val="2600"/>
              <a:buChar char="•"/>
              <a:defRPr/>
            </a:pPr>
            <a:r>
              <a:rPr lang="en-US" sz="2600" b="1"/>
              <a:t>Output</a:t>
            </a:r>
            <a:r>
              <a:rPr lang="en-US" sz="2600"/>
              <a:t>: </a:t>
            </a:r>
            <a:r>
              <a:rPr lang="en-US" sz="2600">
                <a:solidFill>
                  <a:srgbClr val="FF0000"/>
                </a:solidFill>
              </a:rPr>
              <a:t>HR plan</a:t>
            </a:r>
            <a:endParaRPr>
              <a:solidFill>
                <a:srgbClr val="FF0000"/>
              </a:solidFill>
            </a:endParaRPr>
          </a:p>
        </p:txBody>
      </p:sp>
      <p:sp>
        <p:nvSpPr>
          <p:cNvPr id="979966392" name="Google Shape;1279;p7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81</a:t>
            </a:fld>
            <a:endParaRPr/>
          </a:p>
        </p:txBody>
      </p:sp>
      <p:grpSp>
        <p:nvGrpSpPr>
          <p:cNvPr id="12017859" name="Google Shape;1280;p74"/>
          <p:cNvGrpSpPr/>
          <p:nvPr/>
        </p:nvGrpSpPr>
        <p:grpSpPr bwMode="auto">
          <a:xfrm>
            <a:off x="3737104" y="2181089"/>
            <a:ext cx="7118090" cy="769523"/>
            <a:chOff x="3304" y="173586"/>
            <a:chExt cx="7118090" cy="769523"/>
          </a:xfrm>
        </p:grpSpPr>
        <p:sp>
          <p:nvSpPr>
            <p:cNvPr id="1281" name="Google Shape;1281;p74"/>
            <p:cNvSpPr/>
            <p:nvPr/>
          </p:nvSpPr>
          <p:spPr bwMode="auto">
            <a:xfrm>
              <a:off x="3304" y="173586"/>
              <a:ext cx="1923808" cy="769523"/>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82" name="Google Shape;1282;p74"/>
            <p:cNvSpPr txBox="1"/>
            <p:nvPr/>
          </p:nvSpPr>
          <p:spPr bwMode="auto">
            <a:xfrm>
              <a:off x="388066"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1.                Plan HR Management</a:t>
              </a:r>
              <a:endParaRPr/>
            </a:p>
          </p:txBody>
        </p:sp>
        <p:sp>
          <p:nvSpPr>
            <p:cNvPr id="1283" name="Google Shape;1283;p74"/>
            <p:cNvSpPr/>
            <p:nvPr/>
          </p:nvSpPr>
          <p:spPr bwMode="auto">
            <a:xfrm>
              <a:off x="1734732" y="173586"/>
              <a:ext cx="1923808" cy="7695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84" name="Google Shape;1284;p74"/>
            <p:cNvSpPr txBox="1"/>
            <p:nvPr/>
          </p:nvSpPr>
          <p:spPr bwMode="auto">
            <a:xfrm>
              <a:off x="2119494"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2.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Acquire Project Team</a:t>
              </a:r>
              <a:endParaRPr/>
            </a:p>
          </p:txBody>
        </p:sp>
        <p:sp>
          <p:nvSpPr>
            <p:cNvPr id="1285" name="Google Shape;1285;p74"/>
            <p:cNvSpPr/>
            <p:nvPr/>
          </p:nvSpPr>
          <p:spPr bwMode="auto">
            <a:xfrm>
              <a:off x="3466159" y="173586"/>
              <a:ext cx="1923808" cy="7695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86" name="Google Shape;1286;p74"/>
            <p:cNvSpPr txBox="1"/>
            <p:nvPr/>
          </p:nvSpPr>
          <p:spPr bwMode="auto">
            <a:xfrm>
              <a:off x="3850921"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3.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Develop Project Team</a:t>
              </a:r>
              <a:endParaRPr/>
            </a:p>
          </p:txBody>
        </p:sp>
        <p:sp>
          <p:nvSpPr>
            <p:cNvPr id="1287" name="Google Shape;1287;p74"/>
            <p:cNvSpPr/>
            <p:nvPr/>
          </p:nvSpPr>
          <p:spPr bwMode="auto">
            <a:xfrm>
              <a:off x="5197586" y="173586"/>
              <a:ext cx="1923808" cy="7695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88" name="Google Shape;1288;p74"/>
            <p:cNvSpPr txBox="1"/>
            <p:nvPr/>
          </p:nvSpPr>
          <p:spPr bwMode="auto">
            <a:xfrm>
              <a:off x="5582348"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4.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Manage Project Team</a:t>
              </a:r>
              <a:endParaRPr/>
            </a:p>
          </p:txBody>
        </p:sp>
      </p:grpSp>
      <p:sp>
        <p:nvSpPr>
          <p:cNvPr id="608315505" name="Google Shape;1289;p74"/>
          <p:cNvSpPr txBox="1"/>
          <p:nvPr/>
        </p:nvSpPr>
        <p:spPr bwMode="auto">
          <a:xfrm>
            <a:off x="3581400" y="597750"/>
            <a:ext cx="7010399" cy="715961"/>
          </a:xfrm>
          <a:prstGeom prst="rect">
            <a:avLst/>
          </a:prstGeom>
          <a:noFill/>
          <a:ln>
            <a:noFill/>
          </a:ln>
        </p:spPr>
        <p:txBody>
          <a:bodyPr spcFirstLastPara="1" wrap="square" lIns="91425" tIns="45700" rIns="91425" bIns="45700" anchor="ctr" anchorCtr="0">
            <a:normAutofit fontScale="77500" lnSpcReduction="200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Human Resource Management</a:t>
            </a:r>
            <a:endParaRPr sz="4000" b="1">
              <a:solidFill>
                <a:schemeClr val="dk1"/>
              </a:solidFill>
              <a:latin typeface="Calibri"/>
              <a:ea typeface="Calibri"/>
              <a:cs typeface="Calibri"/>
            </a:endParaRPr>
          </a:p>
        </p:txBody>
      </p:sp>
      <p:sp>
        <p:nvSpPr>
          <p:cNvPr id="1347931425" name="Google Shape;1290;p74"/>
          <p:cNvSpPr txBox="1"/>
          <p:nvPr/>
        </p:nvSpPr>
        <p:spPr bwMode="auto">
          <a:xfrm>
            <a:off x="3618628" y="119948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894986940" name="Google Shape;1291;p74"/>
          <p:cNvCxnSpPr/>
          <p:nvPr/>
        </p:nvCxnSpPr>
        <p:spPr bwMode="auto">
          <a:xfrm rot="10800000">
            <a:off x="3733800" y="1672998"/>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42124202" name="Google Shape;1292;p74"/>
          <p:cNvPicPr/>
          <p:nvPr/>
        </p:nvPicPr>
        <p:blipFill rotWithShape="1">
          <a:blip r:embed="rId3">
            <a:alphaModFix/>
          </a:blip>
          <a:srcRect l="42835" t="0" r="26308" b="0"/>
          <a:stretch/>
        </p:blipFill>
        <p:spPr bwMode="auto">
          <a:xfrm>
            <a:off x="13589" y="0"/>
            <a:ext cx="3200400" cy="6863558"/>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831462989">
                                            <p:txEl>
                                              <p:pRg st="0" end="0"/>
                                            </p:txEl>
                                          </p:spTgt>
                                        </p:tgtEl>
                                        <p:attrNameLst>
                                          <p:attrName>style.visibility</p:attrName>
                                        </p:attrNameLst>
                                      </p:cBhvr>
                                      <p:to>
                                        <p:strVal val="visible"/>
                                      </p:to>
                                    </p:set>
                                    <p:animEffect transition="in" filter="wipe(left)">
                                      <p:cBhvr>
                                        <p:cTn id="7" dur="500"/>
                                        <p:tgtEl>
                                          <p:spTgt spid="83146298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31462989">
                                            <p:txEl>
                                              <p:pRg st="6" end="6"/>
                                            </p:txEl>
                                          </p:spTgt>
                                        </p:tgtEl>
                                        <p:attrNameLst>
                                          <p:attrName>style.visibility</p:attrName>
                                        </p:attrNameLst>
                                      </p:cBhvr>
                                      <p:to>
                                        <p:strVal val="visible"/>
                                      </p:to>
                                    </p:set>
                                    <p:anim calcmode="lin" valueType="num">
                                      <p:cBhvr additive="base">
                                        <p:cTn id="12" dur="500" fill="hold"/>
                                        <p:tgtEl>
                                          <p:spTgt spid="831462989">
                                            <p:txEl>
                                              <p:pRg st="6" end="6"/>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3146298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2128021" name="Google Shape;1297;p75"/>
          <p:cNvSpPr txBox="1">
            <a:spLocks noGrp="1"/>
          </p:cNvSpPr>
          <p:nvPr>
            <p:ph type="body" idx="1"/>
          </p:nvPr>
        </p:nvSpPr>
        <p:spPr bwMode="auto">
          <a:xfrm>
            <a:off x="3733800" y="1981201"/>
            <a:ext cx="8600440" cy="100105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defRPr/>
            </a:pPr>
            <a:r>
              <a:rPr lang="en-US" b="1"/>
              <a:t>Organization structures for managing projects</a:t>
            </a:r>
            <a:endParaRPr b="1"/>
          </a:p>
          <a:p>
            <a:pPr marL="0" lvl="0" indent="0" algn="l" rtl="0">
              <a:lnSpc>
                <a:spcPct val="90000"/>
              </a:lnSpc>
              <a:spcBef>
                <a:spcPts val="1000"/>
              </a:spcBef>
              <a:spcAft>
                <a:spcPts val="0"/>
              </a:spcAft>
              <a:buClr>
                <a:srgbClr val="0070C0"/>
              </a:buClr>
              <a:buSzPts val="2400"/>
              <a:buNone/>
              <a:defRPr/>
            </a:pPr>
            <a:r>
              <a:rPr lang="en-US" sz="2400">
                <a:solidFill>
                  <a:srgbClr val="FF0000"/>
                </a:solidFill>
              </a:rPr>
              <a:t>(</a:t>
            </a:r>
            <a:r>
              <a:rPr lang="en-US" sz="2400">
                <a:solidFill>
                  <a:srgbClr val="FF0000"/>
                </a:solidFill>
              </a:rPr>
              <a:t>i</a:t>
            </a:r>
            <a:r>
              <a:rPr lang="en-US" sz="2400">
                <a:solidFill>
                  <a:srgbClr val="FF0000"/>
                </a:solidFill>
              </a:rPr>
              <a:t>)  Functional Organizational Structure</a:t>
            </a:r>
            <a:endParaRPr>
              <a:solidFill>
                <a:srgbClr val="FF0000"/>
              </a:solidFill>
            </a:endParaRPr>
          </a:p>
        </p:txBody>
      </p:sp>
      <p:sp>
        <p:nvSpPr>
          <p:cNvPr id="1301449642" name="Google Shape;1298;p7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82</a:t>
            </a:fld>
            <a:endParaRPr/>
          </a:p>
        </p:txBody>
      </p:sp>
      <p:sp>
        <p:nvSpPr>
          <p:cNvPr id="1403952275" name="Google Shape;1299;p75"/>
          <p:cNvSpPr txBox="1"/>
          <p:nvPr/>
        </p:nvSpPr>
        <p:spPr bwMode="auto">
          <a:xfrm>
            <a:off x="3581400" y="597750"/>
            <a:ext cx="7010399" cy="715961"/>
          </a:xfrm>
          <a:prstGeom prst="rect">
            <a:avLst/>
          </a:prstGeom>
          <a:noFill/>
          <a:ln>
            <a:noFill/>
          </a:ln>
        </p:spPr>
        <p:txBody>
          <a:bodyPr spcFirstLastPara="1" wrap="square" lIns="91425" tIns="45700" rIns="91425" bIns="45700" anchor="ctr" anchorCtr="0">
            <a:normAutofit fontScale="77500" lnSpcReduction="200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Human Resource Management</a:t>
            </a:r>
            <a:endParaRPr sz="4000" b="1">
              <a:solidFill>
                <a:schemeClr val="dk1"/>
              </a:solidFill>
              <a:latin typeface="Calibri"/>
              <a:ea typeface="Calibri"/>
              <a:cs typeface="Calibri"/>
            </a:endParaRPr>
          </a:p>
        </p:txBody>
      </p:sp>
      <p:sp>
        <p:nvSpPr>
          <p:cNvPr id="1564442518" name="Google Shape;1300;p75"/>
          <p:cNvSpPr txBox="1"/>
          <p:nvPr/>
        </p:nvSpPr>
        <p:spPr bwMode="auto">
          <a:xfrm>
            <a:off x="3618628" y="119948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2066950293" name="Google Shape;1301;p75"/>
          <p:cNvCxnSpPr/>
          <p:nvPr/>
        </p:nvCxnSpPr>
        <p:spPr bwMode="auto">
          <a:xfrm rot="10800000">
            <a:off x="3733800" y="1672998"/>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1438193336" name="Google Shape;1302;p75"/>
          <p:cNvPicPr/>
          <p:nvPr/>
        </p:nvPicPr>
        <p:blipFill rotWithShape="1">
          <a:blip r:embed="rId3">
            <a:alphaModFix/>
          </a:blip>
          <a:srcRect l="42835" t="0" r="26308" b="0"/>
          <a:stretch/>
        </p:blipFill>
        <p:spPr bwMode="auto">
          <a:xfrm>
            <a:off x="0" y="-5557"/>
            <a:ext cx="3200400" cy="6863558"/>
          </a:xfrm>
          <a:prstGeom prst="rect">
            <a:avLst/>
          </a:prstGeom>
          <a:noFill/>
          <a:ln>
            <a:noFill/>
          </a:ln>
        </p:spPr>
      </p:pic>
      <p:graphicFrame>
        <p:nvGraphicFramePr>
          <p:cNvPr id="1143530119" name="Google Shape;1303;p75"/>
          <p:cNvGraphicFramePr>
            <a:graphicFrameLocks xmlns:a="http://schemas.openxmlformats.org/drawingml/2006/main" noChangeAspect="1"/>
          </p:cNvGraphicFramePr>
          <p:nvPr/>
        </p:nvGraphicFramePr>
        <p:xfrm>
          <a:off x="4300045" y="3208449"/>
          <a:ext cx="7083425" cy="2281238"/>
        </p:xfrm>
        <a:graphic>
          <a:graphicData uri="http://schemas.openxmlformats.org/presentationml/2006/ole">
            <p:oleObj name="oleObj" r:id="rId5" imgW="7083425" imgH="2280920" progId="PBrush">
              <p:embed/>
              <p:pic>
                <p:nvPicPr>
                  <p:cNvPr id="1143530119" name="Google Shape;1303;p75"/>
                  <p:cNvPicPr/>
                  <p:nvPr/>
                </p:nvPicPr>
                <p:blipFill rotWithShape="1">
                  <a:blip r:embed="rId4">
                    <a:alphaModFix/>
                  </a:blip>
                  <a:stretch/>
                </p:blipFill>
                <p:spPr bwMode="auto">
                  <a:xfrm>
                    <a:off x="4300045" y="3208449"/>
                    <a:ext cx="7083425" cy="2281238"/>
                  </a:xfrm>
                  <a:prstGeom prst="rect">
                    <a:avLst/>
                  </a:prstGeom>
                  <a:noFill/>
                  <a:ln>
                    <a:noFill/>
                  </a:ln>
                </p:spPr>
              </p:pic>
            </p:oleObj>
          </a:graphicData>
        </a:graphic>
      </p:graphicFrame>
      <p:grpSp>
        <p:nvGrpSpPr>
          <p:cNvPr id="1225617305" name="Group 3"/>
          <p:cNvGrpSpPr/>
          <p:nvPr/>
        </p:nvGrpSpPr>
        <p:grpSpPr bwMode="auto">
          <a:xfrm>
            <a:off x="4309984" y="5008350"/>
            <a:ext cx="1499223" cy="466699"/>
            <a:chOff x="4505739" y="5457501"/>
            <a:chExt cx="1499223" cy="466699"/>
          </a:xfrm>
        </p:grpSpPr>
        <p:sp>
          <p:nvSpPr>
            <p:cNvPr id="2" name="TextBox 1"/>
            <p:cNvSpPr txBox="1"/>
            <p:nvPr/>
          </p:nvSpPr>
          <p:spPr bwMode="auto">
            <a:xfrm>
              <a:off x="4505739" y="5462535"/>
              <a:ext cx="712303" cy="461665"/>
            </a:xfrm>
            <a:prstGeom prst="rect">
              <a:avLst/>
            </a:prstGeom>
            <a:solidFill>
              <a:schemeClr val="bg1"/>
            </a:solidFill>
            <a:ln>
              <a:solidFill>
                <a:schemeClr val="tx1"/>
              </a:solidFill>
            </a:ln>
          </p:spPr>
          <p:txBody>
            <a:bodyPr wrap="square" rtlCol="0">
              <a:spAutoFit/>
            </a:bodyPr>
            <a:lstStyle/>
            <a:p>
              <a:pPr algn="ctr">
                <a:defRPr/>
              </a:pPr>
              <a:r>
                <a:rPr lang="en-MY" sz="1200"/>
                <a:t>Staff</a:t>
              </a:r>
              <a:endParaRPr/>
            </a:p>
            <a:p>
              <a:pPr algn="ctr">
                <a:defRPr/>
              </a:pPr>
              <a:r>
                <a:rPr lang="en-MY" sz="1200"/>
                <a:t>1</a:t>
              </a:r>
              <a:endParaRPr/>
            </a:p>
          </p:txBody>
        </p:sp>
        <p:sp>
          <p:nvSpPr>
            <p:cNvPr id="3" name="TextBox 2"/>
            <p:cNvSpPr txBox="1"/>
            <p:nvPr/>
          </p:nvSpPr>
          <p:spPr bwMode="auto">
            <a:xfrm>
              <a:off x="5292659" y="5457501"/>
              <a:ext cx="712303" cy="461665"/>
            </a:xfrm>
            <a:prstGeom prst="rect">
              <a:avLst/>
            </a:prstGeom>
            <a:solidFill>
              <a:schemeClr val="bg1"/>
            </a:solidFill>
            <a:ln>
              <a:solidFill>
                <a:schemeClr val="tx1"/>
              </a:solidFill>
            </a:ln>
          </p:spPr>
          <p:txBody>
            <a:bodyPr wrap="square" rtlCol="0">
              <a:spAutoFit/>
            </a:bodyPr>
            <a:lstStyle/>
            <a:p>
              <a:pPr algn="ctr">
                <a:defRPr/>
              </a:pPr>
              <a:r>
                <a:rPr lang="en-MY" sz="1200"/>
                <a:t>Staff</a:t>
              </a:r>
              <a:endParaRPr/>
            </a:p>
            <a:p>
              <a:pPr algn="ctr">
                <a:defRPr/>
              </a:pPr>
              <a:r>
                <a:rPr lang="en-MY" sz="1200"/>
                <a:t>2</a:t>
              </a:r>
              <a:endParaRPr/>
            </a:p>
          </p:txBody>
        </p:sp>
      </p:grpSp>
      <p:grpSp>
        <p:nvGrpSpPr>
          <p:cNvPr id="2012701850" name="Group 4"/>
          <p:cNvGrpSpPr/>
          <p:nvPr/>
        </p:nvGrpSpPr>
        <p:grpSpPr bwMode="auto">
          <a:xfrm>
            <a:off x="6141233" y="5005833"/>
            <a:ext cx="1499223" cy="466699"/>
            <a:chOff x="4505739" y="5457501"/>
            <a:chExt cx="1499223" cy="466699"/>
          </a:xfrm>
        </p:grpSpPr>
        <p:sp>
          <p:nvSpPr>
            <p:cNvPr id="6" name="TextBox 5"/>
            <p:cNvSpPr txBox="1"/>
            <p:nvPr/>
          </p:nvSpPr>
          <p:spPr bwMode="auto">
            <a:xfrm>
              <a:off x="4505739" y="5462535"/>
              <a:ext cx="712303" cy="461665"/>
            </a:xfrm>
            <a:prstGeom prst="rect">
              <a:avLst/>
            </a:prstGeom>
            <a:solidFill>
              <a:schemeClr val="bg1"/>
            </a:solidFill>
            <a:ln>
              <a:solidFill>
                <a:schemeClr val="tx1"/>
              </a:solidFill>
            </a:ln>
          </p:spPr>
          <p:txBody>
            <a:bodyPr wrap="square" rtlCol="0">
              <a:spAutoFit/>
            </a:bodyPr>
            <a:lstStyle/>
            <a:p>
              <a:pPr algn="ctr">
                <a:defRPr/>
              </a:pPr>
              <a:r>
                <a:rPr lang="en-MY" sz="1200"/>
                <a:t>Staff</a:t>
              </a:r>
              <a:endParaRPr/>
            </a:p>
            <a:p>
              <a:pPr algn="ctr">
                <a:defRPr/>
              </a:pPr>
              <a:r>
                <a:rPr lang="en-MY" sz="1200"/>
                <a:t>1</a:t>
              </a:r>
              <a:endParaRPr/>
            </a:p>
          </p:txBody>
        </p:sp>
        <p:sp>
          <p:nvSpPr>
            <p:cNvPr id="7" name="TextBox 6"/>
            <p:cNvSpPr txBox="1"/>
            <p:nvPr/>
          </p:nvSpPr>
          <p:spPr bwMode="auto">
            <a:xfrm>
              <a:off x="5292659" y="5457501"/>
              <a:ext cx="712303" cy="461665"/>
            </a:xfrm>
            <a:prstGeom prst="rect">
              <a:avLst/>
            </a:prstGeom>
            <a:solidFill>
              <a:schemeClr val="bg1"/>
            </a:solidFill>
            <a:ln>
              <a:solidFill>
                <a:schemeClr val="tx1"/>
              </a:solidFill>
            </a:ln>
          </p:spPr>
          <p:txBody>
            <a:bodyPr wrap="square" rtlCol="0">
              <a:spAutoFit/>
            </a:bodyPr>
            <a:lstStyle/>
            <a:p>
              <a:pPr algn="ctr">
                <a:defRPr/>
              </a:pPr>
              <a:r>
                <a:rPr lang="en-MY" sz="1200"/>
                <a:t>Staff</a:t>
              </a:r>
              <a:endParaRPr/>
            </a:p>
            <a:p>
              <a:pPr algn="ctr">
                <a:defRPr/>
              </a:pPr>
              <a:r>
                <a:rPr lang="en-MY" sz="1200"/>
                <a:t>2</a:t>
              </a:r>
              <a:endParaRPr/>
            </a:p>
          </p:txBody>
        </p:sp>
      </p:grpSp>
      <p:grpSp>
        <p:nvGrpSpPr>
          <p:cNvPr id="1536491213" name="Group 7"/>
          <p:cNvGrpSpPr/>
          <p:nvPr/>
        </p:nvGrpSpPr>
        <p:grpSpPr bwMode="auto">
          <a:xfrm>
            <a:off x="7982421" y="4995894"/>
            <a:ext cx="1499223" cy="466699"/>
            <a:chOff x="4505739" y="5457501"/>
            <a:chExt cx="1499223" cy="466699"/>
          </a:xfrm>
        </p:grpSpPr>
        <p:sp>
          <p:nvSpPr>
            <p:cNvPr id="9" name="TextBox 8"/>
            <p:cNvSpPr txBox="1"/>
            <p:nvPr/>
          </p:nvSpPr>
          <p:spPr bwMode="auto">
            <a:xfrm>
              <a:off x="4505739" y="5462535"/>
              <a:ext cx="712303" cy="461665"/>
            </a:xfrm>
            <a:prstGeom prst="rect">
              <a:avLst/>
            </a:prstGeom>
            <a:solidFill>
              <a:schemeClr val="bg1"/>
            </a:solidFill>
            <a:ln>
              <a:solidFill>
                <a:schemeClr val="tx1"/>
              </a:solidFill>
            </a:ln>
          </p:spPr>
          <p:txBody>
            <a:bodyPr wrap="square" rtlCol="0">
              <a:spAutoFit/>
            </a:bodyPr>
            <a:lstStyle/>
            <a:p>
              <a:pPr algn="ctr">
                <a:defRPr/>
              </a:pPr>
              <a:r>
                <a:rPr lang="en-MY" sz="1200"/>
                <a:t>Staff</a:t>
              </a:r>
              <a:endParaRPr/>
            </a:p>
            <a:p>
              <a:pPr algn="ctr">
                <a:defRPr/>
              </a:pPr>
              <a:r>
                <a:rPr lang="en-MY" sz="1200"/>
                <a:t>1</a:t>
              </a:r>
              <a:endParaRPr/>
            </a:p>
          </p:txBody>
        </p:sp>
        <p:sp>
          <p:nvSpPr>
            <p:cNvPr id="10" name="TextBox 9"/>
            <p:cNvSpPr txBox="1"/>
            <p:nvPr/>
          </p:nvSpPr>
          <p:spPr bwMode="auto">
            <a:xfrm>
              <a:off x="5292659" y="5457501"/>
              <a:ext cx="712303" cy="461665"/>
            </a:xfrm>
            <a:prstGeom prst="rect">
              <a:avLst/>
            </a:prstGeom>
            <a:solidFill>
              <a:schemeClr val="bg1"/>
            </a:solidFill>
            <a:ln>
              <a:solidFill>
                <a:schemeClr val="tx1"/>
              </a:solidFill>
            </a:ln>
          </p:spPr>
          <p:txBody>
            <a:bodyPr wrap="square" rtlCol="0">
              <a:spAutoFit/>
            </a:bodyPr>
            <a:lstStyle/>
            <a:p>
              <a:pPr algn="ctr">
                <a:defRPr/>
              </a:pPr>
              <a:r>
                <a:rPr lang="en-MY" sz="1200"/>
                <a:t>Staff</a:t>
              </a:r>
              <a:endParaRPr/>
            </a:p>
            <a:p>
              <a:pPr algn="ctr">
                <a:defRPr/>
              </a:pPr>
              <a:r>
                <a:rPr lang="en-MY" sz="1200"/>
                <a:t>2</a:t>
              </a:r>
              <a:endParaRPr/>
            </a:p>
          </p:txBody>
        </p:sp>
      </p:grpSp>
      <p:grpSp>
        <p:nvGrpSpPr>
          <p:cNvPr id="2067151375" name="Group 10"/>
          <p:cNvGrpSpPr/>
          <p:nvPr/>
        </p:nvGrpSpPr>
        <p:grpSpPr bwMode="auto">
          <a:xfrm>
            <a:off x="9853426" y="4998395"/>
            <a:ext cx="1499223" cy="466699"/>
            <a:chOff x="4505739" y="5457501"/>
            <a:chExt cx="1499223" cy="466699"/>
          </a:xfrm>
        </p:grpSpPr>
        <p:sp>
          <p:nvSpPr>
            <p:cNvPr id="12" name="TextBox 11"/>
            <p:cNvSpPr txBox="1"/>
            <p:nvPr/>
          </p:nvSpPr>
          <p:spPr bwMode="auto">
            <a:xfrm>
              <a:off x="4505739" y="5462535"/>
              <a:ext cx="712303" cy="461665"/>
            </a:xfrm>
            <a:prstGeom prst="rect">
              <a:avLst/>
            </a:prstGeom>
            <a:solidFill>
              <a:schemeClr val="bg1"/>
            </a:solidFill>
            <a:ln>
              <a:solidFill>
                <a:schemeClr val="tx1"/>
              </a:solidFill>
            </a:ln>
          </p:spPr>
          <p:txBody>
            <a:bodyPr wrap="square" rtlCol="0">
              <a:spAutoFit/>
            </a:bodyPr>
            <a:lstStyle/>
            <a:p>
              <a:pPr algn="ctr">
                <a:defRPr/>
              </a:pPr>
              <a:r>
                <a:rPr lang="en-MY" sz="1200"/>
                <a:t>Staff</a:t>
              </a:r>
              <a:endParaRPr/>
            </a:p>
            <a:p>
              <a:pPr algn="ctr">
                <a:defRPr/>
              </a:pPr>
              <a:r>
                <a:rPr lang="en-MY" sz="1200"/>
                <a:t>1</a:t>
              </a:r>
              <a:endParaRPr/>
            </a:p>
          </p:txBody>
        </p:sp>
        <p:sp>
          <p:nvSpPr>
            <p:cNvPr id="13" name="TextBox 12"/>
            <p:cNvSpPr txBox="1"/>
            <p:nvPr/>
          </p:nvSpPr>
          <p:spPr bwMode="auto">
            <a:xfrm>
              <a:off x="5292659" y="5457501"/>
              <a:ext cx="712303" cy="461665"/>
            </a:xfrm>
            <a:prstGeom prst="rect">
              <a:avLst/>
            </a:prstGeom>
            <a:solidFill>
              <a:schemeClr val="bg1"/>
            </a:solidFill>
            <a:ln>
              <a:solidFill>
                <a:schemeClr val="tx1"/>
              </a:solidFill>
            </a:ln>
          </p:spPr>
          <p:txBody>
            <a:bodyPr wrap="square" rtlCol="0">
              <a:spAutoFit/>
            </a:bodyPr>
            <a:lstStyle/>
            <a:p>
              <a:pPr algn="ctr">
                <a:defRPr/>
              </a:pPr>
              <a:r>
                <a:rPr lang="en-MY" sz="1200"/>
                <a:t>Staff</a:t>
              </a:r>
              <a:endParaRPr/>
            </a:p>
            <a:p>
              <a:pPr algn="ctr">
                <a:defRPr/>
              </a:pPr>
              <a:r>
                <a:rPr lang="en-MY" sz="1200"/>
                <a:t>2</a:t>
              </a:r>
              <a:endParaRPr/>
            </a:p>
          </p:txBody>
        </p:sp>
      </p:grpSp>
      <p:sp>
        <p:nvSpPr>
          <p:cNvPr id="429375127" name="Rectangle 13"/>
          <p:cNvSpPr/>
          <p:nvPr/>
        </p:nvSpPr>
        <p:spPr bwMode="auto">
          <a:xfrm>
            <a:off x="10094139" y="4088125"/>
            <a:ext cx="1145893" cy="4681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1250830329" name="Rectangle 14"/>
          <p:cNvSpPr/>
          <p:nvPr/>
        </p:nvSpPr>
        <p:spPr bwMode="auto">
          <a:xfrm>
            <a:off x="9853426" y="5002530"/>
            <a:ext cx="712303" cy="4681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525480247" name="Rectangle 16"/>
          <p:cNvSpPr/>
          <p:nvPr/>
        </p:nvSpPr>
        <p:spPr bwMode="auto">
          <a:xfrm>
            <a:off x="6907550" y="5003740"/>
            <a:ext cx="712303" cy="4681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942383552" name="Rectangle 17"/>
          <p:cNvSpPr/>
          <p:nvPr/>
        </p:nvSpPr>
        <p:spPr bwMode="auto">
          <a:xfrm>
            <a:off x="8751628" y="4989394"/>
            <a:ext cx="712303" cy="4681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1064025869" name="Rectangle 18"/>
          <p:cNvSpPr/>
          <p:nvPr/>
        </p:nvSpPr>
        <p:spPr bwMode="auto">
          <a:xfrm>
            <a:off x="5116782" y="5023862"/>
            <a:ext cx="712303" cy="4681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495281276" name="TextBox 19"/>
          <p:cNvSpPr txBox="1"/>
          <p:nvPr/>
        </p:nvSpPr>
        <p:spPr bwMode="auto">
          <a:xfrm>
            <a:off x="4245711" y="5587669"/>
            <a:ext cx="6634492" cy="400110"/>
          </a:xfrm>
          <a:prstGeom prst="rect">
            <a:avLst/>
          </a:prstGeom>
          <a:noFill/>
        </p:spPr>
        <p:txBody>
          <a:bodyPr wrap="square" rtlCol="0">
            <a:spAutoFit/>
          </a:bodyPr>
          <a:lstStyle/>
          <a:p>
            <a:pPr>
              <a:defRPr/>
            </a:pPr>
            <a:r>
              <a:rPr lang="en-MY" sz="2000" b="1">
                <a:solidFill>
                  <a:schemeClr val="tx1"/>
                </a:solidFill>
              </a:rPr>
              <a:t>E.g. Transfer equipment to new office</a:t>
            </a:r>
            <a:endParaRPr/>
          </a:p>
        </p:txBody>
      </p:sp>
      <p:sp>
        <p:nvSpPr>
          <p:cNvPr id="1385225820" name="TextBox 20"/>
          <p:cNvSpPr txBox="1"/>
          <p:nvPr/>
        </p:nvSpPr>
        <p:spPr bwMode="auto">
          <a:xfrm>
            <a:off x="4209992" y="5987780"/>
            <a:ext cx="7605533" cy="646331"/>
          </a:xfrm>
          <a:prstGeom prst="rect">
            <a:avLst/>
          </a:prstGeom>
          <a:noFill/>
        </p:spPr>
        <p:txBody>
          <a:bodyPr wrap="square" rtlCol="0">
            <a:spAutoFit/>
          </a:bodyPr>
          <a:lstStyle/>
          <a:p>
            <a:pPr>
              <a:defRPr/>
            </a:pPr>
            <a:r>
              <a:rPr lang="en-MY" sz="1800">
                <a:solidFill>
                  <a:schemeClr val="tx1"/>
                </a:solidFill>
              </a:rPr>
              <a:t>This project is managed by the </a:t>
            </a:r>
            <a:r>
              <a:rPr lang="en-MY" sz="1800" b="1">
                <a:solidFill>
                  <a:schemeClr val="tx1"/>
                </a:solidFill>
              </a:rPr>
              <a:t>Operations manager </a:t>
            </a:r>
            <a:r>
              <a:rPr lang="en-MY" sz="1800">
                <a:solidFill>
                  <a:schemeClr val="tx1"/>
                </a:solidFill>
              </a:rPr>
              <a:t>and assisted by </a:t>
            </a:r>
            <a:r>
              <a:rPr lang="en-MY" sz="1800" b="1">
                <a:solidFill>
                  <a:schemeClr val="tx1"/>
                </a:solidFill>
              </a:rPr>
              <a:t>ONE</a:t>
            </a:r>
            <a:r>
              <a:rPr lang="en-MY" sz="1800">
                <a:solidFill>
                  <a:schemeClr val="tx1"/>
                </a:solidFill>
              </a:rPr>
              <a:t> personnel from every other departments </a:t>
            </a:r>
            <a:endParaRPr/>
          </a:p>
        </p:txBody>
      </p:sp>
      <p:sp>
        <p:nvSpPr>
          <p:cNvPr id="1341268402" name="Google Shape;1297;p75"/>
          <p:cNvSpPr txBox="1"/>
          <p:nvPr/>
        </p:nvSpPr>
        <p:spPr bwMode="auto">
          <a:xfrm>
            <a:off x="4154821" y="2823277"/>
            <a:ext cx="9275837" cy="49307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marL="228600" indent="-228600">
              <a:spcBef>
                <a:spcPts val="0"/>
              </a:spcBef>
              <a:buSzPts val="2600"/>
              <a:buNone/>
              <a:defRPr/>
            </a:pPr>
            <a:r>
              <a:rPr lang="en-US" sz="2000" i="1">
                <a:solidFill>
                  <a:schemeClr val="tx1"/>
                </a:solidFill>
              </a:rPr>
              <a:t>(using an </a:t>
            </a:r>
            <a:r>
              <a:rPr lang="en-US" sz="2000" b="1" i="1">
                <a:solidFill>
                  <a:schemeClr val="tx1"/>
                </a:solidFill>
              </a:rPr>
              <a:t>existing organization structure </a:t>
            </a:r>
            <a:r>
              <a:rPr lang="en-US" sz="2000" i="1">
                <a:solidFill>
                  <a:schemeClr val="tx1"/>
                </a:solidFill>
              </a:rPr>
              <a:t>to manage Project)</a:t>
            </a:r>
            <a:endParaRPr lang="en-US" sz="2000" b="1" i="1">
              <a:solidFill>
                <a:schemeClr val="tx1"/>
              </a:solidFill>
            </a:endParaRPr>
          </a:p>
        </p:txBody>
      </p:sp>
      <p:sp>
        <p:nvSpPr>
          <p:cNvPr id="187361481" name="Google Shape;1297;p75"/>
          <p:cNvSpPr txBox="1"/>
          <p:nvPr/>
        </p:nvSpPr>
        <p:spPr bwMode="auto">
          <a:xfrm>
            <a:off x="4147567" y="2830537"/>
            <a:ext cx="7235903" cy="49307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marL="228600" indent="-228600">
              <a:spcBef>
                <a:spcPts val="0"/>
              </a:spcBef>
              <a:buSzPts val="2600"/>
              <a:buNone/>
              <a:defRPr/>
            </a:pPr>
            <a:r>
              <a:rPr lang="en-US" sz="2000" i="1">
                <a:solidFill>
                  <a:srgbClr val="FF0000"/>
                </a:solidFill>
              </a:rPr>
              <a:t>(using an </a:t>
            </a:r>
            <a:r>
              <a:rPr lang="en-US" sz="2000" b="1" i="1">
                <a:solidFill>
                  <a:srgbClr val="FF0000"/>
                </a:solidFill>
              </a:rPr>
              <a:t>existing organization structure </a:t>
            </a:r>
            <a:r>
              <a:rPr lang="en-US" sz="2000" i="1">
                <a:solidFill>
                  <a:srgbClr val="FF0000"/>
                </a:solidFill>
              </a:rPr>
              <a:t>to manage Project)</a:t>
            </a:r>
            <a:endParaRPr lang="en-US" sz="2000" b="1" i="1">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062128021">
                                            <p:txEl>
                                              <p:pRg st="0" end="0"/>
                                            </p:txEl>
                                          </p:spTgt>
                                        </p:tgtEl>
                                        <p:attrNameLst>
                                          <p:attrName>style.visibility</p:attrName>
                                        </p:attrNameLst>
                                      </p:cBhvr>
                                      <p:to>
                                        <p:strVal val="visible"/>
                                      </p:to>
                                    </p:set>
                                    <p:anim calcmode="lin" valueType="num">
                                      <p:cBhvr additive="base">
                                        <p:cTn id="7" dur="500" fill="hold"/>
                                        <p:tgtEl>
                                          <p:spTgt spid="206212802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62128021">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41268402"/>
                                        </p:tgtEl>
                                        <p:attrNameLst>
                                          <p:attrName>style.visibility</p:attrName>
                                        </p:attrNameLst>
                                      </p:cBhvr>
                                      <p:to>
                                        <p:strVal val="visible"/>
                                      </p:to>
                                    </p:set>
                                    <p:animEffect transition="in" filter="wipe(left)">
                                      <p:cBhvr>
                                        <p:cTn id="13" dur="500"/>
                                        <p:tgtEl>
                                          <p:spTgt spid="134126840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495281276"/>
                                        </p:tgtEl>
                                        <p:attrNameLst>
                                          <p:attrName>style.visibility</p:attrName>
                                        </p:attrNameLst>
                                      </p:cBhvr>
                                      <p:to>
                                        <p:strVal val="visible"/>
                                      </p:to>
                                    </p:set>
                                    <p:anim calcmode="lin" valueType="num">
                                      <p:cBhvr additive="base">
                                        <p:cTn id="18" dur="500" fill="hold"/>
                                        <p:tgtEl>
                                          <p:spTgt spid="495281276"/>
                                        </p:tgtEl>
                                        <p:attrNameLst>
                                          <p:attrName>ppt_x</p:attrName>
                                        </p:attrNameLst>
                                      </p:cBhvr>
                                      <p:tavLst>
                                        <p:tav tm="0">
                                          <p:val>
                                            <p:strVal val="#ppt_x"/>
                                          </p:val>
                                        </p:tav>
                                        <p:tav tm="100000">
                                          <p:val>
                                            <p:strVal val="#ppt_x"/>
                                          </p:val>
                                        </p:tav>
                                      </p:tavLst>
                                    </p:anim>
                                    <p:anim calcmode="lin" valueType="num">
                                      <p:cBhvr additive="base">
                                        <p:cTn id="19" dur="500" fill="hold"/>
                                        <p:tgtEl>
                                          <p:spTgt spid="495281276"/>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1385225820"/>
                                        </p:tgtEl>
                                        <p:attrNameLst>
                                          <p:attrName>style.visibility</p:attrName>
                                        </p:attrNameLst>
                                      </p:cBhvr>
                                      <p:to>
                                        <p:strVal val="visible"/>
                                      </p:to>
                                    </p:set>
                                    <p:anim calcmode="lin" valueType="num">
                                      <p:cBhvr additive="base">
                                        <p:cTn id="22" dur="500" fill="hold"/>
                                        <p:tgtEl>
                                          <p:spTgt spid="1385225820"/>
                                        </p:tgtEl>
                                        <p:attrNameLst>
                                          <p:attrName>ppt_x</p:attrName>
                                        </p:attrNameLst>
                                      </p:cBhvr>
                                      <p:tavLst>
                                        <p:tav tm="0">
                                          <p:val>
                                            <p:strVal val="#ppt_x"/>
                                          </p:val>
                                        </p:tav>
                                        <p:tav tm="100000">
                                          <p:val>
                                            <p:strVal val="#ppt_x"/>
                                          </p:val>
                                        </p:tav>
                                      </p:tavLst>
                                    </p:anim>
                                    <p:anim calcmode="lin" valueType="num">
                                      <p:cBhvr additive="base">
                                        <p:cTn id="23" dur="500" fill="hold"/>
                                        <p:tgtEl>
                                          <p:spTgt spid="1385225820"/>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29375127"/>
                                        </p:tgtEl>
                                        <p:attrNameLst>
                                          <p:attrName>style.visibility</p:attrName>
                                        </p:attrNameLst>
                                      </p:cBhvr>
                                      <p:to>
                                        <p:strVal val="visible"/>
                                      </p:to>
                                    </p:set>
                                    <p:animEffect transition="in" filter="wipe(left)">
                                      <p:cBhvr>
                                        <p:cTn id="28" dur="500"/>
                                        <p:tgtEl>
                                          <p:spTgt spid="429375127"/>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064025869"/>
                                        </p:tgtEl>
                                        <p:attrNameLst>
                                          <p:attrName>style.visibility</p:attrName>
                                        </p:attrNameLst>
                                      </p:cBhvr>
                                      <p:to>
                                        <p:strVal val="visible"/>
                                      </p:to>
                                    </p:set>
                                    <p:animEffect transition="in" filter="wipe(left)">
                                      <p:cBhvr>
                                        <p:cTn id="31" dur="500"/>
                                        <p:tgtEl>
                                          <p:spTgt spid="1064025869"/>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525480247"/>
                                        </p:tgtEl>
                                        <p:attrNameLst>
                                          <p:attrName>style.visibility</p:attrName>
                                        </p:attrNameLst>
                                      </p:cBhvr>
                                      <p:to>
                                        <p:strVal val="visible"/>
                                      </p:to>
                                    </p:set>
                                    <p:animEffect transition="in" filter="wipe(left)">
                                      <p:cBhvr>
                                        <p:cTn id="34" dur="500"/>
                                        <p:tgtEl>
                                          <p:spTgt spid="525480247"/>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942383552"/>
                                        </p:tgtEl>
                                        <p:attrNameLst>
                                          <p:attrName>style.visibility</p:attrName>
                                        </p:attrNameLst>
                                      </p:cBhvr>
                                      <p:to>
                                        <p:strVal val="visible"/>
                                      </p:to>
                                    </p:set>
                                    <p:animEffect transition="in" filter="wipe(left)">
                                      <p:cBhvr>
                                        <p:cTn id="37" dur="500"/>
                                        <p:tgtEl>
                                          <p:spTgt spid="942383552"/>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250830329"/>
                                        </p:tgtEl>
                                        <p:attrNameLst>
                                          <p:attrName>style.visibility</p:attrName>
                                        </p:attrNameLst>
                                      </p:cBhvr>
                                      <p:to>
                                        <p:strVal val="visible"/>
                                      </p:to>
                                    </p:set>
                                    <p:animEffect transition="in" filter="wipe(left)">
                                      <p:cBhvr>
                                        <p:cTn id="40" dur="500"/>
                                        <p:tgtEl>
                                          <p:spTgt spid="125083032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87361481"/>
                                        </p:tgtEl>
                                        <p:attrNameLst>
                                          <p:attrName>style.visibility</p:attrName>
                                        </p:attrNameLst>
                                      </p:cBhvr>
                                      <p:to>
                                        <p:strVal val="visible"/>
                                      </p:to>
                                    </p:set>
                                    <p:animEffect transition="in" filter="wipe(left)">
                                      <p:cBhvr>
                                        <p:cTn id="45" dur="500"/>
                                        <p:tgtEl>
                                          <p:spTgt spid="1873614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2128021" grpId="0" uiExpand="1" build="p"/>
      <p:bldP spid="429375127" grpId="0" animBg="1"/>
      <p:bldP spid="1250830329" grpId="0" animBg="1"/>
      <p:bldP spid="525480247" grpId="0" animBg="1"/>
      <p:bldP spid="942383552" grpId="0" animBg="1"/>
      <p:bldP spid="1064025869" grpId="0" animBg="1"/>
      <p:bldP spid="495281276" grpId="0"/>
      <p:bldP spid="1385225820" grpId="0"/>
      <p:bldP spid="1341268402" grpId="0"/>
      <p:bldP spid="187361481" grpId="0"/>
    </p:bldLst>
  </p:timing>
</p:sld>
</file>

<file path=ppt/slides/slide8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2847279" name="Google Shape;1297;p75"/>
          <p:cNvSpPr txBox="1">
            <a:spLocks noGrp="1"/>
          </p:cNvSpPr>
          <p:nvPr>
            <p:ph type="body" idx="1"/>
          </p:nvPr>
        </p:nvSpPr>
        <p:spPr bwMode="auto">
          <a:xfrm>
            <a:off x="3733800" y="1981201"/>
            <a:ext cx="8600440" cy="100105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defRPr/>
            </a:pPr>
            <a:r>
              <a:rPr lang="en-US" b="1"/>
              <a:t>Organization structures for managing projects</a:t>
            </a:r>
            <a:endParaRPr b="1"/>
          </a:p>
          <a:p>
            <a:pPr marL="0" lvl="0" indent="0" algn="l" rtl="0">
              <a:lnSpc>
                <a:spcPct val="90000"/>
              </a:lnSpc>
              <a:spcBef>
                <a:spcPts val="1000"/>
              </a:spcBef>
              <a:spcAft>
                <a:spcPts val="0"/>
              </a:spcAft>
              <a:buClr>
                <a:srgbClr val="0070C0"/>
              </a:buClr>
              <a:buSzPts val="2400"/>
              <a:buNone/>
              <a:defRPr/>
            </a:pPr>
            <a:r>
              <a:rPr lang="en-US" sz="2400" b="1">
                <a:solidFill>
                  <a:srgbClr val="FF0000"/>
                </a:solidFill>
              </a:rPr>
              <a:t>(</a:t>
            </a:r>
            <a:r>
              <a:rPr lang="en-US" sz="2400" b="1">
                <a:solidFill>
                  <a:srgbClr val="FF0000"/>
                </a:solidFill>
              </a:rPr>
              <a:t>i</a:t>
            </a:r>
            <a:r>
              <a:rPr lang="en-US" sz="2400" b="1">
                <a:solidFill>
                  <a:srgbClr val="FF0000"/>
                </a:solidFill>
              </a:rPr>
              <a:t>)  Functional Organizational Structure</a:t>
            </a:r>
            <a:endParaRPr b="1">
              <a:solidFill>
                <a:srgbClr val="FF0000"/>
              </a:solidFill>
            </a:endParaRPr>
          </a:p>
        </p:txBody>
      </p:sp>
      <p:sp>
        <p:nvSpPr>
          <p:cNvPr id="1655566636" name="Google Shape;1298;p7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83</a:t>
            </a:fld>
            <a:endParaRPr/>
          </a:p>
        </p:txBody>
      </p:sp>
      <p:sp>
        <p:nvSpPr>
          <p:cNvPr id="356277941" name="Google Shape;1299;p75"/>
          <p:cNvSpPr txBox="1"/>
          <p:nvPr/>
        </p:nvSpPr>
        <p:spPr bwMode="auto">
          <a:xfrm>
            <a:off x="3581400" y="597750"/>
            <a:ext cx="7010399" cy="715961"/>
          </a:xfrm>
          <a:prstGeom prst="rect">
            <a:avLst/>
          </a:prstGeom>
          <a:noFill/>
          <a:ln>
            <a:noFill/>
          </a:ln>
        </p:spPr>
        <p:txBody>
          <a:bodyPr spcFirstLastPara="1" wrap="square" lIns="91425" tIns="45700" rIns="91425" bIns="45700" anchor="ctr" anchorCtr="0">
            <a:normAutofit fontScale="77500" lnSpcReduction="200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Human Resource Management</a:t>
            </a:r>
            <a:endParaRPr sz="4000" b="1">
              <a:solidFill>
                <a:schemeClr val="dk1"/>
              </a:solidFill>
              <a:latin typeface="Calibri"/>
              <a:ea typeface="Calibri"/>
              <a:cs typeface="Calibri"/>
            </a:endParaRPr>
          </a:p>
        </p:txBody>
      </p:sp>
      <p:sp>
        <p:nvSpPr>
          <p:cNvPr id="284939410" name="Google Shape;1300;p75"/>
          <p:cNvSpPr txBox="1"/>
          <p:nvPr/>
        </p:nvSpPr>
        <p:spPr bwMode="auto">
          <a:xfrm>
            <a:off x="3618628" y="119948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41206953" name="Google Shape;1301;p75"/>
          <p:cNvCxnSpPr/>
          <p:nvPr/>
        </p:nvCxnSpPr>
        <p:spPr bwMode="auto">
          <a:xfrm rot="10800000">
            <a:off x="3733800" y="1672998"/>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1376060115" name="Google Shape;1302;p75"/>
          <p:cNvPicPr/>
          <p:nvPr/>
        </p:nvPicPr>
        <p:blipFill rotWithShape="1">
          <a:blip r:embed="rId3">
            <a:alphaModFix/>
          </a:blip>
          <a:srcRect l="42835" t="0" r="26308" b="0"/>
          <a:stretch/>
        </p:blipFill>
        <p:spPr bwMode="auto">
          <a:xfrm>
            <a:off x="0" y="-5557"/>
            <a:ext cx="3200400" cy="6863558"/>
          </a:xfrm>
          <a:prstGeom prst="rect">
            <a:avLst/>
          </a:prstGeom>
          <a:noFill/>
          <a:ln>
            <a:noFill/>
          </a:ln>
        </p:spPr>
      </p:pic>
      <p:grpSp>
        <p:nvGrpSpPr>
          <p:cNvPr id="1728244703" name="Group 21"/>
          <p:cNvGrpSpPr/>
          <p:nvPr/>
        </p:nvGrpSpPr>
        <p:grpSpPr bwMode="auto">
          <a:xfrm>
            <a:off x="4657850" y="2870521"/>
            <a:ext cx="7083425" cy="2283578"/>
            <a:chOff x="4495800" y="3657600"/>
            <a:chExt cx="7083425" cy="2283578"/>
          </a:xfrm>
        </p:grpSpPr>
        <p:graphicFrame>
          <p:nvGraphicFramePr>
            <p:cNvPr id="1303" name="Google Shape;1303;p75"/>
            <p:cNvGraphicFramePr>
              <a:graphicFrameLocks xmlns:a="http://schemas.openxmlformats.org/drawingml/2006/main" noChangeAspect="1"/>
            </p:cNvGraphicFramePr>
            <p:nvPr/>
          </p:nvGraphicFramePr>
          <p:xfrm>
            <a:off x="4495800" y="3657600"/>
            <a:ext cx="7083425" cy="2281238"/>
          </p:xfrm>
          <a:graphic>
            <a:graphicData uri="http://schemas.openxmlformats.org/presentationml/2006/ole">
              <p:oleObj name="oleObj" r:id="rId5" imgW="7083425" imgH="2280920" progId="PBrush">
                <p:embed/>
                <p:pic>
                  <p:nvPicPr>
                    <p:cNvPr id="1303" name="Google Shape;1303;p75"/>
                    <p:cNvPicPr/>
                    <p:nvPr/>
                  </p:nvPicPr>
                  <p:blipFill rotWithShape="1">
                    <a:blip r:embed="rId4">
                      <a:alphaModFix/>
                    </a:blip>
                    <a:stretch/>
                  </p:blipFill>
                  <p:spPr bwMode="auto">
                    <a:xfrm>
                      <a:off x="4495800" y="3657600"/>
                      <a:ext cx="7083425" cy="2281238"/>
                    </a:xfrm>
                    <a:prstGeom prst="rect">
                      <a:avLst/>
                    </a:prstGeom>
                    <a:noFill/>
                    <a:ln>
                      <a:noFill/>
                    </a:ln>
                  </p:spPr>
                </p:pic>
              </p:oleObj>
            </a:graphicData>
          </a:graphic>
        </p:graphicFrame>
        <p:grpSp>
          <p:nvGrpSpPr>
            <p:cNvPr id="4" name="Group 3"/>
            <p:cNvGrpSpPr/>
            <p:nvPr/>
          </p:nvGrpSpPr>
          <p:grpSpPr bwMode="auto">
            <a:xfrm>
              <a:off x="4505739" y="5457501"/>
              <a:ext cx="1499223" cy="466699"/>
              <a:chOff x="4505739" y="5457501"/>
              <a:chExt cx="1499223" cy="466699"/>
            </a:xfrm>
          </p:grpSpPr>
          <p:sp>
            <p:nvSpPr>
              <p:cNvPr id="2" name="TextBox 1"/>
              <p:cNvSpPr txBox="1"/>
              <p:nvPr/>
            </p:nvSpPr>
            <p:spPr bwMode="auto">
              <a:xfrm>
                <a:off x="4505739" y="5462535"/>
                <a:ext cx="712303" cy="461665"/>
              </a:xfrm>
              <a:prstGeom prst="rect">
                <a:avLst/>
              </a:prstGeom>
              <a:solidFill>
                <a:schemeClr val="bg1"/>
              </a:solidFill>
              <a:ln>
                <a:solidFill>
                  <a:schemeClr val="tx1"/>
                </a:solidFill>
              </a:ln>
            </p:spPr>
            <p:txBody>
              <a:bodyPr wrap="square" rtlCol="0">
                <a:spAutoFit/>
              </a:bodyPr>
              <a:lstStyle/>
              <a:p>
                <a:pPr algn="ctr">
                  <a:defRPr/>
                </a:pPr>
                <a:r>
                  <a:rPr lang="en-MY" sz="1200"/>
                  <a:t>Staff</a:t>
                </a:r>
                <a:endParaRPr/>
              </a:p>
              <a:p>
                <a:pPr algn="ctr">
                  <a:defRPr/>
                </a:pPr>
                <a:r>
                  <a:rPr lang="en-MY" sz="1200"/>
                  <a:t>1</a:t>
                </a:r>
                <a:endParaRPr/>
              </a:p>
            </p:txBody>
          </p:sp>
          <p:sp>
            <p:nvSpPr>
              <p:cNvPr id="3" name="TextBox 2"/>
              <p:cNvSpPr txBox="1"/>
              <p:nvPr/>
            </p:nvSpPr>
            <p:spPr bwMode="auto">
              <a:xfrm>
                <a:off x="5292659" y="5457501"/>
                <a:ext cx="712303" cy="461665"/>
              </a:xfrm>
              <a:prstGeom prst="rect">
                <a:avLst/>
              </a:prstGeom>
              <a:solidFill>
                <a:schemeClr val="bg1"/>
              </a:solidFill>
              <a:ln>
                <a:solidFill>
                  <a:schemeClr val="tx1"/>
                </a:solidFill>
              </a:ln>
            </p:spPr>
            <p:txBody>
              <a:bodyPr wrap="square" rtlCol="0">
                <a:spAutoFit/>
              </a:bodyPr>
              <a:lstStyle/>
              <a:p>
                <a:pPr algn="ctr">
                  <a:defRPr/>
                </a:pPr>
                <a:r>
                  <a:rPr lang="en-MY" sz="1200"/>
                  <a:t>Staff</a:t>
                </a:r>
                <a:endParaRPr/>
              </a:p>
              <a:p>
                <a:pPr algn="ctr">
                  <a:defRPr/>
                </a:pPr>
                <a:r>
                  <a:rPr lang="en-MY" sz="1200"/>
                  <a:t>2</a:t>
                </a:r>
                <a:endParaRPr/>
              </a:p>
            </p:txBody>
          </p:sp>
        </p:grpSp>
        <p:grpSp>
          <p:nvGrpSpPr>
            <p:cNvPr id="5" name="Group 4"/>
            <p:cNvGrpSpPr/>
            <p:nvPr/>
          </p:nvGrpSpPr>
          <p:grpSpPr bwMode="auto">
            <a:xfrm>
              <a:off x="6336988" y="5454984"/>
              <a:ext cx="1499223" cy="466699"/>
              <a:chOff x="4505739" y="5457501"/>
              <a:chExt cx="1499223" cy="466699"/>
            </a:xfrm>
          </p:grpSpPr>
          <p:sp>
            <p:nvSpPr>
              <p:cNvPr id="6" name="TextBox 5"/>
              <p:cNvSpPr txBox="1"/>
              <p:nvPr/>
            </p:nvSpPr>
            <p:spPr bwMode="auto">
              <a:xfrm>
                <a:off x="4505739" y="5462535"/>
                <a:ext cx="712303" cy="461665"/>
              </a:xfrm>
              <a:prstGeom prst="rect">
                <a:avLst/>
              </a:prstGeom>
              <a:solidFill>
                <a:schemeClr val="bg1"/>
              </a:solidFill>
              <a:ln>
                <a:solidFill>
                  <a:schemeClr val="tx1"/>
                </a:solidFill>
              </a:ln>
            </p:spPr>
            <p:txBody>
              <a:bodyPr wrap="square" rtlCol="0">
                <a:spAutoFit/>
              </a:bodyPr>
              <a:lstStyle/>
              <a:p>
                <a:pPr algn="ctr">
                  <a:defRPr/>
                </a:pPr>
                <a:r>
                  <a:rPr lang="en-MY" sz="1200"/>
                  <a:t>Staff</a:t>
                </a:r>
                <a:endParaRPr/>
              </a:p>
              <a:p>
                <a:pPr algn="ctr">
                  <a:defRPr/>
                </a:pPr>
                <a:r>
                  <a:rPr lang="en-MY" sz="1200"/>
                  <a:t>1</a:t>
                </a:r>
                <a:endParaRPr/>
              </a:p>
            </p:txBody>
          </p:sp>
          <p:sp>
            <p:nvSpPr>
              <p:cNvPr id="7" name="TextBox 6"/>
              <p:cNvSpPr txBox="1"/>
              <p:nvPr/>
            </p:nvSpPr>
            <p:spPr bwMode="auto">
              <a:xfrm>
                <a:off x="5292659" y="5457501"/>
                <a:ext cx="712303" cy="461665"/>
              </a:xfrm>
              <a:prstGeom prst="rect">
                <a:avLst/>
              </a:prstGeom>
              <a:solidFill>
                <a:schemeClr val="bg1"/>
              </a:solidFill>
              <a:ln>
                <a:solidFill>
                  <a:schemeClr val="tx1"/>
                </a:solidFill>
              </a:ln>
            </p:spPr>
            <p:txBody>
              <a:bodyPr wrap="square" rtlCol="0">
                <a:spAutoFit/>
              </a:bodyPr>
              <a:lstStyle/>
              <a:p>
                <a:pPr algn="ctr">
                  <a:defRPr/>
                </a:pPr>
                <a:r>
                  <a:rPr lang="en-MY" sz="1200"/>
                  <a:t>Staff</a:t>
                </a:r>
                <a:endParaRPr/>
              </a:p>
              <a:p>
                <a:pPr algn="ctr">
                  <a:defRPr/>
                </a:pPr>
                <a:r>
                  <a:rPr lang="en-MY" sz="1200"/>
                  <a:t>2</a:t>
                </a:r>
                <a:endParaRPr/>
              </a:p>
            </p:txBody>
          </p:sp>
        </p:grpSp>
        <p:grpSp>
          <p:nvGrpSpPr>
            <p:cNvPr id="8" name="Group 7"/>
            <p:cNvGrpSpPr/>
            <p:nvPr/>
          </p:nvGrpSpPr>
          <p:grpSpPr bwMode="auto">
            <a:xfrm>
              <a:off x="8178176" y="5445045"/>
              <a:ext cx="1499223" cy="466699"/>
              <a:chOff x="4505739" y="5457501"/>
              <a:chExt cx="1499223" cy="466699"/>
            </a:xfrm>
          </p:grpSpPr>
          <p:sp>
            <p:nvSpPr>
              <p:cNvPr id="9" name="TextBox 8"/>
              <p:cNvSpPr txBox="1"/>
              <p:nvPr/>
            </p:nvSpPr>
            <p:spPr bwMode="auto">
              <a:xfrm>
                <a:off x="4505739" y="5462535"/>
                <a:ext cx="712303" cy="461665"/>
              </a:xfrm>
              <a:prstGeom prst="rect">
                <a:avLst/>
              </a:prstGeom>
              <a:solidFill>
                <a:schemeClr val="bg1"/>
              </a:solidFill>
              <a:ln>
                <a:solidFill>
                  <a:schemeClr val="tx1"/>
                </a:solidFill>
              </a:ln>
            </p:spPr>
            <p:txBody>
              <a:bodyPr wrap="square" rtlCol="0">
                <a:spAutoFit/>
              </a:bodyPr>
              <a:lstStyle/>
              <a:p>
                <a:pPr algn="ctr">
                  <a:defRPr/>
                </a:pPr>
                <a:r>
                  <a:rPr lang="en-MY" sz="1200"/>
                  <a:t>Staff</a:t>
                </a:r>
                <a:endParaRPr/>
              </a:p>
              <a:p>
                <a:pPr algn="ctr">
                  <a:defRPr/>
                </a:pPr>
                <a:r>
                  <a:rPr lang="en-MY" sz="1200"/>
                  <a:t>1</a:t>
                </a:r>
                <a:endParaRPr/>
              </a:p>
            </p:txBody>
          </p:sp>
          <p:sp>
            <p:nvSpPr>
              <p:cNvPr id="10" name="TextBox 9"/>
              <p:cNvSpPr txBox="1"/>
              <p:nvPr/>
            </p:nvSpPr>
            <p:spPr bwMode="auto">
              <a:xfrm>
                <a:off x="5292659" y="5457501"/>
                <a:ext cx="712303" cy="461665"/>
              </a:xfrm>
              <a:prstGeom prst="rect">
                <a:avLst/>
              </a:prstGeom>
              <a:solidFill>
                <a:schemeClr val="bg1"/>
              </a:solidFill>
              <a:ln>
                <a:solidFill>
                  <a:schemeClr val="tx1"/>
                </a:solidFill>
              </a:ln>
            </p:spPr>
            <p:txBody>
              <a:bodyPr wrap="square" rtlCol="0">
                <a:spAutoFit/>
              </a:bodyPr>
              <a:lstStyle/>
              <a:p>
                <a:pPr algn="ctr">
                  <a:defRPr/>
                </a:pPr>
                <a:r>
                  <a:rPr lang="en-MY" sz="1200"/>
                  <a:t>Staff</a:t>
                </a:r>
                <a:endParaRPr/>
              </a:p>
              <a:p>
                <a:pPr algn="ctr">
                  <a:defRPr/>
                </a:pPr>
                <a:r>
                  <a:rPr lang="en-MY" sz="1200"/>
                  <a:t>2</a:t>
                </a:r>
                <a:endParaRPr/>
              </a:p>
            </p:txBody>
          </p:sp>
        </p:grpSp>
        <p:grpSp>
          <p:nvGrpSpPr>
            <p:cNvPr id="11" name="Group 10"/>
            <p:cNvGrpSpPr/>
            <p:nvPr/>
          </p:nvGrpSpPr>
          <p:grpSpPr bwMode="auto">
            <a:xfrm>
              <a:off x="10049181" y="5447546"/>
              <a:ext cx="1499223" cy="466699"/>
              <a:chOff x="4505739" y="5457501"/>
              <a:chExt cx="1499223" cy="466699"/>
            </a:xfrm>
          </p:grpSpPr>
          <p:sp>
            <p:nvSpPr>
              <p:cNvPr id="12" name="TextBox 11"/>
              <p:cNvSpPr txBox="1"/>
              <p:nvPr/>
            </p:nvSpPr>
            <p:spPr bwMode="auto">
              <a:xfrm>
                <a:off x="4505739" y="5462535"/>
                <a:ext cx="712303" cy="461665"/>
              </a:xfrm>
              <a:prstGeom prst="rect">
                <a:avLst/>
              </a:prstGeom>
              <a:solidFill>
                <a:schemeClr val="bg1"/>
              </a:solidFill>
              <a:ln>
                <a:solidFill>
                  <a:schemeClr val="tx1"/>
                </a:solidFill>
              </a:ln>
            </p:spPr>
            <p:txBody>
              <a:bodyPr wrap="square" rtlCol="0">
                <a:spAutoFit/>
              </a:bodyPr>
              <a:lstStyle/>
              <a:p>
                <a:pPr algn="ctr">
                  <a:defRPr/>
                </a:pPr>
                <a:r>
                  <a:rPr lang="en-MY" sz="1200"/>
                  <a:t>Staff</a:t>
                </a:r>
                <a:endParaRPr/>
              </a:p>
              <a:p>
                <a:pPr algn="ctr">
                  <a:defRPr/>
                </a:pPr>
                <a:r>
                  <a:rPr lang="en-MY" sz="1200"/>
                  <a:t>1</a:t>
                </a:r>
                <a:endParaRPr/>
              </a:p>
            </p:txBody>
          </p:sp>
          <p:sp>
            <p:nvSpPr>
              <p:cNvPr id="13" name="TextBox 12"/>
              <p:cNvSpPr txBox="1"/>
              <p:nvPr/>
            </p:nvSpPr>
            <p:spPr bwMode="auto">
              <a:xfrm>
                <a:off x="5292659" y="5457501"/>
                <a:ext cx="712303" cy="461665"/>
              </a:xfrm>
              <a:prstGeom prst="rect">
                <a:avLst/>
              </a:prstGeom>
              <a:solidFill>
                <a:schemeClr val="bg1"/>
              </a:solidFill>
              <a:ln>
                <a:solidFill>
                  <a:schemeClr val="tx1"/>
                </a:solidFill>
              </a:ln>
            </p:spPr>
            <p:txBody>
              <a:bodyPr wrap="square" rtlCol="0">
                <a:spAutoFit/>
              </a:bodyPr>
              <a:lstStyle/>
              <a:p>
                <a:pPr algn="ctr">
                  <a:defRPr/>
                </a:pPr>
                <a:r>
                  <a:rPr lang="en-MY" sz="1200"/>
                  <a:t>Staff</a:t>
                </a:r>
                <a:endParaRPr/>
              </a:p>
              <a:p>
                <a:pPr algn="ctr">
                  <a:defRPr/>
                </a:pPr>
                <a:r>
                  <a:rPr lang="en-MY" sz="1200"/>
                  <a:t>2</a:t>
                </a:r>
                <a:endParaRPr/>
              </a:p>
            </p:txBody>
          </p:sp>
        </p:grpSp>
        <p:sp>
          <p:nvSpPr>
            <p:cNvPr id="14" name="Rectangle 13"/>
            <p:cNvSpPr/>
            <p:nvPr/>
          </p:nvSpPr>
          <p:spPr bwMode="auto">
            <a:xfrm>
              <a:off x="10289894" y="4537276"/>
              <a:ext cx="1145893" cy="468165"/>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15" name="Rectangle 14"/>
            <p:cNvSpPr/>
            <p:nvPr/>
          </p:nvSpPr>
          <p:spPr bwMode="auto">
            <a:xfrm>
              <a:off x="10049181" y="5451681"/>
              <a:ext cx="712303" cy="468165"/>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17" name="Rectangle 16"/>
            <p:cNvSpPr/>
            <p:nvPr/>
          </p:nvSpPr>
          <p:spPr bwMode="auto">
            <a:xfrm>
              <a:off x="7103305" y="5452891"/>
              <a:ext cx="712303" cy="4681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18" name="Rectangle 17"/>
            <p:cNvSpPr/>
            <p:nvPr/>
          </p:nvSpPr>
          <p:spPr bwMode="auto">
            <a:xfrm>
              <a:off x="8947383" y="5438545"/>
              <a:ext cx="712303" cy="4681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19" name="Rectangle 18"/>
            <p:cNvSpPr/>
            <p:nvPr/>
          </p:nvSpPr>
          <p:spPr bwMode="auto">
            <a:xfrm>
              <a:off x="5312537" y="5473013"/>
              <a:ext cx="712303" cy="4681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p>
          </p:txBody>
        </p:sp>
      </p:grpSp>
      <p:sp>
        <p:nvSpPr>
          <p:cNvPr id="1425271140" name="Google Shape;1314;p76"/>
          <p:cNvSpPr txBox="1"/>
          <p:nvPr/>
        </p:nvSpPr>
        <p:spPr bwMode="auto">
          <a:xfrm>
            <a:off x="3985589" y="5191538"/>
            <a:ext cx="3581400" cy="2310714"/>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100000"/>
              </a:lnSpc>
              <a:spcBef>
                <a:spcPts val="0"/>
              </a:spcBef>
              <a:spcAft>
                <a:spcPts val="0"/>
              </a:spcAft>
              <a:buClr>
                <a:schemeClr val="dk1"/>
              </a:buClr>
              <a:buSzPts val="2400"/>
              <a:buFont typeface="Arial"/>
              <a:buNone/>
              <a:defRPr/>
            </a:pPr>
            <a:r>
              <a:rPr lang="en-US" sz="2400" b="1">
                <a:solidFill>
                  <a:schemeClr val="tx1"/>
                </a:solidFill>
                <a:latin typeface="Calibri"/>
                <a:ea typeface="Calibri"/>
                <a:cs typeface="Calibri"/>
              </a:rPr>
              <a:t>Pros</a:t>
            </a:r>
            <a:endParaRPr>
              <a:solidFill>
                <a:schemeClr val="tx1"/>
              </a:solidFill>
            </a:endParaRPr>
          </a:p>
          <a:p>
            <a:pPr marL="342900" marR="0" lvl="0" indent="-342900" algn="l" rtl="0">
              <a:lnSpc>
                <a:spcPct val="100000"/>
              </a:lnSpc>
              <a:spcBef>
                <a:spcPts val="0"/>
              </a:spcBef>
              <a:spcAft>
                <a:spcPts val="0"/>
              </a:spcAft>
              <a:buClr>
                <a:schemeClr val="dk1"/>
              </a:buClr>
              <a:buSzPts val="2000"/>
              <a:buFont typeface="Arial"/>
              <a:buChar char="•"/>
              <a:defRPr/>
            </a:pPr>
            <a:r>
              <a:rPr lang="en-MY" sz="2000">
                <a:solidFill>
                  <a:schemeClr val="tx1"/>
                </a:solidFill>
                <a:latin typeface="Calibri"/>
                <a:ea typeface="Calibri"/>
                <a:cs typeface="Calibri"/>
              </a:rPr>
              <a:t>Cost savings</a:t>
            </a:r>
            <a:endParaRPr>
              <a:solidFill>
                <a:schemeClr val="tx1"/>
              </a:solidFill>
            </a:endParaRPr>
          </a:p>
          <a:p>
            <a:pPr marL="0" marR="0" lvl="0" indent="0" algn="l" rtl="0">
              <a:lnSpc>
                <a:spcPct val="100000"/>
              </a:lnSpc>
              <a:spcBef>
                <a:spcPts val="0"/>
              </a:spcBef>
              <a:spcAft>
                <a:spcPts val="0"/>
              </a:spcAft>
              <a:buClr>
                <a:schemeClr val="dk1"/>
              </a:buClr>
              <a:buSzPts val="2400"/>
              <a:buFont typeface="Arial"/>
              <a:buNone/>
              <a:defRPr/>
            </a:pPr>
            <a:endParaRPr sz="2400">
              <a:solidFill>
                <a:schemeClr val="tx1"/>
              </a:solidFill>
              <a:latin typeface="Calibri"/>
              <a:ea typeface="Calibri"/>
              <a:cs typeface="Calibri"/>
            </a:endParaRPr>
          </a:p>
          <a:p>
            <a:pPr marL="228600" marR="0" lvl="0" indent="-76200" algn="l" rtl="0">
              <a:lnSpc>
                <a:spcPct val="100000"/>
              </a:lnSpc>
              <a:spcBef>
                <a:spcPts val="0"/>
              </a:spcBef>
              <a:spcAft>
                <a:spcPts val="0"/>
              </a:spcAft>
              <a:buClr>
                <a:schemeClr val="dk1"/>
              </a:buClr>
              <a:buSzPts val="2400"/>
              <a:buFont typeface="Arial"/>
              <a:buNone/>
              <a:defRPr/>
            </a:pPr>
            <a:endParaRPr sz="2400">
              <a:solidFill>
                <a:schemeClr val="tx1"/>
              </a:solidFill>
              <a:latin typeface="Calibri"/>
              <a:ea typeface="Calibri"/>
              <a:cs typeface="Calibri"/>
            </a:endParaRPr>
          </a:p>
        </p:txBody>
      </p:sp>
      <p:sp>
        <p:nvSpPr>
          <p:cNvPr id="1891757271" name="Google Shape;1315;p76"/>
          <p:cNvSpPr txBox="1"/>
          <p:nvPr/>
        </p:nvSpPr>
        <p:spPr bwMode="auto">
          <a:xfrm>
            <a:off x="7172844" y="5191538"/>
            <a:ext cx="4495800" cy="2590801"/>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2400"/>
              <a:buFont typeface="Arial"/>
              <a:buNone/>
              <a:defRPr/>
            </a:pPr>
            <a:r>
              <a:rPr lang="en-US" sz="2400" b="1">
                <a:solidFill>
                  <a:schemeClr val="tx1"/>
                </a:solidFill>
                <a:latin typeface="Calibri"/>
                <a:ea typeface="Calibri"/>
                <a:cs typeface="Calibri"/>
              </a:rPr>
              <a:t>Cons</a:t>
            </a:r>
            <a:endParaRPr>
              <a:solidFill>
                <a:schemeClr val="tx1"/>
              </a:solidFill>
            </a:endParaRPr>
          </a:p>
          <a:p>
            <a:pPr marL="228600" indent="-228600">
              <a:buClr>
                <a:schemeClr val="dk1"/>
              </a:buClr>
              <a:buSzPts val="2000"/>
              <a:buFont typeface="Arial"/>
              <a:buChar char="•"/>
              <a:defRPr/>
            </a:pPr>
            <a:r>
              <a:rPr lang="en-US" sz="2000">
                <a:solidFill>
                  <a:schemeClr val="tx1"/>
                </a:solidFill>
                <a:latin typeface="Calibri"/>
                <a:ea typeface="Calibri"/>
                <a:cs typeface="Calibri"/>
              </a:rPr>
              <a:t>Project leaders have little power</a:t>
            </a:r>
            <a:endParaRPr lang="en-US" sz="2000">
              <a:solidFill>
                <a:schemeClr val="tx1"/>
              </a:solidFill>
            </a:endParaRPr>
          </a:p>
          <a:p>
            <a:pPr marL="228600" marR="0" lvl="0" indent="-228600" algn="l" rtl="0">
              <a:lnSpc>
                <a:spcPct val="100000"/>
              </a:lnSpc>
              <a:spcBef>
                <a:spcPts val="0"/>
              </a:spcBef>
              <a:spcAft>
                <a:spcPts val="0"/>
              </a:spcAft>
              <a:buClr>
                <a:schemeClr val="dk1"/>
              </a:buClr>
              <a:buSzPts val="2000"/>
              <a:buFont typeface="Arial"/>
              <a:buChar char="•"/>
              <a:defRPr/>
            </a:pPr>
            <a:r>
              <a:rPr lang="en-US" sz="2000">
                <a:solidFill>
                  <a:schemeClr val="tx1"/>
                </a:solidFill>
                <a:latin typeface="Calibri"/>
                <a:ea typeface="Calibri"/>
                <a:cs typeface="Calibri"/>
              </a:rPr>
              <a:t>Conflicts </a:t>
            </a:r>
            <a:r>
              <a:rPr lang="en-MY" sz="2000">
                <a:solidFill>
                  <a:schemeClr val="tx1"/>
                </a:solidFill>
                <a:latin typeface="Calibri"/>
                <a:ea typeface="Calibri"/>
                <a:cs typeface="Calibri"/>
              </a:rPr>
              <a:t>of priorities</a:t>
            </a:r>
            <a:endParaRPr>
              <a:solidFill>
                <a:schemeClr val="tx1"/>
              </a:solidFill>
            </a:endParaRPr>
          </a:p>
          <a:p>
            <a:pPr marL="228600" marR="0" lvl="0" indent="-76200" algn="l" rtl="0">
              <a:lnSpc>
                <a:spcPct val="100000"/>
              </a:lnSpc>
              <a:spcBef>
                <a:spcPts val="0"/>
              </a:spcBef>
              <a:spcAft>
                <a:spcPts val="0"/>
              </a:spcAft>
              <a:buClr>
                <a:schemeClr val="dk1"/>
              </a:buClr>
              <a:buSzPts val="2400"/>
              <a:buFont typeface="Arial"/>
              <a:buNone/>
              <a:defRPr/>
            </a:pPr>
            <a:endParaRPr sz="2400">
              <a:solidFill>
                <a:schemeClr val="tx1"/>
              </a:solidFill>
              <a:latin typeface="Calibri"/>
              <a:ea typeface="Calibri"/>
              <a:cs typeface="Calibri"/>
            </a:endParaRPr>
          </a:p>
        </p:txBody>
      </p:sp>
      <p:sp>
        <p:nvSpPr>
          <p:cNvPr id="27231840" name="TextBox 19"/>
          <p:cNvSpPr txBox="1"/>
          <p:nvPr/>
        </p:nvSpPr>
        <p:spPr bwMode="auto">
          <a:xfrm>
            <a:off x="9600333" y="5905507"/>
            <a:ext cx="2545045" cy="830997"/>
          </a:xfrm>
          <a:prstGeom prst="rect">
            <a:avLst/>
          </a:prstGeom>
          <a:noFill/>
        </p:spPr>
        <p:txBody>
          <a:bodyPr wrap="square" rtlCol="0">
            <a:spAutoFit/>
          </a:bodyPr>
          <a:lstStyle/>
          <a:p>
            <a:pPr>
              <a:defRPr/>
            </a:pPr>
            <a:r>
              <a:rPr lang="en-MY" sz="1600" i="1">
                <a:solidFill>
                  <a:schemeClr val="tx1"/>
                </a:solidFill>
              </a:rPr>
              <a:t>(Transfer equipment to new office is not the staffs regular jobs)</a:t>
            </a:r>
            <a:endParaRPr lang="en-MY" sz="1600" i="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425271140"/>
                                        </p:tgtEl>
                                        <p:attrNameLst>
                                          <p:attrName>style.visibility</p:attrName>
                                        </p:attrNameLst>
                                      </p:cBhvr>
                                      <p:to>
                                        <p:strVal val="visible"/>
                                      </p:to>
                                    </p:set>
                                    <p:anim calcmode="lin" valueType="num">
                                      <p:cBhvr additive="base">
                                        <p:cTn id="7" dur="500" fill="hold"/>
                                        <p:tgtEl>
                                          <p:spTgt spid="1425271140"/>
                                        </p:tgtEl>
                                        <p:attrNameLst>
                                          <p:attrName>ppt_x</p:attrName>
                                        </p:attrNameLst>
                                      </p:cBhvr>
                                      <p:tavLst>
                                        <p:tav tm="0">
                                          <p:val>
                                            <p:strVal val="#ppt_x"/>
                                          </p:val>
                                        </p:tav>
                                        <p:tav tm="100000">
                                          <p:val>
                                            <p:strVal val="#ppt_x"/>
                                          </p:val>
                                        </p:tav>
                                      </p:tavLst>
                                    </p:anim>
                                    <p:anim calcmode="lin" valueType="num">
                                      <p:cBhvr additive="base">
                                        <p:cTn id="8" dur="500" fill="hold"/>
                                        <p:tgtEl>
                                          <p:spTgt spid="142527114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891757271"/>
                                        </p:tgtEl>
                                        <p:attrNameLst>
                                          <p:attrName>style.visibility</p:attrName>
                                        </p:attrNameLst>
                                      </p:cBhvr>
                                      <p:to>
                                        <p:strVal val="visible"/>
                                      </p:to>
                                    </p:set>
                                    <p:animEffect transition="in" filter="wipe(left)">
                                      <p:cBhvr>
                                        <p:cTn id="13" dur="500"/>
                                        <p:tgtEl>
                                          <p:spTgt spid="189175727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7231840"/>
                                        </p:tgtEl>
                                        <p:attrNameLst>
                                          <p:attrName>style.visibility</p:attrName>
                                        </p:attrNameLst>
                                      </p:cBhvr>
                                      <p:to>
                                        <p:strVal val="visible"/>
                                      </p:to>
                                    </p:set>
                                    <p:animEffect transition="in" filter="wipe(left)">
                                      <p:cBhvr>
                                        <p:cTn id="18" dur="500"/>
                                        <p:tgtEl>
                                          <p:spTgt spid="27231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5271140" grpId="0"/>
      <p:bldP spid="1891757271" grpId="0"/>
      <p:bldP spid="27231840" grpId="0"/>
    </p:bldLst>
  </p:timing>
</p:sld>
</file>

<file path=ppt/slides/slide8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98754297" name="Google Shape;1322;p77"/>
          <p:cNvSpPr txBox="1"/>
          <p:nvPr/>
        </p:nvSpPr>
        <p:spPr bwMode="auto">
          <a:xfrm>
            <a:off x="3581400" y="597750"/>
            <a:ext cx="7010399" cy="715961"/>
          </a:xfrm>
          <a:prstGeom prst="rect">
            <a:avLst/>
          </a:prstGeom>
          <a:noFill/>
          <a:ln>
            <a:noFill/>
          </a:ln>
        </p:spPr>
        <p:txBody>
          <a:bodyPr spcFirstLastPara="1" wrap="square" lIns="91425" tIns="45700" rIns="91425" bIns="45700" anchor="ctr" anchorCtr="0">
            <a:normAutofit fontScale="77500" lnSpcReduction="200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Human Resource Management</a:t>
            </a:r>
            <a:endParaRPr sz="4000" b="1">
              <a:solidFill>
                <a:schemeClr val="dk1"/>
              </a:solidFill>
              <a:latin typeface="Calibri"/>
              <a:ea typeface="Calibri"/>
              <a:cs typeface="Calibri"/>
            </a:endParaRPr>
          </a:p>
        </p:txBody>
      </p:sp>
      <p:sp>
        <p:nvSpPr>
          <p:cNvPr id="930484769" name="Google Shape;1323;p77"/>
          <p:cNvSpPr txBox="1"/>
          <p:nvPr/>
        </p:nvSpPr>
        <p:spPr bwMode="auto">
          <a:xfrm>
            <a:off x="3618628" y="119948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graphicFrame>
        <p:nvGraphicFramePr>
          <p:cNvPr id="1129036238" name="Google Shape;1326;p77"/>
          <p:cNvGraphicFramePr>
            <a:graphicFrameLocks xmlns:a="http://schemas.openxmlformats.org/drawingml/2006/main" noChangeAspect="1"/>
          </p:cNvGraphicFramePr>
          <p:nvPr/>
        </p:nvGraphicFramePr>
        <p:xfrm>
          <a:off x="4502427" y="2634747"/>
          <a:ext cx="6248400" cy="1993802"/>
        </p:xfrm>
        <a:graphic>
          <a:graphicData uri="http://schemas.openxmlformats.org/presentationml/2006/ole">
            <p:oleObj name="oleObj" r:id="rId4" imgW="6248400" imgH="1993265" progId="PBrush">
              <p:embed/>
              <p:pic>
                <p:nvPicPr>
                  <p:cNvPr id="1129036238" name="Google Shape;1326;p77"/>
                  <p:cNvPicPr/>
                  <p:nvPr/>
                </p:nvPicPr>
                <p:blipFill rotWithShape="1">
                  <a:blip r:embed="rId3">
                    <a:alphaModFix/>
                  </a:blip>
                  <a:stretch/>
                </p:blipFill>
                <p:spPr bwMode="auto">
                  <a:xfrm>
                    <a:off x="4502427" y="2634747"/>
                    <a:ext cx="6248400" cy="1993802"/>
                  </a:xfrm>
                  <a:prstGeom prst="rect">
                    <a:avLst/>
                  </a:prstGeom>
                  <a:noFill/>
                  <a:ln>
                    <a:noFill/>
                  </a:ln>
                </p:spPr>
              </p:pic>
            </p:oleObj>
          </a:graphicData>
        </a:graphic>
      </p:graphicFrame>
      <p:cxnSp>
        <p:nvCxnSpPr>
          <p:cNvPr id="1716928187" name="Google Shape;1324;p77"/>
          <p:cNvCxnSpPr/>
          <p:nvPr/>
        </p:nvCxnSpPr>
        <p:spPr bwMode="auto">
          <a:xfrm rot="10800000">
            <a:off x="3733800" y="1672998"/>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618494716" name="Google Shape;1320;p77"/>
          <p:cNvSpPr txBox="1">
            <a:spLocks noGrp="1"/>
          </p:cNvSpPr>
          <p:nvPr>
            <p:ph type="body" idx="1"/>
          </p:nvPr>
        </p:nvSpPr>
        <p:spPr bwMode="auto">
          <a:xfrm>
            <a:off x="3733800" y="1981199"/>
            <a:ext cx="7924800" cy="4797288"/>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ts val="2800"/>
              <a:buNone/>
              <a:defRPr/>
            </a:pPr>
            <a:r>
              <a:rPr lang="en-US"/>
              <a:t>Organization structures for managing projects</a:t>
            </a:r>
            <a:endParaRPr/>
          </a:p>
          <a:p>
            <a:pPr marL="0" lvl="0" indent="0" algn="l" rtl="0">
              <a:lnSpc>
                <a:spcPct val="90000"/>
              </a:lnSpc>
              <a:spcBef>
                <a:spcPts val="1000"/>
              </a:spcBef>
              <a:spcAft>
                <a:spcPts val="0"/>
              </a:spcAft>
              <a:buClr>
                <a:srgbClr val="0070C0"/>
              </a:buClr>
              <a:buSzPts val="2400"/>
              <a:buNone/>
              <a:defRPr/>
            </a:pPr>
            <a:r>
              <a:rPr lang="en-US" sz="2400" b="1">
                <a:solidFill>
                  <a:srgbClr val="FF0000"/>
                </a:solidFill>
              </a:rPr>
              <a:t>(ii) Project Organizational Structure</a:t>
            </a:r>
            <a:endParaRPr/>
          </a:p>
          <a:p>
            <a:pPr marL="0" lvl="0" indent="0" algn="l" rtl="0">
              <a:lnSpc>
                <a:spcPct val="90000"/>
              </a:lnSpc>
              <a:spcBef>
                <a:spcPts val="1000"/>
              </a:spcBef>
              <a:spcAft>
                <a:spcPts val="0"/>
              </a:spcAft>
              <a:buClr>
                <a:srgbClr val="0070C0"/>
              </a:buClr>
              <a:buSzPts val="2400"/>
              <a:buNone/>
              <a:defRPr/>
            </a:pPr>
            <a:endParaRPr lang="en-US" sz="2400" b="1">
              <a:solidFill>
                <a:srgbClr val="FF0000"/>
              </a:solidFill>
            </a:endParaRPr>
          </a:p>
          <a:p>
            <a:pPr marL="0" lvl="0" indent="0" algn="l" rtl="0">
              <a:lnSpc>
                <a:spcPct val="90000"/>
              </a:lnSpc>
              <a:spcBef>
                <a:spcPts val="1000"/>
              </a:spcBef>
              <a:spcAft>
                <a:spcPts val="0"/>
              </a:spcAft>
              <a:buClr>
                <a:srgbClr val="0070C0"/>
              </a:buClr>
              <a:buSzPts val="2400"/>
              <a:buNone/>
              <a:defRPr/>
            </a:pPr>
            <a:endParaRPr lang="en-US" sz="2400" b="1">
              <a:solidFill>
                <a:srgbClr val="FF0000"/>
              </a:solidFill>
            </a:endParaRPr>
          </a:p>
          <a:p>
            <a:pPr marL="0" lvl="0" indent="0" algn="l" rtl="0">
              <a:lnSpc>
                <a:spcPct val="90000"/>
              </a:lnSpc>
              <a:spcBef>
                <a:spcPts val="1000"/>
              </a:spcBef>
              <a:spcAft>
                <a:spcPts val="0"/>
              </a:spcAft>
              <a:buClr>
                <a:srgbClr val="0070C0"/>
              </a:buClr>
              <a:buSzPts val="2400"/>
              <a:buNone/>
              <a:defRPr/>
            </a:pPr>
            <a:endParaRPr lang="en-US" sz="2400" b="1">
              <a:solidFill>
                <a:srgbClr val="FF0000"/>
              </a:solidFill>
            </a:endParaRPr>
          </a:p>
          <a:p>
            <a:pPr marL="0" lvl="0" indent="0" algn="l" rtl="0">
              <a:lnSpc>
                <a:spcPct val="90000"/>
              </a:lnSpc>
              <a:spcBef>
                <a:spcPts val="1000"/>
              </a:spcBef>
              <a:spcAft>
                <a:spcPts val="0"/>
              </a:spcAft>
              <a:buClr>
                <a:srgbClr val="0070C0"/>
              </a:buClr>
              <a:buSzPts val="2400"/>
              <a:buNone/>
              <a:defRPr/>
            </a:pPr>
            <a:endParaRPr lang="en-US" sz="2400" b="1">
              <a:solidFill>
                <a:srgbClr val="FF0000"/>
              </a:solidFill>
            </a:endParaRPr>
          </a:p>
          <a:p>
            <a:pPr marL="0" lvl="0" indent="0" algn="l" rtl="0">
              <a:lnSpc>
                <a:spcPct val="90000"/>
              </a:lnSpc>
              <a:spcBef>
                <a:spcPts val="1000"/>
              </a:spcBef>
              <a:spcAft>
                <a:spcPts val="0"/>
              </a:spcAft>
              <a:buClr>
                <a:srgbClr val="0070C0"/>
              </a:buClr>
              <a:buSzPts val="2400"/>
              <a:buNone/>
              <a:defRPr/>
            </a:pPr>
            <a:endParaRPr lang="en-US" sz="2400" b="1">
              <a:solidFill>
                <a:srgbClr val="FF0000"/>
              </a:solidFill>
            </a:endParaRPr>
          </a:p>
          <a:p>
            <a:pPr marL="0" lvl="0" indent="0" algn="l" rtl="0">
              <a:lnSpc>
                <a:spcPct val="90000"/>
              </a:lnSpc>
              <a:spcBef>
                <a:spcPts val="1000"/>
              </a:spcBef>
              <a:spcAft>
                <a:spcPts val="0"/>
              </a:spcAft>
              <a:buClr>
                <a:srgbClr val="0070C0"/>
              </a:buClr>
              <a:buSzPts val="2400"/>
              <a:buNone/>
              <a:defRPr/>
            </a:pPr>
            <a:endParaRPr sz="2400" b="1">
              <a:solidFill>
                <a:srgbClr val="FF0000"/>
              </a:solidFill>
            </a:endParaRPr>
          </a:p>
          <a:p>
            <a:pPr marL="628650" indent="-273050">
              <a:spcBef>
                <a:spcPts val="1500"/>
              </a:spcBef>
              <a:buSzPts val="2000"/>
              <a:defRPr/>
            </a:pPr>
            <a:r>
              <a:rPr lang="en-US" sz="2400"/>
              <a:t>Project managers report to the </a:t>
            </a:r>
            <a:r>
              <a:rPr lang="en-US" sz="2400" b="1"/>
              <a:t>CEO / Sr </a:t>
            </a:r>
            <a:r>
              <a:rPr lang="en-US" sz="2400" b="1"/>
              <a:t>Mgmt</a:t>
            </a:r>
            <a:endParaRPr lang="en-US" sz="2400" b="1"/>
          </a:p>
          <a:p>
            <a:pPr marL="628650" lvl="0" indent="-273050">
              <a:spcBef>
                <a:spcPts val="1500"/>
              </a:spcBef>
              <a:buSzPts val="2000"/>
              <a:defRPr/>
            </a:pPr>
            <a:r>
              <a:rPr lang="en-US" sz="2400"/>
              <a:t>E.g. of </a:t>
            </a:r>
            <a:r>
              <a:rPr lang="en-US" sz="2400" b="1"/>
              <a:t>businesses</a:t>
            </a:r>
            <a:r>
              <a:rPr lang="en-US" sz="2400"/>
              <a:t> where work is organized around projects:</a:t>
            </a:r>
            <a:endParaRPr/>
          </a:p>
          <a:p>
            <a:pPr marL="1085850" lvl="1" indent="-273050">
              <a:spcBef>
                <a:spcPts val="900"/>
              </a:spcBef>
              <a:buSzPts val="2000"/>
              <a:defRPr/>
            </a:pPr>
            <a:r>
              <a:rPr lang="en-US" sz="2000">
                <a:solidFill>
                  <a:srgbClr val="FF0000"/>
                </a:solidFill>
              </a:rPr>
              <a:t>Software development companies</a:t>
            </a:r>
            <a:endParaRPr/>
          </a:p>
          <a:p>
            <a:pPr marL="1085850" lvl="1" indent="-273050">
              <a:spcBef>
                <a:spcPts val="900"/>
              </a:spcBef>
              <a:buSzPts val="2000"/>
              <a:defRPr/>
            </a:pPr>
            <a:r>
              <a:rPr lang="en-US" sz="2000">
                <a:solidFill>
                  <a:srgbClr val="FF0000"/>
                </a:solidFill>
              </a:rPr>
              <a:t>Construction companies</a:t>
            </a:r>
            <a:endParaRPr/>
          </a:p>
          <a:p>
            <a:pPr marL="1085850" lvl="1" indent="-273050">
              <a:spcBef>
                <a:spcPts val="900"/>
              </a:spcBef>
              <a:buSzPts val="2000"/>
              <a:defRPr/>
            </a:pPr>
            <a:r>
              <a:rPr lang="en-US" sz="2000">
                <a:solidFill>
                  <a:srgbClr val="FF0000"/>
                </a:solidFill>
              </a:rPr>
              <a:t>Event mgmt. companies</a:t>
            </a:r>
            <a:endParaRPr/>
          </a:p>
          <a:p>
            <a:pPr marL="628650" lvl="0" indent="-273050">
              <a:spcBef>
                <a:spcPts val="900"/>
              </a:spcBef>
              <a:buSzPts val="2000"/>
              <a:defRPr/>
            </a:pPr>
            <a:r>
              <a:rPr lang="en-US" sz="2400">
                <a:solidFill>
                  <a:srgbClr val="FF0000"/>
                </a:solidFill>
              </a:rPr>
              <a:t>Can you give 1 </a:t>
            </a:r>
            <a:r>
              <a:rPr lang="en-US" sz="2400">
                <a:solidFill>
                  <a:srgbClr val="FF0000"/>
                </a:solidFill>
              </a:rPr>
              <a:t>e.g</a:t>
            </a:r>
            <a:r>
              <a:rPr lang="en-US" sz="2400">
                <a:solidFill>
                  <a:srgbClr val="FF0000"/>
                </a:solidFill>
              </a:rPr>
              <a:t>? _______</a:t>
            </a:r>
            <a:endParaRPr sz="2400">
              <a:solidFill>
                <a:srgbClr val="FF0000"/>
              </a:solidFill>
            </a:endParaRPr>
          </a:p>
        </p:txBody>
      </p:sp>
      <p:pic>
        <p:nvPicPr>
          <p:cNvPr id="766817657" name="Google Shape;1325;p77"/>
          <p:cNvPicPr/>
          <p:nvPr/>
        </p:nvPicPr>
        <p:blipFill rotWithShape="1">
          <a:blip r:embed="rId5">
            <a:alphaModFix/>
          </a:blip>
          <a:srcRect l="42835" t="0" r="26308" b="0"/>
          <a:stretch/>
        </p:blipFill>
        <p:spPr bwMode="auto">
          <a:xfrm>
            <a:off x="0" y="-5557"/>
            <a:ext cx="3200400" cy="6863558"/>
          </a:xfrm>
          <a:prstGeom prst="rect">
            <a:avLst/>
          </a:prstGeom>
          <a:noFill/>
          <a:ln>
            <a:noFill/>
          </a:ln>
        </p:spPr>
      </p:pic>
      <p:sp>
        <p:nvSpPr>
          <p:cNvPr id="617650451" name="Rectangle 5"/>
          <p:cNvSpPr/>
          <p:nvPr/>
        </p:nvSpPr>
        <p:spPr bwMode="auto">
          <a:xfrm>
            <a:off x="5479775" y="3397566"/>
            <a:ext cx="909325" cy="4681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1328164527" name="Rectangle 6"/>
          <p:cNvSpPr/>
          <p:nvPr/>
        </p:nvSpPr>
        <p:spPr bwMode="auto">
          <a:xfrm>
            <a:off x="8790134" y="3397565"/>
            <a:ext cx="909325" cy="4681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618494716">
                                            <p:txEl>
                                              <p:pRg st="1" end="1"/>
                                            </p:txEl>
                                          </p:spTgt>
                                        </p:tgtEl>
                                        <p:attrNameLst>
                                          <p:attrName>style.visibility</p:attrName>
                                        </p:attrNameLst>
                                      </p:cBhvr>
                                      <p:to>
                                        <p:strVal val="visible"/>
                                      </p:to>
                                    </p:set>
                                    <p:animEffect transition="in" filter="wipe(left)">
                                      <p:cBhvr>
                                        <p:cTn id="7" dur="500"/>
                                        <p:tgtEl>
                                          <p:spTgt spid="1618494716">
                                            <p:txEl>
                                              <p:pRg st="1" end="1"/>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618494716">
                                            <p:txEl>
                                              <p:pRg st="8" end="8"/>
                                            </p:txEl>
                                          </p:spTgt>
                                        </p:tgtEl>
                                        <p:attrNameLst>
                                          <p:attrName>style.visibility</p:attrName>
                                        </p:attrNameLst>
                                      </p:cBhvr>
                                      <p:to>
                                        <p:strVal val="visible"/>
                                      </p:to>
                                    </p:set>
                                    <p:animEffect transition="in" filter="wipe(left)">
                                      <p:cBhvr>
                                        <p:cTn id="10" dur="500"/>
                                        <p:tgtEl>
                                          <p:spTgt spid="1618494716">
                                            <p:txEl>
                                              <p:pRg st="8" end="8"/>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618494716">
                                            <p:txEl>
                                              <p:pRg st="9" end="9"/>
                                            </p:txEl>
                                          </p:spTgt>
                                        </p:tgtEl>
                                        <p:attrNameLst>
                                          <p:attrName>style.visibility</p:attrName>
                                        </p:attrNameLst>
                                      </p:cBhvr>
                                      <p:to>
                                        <p:strVal val="visible"/>
                                      </p:to>
                                    </p:set>
                                    <p:animEffect transition="in" filter="wipe(left)">
                                      <p:cBhvr>
                                        <p:cTn id="15" dur="500"/>
                                        <p:tgtEl>
                                          <p:spTgt spid="1618494716">
                                            <p:txEl>
                                              <p:pRg st="9" end="9"/>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1618494716">
                                            <p:txEl>
                                              <p:pRg st="10" end="10"/>
                                            </p:txEl>
                                          </p:spTgt>
                                        </p:tgtEl>
                                        <p:attrNameLst>
                                          <p:attrName>style.visibility</p:attrName>
                                        </p:attrNameLst>
                                      </p:cBhvr>
                                      <p:to>
                                        <p:strVal val="visible"/>
                                      </p:to>
                                    </p:set>
                                    <p:animEffect transition="in" filter="wipe(left)">
                                      <p:cBhvr>
                                        <p:cTn id="18" dur="500"/>
                                        <p:tgtEl>
                                          <p:spTgt spid="1618494716">
                                            <p:txEl>
                                              <p:pRg st="10" end="10"/>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1618494716">
                                            <p:txEl>
                                              <p:pRg st="11" end="11"/>
                                            </p:txEl>
                                          </p:spTgt>
                                        </p:tgtEl>
                                        <p:attrNameLst>
                                          <p:attrName>style.visibility</p:attrName>
                                        </p:attrNameLst>
                                      </p:cBhvr>
                                      <p:to>
                                        <p:strVal val="visible"/>
                                      </p:to>
                                    </p:set>
                                    <p:animEffect transition="in" filter="wipe(left)">
                                      <p:cBhvr>
                                        <p:cTn id="21" dur="500"/>
                                        <p:tgtEl>
                                          <p:spTgt spid="1618494716">
                                            <p:txEl>
                                              <p:pRg st="11" end="11"/>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1618494716">
                                            <p:txEl>
                                              <p:pRg st="12" end="12"/>
                                            </p:txEl>
                                          </p:spTgt>
                                        </p:tgtEl>
                                        <p:attrNameLst>
                                          <p:attrName>style.visibility</p:attrName>
                                        </p:attrNameLst>
                                      </p:cBhvr>
                                      <p:to>
                                        <p:strVal val="visible"/>
                                      </p:to>
                                    </p:set>
                                    <p:animEffect transition="in" filter="wipe(left)">
                                      <p:cBhvr>
                                        <p:cTn id="24" dur="500"/>
                                        <p:tgtEl>
                                          <p:spTgt spid="1618494716">
                                            <p:txEl>
                                              <p:pRg st="12" end="1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618494716">
                                            <p:txEl>
                                              <p:pRg st="13" end="13"/>
                                            </p:txEl>
                                          </p:spTgt>
                                        </p:tgtEl>
                                        <p:attrNameLst>
                                          <p:attrName>style.visibility</p:attrName>
                                        </p:attrNameLst>
                                      </p:cBhvr>
                                      <p:to>
                                        <p:strVal val="visible"/>
                                      </p:to>
                                    </p:set>
                                    <p:animEffect transition="in" filter="fade">
                                      <p:cBhvr>
                                        <p:cTn id="29" dur="1000"/>
                                        <p:tgtEl>
                                          <p:spTgt spid="1618494716">
                                            <p:txEl>
                                              <p:pRg st="13" end="13"/>
                                            </p:txEl>
                                          </p:spTgt>
                                        </p:tgtEl>
                                      </p:cBhvr>
                                    </p:animEffect>
                                    <p:anim calcmode="lin" valueType="num">
                                      <p:cBhvr>
                                        <p:cTn id="30" dur="1000" fill="hold"/>
                                        <p:tgtEl>
                                          <p:spTgt spid="1618494716">
                                            <p:txEl>
                                              <p:pRg st="13" end="13"/>
                                            </p:txEl>
                                          </p:spTgt>
                                        </p:tgtEl>
                                        <p:attrNameLst>
                                          <p:attrName>ppt_x</p:attrName>
                                        </p:attrNameLst>
                                      </p:cBhvr>
                                      <p:tavLst>
                                        <p:tav tm="0">
                                          <p:val>
                                            <p:strVal val="#ppt_x"/>
                                          </p:val>
                                        </p:tav>
                                        <p:tav tm="100000">
                                          <p:val>
                                            <p:strVal val="#ppt_x"/>
                                          </p:val>
                                        </p:tav>
                                      </p:tavLst>
                                    </p:anim>
                                    <p:anim calcmode="lin" valueType="num">
                                      <p:cBhvr>
                                        <p:cTn id="31" dur="1000" fill="hold"/>
                                        <p:tgtEl>
                                          <p:spTgt spid="1618494716">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44172835" name="Google Shape;1331;p78"/>
          <p:cNvSpPr txBox="1">
            <a:spLocks noGrp="1"/>
          </p:cNvSpPr>
          <p:nvPr>
            <p:ph type="body" idx="1"/>
          </p:nvPr>
        </p:nvSpPr>
        <p:spPr bwMode="auto">
          <a:xfrm>
            <a:off x="3733800" y="1981201"/>
            <a:ext cx="7924800" cy="14478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defRPr/>
            </a:pPr>
            <a:r>
              <a:rPr lang="en-US"/>
              <a:t>Organization structures for managing projects</a:t>
            </a:r>
            <a:endParaRPr/>
          </a:p>
          <a:p>
            <a:pPr marL="0" lvl="0" indent="0" algn="l" rtl="0">
              <a:lnSpc>
                <a:spcPct val="90000"/>
              </a:lnSpc>
              <a:spcBef>
                <a:spcPts val="1000"/>
              </a:spcBef>
              <a:spcAft>
                <a:spcPts val="0"/>
              </a:spcAft>
              <a:buClr>
                <a:srgbClr val="0070C0"/>
              </a:buClr>
              <a:buSzPts val="2400"/>
              <a:buNone/>
              <a:defRPr/>
            </a:pPr>
            <a:r>
              <a:rPr lang="en-US" sz="2400" b="1">
                <a:solidFill>
                  <a:srgbClr val="FF0000"/>
                </a:solidFill>
              </a:rPr>
              <a:t>(ii) Project Organizational Structure</a:t>
            </a:r>
            <a:endParaRPr sz="2400" b="1">
              <a:solidFill>
                <a:srgbClr val="FF0000"/>
              </a:solidFill>
            </a:endParaRPr>
          </a:p>
        </p:txBody>
      </p:sp>
      <p:sp>
        <p:nvSpPr>
          <p:cNvPr id="1627511662" name="Google Shape;1332;p78"/>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85</a:t>
            </a:fld>
            <a:endParaRPr/>
          </a:p>
        </p:txBody>
      </p:sp>
      <p:sp>
        <p:nvSpPr>
          <p:cNvPr id="386556444" name="Google Shape;1333;p78"/>
          <p:cNvSpPr txBox="1"/>
          <p:nvPr/>
        </p:nvSpPr>
        <p:spPr bwMode="auto">
          <a:xfrm>
            <a:off x="3581400" y="597750"/>
            <a:ext cx="7010399" cy="715961"/>
          </a:xfrm>
          <a:prstGeom prst="rect">
            <a:avLst/>
          </a:prstGeom>
          <a:noFill/>
          <a:ln>
            <a:noFill/>
          </a:ln>
        </p:spPr>
        <p:txBody>
          <a:bodyPr spcFirstLastPara="1" wrap="square" lIns="91425" tIns="45700" rIns="91425" bIns="45700" anchor="ctr" anchorCtr="0">
            <a:normAutofit fontScale="77500" lnSpcReduction="200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Human Resource Management</a:t>
            </a:r>
            <a:endParaRPr sz="4000" b="1">
              <a:solidFill>
                <a:schemeClr val="dk1"/>
              </a:solidFill>
              <a:latin typeface="Calibri"/>
              <a:ea typeface="Calibri"/>
              <a:cs typeface="Calibri"/>
            </a:endParaRPr>
          </a:p>
        </p:txBody>
      </p:sp>
      <p:sp>
        <p:nvSpPr>
          <p:cNvPr id="1530213968" name="Google Shape;1334;p78"/>
          <p:cNvSpPr txBox="1"/>
          <p:nvPr/>
        </p:nvSpPr>
        <p:spPr bwMode="auto">
          <a:xfrm>
            <a:off x="3618628" y="119948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467557414" name="Google Shape;1335;p78"/>
          <p:cNvCxnSpPr/>
          <p:nvPr/>
        </p:nvCxnSpPr>
        <p:spPr bwMode="auto">
          <a:xfrm rot="10800000">
            <a:off x="3733800" y="1672998"/>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625333569" name="Google Shape;1336;p78"/>
          <p:cNvPicPr/>
          <p:nvPr/>
        </p:nvPicPr>
        <p:blipFill rotWithShape="1">
          <a:blip r:embed="rId3">
            <a:alphaModFix/>
          </a:blip>
          <a:srcRect l="42835" t="0" r="26308" b="0"/>
          <a:stretch/>
        </p:blipFill>
        <p:spPr bwMode="auto">
          <a:xfrm>
            <a:off x="0" y="-5557"/>
            <a:ext cx="3200400" cy="6863558"/>
          </a:xfrm>
          <a:prstGeom prst="rect">
            <a:avLst/>
          </a:prstGeom>
          <a:noFill/>
          <a:ln>
            <a:noFill/>
          </a:ln>
        </p:spPr>
      </p:pic>
      <p:sp>
        <p:nvSpPr>
          <p:cNvPr id="792051024" name="Google Shape;1337;p78"/>
          <p:cNvSpPr txBox="1"/>
          <p:nvPr/>
        </p:nvSpPr>
        <p:spPr bwMode="auto">
          <a:xfrm>
            <a:off x="4500548" y="4910437"/>
            <a:ext cx="4048005" cy="2310714"/>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chemeClr val="dk1"/>
              </a:buClr>
              <a:buSzPts val="2800"/>
              <a:buFont typeface="Arial"/>
              <a:buNone/>
              <a:defRPr/>
            </a:pPr>
            <a:r>
              <a:rPr lang="en-US" sz="2800" b="1">
                <a:solidFill>
                  <a:schemeClr val="dk1"/>
                </a:solidFill>
                <a:latin typeface="Calibri"/>
                <a:ea typeface="Calibri"/>
                <a:cs typeface="Calibri"/>
              </a:rPr>
              <a:t>Advantages</a:t>
            </a:r>
            <a:endParaRPr/>
          </a:p>
          <a:p>
            <a:pPr marL="342900" marR="0" lvl="0" indent="-342900" algn="l" rtl="0">
              <a:lnSpc>
                <a:spcPct val="90000"/>
              </a:lnSpc>
              <a:spcBef>
                <a:spcPts val="0"/>
              </a:spcBef>
              <a:spcAft>
                <a:spcPts val="0"/>
              </a:spcAft>
              <a:buClr>
                <a:schemeClr val="dk1"/>
              </a:buClr>
              <a:buSzPts val="2400"/>
              <a:buFont typeface="Arial"/>
              <a:buChar char="•"/>
              <a:defRPr/>
            </a:pPr>
            <a:r>
              <a:rPr lang="en-US" sz="2000">
                <a:solidFill>
                  <a:schemeClr val="dk1"/>
                </a:solidFill>
                <a:latin typeface="Calibri"/>
                <a:ea typeface="Calibri"/>
                <a:cs typeface="Calibri"/>
              </a:rPr>
              <a:t>Unity of command</a:t>
            </a:r>
            <a:endParaRPr/>
          </a:p>
          <a:p>
            <a:pPr marL="342900" marR="0" lvl="0" indent="-342900" algn="l" rtl="0">
              <a:lnSpc>
                <a:spcPct val="90000"/>
              </a:lnSpc>
              <a:spcBef>
                <a:spcPts val="0"/>
              </a:spcBef>
              <a:spcAft>
                <a:spcPts val="0"/>
              </a:spcAft>
              <a:buClr>
                <a:schemeClr val="dk1"/>
              </a:buClr>
              <a:buSzPts val="2400"/>
              <a:buFont typeface="Arial"/>
              <a:buChar char="•"/>
              <a:defRPr/>
            </a:pPr>
            <a:endParaRPr lang="en-MY" sz="2000"/>
          </a:p>
          <a:p>
            <a:pPr marL="342900" marR="0" lvl="0" indent="-342900" algn="l" rtl="0">
              <a:lnSpc>
                <a:spcPct val="90000"/>
              </a:lnSpc>
              <a:spcBef>
                <a:spcPts val="0"/>
              </a:spcBef>
              <a:spcAft>
                <a:spcPts val="0"/>
              </a:spcAft>
              <a:buClr>
                <a:schemeClr val="dk1"/>
              </a:buClr>
              <a:buSzPts val="2400"/>
              <a:buFont typeface="Arial"/>
              <a:buChar char="•"/>
              <a:defRPr/>
            </a:pPr>
            <a:endParaRPr sz="2000"/>
          </a:p>
          <a:p>
            <a:pPr marL="342900" marR="0" lvl="0" indent="-342900" algn="l" rtl="0">
              <a:lnSpc>
                <a:spcPct val="90000"/>
              </a:lnSpc>
              <a:spcBef>
                <a:spcPts val="0"/>
              </a:spcBef>
              <a:spcAft>
                <a:spcPts val="0"/>
              </a:spcAft>
              <a:buClr>
                <a:schemeClr val="dk1"/>
              </a:buClr>
              <a:buSzPts val="2400"/>
              <a:buFont typeface="Arial"/>
              <a:buChar char="•"/>
              <a:defRPr/>
            </a:pPr>
            <a:r>
              <a:rPr lang="en-US" sz="2000">
                <a:solidFill>
                  <a:schemeClr val="dk1"/>
                </a:solidFill>
                <a:latin typeface="Calibri"/>
                <a:ea typeface="Calibri"/>
                <a:cs typeface="Calibri"/>
              </a:rPr>
              <a:t>Highly </a:t>
            </a:r>
            <a:r>
              <a:rPr lang="en-US" sz="2000" u="sng">
                <a:solidFill>
                  <a:schemeClr val="dk1"/>
                </a:solidFill>
                <a:latin typeface="Calibri"/>
                <a:ea typeface="Calibri"/>
                <a:cs typeface="Calibri"/>
              </a:rPr>
              <a:t>responsive</a:t>
            </a:r>
            <a:r>
              <a:rPr lang="en-US" sz="2000">
                <a:solidFill>
                  <a:schemeClr val="dk1"/>
                </a:solidFill>
                <a:latin typeface="Calibri"/>
                <a:ea typeface="Calibri"/>
                <a:cs typeface="Calibri"/>
              </a:rPr>
              <a:t> to project’s objectives/ customer needs</a:t>
            </a:r>
            <a:endParaRPr sz="2000"/>
          </a:p>
        </p:txBody>
      </p:sp>
      <p:sp>
        <p:nvSpPr>
          <p:cNvPr id="1581979968" name="Google Shape;1338;p78"/>
          <p:cNvSpPr txBox="1"/>
          <p:nvPr/>
        </p:nvSpPr>
        <p:spPr bwMode="auto">
          <a:xfrm>
            <a:off x="8253755" y="4910437"/>
            <a:ext cx="3806164" cy="1632603"/>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chemeClr val="dk1"/>
              </a:buClr>
              <a:buSzPts val="2800"/>
              <a:buFont typeface="Arial"/>
              <a:buNone/>
              <a:defRPr/>
            </a:pPr>
            <a:r>
              <a:rPr lang="en-US" sz="2800" b="1">
                <a:solidFill>
                  <a:schemeClr val="dk1"/>
                </a:solidFill>
                <a:latin typeface="Calibri"/>
                <a:ea typeface="Calibri"/>
                <a:cs typeface="Calibri"/>
              </a:rPr>
              <a:t>Disadvantages</a:t>
            </a:r>
            <a:endParaRPr/>
          </a:p>
          <a:p>
            <a:pPr marL="342900" marR="0" lvl="0" indent="-342900" algn="l" rtl="0">
              <a:lnSpc>
                <a:spcPct val="90000"/>
              </a:lnSpc>
              <a:spcBef>
                <a:spcPts val="0"/>
              </a:spcBef>
              <a:spcAft>
                <a:spcPts val="0"/>
              </a:spcAft>
              <a:buClr>
                <a:schemeClr val="dk1"/>
              </a:buClr>
              <a:buSzPts val="2400"/>
              <a:buFont typeface="Arial"/>
              <a:buChar char="•"/>
              <a:defRPr/>
            </a:pPr>
            <a:r>
              <a:rPr lang="en-US" sz="2000">
                <a:solidFill>
                  <a:schemeClr val="dk1"/>
                </a:solidFill>
                <a:latin typeface="Calibri"/>
                <a:ea typeface="Calibri"/>
                <a:cs typeface="Calibri"/>
              </a:rPr>
              <a:t>Duplication of facilities</a:t>
            </a:r>
            <a:endParaRPr sz="2000"/>
          </a:p>
          <a:p>
            <a:pPr marL="342900" marR="0" lvl="0" indent="-342900" algn="l" rtl="0">
              <a:lnSpc>
                <a:spcPct val="90000"/>
              </a:lnSpc>
              <a:spcBef>
                <a:spcPts val="0"/>
              </a:spcBef>
              <a:spcAft>
                <a:spcPts val="0"/>
              </a:spcAft>
              <a:buClr>
                <a:schemeClr val="dk1"/>
              </a:buClr>
              <a:buSzPts val="2400"/>
              <a:buFont typeface="Arial"/>
              <a:buChar char="•"/>
              <a:defRPr/>
            </a:pPr>
            <a:r>
              <a:rPr lang="en-US" sz="2000" u="sng">
                <a:solidFill>
                  <a:schemeClr val="dk1"/>
                </a:solidFill>
                <a:latin typeface="Calibri"/>
                <a:ea typeface="Calibri"/>
                <a:cs typeface="Calibri"/>
              </a:rPr>
              <a:t>Cost inefficiency </a:t>
            </a:r>
            <a:r>
              <a:rPr lang="en-US" sz="2000">
                <a:solidFill>
                  <a:schemeClr val="dk1"/>
                </a:solidFill>
                <a:latin typeface="Calibri"/>
                <a:ea typeface="Calibri"/>
                <a:cs typeface="Calibri"/>
              </a:rPr>
              <a:t>of resources</a:t>
            </a:r>
            <a:endParaRPr sz="2000"/>
          </a:p>
        </p:txBody>
      </p:sp>
      <p:graphicFrame>
        <p:nvGraphicFramePr>
          <p:cNvPr id="171308957" name="Google Shape;1326;p77"/>
          <p:cNvGraphicFramePr>
            <a:graphicFrameLocks xmlns:a="http://schemas.openxmlformats.org/drawingml/2006/main" noChangeAspect="1"/>
          </p:cNvGraphicFramePr>
          <p:nvPr/>
        </p:nvGraphicFramePr>
        <p:xfrm>
          <a:off x="4586952" y="2859875"/>
          <a:ext cx="6248400" cy="1993802"/>
        </p:xfrm>
        <a:graphic>
          <a:graphicData uri="http://schemas.openxmlformats.org/presentationml/2006/ole">
            <p:oleObj name="oleObj" r:id="rId5" imgW="6248400" imgH="1993265" progId="PBrush">
              <p:embed/>
              <p:pic>
                <p:nvPicPr>
                  <p:cNvPr id="171308957" name="Google Shape;1326;p77"/>
                  <p:cNvPicPr/>
                  <p:nvPr/>
                </p:nvPicPr>
                <p:blipFill rotWithShape="1">
                  <a:blip r:embed="rId4">
                    <a:alphaModFix/>
                  </a:blip>
                  <a:stretch/>
                </p:blipFill>
                <p:spPr bwMode="auto">
                  <a:xfrm>
                    <a:off x="4586952" y="2859875"/>
                    <a:ext cx="6248400" cy="1993802"/>
                  </a:xfrm>
                  <a:prstGeom prst="rect">
                    <a:avLst/>
                  </a:prstGeom>
                  <a:noFill/>
                  <a:ln>
                    <a:noFill/>
                  </a:ln>
                </p:spPr>
              </p:pic>
            </p:oleObj>
          </a:graphicData>
        </a:graphic>
      </p:graphicFrame>
      <p:sp>
        <p:nvSpPr>
          <p:cNvPr id="183796842" name="TextBox 2"/>
          <p:cNvSpPr txBox="1"/>
          <p:nvPr/>
        </p:nvSpPr>
        <p:spPr bwMode="auto">
          <a:xfrm>
            <a:off x="4882628" y="5515908"/>
            <a:ext cx="3225052" cy="523220"/>
          </a:xfrm>
          <a:prstGeom prst="rect">
            <a:avLst/>
          </a:prstGeom>
          <a:noFill/>
        </p:spPr>
        <p:txBody>
          <a:bodyPr wrap="square" rtlCol="0">
            <a:spAutoFit/>
          </a:bodyPr>
          <a:lstStyle/>
          <a:p>
            <a:pPr>
              <a:defRPr/>
            </a:pPr>
            <a:r>
              <a:rPr lang="en-US" i="1"/>
              <a:t>(each team member report to and receive order form only one  manager)</a:t>
            </a:r>
            <a:endParaRPr lang="en-MY" i="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792051024">
                                            <p:txEl>
                                              <p:pRg st="0" end="0"/>
                                            </p:txEl>
                                          </p:spTgt>
                                        </p:tgtEl>
                                        <p:attrNameLst>
                                          <p:attrName>style.visibility</p:attrName>
                                        </p:attrNameLst>
                                      </p:cBhvr>
                                      <p:to>
                                        <p:strVal val="visible"/>
                                      </p:to>
                                    </p:set>
                                    <p:anim calcmode="lin" valueType="num">
                                      <p:cBhvr additive="base">
                                        <p:cTn id="7" dur="500" fill="hold"/>
                                        <p:tgtEl>
                                          <p:spTgt spid="7920510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92051024">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792051024">
                                            <p:txEl>
                                              <p:pRg st="1" end="1"/>
                                            </p:txEl>
                                          </p:spTgt>
                                        </p:tgtEl>
                                        <p:attrNameLst>
                                          <p:attrName>style.visibility</p:attrName>
                                        </p:attrNameLst>
                                      </p:cBhvr>
                                      <p:to>
                                        <p:strVal val="visible"/>
                                      </p:to>
                                    </p:set>
                                    <p:animEffect transition="in" filter="wipe(left)">
                                      <p:cBhvr>
                                        <p:cTn id="13" dur="500"/>
                                        <p:tgtEl>
                                          <p:spTgt spid="792051024">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83796842"/>
                                        </p:tgtEl>
                                        <p:attrNameLst>
                                          <p:attrName>style.visibility</p:attrName>
                                        </p:attrNameLst>
                                      </p:cBhvr>
                                      <p:to>
                                        <p:strVal val="visible"/>
                                      </p:to>
                                    </p:set>
                                    <p:animEffect transition="in" filter="wipe(left)">
                                      <p:cBhvr>
                                        <p:cTn id="18" dur="500"/>
                                        <p:tgtEl>
                                          <p:spTgt spid="18379684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792051024">
                                            <p:txEl>
                                              <p:pRg st="4" end="4"/>
                                            </p:txEl>
                                          </p:spTgt>
                                        </p:tgtEl>
                                        <p:attrNameLst>
                                          <p:attrName>style.visibility</p:attrName>
                                        </p:attrNameLst>
                                      </p:cBhvr>
                                      <p:to>
                                        <p:strVal val="visible"/>
                                      </p:to>
                                    </p:set>
                                    <p:animEffect transition="in" filter="wipe(left)">
                                      <p:cBhvr>
                                        <p:cTn id="23" dur="500"/>
                                        <p:tgtEl>
                                          <p:spTgt spid="792051024">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581979968">
                                            <p:txEl>
                                              <p:pRg st="0" end="0"/>
                                            </p:txEl>
                                          </p:spTgt>
                                        </p:tgtEl>
                                        <p:attrNameLst>
                                          <p:attrName>style.visibility</p:attrName>
                                        </p:attrNameLst>
                                      </p:cBhvr>
                                      <p:to>
                                        <p:strVal val="visible"/>
                                      </p:to>
                                    </p:set>
                                    <p:animEffect transition="in" filter="wipe(left)">
                                      <p:cBhvr>
                                        <p:cTn id="28" dur="500"/>
                                        <p:tgtEl>
                                          <p:spTgt spid="1581979968">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581979968">
                                            <p:txEl>
                                              <p:pRg st="1" end="1"/>
                                            </p:txEl>
                                          </p:spTgt>
                                        </p:tgtEl>
                                        <p:attrNameLst>
                                          <p:attrName>style.visibility</p:attrName>
                                        </p:attrNameLst>
                                      </p:cBhvr>
                                      <p:to>
                                        <p:strVal val="visible"/>
                                      </p:to>
                                    </p:set>
                                    <p:anim calcmode="lin" valueType="num">
                                      <p:cBhvr additive="base">
                                        <p:cTn id="33" dur="500" fill="hold"/>
                                        <p:tgtEl>
                                          <p:spTgt spid="1581979968">
                                            <p:txEl>
                                              <p:pRg st="1" end="1"/>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581979968">
                                            <p:txEl>
                                              <p:pRg st="1" end="1"/>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581979968">
                                            <p:txEl>
                                              <p:pRg st="2" end="2"/>
                                            </p:txEl>
                                          </p:spTgt>
                                        </p:tgtEl>
                                        <p:attrNameLst>
                                          <p:attrName>style.visibility</p:attrName>
                                        </p:attrNameLst>
                                      </p:cBhvr>
                                      <p:to>
                                        <p:strVal val="visible"/>
                                      </p:to>
                                    </p:set>
                                    <p:anim calcmode="lin" valueType="num">
                                      <p:cBhvr additive="base">
                                        <p:cTn id="37" dur="500" fill="hold"/>
                                        <p:tgtEl>
                                          <p:spTgt spid="1581979968">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58197996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796842" grpId="0"/>
    </p:bldLst>
  </p:timing>
</p:sld>
</file>

<file path=ppt/slides/slide8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1891451" name="Google Shape;1354;p80"/>
          <p:cNvSpPr txBox="1">
            <a:spLocks noGrp="1"/>
          </p:cNvSpPr>
          <p:nvPr>
            <p:ph type="body" idx="1"/>
          </p:nvPr>
        </p:nvSpPr>
        <p:spPr bwMode="auto">
          <a:xfrm>
            <a:off x="5636871" y="1981200"/>
            <a:ext cx="6474378" cy="474027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defRPr/>
            </a:pPr>
            <a:r>
              <a:rPr lang="en-US"/>
              <a:t>Organization structures for managing projects</a:t>
            </a:r>
            <a:endParaRPr/>
          </a:p>
          <a:p>
            <a:pPr marL="0" lvl="0" indent="0" algn="l" rtl="0">
              <a:lnSpc>
                <a:spcPct val="90000"/>
              </a:lnSpc>
              <a:spcBef>
                <a:spcPts val="1000"/>
              </a:spcBef>
              <a:spcAft>
                <a:spcPts val="0"/>
              </a:spcAft>
              <a:buClr>
                <a:srgbClr val="0070C0"/>
              </a:buClr>
              <a:buSzPts val="2400"/>
              <a:buNone/>
              <a:defRPr/>
            </a:pPr>
            <a:r>
              <a:rPr lang="en-US" sz="2400">
                <a:solidFill>
                  <a:schemeClr val="tx1"/>
                </a:solidFill>
              </a:rPr>
              <a:t>(iii) </a:t>
            </a:r>
            <a:r>
              <a:rPr lang="en-US" sz="2400" b="1">
                <a:solidFill>
                  <a:schemeClr val="tx1"/>
                </a:solidFill>
              </a:rPr>
              <a:t>Matrix Organizational Structure</a:t>
            </a:r>
            <a:endParaRPr b="1">
              <a:solidFill>
                <a:schemeClr val="tx1"/>
              </a:solidFill>
            </a:endParaRPr>
          </a:p>
          <a:p>
            <a:pPr marL="809625" lvl="0" indent="-228600" algn="l" rtl="0">
              <a:lnSpc>
                <a:spcPct val="90000"/>
              </a:lnSpc>
              <a:spcBef>
                <a:spcPts val="1000"/>
              </a:spcBef>
              <a:spcAft>
                <a:spcPts val="0"/>
              </a:spcAft>
              <a:buClr>
                <a:schemeClr val="dk1"/>
              </a:buClr>
              <a:buSzPts val="2400"/>
              <a:buChar char="•"/>
              <a:defRPr/>
            </a:pPr>
            <a:r>
              <a:rPr lang="en-US" sz="2400"/>
              <a:t>Combination of </a:t>
            </a:r>
            <a:r>
              <a:rPr lang="en-US" sz="2400" b="1">
                <a:solidFill>
                  <a:srgbClr val="0000FF"/>
                </a:solidFill>
              </a:rPr>
              <a:t>functional</a:t>
            </a:r>
            <a:r>
              <a:rPr lang="en-US" sz="2400"/>
              <a:t> and </a:t>
            </a:r>
            <a:r>
              <a:rPr lang="en-US" sz="2400" b="1">
                <a:solidFill>
                  <a:srgbClr val="FF00FF"/>
                </a:solidFill>
              </a:rPr>
              <a:t>project structures.</a:t>
            </a:r>
            <a:endParaRPr/>
          </a:p>
          <a:p>
            <a:pPr marL="809625" indent="-228600">
              <a:buSzPts val="2400"/>
              <a:defRPr/>
            </a:pPr>
            <a:r>
              <a:rPr lang="en-US" sz="2400" b="1">
                <a:solidFill>
                  <a:schemeClr val="tx1"/>
                </a:solidFill>
              </a:rPr>
              <a:t>Project managers often have staffs from various functional areas</a:t>
            </a:r>
            <a:r>
              <a:rPr lang="en-US" sz="2400">
                <a:solidFill>
                  <a:schemeClr val="tx1"/>
                </a:solidFill>
              </a:rPr>
              <a:t> working on their projects. (</a:t>
            </a:r>
            <a:r>
              <a:rPr lang="en-US" sz="2400">
                <a:solidFill>
                  <a:schemeClr val="tx1"/>
                </a:solidFill>
              </a:rPr>
              <a:t>E.g</a:t>
            </a:r>
            <a:r>
              <a:rPr lang="en-US" sz="2400">
                <a:solidFill>
                  <a:schemeClr val="tx1"/>
                </a:solidFill>
              </a:rPr>
              <a:t> Project C ______ )</a:t>
            </a:r>
            <a:endParaRPr/>
          </a:p>
          <a:p>
            <a:pPr marL="809625" indent="-228600">
              <a:buSzPts val="2400"/>
              <a:defRPr/>
            </a:pPr>
            <a:r>
              <a:rPr lang="en-US" sz="2400" b="1"/>
              <a:t>Adv</a:t>
            </a:r>
            <a:r>
              <a:rPr lang="en-US" sz="2400"/>
              <a:t>: </a:t>
            </a:r>
            <a:r>
              <a:rPr lang="en-US" sz="2400">
                <a:ea typeface="SimSun"/>
              </a:rPr>
              <a:t>efficient use of resources</a:t>
            </a:r>
            <a:endParaRPr/>
          </a:p>
          <a:p>
            <a:pPr marL="809625" lvl="0" indent="-228600" algn="l" rtl="0">
              <a:lnSpc>
                <a:spcPct val="90000"/>
              </a:lnSpc>
              <a:spcBef>
                <a:spcPts val="1000"/>
              </a:spcBef>
              <a:spcAft>
                <a:spcPts val="0"/>
              </a:spcAft>
              <a:buClr>
                <a:schemeClr val="dk1"/>
              </a:buClr>
              <a:buSzPts val="2400"/>
              <a:buChar char="•"/>
              <a:defRPr/>
            </a:pPr>
            <a:r>
              <a:rPr lang="en-US" sz="2400" b="1"/>
              <a:t>Disadv</a:t>
            </a:r>
            <a:r>
              <a:rPr lang="en-US" sz="2400"/>
              <a:t>: one staff report to 2 managers</a:t>
            </a:r>
            <a:r>
              <a:rPr lang="en-US" sz="2400" b="1"/>
              <a:t>/</a:t>
            </a:r>
            <a:r>
              <a:rPr lang="en-US" sz="2400"/>
              <a:t>bosses</a:t>
            </a:r>
            <a:endParaRPr sz="2400"/>
          </a:p>
        </p:txBody>
      </p:sp>
      <p:sp>
        <p:nvSpPr>
          <p:cNvPr id="1574253357" name="Google Shape;1355;p80"/>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86</a:t>
            </a:fld>
            <a:endParaRPr/>
          </a:p>
        </p:txBody>
      </p:sp>
      <p:sp>
        <p:nvSpPr>
          <p:cNvPr id="1829288664" name="Google Shape;1356;p80"/>
          <p:cNvSpPr txBox="1"/>
          <p:nvPr/>
        </p:nvSpPr>
        <p:spPr bwMode="auto">
          <a:xfrm>
            <a:off x="3581400" y="597750"/>
            <a:ext cx="7010399" cy="715961"/>
          </a:xfrm>
          <a:prstGeom prst="rect">
            <a:avLst/>
          </a:prstGeom>
          <a:noFill/>
          <a:ln>
            <a:noFill/>
          </a:ln>
        </p:spPr>
        <p:txBody>
          <a:bodyPr spcFirstLastPara="1" wrap="square" lIns="91425" tIns="45700" rIns="91425" bIns="45700" anchor="ctr" anchorCtr="0">
            <a:normAutofit fontScale="77500" lnSpcReduction="200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Human Resource Management</a:t>
            </a:r>
            <a:endParaRPr sz="4000" b="1">
              <a:solidFill>
                <a:schemeClr val="dk1"/>
              </a:solidFill>
              <a:latin typeface="Calibri"/>
              <a:ea typeface="Calibri"/>
              <a:cs typeface="Calibri"/>
            </a:endParaRPr>
          </a:p>
        </p:txBody>
      </p:sp>
      <p:sp>
        <p:nvSpPr>
          <p:cNvPr id="232630505" name="Google Shape;1357;p80"/>
          <p:cNvSpPr txBox="1"/>
          <p:nvPr/>
        </p:nvSpPr>
        <p:spPr bwMode="auto">
          <a:xfrm>
            <a:off x="3618628" y="119948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034029758" name="Google Shape;1358;p80"/>
          <p:cNvCxnSpPr/>
          <p:nvPr/>
        </p:nvCxnSpPr>
        <p:spPr bwMode="auto">
          <a:xfrm rot="10800000">
            <a:off x="3733800" y="1672998"/>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1932728651" name="Google Shape;1349;p79"/>
          <p:cNvPicPr/>
          <p:nvPr/>
        </p:nvPicPr>
        <p:blipFill rotWithShape="1">
          <a:blip r:embed="rId3">
            <a:alphaModFix/>
          </a:blip>
          <a:stretch/>
        </p:blipFill>
        <p:spPr bwMode="auto">
          <a:xfrm>
            <a:off x="80752" y="2062559"/>
            <a:ext cx="5556118" cy="3713207"/>
          </a:xfrm>
          <a:prstGeom prst="rect">
            <a:avLst/>
          </a:prstGeom>
          <a:noFill/>
          <a:ln w="38100">
            <a:solidFill>
              <a:schemeClr val="tx1">
                <a:lumMod val="50000"/>
                <a:lumOff val="50000"/>
              </a:schemeClr>
            </a:solidFill>
          </a:ln>
        </p:spPr>
      </p:pic>
      <p:grpSp>
        <p:nvGrpSpPr>
          <p:cNvPr id="1393418446" name="Group 14"/>
          <p:cNvGrpSpPr/>
          <p:nvPr/>
        </p:nvGrpSpPr>
        <p:grpSpPr bwMode="auto">
          <a:xfrm>
            <a:off x="1981200" y="2316480"/>
            <a:ext cx="2669540" cy="327660"/>
            <a:chOff x="1981200" y="2316480"/>
            <a:chExt cx="2669540" cy="327660"/>
          </a:xfrm>
        </p:grpSpPr>
        <p:cxnSp>
          <p:nvCxnSpPr>
            <p:cNvPr id="4" name="Straight Connector 3"/>
            <p:cNvCxnSpPr/>
            <p:nvPr/>
          </p:nvCxnSpPr>
          <p:spPr bwMode="auto">
            <a:xfrm>
              <a:off x="1981200" y="2489200"/>
              <a:ext cx="26543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bwMode="auto">
            <a:xfrm>
              <a:off x="1996440" y="2484120"/>
              <a:ext cx="0" cy="16002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auto">
            <a:xfrm>
              <a:off x="4650740" y="2476500"/>
              <a:ext cx="0" cy="16002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bwMode="auto">
            <a:xfrm>
              <a:off x="3345180" y="2484120"/>
              <a:ext cx="0" cy="16002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auto">
            <a:xfrm>
              <a:off x="2659380" y="2316480"/>
              <a:ext cx="0" cy="16002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grpSp>
      <p:sp>
        <p:nvSpPr>
          <p:cNvPr id="1698295167" name="Rectangle: Rounded Corners 11"/>
          <p:cNvSpPr/>
          <p:nvPr/>
        </p:nvSpPr>
        <p:spPr bwMode="auto">
          <a:xfrm>
            <a:off x="2956560" y="2804161"/>
            <a:ext cx="777240" cy="154938"/>
          </a:xfrm>
          <a:prstGeom prst="roundRect">
            <a:avLst>
              <a:gd name="adj" fmla="val 16667"/>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200328897" name="Rectangle: Rounded Corners 12"/>
          <p:cNvSpPr/>
          <p:nvPr/>
        </p:nvSpPr>
        <p:spPr bwMode="auto">
          <a:xfrm>
            <a:off x="4296715" y="2804161"/>
            <a:ext cx="777240" cy="154938"/>
          </a:xfrm>
          <a:prstGeom prst="roundRect">
            <a:avLst>
              <a:gd name="adj" fmla="val 16667"/>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256526363" name="Rectangle: Rounded Corners 13"/>
          <p:cNvSpPr/>
          <p:nvPr/>
        </p:nvSpPr>
        <p:spPr bwMode="auto">
          <a:xfrm>
            <a:off x="1692951" y="2801292"/>
            <a:ext cx="777240" cy="154938"/>
          </a:xfrm>
          <a:prstGeom prst="roundRect">
            <a:avLst>
              <a:gd name="adj" fmla="val 16667"/>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2008668931" name="Rectangle: Rounded Corners 15"/>
          <p:cNvSpPr/>
          <p:nvPr/>
        </p:nvSpPr>
        <p:spPr bwMode="auto">
          <a:xfrm>
            <a:off x="297180" y="3164512"/>
            <a:ext cx="993139" cy="333068"/>
          </a:xfrm>
          <a:prstGeom prst="roundRect">
            <a:avLst>
              <a:gd name="adj" fmla="val 16667"/>
            </a:avLst>
          </a:prstGeom>
          <a:noFill/>
          <a:ln>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158949913" name="Rectangle: Rounded Corners 16"/>
          <p:cNvSpPr/>
          <p:nvPr/>
        </p:nvSpPr>
        <p:spPr bwMode="auto">
          <a:xfrm>
            <a:off x="297179" y="3840179"/>
            <a:ext cx="993139" cy="333068"/>
          </a:xfrm>
          <a:prstGeom prst="roundRect">
            <a:avLst>
              <a:gd name="adj" fmla="val 16667"/>
            </a:avLst>
          </a:prstGeom>
          <a:noFill/>
          <a:ln>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409907719" name="Rectangle: Rounded Corners 17"/>
          <p:cNvSpPr/>
          <p:nvPr/>
        </p:nvSpPr>
        <p:spPr bwMode="auto">
          <a:xfrm>
            <a:off x="297178" y="4484674"/>
            <a:ext cx="993139" cy="333068"/>
          </a:xfrm>
          <a:prstGeom prst="roundRect">
            <a:avLst>
              <a:gd name="adj" fmla="val 16667"/>
            </a:avLst>
          </a:prstGeom>
          <a:noFill/>
          <a:ln>
            <a:solidFill>
              <a:srgbClr val="FF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cxnSp>
        <p:nvCxnSpPr>
          <p:cNvPr id="1708455426" name="Straight Connector 19"/>
          <p:cNvCxnSpPr/>
          <p:nvPr/>
        </p:nvCxnSpPr>
        <p:spPr bwMode="auto">
          <a:xfrm flipV="1">
            <a:off x="175260" y="2484120"/>
            <a:ext cx="0" cy="2167088"/>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469658197" name="Straight Connector 21"/>
          <p:cNvCxnSpPr>
            <a:endCxn id="2008668931" idx="1"/>
          </p:cNvCxnSpPr>
          <p:nvPr/>
        </p:nvCxnSpPr>
        <p:spPr bwMode="auto">
          <a:xfrm>
            <a:off x="175260" y="3331046"/>
            <a:ext cx="121920" cy="0"/>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277008338" name="Straight Connector 22"/>
          <p:cNvCxnSpPr/>
          <p:nvPr/>
        </p:nvCxnSpPr>
        <p:spPr bwMode="auto">
          <a:xfrm>
            <a:off x="175260" y="4644694"/>
            <a:ext cx="121920" cy="0"/>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801602425" name="Straight Connector 23"/>
          <p:cNvCxnSpPr/>
          <p:nvPr/>
        </p:nvCxnSpPr>
        <p:spPr bwMode="auto">
          <a:xfrm>
            <a:off x="182880" y="3999093"/>
            <a:ext cx="121920" cy="0"/>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959004413" name="Straight Connector 24"/>
          <p:cNvCxnSpPr/>
          <p:nvPr/>
        </p:nvCxnSpPr>
        <p:spPr bwMode="auto">
          <a:xfrm>
            <a:off x="167640" y="2485226"/>
            <a:ext cx="1805940" cy="0"/>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01891451">
                                            <p:txEl>
                                              <p:pRg st="1" end="1"/>
                                            </p:txEl>
                                          </p:spTgt>
                                        </p:tgtEl>
                                        <p:attrNameLst>
                                          <p:attrName>style.visibility</p:attrName>
                                        </p:attrNameLst>
                                      </p:cBhvr>
                                      <p:to>
                                        <p:strVal val="visible"/>
                                      </p:to>
                                    </p:set>
                                    <p:animEffect transition="in" filter="wipe(left)">
                                      <p:cBhvr>
                                        <p:cTn id="7" dur="500"/>
                                        <p:tgtEl>
                                          <p:spTgt spid="70189145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01891451">
                                            <p:txEl>
                                              <p:pRg st="2" end="2"/>
                                            </p:txEl>
                                          </p:spTgt>
                                        </p:tgtEl>
                                        <p:attrNameLst>
                                          <p:attrName>style.visibility</p:attrName>
                                        </p:attrNameLst>
                                      </p:cBhvr>
                                      <p:to>
                                        <p:strVal val="visible"/>
                                      </p:to>
                                    </p:set>
                                    <p:animEffect transition="in" filter="wipe(left)">
                                      <p:cBhvr>
                                        <p:cTn id="12" dur="500"/>
                                        <p:tgtEl>
                                          <p:spTgt spid="70189145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93418446"/>
                                        </p:tgtEl>
                                        <p:attrNameLst>
                                          <p:attrName>style.visibility</p:attrName>
                                        </p:attrNameLst>
                                      </p:cBhvr>
                                      <p:to>
                                        <p:strVal val="visible"/>
                                      </p:to>
                                    </p:set>
                                    <p:animEffect transition="in" filter="wipe(left)">
                                      <p:cBhvr>
                                        <p:cTn id="17" dur="500"/>
                                        <p:tgtEl>
                                          <p:spTgt spid="139341844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56526363"/>
                                        </p:tgtEl>
                                        <p:attrNameLst>
                                          <p:attrName>style.visibility</p:attrName>
                                        </p:attrNameLst>
                                      </p:cBhvr>
                                      <p:to>
                                        <p:strVal val="visible"/>
                                      </p:to>
                                    </p:set>
                                    <p:animEffect transition="in" filter="wipe(left)">
                                      <p:cBhvr>
                                        <p:cTn id="22" dur="500"/>
                                        <p:tgtEl>
                                          <p:spTgt spid="1256526363"/>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698295167"/>
                                        </p:tgtEl>
                                        <p:attrNameLst>
                                          <p:attrName>style.visibility</p:attrName>
                                        </p:attrNameLst>
                                      </p:cBhvr>
                                      <p:to>
                                        <p:strVal val="visible"/>
                                      </p:to>
                                    </p:set>
                                    <p:animEffect transition="in" filter="wipe(left)">
                                      <p:cBhvr>
                                        <p:cTn id="25" dur="500"/>
                                        <p:tgtEl>
                                          <p:spTgt spid="1698295167"/>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00328897"/>
                                        </p:tgtEl>
                                        <p:attrNameLst>
                                          <p:attrName>style.visibility</p:attrName>
                                        </p:attrNameLst>
                                      </p:cBhvr>
                                      <p:to>
                                        <p:strVal val="visible"/>
                                      </p:to>
                                    </p:set>
                                    <p:animEffect transition="in" filter="wipe(left)">
                                      <p:cBhvr>
                                        <p:cTn id="28" dur="500"/>
                                        <p:tgtEl>
                                          <p:spTgt spid="20032889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008668931"/>
                                        </p:tgtEl>
                                        <p:attrNameLst>
                                          <p:attrName>style.visibility</p:attrName>
                                        </p:attrNameLst>
                                      </p:cBhvr>
                                      <p:to>
                                        <p:strVal val="visible"/>
                                      </p:to>
                                    </p:set>
                                    <p:animEffect transition="in" filter="wipe(left)">
                                      <p:cBhvr>
                                        <p:cTn id="33" dur="500"/>
                                        <p:tgtEl>
                                          <p:spTgt spid="200866893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158949913"/>
                                        </p:tgtEl>
                                        <p:attrNameLst>
                                          <p:attrName>style.visibility</p:attrName>
                                        </p:attrNameLst>
                                      </p:cBhvr>
                                      <p:to>
                                        <p:strVal val="visible"/>
                                      </p:to>
                                    </p:set>
                                    <p:animEffect transition="in" filter="wipe(left)">
                                      <p:cBhvr>
                                        <p:cTn id="38" dur="500"/>
                                        <p:tgtEl>
                                          <p:spTgt spid="115894991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409907719"/>
                                        </p:tgtEl>
                                        <p:attrNameLst>
                                          <p:attrName>style.visibility</p:attrName>
                                        </p:attrNameLst>
                                      </p:cBhvr>
                                      <p:to>
                                        <p:strVal val="visible"/>
                                      </p:to>
                                    </p:set>
                                    <p:animEffect transition="in" filter="wipe(left)">
                                      <p:cBhvr>
                                        <p:cTn id="43" dur="500"/>
                                        <p:tgtEl>
                                          <p:spTgt spid="140990771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959004413"/>
                                        </p:tgtEl>
                                        <p:attrNameLst>
                                          <p:attrName>style.visibility</p:attrName>
                                        </p:attrNameLst>
                                      </p:cBhvr>
                                      <p:to>
                                        <p:strVal val="visible"/>
                                      </p:to>
                                    </p:set>
                                    <p:animEffect transition="in" filter="wipe(left)">
                                      <p:cBhvr>
                                        <p:cTn id="48" dur="500"/>
                                        <p:tgtEl>
                                          <p:spTgt spid="1959004413"/>
                                        </p:tgtEl>
                                      </p:cBhvr>
                                    </p:animEffect>
                                  </p:childTnLst>
                                </p:cTn>
                              </p:par>
                              <p:par>
                                <p:cTn id="49" presetID="22" presetClass="entr" presetSubtype="8" fill="hold" nodeType="withEffect">
                                  <p:stCondLst>
                                    <p:cond delay="0"/>
                                  </p:stCondLst>
                                  <p:childTnLst>
                                    <p:set>
                                      <p:cBhvr>
                                        <p:cTn id="50" dur="1" fill="hold">
                                          <p:stCondLst>
                                            <p:cond delay="0"/>
                                          </p:stCondLst>
                                        </p:cTn>
                                        <p:tgtEl>
                                          <p:spTgt spid="1708455426"/>
                                        </p:tgtEl>
                                        <p:attrNameLst>
                                          <p:attrName>style.visibility</p:attrName>
                                        </p:attrNameLst>
                                      </p:cBhvr>
                                      <p:to>
                                        <p:strVal val="visible"/>
                                      </p:to>
                                    </p:set>
                                    <p:animEffect transition="in" filter="wipe(left)">
                                      <p:cBhvr>
                                        <p:cTn id="51" dur="500"/>
                                        <p:tgtEl>
                                          <p:spTgt spid="1708455426"/>
                                        </p:tgtEl>
                                      </p:cBhvr>
                                    </p:animEffect>
                                  </p:childTnLst>
                                </p:cTn>
                              </p:par>
                              <p:par>
                                <p:cTn id="52" presetID="22" presetClass="entr" presetSubtype="8" fill="hold" nodeType="withEffect">
                                  <p:stCondLst>
                                    <p:cond delay="0"/>
                                  </p:stCondLst>
                                  <p:childTnLst>
                                    <p:set>
                                      <p:cBhvr>
                                        <p:cTn id="53" dur="1" fill="hold">
                                          <p:stCondLst>
                                            <p:cond delay="0"/>
                                          </p:stCondLst>
                                        </p:cTn>
                                        <p:tgtEl>
                                          <p:spTgt spid="469658197"/>
                                        </p:tgtEl>
                                        <p:attrNameLst>
                                          <p:attrName>style.visibility</p:attrName>
                                        </p:attrNameLst>
                                      </p:cBhvr>
                                      <p:to>
                                        <p:strVal val="visible"/>
                                      </p:to>
                                    </p:set>
                                    <p:animEffect transition="in" filter="wipe(left)">
                                      <p:cBhvr>
                                        <p:cTn id="54" dur="500"/>
                                        <p:tgtEl>
                                          <p:spTgt spid="469658197"/>
                                        </p:tgtEl>
                                      </p:cBhvr>
                                    </p:animEffect>
                                  </p:childTnLst>
                                </p:cTn>
                              </p:par>
                              <p:par>
                                <p:cTn id="55" presetID="22" presetClass="entr" presetSubtype="8" fill="hold" nodeType="withEffect">
                                  <p:stCondLst>
                                    <p:cond delay="0"/>
                                  </p:stCondLst>
                                  <p:childTnLst>
                                    <p:set>
                                      <p:cBhvr>
                                        <p:cTn id="56" dur="1" fill="hold">
                                          <p:stCondLst>
                                            <p:cond delay="0"/>
                                          </p:stCondLst>
                                        </p:cTn>
                                        <p:tgtEl>
                                          <p:spTgt spid="1801602425"/>
                                        </p:tgtEl>
                                        <p:attrNameLst>
                                          <p:attrName>style.visibility</p:attrName>
                                        </p:attrNameLst>
                                      </p:cBhvr>
                                      <p:to>
                                        <p:strVal val="visible"/>
                                      </p:to>
                                    </p:set>
                                    <p:animEffect transition="in" filter="wipe(left)">
                                      <p:cBhvr>
                                        <p:cTn id="57" dur="500"/>
                                        <p:tgtEl>
                                          <p:spTgt spid="1801602425"/>
                                        </p:tgtEl>
                                      </p:cBhvr>
                                    </p:animEffect>
                                  </p:childTnLst>
                                </p:cTn>
                              </p:par>
                              <p:par>
                                <p:cTn id="58" presetID="22" presetClass="entr" presetSubtype="8" fill="hold" nodeType="withEffect">
                                  <p:stCondLst>
                                    <p:cond delay="0"/>
                                  </p:stCondLst>
                                  <p:childTnLst>
                                    <p:set>
                                      <p:cBhvr>
                                        <p:cTn id="59" dur="1" fill="hold">
                                          <p:stCondLst>
                                            <p:cond delay="0"/>
                                          </p:stCondLst>
                                        </p:cTn>
                                        <p:tgtEl>
                                          <p:spTgt spid="277008338"/>
                                        </p:tgtEl>
                                        <p:attrNameLst>
                                          <p:attrName>style.visibility</p:attrName>
                                        </p:attrNameLst>
                                      </p:cBhvr>
                                      <p:to>
                                        <p:strVal val="visible"/>
                                      </p:to>
                                    </p:set>
                                    <p:animEffect transition="in" filter="wipe(left)">
                                      <p:cBhvr>
                                        <p:cTn id="60" dur="500"/>
                                        <p:tgtEl>
                                          <p:spTgt spid="27700833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701891451">
                                            <p:txEl>
                                              <p:pRg st="3" end="3"/>
                                            </p:txEl>
                                          </p:spTgt>
                                        </p:tgtEl>
                                        <p:attrNameLst>
                                          <p:attrName>style.visibility</p:attrName>
                                        </p:attrNameLst>
                                      </p:cBhvr>
                                      <p:to>
                                        <p:strVal val="visible"/>
                                      </p:to>
                                    </p:set>
                                    <p:animEffect transition="in" filter="wipe(left)">
                                      <p:cBhvr>
                                        <p:cTn id="65" dur="500"/>
                                        <p:tgtEl>
                                          <p:spTgt spid="701891451">
                                            <p:txEl>
                                              <p:pRg st="3" end="3"/>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701891451">
                                            <p:txEl>
                                              <p:pRg st="4" end="4"/>
                                            </p:txEl>
                                          </p:spTgt>
                                        </p:tgtEl>
                                        <p:attrNameLst>
                                          <p:attrName>style.visibility</p:attrName>
                                        </p:attrNameLst>
                                      </p:cBhvr>
                                      <p:to>
                                        <p:strVal val="visible"/>
                                      </p:to>
                                    </p:set>
                                    <p:animEffect transition="in" filter="wipe(left)">
                                      <p:cBhvr>
                                        <p:cTn id="70" dur="500"/>
                                        <p:tgtEl>
                                          <p:spTgt spid="701891451">
                                            <p:txEl>
                                              <p:pRg st="4" end="4"/>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701891451">
                                            <p:txEl>
                                              <p:pRg st="5" end="5"/>
                                            </p:txEl>
                                          </p:spTgt>
                                        </p:tgtEl>
                                        <p:attrNameLst>
                                          <p:attrName>style.visibility</p:attrName>
                                        </p:attrNameLst>
                                      </p:cBhvr>
                                      <p:to>
                                        <p:strVal val="visible"/>
                                      </p:to>
                                    </p:set>
                                    <p:animEffect transition="in" filter="wipe(left)">
                                      <p:cBhvr>
                                        <p:cTn id="75" dur="500"/>
                                        <p:tgtEl>
                                          <p:spTgt spid="7018914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8295167" grpId="0" animBg="1"/>
      <p:bldP spid="200328897" grpId="0" animBg="1"/>
      <p:bldP spid="1256526363" grpId="0" animBg="1"/>
      <p:bldP spid="2008668931" grpId="0" animBg="1"/>
      <p:bldP spid="1158949913" grpId="0" animBg="1"/>
      <p:bldP spid="1409907719" grpId="0" animBg="1"/>
    </p:bldLst>
  </p:timing>
</p:sld>
</file>

<file path=ppt/slides/slide8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94707177" name="Google Shape;1278;p74"/>
          <p:cNvSpPr txBox="1">
            <a:spLocks noGrp="1"/>
          </p:cNvSpPr>
          <p:nvPr>
            <p:ph type="body" idx="1"/>
          </p:nvPr>
        </p:nvSpPr>
        <p:spPr bwMode="auto">
          <a:xfrm>
            <a:off x="3733800" y="3228749"/>
            <a:ext cx="7924800" cy="3352800"/>
          </a:xfrm>
          <a:prstGeom prst="rect">
            <a:avLst/>
          </a:prstGeom>
          <a:noFill/>
          <a:ln>
            <a:solidFill>
              <a:srgbClr val="7030A0"/>
            </a:solidFill>
          </a:ln>
        </p:spPr>
        <p:txBody>
          <a:bodyPr spcFirstLastPara="1" wrap="square" lIns="91425" tIns="45700" rIns="91425" bIns="45700" anchor="t" anchorCtr="0">
            <a:normAutofit/>
          </a:bodyPr>
          <a:lstStyle/>
          <a:p>
            <a:pPr marL="228600" lvl="0" indent="-228600">
              <a:spcBef>
                <a:spcPts val="0"/>
              </a:spcBef>
              <a:buSzPts val="2800"/>
              <a:buNone/>
              <a:defRPr/>
            </a:pPr>
            <a:r>
              <a:rPr lang="en-US" b="1">
                <a:solidFill>
                  <a:srgbClr val="0000FF"/>
                </a:solidFill>
              </a:rPr>
              <a:t>Quick Review …</a:t>
            </a:r>
            <a:endParaRPr/>
          </a:p>
          <a:p>
            <a:pPr marL="228600" lvl="0" indent="-228600">
              <a:spcBef>
                <a:spcPts val="0"/>
              </a:spcBef>
              <a:buSzPts val="2800"/>
              <a:buNone/>
              <a:defRPr/>
            </a:pPr>
            <a:endParaRPr lang="en-US" sz="2800" b="1">
              <a:solidFill>
                <a:srgbClr val="FF0000"/>
              </a:solidFill>
            </a:endParaRPr>
          </a:p>
          <a:p>
            <a:pPr marL="228600" lvl="0" indent="-228600" algn="l" rtl="0">
              <a:lnSpc>
                <a:spcPct val="90000"/>
              </a:lnSpc>
              <a:spcBef>
                <a:spcPts val="0"/>
              </a:spcBef>
              <a:spcAft>
                <a:spcPts val="0"/>
              </a:spcAft>
              <a:buClr>
                <a:schemeClr val="dk1"/>
              </a:buClr>
              <a:buSzPts val="2800"/>
              <a:buFont typeface="Calibri"/>
              <a:buNone/>
              <a:defRPr/>
            </a:pPr>
            <a:r>
              <a:rPr lang="en-US" sz="2600" b="1">
                <a:solidFill>
                  <a:srgbClr val="0000FF"/>
                </a:solidFill>
              </a:rPr>
              <a:t>3 Organization structures for the project:</a:t>
            </a:r>
            <a:endParaRPr b="1">
              <a:solidFill>
                <a:srgbClr val="0000FF"/>
              </a:solidFill>
            </a:endParaRPr>
          </a:p>
          <a:p>
            <a:pPr marL="161925" indent="-354013">
              <a:buSzPts val="2200"/>
              <a:buFont typeface="Calibri"/>
              <a:buAutoNum type="romanLcPeriod"/>
              <a:defRPr/>
            </a:pPr>
            <a:r>
              <a:rPr lang="en-US" sz="2400">
                <a:solidFill>
                  <a:srgbClr val="0000FF"/>
                </a:solidFill>
              </a:rPr>
              <a:t>The </a:t>
            </a:r>
            <a:r>
              <a:rPr lang="en-US" sz="2400" u="sng">
                <a:solidFill>
                  <a:srgbClr val="0000FF"/>
                </a:solidFill>
              </a:rPr>
              <a:t>Functional</a:t>
            </a:r>
            <a:r>
              <a:rPr lang="en-US" sz="2400">
                <a:solidFill>
                  <a:srgbClr val="0000FF"/>
                </a:solidFill>
              </a:rPr>
              <a:t> Structure</a:t>
            </a:r>
            <a:endParaRPr sz="2400">
              <a:solidFill>
                <a:srgbClr val="0000FF"/>
              </a:solidFill>
            </a:endParaRPr>
          </a:p>
          <a:p>
            <a:pPr marL="161925" indent="-354013">
              <a:buSzPts val="2200"/>
              <a:buFont typeface="Calibri"/>
              <a:buAutoNum type="romanLcPeriod"/>
              <a:defRPr/>
            </a:pPr>
            <a:r>
              <a:rPr lang="en-US" sz="2400">
                <a:solidFill>
                  <a:srgbClr val="0000FF"/>
                </a:solidFill>
              </a:rPr>
              <a:t>The </a:t>
            </a:r>
            <a:r>
              <a:rPr lang="en-US" sz="2400" u="sng">
                <a:solidFill>
                  <a:srgbClr val="0000FF"/>
                </a:solidFill>
              </a:rPr>
              <a:t>Project</a:t>
            </a:r>
            <a:r>
              <a:rPr lang="en-US" sz="2400">
                <a:solidFill>
                  <a:srgbClr val="0000FF"/>
                </a:solidFill>
              </a:rPr>
              <a:t> Structure</a:t>
            </a:r>
            <a:endParaRPr sz="2400">
              <a:solidFill>
                <a:srgbClr val="0000FF"/>
              </a:solidFill>
            </a:endParaRPr>
          </a:p>
          <a:p>
            <a:pPr marL="161925" indent="-354013">
              <a:buSzPts val="2200"/>
              <a:buFont typeface="Calibri"/>
              <a:buAutoNum type="romanLcPeriod"/>
              <a:defRPr/>
            </a:pPr>
            <a:r>
              <a:rPr lang="en-US" sz="2400" u="sng">
                <a:solidFill>
                  <a:srgbClr val="0000FF"/>
                </a:solidFill>
              </a:rPr>
              <a:t>Matrix</a:t>
            </a:r>
            <a:r>
              <a:rPr lang="en-US" sz="2400">
                <a:solidFill>
                  <a:srgbClr val="0000FF"/>
                </a:solidFill>
              </a:rPr>
              <a:t> Structure</a:t>
            </a:r>
            <a:endParaRPr sz="2400">
              <a:solidFill>
                <a:srgbClr val="0000FF"/>
              </a:solidFill>
            </a:endParaRPr>
          </a:p>
        </p:txBody>
      </p:sp>
      <p:sp>
        <p:nvSpPr>
          <p:cNvPr id="1972534558" name="Google Shape;1279;p7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87</a:t>
            </a:fld>
            <a:endParaRPr/>
          </a:p>
        </p:txBody>
      </p:sp>
      <p:grpSp>
        <p:nvGrpSpPr>
          <p:cNvPr id="858015829" name="Google Shape;1280;p74"/>
          <p:cNvGrpSpPr/>
          <p:nvPr/>
        </p:nvGrpSpPr>
        <p:grpSpPr bwMode="auto">
          <a:xfrm>
            <a:off x="3737104" y="2181089"/>
            <a:ext cx="7118090" cy="769523"/>
            <a:chOff x="3304" y="173586"/>
            <a:chExt cx="7118090" cy="769523"/>
          </a:xfrm>
        </p:grpSpPr>
        <p:sp>
          <p:nvSpPr>
            <p:cNvPr id="1281" name="Google Shape;1281;p74"/>
            <p:cNvSpPr/>
            <p:nvPr/>
          </p:nvSpPr>
          <p:spPr bwMode="auto">
            <a:xfrm>
              <a:off x="3304" y="173586"/>
              <a:ext cx="1923808" cy="769523"/>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82" name="Google Shape;1282;p74"/>
            <p:cNvSpPr txBox="1"/>
            <p:nvPr/>
          </p:nvSpPr>
          <p:spPr bwMode="auto">
            <a:xfrm>
              <a:off x="388066"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1.                Plan HR Management</a:t>
              </a:r>
              <a:endParaRPr/>
            </a:p>
          </p:txBody>
        </p:sp>
        <p:sp>
          <p:nvSpPr>
            <p:cNvPr id="1283" name="Google Shape;1283;p74"/>
            <p:cNvSpPr/>
            <p:nvPr/>
          </p:nvSpPr>
          <p:spPr bwMode="auto">
            <a:xfrm>
              <a:off x="1734732" y="173586"/>
              <a:ext cx="1923808" cy="7695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84" name="Google Shape;1284;p74"/>
            <p:cNvSpPr txBox="1"/>
            <p:nvPr/>
          </p:nvSpPr>
          <p:spPr bwMode="auto">
            <a:xfrm>
              <a:off x="2119494"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2.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Acquire Project Team</a:t>
              </a:r>
              <a:endParaRPr/>
            </a:p>
          </p:txBody>
        </p:sp>
        <p:sp>
          <p:nvSpPr>
            <p:cNvPr id="1285" name="Google Shape;1285;p74"/>
            <p:cNvSpPr/>
            <p:nvPr/>
          </p:nvSpPr>
          <p:spPr bwMode="auto">
            <a:xfrm>
              <a:off x="3466159" y="173586"/>
              <a:ext cx="1923808" cy="7695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86" name="Google Shape;1286;p74"/>
            <p:cNvSpPr txBox="1"/>
            <p:nvPr/>
          </p:nvSpPr>
          <p:spPr bwMode="auto">
            <a:xfrm>
              <a:off x="3850921"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3.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Develop Project Team</a:t>
              </a:r>
              <a:endParaRPr/>
            </a:p>
          </p:txBody>
        </p:sp>
        <p:sp>
          <p:nvSpPr>
            <p:cNvPr id="1287" name="Google Shape;1287;p74"/>
            <p:cNvSpPr/>
            <p:nvPr/>
          </p:nvSpPr>
          <p:spPr bwMode="auto">
            <a:xfrm>
              <a:off x="5197586" y="173586"/>
              <a:ext cx="1923808" cy="7695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288" name="Google Shape;1288;p74"/>
            <p:cNvSpPr txBox="1"/>
            <p:nvPr/>
          </p:nvSpPr>
          <p:spPr bwMode="auto">
            <a:xfrm>
              <a:off x="5582348"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4.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Manage Project Team</a:t>
              </a:r>
              <a:endParaRPr/>
            </a:p>
          </p:txBody>
        </p:sp>
      </p:grpSp>
      <p:sp>
        <p:nvSpPr>
          <p:cNvPr id="840547600" name="Google Shape;1289;p74"/>
          <p:cNvSpPr txBox="1"/>
          <p:nvPr/>
        </p:nvSpPr>
        <p:spPr bwMode="auto">
          <a:xfrm>
            <a:off x="3581400" y="597750"/>
            <a:ext cx="7010399" cy="715961"/>
          </a:xfrm>
          <a:prstGeom prst="rect">
            <a:avLst/>
          </a:prstGeom>
          <a:noFill/>
          <a:ln>
            <a:noFill/>
          </a:ln>
        </p:spPr>
        <p:txBody>
          <a:bodyPr spcFirstLastPara="1" wrap="square" lIns="91425" tIns="45700" rIns="91425" bIns="45700" anchor="ctr" anchorCtr="0">
            <a:normAutofit fontScale="77500" lnSpcReduction="200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Human Resource Management</a:t>
            </a:r>
            <a:endParaRPr sz="4000" b="1">
              <a:solidFill>
                <a:schemeClr val="dk1"/>
              </a:solidFill>
              <a:latin typeface="Calibri"/>
              <a:ea typeface="Calibri"/>
              <a:cs typeface="Calibri"/>
            </a:endParaRPr>
          </a:p>
        </p:txBody>
      </p:sp>
      <p:sp>
        <p:nvSpPr>
          <p:cNvPr id="1905686661" name="Google Shape;1290;p74"/>
          <p:cNvSpPr txBox="1"/>
          <p:nvPr/>
        </p:nvSpPr>
        <p:spPr bwMode="auto">
          <a:xfrm>
            <a:off x="3618628" y="119948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420711743" name="Google Shape;1291;p74"/>
          <p:cNvCxnSpPr/>
          <p:nvPr/>
        </p:nvCxnSpPr>
        <p:spPr bwMode="auto">
          <a:xfrm rot="10800000">
            <a:off x="3733800" y="1672998"/>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1195203111" name="Google Shape;1292;p74"/>
          <p:cNvPicPr/>
          <p:nvPr/>
        </p:nvPicPr>
        <p:blipFill rotWithShape="1">
          <a:blip r:embed="rId3">
            <a:alphaModFix/>
          </a:blip>
          <a:srcRect l="42835" t="0" r="26308" b="0"/>
          <a:stretch/>
        </p:blipFill>
        <p:spPr bwMode="auto">
          <a:xfrm>
            <a:off x="13589" y="0"/>
            <a:ext cx="3200400" cy="6863558"/>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794707177">
                                            <p:txEl>
                                              <p:pRg st="0" end="0"/>
                                            </p:txEl>
                                          </p:spTgt>
                                        </p:tgtEl>
                                        <p:attrNameLst>
                                          <p:attrName>style.visibility</p:attrName>
                                        </p:attrNameLst>
                                      </p:cBhvr>
                                      <p:to>
                                        <p:strVal val="visible"/>
                                      </p:to>
                                    </p:set>
                                    <p:animEffect transition="in" filter="wipe(left)">
                                      <p:cBhvr>
                                        <p:cTn id="7" dur="500"/>
                                        <p:tgtEl>
                                          <p:spTgt spid="179470717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0655878" name="Google Shape;1364;p81"/>
          <p:cNvSpPr txBox="1">
            <a:spLocks noGrp="1"/>
          </p:cNvSpPr>
          <p:nvPr>
            <p:ph type="body" idx="1"/>
          </p:nvPr>
        </p:nvSpPr>
        <p:spPr bwMode="auto">
          <a:xfrm>
            <a:off x="3733799" y="3228747"/>
            <a:ext cx="8080829" cy="3629251"/>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ts val="2800"/>
              <a:buNone/>
              <a:defRPr/>
            </a:pPr>
            <a:r>
              <a:rPr lang="en-US" b="1"/>
              <a:t>2. Acquire Project Team</a:t>
            </a:r>
            <a:endParaRPr/>
          </a:p>
          <a:p>
            <a:pPr marL="685800" lvl="1" indent="-228600">
              <a:buSzPts val="2600"/>
              <a:defRPr/>
            </a:pPr>
            <a:r>
              <a:rPr lang="en-US" sz="2600" b="1"/>
              <a:t>Get the personnel needed and </a:t>
            </a:r>
            <a:r>
              <a:rPr lang="en-US" sz="2600" b="1" u="sng"/>
              <a:t>assigned</a:t>
            </a:r>
            <a:r>
              <a:rPr lang="en-US" sz="2600" b="1"/>
              <a:t> them to work on the project</a:t>
            </a:r>
            <a:endParaRPr b="1"/>
          </a:p>
          <a:p>
            <a:pPr marL="685800" lvl="1" indent="-228600" algn="l" rtl="0">
              <a:lnSpc>
                <a:spcPct val="90000"/>
              </a:lnSpc>
              <a:spcBef>
                <a:spcPts val="500"/>
              </a:spcBef>
              <a:spcAft>
                <a:spcPts val="0"/>
              </a:spcAft>
              <a:buClr>
                <a:schemeClr val="dk1"/>
              </a:buClr>
              <a:buSzPts val="2600"/>
              <a:buChar char="•"/>
              <a:defRPr/>
            </a:pPr>
            <a:r>
              <a:rPr lang="en-US" sz="2600">
                <a:solidFill>
                  <a:srgbClr val="FF0000"/>
                </a:solidFill>
              </a:rPr>
              <a:t>Tool (e.g. Microsoft Project) and techniques:</a:t>
            </a:r>
            <a:endParaRPr>
              <a:solidFill>
                <a:srgbClr val="FF0000"/>
              </a:solidFill>
            </a:endParaRPr>
          </a:p>
          <a:p>
            <a:pPr marL="1257300" lvl="2" indent="-457200" algn="l" rtl="0">
              <a:lnSpc>
                <a:spcPct val="90000"/>
              </a:lnSpc>
              <a:spcBef>
                <a:spcPts val="500"/>
              </a:spcBef>
              <a:spcAft>
                <a:spcPts val="0"/>
              </a:spcAft>
              <a:buClr>
                <a:schemeClr val="dk1"/>
              </a:buClr>
              <a:buSzPts val="2000"/>
              <a:buFont typeface="Calibri"/>
              <a:buAutoNum type="alphaLcPeriod"/>
              <a:defRPr/>
            </a:pPr>
            <a:r>
              <a:rPr lang="en-US" b="1"/>
              <a:t>Resource assignment</a:t>
            </a:r>
            <a:endParaRPr/>
          </a:p>
          <a:p>
            <a:pPr marL="800100" lvl="2" indent="0">
              <a:spcBef>
                <a:spcPts val="0"/>
              </a:spcBef>
              <a:buSzPts val="2000"/>
              <a:buNone/>
              <a:defRPr/>
            </a:pPr>
            <a:r>
              <a:rPr lang="en-MY" sz="1900" i="1"/>
              <a:t>         </a:t>
            </a:r>
            <a:endParaRPr sz="1900" i="1"/>
          </a:p>
          <a:p>
            <a:pPr marL="1257300" lvl="2" indent="-457200" algn="l" rtl="0">
              <a:lnSpc>
                <a:spcPct val="90000"/>
              </a:lnSpc>
              <a:spcBef>
                <a:spcPts val="300"/>
              </a:spcBef>
              <a:spcAft>
                <a:spcPts val="0"/>
              </a:spcAft>
              <a:buClr>
                <a:schemeClr val="dk1"/>
              </a:buClr>
              <a:buSzPts val="2000"/>
              <a:buFont typeface="+mj-lt"/>
              <a:buAutoNum type="alphaLcPeriod" startAt="2"/>
              <a:defRPr/>
            </a:pPr>
            <a:r>
              <a:rPr lang="en-US" b="1"/>
              <a:t>Resource loading   </a:t>
            </a:r>
            <a:endParaRPr/>
          </a:p>
          <a:p>
            <a:pPr marL="1257300" lvl="2" indent="-457200" algn="l" rtl="0">
              <a:lnSpc>
                <a:spcPct val="90000"/>
              </a:lnSpc>
              <a:spcBef>
                <a:spcPts val="500"/>
              </a:spcBef>
              <a:spcAft>
                <a:spcPts val="0"/>
              </a:spcAft>
              <a:buClr>
                <a:schemeClr val="dk1"/>
              </a:buClr>
              <a:buSzPts val="2000"/>
              <a:buFont typeface="+mj-lt"/>
              <a:buAutoNum type="alphaLcPeriod" startAt="3"/>
              <a:defRPr/>
            </a:pPr>
            <a:endParaRPr lang="en-US" b="1"/>
          </a:p>
          <a:p>
            <a:pPr marL="1257300" lvl="2" indent="-457200" algn="l" rtl="0">
              <a:lnSpc>
                <a:spcPct val="90000"/>
              </a:lnSpc>
              <a:spcBef>
                <a:spcPts val="500"/>
              </a:spcBef>
              <a:spcAft>
                <a:spcPts val="0"/>
              </a:spcAft>
              <a:buClr>
                <a:schemeClr val="dk1"/>
              </a:buClr>
              <a:buSzPts val="2000"/>
              <a:buFont typeface="+mj-lt"/>
              <a:buAutoNum type="alphaLcPeriod" startAt="3"/>
              <a:defRPr/>
            </a:pPr>
            <a:r>
              <a:rPr lang="en-US" b="1"/>
              <a:t>Resource leveling</a:t>
            </a:r>
            <a:endParaRPr sz="1050" b="1"/>
          </a:p>
          <a:p>
            <a:pPr marL="685800" lvl="1" indent="-228600" algn="l" rtl="0">
              <a:lnSpc>
                <a:spcPct val="90000"/>
              </a:lnSpc>
              <a:spcBef>
                <a:spcPts val="500"/>
              </a:spcBef>
              <a:spcAft>
                <a:spcPts val="0"/>
              </a:spcAft>
              <a:buClr>
                <a:schemeClr val="dk1"/>
              </a:buClr>
              <a:buSzPts val="2600"/>
              <a:buChar char="•"/>
              <a:defRPr/>
            </a:pPr>
            <a:r>
              <a:rPr lang="en-US" sz="2600">
                <a:solidFill>
                  <a:srgbClr val="FF0000"/>
                </a:solidFill>
              </a:rPr>
              <a:t>Outputs</a:t>
            </a:r>
            <a:r>
              <a:rPr lang="en-US" sz="2600"/>
              <a:t>: </a:t>
            </a:r>
            <a:r>
              <a:rPr lang="en-US" sz="2600" b="1"/>
              <a:t>project staff assignments, resource calendars.</a:t>
            </a:r>
            <a:endParaRPr b="1"/>
          </a:p>
        </p:txBody>
      </p:sp>
      <p:sp>
        <p:nvSpPr>
          <p:cNvPr id="283591163" name="Google Shape;1365;p8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88</a:t>
            </a:fld>
            <a:endParaRPr/>
          </a:p>
        </p:txBody>
      </p:sp>
      <p:grpSp>
        <p:nvGrpSpPr>
          <p:cNvPr id="1321231208" name="Google Shape;1366;p81"/>
          <p:cNvGrpSpPr/>
          <p:nvPr/>
        </p:nvGrpSpPr>
        <p:grpSpPr bwMode="auto">
          <a:xfrm>
            <a:off x="3737104" y="2181089"/>
            <a:ext cx="7118090" cy="769523"/>
            <a:chOff x="3304" y="173586"/>
            <a:chExt cx="7118090" cy="769523"/>
          </a:xfrm>
        </p:grpSpPr>
        <p:sp>
          <p:nvSpPr>
            <p:cNvPr id="1367" name="Google Shape;1367;p81"/>
            <p:cNvSpPr/>
            <p:nvPr/>
          </p:nvSpPr>
          <p:spPr bwMode="auto">
            <a:xfrm>
              <a:off x="3304" y="173586"/>
              <a:ext cx="1923808" cy="7695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68" name="Google Shape;1368;p81"/>
            <p:cNvSpPr txBox="1"/>
            <p:nvPr/>
          </p:nvSpPr>
          <p:spPr bwMode="auto">
            <a:xfrm>
              <a:off x="388066"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1.                Plan HR Management</a:t>
              </a:r>
              <a:endParaRPr/>
            </a:p>
          </p:txBody>
        </p:sp>
        <p:sp>
          <p:nvSpPr>
            <p:cNvPr id="1369" name="Google Shape;1369;p81"/>
            <p:cNvSpPr/>
            <p:nvPr/>
          </p:nvSpPr>
          <p:spPr bwMode="auto">
            <a:xfrm>
              <a:off x="1734732" y="173586"/>
              <a:ext cx="1923808" cy="769523"/>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70" name="Google Shape;1370;p81"/>
            <p:cNvSpPr txBox="1"/>
            <p:nvPr/>
          </p:nvSpPr>
          <p:spPr bwMode="auto">
            <a:xfrm>
              <a:off x="2119494"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1">
                  <a:solidFill>
                    <a:schemeClr val="lt1"/>
                  </a:solidFill>
                  <a:latin typeface="Calibri"/>
                  <a:ea typeface="Calibri"/>
                  <a:cs typeface="Calibri"/>
                </a:rPr>
                <a:t>2. </a:t>
              </a:r>
              <a:br>
                <a:rPr lang="en-US" sz="1400" b="1">
                  <a:solidFill>
                    <a:schemeClr val="lt1"/>
                  </a:solidFill>
                  <a:latin typeface="Calibri"/>
                  <a:ea typeface="Calibri"/>
                  <a:cs typeface="Calibri"/>
                </a:rPr>
              </a:br>
              <a:r>
                <a:rPr lang="en-US" sz="1400" b="1">
                  <a:solidFill>
                    <a:schemeClr val="lt1"/>
                  </a:solidFill>
                  <a:latin typeface="Calibri"/>
                  <a:ea typeface="Calibri"/>
                  <a:cs typeface="Calibri"/>
                </a:rPr>
                <a:t>Acquire Project Team</a:t>
              </a:r>
              <a:endParaRPr/>
            </a:p>
          </p:txBody>
        </p:sp>
        <p:sp>
          <p:nvSpPr>
            <p:cNvPr id="1371" name="Google Shape;1371;p81"/>
            <p:cNvSpPr/>
            <p:nvPr/>
          </p:nvSpPr>
          <p:spPr bwMode="auto">
            <a:xfrm>
              <a:off x="3466159" y="173586"/>
              <a:ext cx="1923808" cy="7695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72" name="Google Shape;1372;p81"/>
            <p:cNvSpPr txBox="1"/>
            <p:nvPr/>
          </p:nvSpPr>
          <p:spPr bwMode="auto">
            <a:xfrm>
              <a:off x="3850921"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3.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Develop Project Team</a:t>
              </a:r>
              <a:endParaRPr/>
            </a:p>
          </p:txBody>
        </p:sp>
        <p:sp>
          <p:nvSpPr>
            <p:cNvPr id="1373" name="Google Shape;1373;p81"/>
            <p:cNvSpPr/>
            <p:nvPr/>
          </p:nvSpPr>
          <p:spPr bwMode="auto">
            <a:xfrm>
              <a:off x="5197586" y="173586"/>
              <a:ext cx="1923808" cy="7695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74" name="Google Shape;1374;p81"/>
            <p:cNvSpPr txBox="1"/>
            <p:nvPr/>
          </p:nvSpPr>
          <p:spPr bwMode="auto">
            <a:xfrm>
              <a:off x="5582348"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4.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Manage Project Team</a:t>
              </a:r>
              <a:endParaRPr/>
            </a:p>
          </p:txBody>
        </p:sp>
      </p:grpSp>
      <p:sp>
        <p:nvSpPr>
          <p:cNvPr id="380494347" name="Google Shape;1375;p81"/>
          <p:cNvSpPr txBox="1"/>
          <p:nvPr/>
        </p:nvSpPr>
        <p:spPr bwMode="auto">
          <a:xfrm>
            <a:off x="3581400" y="597750"/>
            <a:ext cx="7010399" cy="715961"/>
          </a:xfrm>
          <a:prstGeom prst="rect">
            <a:avLst/>
          </a:prstGeom>
          <a:noFill/>
          <a:ln>
            <a:noFill/>
          </a:ln>
        </p:spPr>
        <p:txBody>
          <a:bodyPr spcFirstLastPara="1" wrap="square" lIns="91425" tIns="45700" rIns="91425" bIns="45700" anchor="ctr" anchorCtr="0">
            <a:normAutofit fontScale="77500" lnSpcReduction="200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Human Resource Management</a:t>
            </a:r>
            <a:endParaRPr sz="4000" b="1">
              <a:solidFill>
                <a:schemeClr val="dk1"/>
              </a:solidFill>
              <a:latin typeface="Calibri"/>
              <a:ea typeface="Calibri"/>
              <a:cs typeface="Calibri"/>
            </a:endParaRPr>
          </a:p>
        </p:txBody>
      </p:sp>
      <p:sp>
        <p:nvSpPr>
          <p:cNvPr id="878092467" name="Google Shape;1376;p81"/>
          <p:cNvSpPr txBox="1"/>
          <p:nvPr/>
        </p:nvSpPr>
        <p:spPr bwMode="auto">
          <a:xfrm>
            <a:off x="3618628" y="119948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352200270" name="Google Shape;1377;p81"/>
          <p:cNvCxnSpPr/>
          <p:nvPr/>
        </p:nvCxnSpPr>
        <p:spPr bwMode="auto">
          <a:xfrm rot="10800000">
            <a:off x="3733800" y="1672998"/>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380926210" name="Google Shape;1378;p81"/>
          <p:cNvPicPr/>
          <p:nvPr/>
        </p:nvPicPr>
        <p:blipFill rotWithShape="1">
          <a:blip r:embed="rId3">
            <a:alphaModFix/>
          </a:blip>
          <a:srcRect l="42835" t="0" r="26308" b="0"/>
          <a:stretch/>
        </p:blipFill>
        <p:spPr bwMode="auto">
          <a:xfrm>
            <a:off x="0" y="-5557"/>
            <a:ext cx="3200400" cy="6863558"/>
          </a:xfrm>
          <a:prstGeom prst="rect">
            <a:avLst/>
          </a:prstGeom>
          <a:noFill/>
          <a:ln>
            <a:noFill/>
          </a:ln>
        </p:spPr>
      </p:pic>
      <p:sp>
        <p:nvSpPr>
          <p:cNvPr id="1597162208" name="TextBox 1"/>
          <p:cNvSpPr txBox="1"/>
          <p:nvPr/>
        </p:nvSpPr>
        <p:spPr bwMode="auto">
          <a:xfrm>
            <a:off x="5013534" y="4967316"/>
            <a:ext cx="6623840" cy="338554"/>
          </a:xfrm>
          <a:prstGeom prst="rect">
            <a:avLst/>
          </a:prstGeom>
          <a:noFill/>
        </p:spPr>
        <p:txBody>
          <a:bodyPr wrap="square" rtlCol="0">
            <a:spAutoFit/>
          </a:bodyPr>
          <a:lstStyle/>
          <a:p>
            <a:pPr>
              <a:defRPr/>
            </a:pPr>
            <a:r>
              <a:rPr lang="en-MY" sz="1600" i="1"/>
              <a:t>(to specify who perform what task)</a:t>
            </a:r>
            <a:endParaRPr lang="en-MY" sz="1600"/>
          </a:p>
        </p:txBody>
      </p:sp>
      <p:sp>
        <p:nvSpPr>
          <p:cNvPr id="154885206" name="TextBox 2"/>
          <p:cNvSpPr txBox="1"/>
          <p:nvPr/>
        </p:nvSpPr>
        <p:spPr bwMode="auto">
          <a:xfrm>
            <a:off x="4961774" y="5557524"/>
            <a:ext cx="7230225" cy="338554"/>
          </a:xfrm>
          <a:prstGeom prst="rect">
            <a:avLst/>
          </a:prstGeom>
          <a:noFill/>
        </p:spPr>
        <p:txBody>
          <a:bodyPr wrap="square" rtlCol="0">
            <a:spAutoFit/>
          </a:bodyPr>
          <a:lstStyle/>
          <a:p>
            <a:pPr>
              <a:defRPr/>
            </a:pPr>
            <a:r>
              <a:rPr lang="en-MY" sz="1600"/>
              <a:t> </a:t>
            </a:r>
            <a:r>
              <a:rPr lang="en-MY" sz="1600" i="1"/>
              <a:t>(analyse of the total amt of work assigned to a resource over a time period)</a:t>
            </a:r>
            <a:endParaRPr/>
          </a:p>
        </p:txBody>
      </p:sp>
      <p:cxnSp>
        <p:nvCxnSpPr>
          <p:cNvPr id="497639008" name="Straight Connector 4">
            <a:hlinkClick r:id="rId4" action="ppaction://hlinkfile"/>
          </p:cNvPr>
          <p:cNvCxnSpPr/>
          <p:nvPr/>
        </p:nvCxnSpPr>
        <p:spPr bwMode="auto">
          <a:xfrm>
            <a:off x="6903950" y="6207760"/>
            <a:ext cx="384761"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40655878">
                                            <p:txEl>
                                              <p:pRg st="0" end="0"/>
                                            </p:txEl>
                                          </p:spTgt>
                                        </p:tgtEl>
                                        <p:attrNameLst>
                                          <p:attrName>style.visibility</p:attrName>
                                        </p:attrNameLst>
                                      </p:cBhvr>
                                      <p:to>
                                        <p:strVal val="visible"/>
                                      </p:to>
                                    </p:set>
                                    <p:animEffect transition="in" filter="wipe(left)">
                                      <p:cBhvr>
                                        <p:cTn id="7" dur="500"/>
                                        <p:tgtEl>
                                          <p:spTgt spid="4406558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40655878">
                                            <p:txEl>
                                              <p:pRg st="1" end="1"/>
                                            </p:txEl>
                                          </p:spTgt>
                                        </p:tgtEl>
                                        <p:attrNameLst>
                                          <p:attrName>style.visibility</p:attrName>
                                        </p:attrNameLst>
                                      </p:cBhvr>
                                      <p:to>
                                        <p:strVal val="visible"/>
                                      </p:to>
                                    </p:set>
                                    <p:animEffect transition="in" filter="wipe(left)">
                                      <p:cBhvr>
                                        <p:cTn id="12" dur="500"/>
                                        <p:tgtEl>
                                          <p:spTgt spid="440655878">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440655878">
                                            <p:txEl>
                                              <p:pRg st="2" end="2"/>
                                            </p:txEl>
                                          </p:spTgt>
                                        </p:tgtEl>
                                        <p:attrNameLst>
                                          <p:attrName>style.visibility</p:attrName>
                                        </p:attrNameLst>
                                      </p:cBhvr>
                                      <p:to>
                                        <p:strVal val="visible"/>
                                      </p:to>
                                    </p:set>
                                    <p:animEffect transition="in" filter="wipe(left)">
                                      <p:cBhvr>
                                        <p:cTn id="15" dur="500"/>
                                        <p:tgtEl>
                                          <p:spTgt spid="44065587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40655878">
                                            <p:txEl>
                                              <p:pRg st="3" end="3"/>
                                            </p:txEl>
                                          </p:spTgt>
                                        </p:tgtEl>
                                        <p:attrNameLst>
                                          <p:attrName>style.visibility</p:attrName>
                                        </p:attrNameLst>
                                      </p:cBhvr>
                                      <p:to>
                                        <p:strVal val="visible"/>
                                      </p:to>
                                    </p:set>
                                    <p:animEffect transition="in" filter="wipe(left)">
                                      <p:cBhvr>
                                        <p:cTn id="20" dur="500"/>
                                        <p:tgtEl>
                                          <p:spTgt spid="440655878">
                                            <p:txEl>
                                              <p:pRg st="3" end="3"/>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440655878">
                                            <p:txEl>
                                              <p:pRg st="4" end="4"/>
                                            </p:txEl>
                                          </p:spTgt>
                                        </p:tgtEl>
                                        <p:attrNameLst>
                                          <p:attrName>style.visibility</p:attrName>
                                        </p:attrNameLst>
                                      </p:cBhvr>
                                      <p:to>
                                        <p:strVal val="visible"/>
                                      </p:to>
                                    </p:set>
                                    <p:animEffect transition="in" filter="wipe(left)">
                                      <p:cBhvr>
                                        <p:cTn id="23" dur="500"/>
                                        <p:tgtEl>
                                          <p:spTgt spid="440655878">
                                            <p:txEl>
                                              <p:pRg st="4" end="4"/>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440655878">
                                            <p:txEl>
                                              <p:pRg st="5" end="5"/>
                                            </p:txEl>
                                          </p:spTgt>
                                        </p:tgtEl>
                                        <p:attrNameLst>
                                          <p:attrName>style.visibility</p:attrName>
                                        </p:attrNameLst>
                                      </p:cBhvr>
                                      <p:to>
                                        <p:strVal val="visible"/>
                                      </p:to>
                                    </p:set>
                                    <p:animEffect transition="in" filter="wipe(left)">
                                      <p:cBhvr>
                                        <p:cTn id="26" dur="500"/>
                                        <p:tgtEl>
                                          <p:spTgt spid="440655878">
                                            <p:txEl>
                                              <p:pRg st="5" end="5"/>
                                            </p:txEl>
                                          </p:spTgt>
                                        </p:tgtEl>
                                      </p:cBhvr>
                                    </p:animEffect>
                                  </p:childTnLst>
                                </p:cTn>
                              </p:par>
                              <p:par>
                                <p:cTn id="27" presetID="22" presetClass="entr" presetSubtype="8" fill="hold" nodeType="withEffect">
                                  <p:stCondLst>
                                    <p:cond delay="0"/>
                                  </p:stCondLst>
                                  <p:childTnLst>
                                    <p:set>
                                      <p:cBhvr>
                                        <p:cTn id="28" dur="1" fill="hold">
                                          <p:stCondLst>
                                            <p:cond delay="0"/>
                                          </p:stCondLst>
                                        </p:cTn>
                                        <p:tgtEl>
                                          <p:spTgt spid="440655878">
                                            <p:txEl>
                                              <p:pRg st="7" end="7"/>
                                            </p:txEl>
                                          </p:spTgt>
                                        </p:tgtEl>
                                        <p:attrNameLst>
                                          <p:attrName>style.visibility</p:attrName>
                                        </p:attrNameLst>
                                      </p:cBhvr>
                                      <p:to>
                                        <p:strVal val="visible"/>
                                      </p:to>
                                    </p:set>
                                    <p:animEffect transition="in" filter="wipe(left)">
                                      <p:cBhvr>
                                        <p:cTn id="29" dur="500"/>
                                        <p:tgtEl>
                                          <p:spTgt spid="440655878">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597162208"/>
                                        </p:tgtEl>
                                        <p:attrNameLst>
                                          <p:attrName>style.visibility</p:attrName>
                                        </p:attrNameLst>
                                      </p:cBhvr>
                                      <p:to>
                                        <p:strVal val="visible"/>
                                      </p:to>
                                    </p:set>
                                    <p:animEffect transition="in" filter="wipe(left)">
                                      <p:cBhvr>
                                        <p:cTn id="34" dur="500"/>
                                        <p:tgtEl>
                                          <p:spTgt spid="159716220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54885206"/>
                                        </p:tgtEl>
                                        <p:attrNameLst>
                                          <p:attrName>style.visibility</p:attrName>
                                        </p:attrNameLst>
                                      </p:cBhvr>
                                      <p:to>
                                        <p:strVal val="visible"/>
                                      </p:to>
                                    </p:set>
                                    <p:animEffect transition="in" filter="wipe(left)">
                                      <p:cBhvr>
                                        <p:cTn id="39" dur="500"/>
                                        <p:tgtEl>
                                          <p:spTgt spid="15488520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497639008"/>
                                        </p:tgtEl>
                                        <p:attrNameLst>
                                          <p:attrName>style.visibility</p:attrName>
                                        </p:attrNameLst>
                                      </p:cBhvr>
                                      <p:to>
                                        <p:strVal val="visible"/>
                                      </p:to>
                                    </p:set>
                                    <p:animEffect transition="in" filter="wipe(left)">
                                      <p:cBhvr>
                                        <p:cTn id="44" dur="500"/>
                                        <p:tgtEl>
                                          <p:spTgt spid="497639008"/>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40655878">
                                            <p:txEl>
                                              <p:pRg st="8" end="8"/>
                                            </p:txEl>
                                          </p:spTgt>
                                        </p:tgtEl>
                                        <p:attrNameLst>
                                          <p:attrName>style.visibility</p:attrName>
                                        </p:attrNameLst>
                                      </p:cBhvr>
                                      <p:to>
                                        <p:strVal val="visible"/>
                                      </p:to>
                                    </p:set>
                                    <p:anim calcmode="lin" valueType="num">
                                      <p:cBhvr additive="base">
                                        <p:cTn id="49" dur="500" fill="hold"/>
                                        <p:tgtEl>
                                          <p:spTgt spid="440655878">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4065587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162208" grpId="0"/>
      <p:bldP spid="154885206" grpId="0"/>
    </p:bldLst>
  </p:timing>
</p:sld>
</file>

<file path=ppt/slides/slide8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00383791" name="Google Shape;1383;p82"/>
          <p:cNvSpPr txBox="1">
            <a:spLocks noGrp="1"/>
          </p:cNvSpPr>
          <p:nvPr>
            <p:ph type="body" idx="1"/>
          </p:nvPr>
        </p:nvSpPr>
        <p:spPr bwMode="auto">
          <a:xfrm>
            <a:off x="206477" y="2455597"/>
            <a:ext cx="3298723" cy="402140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Font typeface="Calibri"/>
              <a:buNone/>
              <a:defRPr/>
            </a:pPr>
            <a:r>
              <a:rPr lang="en-US" sz="1800">
                <a:solidFill>
                  <a:schemeClr val="tx1">
                    <a:lumMod val="65000"/>
                    <a:lumOff val="35000"/>
                  </a:schemeClr>
                </a:solidFill>
              </a:rPr>
              <a:t>To assign particular personnel to their projects or to acquire additional human resources needed to staff the project.</a:t>
            </a:r>
            <a:endParaRPr>
              <a:solidFill>
                <a:schemeClr val="tx1">
                  <a:lumMod val="65000"/>
                  <a:lumOff val="35000"/>
                </a:schemeClr>
              </a:solidFill>
            </a:endParaRPr>
          </a:p>
          <a:p>
            <a:pPr marL="228600" lvl="0" indent="-228600" algn="l" rtl="0">
              <a:lnSpc>
                <a:spcPct val="90000"/>
              </a:lnSpc>
              <a:spcBef>
                <a:spcPts val="0"/>
              </a:spcBef>
              <a:spcAft>
                <a:spcPts val="0"/>
              </a:spcAft>
              <a:buClr>
                <a:schemeClr val="dk1"/>
              </a:buClr>
              <a:buSzPts val="1800"/>
              <a:buChar char="•"/>
              <a:defRPr/>
            </a:pPr>
            <a:r>
              <a:rPr lang="en-US" sz="1800">
                <a:solidFill>
                  <a:schemeClr val="tx1">
                    <a:lumMod val="65000"/>
                    <a:lumOff val="35000"/>
                  </a:schemeClr>
                </a:solidFill>
              </a:rPr>
              <a:t>PM with strong influencing &amp; negotiating skills are often good at getting internal people to work on their projects.</a:t>
            </a:r>
            <a:endParaRPr>
              <a:solidFill>
                <a:schemeClr val="tx1">
                  <a:lumMod val="65000"/>
                  <a:lumOff val="35000"/>
                </a:schemeClr>
              </a:solidFill>
            </a:endParaRPr>
          </a:p>
          <a:p>
            <a:pPr marL="228600" lvl="0" indent="-228600" algn="l" rtl="0">
              <a:lnSpc>
                <a:spcPct val="90000"/>
              </a:lnSpc>
              <a:spcBef>
                <a:spcPts val="0"/>
              </a:spcBef>
              <a:spcAft>
                <a:spcPts val="0"/>
              </a:spcAft>
              <a:buClr>
                <a:schemeClr val="dk1"/>
              </a:buClr>
              <a:buSzPts val="1800"/>
              <a:buChar char="•"/>
              <a:defRPr/>
            </a:pPr>
            <a:r>
              <a:rPr lang="en-US" sz="1800">
                <a:solidFill>
                  <a:schemeClr val="tx1">
                    <a:lumMod val="65000"/>
                    <a:lumOff val="35000"/>
                  </a:schemeClr>
                </a:solidFill>
              </a:rPr>
              <a:t>Main outputs: project staff assignments, resource availability information, updates to the staffing management plan, project team directory</a:t>
            </a:r>
            <a:r>
              <a:rPr lang="en-US" sz="1800"/>
              <a:t>.</a:t>
            </a:r>
            <a:endParaRPr/>
          </a:p>
          <a:p>
            <a:pPr marL="228600" lvl="0" indent="-228600" algn="l" rtl="0">
              <a:lnSpc>
                <a:spcPct val="90000"/>
              </a:lnSpc>
              <a:spcBef>
                <a:spcPts val="1000"/>
              </a:spcBef>
              <a:spcAft>
                <a:spcPts val="0"/>
              </a:spcAft>
              <a:buClr>
                <a:schemeClr val="dk1"/>
              </a:buClr>
              <a:buSzPts val="1800"/>
              <a:buFont typeface="Calibri"/>
              <a:buNone/>
              <a:defRPr/>
            </a:pPr>
            <a:endParaRPr sz="1800"/>
          </a:p>
        </p:txBody>
      </p:sp>
      <p:sp>
        <p:nvSpPr>
          <p:cNvPr id="900762243" name="Google Shape;1384;p8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89</a:t>
            </a:fld>
            <a:endParaRPr/>
          </a:p>
        </p:txBody>
      </p:sp>
      <p:grpSp>
        <p:nvGrpSpPr>
          <p:cNvPr id="626668449" name="Google Shape;1385;p82"/>
          <p:cNvGrpSpPr/>
          <p:nvPr/>
        </p:nvGrpSpPr>
        <p:grpSpPr bwMode="auto">
          <a:xfrm>
            <a:off x="642022" y="229468"/>
            <a:ext cx="10474195" cy="2062248"/>
            <a:chOff x="413422" y="868"/>
            <a:chExt cx="10474195" cy="2062248"/>
          </a:xfrm>
        </p:grpSpPr>
        <p:sp>
          <p:nvSpPr>
            <p:cNvPr id="1386" name="Google Shape;1386;p82"/>
            <p:cNvSpPr/>
            <p:nvPr/>
          </p:nvSpPr>
          <p:spPr bwMode="auto">
            <a:xfrm>
              <a:off x="5858233" y="1000644"/>
              <a:ext cx="3815285" cy="416136"/>
            </a:xfrm>
            <a:custGeom>
              <a:avLst/>
              <a:gdLst/>
              <a:ahLst/>
              <a:cxnLst/>
              <a:rect l="l" t="t" r="r" b="b"/>
              <a:pathLst>
                <a:path w="120000" h="120000" fill="norm" stroke="1" extrusionOk="0">
                  <a:moveTo>
                    <a:pt x="0" y="0"/>
                  </a:moveTo>
                  <a:lnTo>
                    <a:pt x="0" y="59456"/>
                  </a:lnTo>
                  <a:lnTo>
                    <a:pt x="120000" y="59456"/>
                  </a:lnTo>
                  <a:lnTo>
                    <a:pt x="120000" y="120000"/>
                  </a:lnTo>
                </a:path>
              </a:pathLst>
            </a:custGeom>
            <a:noFill/>
            <a:ln w="12700" cap="flat" cmpd="sng">
              <a:solidFill>
                <a:srgbClr val="487AA8"/>
              </a:solidFill>
              <a:prstDash val="solid"/>
              <a:miter lim="800000"/>
              <a:headEnd type="none" w="sm" len="sm"/>
              <a:tailEnd type="none" w="sm" len="sm"/>
            </a:ln>
          </p:spPr>
          <p:txBody>
            <a:bodyPr/>
            <a:lstStyle/>
            <a:p>
              <a:pPr>
                <a:defRPr/>
              </a:pPr>
              <a:endParaRPr lang="en-GB"/>
            </a:p>
          </p:txBody>
        </p:sp>
        <p:sp>
          <p:nvSpPr>
            <p:cNvPr id="1387" name="Google Shape;1387;p82"/>
            <p:cNvSpPr/>
            <p:nvPr/>
          </p:nvSpPr>
          <p:spPr bwMode="auto">
            <a:xfrm>
              <a:off x="5806644" y="1000644"/>
              <a:ext cx="91440" cy="419905"/>
            </a:xfrm>
            <a:custGeom>
              <a:avLst/>
              <a:gdLst/>
              <a:ahLst/>
              <a:cxnLst/>
              <a:rect l="l" t="t" r="r" b="b"/>
              <a:pathLst>
                <a:path w="120000" h="120000" fill="norm" stroke="1" extrusionOk="0">
                  <a:moveTo>
                    <a:pt x="67701" y="0"/>
                  </a:moveTo>
                  <a:lnTo>
                    <a:pt x="67701" y="60000"/>
                  </a:lnTo>
                  <a:lnTo>
                    <a:pt x="60000" y="60000"/>
                  </a:lnTo>
                  <a:lnTo>
                    <a:pt x="60000" y="120000"/>
                  </a:lnTo>
                </a:path>
              </a:pathLst>
            </a:custGeom>
            <a:noFill/>
            <a:ln w="12700" cap="flat" cmpd="sng">
              <a:solidFill>
                <a:srgbClr val="487AA8"/>
              </a:solidFill>
              <a:prstDash val="solid"/>
              <a:miter lim="800000"/>
              <a:headEnd type="none" w="sm" len="sm"/>
              <a:tailEnd type="none" w="sm" len="sm"/>
            </a:ln>
          </p:spPr>
          <p:txBody>
            <a:bodyPr/>
            <a:lstStyle/>
            <a:p>
              <a:pPr>
                <a:defRPr/>
              </a:pPr>
              <a:endParaRPr lang="en-GB"/>
            </a:p>
          </p:txBody>
        </p:sp>
        <p:sp>
          <p:nvSpPr>
            <p:cNvPr id="1388" name="Google Shape;1388;p82"/>
            <p:cNvSpPr/>
            <p:nvPr/>
          </p:nvSpPr>
          <p:spPr bwMode="auto">
            <a:xfrm>
              <a:off x="1650585" y="1000644"/>
              <a:ext cx="4207648" cy="420305"/>
            </a:xfrm>
            <a:custGeom>
              <a:avLst/>
              <a:gdLst/>
              <a:ahLst/>
              <a:cxnLst/>
              <a:rect l="l" t="t" r="r" b="b"/>
              <a:pathLst>
                <a:path w="120000" h="120000" fill="norm" stroke="1" extrusionOk="0">
                  <a:moveTo>
                    <a:pt x="120000" y="0"/>
                  </a:moveTo>
                  <a:lnTo>
                    <a:pt x="120000" y="60057"/>
                  </a:lnTo>
                  <a:lnTo>
                    <a:pt x="0" y="60057"/>
                  </a:lnTo>
                  <a:lnTo>
                    <a:pt x="0" y="120000"/>
                  </a:lnTo>
                </a:path>
              </a:pathLst>
            </a:custGeom>
            <a:noFill/>
            <a:ln w="12700" cap="flat" cmpd="sng">
              <a:solidFill>
                <a:srgbClr val="487AA8"/>
              </a:solidFill>
              <a:prstDash val="solid"/>
              <a:miter lim="800000"/>
              <a:headEnd type="none" w="sm" len="sm"/>
              <a:tailEnd type="none" w="sm" len="sm"/>
            </a:ln>
          </p:spPr>
          <p:txBody>
            <a:bodyPr/>
            <a:lstStyle/>
            <a:p>
              <a:pPr>
                <a:defRPr/>
              </a:pPr>
              <a:endParaRPr lang="en-GB"/>
            </a:p>
          </p:txBody>
        </p:sp>
        <p:sp>
          <p:nvSpPr>
            <p:cNvPr id="1389" name="Google Shape;1389;p82"/>
            <p:cNvSpPr/>
            <p:nvPr/>
          </p:nvSpPr>
          <p:spPr bwMode="auto">
            <a:xfrm>
              <a:off x="4858457" y="868"/>
              <a:ext cx="1999552" cy="999776"/>
            </a:xfrm>
            <a:prstGeom prst="rect">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90" name="Google Shape;1390;p82"/>
            <p:cNvSpPr txBox="1"/>
            <p:nvPr/>
          </p:nvSpPr>
          <p:spPr bwMode="auto">
            <a:xfrm>
              <a:off x="4858457" y="868"/>
              <a:ext cx="1999552" cy="999776"/>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800">
                  <a:solidFill>
                    <a:schemeClr val="lt1"/>
                  </a:solidFill>
                  <a:latin typeface="Calibri"/>
                  <a:ea typeface="Calibri"/>
                  <a:cs typeface="Calibri"/>
                </a:rPr>
                <a:t>Tool &amp; techniques for project team acquisition</a:t>
              </a:r>
              <a:endParaRPr sz="1800">
                <a:solidFill>
                  <a:schemeClr val="lt1"/>
                </a:solidFill>
                <a:latin typeface="Calibri"/>
                <a:ea typeface="Calibri"/>
                <a:cs typeface="Calibri"/>
              </a:endParaRPr>
            </a:p>
          </p:txBody>
        </p:sp>
        <p:sp>
          <p:nvSpPr>
            <p:cNvPr id="1391" name="Google Shape;1391;p82"/>
            <p:cNvSpPr/>
            <p:nvPr/>
          </p:nvSpPr>
          <p:spPr bwMode="auto">
            <a:xfrm>
              <a:off x="413422" y="1420950"/>
              <a:ext cx="2474326" cy="642166"/>
            </a:xfrm>
            <a:prstGeom prst="rect">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92" name="Google Shape;1392;p82"/>
            <p:cNvSpPr txBox="1"/>
            <p:nvPr/>
          </p:nvSpPr>
          <p:spPr bwMode="auto">
            <a:xfrm>
              <a:off x="413422" y="1420950"/>
              <a:ext cx="2474326" cy="642166"/>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800">
                  <a:solidFill>
                    <a:schemeClr val="lt1"/>
                  </a:solidFill>
                  <a:latin typeface="Calibri"/>
                  <a:ea typeface="Calibri"/>
                  <a:cs typeface="Calibri"/>
                </a:rPr>
                <a:t>Resource assignment</a:t>
              </a:r>
              <a:endParaRPr/>
            </a:p>
          </p:txBody>
        </p:sp>
        <p:sp>
          <p:nvSpPr>
            <p:cNvPr id="1393" name="Google Shape;1393;p82"/>
            <p:cNvSpPr/>
            <p:nvPr/>
          </p:nvSpPr>
          <p:spPr bwMode="auto">
            <a:xfrm>
              <a:off x="4770527" y="1420550"/>
              <a:ext cx="2163675" cy="587668"/>
            </a:xfrm>
            <a:prstGeom prst="rect">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94" name="Google Shape;1394;p82"/>
            <p:cNvSpPr txBox="1"/>
            <p:nvPr/>
          </p:nvSpPr>
          <p:spPr bwMode="auto">
            <a:xfrm>
              <a:off x="4770527" y="1420550"/>
              <a:ext cx="2163675" cy="587668"/>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800">
                  <a:solidFill>
                    <a:schemeClr val="lt1"/>
                  </a:solidFill>
                  <a:latin typeface="Calibri"/>
                  <a:ea typeface="Calibri"/>
                  <a:cs typeface="Calibri"/>
                </a:rPr>
                <a:t>Resource loading</a:t>
              </a:r>
              <a:endParaRPr/>
            </a:p>
          </p:txBody>
        </p:sp>
        <p:sp>
          <p:nvSpPr>
            <p:cNvPr id="1395" name="Google Shape;1395;p82"/>
            <p:cNvSpPr/>
            <p:nvPr/>
          </p:nvSpPr>
          <p:spPr bwMode="auto">
            <a:xfrm>
              <a:off x="8459421" y="1416781"/>
              <a:ext cx="2428196" cy="575571"/>
            </a:xfrm>
            <a:prstGeom prst="rect">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96" name="Google Shape;1396;p82"/>
            <p:cNvSpPr txBox="1"/>
            <p:nvPr/>
          </p:nvSpPr>
          <p:spPr bwMode="auto">
            <a:xfrm>
              <a:off x="8459421" y="1416781"/>
              <a:ext cx="2428196" cy="575571"/>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800">
                  <a:solidFill>
                    <a:schemeClr val="lt1"/>
                  </a:solidFill>
                  <a:latin typeface="Calibri"/>
                  <a:ea typeface="Calibri"/>
                  <a:cs typeface="Calibri"/>
                </a:rPr>
                <a:t>Resource leveling</a:t>
              </a:r>
              <a:endParaRPr/>
            </a:p>
          </p:txBody>
        </p:sp>
      </p:grpSp>
      <p:sp>
        <p:nvSpPr>
          <p:cNvPr id="2120567855" name="Google Shape;1397;p82"/>
          <p:cNvSpPr txBox="1"/>
          <p:nvPr/>
        </p:nvSpPr>
        <p:spPr bwMode="auto">
          <a:xfrm>
            <a:off x="4191000" y="2455597"/>
            <a:ext cx="3363861" cy="4021403"/>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265113" marR="0" lvl="0" indent="-265113" algn="l" rtl="0">
              <a:lnSpc>
                <a:spcPct val="90000"/>
              </a:lnSpc>
              <a:spcBef>
                <a:spcPts val="0"/>
              </a:spcBef>
              <a:spcAft>
                <a:spcPts val="0"/>
              </a:spcAft>
              <a:buClr>
                <a:schemeClr val="dk1"/>
              </a:buClr>
              <a:buSzPts val="1800"/>
              <a:buFont typeface="Arial"/>
              <a:buChar char="•"/>
              <a:defRPr/>
            </a:pPr>
            <a:r>
              <a:rPr lang="en-US" sz="1800">
                <a:solidFill>
                  <a:schemeClr val="tx1">
                    <a:lumMod val="65000"/>
                    <a:lumOff val="35000"/>
                  </a:schemeClr>
                </a:solidFill>
                <a:latin typeface="Calibri"/>
                <a:ea typeface="Calibri"/>
                <a:cs typeface="Calibri"/>
              </a:rPr>
              <a:t>Amount of individual resources an existing schedule requires during specific time periods.</a:t>
            </a:r>
            <a:endParaRPr>
              <a:solidFill>
                <a:schemeClr val="tx1">
                  <a:lumMod val="65000"/>
                  <a:lumOff val="35000"/>
                </a:schemeClr>
              </a:solidFill>
            </a:endParaRPr>
          </a:p>
          <a:p>
            <a:pPr marL="265113" marR="0" lvl="0" indent="-265113" algn="l" rtl="0">
              <a:lnSpc>
                <a:spcPct val="90000"/>
              </a:lnSpc>
              <a:spcBef>
                <a:spcPts val="600"/>
              </a:spcBef>
              <a:spcAft>
                <a:spcPts val="0"/>
              </a:spcAft>
              <a:buClr>
                <a:schemeClr val="dk1"/>
              </a:buClr>
              <a:buSzPts val="1800"/>
              <a:buFont typeface="Arial"/>
              <a:buChar char="•"/>
              <a:defRPr/>
            </a:pPr>
            <a:r>
              <a:rPr lang="en-US" sz="1800">
                <a:solidFill>
                  <a:schemeClr val="tx1">
                    <a:lumMod val="65000"/>
                    <a:lumOff val="35000"/>
                  </a:schemeClr>
                </a:solidFill>
                <a:latin typeface="Calibri"/>
                <a:ea typeface="Calibri"/>
                <a:cs typeface="Calibri"/>
              </a:rPr>
              <a:t>Help PM and individuals to develop schedules.</a:t>
            </a:r>
            <a:endParaRPr>
              <a:solidFill>
                <a:schemeClr val="tx1">
                  <a:lumMod val="65000"/>
                  <a:lumOff val="35000"/>
                </a:schemeClr>
              </a:solidFill>
            </a:endParaRPr>
          </a:p>
          <a:p>
            <a:pPr marL="265113" marR="0" lvl="0" indent="-265113" algn="l" rtl="0">
              <a:lnSpc>
                <a:spcPct val="90000"/>
              </a:lnSpc>
              <a:spcBef>
                <a:spcPts val="600"/>
              </a:spcBef>
              <a:spcAft>
                <a:spcPts val="0"/>
              </a:spcAft>
              <a:buClr>
                <a:srgbClr val="C00000"/>
              </a:buClr>
              <a:buSzPts val="1800"/>
              <a:buFont typeface="Arial"/>
              <a:buChar char="•"/>
              <a:defRPr/>
            </a:pPr>
            <a:r>
              <a:rPr lang="en-US" sz="1800">
                <a:solidFill>
                  <a:schemeClr val="tx1">
                    <a:lumMod val="65000"/>
                    <a:lumOff val="35000"/>
                  </a:schemeClr>
                </a:solidFill>
                <a:latin typeface="Calibri"/>
                <a:ea typeface="Calibri"/>
                <a:cs typeface="Calibri"/>
              </a:rPr>
              <a:t>Overallocation: more resources than are available are assigned to perform work at a given time. E.g. individual have to work 24 hours a day to meet the allocated schedule.</a:t>
            </a:r>
            <a:endParaRPr>
              <a:solidFill>
                <a:schemeClr val="tx1">
                  <a:lumMod val="65000"/>
                  <a:lumOff val="35000"/>
                </a:schemeClr>
              </a:solidFill>
            </a:endParaRPr>
          </a:p>
          <a:p>
            <a:pPr marL="228600" marR="0" lvl="0" indent="-228600" algn="l" rtl="0">
              <a:lnSpc>
                <a:spcPct val="90000"/>
              </a:lnSpc>
              <a:spcBef>
                <a:spcPts val="600"/>
              </a:spcBef>
              <a:spcAft>
                <a:spcPts val="0"/>
              </a:spcAft>
              <a:buClr>
                <a:schemeClr val="dk1"/>
              </a:buClr>
              <a:buSzPts val="1800"/>
              <a:buFont typeface="Arial"/>
              <a:buNone/>
              <a:defRPr/>
            </a:pPr>
            <a:endParaRPr sz="1800">
              <a:solidFill>
                <a:schemeClr val="dk1"/>
              </a:solidFill>
              <a:latin typeface="Calibri"/>
              <a:ea typeface="Calibri"/>
              <a:cs typeface="Calibri"/>
            </a:endParaRPr>
          </a:p>
        </p:txBody>
      </p:sp>
      <p:sp>
        <p:nvSpPr>
          <p:cNvPr id="1245081015" name="Google Shape;1398;p82"/>
          <p:cNvSpPr txBox="1"/>
          <p:nvPr/>
        </p:nvSpPr>
        <p:spPr bwMode="auto">
          <a:xfrm>
            <a:off x="7848600" y="2455596"/>
            <a:ext cx="4038600" cy="4021404"/>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354013" marR="0" lvl="1" indent="-265113" algn="l" rtl="0">
              <a:lnSpc>
                <a:spcPct val="90000"/>
              </a:lnSpc>
              <a:spcBef>
                <a:spcPts val="0"/>
              </a:spcBef>
              <a:spcAft>
                <a:spcPts val="0"/>
              </a:spcAft>
              <a:buClr>
                <a:schemeClr val="dk1"/>
              </a:buClr>
              <a:buSzPts val="1800"/>
              <a:buFont typeface="Arial"/>
              <a:buChar char="•"/>
              <a:defRPr/>
            </a:pPr>
            <a:r>
              <a:rPr lang="en-US" sz="1800" b="0" i="0" u="none" strike="noStrike" cap="none">
                <a:solidFill>
                  <a:schemeClr val="tx1">
                    <a:lumMod val="65000"/>
                    <a:lumOff val="35000"/>
                  </a:schemeClr>
                </a:solidFill>
                <a:latin typeface="Calibri"/>
                <a:ea typeface="Calibri"/>
                <a:cs typeface="Calibri"/>
              </a:rPr>
              <a:t>A technique for resolving resource conflicts (overallocation &amp; </a:t>
            </a:r>
            <a:r>
              <a:rPr lang="en-US" sz="1800" b="0" i="0" u="none" strike="noStrike" cap="none">
                <a:solidFill>
                  <a:schemeClr val="tx1">
                    <a:lumMod val="65000"/>
                    <a:lumOff val="35000"/>
                  </a:schemeClr>
                </a:solidFill>
                <a:latin typeface="Calibri"/>
                <a:ea typeface="Calibri"/>
                <a:cs typeface="Calibri"/>
              </a:rPr>
              <a:t>underallocation</a:t>
            </a:r>
            <a:r>
              <a:rPr lang="en-US" sz="1800" b="0" i="0" u="none" strike="noStrike" cap="none">
                <a:solidFill>
                  <a:schemeClr val="tx1">
                    <a:lumMod val="65000"/>
                    <a:lumOff val="35000"/>
                  </a:schemeClr>
                </a:solidFill>
                <a:latin typeface="Calibri"/>
                <a:ea typeface="Calibri"/>
                <a:cs typeface="Calibri"/>
              </a:rPr>
              <a:t>).</a:t>
            </a:r>
            <a:endParaRPr>
              <a:solidFill>
                <a:schemeClr val="tx1">
                  <a:lumMod val="65000"/>
                  <a:lumOff val="35000"/>
                </a:schemeClr>
              </a:solidFill>
            </a:endParaRPr>
          </a:p>
          <a:p>
            <a:pPr marL="354013" marR="0" lvl="1" indent="-265113" algn="l" rtl="0">
              <a:lnSpc>
                <a:spcPct val="90000"/>
              </a:lnSpc>
              <a:spcBef>
                <a:spcPts val="0"/>
              </a:spcBef>
              <a:spcAft>
                <a:spcPts val="0"/>
              </a:spcAft>
              <a:buClr>
                <a:schemeClr val="dk1"/>
              </a:buClr>
              <a:buSzPts val="1800"/>
              <a:buFont typeface="Arial"/>
              <a:buChar char="•"/>
              <a:defRPr/>
            </a:pPr>
            <a:r>
              <a:rPr lang="en-US" sz="1800" b="0" i="0" u="none" strike="noStrike" cap="none">
                <a:solidFill>
                  <a:schemeClr val="tx1">
                    <a:lumMod val="65000"/>
                    <a:lumOff val="35000"/>
                  </a:schemeClr>
                </a:solidFill>
                <a:latin typeface="Calibri"/>
                <a:ea typeface="Calibri"/>
                <a:cs typeface="Calibri"/>
              </a:rPr>
              <a:t>Purpose: to create a smoother distribution of resource usage.</a:t>
            </a:r>
            <a:endParaRPr>
              <a:solidFill>
                <a:schemeClr val="tx1">
                  <a:lumMod val="65000"/>
                  <a:lumOff val="35000"/>
                </a:schemeClr>
              </a:solidFill>
            </a:endParaRPr>
          </a:p>
          <a:p>
            <a:pPr marL="354013" marR="0" lvl="1" indent="-265113" algn="l" rtl="0">
              <a:lnSpc>
                <a:spcPct val="90000"/>
              </a:lnSpc>
              <a:spcBef>
                <a:spcPts val="0"/>
              </a:spcBef>
              <a:spcAft>
                <a:spcPts val="0"/>
              </a:spcAft>
              <a:buClr>
                <a:schemeClr val="dk1"/>
              </a:buClr>
              <a:buSzPts val="1800"/>
              <a:buFont typeface="Arial"/>
              <a:buChar char="•"/>
              <a:defRPr/>
            </a:pPr>
            <a:r>
              <a:rPr lang="en-US" sz="1800" b="0" i="0" u="none" strike="noStrike" cap="none">
                <a:solidFill>
                  <a:schemeClr val="tx1">
                    <a:lumMod val="65000"/>
                    <a:lumOff val="35000"/>
                  </a:schemeClr>
                </a:solidFill>
                <a:latin typeface="Calibri"/>
                <a:ea typeface="Calibri"/>
                <a:cs typeface="Calibri"/>
              </a:rPr>
              <a:t>PM examine the PERT chart for areas of slack or float, and to identify resource conflicts.</a:t>
            </a:r>
            <a:endParaRPr>
              <a:solidFill>
                <a:schemeClr val="tx1">
                  <a:lumMod val="65000"/>
                  <a:lumOff val="35000"/>
                </a:schemeClr>
              </a:solidFill>
            </a:endParaRPr>
          </a:p>
          <a:p>
            <a:pPr marL="354013" marR="0" lvl="1" indent="-265113" algn="l" rtl="0">
              <a:lnSpc>
                <a:spcPct val="90000"/>
              </a:lnSpc>
              <a:spcBef>
                <a:spcPts val="0"/>
              </a:spcBef>
              <a:spcAft>
                <a:spcPts val="0"/>
              </a:spcAft>
              <a:buClr>
                <a:schemeClr val="dk1"/>
              </a:buClr>
              <a:buSzPts val="1800"/>
              <a:buFont typeface="Arial"/>
              <a:buChar char="•"/>
              <a:defRPr/>
            </a:pPr>
            <a:r>
              <a:rPr lang="en-US" sz="1800" b="0" i="0" u="none" strike="noStrike" cap="none">
                <a:solidFill>
                  <a:schemeClr val="tx1">
                    <a:lumMod val="65000"/>
                    <a:lumOff val="35000"/>
                  </a:schemeClr>
                </a:solidFill>
                <a:latin typeface="Calibri"/>
                <a:ea typeface="Calibri"/>
                <a:cs typeface="Calibri"/>
              </a:rPr>
              <a:t>E.g. remove overallocations by delaying noncritical tasks, which does not result in an overall schedule delay.</a:t>
            </a:r>
            <a:endParaRPr>
              <a:solidFill>
                <a:schemeClr val="tx1">
                  <a:lumMod val="65000"/>
                  <a:lumOff val="35000"/>
                </a:schemeClr>
              </a:solidFill>
            </a:endParaRPr>
          </a:p>
          <a:p>
            <a:pPr marL="354013" marR="0" lvl="1" indent="-265113" algn="l" rtl="0">
              <a:lnSpc>
                <a:spcPct val="90000"/>
              </a:lnSpc>
              <a:spcBef>
                <a:spcPts val="0"/>
              </a:spcBef>
              <a:spcAft>
                <a:spcPts val="0"/>
              </a:spcAft>
              <a:buClr>
                <a:schemeClr val="dk1"/>
              </a:buClr>
              <a:buSzPts val="1800"/>
              <a:buFont typeface="Arial"/>
              <a:buChar char="•"/>
              <a:defRPr/>
            </a:pPr>
            <a:r>
              <a:rPr lang="en-US" sz="1800" b="0" i="0" u="none" strike="noStrike" cap="none">
                <a:solidFill>
                  <a:schemeClr val="tx1">
                    <a:lumMod val="65000"/>
                    <a:lumOff val="35000"/>
                  </a:schemeClr>
                </a:solidFill>
                <a:latin typeface="Calibri"/>
                <a:ea typeface="Calibri"/>
                <a:cs typeface="Calibri"/>
              </a:rPr>
              <a:t>Therefore, resource leveling aims to minimize period-by-period variations in resource loading by shifting tasks within their slack allowances.</a:t>
            </a:r>
            <a:endParaRPr>
              <a:solidFill>
                <a:schemeClr val="tx1">
                  <a:lumMod val="65000"/>
                  <a:lumOff val="35000"/>
                </a:schemeClr>
              </a:solidFill>
            </a:endParaRPr>
          </a:p>
          <a:p>
            <a:pPr marL="354013" marR="0" lvl="0" indent="-265113" algn="l" rtl="0">
              <a:lnSpc>
                <a:spcPct val="90000"/>
              </a:lnSpc>
              <a:spcBef>
                <a:spcPts val="0"/>
              </a:spcBef>
              <a:spcAft>
                <a:spcPts val="0"/>
              </a:spcAft>
              <a:buClr>
                <a:schemeClr val="dk1"/>
              </a:buClr>
              <a:buSzPts val="1800"/>
              <a:buFont typeface="Arial"/>
              <a:buNone/>
              <a:defRPr/>
            </a:pPr>
            <a:endParaRPr sz="1800">
              <a:solidFill>
                <a:schemeClr val="dk1"/>
              </a:solidFill>
              <a:latin typeface="Calibri"/>
              <a:ea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25314297" name="Google Shape;1403;p83"/>
          <p:cNvSpPr txBox="1">
            <a:spLocks noGrp="1"/>
          </p:cNvSpPr>
          <p:nvPr>
            <p:ph type="body" idx="1"/>
          </p:nvPr>
        </p:nvSpPr>
        <p:spPr bwMode="auto">
          <a:xfrm>
            <a:off x="3733800" y="3228750"/>
            <a:ext cx="8251800" cy="3352800"/>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None/>
              <a:defRPr/>
            </a:pPr>
            <a:r>
              <a:rPr lang="en-US" b="1"/>
              <a:t>3. Develop Project Team</a:t>
            </a:r>
            <a:endParaRPr/>
          </a:p>
          <a:p>
            <a:pPr marL="685800" lvl="1" indent="-216217" algn="l" rtl="0">
              <a:lnSpc>
                <a:spcPct val="90000"/>
              </a:lnSpc>
              <a:spcBef>
                <a:spcPts val="500"/>
              </a:spcBef>
              <a:spcAft>
                <a:spcPts val="0"/>
              </a:spcAft>
              <a:buClr>
                <a:schemeClr val="dk1"/>
              </a:buClr>
              <a:buSzPct val="100000"/>
              <a:buChar char="•"/>
              <a:defRPr/>
            </a:pPr>
            <a:r>
              <a:rPr lang="en-US" sz="2600">
                <a:solidFill>
                  <a:srgbClr val="FF0000"/>
                </a:solidFill>
              </a:rPr>
              <a:t>Purpose: </a:t>
            </a:r>
            <a:r>
              <a:rPr lang="en-US" sz="2600" b="1"/>
              <a:t>to ensure that </a:t>
            </a:r>
            <a:r>
              <a:rPr lang="en-US" sz="2600" b="1" u="sng"/>
              <a:t>people</a:t>
            </a:r>
            <a:r>
              <a:rPr lang="en-US" sz="2600" b="1"/>
              <a:t> can work together</a:t>
            </a:r>
            <a:r>
              <a:rPr lang="en-US" sz="2600"/>
              <a:t> </a:t>
            </a:r>
            <a:r>
              <a:rPr lang="en-US" sz="2600" b="1"/>
              <a:t>more</a:t>
            </a:r>
            <a:r>
              <a:rPr lang="en-US" sz="2600"/>
              <a:t> </a:t>
            </a:r>
            <a:r>
              <a:rPr lang="en-US" sz="2600" b="1"/>
              <a:t>effectively</a:t>
            </a:r>
            <a:r>
              <a:rPr lang="en-US" sz="2600"/>
              <a:t> </a:t>
            </a:r>
            <a:r>
              <a:rPr lang="en-US" sz="2600" b="1"/>
              <a:t>to improve project performance.</a:t>
            </a:r>
            <a:endParaRPr b="1"/>
          </a:p>
          <a:p>
            <a:pPr marL="685800" lvl="1" indent="-216217" algn="l" rtl="0">
              <a:lnSpc>
                <a:spcPct val="90000"/>
              </a:lnSpc>
              <a:spcBef>
                <a:spcPts val="500"/>
              </a:spcBef>
              <a:spcAft>
                <a:spcPts val="0"/>
              </a:spcAft>
              <a:buClr>
                <a:schemeClr val="dk1"/>
              </a:buClr>
              <a:buSzPct val="100000"/>
              <a:buChar char="•"/>
              <a:defRPr/>
            </a:pPr>
            <a:r>
              <a:rPr lang="en-US" sz="2600"/>
              <a:t>Main outputs: team performance assessments, enterprise environmental factors updates. </a:t>
            </a:r>
            <a:endParaRPr/>
          </a:p>
          <a:p>
            <a:pPr marL="685800" lvl="1" indent="-216217" algn="l" rtl="0">
              <a:lnSpc>
                <a:spcPct val="90000"/>
              </a:lnSpc>
              <a:spcBef>
                <a:spcPts val="500"/>
              </a:spcBef>
              <a:spcAft>
                <a:spcPts val="0"/>
              </a:spcAft>
              <a:buClr>
                <a:schemeClr val="dk1"/>
              </a:buClr>
              <a:buSzPct val="100000"/>
              <a:buChar char="•"/>
              <a:defRPr/>
            </a:pPr>
            <a:r>
              <a:rPr lang="en-US" sz="2600" b="1"/>
              <a:t>The Tuckman </a:t>
            </a:r>
            <a:r>
              <a:rPr lang="en-US" sz="2600" b="1" u="sng"/>
              <a:t>5 stages of team development</a:t>
            </a:r>
            <a:r>
              <a:rPr lang="en-US" sz="2600" b="1"/>
              <a:t>:</a:t>
            </a:r>
            <a:endParaRPr b="1"/>
          </a:p>
          <a:p>
            <a:pPr marL="1255713" lvl="3" indent="-434657" algn="l" rtl="0">
              <a:lnSpc>
                <a:spcPct val="90000"/>
              </a:lnSpc>
              <a:spcBef>
                <a:spcPts val="500"/>
              </a:spcBef>
              <a:spcAft>
                <a:spcPts val="0"/>
              </a:spcAft>
              <a:buClr>
                <a:srgbClr val="0000FF"/>
              </a:buClr>
              <a:buSzPct val="100000"/>
              <a:buFont typeface="Times New Roman"/>
              <a:buAutoNum type="alphaLcPeriod"/>
              <a:defRPr/>
            </a:pPr>
            <a:r>
              <a:rPr lang="en-US" sz="2400" b="1">
                <a:solidFill>
                  <a:schemeClr val="tx1"/>
                </a:solidFill>
              </a:rPr>
              <a:t>Forming </a:t>
            </a:r>
            <a:r>
              <a:rPr lang="en-US" sz="2400" b="1" i="1">
                <a:solidFill>
                  <a:schemeClr val="tx1"/>
                </a:solidFill>
              </a:rPr>
              <a:t>(first stage)</a:t>
            </a:r>
            <a:endParaRPr b="1" i="1">
              <a:solidFill>
                <a:schemeClr val="tx1"/>
              </a:solidFill>
            </a:endParaRPr>
          </a:p>
          <a:p>
            <a:pPr marL="1255713" lvl="3" indent="-434657" algn="l" rtl="0">
              <a:lnSpc>
                <a:spcPct val="90000"/>
              </a:lnSpc>
              <a:spcBef>
                <a:spcPts val="500"/>
              </a:spcBef>
              <a:spcAft>
                <a:spcPts val="0"/>
              </a:spcAft>
              <a:buClr>
                <a:srgbClr val="0000FF"/>
              </a:buClr>
              <a:buSzPct val="100000"/>
              <a:buFont typeface="Times New Roman"/>
              <a:buAutoNum type="alphaLcPeriod"/>
              <a:defRPr/>
            </a:pPr>
            <a:r>
              <a:rPr lang="en-US" sz="2400" b="1">
                <a:solidFill>
                  <a:schemeClr val="tx1"/>
                </a:solidFill>
              </a:rPr>
              <a:t>Storming</a:t>
            </a:r>
            <a:endParaRPr b="1">
              <a:solidFill>
                <a:schemeClr val="tx1"/>
              </a:solidFill>
            </a:endParaRPr>
          </a:p>
          <a:p>
            <a:pPr marL="1255713" lvl="3" indent="-434657" algn="l" rtl="0">
              <a:lnSpc>
                <a:spcPct val="90000"/>
              </a:lnSpc>
              <a:spcBef>
                <a:spcPts val="500"/>
              </a:spcBef>
              <a:spcAft>
                <a:spcPts val="0"/>
              </a:spcAft>
              <a:buClr>
                <a:srgbClr val="0000FF"/>
              </a:buClr>
              <a:buSzPct val="100000"/>
              <a:buFont typeface="Times New Roman"/>
              <a:buAutoNum type="alphaLcPeriod"/>
              <a:defRPr/>
            </a:pPr>
            <a:r>
              <a:rPr lang="en-US" sz="2400" b="1">
                <a:solidFill>
                  <a:schemeClr val="tx1"/>
                </a:solidFill>
              </a:rPr>
              <a:t>Norming</a:t>
            </a:r>
            <a:endParaRPr b="1">
              <a:solidFill>
                <a:schemeClr val="tx1"/>
              </a:solidFill>
            </a:endParaRPr>
          </a:p>
          <a:p>
            <a:pPr marL="1255713" lvl="3" indent="-434657" algn="l" rtl="0">
              <a:lnSpc>
                <a:spcPct val="90000"/>
              </a:lnSpc>
              <a:spcBef>
                <a:spcPts val="500"/>
              </a:spcBef>
              <a:spcAft>
                <a:spcPts val="0"/>
              </a:spcAft>
              <a:buClr>
                <a:srgbClr val="0000FF"/>
              </a:buClr>
              <a:buSzPct val="100000"/>
              <a:buFont typeface="Times New Roman"/>
              <a:buAutoNum type="alphaLcPeriod"/>
              <a:defRPr/>
            </a:pPr>
            <a:r>
              <a:rPr lang="en-US" sz="2400" b="1">
                <a:solidFill>
                  <a:schemeClr val="tx1"/>
                </a:solidFill>
              </a:rPr>
              <a:t>Performing</a:t>
            </a:r>
            <a:endParaRPr b="1">
              <a:solidFill>
                <a:schemeClr val="tx1"/>
              </a:solidFill>
            </a:endParaRPr>
          </a:p>
          <a:p>
            <a:pPr marL="1255713" lvl="3" indent="-434657" algn="l" rtl="0">
              <a:lnSpc>
                <a:spcPct val="90000"/>
              </a:lnSpc>
              <a:spcBef>
                <a:spcPts val="500"/>
              </a:spcBef>
              <a:spcAft>
                <a:spcPts val="0"/>
              </a:spcAft>
              <a:buClr>
                <a:srgbClr val="0000FF"/>
              </a:buClr>
              <a:buSzPct val="100000"/>
              <a:buFont typeface="Times New Roman"/>
              <a:buAutoNum type="alphaLcPeriod"/>
              <a:defRPr/>
            </a:pPr>
            <a:r>
              <a:rPr lang="en-US" sz="2400" b="1">
                <a:solidFill>
                  <a:schemeClr val="tx1"/>
                </a:solidFill>
              </a:rPr>
              <a:t>Adjourning </a:t>
            </a:r>
            <a:r>
              <a:rPr lang="en-US" sz="2400" b="1" i="1">
                <a:solidFill>
                  <a:schemeClr val="tx1"/>
                </a:solidFill>
              </a:rPr>
              <a:t>(last stage)</a:t>
            </a:r>
            <a:endParaRPr b="1" i="1">
              <a:solidFill>
                <a:schemeClr val="tx1"/>
              </a:solidFill>
            </a:endParaRPr>
          </a:p>
          <a:p>
            <a:pPr marL="1143000" lvl="2" indent="-99377" algn="l" rtl="0">
              <a:lnSpc>
                <a:spcPct val="90000"/>
              </a:lnSpc>
              <a:spcBef>
                <a:spcPts val="500"/>
              </a:spcBef>
              <a:spcAft>
                <a:spcPts val="0"/>
              </a:spcAft>
              <a:buClr>
                <a:schemeClr val="dk1"/>
              </a:buClr>
              <a:buSzPct val="100000"/>
              <a:buNone/>
              <a:defRPr/>
            </a:pPr>
            <a:endParaRPr sz="2200"/>
          </a:p>
        </p:txBody>
      </p:sp>
      <p:sp>
        <p:nvSpPr>
          <p:cNvPr id="148718887" name="Google Shape;1404;p8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90</a:t>
            </a:fld>
            <a:endParaRPr/>
          </a:p>
        </p:txBody>
      </p:sp>
      <p:grpSp>
        <p:nvGrpSpPr>
          <p:cNvPr id="652065168" name="Google Shape;1405;p83"/>
          <p:cNvGrpSpPr/>
          <p:nvPr/>
        </p:nvGrpSpPr>
        <p:grpSpPr bwMode="auto">
          <a:xfrm>
            <a:off x="3737104" y="2181089"/>
            <a:ext cx="7118090" cy="769523"/>
            <a:chOff x="3304" y="173586"/>
            <a:chExt cx="7118090" cy="769523"/>
          </a:xfrm>
        </p:grpSpPr>
        <p:sp>
          <p:nvSpPr>
            <p:cNvPr id="1406" name="Google Shape;1406;p83"/>
            <p:cNvSpPr/>
            <p:nvPr/>
          </p:nvSpPr>
          <p:spPr bwMode="auto">
            <a:xfrm>
              <a:off x="3304" y="173586"/>
              <a:ext cx="1923808" cy="7695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07" name="Google Shape;1407;p83"/>
            <p:cNvSpPr txBox="1"/>
            <p:nvPr/>
          </p:nvSpPr>
          <p:spPr bwMode="auto">
            <a:xfrm>
              <a:off x="388066"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1.                Plan HR Management</a:t>
              </a:r>
              <a:endParaRPr/>
            </a:p>
          </p:txBody>
        </p:sp>
        <p:sp>
          <p:nvSpPr>
            <p:cNvPr id="1408" name="Google Shape;1408;p83"/>
            <p:cNvSpPr/>
            <p:nvPr/>
          </p:nvSpPr>
          <p:spPr bwMode="auto">
            <a:xfrm>
              <a:off x="1734732" y="173586"/>
              <a:ext cx="1923808" cy="7695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09" name="Google Shape;1409;p83"/>
            <p:cNvSpPr txBox="1"/>
            <p:nvPr/>
          </p:nvSpPr>
          <p:spPr bwMode="auto">
            <a:xfrm>
              <a:off x="2119494"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2.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Acquire Project Team</a:t>
              </a:r>
              <a:endParaRPr/>
            </a:p>
          </p:txBody>
        </p:sp>
        <p:sp>
          <p:nvSpPr>
            <p:cNvPr id="1410" name="Google Shape;1410;p83"/>
            <p:cNvSpPr/>
            <p:nvPr/>
          </p:nvSpPr>
          <p:spPr bwMode="auto">
            <a:xfrm>
              <a:off x="3466159" y="173586"/>
              <a:ext cx="1923808" cy="769523"/>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11" name="Google Shape;1411;p83"/>
            <p:cNvSpPr txBox="1"/>
            <p:nvPr/>
          </p:nvSpPr>
          <p:spPr bwMode="auto">
            <a:xfrm>
              <a:off x="3850921"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1">
                  <a:solidFill>
                    <a:schemeClr val="lt1"/>
                  </a:solidFill>
                  <a:latin typeface="Calibri"/>
                  <a:ea typeface="Calibri"/>
                  <a:cs typeface="Calibri"/>
                </a:rPr>
                <a:t>3. </a:t>
              </a:r>
              <a:br>
                <a:rPr lang="en-US" sz="1400" b="1">
                  <a:solidFill>
                    <a:schemeClr val="lt1"/>
                  </a:solidFill>
                  <a:latin typeface="Calibri"/>
                  <a:ea typeface="Calibri"/>
                  <a:cs typeface="Calibri"/>
                </a:rPr>
              </a:br>
              <a:r>
                <a:rPr lang="en-US" sz="1400" b="1">
                  <a:solidFill>
                    <a:schemeClr val="lt1"/>
                  </a:solidFill>
                  <a:latin typeface="Calibri"/>
                  <a:ea typeface="Calibri"/>
                  <a:cs typeface="Calibri"/>
                </a:rPr>
                <a:t>Develop Project Team</a:t>
              </a:r>
              <a:endParaRPr/>
            </a:p>
          </p:txBody>
        </p:sp>
        <p:sp>
          <p:nvSpPr>
            <p:cNvPr id="1412" name="Google Shape;1412;p83"/>
            <p:cNvSpPr/>
            <p:nvPr/>
          </p:nvSpPr>
          <p:spPr bwMode="auto">
            <a:xfrm>
              <a:off x="5197586" y="173586"/>
              <a:ext cx="1923808" cy="7695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13" name="Google Shape;1413;p83"/>
            <p:cNvSpPr txBox="1"/>
            <p:nvPr/>
          </p:nvSpPr>
          <p:spPr bwMode="auto">
            <a:xfrm>
              <a:off x="5582348"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4.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Manage Project Team</a:t>
              </a:r>
              <a:endParaRPr/>
            </a:p>
          </p:txBody>
        </p:sp>
      </p:grpSp>
      <p:sp>
        <p:nvSpPr>
          <p:cNvPr id="16508061" name="Google Shape;1414;p83"/>
          <p:cNvSpPr txBox="1"/>
          <p:nvPr/>
        </p:nvSpPr>
        <p:spPr bwMode="auto">
          <a:xfrm>
            <a:off x="3526350" y="363950"/>
            <a:ext cx="7010399" cy="716100"/>
          </a:xfrm>
          <a:prstGeom prst="rect">
            <a:avLst/>
          </a:prstGeom>
          <a:noFill/>
          <a:ln>
            <a:noFill/>
          </a:ln>
        </p:spPr>
        <p:txBody>
          <a:bodyPr spcFirstLastPara="1" wrap="square" lIns="91425" tIns="45700" rIns="91425" bIns="45700" anchor="ctr" anchorCtr="0">
            <a:normAutofit fontScale="77500" lnSpcReduction="200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Human Resource Management</a:t>
            </a:r>
            <a:endParaRPr sz="4000" b="1">
              <a:solidFill>
                <a:schemeClr val="dk1"/>
              </a:solidFill>
              <a:latin typeface="Calibri"/>
              <a:ea typeface="Calibri"/>
              <a:cs typeface="Calibri"/>
            </a:endParaRPr>
          </a:p>
        </p:txBody>
      </p:sp>
      <p:sp>
        <p:nvSpPr>
          <p:cNvPr id="709850862" name="Google Shape;1415;p83"/>
          <p:cNvSpPr txBox="1"/>
          <p:nvPr/>
        </p:nvSpPr>
        <p:spPr bwMode="auto">
          <a:xfrm>
            <a:off x="3618628" y="119948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377950819" name="Google Shape;1416;p83"/>
          <p:cNvCxnSpPr/>
          <p:nvPr/>
        </p:nvCxnSpPr>
        <p:spPr bwMode="auto">
          <a:xfrm rot="10800000">
            <a:off x="3733800" y="1672998"/>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287220354" name="Google Shape;1417;p83"/>
          <p:cNvPicPr/>
          <p:nvPr/>
        </p:nvPicPr>
        <p:blipFill rotWithShape="1">
          <a:blip r:embed="rId3">
            <a:alphaModFix/>
          </a:blip>
          <a:srcRect l="42835" t="0" r="26308" b="0"/>
          <a:stretch/>
        </p:blipFill>
        <p:spPr bwMode="auto">
          <a:xfrm>
            <a:off x="0" y="-5557"/>
            <a:ext cx="3200400" cy="6863558"/>
          </a:xfrm>
          <a:prstGeom prst="rect">
            <a:avLst/>
          </a:prstGeom>
          <a:noFill/>
          <a:ln>
            <a:noFill/>
          </a:ln>
        </p:spPr>
      </p:pic>
      <p:sp>
        <p:nvSpPr>
          <p:cNvPr id="2011304364" name="TextBox 1"/>
          <p:cNvSpPr txBox="1"/>
          <p:nvPr/>
        </p:nvSpPr>
        <p:spPr bwMode="auto">
          <a:xfrm>
            <a:off x="8383141" y="5302392"/>
            <a:ext cx="2549902" cy="923330"/>
          </a:xfrm>
          <a:prstGeom prst="rect">
            <a:avLst/>
          </a:prstGeom>
          <a:noFill/>
        </p:spPr>
        <p:txBody>
          <a:bodyPr wrap="square" rtlCol="0">
            <a:spAutoFit/>
          </a:bodyPr>
          <a:lstStyle/>
          <a:p>
            <a:pPr>
              <a:defRPr/>
            </a:pPr>
            <a:r>
              <a:rPr lang="en-US" sz="1800" i="1"/>
              <a:t>Describes what a team will goes through from start to end.</a:t>
            </a:r>
            <a:endParaRPr lang="en-MY" sz="1800" i="1"/>
          </a:p>
        </p:txBody>
      </p:sp>
      <p:sp>
        <p:nvSpPr>
          <p:cNvPr id="1134042608" name="Right Brace 2"/>
          <p:cNvSpPr/>
          <p:nvPr/>
        </p:nvSpPr>
        <p:spPr bwMode="auto">
          <a:xfrm>
            <a:off x="7836303" y="5147827"/>
            <a:ext cx="474833" cy="1377240"/>
          </a:xfrm>
          <a:prstGeom prst="rightBrace">
            <a:avLst>
              <a:gd name="adj1" fmla="val 8333"/>
              <a:gd name="adj2" fmla="val 48556"/>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MY"/>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25314297">
                                            <p:txEl>
                                              <p:pRg st="0" end="0"/>
                                            </p:txEl>
                                          </p:spTgt>
                                        </p:tgtEl>
                                        <p:attrNameLst>
                                          <p:attrName>style.visibility</p:attrName>
                                        </p:attrNameLst>
                                      </p:cBhvr>
                                      <p:to>
                                        <p:strVal val="visible"/>
                                      </p:to>
                                    </p:set>
                                    <p:animEffect transition="in" filter="wipe(left)">
                                      <p:cBhvr>
                                        <p:cTn id="7" dur="500"/>
                                        <p:tgtEl>
                                          <p:spTgt spid="2253142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5314297">
                                            <p:txEl>
                                              <p:pRg st="1" end="1"/>
                                            </p:txEl>
                                          </p:spTgt>
                                        </p:tgtEl>
                                        <p:attrNameLst>
                                          <p:attrName>style.visibility</p:attrName>
                                        </p:attrNameLst>
                                      </p:cBhvr>
                                      <p:to>
                                        <p:strVal val="visible"/>
                                      </p:to>
                                    </p:set>
                                    <p:animEffect transition="in" filter="wipe(left)">
                                      <p:cBhvr>
                                        <p:cTn id="12" dur="500"/>
                                        <p:tgtEl>
                                          <p:spTgt spid="225314297">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225314297">
                                            <p:txEl>
                                              <p:pRg st="2" end="2"/>
                                            </p:txEl>
                                          </p:spTgt>
                                        </p:tgtEl>
                                        <p:attrNameLst>
                                          <p:attrName>style.visibility</p:attrName>
                                        </p:attrNameLst>
                                      </p:cBhvr>
                                      <p:to>
                                        <p:strVal val="visible"/>
                                      </p:to>
                                    </p:set>
                                    <p:animEffect transition="in" filter="wipe(left)">
                                      <p:cBhvr>
                                        <p:cTn id="15" dur="500"/>
                                        <p:tgtEl>
                                          <p:spTgt spid="22531429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25314297">
                                            <p:txEl>
                                              <p:pRg st="3" end="3"/>
                                            </p:txEl>
                                          </p:spTgt>
                                        </p:tgtEl>
                                        <p:attrNameLst>
                                          <p:attrName>style.visibility</p:attrName>
                                        </p:attrNameLst>
                                      </p:cBhvr>
                                      <p:to>
                                        <p:strVal val="visible"/>
                                      </p:to>
                                    </p:set>
                                    <p:animEffect transition="in" filter="wipe(left)">
                                      <p:cBhvr>
                                        <p:cTn id="20" dur="500"/>
                                        <p:tgtEl>
                                          <p:spTgt spid="225314297">
                                            <p:txEl>
                                              <p:pRg st="3" end="3"/>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225314297">
                                            <p:txEl>
                                              <p:pRg st="4" end="4"/>
                                            </p:txEl>
                                          </p:spTgt>
                                        </p:tgtEl>
                                        <p:attrNameLst>
                                          <p:attrName>style.visibility</p:attrName>
                                        </p:attrNameLst>
                                      </p:cBhvr>
                                      <p:to>
                                        <p:strVal val="visible"/>
                                      </p:to>
                                    </p:set>
                                    <p:animEffect transition="in" filter="wipe(left)">
                                      <p:cBhvr>
                                        <p:cTn id="23" dur="500"/>
                                        <p:tgtEl>
                                          <p:spTgt spid="225314297">
                                            <p:txEl>
                                              <p:pRg st="4" end="4"/>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225314297">
                                            <p:txEl>
                                              <p:pRg st="5" end="5"/>
                                            </p:txEl>
                                          </p:spTgt>
                                        </p:tgtEl>
                                        <p:attrNameLst>
                                          <p:attrName>style.visibility</p:attrName>
                                        </p:attrNameLst>
                                      </p:cBhvr>
                                      <p:to>
                                        <p:strVal val="visible"/>
                                      </p:to>
                                    </p:set>
                                    <p:animEffect transition="in" filter="wipe(left)">
                                      <p:cBhvr>
                                        <p:cTn id="26" dur="500"/>
                                        <p:tgtEl>
                                          <p:spTgt spid="225314297">
                                            <p:txEl>
                                              <p:pRg st="5" end="5"/>
                                            </p:txEl>
                                          </p:spTgt>
                                        </p:tgtEl>
                                      </p:cBhvr>
                                    </p:animEffect>
                                  </p:childTnLst>
                                </p:cTn>
                              </p:par>
                              <p:par>
                                <p:cTn id="27" presetID="22" presetClass="entr" presetSubtype="8" fill="hold" nodeType="withEffect">
                                  <p:stCondLst>
                                    <p:cond delay="0"/>
                                  </p:stCondLst>
                                  <p:childTnLst>
                                    <p:set>
                                      <p:cBhvr>
                                        <p:cTn id="28" dur="1" fill="hold">
                                          <p:stCondLst>
                                            <p:cond delay="0"/>
                                          </p:stCondLst>
                                        </p:cTn>
                                        <p:tgtEl>
                                          <p:spTgt spid="225314297">
                                            <p:txEl>
                                              <p:pRg st="6" end="6"/>
                                            </p:txEl>
                                          </p:spTgt>
                                        </p:tgtEl>
                                        <p:attrNameLst>
                                          <p:attrName>style.visibility</p:attrName>
                                        </p:attrNameLst>
                                      </p:cBhvr>
                                      <p:to>
                                        <p:strVal val="visible"/>
                                      </p:to>
                                    </p:set>
                                    <p:animEffect transition="in" filter="wipe(left)">
                                      <p:cBhvr>
                                        <p:cTn id="29" dur="500"/>
                                        <p:tgtEl>
                                          <p:spTgt spid="225314297">
                                            <p:txEl>
                                              <p:pRg st="6" end="6"/>
                                            </p:txEl>
                                          </p:spTgt>
                                        </p:tgtEl>
                                      </p:cBhvr>
                                    </p:animEffect>
                                  </p:childTnLst>
                                </p:cTn>
                              </p:par>
                              <p:par>
                                <p:cTn id="30" presetID="22" presetClass="entr" presetSubtype="8" fill="hold" nodeType="withEffect">
                                  <p:stCondLst>
                                    <p:cond delay="0"/>
                                  </p:stCondLst>
                                  <p:childTnLst>
                                    <p:set>
                                      <p:cBhvr>
                                        <p:cTn id="31" dur="1" fill="hold">
                                          <p:stCondLst>
                                            <p:cond delay="0"/>
                                          </p:stCondLst>
                                        </p:cTn>
                                        <p:tgtEl>
                                          <p:spTgt spid="225314297">
                                            <p:txEl>
                                              <p:pRg st="7" end="7"/>
                                            </p:txEl>
                                          </p:spTgt>
                                        </p:tgtEl>
                                        <p:attrNameLst>
                                          <p:attrName>style.visibility</p:attrName>
                                        </p:attrNameLst>
                                      </p:cBhvr>
                                      <p:to>
                                        <p:strVal val="visible"/>
                                      </p:to>
                                    </p:set>
                                    <p:animEffect transition="in" filter="wipe(left)">
                                      <p:cBhvr>
                                        <p:cTn id="32" dur="500"/>
                                        <p:tgtEl>
                                          <p:spTgt spid="225314297">
                                            <p:txEl>
                                              <p:pRg st="7" end="7"/>
                                            </p:txEl>
                                          </p:spTgt>
                                        </p:tgtEl>
                                      </p:cBhvr>
                                    </p:animEffect>
                                  </p:childTnLst>
                                </p:cTn>
                              </p:par>
                              <p:par>
                                <p:cTn id="33" presetID="22" presetClass="entr" presetSubtype="8" fill="hold" nodeType="withEffect">
                                  <p:stCondLst>
                                    <p:cond delay="0"/>
                                  </p:stCondLst>
                                  <p:childTnLst>
                                    <p:set>
                                      <p:cBhvr>
                                        <p:cTn id="34" dur="1" fill="hold">
                                          <p:stCondLst>
                                            <p:cond delay="0"/>
                                          </p:stCondLst>
                                        </p:cTn>
                                        <p:tgtEl>
                                          <p:spTgt spid="225314297">
                                            <p:txEl>
                                              <p:pRg st="8" end="8"/>
                                            </p:txEl>
                                          </p:spTgt>
                                        </p:tgtEl>
                                        <p:attrNameLst>
                                          <p:attrName>style.visibility</p:attrName>
                                        </p:attrNameLst>
                                      </p:cBhvr>
                                      <p:to>
                                        <p:strVal val="visible"/>
                                      </p:to>
                                    </p:set>
                                    <p:animEffect transition="in" filter="wipe(left)">
                                      <p:cBhvr>
                                        <p:cTn id="35" dur="500"/>
                                        <p:tgtEl>
                                          <p:spTgt spid="225314297">
                                            <p:txEl>
                                              <p:pRg st="8" end="8"/>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2" fill="hold" grpId="0" nodeType="clickEffect">
                                  <p:stCondLst>
                                    <p:cond delay="0"/>
                                  </p:stCondLst>
                                  <p:childTnLst>
                                    <p:set>
                                      <p:cBhvr>
                                        <p:cTn id="39" dur="1" fill="hold">
                                          <p:stCondLst>
                                            <p:cond delay="0"/>
                                          </p:stCondLst>
                                        </p:cTn>
                                        <p:tgtEl>
                                          <p:spTgt spid="1134042608"/>
                                        </p:tgtEl>
                                        <p:attrNameLst>
                                          <p:attrName>style.visibility</p:attrName>
                                        </p:attrNameLst>
                                      </p:cBhvr>
                                      <p:to>
                                        <p:strVal val="visible"/>
                                      </p:to>
                                    </p:set>
                                    <p:animEffect transition="in" filter="wipe(right)">
                                      <p:cBhvr>
                                        <p:cTn id="40" dur="500"/>
                                        <p:tgtEl>
                                          <p:spTgt spid="1134042608"/>
                                        </p:tgtEl>
                                      </p:cBhvr>
                                    </p:animEffect>
                                  </p:childTnLst>
                                </p:cTn>
                              </p:par>
                              <p:par>
                                <p:cTn id="41" presetID="22" presetClass="entr" presetSubtype="2" fill="hold" grpId="0" nodeType="withEffect">
                                  <p:stCondLst>
                                    <p:cond delay="0"/>
                                  </p:stCondLst>
                                  <p:childTnLst>
                                    <p:set>
                                      <p:cBhvr>
                                        <p:cTn id="42" dur="1" fill="hold">
                                          <p:stCondLst>
                                            <p:cond delay="0"/>
                                          </p:stCondLst>
                                        </p:cTn>
                                        <p:tgtEl>
                                          <p:spTgt spid="2011304364"/>
                                        </p:tgtEl>
                                        <p:attrNameLst>
                                          <p:attrName>style.visibility</p:attrName>
                                        </p:attrNameLst>
                                      </p:cBhvr>
                                      <p:to>
                                        <p:strVal val="visible"/>
                                      </p:to>
                                    </p:set>
                                    <p:animEffect transition="in" filter="wipe(right)">
                                      <p:cBhvr>
                                        <p:cTn id="43" dur="500"/>
                                        <p:tgtEl>
                                          <p:spTgt spid="2011304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1304364" grpId="0"/>
      <p:bldP spid="1134042608" grpId="0" animBg="1"/>
    </p:bldLst>
  </p:timing>
</p:sld>
</file>

<file path=ppt/slides/slide9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69268617" name="Google Shape;1427;p85"/>
          <p:cNvSpPr txBox="1">
            <a:spLocks noGrp="1"/>
          </p:cNvSpPr>
          <p:nvPr>
            <p:ph type="title"/>
          </p:nvPr>
        </p:nvSpPr>
        <p:spPr bwMode="auto">
          <a:xfrm>
            <a:off x="152400" y="-94531"/>
            <a:ext cx="10515600" cy="85407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800"/>
              <a:buFont typeface="Calibri"/>
              <a:buNone/>
              <a:defRPr/>
            </a:pPr>
            <a:r>
              <a:rPr lang="en-US" sz="2800"/>
              <a:t>The Tuckman’s </a:t>
            </a:r>
            <a:r>
              <a:rPr lang="en-US" sz="2800" b="1"/>
              <a:t>5 stages of Team Development</a:t>
            </a:r>
            <a:endParaRPr sz="2800" b="1"/>
          </a:p>
        </p:txBody>
      </p:sp>
      <p:sp>
        <p:nvSpPr>
          <p:cNvPr id="568437306" name="Google Shape;1428;p8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91</a:t>
            </a:fld>
            <a:endParaRPr/>
          </a:p>
        </p:txBody>
      </p:sp>
      <p:sp>
        <p:nvSpPr>
          <p:cNvPr id="270406026" name="Google Shape;1429;p85"/>
          <p:cNvSpPr txBox="1"/>
          <p:nvPr/>
        </p:nvSpPr>
        <p:spPr bwMode="auto">
          <a:xfrm>
            <a:off x="5002162" y="176999"/>
            <a:ext cx="7037438" cy="353943"/>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1.4.1 e. Project HR Management</a:t>
            </a:r>
            <a:endParaRPr sz="1700">
              <a:solidFill>
                <a:schemeClr val="dk1"/>
              </a:solidFill>
              <a:latin typeface="Arimo"/>
              <a:ea typeface="Arimo"/>
              <a:cs typeface="Arimo"/>
            </a:endParaRPr>
          </a:p>
        </p:txBody>
      </p:sp>
      <p:sp>
        <p:nvSpPr>
          <p:cNvPr id="1805647444" name="Google Shape;1431;p85"/>
          <p:cNvSpPr/>
          <p:nvPr/>
        </p:nvSpPr>
        <p:spPr bwMode="auto">
          <a:xfrm rot="5400000">
            <a:off x="6342824" y="-3859974"/>
            <a:ext cx="1110132" cy="10015746"/>
          </a:xfrm>
          <a:prstGeom prst="round2SameRect">
            <a:avLst>
              <a:gd name="adj1" fmla="val 16667"/>
              <a:gd name="adj2" fmla="val 0"/>
            </a:avLst>
          </a:prstGeom>
          <a:solidFill>
            <a:srgbClr val="F7D5CB">
              <a:alpha val="89803"/>
            </a:srgbClr>
          </a:solidFill>
          <a:ln w="12700" cap="flat" cmpd="sng">
            <a:solidFill>
              <a:srgbClr val="F7D5CB">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24477096" name="Google Shape;1432;p85"/>
          <p:cNvSpPr txBox="1"/>
          <p:nvPr/>
        </p:nvSpPr>
        <p:spPr bwMode="auto">
          <a:xfrm>
            <a:off x="1923491" y="658708"/>
            <a:ext cx="10268507" cy="1001748"/>
          </a:xfrm>
          <a:prstGeom prst="rect">
            <a:avLst/>
          </a:prstGeom>
          <a:noFill/>
          <a:ln>
            <a:noFill/>
          </a:ln>
        </p:spPr>
        <p:txBody>
          <a:bodyPr spcFirstLastPara="1" wrap="square" lIns="247650" tIns="123825" rIns="247650" bIns="123825" anchor="ctr" anchorCtr="0">
            <a:noAutofit/>
          </a:bodyPr>
          <a:lstStyle/>
          <a:p>
            <a:pPr marL="176213" marR="0" lvl="1" indent="-176213" algn="l" rtl="0">
              <a:lnSpc>
                <a:spcPct val="90000"/>
              </a:lnSpc>
              <a:spcBef>
                <a:spcPts val="0"/>
              </a:spcBef>
              <a:spcAft>
                <a:spcPts val="0"/>
              </a:spcAft>
              <a:buClr>
                <a:schemeClr val="dk1"/>
              </a:buClr>
              <a:buSzPts val="1700"/>
              <a:buFont typeface="Calibri"/>
              <a:buChar char="•"/>
              <a:defRPr/>
            </a:pPr>
            <a:r>
              <a:rPr lang="en-US" sz="1800" b="0" i="0" u="none" strike="noStrike" cap="none">
                <a:solidFill>
                  <a:schemeClr val="dk1"/>
                </a:solidFill>
                <a:latin typeface="Calibri"/>
                <a:ea typeface="Calibri"/>
                <a:cs typeface="Calibri"/>
              </a:rPr>
              <a:t>Project team is </a:t>
            </a:r>
            <a:r>
              <a:rPr lang="en-US" sz="1800" i="0" u="none" strike="noStrike" cap="none">
                <a:solidFill>
                  <a:schemeClr val="dk1"/>
                </a:solidFill>
                <a:latin typeface="Calibri"/>
                <a:ea typeface="Calibri"/>
                <a:cs typeface="Calibri"/>
              </a:rPr>
              <a:t>form</a:t>
            </a:r>
            <a:r>
              <a:rPr lang="en-US" sz="1800" b="0" i="0" u="none" strike="noStrike" cap="none">
                <a:solidFill>
                  <a:schemeClr val="dk1"/>
                </a:solidFill>
                <a:latin typeface="Calibri"/>
                <a:ea typeface="Calibri"/>
                <a:cs typeface="Calibri"/>
              </a:rPr>
              <a:t> and </a:t>
            </a:r>
            <a:r>
              <a:rPr lang="en-US" sz="1800" b="1" i="0" u="none" strike="noStrike" cap="none">
                <a:solidFill>
                  <a:schemeClr val="dk1"/>
                </a:solidFill>
                <a:latin typeface="Calibri"/>
                <a:ea typeface="Calibri"/>
                <a:cs typeface="Calibri"/>
              </a:rPr>
              <a:t>members are introduced to each other</a:t>
            </a:r>
            <a:endParaRPr/>
          </a:p>
          <a:p>
            <a:pPr marR="0" lvl="1" algn="l" rtl="0">
              <a:lnSpc>
                <a:spcPct val="90000"/>
              </a:lnSpc>
              <a:spcBef>
                <a:spcPts val="0"/>
              </a:spcBef>
              <a:spcAft>
                <a:spcPts val="0"/>
              </a:spcAft>
              <a:buClr>
                <a:schemeClr val="dk1"/>
              </a:buClr>
              <a:buSzPts val="1700"/>
              <a:defRPr/>
            </a:pPr>
            <a:r>
              <a:rPr lang="en-US" sz="1800" i="1">
                <a:solidFill>
                  <a:schemeClr val="dk1"/>
                </a:solidFill>
                <a:latin typeface="Calibri"/>
                <a:ea typeface="Calibri"/>
                <a:cs typeface="Calibri"/>
              </a:rPr>
              <a:t>    (e.g. a team consisting of developers, testers and a UI designer is formed for a new mobile app project)</a:t>
            </a:r>
            <a:endParaRPr lang="en-US" sz="1800" b="0" i="1" u="none" strike="noStrike" cap="none">
              <a:solidFill>
                <a:schemeClr val="dk1"/>
              </a:solidFill>
              <a:latin typeface="Calibri"/>
              <a:ea typeface="Calibri"/>
              <a:cs typeface="Calibri"/>
            </a:endParaRPr>
          </a:p>
          <a:p>
            <a:pPr marL="176213" marR="0" lvl="1" indent="-176213" algn="l" rtl="0">
              <a:lnSpc>
                <a:spcPct val="90000"/>
              </a:lnSpc>
              <a:spcBef>
                <a:spcPts val="0"/>
              </a:spcBef>
              <a:spcAft>
                <a:spcPts val="0"/>
              </a:spcAft>
              <a:buClr>
                <a:schemeClr val="dk1"/>
              </a:buClr>
              <a:buSzPts val="1700"/>
              <a:buFont typeface="Calibri"/>
              <a:buChar char="•"/>
              <a:defRPr/>
            </a:pPr>
            <a:r>
              <a:rPr lang="en-US" sz="1800">
                <a:solidFill>
                  <a:schemeClr val="dk1"/>
                </a:solidFill>
                <a:latin typeface="Calibri"/>
                <a:cs typeface="Calibri"/>
              </a:rPr>
              <a:t>This stage is necessary but </a:t>
            </a:r>
            <a:r>
              <a:rPr lang="en-US" sz="1800" b="1">
                <a:solidFill>
                  <a:schemeClr val="dk1"/>
                </a:solidFill>
                <a:latin typeface="Calibri"/>
                <a:cs typeface="Calibri"/>
              </a:rPr>
              <a:t>little work is achieved</a:t>
            </a:r>
            <a:endParaRPr sz="1800" b="1"/>
          </a:p>
        </p:txBody>
      </p:sp>
      <p:sp>
        <p:nvSpPr>
          <p:cNvPr id="269332340" name="Google Shape;1433;p85"/>
          <p:cNvSpPr/>
          <p:nvPr/>
        </p:nvSpPr>
        <p:spPr bwMode="auto">
          <a:xfrm>
            <a:off x="172608" y="594077"/>
            <a:ext cx="1717408" cy="1107642"/>
          </a:xfrm>
          <a:prstGeom prst="roundRect">
            <a:avLst>
              <a:gd name="adj" fmla="val 16667"/>
            </a:avLst>
          </a:prstGeom>
          <a:solidFill>
            <a:schemeClr val="accent2"/>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60696745" name="Google Shape;1434;p85"/>
          <p:cNvSpPr txBox="1"/>
          <p:nvPr/>
        </p:nvSpPr>
        <p:spPr bwMode="auto">
          <a:xfrm>
            <a:off x="226678" y="648148"/>
            <a:ext cx="1609266" cy="9995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defRPr/>
            </a:pPr>
            <a:r>
              <a:rPr lang="en-US" sz="2400">
                <a:solidFill>
                  <a:schemeClr val="lt1"/>
                </a:solidFill>
                <a:latin typeface="Calibri"/>
                <a:ea typeface="Calibri"/>
                <a:cs typeface="Calibri"/>
              </a:rPr>
              <a:t>Forming </a:t>
            </a:r>
            <a:endParaRPr sz="2400">
              <a:solidFill>
                <a:schemeClr val="lt1"/>
              </a:solidFill>
              <a:latin typeface="Calibri"/>
              <a:ea typeface="Calibri"/>
              <a:cs typeface="Calibri"/>
            </a:endParaRPr>
          </a:p>
        </p:txBody>
      </p:sp>
      <p:sp>
        <p:nvSpPr>
          <p:cNvPr id="1961408445" name="Google Shape;1435;p85"/>
          <p:cNvSpPr/>
          <p:nvPr/>
        </p:nvSpPr>
        <p:spPr bwMode="auto">
          <a:xfrm rot="5400000">
            <a:off x="6497320" y="-2650644"/>
            <a:ext cx="886113" cy="9925623"/>
          </a:xfrm>
          <a:prstGeom prst="round2SameRect">
            <a:avLst>
              <a:gd name="adj1" fmla="val 16667"/>
              <a:gd name="adj2" fmla="val 0"/>
            </a:avLst>
          </a:prstGeom>
          <a:solidFill>
            <a:srgbClr val="E0E0E0">
              <a:alpha val="89803"/>
            </a:srgbClr>
          </a:solidFill>
          <a:ln w="12700" cap="flat" cmpd="sng">
            <a:solidFill>
              <a:srgbClr val="E0E0E0">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47420497" name="Google Shape;1436;p85"/>
          <p:cNvSpPr txBox="1"/>
          <p:nvPr/>
        </p:nvSpPr>
        <p:spPr bwMode="auto">
          <a:xfrm>
            <a:off x="1913434" y="2083366"/>
            <a:ext cx="10562701" cy="799601"/>
          </a:xfrm>
          <a:prstGeom prst="rect">
            <a:avLst/>
          </a:prstGeom>
          <a:noFill/>
          <a:ln>
            <a:noFill/>
          </a:ln>
        </p:spPr>
        <p:txBody>
          <a:bodyPr spcFirstLastPara="1" wrap="square" lIns="247650" tIns="123825" rIns="247650" bIns="123825" anchor="ctr" anchorCtr="0">
            <a:noAutofit/>
          </a:bodyPr>
          <a:lstStyle/>
          <a:p>
            <a:pPr marL="171450" lvl="1" indent="-171450">
              <a:lnSpc>
                <a:spcPct val="90000"/>
              </a:lnSpc>
              <a:spcBef>
                <a:spcPts val="240"/>
              </a:spcBef>
              <a:buClr>
                <a:schemeClr val="dk1"/>
              </a:buClr>
              <a:buSzPts val="1600"/>
              <a:buFont typeface="Calibri"/>
              <a:buChar char="•"/>
              <a:defRPr/>
            </a:pPr>
            <a:r>
              <a:rPr lang="en-US" sz="1800" b="0" i="0">
                <a:solidFill>
                  <a:srgbClr val="111111"/>
                </a:solidFill>
                <a:highlight>
                  <a:srgbClr val="F7F7F7"/>
                </a:highlight>
                <a:latin typeface="-apple-system"/>
              </a:rPr>
              <a:t> </a:t>
            </a:r>
            <a:r>
              <a:rPr lang="en-US" sz="1800" b="1" i="0">
                <a:solidFill>
                  <a:srgbClr val="111111"/>
                </a:solidFill>
                <a:highlight>
                  <a:srgbClr val="F7F7F7"/>
                </a:highlight>
                <a:latin typeface="-apple-system"/>
              </a:rPr>
              <a:t>Conflict</a:t>
            </a:r>
            <a:r>
              <a:rPr lang="en-US" sz="1800" b="0" i="0">
                <a:solidFill>
                  <a:srgbClr val="111111"/>
                </a:solidFill>
                <a:highlight>
                  <a:srgbClr val="F7F7F7"/>
                </a:highlight>
                <a:latin typeface="-apple-system"/>
              </a:rPr>
              <a:t> </a:t>
            </a:r>
            <a:r>
              <a:rPr lang="en-US" sz="1800" b="1" i="0">
                <a:solidFill>
                  <a:srgbClr val="111111"/>
                </a:solidFill>
                <a:highlight>
                  <a:srgbClr val="F7F7F7"/>
                </a:highlight>
                <a:latin typeface="-apple-system"/>
              </a:rPr>
              <a:t>emerges</a:t>
            </a:r>
            <a:r>
              <a:rPr lang="en-US" sz="1800" b="0" i="0">
                <a:solidFill>
                  <a:srgbClr val="111111"/>
                </a:solidFill>
                <a:highlight>
                  <a:srgbClr val="F7F7F7"/>
                </a:highlight>
                <a:latin typeface="-apple-system"/>
              </a:rPr>
              <a:t> as team members have differing opinions, challenge ideas, and compete for influence. </a:t>
            </a:r>
            <a:endParaRPr lang="en-US" sz="1800" b="0" i="0" u="none" strike="noStrike" cap="none">
              <a:solidFill>
                <a:schemeClr val="dk1"/>
              </a:solidFill>
              <a:latin typeface="Calibri"/>
              <a:ea typeface="Calibri"/>
              <a:cs typeface="Calibri"/>
            </a:endParaRPr>
          </a:p>
          <a:p>
            <a:pPr marL="261938" lvl="1" indent="-261938">
              <a:lnSpc>
                <a:spcPct val="90000"/>
              </a:lnSpc>
              <a:spcBef>
                <a:spcPts val="240"/>
              </a:spcBef>
              <a:buClr>
                <a:schemeClr val="dk1"/>
              </a:buClr>
              <a:buSzPts val="1600"/>
              <a:buFont typeface="Arial"/>
              <a:buChar char="•"/>
              <a:defRPr/>
            </a:pPr>
            <a:r>
              <a:rPr lang="en-US" sz="1800" b="0" i="0">
                <a:solidFill>
                  <a:srgbClr val="111111"/>
                </a:solidFill>
                <a:highlight>
                  <a:srgbClr val="F7F7F7"/>
                </a:highlight>
                <a:latin typeface="-apple-system"/>
              </a:rPr>
              <a:t>This is a </a:t>
            </a:r>
            <a:r>
              <a:rPr lang="en-US" sz="1800" i="0">
                <a:solidFill>
                  <a:srgbClr val="111111"/>
                </a:solidFill>
                <a:highlight>
                  <a:srgbClr val="F7F7F7"/>
                </a:highlight>
                <a:latin typeface="-apple-system"/>
              </a:rPr>
              <a:t>turbulent</a:t>
            </a:r>
            <a:r>
              <a:rPr lang="en-US" sz="1800" b="0" i="0">
                <a:solidFill>
                  <a:srgbClr val="111111"/>
                </a:solidFill>
                <a:highlight>
                  <a:srgbClr val="F7F7F7"/>
                </a:highlight>
                <a:latin typeface="-apple-system"/>
              </a:rPr>
              <a:t> stage where </a:t>
            </a:r>
            <a:r>
              <a:rPr lang="en-US" sz="1800" b="1" i="0">
                <a:solidFill>
                  <a:srgbClr val="111111"/>
                </a:solidFill>
                <a:highlight>
                  <a:srgbClr val="F7F7F7"/>
                </a:highlight>
                <a:latin typeface="-apple-system"/>
              </a:rPr>
              <a:t>disagreements</a:t>
            </a:r>
            <a:r>
              <a:rPr lang="en-US" sz="1800" b="0" i="0">
                <a:solidFill>
                  <a:srgbClr val="111111"/>
                </a:solidFill>
                <a:highlight>
                  <a:srgbClr val="F7F7F7"/>
                </a:highlight>
                <a:latin typeface="-apple-system"/>
              </a:rPr>
              <a:t> occur</a:t>
            </a:r>
            <a:endParaRPr lang="en-US" sz="1800" b="0" i="0" u="none" strike="noStrike" cap="none">
              <a:solidFill>
                <a:schemeClr val="dk1"/>
              </a:solidFill>
              <a:latin typeface="Calibri"/>
              <a:ea typeface="Calibri"/>
              <a:cs typeface="Calibri"/>
            </a:endParaRPr>
          </a:p>
          <a:p>
            <a:pPr marL="171450" lvl="1" indent="-171450">
              <a:lnSpc>
                <a:spcPct val="90000"/>
              </a:lnSpc>
              <a:spcBef>
                <a:spcPts val="240"/>
              </a:spcBef>
              <a:buClr>
                <a:schemeClr val="dk1"/>
              </a:buClr>
              <a:buSzPts val="1600"/>
              <a:buFont typeface="Calibri"/>
              <a:buChar char="•"/>
              <a:defRPr/>
            </a:pPr>
            <a:r>
              <a:rPr lang="en-US" sz="1800">
                <a:solidFill>
                  <a:srgbClr val="111111"/>
                </a:solidFill>
                <a:highlight>
                  <a:srgbClr val="F7F7F7"/>
                </a:highlight>
                <a:latin typeface="-apple-system"/>
              </a:rPr>
              <a:t> (e.g. Developers start writing code, but disagreements arise over coding standards (indentation, naming   conventions, percentage of comment lines, etc.)</a:t>
            </a:r>
            <a:endParaRPr lang="en-US" sz="1800" b="0" i="0" u="none" strike="noStrike" cap="none">
              <a:solidFill>
                <a:schemeClr val="dk1"/>
              </a:solidFill>
              <a:latin typeface="Calibri"/>
              <a:ea typeface="Calibri"/>
              <a:cs typeface="Calibri"/>
            </a:endParaRPr>
          </a:p>
        </p:txBody>
      </p:sp>
      <p:sp>
        <p:nvSpPr>
          <p:cNvPr id="56402557" name="Google Shape;1437;p85"/>
          <p:cNvSpPr/>
          <p:nvPr/>
        </p:nvSpPr>
        <p:spPr bwMode="auto">
          <a:xfrm>
            <a:off x="172608" y="1758346"/>
            <a:ext cx="1804956" cy="1107642"/>
          </a:xfrm>
          <a:prstGeom prst="roundRect">
            <a:avLst>
              <a:gd name="adj" fmla="val 16667"/>
            </a:avLst>
          </a:prstGeom>
          <a:solidFill>
            <a:schemeClr val="accent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59577320" name="Google Shape;1438;p85"/>
          <p:cNvSpPr txBox="1"/>
          <p:nvPr/>
        </p:nvSpPr>
        <p:spPr bwMode="auto">
          <a:xfrm>
            <a:off x="226678" y="1812417"/>
            <a:ext cx="1696814" cy="9995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defRPr/>
            </a:pPr>
            <a:r>
              <a:rPr lang="en-US" sz="2400">
                <a:solidFill>
                  <a:schemeClr val="lt1"/>
                </a:solidFill>
                <a:latin typeface="Calibri"/>
                <a:ea typeface="Calibri"/>
                <a:cs typeface="Calibri"/>
              </a:rPr>
              <a:t>Storming</a:t>
            </a:r>
            <a:endParaRPr sz="2400">
              <a:solidFill>
                <a:schemeClr val="lt1"/>
              </a:solidFill>
              <a:latin typeface="Calibri"/>
              <a:ea typeface="Calibri"/>
              <a:cs typeface="Calibri"/>
            </a:endParaRPr>
          </a:p>
        </p:txBody>
      </p:sp>
      <p:sp>
        <p:nvSpPr>
          <p:cNvPr id="679253028" name="Google Shape;1439;p85"/>
          <p:cNvSpPr/>
          <p:nvPr/>
        </p:nvSpPr>
        <p:spPr bwMode="auto">
          <a:xfrm rot="5400000">
            <a:off x="6496545" y="-1478658"/>
            <a:ext cx="832087" cy="9907701"/>
          </a:xfrm>
          <a:prstGeom prst="round2SameRect">
            <a:avLst>
              <a:gd name="adj1" fmla="val 16667"/>
              <a:gd name="adj2" fmla="val 0"/>
            </a:avLst>
          </a:prstGeom>
          <a:solidFill>
            <a:srgbClr val="FFE8CA">
              <a:alpha val="89803"/>
            </a:srgbClr>
          </a:solidFill>
          <a:ln w="12700" cap="flat" cmpd="sng">
            <a:solidFill>
              <a:srgbClr val="FFE8CA">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966753367" name="Google Shape;1440;p85"/>
          <p:cNvSpPr txBox="1"/>
          <p:nvPr/>
        </p:nvSpPr>
        <p:spPr bwMode="auto">
          <a:xfrm>
            <a:off x="1958739" y="3099767"/>
            <a:ext cx="9867082" cy="750849"/>
          </a:xfrm>
          <a:prstGeom prst="rect">
            <a:avLst/>
          </a:prstGeom>
          <a:noFill/>
          <a:ln>
            <a:noFill/>
          </a:ln>
        </p:spPr>
        <p:txBody>
          <a:bodyPr spcFirstLastPara="1" wrap="square" lIns="247650" tIns="123825" rIns="247650" bIns="123825" anchor="ctr" anchorCtr="0">
            <a:noAutofit/>
          </a:bodyPr>
          <a:lstStyle/>
          <a:p>
            <a:pPr marL="171450" marR="0" lvl="1" indent="-171450" algn="l" rtl="0">
              <a:lnSpc>
                <a:spcPct val="90000"/>
              </a:lnSpc>
              <a:spcBef>
                <a:spcPts val="0"/>
              </a:spcBef>
              <a:spcAft>
                <a:spcPts val="0"/>
              </a:spcAft>
              <a:buClr>
                <a:schemeClr val="dk1"/>
              </a:buClr>
              <a:buSzPts val="1600"/>
              <a:buFont typeface="Calibri"/>
              <a:buChar char="•"/>
              <a:defRPr/>
            </a:pPr>
            <a:r>
              <a:rPr lang="en-US" sz="1800" b="0" i="0" u="none" strike="noStrike" cap="none">
                <a:solidFill>
                  <a:schemeClr val="dk1"/>
                </a:solidFill>
                <a:latin typeface="Calibri"/>
                <a:ea typeface="Calibri"/>
                <a:cs typeface="Calibri"/>
              </a:rPr>
              <a:t>This stage is achieved when </a:t>
            </a:r>
            <a:r>
              <a:rPr lang="en-US" sz="1800" b="1" i="0" u="none" strike="noStrike" cap="none">
                <a:solidFill>
                  <a:schemeClr val="dk1"/>
                </a:solidFill>
                <a:latin typeface="Calibri"/>
                <a:ea typeface="Calibri"/>
                <a:cs typeface="Calibri"/>
              </a:rPr>
              <a:t>conflicts are resolved </a:t>
            </a:r>
            <a:endParaRPr/>
          </a:p>
          <a:p>
            <a:pPr lvl="1">
              <a:lnSpc>
                <a:spcPct val="90000"/>
              </a:lnSpc>
              <a:buClr>
                <a:schemeClr val="dk1"/>
              </a:buClr>
              <a:buSzPts val="1600"/>
              <a:defRPr/>
            </a:pPr>
            <a:r>
              <a:rPr lang="en-US" sz="1800">
                <a:solidFill>
                  <a:schemeClr val="dk1"/>
                </a:solidFill>
                <a:latin typeface="Calibri"/>
                <a:ea typeface="Calibri"/>
                <a:cs typeface="Calibri"/>
              </a:rPr>
              <a:t>     </a:t>
            </a:r>
            <a:r>
              <a:rPr lang="en-US" sz="1800" b="0" i="0" u="none" strike="noStrike" cap="none">
                <a:solidFill>
                  <a:schemeClr val="dk1"/>
                </a:solidFill>
                <a:latin typeface="Calibri"/>
                <a:ea typeface="Calibri"/>
                <a:cs typeface="Calibri"/>
              </a:rPr>
              <a:t>(</a:t>
            </a:r>
            <a:r>
              <a:rPr lang="en-US" sz="1800">
                <a:solidFill>
                  <a:srgbClr val="111111"/>
                </a:solidFill>
                <a:highlight>
                  <a:srgbClr val="F7F7F7"/>
                </a:highlight>
                <a:latin typeface="-apple-system"/>
              </a:rPr>
              <a:t>established </a:t>
            </a:r>
            <a:r>
              <a:rPr lang="en-US" sz="1800" u="none" strike="noStrike" cap="none">
                <a:solidFill>
                  <a:srgbClr val="111111"/>
                </a:solidFill>
                <a:highlight>
                  <a:srgbClr val="F7F7F7"/>
                </a:highlight>
                <a:latin typeface="-apple-system"/>
                <a:ea typeface="Calibri"/>
                <a:cs typeface="Calibri"/>
              </a:rPr>
              <a:t>a</a:t>
            </a:r>
            <a:r>
              <a:rPr lang="en-US" sz="1800" b="0" i="0">
                <a:solidFill>
                  <a:srgbClr val="111111"/>
                </a:solidFill>
                <a:highlight>
                  <a:srgbClr val="F7F7F7"/>
                </a:highlight>
                <a:latin typeface="-apple-system"/>
              </a:rPr>
              <a:t>cceptable rules and standards</a:t>
            </a:r>
            <a:r>
              <a:rPr lang="en-US" sz="1800" b="0" i="0" u="none" strike="noStrike" cap="none">
                <a:solidFill>
                  <a:schemeClr val="dk1"/>
                </a:solidFill>
                <a:latin typeface="Calibri"/>
                <a:ea typeface="Calibri"/>
                <a:cs typeface="Calibri"/>
              </a:rPr>
              <a:t>)</a:t>
            </a:r>
            <a:endParaRPr/>
          </a:p>
          <a:p>
            <a:pPr marL="171450" marR="0" lvl="1" indent="-171450" algn="l" rtl="0">
              <a:lnSpc>
                <a:spcPct val="90000"/>
              </a:lnSpc>
              <a:spcBef>
                <a:spcPts val="0"/>
              </a:spcBef>
              <a:spcAft>
                <a:spcPts val="0"/>
              </a:spcAft>
              <a:buClr>
                <a:schemeClr val="dk1"/>
              </a:buClr>
              <a:buSzPts val="1600"/>
              <a:buFont typeface="Calibri"/>
              <a:buChar char="•"/>
              <a:defRPr/>
            </a:pPr>
            <a:r>
              <a:rPr lang="en-US" sz="1800" b="1" i="0">
                <a:solidFill>
                  <a:srgbClr val="111111"/>
                </a:solidFill>
                <a:highlight>
                  <a:srgbClr val="F7F7F7"/>
                </a:highlight>
                <a:latin typeface="-apple-system"/>
              </a:rPr>
              <a:t>Team members begins to collaborate effectively</a:t>
            </a:r>
            <a:endParaRPr/>
          </a:p>
        </p:txBody>
      </p:sp>
      <p:sp>
        <p:nvSpPr>
          <p:cNvPr id="584323150" name="Google Shape;1441;p85"/>
          <p:cNvSpPr/>
          <p:nvPr/>
        </p:nvSpPr>
        <p:spPr bwMode="auto">
          <a:xfrm>
            <a:off x="172608" y="2921370"/>
            <a:ext cx="1786130" cy="1107642"/>
          </a:xfrm>
          <a:prstGeom prst="roundRect">
            <a:avLst>
              <a:gd name="adj" fmla="val 16667"/>
            </a:avLst>
          </a:prstGeom>
          <a:solidFill>
            <a:schemeClr val="accent4"/>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17706092" name="Google Shape;1442;p85"/>
          <p:cNvSpPr txBox="1"/>
          <p:nvPr/>
        </p:nvSpPr>
        <p:spPr bwMode="auto">
          <a:xfrm>
            <a:off x="226678" y="2975441"/>
            <a:ext cx="1677988" cy="9995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defRPr/>
            </a:pPr>
            <a:r>
              <a:rPr lang="en-US" sz="2400">
                <a:solidFill>
                  <a:schemeClr val="lt1"/>
                </a:solidFill>
                <a:latin typeface="Calibri"/>
                <a:ea typeface="Calibri"/>
                <a:cs typeface="Calibri"/>
              </a:rPr>
              <a:t>Norming</a:t>
            </a:r>
            <a:endParaRPr sz="2400">
              <a:solidFill>
                <a:schemeClr val="lt1"/>
              </a:solidFill>
              <a:latin typeface="Calibri"/>
              <a:ea typeface="Calibri"/>
              <a:cs typeface="Calibri"/>
            </a:endParaRPr>
          </a:p>
        </p:txBody>
      </p:sp>
      <p:sp>
        <p:nvSpPr>
          <p:cNvPr id="1642563857" name="Google Shape;1443;p85"/>
          <p:cNvSpPr/>
          <p:nvPr/>
        </p:nvSpPr>
        <p:spPr bwMode="auto">
          <a:xfrm rot="5400000">
            <a:off x="6488927" y="-336120"/>
            <a:ext cx="886113" cy="9948673"/>
          </a:xfrm>
          <a:prstGeom prst="round2SameRect">
            <a:avLst>
              <a:gd name="adj1" fmla="val 16667"/>
              <a:gd name="adj2" fmla="val 0"/>
            </a:avLst>
          </a:prstGeom>
          <a:solidFill>
            <a:srgbClr val="CCD3EA">
              <a:alpha val="89803"/>
            </a:srgbClr>
          </a:solidFill>
          <a:ln w="12700" cap="flat" cmpd="sng">
            <a:solidFill>
              <a:srgbClr val="CCD3EA">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079023683" name="Google Shape;1444;p85"/>
          <p:cNvSpPr txBox="1"/>
          <p:nvPr/>
        </p:nvSpPr>
        <p:spPr bwMode="auto">
          <a:xfrm>
            <a:off x="1957647" y="4238416"/>
            <a:ext cx="9905417" cy="799601"/>
          </a:xfrm>
          <a:prstGeom prst="rect">
            <a:avLst/>
          </a:prstGeom>
          <a:noFill/>
          <a:ln>
            <a:noFill/>
          </a:ln>
        </p:spPr>
        <p:txBody>
          <a:bodyPr spcFirstLastPara="1" wrap="square" lIns="247650" tIns="123825" rIns="247650" bIns="123825" anchor="ctr" anchorCtr="0">
            <a:noAutofit/>
          </a:bodyPr>
          <a:lstStyle/>
          <a:p>
            <a:pPr marL="171450" marR="0" lvl="1" indent="-171450" algn="l" rtl="0">
              <a:lnSpc>
                <a:spcPct val="90000"/>
              </a:lnSpc>
              <a:spcBef>
                <a:spcPts val="240"/>
              </a:spcBef>
              <a:spcAft>
                <a:spcPts val="0"/>
              </a:spcAft>
              <a:buClr>
                <a:schemeClr val="dk1"/>
              </a:buClr>
              <a:buSzPts val="1600"/>
              <a:buFont typeface="Calibri"/>
              <a:buChar char="•"/>
              <a:defRPr/>
            </a:pPr>
            <a:r>
              <a:rPr lang="en-US" sz="1800" b="1" i="0" u="none" strike="noStrike" cap="none">
                <a:solidFill>
                  <a:schemeClr val="dk1"/>
                </a:solidFill>
                <a:latin typeface="Calibri"/>
                <a:ea typeface="Calibri"/>
                <a:cs typeface="Calibri"/>
              </a:rPr>
              <a:t>Project team is united. </a:t>
            </a:r>
            <a:r>
              <a:rPr lang="en-US" sz="1800" b="0" i="0" u="none" strike="noStrike" cap="none">
                <a:solidFill>
                  <a:schemeClr val="dk1"/>
                </a:solidFill>
                <a:latin typeface="Calibri"/>
                <a:ea typeface="Calibri"/>
                <a:cs typeface="Calibri"/>
              </a:rPr>
              <a:t>Problems are brought up, discussed and then </a:t>
            </a:r>
            <a:r>
              <a:rPr lang="en-US" sz="1800" i="0" u="none" strike="noStrike" cap="none">
                <a:solidFill>
                  <a:schemeClr val="dk1"/>
                </a:solidFill>
                <a:latin typeface="Calibri"/>
                <a:ea typeface="Calibri"/>
                <a:cs typeface="Calibri"/>
              </a:rPr>
              <a:t>solved</a:t>
            </a:r>
            <a:endParaRPr/>
          </a:p>
          <a:p>
            <a:pPr marL="171450" lvl="1" indent="-171450">
              <a:lnSpc>
                <a:spcPct val="90000"/>
              </a:lnSpc>
              <a:spcBef>
                <a:spcPts val="240"/>
              </a:spcBef>
              <a:buClr>
                <a:schemeClr val="dk1"/>
              </a:buClr>
              <a:buSzPts val="1600"/>
              <a:buFont typeface="Calibri"/>
              <a:buChar char="•"/>
              <a:defRPr/>
            </a:pPr>
            <a:r>
              <a:rPr lang="en-US" sz="1800" b="0" i="0" u="none" strike="noStrike" cap="none">
                <a:solidFill>
                  <a:schemeClr val="dk1"/>
                </a:solidFill>
                <a:latin typeface="Calibri"/>
                <a:ea typeface="Calibri"/>
                <a:cs typeface="Calibri"/>
              </a:rPr>
              <a:t>Level of </a:t>
            </a:r>
            <a:r>
              <a:rPr lang="en-US" sz="1800" b="1" i="0" u="none" strike="noStrike" cap="none">
                <a:solidFill>
                  <a:schemeClr val="dk1"/>
                </a:solidFill>
                <a:latin typeface="Calibri"/>
                <a:ea typeface="Calibri"/>
                <a:cs typeface="Calibri"/>
              </a:rPr>
              <a:t>work performance is high</a:t>
            </a:r>
            <a:r>
              <a:rPr lang="en-US" sz="1800" b="0" i="0" u="none" strike="noStrike" cap="none">
                <a:solidFill>
                  <a:schemeClr val="dk1"/>
                </a:solidFill>
                <a:latin typeface="Calibri"/>
                <a:ea typeface="Calibri"/>
                <a:cs typeface="Calibri"/>
              </a:rPr>
              <a:t>; Productivity at its optimum</a:t>
            </a:r>
            <a:endParaRPr/>
          </a:p>
        </p:txBody>
      </p:sp>
      <p:sp>
        <p:nvSpPr>
          <p:cNvPr id="1377302249" name="Google Shape;1445;p85"/>
          <p:cNvSpPr/>
          <p:nvPr/>
        </p:nvSpPr>
        <p:spPr bwMode="auto">
          <a:xfrm>
            <a:off x="172608" y="4084395"/>
            <a:ext cx="1785039" cy="1107642"/>
          </a:xfrm>
          <a:prstGeom prst="roundRect">
            <a:avLst>
              <a:gd name="adj" fmla="val 16667"/>
            </a:avLst>
          </a:prstGeom>
          <a:solidFill>
            <a:srgbClr val="4372C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567597546" name="Google Shape;1446;p85"/>
          <p:cNvSpPr txBox="1"/>
          <p:nvPr/>
        </p:nvSpPr>
        <p:spPr bwMode="auto">
          <a:xfrm>
            <a:off x="226678" y="4138466"/>
            <a:ext cx="1676897" cy="9995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defRPr/>
            </a:pPr>
            <a:r>
              <a:rPr lang="en-US" sz="2400">
                <a:solidFill>
                  <a:schemeClr val="lt1"/>
                </a:solidFill>
                <a:latin typeface="Calibri"/>
                <a:ea typeface="Calibri"/>
                <a:cs typeface="Calibri"/>
              </a:rPr>
              <a:t>Performing</a:t>
            </a:r>
            <a:endParaRPr sz="2400">
              <a:solidFill>
                <a:schemeClr val="lt1"/>
              </a:solidFill>
              <a:latin typeface="Calibri"/>
              <a:ea typeface="Calibri"/>
              <a:cs typeface="Calibri"/>
            </a:endParaRPr>
          </a:p>
        </p:txBody>
      </p:sp>
      <p:sp>
        <p:nvSpPr>
          <p:cNvPr id="1075911863" name="Google Shape;1447;p85"/>
          <p:cNvSpPr/>
          <p:nvPr/>
        </p:nvSpPr>
        <p:spPr bwMode="auto">
          <a:xfrm rot="5400000">
            <a:off x="6480178" y="826905"/>
            <a:ext cx="902303" cy="9948670"/>
          </a:xfrm>
          <a:prstGeom prst="round2SameRect">
            <a:avLst>
              <a:gd name="adj1" fmla="val 16667"/>
              <a:gd name="adj2" fmla="val 0"/>
            </a:avLst>
          </a:prstGeom>
          <a:solidFill>
            <a:srgbClr val="D4E2CE">
              <a:alpha val="89803"/>
            </a:srgbClr>
          </a:solidFill>
          <a:ln w="12700" cap="flat" cmpd="sng">
            <a:solidFill>
              <a:srgbClr val="D4E2CE">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973632661" name="Google Shape;1448;p85"/>
          <p:cNvSpPr txBox="1"/>
          <p:nvPr/>
        </p:nvSpPr>
        <p:spPr bwMode="auto">
          <a:xfrm>
            <a:off x="1956995" y="5394136"/>
            <a:ext cx="9904623" cy="814209"/>
          </a:xfrm>
          <a:prstGeom prst="rect">
            <a:avLst/>
          </a:prstGeom>
          <a:noFill/>
          <a:ln>
            <a:noFill/>
          </a:ln>
        </p:spPr>
        <p:txBody>
          <a:bodyPr spcFirstLastPara="1" wrap="square" lIns="247650" tIns="123825" rIns="247650" bIns="123825" anchor="ctr" anchorCtr="0">
            <a:noAutofit/>
          </a:bodyPr>
          <a:lstStyle/>
          <a:p>
            <a:pPr marL="171450" marR="0" lvl="1" indent="-171450" algn="l" rtl="0">
              <a:lnSpc>
                <a:spcPct val="90000"/>
              </a:lnSpc>
              <a:spcBef>
                <a:spcPts val="0"/>
              </a:spcBef>
              <a:spcAft>
                <a:spcPts val="0"/>
              </a:spcAft>
              <a:buClr>
                <a:schemeClr val="dk1"/>
              </a:buClr>
              <a:buSzPts val="1600"/>
              <a:buFont typeface="Calibri"/>
              <a:buChar char="•"/>
              <a:defRPr/>
            </a:pPr>
            <a:r>
              <a:rPr lang="en-US" sz="1800" b="1" i="0" u="none" strike="noStrike" cap="none">
                <a:solidFill>
                  <a:schemeClr val="dk1"/>
                </a:solidFill>
                <a:latin typeface="Calibri"/>
                <a:ea typeface="Calibri"/>
                <a:cs typeface="Calibri"/>
              </a:rPr>
              <a:t>Th</a:t>
            </a:r>
            <a:r>
              <a:rPr lang="en-US" sz="1800" b="1">
                <a:solidFill>
                  <a:schemeClr val="dk1"/>
                </a:solidFill>
                <a:latin typeface="Calibri"/>
                <a:ea typeface="Calibri"/>
                <a:cs typeface="Calibri"/>
              </a:rPr>
              <a:t>e team is dissolved</a:t>
            </a:r>
            <a:r>
              <a:rPr lang="en-US" sz="1800">
                <a:solidFill>
                  <a:schemeClr val="dk1"/>
                </a:solidFill>
                <a:latin typeface="Calibri"/>
                <a:ea typeface="Calibri"/>
                <a:cs typeface="Calibri"/>
              </a:rPr>
              <a:t> after all works have been successfully completed and reaches its goals. </a:t>
            </a:r>
            <a:endParaRPr sz="1800" b="0" i="0" u="none" strike="noStrike" cap="none">
              <a:solidFill>
                <a:schemeClr val="dk1"/>
              </a:solidFill>
              <a:latin typeface="Calibri"/>
              <a:ea typeface="Calibri"/>
              <a:cs typeface="Calibri"/>
            </a:endParaRPr>
          </a:p>
        </p:txBody>
      </p:sp>
      <p:sp>
        <p:nvSpPr>
          <p:cNvPr id="1866869050" name="Google Shape;1449;p85"/>
          <p:cNvSpPr/>
          <p:nvPr/>
        </p:nvSpPr>
        <p:spPr bwMode="auto">
          <a:xfrm>
            <a:off x="172608" y="5247419"/>
            <a:ext cx="1784386" cy="1107642"/>
          </a:xfrm>
          <a:prstGeom prst="roundRect">
            <a:avLst>
              <a:gd name="adj" fmla="val 16667"/>
            </a:avLst>
          </a:prstGeom>
          <a:solidFill>
            <a:schemeClr val="accent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61643475" name="Google Shape;1450;p85"/>
          <p:cNvSpPr txBox="1"/>
          <p:nvPr/>
        </p:nvSpPr>
        <p:spPr bwMode="auto">
          <a:xfrm>
            <a:off x="226678" y="5301490"/>
            <a:ext cx="1676244" cy="9995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defRPr/>
            </a:pPr>
            <a:r>
              <a:rPr lang="en-US" sz="2400">
                <a:solidFill>
                  <a:schemeClr val="lt1"/>
                </a:solidFill>
                <a:latin typeface="Calibri"/>
                <a:ea typeface="Calibri"/>
                <a:cs typeface="Calibri"/>
              </a:rPr>
              <a:t>Adjourning</a:t>
            </a:r>
            <a:endParaRPr sz="2400">
              <a:solidFill>
                <a:schemeClr val="lt1"/>
              </a:solidFill>
              <a:latin typeface="Calibri"/>
              <a:ea typeface="Calibri"/>
              <a:cs typeface="Calibri"/>
            </a:endParaRPr>
          </a:p>
        </p:txBody>
      </p:sp>
      <p:cxnSp>
        <p:nvCxnSpPr>
          <p:cNvPr id="1669425916" name="Straight Connector 2"/>
          <p:cNvCxnSpPr/>
          <p:nvPr/>
        </p:nvCxnSpPr>
        <p:spPr bwMode="auto">
          <a:xfrm>
            <a:off x="524656" y="1349115"/>
            <a:ext cx="99934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67497046" name="Straight Connector 3"/>
          <p:cNvCxnSpPr/>
          <p:nvPr/>
        </p:nvCxnSpPr>
        <p:spPr bwMode="auto">
          <a:xfrm>
            <a:off x="524656" y="2548327"/>
            <a:ext cx="99934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9136160" name="Straight Connector 4"/>
          <p:cNvCxnSpPr/>
          <p:nvPr/>
        </p:nvCxnSpPr>
        <p:spPr bwMode="auto">
          <a:xfrm>
            <a:off x="524656" y="3672590"/>
            <a:ext cx="99934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63575170" name="Straight Connector 5"/>
          <p:cNvCxnSpPr/>
          <p:nvPr/>
        </p:nvCxnSpPr>
        <p:spPr bwMode="auto">
          <a:xfrm>
            <a:off x="524656" y="4826833"/>
            <a:ext cx="99934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8595748" name="Straight Connector 6"/>
          <p:cNvCxnSpPr/>
          <p:nvPr/>
        </p:nvCxnSpPr>
        <p:spPr bwMode="auto">
          <a:xfrm>
            <a:off x="531640" y="6013436"/>
            <a:ext cx="999344"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355507435" name="TextBox 1"/>
          <p:cNvSpPr txBox="1"/>
          <p:nvPr/>
        </p:nvSpPr>
        <p:spPr bwMode="auto">
          <a:xfrm>
            <a:off x="2399581" y="404744"/>
            <a:ext cx="6211019" cy="338554"/>
          </a:xfrm>
          <a:prstGeom prst="rect">
            <a:avLst/>
          </a:prstGeom>
          <a:noFill/>
        </p:spPr>
        <p:txBody>
          <a:bodyPr wrap="square" rtlCol="0">
            <a:spAutoFit/>
          </a:bodyPr>
          <a:lstStyle/>
          <a:p>
            <a:pPr>
              <a:defRPr/>
            </a:pPr>
            <a:r>
              <a:rPr lang="en-US" sz="1600" i="1"/>
              <a:t>(what a team will goes through from start to end.)</a:t>
            </a:r>
            <a:endParaRPr lang="en-GB"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369268617"/>
                                        </p:tgtEl>
                                        <p:attrNameLst>
                                          <p:attrName>style.visibility</p:attrName>
                                        </p:attrNameLst>
                                      </p:cBhvr>
                                      <p:to>
                                        <p:strVal val="visible"/>
                                      </p:to>
                                    </p:set>
                                    <p:anim calcmode="lin" valueType="num">
                                      <p:cBhvr additive="base">
                                        <p:cTn id="7" dur="500" fill="hold"/>
                                        <p:tgtEl>
                                          <p:spTgt spid="369268617"/>
                                        </p:tgtEl>
                                        <p:attrNameLst>
                                          <p:attrName>ppt_x</p:attrName>
                                        </p:attrNameLst>
                                      </p:cBhvr>
                                      <p:tavLst>
                                        <p:tav tm="0">
                                          <p:val>
                                            <p:strVal val="#ppt_x"/>
                                          </p:val>
                                        </p:tav>
                                        <p:tav tm="100000">
                                          <p:val>
                                            <p:strVal val="#ppt_x"/>
                                          </p:val>
                                        </p:tav>
                                      </p:tavLst>
                                    </p:anim>
                                    <p:anim calcmode="lin" valueType="num">
                                      <p:cBhvr additive="base">
                                        <p:cTn id="8" dur="500" fill="hold"/>
                                        <p:tgtEl>
                                          <p:spTgt spid="36926861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355507435"/>
                                        </p:tgtEl>
                                        <p:attrNameLst>
                                          <p:attrName>style.visibility</p:attrName>
                                        </p:attrNameLst>
                                      </p:cBhvr>
                                      <p:to>
                                        <p:strVal val="visible"/>
                                      </p:to>
                                    </p:set>
                                    <p:animEffect transition="in" filter="wipe(left)">
                                      <p:cBhvr>
                                        <p:cTn id="13" dur="500"/>
                                        <p:tgtEl>
                                          <p:spTgt spid="135550743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669425916"/>
                                        </p:tgtEl>
                                        <p:attrNameLst>
                                          <p:attrName>style.visibility</p:attrName>
                                        </p:attrNameLst>
                                      </p:cBhvr>
                                      <p:to>
                                        <p:strVal val="visible"/>
                                      </p:to>
                                    </p:set>
                                    <p:animEffect transition="in" filter="wipe(left)">
                                      <p:cBhvr>
                                        <p:cTn id="18" dur="500"/>
                                        <p:tgtEl>
                                          <p:spTgt spid="166942591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24477096"/>
                                        </p:tgtEl>
                                        <p:attrNameLst>
                                          <p:attrName>style.visibility</p:attrName>
                                        </p:attrNameLst>
                                      </p:cBhvr>
                                      <p:to>
                                        <p:strVal val="visible"/>
                                      </p:to>
                                    </p:set>
                                    <p:animEffect transition="in" filter="wipe(left)">
                                      <p:cBhvr>
                                        <p:cTn id="23" dur="500"/>
                                        <p:tgtEl>
                                          <p:spTgt spid="142447709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967497046"/>
                                        </p:tgtEl>
                                        <p:attrNameLst>
                                          <p:attrName>style.visibility</p:attrName>
                                        </p:attrNameLst>
                                      </p:cBhvr>
                                      <p:to>
                                        <p:strVal val="visible"/>
                                      </p:to>
                                    </p:set>
                                    <p:animEffect transition="in" filter="wipe(left)">
                                      <p:cBhvr>
                                        <p:cTn id="28" dur="500"/>
                                        <p:tgtEl>
                                          <p:spTgt spid="96749704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847420497">
                                            <p:txEl>
                                              <p:pRg st="0" end="0"/>
                                            </p:txEl>
                                          </p:spTgt>
                                        </p:tgtEl>
                                        <p:attrNameLst>
                                          <p:attrName>style.visibility</p:attrName>
                                        </p:attrNameLst>
                                      </p:cBhvr>
                                      <p:to>
                                        <p:strVal val="visible"/>
                                      </p:to>
                                    </p:set>
                                    <p:animEffect transition="in" filter="wipe(left)">
                                      <p:cBhvr>
                                        <p:cTn id="33" dur="500"/>
                                        <p:tgtEl>
                                          <p:spTgt spid="847420497">
                                            <p:txEl>
                                              <p:pRg st="0" end="0"/>
                                            </p:txEl>
                                          </p:spTgt>
                                        </p:tgtEl>
                                      </p:cBhvr>
                                    </p:animEffect>
                                  </p:childTnLst>
                                </p:cTn>
                              </p:par>
                              <p:par>
                                <p:cTn id="34" presetID="22" presetClass="entr" presetSubtype="8" fill="hold" nodeType="withEffect">
                                  <p:stCondLst>
                                    <p:cond delay="0"/>
                                  </p:stCondLst>
                                  <p:childTnLst>
                                    <p:set>
                                      <p:cBhvr>
                                        <p:cTn id="35" dur="1" fill="hold">
                                          <p:stCondLst>
                                            <p:cond delay="0"/>
                                          </p:stCondLst>
                                        </p:cTn>
                                        <p:tgtEl>
                                          <p:spTgt spid="847420497">
                                            <p:txEl>
                                              <p:pRg st="1" end="1"/>
                                            </p:txEl>
                                          </p:spTgt>
                                        </p:tgtEl>
                                        <p:attrNameLst>
                                          <p:attrName>style.visibility</p:attrName>
                                        </p:attrNameLst>
                                      </p:cBhvr>
                                      <p:to>
                                        <p:strVal val="visible"/>
                                      </p:to>
                                    </p:set>
                                    <p:animEffect transition="in" filter="wipe(left)">
                                      <p:cBhvr>
                                        <p:cTn id="36" dur="500"/>
                                        <p:tgtEl>
                                          <p:spTgt spid="847420497">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847420497">
                                            <p:txEl>
                                              <p:pRg st="2" end="2"/>
                                            </p:txEl>
                                          </p:spTgt>
                                        </p:tgtEl>
                                        <p:attrNameLst>
                                          <p:attrName>style.visibility</p:attrName>
                                        </p:attrNameLst>
                                      </p:cBhvr>
                                      <p:to>
                                        <p:strVal val="visible"/>
                                      </p:to>
                                    </p:set>
                                    <p:animEffect transition="in" filter="wipe(left)">
                                      <p:cBhvr>
                                        <p:cTn id="41" dur="500"/>
                                        <p:tgtEl>
                                          <p:spTgt spid="847420497">
                                            <p:txEl>
                                              <p:pRg st="2" end="2"/>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369136160"/>
                                        </p:tgtEl>
                                        <p:attrNameLst>
                                          <p:attrName>style.visibility</p:attrName>
                                        </p:attrNameLst>
                                      </p:cBhvr>
                                      <p:to>
                                        <p:strVal val="visible"/>
                                      </p:to>
                                    </p:set>
                                    <p:animEffect transition="in" filter="wipe(left)">
                                      <p:cBhvr>
                                        <p:cTn id="46" dur="500"/>
                                        <p:tgtEl>
                                          <p:spTgt spid="36913616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966753367"/>
                                        </p:tgtEl>
                                        <p:attrNameLst>
                                          <p:attrName>style.visibility</p:attrName>
                                        </p:attrNameLst>
                                      </p:cBhvr>
                                      <p:to>
                                        <p:strVal val="visible"/>
                                      </p:to>
                                    </p:set>
                                    <p:animEffect transition="in" filter="wipe(left)">
                                      <p:cBhvr>
                                        <p:cTn id="51" dur="500"/>
                                        <p:tgtEl>
                                          <p:spTgt spid="196675336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966753367">
                                            <p:txEl>
                                              <p:pRg st="0" end="0"/>
                                            </p:txEl>
                                          </p:spTgt>
                                        </p:tgtEl>
                                        <p:attrNameLst>
                                          <p:attrName>style.visibility</p:attrName>
                                        </p:attrNameLst>
                                      </p:cBhvr>
                                      <p:to>
                                        <p:strVal val="visible"/>
                                      </p:to>
                                    </p:set>
                                    <p:animEffect transition="in" filter="wipe(left)">
                                      <p:cBhvr>
                                        <p:cTn id="56" dur="500"/>
                                        <p:tgtEl>
                                          <p:spTgt spid="1966753367">
                                            <p:txEl>
                                              <p:pRg st="0" end="0"/>
                                            </p:txEl>
                                          </p:spTgt>
                                        </p:tgtEl>
                                      </p:cBhvr>
                                    </p:animEffect>
                                  </p:childTnLst>
                                </p:cTn>
                              </p:par>
                              <p:par>
                                <p:cTn id="57" presetID="22" presetClass="entr" presetSubtype="8" fill="hold" nodeType="withEffect">
                                  <p:stCondLst>
                                    <p:cond delay="0"/>
                                  </p:stCondLst>
                                  <p:childTnLst>
                                    <p:set>
                                      <p:cBhvr>
                                        <p:cTn id="58" dur="1" fill="hold">
                                          <p:stCondLst>
                                            <p:cond delay="0"/>
                                          </p:stCondLst>
                                        </p:cTn>
                                        <p:tgtEl>
                                          <p:spTgt spid="1966753367">
                                            <p:txEl>
                                              <p:pRg st="1" end="1"/>
                                            </p:txEl>
                                          </p:spTgt>
                                        </p:tgtEl>
                                        <p:attrNameLst>
                                          <p:attrName>style.visibility</p:attrName>
                                        </p:attrNameLst>
                                      </p:cBhvr>
                                      <p:to>
                                        <p:strVal val="visible"/>
                                      </p:to>
                                    </p:set>
                                    <p:animEffect transition="in" filter="wipe(left)">
                                      <p:cBhvr>
                                        <p:cTn id="59" dur="500"/>
                                        <p:tgtEl>
                                          <p:spTgt spid="1966753367">
                                            <p:txEl>
                                              <p:pRg st="1" end="1"/>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966753367">
                                            <p:txEl>
                                              <p:pRg st="2" end="2"/>
                                            </p:txEl>
                                          </p:spTgt>
                                        </p:tgtEl>
                                        <p:attrNameLst>
                                          <p:attrName>style.visibility</p:attrName>
                                        </p:attrNameLst>
                                      </p:cBhvr>
                                      <p:to>
                                        <p:strVal val="visible"/>
                                      </p:to>
                                    </p:set>
                                    <p:animEffect transition="in" filter="wipe(left)">
                                      <p:cBhvr>
                                        <p:cTn id="64" dur="500"/>
                                        <p:tgtEl>
                                          <p:spTgt spid="1966753367">
                                            <p:txEl>
                                              <p:pRg st="2" end="2"/>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1963575170"/>
                                        </p:tgtEl>
                                        <p:attrNameLst>
                                          <p:attrName>style.visibility</p:attrName>
                                        </p:attrNameLst>
                                      </p:cBhvr>
                                      <p:to>
                                        <p:strVal val="visible"/>
                                      </p:to>
                                    </p:set>
                                    <p:animEffect transition="in" filter="wipe(left)">
                                      <p:cBhvr>
                                        <p:cTn id="69" dur="500"/>
                                        <p:tgtEl>
                                          <p:spTgt spid="1963575170"/>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079023683"/>
                                        </p:tgtEl>
                                        <p:attrNameLst>
                                          <p:attrName>style.visibility</p:attrName>
                                        </p:attrNameLst>
                                      </p:cBhvr>
                                      <p:to>
                                        <p:strVal val="visible"/>
                                      </p:to>
                                    </p:set>
                                    <p:animEffect transition="in" filter="wipe(left)">
                                      <p:cBhvr>
                                        <p:cTn id="74" dur="500"/>
                                        <p:tgtEl>
                                          <p:spTgt spid="2079023683"/>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498595748"/>
                                        </p:tgtEl>
                                        <p:attrNameLst>
                                          <p:attrName>style.visibility</p:attrName>
                                        </p:attrNameLst>
                                      </p:cBhvr>
                                      <p:to>
                                        <p:strVal val="visible"/>
                                      </p:to>
                                    </p:set>
                                    <p:animEffect transition="in" filter="wipe(left)">
                                      <p:cBhvr>
                                        <p:cTn id="79" dur="500"/>
                                        <p:tgtEl>
                                          <p:spTgt spid="498595748"/>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973632661"/>
                                        </p:tgtEl>
                                        <p:attrNameLst>
                                          <p:attrName>style.visibility</p:attrName>
                                        </p:attrNameLst>
                                      </p:cBhvr>
                                      <p:to>
                                        <p:strVal val="visible"/>
                                      </p:to>
                                    </p:set>
                                    <p:animEffect transition="in" filter="wipe(left)">
                                      <p:cBhvr>
                                        <p:cTn id="84" dur="500"/>
                                        <p:tgtEl>
                                          <p:spTgt spid="1973632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268617" grpId="0"/>
      <p:bldP spid="1424477096" grpId="0"/>
      <p:bldP spid="1966753367" grpId="0"/>
      <p:bldP spid="2079023683" grpId="0"/>
      <p:bldP spid="1973632661" grpId="0"/>
      <p:bldP spid="1355507435" grpId="0"/>
    </p:bldLst>
  </p:timing>
</p:sld>
</file>

<file path=ppt/slides/slide9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2190341" name="Google Shape;1455;p86"/>
          <p:cNvSpPr txBox="1">
            <a:spLocks noGrp="1"/>
          </p:cNvSpPr>
          <p:nvPr>
            <p:ph type="body" idx="1"/>
          </p:nvPr>
        </p:nvSpPr>
        <p:spPr bwMode="auto">
          <a:xfrm>
            <a:off x="3754569" y="3043378"/>
            <a:ext cx="7494300" cy="300327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defRPr/>
            </a:pPr>
            <a:r>
              <a:rPr lang="en-US" b="1"/>
              <a:t>4. Manage Project Team:</a:t>
            </a:r>
            <a:endParaRPr/>
          </a:p>
          <a:p>
            <a:pPr marL="685800" lvl="1" indent="-228600" algn="l" rtl="0">
              <a:lnSpc>
                <a:spcPct val="90000"/>
              </a:lnSpc>
              <a:spcBef>
                <a:spcPts val="500"/>
              </a:spcBef>
              <a:spcAft>
                <a:spcPts val="0"/>
              </a:spcAft>
              <a:buClr>
                <a:schemeClr val="dk1"/>
              </a:buClr>
              <a:buSzPts val="2600"/>
              <a:buChar char="•"/>
              <a:defRPr/>
            </a:pPr>
            <a:r>
              <a:rPr lang="en-US" sz="2600" b="1" u="sng"/>
              <a:t>Track</a:t>
            </a:r>
            <a:r>
              <a:rPr lang="en-US" sz="2600" b="1"/>
              <a:t> team member performance</a:t>
            </a:r>
            <a:r>
              <a:rPr lang="en-US" sz="2600"/>
              <a:t>, </a:t>
            </a:r>
            <a:endParaRPr/>
          </a:p>
          <a:p>
            <a:pPr marL="685800" lvl="1" indent="-228600" algn="l" rtl="0">
              <a:lnSpc>
                <a:spcPct val="90000"/>
              </a:lnSpc>
              <a:spcBef>
                <a:spcPts val="500"/>
              </a:spcBef>
              <a:spcAft>
                <a:spcPts val="0"/>
              </a:spcAft>
              <a:buClr>
                <a:schemeClr val="dk1"/>
              </a:buClr>
              <a:buSzPts val="2600"/>
              <a:buChar char="•"/>
              <a:defRPr/>
            </a:pPr>
            <a:r>
              <a:rPr lang="en-US" sz="2600" b="1" u="sng"/>
              <a:t>Motivate</a:t>
            </a:r>
            <a:r>
              <a:rPr lang="en-US" sz="2600"/>
              <a:t> team members, </a:t>
            </a:r>
            <a:endParaRPr/>
          </a:p>
          <a:p>
            <a:pPr marL="685800" lvl="1" indent="-228600" algn="l" rtl="0">
              <a:lnSpc>
                <a:spcPct val="90000"/>
              </a:lnSpc>
              <a:spcBef>
                <a:spcPts val="500"/>
              </a:spcBef>
              <a:spcAft>
                <a:spcPts val="0"/>
              </a:spcAft>
              <a:buClr>
                <a:schemeClr val="dk1"/>
              </a:buClr>
              <a:buSzPts val="2600"/>
              <a:buChar char="•"/>
              <a:defRPr/>
            </a:pPr>
            <a:r>
              <a:rPr lang="en-US" sz="2600"/>
              <a:t>Provide timely </a:t>
            </a:r>
            <a:r>
              <a:rPr lang="en-US" sz="2600" b="1" u="sng"/>
              <a:t>feedback</a:t>
            </a:r>
            <a:r>
              <a:rPr lang="en-US" sz="2600"/>
              <a:t>, </a:t>
            </a:r>
            <a:endParaRPr/>
          </a:p>
          <a:p>
            <a:pPr marL="685800" lvl="1" indent="-228600" algn="l" rtl="0">
              <a:lnSpc>
                <a:spcPct val="90000"/>
              </a:lnSpc>
              <a:spcBef>
                <a:spcPts val="500"/>
              </a:spcBef>
              <a:spcAft>
                <a:spcPts val="0"/>
              </a:spcAft>
              <a:buClr>
                <a:schemeClr val="dk1"/>
              </a:buClr>
              <a:buSzPts val="2600"/>
              <a:buChar char="•"/>
              <a:defRPr/>
            </a:pPr>
            <a:r>
              <a:rPr lang="en-US" sz="2600" b="1" u="sng"/>
              <a:t>Resolve</a:t>
            </a:r>
            <a:r>
              <a:rPr lang="en-US" sz="2600" b="1"/>
              <a:t> issues and conflicts</a:t>
            </a:r>
            <a:endParaRPr/>
          </a:p>
          <a:p>
            <a:pPr marL="685800" lvl="1" indent="-228600" algn="l" rtl="0">
              <a:lnSpc>
                <a:spcPct val="90000"/>
              </a:lnSpc>
              <a:spcBef>
                <a:spcPts val="500"/>
              </a:spcBef>
              <a:spcAft>
                <a:spcPts val="0"/>
              </a:spcAft>
              <a:buClr>
                <a:schemeClr val="dk1"/>
              </a:buClr>
              <a:buSzPts val="2600"/>
              <a:buChar char="•"/>
              <a:defRPr/>
            </a:pPr>
            <a:r>
              <a:rPr lang="en-US" sz="2600" b="1"/>
              <a:t>etc</a:t>
            </a:r>
            <a:endParaRPr lang="en-US" sz="2600"/>
          </a:p>
        </p:txBody>
      </p:sp>
      <p:sp>
        <p:nvSpPr>
          <p:cNvPr id="202903089" name="Google Shape;1456;p8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92</a:t>
            </a:fld>
            <a:endParaRPr/>
          </a:p>
        </p:txBody>
      </p:sp>
      <p:grpSp>
        <p:nvGrpSpPr>
          <p:cNvPr id="1272997495" name="Google Shape;1457;p86"/>
          <p:cNvGrpSpPr/>
          <p:nvPr/>
        </p:nvGrpSpPr>
        <p:grpSpPr bwMode="auto">
          <a:xfrm>
            <a:off x="3737104" y="2181089"/>
            <a:ext cx="7118090" cy="769523"/>
            <a:chOff x="3304" y="173586"/>
            <a:chExt cx="7118090" cy="769523"/>
          </a:xfrm>
        </p:grpSpPr>
        <p:sp>
          <p:nvSpPr>
            <p:cNvPr id="1458" name="Google Shape;1458;p86"/>
            <p:cNvSpPr/>
            <p:nvPr/>
          </p:nvSpPr>
          <p:spPr bwMode="auto">
            <a:xfrm>
              <a:off x="3304" y="173586"/>
              <a:ext cx="1923808" cy="7695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59" name="Google Shape;1459;p86"/>
            <p:cNvSpPr txBox="1"/>
            <p:nvPr/>
          </p:nvSpPr>
          <p:spPr bwMode="auto">
            <a:xfrm>
              <a:off x="388066"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1.                Plan HR Management</a:t>
              </a:r>
              <a:endParaRPr/>
            </a:p>
          </p:txBody>
        </p:sp>
        <p:sp>
          <p:nvSpPr>
            <p:cNvPr id="1460" name="Google Shape;1460;p86"/>
            <p:cNvSpPr/>
            <p:nvPr/>
          </p:nvSpPr>
          <p:spPr bwMode="auto">
            <a:xfrm>
              <a:off x="1734732" y="173586"/>
              <a:ext cx="1923808" cy="7695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61" name="Google Shape;1461;p86"/>
            <p:cNvSpPr txBox="1"/>
            <p:nvPr/>
          </p:nvSpPr>
          <p:spPr bwMode="auto">
            <a:xfrm>
              <a:off x="2119494"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2.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Acquire Project Team</a:t>
              </a:r>
              <a:endParaRPr/>
            </a:p>
          </p:txBody>
        </p:sp>
        <p:sp>
          <p:nvSpPr>
            <p:cNvPr id="1462" name="Google Shape;1462;p86"/>
            <p:cNvSpPr/>
            <p:nvPr/>
          </p:nvSpPr>
          <p:spPr bwMode="auto">
            <a:xfrm>
              <a:off x="3466159" y="173586"/>
              <a:ext cx="1923808" cy="769523"/>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63" name="Google Shape;1463;p86"/>
            <p:cNvSpPr txBox="1"/>
            <p:nvPr/>
          </p:nvSpPr>
          <p:spPr bwMode="auto">
            <a:xfrm>
              <a:off x="3850921"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3.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Develop Project Team</a:t>
              </a:r>
              <a:endParaRPr/>
            </a:p>
          </p:txBody>
        </p:sp>
        <p:sp>
          <p:nvSpPr>
            <p:cNvPr id="1464" name="Google Shape;1464;p86"/>
            <p:cNvSpPr/>
            <p:nvPr/>
          </p:nvSpPr>
          <p:spPr bwMode="auto">
            <a:xfrm>
              <a:off x="5197586" y="173586"/>
              <a:ext cx="1923808" cy="769523"/>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65" name="Google Shape;1465;p86"/>
            <p:cNvSpPr txBox="1"/>
            <p:nvPr/>
          </p:nvSpPr>
          <p:spPr bwMode="auto">
            <a:xfrm>
              <a:off x="5582348" y="173586"/>
              <a:ext cx="1154285" cy="769523"/>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1">
                  <a:solidFill>
                    <a:schemeClr val="lt1"/>
                  </a:solidFill>
                  <a:latin typeface="Calibri"/>
                  <a:ea typeface="Calibri"/>
                  <a:cs typeface="Calibri"/>
                </a:rPr>
                <a:t>4. </a:t>
              </a:r>
              <a:br>
                <a:rPr lang="en-US" sz="1400" b="1">
                  <a:solidFill>
                    <a:schemeClr val="lt1"/>
                  </a:solidFill>
                  <a:latin typeface="Calibri"/>
                  <a:ea typeface="Calibri"/>
                  <a:cs typeface="Calibri"/>
                </a:rPr>
              </a:br>
              <a:r>
                <a:rPr lang="en-US" sz="1400" b="1">
                  <a:solidFill>
                    <a:schemeClr val="lt1"/>
                  </a:solidFill>
                  <a:latin typeface="Calibri"/>
                  <a:ea typeface="Calibri"/>
                  <a:cs typeface="Calibri"/>
                </a:rPr>
                <a:t>Manage Project Team</a:t>
              </a:r>
              <a:endParaRPr/>
            </a:p>
          </p:txBody>
        </p:sp>
      </p:grpSp>
      <p:sp>
        <p:nvSpPr>
          <p:cNvPr id="1696084295" name="Google Shape;1466;p86"/>
          <p:cNvSpPr txBox="1"/>
          <p:nvPr/>
        </p:nvSpPr>
        <p:spPr bwMode="auto">
          <a:xfrm>
            <a:off x="3581400" y="597750"/>
            <a:ext cx="7010399" cy="715961"/>
          </a:xfrm>
          <a:prstGeom prst="rect">
            <a:avLst/>
          </a:prstGeom>
          <a:noFill/>
          <a:ln>
            <a:noFill/>
          </a:ln>
        </p:spPr>
        <p:txBody>
          <a:bodyPr spcFirstLastPara="1" wrap="square" lIns="91425" tIns="45700" rIns="91425" bIns="45700" anchor="ctr" anchorCtr="0">
            <a:normAutofit fontScale="77500" lnSpcReduction="200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Human Resource Management</a:t>
            </a:r>
            <a:endParaRPr sz="4000" b="1">
              <a:solidFill>
                <a:schemeClr val="dk1"/>
              </a:solidFill>
              <a:latin typeface="Calibri"/>
              <a:ea typeface="Calibri"/>
              <a:cs typeface="Calibri"/>
            </a:endParaRPr>
          </a:p>
        </p:txBody>
      </p:sp>
      <p:sp>
        <p:nvSpPr>
          <p:cNvPr id="8923079" name="Google Shape;1467;p86"/>
          <p:cNvSpPr txBox="1"/>
          <p:nvPr/>
        </p:nvSpPr>
        <p:spPr bwMode="auto">
          <a:xfrm>
            <a:off x="3618628" y="119948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312756849" name="Google Shape;1468;p86"/>
          <p:cNvCxnSpPr/>
          <p:nvPr/>
        </p:nvCxnSpPr>
        <p:spPr bwMode="auto">
          <a:xfrm rot="10800000">
            <a:off x="3733800" y="1672998"/>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1052170841" name="Google Shape;1469;p86"/>
          <p:cNvPicPr/>
          <p:nvPr/>
        </p:nvPicPr>
        <p:blipFill rotWithShape="1">
          <a:blip r:embed="rId3">
            <a:alphaModFix/>
          </a:blip>
          <a:srcRect l="42835" t="0" r="26308" b="0"/>
          <a:stretch/>
        </p:blipFill>
        <p:spPr bwMode="auto">
          <a:xfrm>
            <a:off x="0" y="-5557"/>
            <a:ext cx="3200400" cy="6863558"/>
          </a:xfrm>
          <a:prstGeom prst="rect">
            <a:avLst/>
          </a:prstGeom>
          <a:noFill/>
          <a:ln>
            <a:noFill/>
          </a:ln>
        </p:spPr>
      </p:pic>
      <p:sp>
        <p:nvSpPr>
          <p:cNvPr id="279947732" name="TextBox 1"/>
          <p:cNvSpPr txBox="1"/>
          <p:nvPr/>
        </p:nvSpPr>
        <p:spPr bwMode="auto">
          <a:xfrm>
            <a:off x="4171561" y="5658517"/>
            <a:ext cx="7366416" cy="830997"/>
          </a:xfrm>
          <a:prstGeom prst="rect">
            <a:avLst/>
          </a:prstGeom>
          <a:noFill/>
        </p:spPr>
        <p:txBody>
          <a:bodyPr wrap="square" rtlCol="0">
            <a:spAutoFit/>
          </a:bodyPr>
          <a:lstStyle/>
          <a:p>
            <a:pPr>
              <a:defRPr/>
            </a:pPr>
            <a:r>
              <a:rPr lang="en-US" sz="2400">
                <a:solidFill>
                  <a:srgbClr val="FF0000"/>
                </a:solidFill>
              </a:rPr>
              <a:t>PM must ensure that people </a:t>
            </a:r>
            <a:r>
              <a:rPr lang="en-US" sz="2400" b="1">
                <a:solidFill>
                  <a:srgbClr val="FF0000"/>
                </a:solidFill>
              </a:rPr>
              <a:t>can work together as a team </a:t>
            </a:r>
            <a:r>
              <a:rPr lang="en-US" sz="2400">
                <a:solidFill>
                  <a:srgbClr val="FF0000"/>
                </a:solidFill>
              </a:rPr>
              <a:t>to achieve </a:t>
            </a:r>
            <a:r>
              <a:rPr lang="en-US" sz="2400" u="sng">
                <a:solidFill>
                  <a:srgbClr val="FF0000"/>
                </a:solidFill>
              </a:rPr>
              <a:t>project goals</a:t>
            </a:r>
            <a:endParaRPr lang="en-MY" sz="2400" u="sng">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92190341">
                                            <p:txEl>
                                              <p:pRg st="0" end="0"/>
                                            </p:txEl>
                                          </p:spTgt>
                                        </p:tgtEl>
                                        <p:attrNameLst>
                                          <p:attrName>style.visibility</p:attrName>
                                        </p:attrNameLst>
                                      </p:cBhvr>
                                      <p:to>
                                        <p:strVal val="visible"/>
                                      </p:to>
                                    </p:set>
                                    <p:animEffect transition="in" filter="wipe(left)">
                                      <p:cBhvr>
                                        <p:cTn id="7" dur="500"/>
                                        <p:tgtEl>
                                          <p:spTgt spid="5921903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79947732"/>
                                        </p:tgtEl>
                                        <p:attrNameLst>
                                          <p:attrName>style.visibility</p:attrName>
                                        </p:attrNameLst>
                                      </p:cBhvr>
                                      <p:to>
                                        <p:strVal val="visible"/>
                                      </p:to>
                                    </p:set>
                                    <p:anim calcmode="lin" valueType="num">
                                      <p:cBhvr additive="base">
                                        <p:cTn id="12" dur="500" fill="hold"/>
                                        <p:tgtEl>
                                          <p:spTgt spid="279947732"/>
                                        </p:tgtEl>
                                        <p:attrNameLst>
                                          <p:attrName>ppt_x</p:attrName>
                                        </p:attrNameLst>
                                      </p:cBhvr>
                                      <p:tavLst>
                                        <p:tav tm="0">
                                          <p:val>
                                            <p:strVal val="#ppt_x"/>
                                          </p:val>
                                        </p:tav>
                                        <p:tav tm="100000">
                                          <p:val>
                                            <p:strVal val="#ppt_x"/>
                                          </p:val>
                                        </p:tav>
                                      </p:tavLst>
                                    </p:anim>
                                    <p:anim calcmode="lin" valueType="num">
                                      <p:cBhvr additive="base">
                                        <p:cTn id="13" dur="500" fill="hold"/>
                                        <p:tgtEl>
                                          <p:spTgt spid="2799477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947732" grpId="0"/>
    </p:bldLst>
  </p:timing>
</p:sld>
</file>

<file path=ppt/slides/slide9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61822830" name="Google Shape;721;p46"/>
          <p:cNvPicPr/>
          <p:nvPr/>
        </p:nvPicPr>
        <p:blipFill rotWithShape="1">
          <a:blip r:embed="rId3">
            <a:alphaModFix/>
          </a:blip>
          <a:srcRect l="21648" t="0" r="35518" b="0"/>
          <a:stretch/>
        </p:blipFill>
        <p:spPr bwMode="auto">
          <a:xfrm>
            <a:off x="-49211" y="-9876"/>
            <a:ext cx="4419600" cy="6867876"/>
          </a:xfrm>
          <a:prstGeom prst="rect">
            <a:avLst/>
          </a:prstGeom>
          <a:noFill/>
          <a:ln>
            <a:noFill/>
          </a:ln>
        </p:spPr>
      </p:pic>
      <p:sp>
        <p:nvSpPr>
          <p:cNvPr id="19831038" name="Google Shape;722;p46"/>
          <p:cNvSpPr txBox="1">
            <a:spLocks noGrp="1"/>
          </p:cNvSpPr>
          <p:nvPr>
            <p:ph type="title"/>
          </p:nvPr>
        </p:nvSpPr>
        <p:spPr bwMode="auto">
          <a:xfrm>
            <a:off x="609600" y="302394"/>
            <a:ext cx="5105400" cy="7159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defRPr/>
            </a:pPr>
            <a:r>
              <a:rPr lang="en-US" b="1"/>
              <a:t>Knowledge of a PM</a:t>
            </a:r>
            <a:endParaRPr/>
          </a:p>
        </p:txBody>
      </p:sp>
      <p:grpSp>
        <p:nvGrpSpPr>
          <p:cNvPr id="844236913" name="Google Shape;723;p46"/>
          <p:cNvGrpSpPr/>
          <p:nvPr/>
        </p:nvGrpSpPr>
        <p:grpSpPr bwMode="auto">
          <a:xfrm>
            <a:off x="5101159" y="1733961"/>
            <a:ext cx="6100240" cy="4657009"/>
            <a:chOff x="5688824" y="1864854"/>
            <a:chExt cx="4394200" cy="4133851"/>
          </a:xfrm>
        </p:grpSpPr>
        <p:grpSp>
          <p:nvGrpSpPr>
            <p:cNvPr id="724" name="Google Shape;724;p46"/>
            <p:cNvGrpSpPr/>
            <p:nvPr/>
          </p:nvGrpSpPr>
          <p:grpSpPr bwMode="auto">
            <a:xfrm>
              <a:off x="6438123" y="2544305"/>
              <a:ext cx="3048000" cy="2873375"/>
              <a:chOff x="1981198" y="861054"/>
              <a:chExt cx="2895602" cy="2872745"/>
            </a:xfrm>
          </p:grpSpPr>
          <p:sp>
            <p:nvSpPr>
              <p:cNvPr id="725" name="Google Shape;725;p46"/>
              <p:cNvSpPr/>
              <p:nvPr/>
            </p:nvSpPr>
            <p:spPr bwMode="auto">
              <a:xfrm>
                <a:off x="1981198" y="861054"/>
                <a:ext cx="2895602" cy="2872745"/>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26" name="Google Shape;726;p46"/>
              <p:cNvSpPr/>
              <p:nvPr/>
            </p:nvSpPr>
            <p:spPr bwMode="auto">
              <a:xfrm>
                <a:off x="2405060" y="1281650"/>
                <a:ext cx="2047876" cy="2031554"/>
              </a:xfrm>
              <a:prstGeom prst="rect">
                <a:avLst/>
              </a:prstGeom>
              <a:noFill/>
              <a:ln>
                <a:noFill/>
              </a:ln>
            </p:spPr>
            <p:txBody>
              <a:bodyPr spcFirstLastPara="1" wrap="square" lIns="44450" tIns="44450" rIns="44450" bIns="44450" anchor="ctr" anchorCtr="0">
                <a:noAutofit/>
              </a:bodyPr>
              <a:lstStyle/>
              <a:p>
                <a:pPr marL="0" marR="0" lvl="0" indent="0" algn="ctr" rtl="0">
                  <a:lnSpc>
                    <a:spcPct val="90000"/>
                  </a:lnSpc>
                  <a:spcBef>
                    <a:spcPts val="0"/>
                  </a:spcBef>
                  <a:spcAft>
                    <a:spcPts val="0"/>
                  </a:spcAft>
                  <a:buNone/>
                  <a:defRPr/>
                </a:pPr>
                <a:r>
                  <a:rPr lang="en-US" sz="3500">
                    <a:solidFill>
                      <a:schemeClr val="dk1"/>
                    </a:solidFill>
                    <a:latin typeface="Calibri"/>
                    <a:ea typeface="Calibri"/>
                    <a:cs typeface="Calibri"/>
                  </a:rPr>
                  <a:t>Integration</a:t>
                </a:r>
                <a:endParaRPr/>
              </a:p>
            </p:txBody>
          </p:sp>
        </p:grpSp>
        <p:grpSp>
          <p:nvGrpSpPr>
            <p:cNvPr id="727" name="Google Shape;727;p46"/>
            <p:cNvGrpSpPr/>
            <p:nvPr/>
          </p:nvGrpSpPr>
          <p:grpSpPr bwMode="auto">
            <a:xfrm>
              <a:off x="7306486" y="1864854"/>
              <a:ext cx="1158875" cy="947738"/>
              <a:chOff x="2849129" y="181000"/>
              <a:chExt cx="1159740" cy="947887"/>
            </a:xfrm>
          </p:grpSpPr>
          <p:sp>
            <p:nvSpPr>
              <p:cNvPr id="728" name="Google Shape;728;p46"/>
              <p:cNvSpPr/>
              <p:nvPr/>
            </p:nvSpPr>
            <p:spPr bwMode="auto">
              <a:xfrm>
                <a:off x="2849129" y="181000"/>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29" name="Google Shape;729;p46"/>
              <p:cNvSpPr/>
              <p:nvPr/>
            </p:nvSpPr>
            <p:spPr bwMode="auto">
              <a:xfrm>
                <a:off x="3019119" y="319135"/>
                <a:ext cx="819761"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Scope</a:t>
                </a:r>
                <a:endParaRPr/>
              </a:p>
            </p:txBody>
          </p:sp>
        </p:grpSp>
        <p:grpSp>
          <p:nvGrpSpPr>
            <p:cNvPr id="730" name="Google Shape;730;p46"/>
            <p:cNvGrpSpPr/>
            <p:nvPr/>
          </p:nvGrpSpPr>
          <p:grpSpPr bwMode="auto">
            <a:xfrm>
              <a:off x="8495523" y="2249029"/>
              <a:ext cx="1160462" cy="947738"/>
              <a:chOff x="3904896" y="565268"/>
              <a:chExt cx="1159740" cy="947887"/>
            </a:xfrm>
          </p:grpSpPr>
          <p:sp>
            <p:nvSpPr>
              <p:cNvPr id="731" name="Google Shape;731;p46"/>
              <p:cNvSpPr/>
              <p:nvPr/>
            </p:nvSpPr>
            <p:spPr bwMode="auto">
              <a:xfrm>
                <a:off x="3904896" y="565268"/>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2" name="Google Shape;732;p46"/>
              <p:cNvSpPr/>
              <p:nvPr/>
            </p:nvSpPr>
            <p:spPr bwMode="auto">
              <a:xfrm>
                <a:off x="4074652" y="703403"/>
                <a:ext cx="820227"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Time</a:t>
                </a:r>
                <a:endParaRPr/>
              </a:p>
            </p:txBody>
          </p:sp>
        </p:grpSp>
        <p:grpSp>
          <p:nvGrpSpPr>
            <p:cNvPr id="733" name="Google Shape;733;p46"/>
            <p:cNvGrpSpPr/>
            <p:nvPr/>
          </p:nvGrpSpPr>
          <p:grpSpPr bwMode="auto">
            <a:xfrm>
              <a:off x="8922561" y="3222168"/>
              <a:ext cx="1160463" cy="947737"/>
              <a:chOff x="4466658" y="1538269"/>
              <a:chExt cx="1159740" cy="947887"/>
            </a:xfrm>
          </p:grpSpPr>
          <p:sp>
            <p:nvSpPr>
              <p:cNvPr id="734" name="Google Shape;734;p46"/>
              <p:cNvSpPr/>
              <p:nvPr/>
            </p:nvSpPr>
            <p:spPr bwMode="auto">
              <a:xfrm>
                <a:off x="4466658" y="1538269"/>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5" name="Google Shape;735;p46"/>
              <p:cNvSpPr/>
              <p:nvPr/>
            </p:nvSpPr>
            <p:spPr bwMode="auto">
              <a:xfrm>
                <a:off x="4636415" y="1676403"/>
                <a:ext cx="820226"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Cost</a:t>
                </a:r>
                <a:endParaRPr/>
              </a:p>
            </p:txBody>
          </p:sp>
        </p:grpSp>
        <p:grpSp>
          <p:nvGrpSpPr>
            <p:cNvPr id="736" name="Google Shape;736;p46"/>
            <p:cNvGrpSpPr/>
            <p:nvPr/>
          </p:nvGrpSpPr>
          <p:grpSpPr bwMode="auto">
            <a:xfrm>
              <a:off x="8800323" y="4328654"/>
              <a:ext cx="1160462" cy="947738"/>
              <a:chOff x="4271560" y="2644723"/>
              <a:chExt cx="1159740" cy="947887"/>
            </a:xfrm>
          </p:grpSpPr>
          <p:sp>
            <p:nvSpPr>
              <p:cNvPr id="737" name="Google Shape;737;p46"/>
              <p:cNvSpPr/>
              <p:nvPr/>
            </p:nvSpPr>
            <p:spPr bwMode="auto">
              <a:xfrm>
                <a:off x="4271560" y="2644723"/>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8" name="Google Shape;738;p46"/>
              <p:cNvSpPr/>
              <p:nvPr/>
            </p:nvSpPr>
            <p:spPr bwMode="auto">
              <a:xfrm>
                <a:off x="4441316" y="2782859"/>
                <a:ext cx="820227"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Quality</a:t>
                </a:r>
                <a:endParaRPr/>
              </a:p>
            </p:txBody>
          </p:sp>
        </p:grpSp>
        <p:grpSp>
          <p:nvGrpSpPr>
            <p:cNvPr id="739" name="Google Shape;739;p46"/>
            <p:cNvGrpSpPr/>
            <p:nvPr/>
          </p:nvGrpSpPr>
          <p:grpSpPr bwMode="auto">
            <a:xfrm>
              <a:off x="7912910" y="5050968"/>
              <a:ext cx="1160463" cy="947737"/>
              <a:chOff x="3410891" y="3366911"/>
              <a:chExt cx="1159740" cy="947887"/>
            </a:xfrm>
          </p:grpSpPr>
          <p:sp>
            <p:nvSpPr>
              <p:cNvPr id="740" name="Google Shape;740;p46"/>
              <p:cNvSpPr/>
              <p:nvPr/>
            </p:nvSpPr>
            <p:spPr bwMode="auto">
              <a:xfrm>
                <a:off x="3410891" y="3366911"/>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1" name="Google Shape;741;p46"/>
              <p:cNvSpPr/>
              <p:nvPr/>
            </p:nvSpPr>
            <p:spPr bwMode="auto">
              <a:xfrm>
                <a:off x="3580648" y="3505045"/>
                <a:ext cx="820226"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Human Resource</a:t>
                </a:r>
                <a:endParaRPr/>
              </a:p>
            </p:txBody>
          </p:sp>
        </p:grpSp>
        <p:grpSp>
          <p:nvGrpSpPr>
            <p:cNvPr id="742" name="Google Shape;742;p46"/>
            <p:cNvGrpSpPr/>
            <p:nvPr/>
          </p:nvGrpSpPr>
          <p:grpSpPr bwMode="auto">
            <a:xfrm>
              <a:off x="6684186" y="5050968"/>
              <a:ext cx="1160463" cy="947737"/>
              <a:chOff x="2287367" y="3366911"/>
              <a:chExt cx="1159740" cy="947887"/>
            </a:xfrm>
          </p:grpSpPr>
          <p:sp>
            <p:nvSpPr>
              <p:cNvPr id="743" name="Google Shape;743;p46"/>
              <p:cNvSpPr/>
              <p:nvPr/>
            </p:nvSpPr>
            <p:spPr bwMode="auto">
              <a:xfrm>
                <a:off x="2287367" y="3366911"/>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4" name="Google Shape;744;p46"/>
              <p:cNvSpPr/>
              <p:nvPr/>
            </p:nvSpPr>
            <p:spPr bwMode="auto">
              <a:xfrm>
                <a:off x="2338135" y="3505045"/>
                <a:ext cx="1032819"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Communication</a:t>
                </a:r>
                <a:endParaRPr/>
              </a:p>
            </p:txBody>
          </p:sp>
        </p:grpSp>
        <p:grpSp>
          <p:nvGrpSpPr>
            <p:cNvPr id="745" name="Google Shape;745;p46"/>
            <p:cNvGrpSpPr/>
            <p:nvPr/>
          </p:nvGrpSpPr>
          <p:grpSpPr bwMode="auto">
            <a:xfrm>
              <a:off x="5845986" y="4328654"/>
              <a:ext cx="1160463" cy="947738"/>
              <a:chOff x="1426698" y="2644723"/>
              <a:chExt cx="1159740" cy="947887"/>
            </a:xfrm>
          </p:grpSpPr>
          <p:sp>
            <p:nvSpPr>
              <p:cNvPr id="746" name="Google Shape;746;p46"/>
              <p:cNvSpPr/>
              <p:nvPr/>
            </p:nvSpPr>
            <p:spPr bwMode="auto">
              <a:xfrm>
                <a:off x="1426698" y="2644723"/>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7" name="Google Shape;747;p46"/>
              <p:cNvSpPr/>
              <p:nvPr/>
            </p:nvSpPr>
            <p:spPr bwMode="auto">
              <a:xfrm>
                <a:off x="1596455" y="2782859"/>
                <a:ext cx="820226"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Risk</a:t>
                </a:r>
                <a:endParaRPr/>
              </a:p>
            </p:txBody>
          </p:sp>
        </p:grpSp>
        <p:grpSp>
          <p:nvGrpSpPr>
            <p:cNvPr id="748" name="Google Shape;748;p46"/>
            <p:cNvGrpSpPr/>
            <p:nvPr/>
          </p:nvGrpSpPr>
          <p:grpSpPr bwMode="auto">
            <a:xfrm>
              <a:off x="5688824" y="3222168"/>
              <a:ext cx="1158875" cy="947737"/>
              <a:chOff x="1231599" y="1538269"/>
              <a:chExt cx="1159741" cy="947887"/>
            </a:xfrm>
          </p:grpSpPr>
          <p:sp>
            <p:nvSpPr>
              <p:cNvPr id="749" name="Google Shape;749;p46"/>
              <p:cNvSpPr/>
              <p:nvPr/>
            </p:nvSpPr>
            <p:spPr bwMode="auto">
              <a:xfrm>
                <a:off x="1231600" y="1538269"/>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50" name="Google Shape;750;p46"/>
              <p:cNvSpPr/>
              <p:nvPr/>
            </p:nvSpPr>
            <p:spPr bwMode="auto">
              <a:xfrm>
                <a:off x="1231599" y="1676403"/>
                <a:ext cx="1154974"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Procurement</a:t>
                </a:r>
                <a:endParaRPr/>
              </a:p>
            </p:txBody>
          </p:sp>
        </p:grpSp>
        <p:grpSp>
          <p:nvGrpSpPr>
            <p:cNvPr id="751" name="Google Shape;751;p46"/>
            <p:cNvGrpSpPr/>
            <p:nvPr/>
          </p:nvGrpSpPr>
          <p:grpSpPr bwMode="auto">
            <a:xfrm>
              <a:off x="6150786" y="2249029"/>
              <a:ext cx="1160463" cy="947738"/>
              <a:chOff x="1793362" y="565268"/>
              <a:chExt cx="1159740" cy="947887"/>
            </a:xfrm>
          </p:grpSpPr>
          <p:sp>
            <p:nvSpPr>
              <p:cNvPr id="752" name="Google Shape;752;p46"/>
              <p:cNvSpPr/>
              <p:nvPr/>
            </p:nvSpPr>
            <p:spPr bwMode="auto">
              <a:xfrm>
                <a:off x="1793362" y="565268"/>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53" name="Google Shape;753;p46"/>
              <p:cNvSpPr/>
              <p:nvPr/>
            </p:nvSpPr>
            <p:spPr bwMode="auto">
              <a:xfrm>
                <a:off x="1850476" y="703403"/>
                <a:ext cx="1102626"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Stakeholders</a:t>
                </a:r>
                <a:endParaRPr/>
              </a:p>
            </p:txBody>
          </p:sp>
        </p:grpSp>
      </p:grpSp>
      <p:sp>
        <p:nvSpPr>
          <p:cNvPr id="2030058365" name="Google Shape;754;p46"/>
          <p:cNvSpPr txBox="1"/>
          <p:nvPr/>
        </p:nvSpPr>
        <p:spPr bwMode="auto">
          <a:xfrm>
            <a:off x="646828" y="98775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sp>
        <p:nvSpPr>
          <p:cNvPr id="721050952" name="Google Shape;755;p46"/>
          <p:cNvSpPr txBox="1"/>
          <p:nvPr/>
        </p:nvSpPr>
        <p:spPr bwMode="auto">
          <a:xfrm>
            <a:off x="681560" y="1703714"/>
            <a:ext cx="2970213"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defRPr/>
            </a:pPr>
            <a:r>
              <a:rPr lang="en-US" sz="2400">
                <a:solidFill>
                  <a:srgbClr val="FF0000"/>
                </a:solidFill>
                <a:latin typeface="Times New Roman"/>
                <a:ea typeface="Times New Roman"/>
                <a:cs typeface="Times New Roman"/>
              </a:rPr>
              <a:t>10 </a:t>
            </a:r>
            <a:r>
              <a:rPr lang="en-US" sz="2400">
                <a:solidFill>
                  <a:schemeClr val="dk1"/>
                </a:solidFill>
                <a:latin typeface="Times New Roman"/>
                <a:ea typeface="Times New Roman"/>
                <a:cs typeface="Times New Roman"/>
              </a:rPr>
              <a:t>Knowledge </a:t>
            </a:r>
            <a:r>
              <a:rPr lang="en-US" sz="2400">
                <a:solidFill>
                  <a:srgbClr val="FF0000"/>
                </a:solidFill>
                <a:latin typeface="Times New Roman"/>
                <a:ea typeface="Times New Roman"/>
                <a:cs typeface="Times New Roman"/>
              </a:rPr>
              <a:t>Areas</a:t>
            </a:r>
            <a:endParaRPr>
              <a:solidFill>
                <a:srgbClr val="FF0000"/>
              </a:solidFill>
            </a:endParaRPr>
          </a:p>
        </p:txBody>
      </p:sp>
      <p:sp>
        <p:nvSpPr>
          <p:cNvPr id="1078262174" name="Google Shape;756;p4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93</a:t>
            </a:fld>
            <a:endParaRPr/>
          </a:p>
        </p:txBody>
      </p:sp>
      <p:cxnSp>
        <p:nvCxnSpPr>
          <p:cNvPr id="718590970" name="Google Shape;757;p46"/>
          <p:cNvCxnSpPr/>
          <p:nvPr/>
        </p:nvCxnSpPr>
        <p:spPr bwMode="auto">
          <a:xfrm rot="10800000">
            <a:off x="762000" y="1461268"/>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561873906" name="Freeform: Shape 1"/>
          <p:cNvSpPr/>
          <p:nvPr/>
        </p:nvSpPr>
        <p:spPr bwMode="auto">
          <a:xfrm>
            <a:off x="8183105" y="1999281"/>
            <a:ext cx="449451" cy="604434"/>
          </a:xfrm>
          <a:custGeom>
            <a:avLst/>
            <a:gdLst>
              <a:gd name="connsiteX0" fmla="*/ 0 w 449451"/>
              <a:gd name="connsiteY0" fmla="*/ 418455 h 604434"/>
              <a:gd name="connsiteX1" fmla="*/ 154983 w 449451"/>
              <a:gd name="connsiteY1" fmla="*/ 604434 h 604434"/>
              <a:gd name="connsiteX2" fmla="*/ 449451 w 449451"/>
              <a:gd name="connsiteY2" fmla="*/ 0 h 604434"/>
            </a:gdLst>
            <a:ahLst/>
            <a:cxnLst>
              <a:cxn ang="0">
                <a:pos x="connsiteX0" y="connsiteY0"/>
              </a:cxn>
              <a:cxn ang="0">
                <a:pos x="connsiteX1" y="connsiteY1"/>
              </a:cxn>
              <a:cxn ang="0">
                <a:pos x="connsiteX2" y="connsiteY2"/>
              </a:cxn>
            </a:cxnLst>
            <a:rect l="l" t="t" r="r" b="b"/>
            <a:pathLst>
              <a:path w="449451" h="604434" fill="norm" stroke="1" extrusionOk="0">
                <a:moveTo>
                  <a:pt x="0" y="418455"/>
                </a:moveTo>
                <a:lnTo>
                  <a:pt x="154983" y="604434"/>
                </a:lnTo>
                <a:lnTo>
                  <a:pt x="449451" y="0"/>
                </a:ln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384050249" name="Freeform: Shape 2"/>
          <p:cNvSpPr/>
          <p:nvPr/>
        </p:nvSpPr>
        <p:spPr bwMode="auto">
          <a:xfrm>
            <a:off x="9895037" y="2405269"/>
            <a:ext cx="449451" cy="604434"/>
          </a:xfrm>
          <a:custGeom>
            <a:avLst/>
            <a:gdLst>
              <a:gd name="connsiteX0" fmla="*/ 0 w 449451"/>
              <a:gd name="connsiteY0" fmla="*/ 418455 h 604434"/>
              <a:gd name="connsiteX1" fmla="*/ 154983 w 449451"/>
              <a:gd name="connsiteY1" fmla="*/ 604434 h 604434"/>
              <a:gd name="connsiteX2" fmla="*/ 449451 w 449451"/>
              <a:gd name="connsiteY2" fmla="*/ 0 h 604434"/>
            </a:gdLst>
            <a:ahLst/>
            <a:cxnLst>
              <a:cxn ang="0">
                <a:pos x="connsiteX0" y="connsiteY0"/>
              </a:cxn>
              <a:cxn ang="0">
                <a:pos x="connsiteX1" y="connsiteY1"/>
              </a:cxn>
              <a:cxn ang="0">
                <a:pos x="connsiteX2" y="connsiteY2"/>
              </a:cxn>
            </a:cxnLst>
            <a:rect l="l" t="t" r="r" b="b"/>
            <a:pathLst>
              <a:path w="449451" h="604434" fill="norm" stroke="1" extrusionOk="0">
                <a:moveTo>
                  <a:pt x="0" y="418455"/>
                </a:moveTo>
                <a:lnTo>
                  <a:pt x="154983" y="604434"/>
                </a:lnTo>
                <a:lnTo>
                  <a:pt x="449451" y="0"/>
                </a:ln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709822169" name="Freeform: Shape 3"/>
          <p:cNvSpPr/>
          <p:nvPr/>
        </p:nvSpPr>
        <p:spPr bwMode="auto">
          <a:xfrm>
            <a:off x="10477501" y="3494671"/>
            <a:ext cx="449451" cy="604434"/>
          </a:xfrm>
          <a:custGeom>
            <a:avLst/>
            <a:gdLst>
              <a:gd name="connsiteX0" fmla="*/ 0 w 449451"/>
              <a:gd name="connsiteY0" fmla="*/ 418455 h 604434"/>
              <a:gd name="connsiteX1" fmla="*/ 154983 w 449451"/>
              <a:gd name="connsiteY1" fmla="*/ 604434 h 604434"/>
              <a:gd name="connsiteX2" fmla="*/ 449451 w 449451"/>
              <a:gd name="connsiteY2" fmla="*/ 0 h 604434"/>
            </a:gdLst>
            <a:ahLst/>
            <a:cxnLst>
              <a:cxn ang="0">
                <a:pos x="connsiteX0" y="connsiteY0"/>
              </a:cxn>
              <a:cxn ang="0">
                <a:pos x="connsiteX1" y="connsiteY1"/>
              </a:cxn>
              <a:cxn ang="0">
                <a:pos x="connsiteX2" y="connsiteY2"/>
              </a:cxn>
            </a:cxnLst>
            <a:rect l="l" t="t" r="r" b="b"/>
            <a:pathLst>
              <a:path w="449451" h="604434" fill="norm" stroke="1" extrusionOk="0">
                <a:moveTo>
                  <a:pt x="0" y="418455"/>
                </a:moveTo>
                <a:lnTo>
                  <a:pt x="154983" y="604434"/>
                </a:lnTo>
                <a:lnTo>
                  <a:pt x="449451" y="0"/>
                </a:ln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2124585803" name="TextBox 4"/>
          <p:cNvSpPr txBox="1"/>
          <p:nvPr/>
        </p:nvSpPr>
        <p:spPr bwMode="auto">
          <a:xfrm>
            <a:off x="9996191" y="5092944"/>
            <a:ext cx="696117" cy="307777"/>
          </a:xfrm>
          <a:prstGeom prst="rect">
            <a:avLst/>
          </a:prstGeom>
          <a:noFill/>
        </p:spPr>
        <p:txBody>
          <a:bodyPr wrap="square" rtlCol="0">
            <a:spAutoFit/>
          </a:bodyPr>
          <a:lstStyle/>
          <a:p>
            <a:pPr>
              <a:defRPr/>
            </a:pPr>
            <a:r>
              <a:rPr lang="en-US">
                <a:solidFill>
                  <a:srgbClr val="FF0000"/>
                </a:solidFill>
              </a:rPr>
              <a:t>(ch3)</a:t>
            </a:r>
            <a:endParaRPr lang="en-GB">
              <a:solidFill>
                <a:srgbClr val="FF0000"/>
              </a:solidFill>
            </a:endParaRPr>
          </a:p>
        </p:txBody>
      </p:sp>
      <p:sp>
        <p:nvSpPr>
          <p:cNvPr id="154636240" name="Freeform: Shape 5"/>
          <p:cNvSpPr/>
          <p:nvPr/>
        </p:nvSpPr>
        <p:spPr bwMode="auto">
          <a:xfrm>
            <a:off x="9186722" y="5756084"/>
            <a:ext cx="449451" cy="604434"/>
          </a:xfrm>
          <a:custGeom>
            <a:avLst/>
            <a:gdLst>
              <a:gd name="connsiteX0" fmla="*/ 0 w 449451"/>
              <a:gd name="connsiteY0" fmla="*/ 418455 h 604434"/>
              <a:gd name="connsiteX1" fmla="*/ 154983 w 449451"/>
              <a:gd name="connsiteY1" fmla="*/ 604434 h 604434"/>
              <a:gd name="connsiteX2" fmla="*/ 449451 w 449451"/>
              <a:gd name="connsiteY2" fmla="*/ 0 h 604434"/>
            </a:gdLst>
            <a:ahLst/>
            <a:cxnLst>
              <a:cxn ang="0">
                <a:pos x="connsiteX0" y="connsiteY0"/>
              </a:cxn>
              <a:cxn ang="0">
                <a:pos x="connsiteX1" y="connsiteY1"/>
              </a:cxn>
              <a:cxn ang="0">
                <a:pos x="connsiteX2" y="connsiteY2"/>
              </a:cxn>
            </a:cxnLst>
            <a:rect l="l" t="t" r="r" b="b"/>
            <a:pathLst>
              <a:path w="449451" h="604434" fill="norm" stroke="1" extrusionOk="0">
                <a:moveTo>
                  <a:pt x="0" y="418455"/>
                </a:moveTo>
                <a:lnTo>
                  <a:pt x="154983" y="604434"/>
                </a:lnTo>
                <a:lnTo>
                  <a:pt x="449451" y="0"/>
                </a:ln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cxnSp>
        <p:nvCxnSpPr>
          <p:cNvPr id="147797209" name="Straight Arrow Connector 7"/>
          <p:cNvCxnSpPr/>
          <p:nvPr/>
        </p:nvCxnSpPr>
        <p:spPr bwMode="auto">
          <a:xfrm>
            <a:off x="5319339" y="2714555"/>
            <a:ext cx="502476" cy="0"/>
          </a:xfrm>
          <a:prstGeom prst="straightConnector1">
            <a:avLst/>
          </a:prstGeom>
          <a:ln w="571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47797209"/>
                                        </p:tgtEl>
                                        <p:attrNameLst>
                                          <p:attrName>style.visibility</p:attrName>
                                        </p:attrNameLst>
                                      </p:cBhvr>
                                      <p:to>
                                        <p:strVal val="visible"/>
                                      </p:to>
                                    </p:set>
                                    <p:animEffect transition="in" filter="wipe(left)">
                                      <p:cBhvr>
                                        <p:cTn id="7" dur="500"/>
                                        <p:tgtEl>
                                          <p:spTgt spid="147797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9486888" name="Google Shape;1766;p103"/>
          <p:cNvSpPr txBox="1">
            <a:spLocks noGrp="1"/>
          </p:cNvSpPr>
          <p:nvPr>
            <p:ph type="body" idx="1"/>
          </p:nvPr>
        </p:nvSpPr>
        <p:spPr bwMode="auto">
          <a:xfrm>
            <a:off x="3048000" y="1845859"/>
            <a:ext cx="8686800" cy="4486274"/>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ts val="2800"/>
              <a:buChar char="•"/>
              <a:defRPr/>
            </a:pPr>
            <a:r>
              <a:rPr lang="en-US" b="1"/>
              <a:t>Purpose:</a:t>
            </a:r>
            <a:r>
              <a:rPr lang="en-US">
                <a:solidFill>
                  <a:srgbClr val="FF0000"/>
                </a:solidFill>
              </a:rPr>
              <a:t> to identify the people, groups or organizations that could </a:t>
            </a:r>
            <a:r>
              <a:rPr lang="en-US" b="1">
                <a:solidFill>
                  <a:srgbClr val="FF0000"/>
                </a:solidFill>
              </a:rPr>
              <a:t>impact or be impacted </a:t>
            </a:r>
            <a:r>
              <a:rPr lang="en-US">
                <a:solidFill>
                  <a:srgbClr val="FF0000"/>
                </a:solidFill>
              </a:rPr>
              <a:t>by the project,</a:t>
            </a:r>
            <a:endParaRPr/>
          </a:p>
          <a:p>
            <a:pPr marL="228600" lvl="0" indent="-228600" algn="l" rtl="0">
              <a:lnSpc>
                <a:spcPct val="90000"/>
              </a:lnSpc>
              <a:spcBef>
                <a:spcPts val="600"/>
              </a:spcBef>
              <a:spcAft>
                <a:spcPts val="0"/>
              </a:spcAft>
              <a:buClr>
                <a:schemeClr val="dk1"/>
              </a:buClr>
              <a:buSzPts val="2800"/>
              <a:buChar char="•"/>
              <a:defRPr/>
            </a:pPr>
            <a:r>
              <a:rPr lang="en-US"/>
              <a:t>to </a:t>
            </a:r>
            <a:r>
              <a:rPr lang="en-US" b="1"/>
              <a:t>analyze stakeholder expectations</a:t>
            </a:r>
            <a:r>
              <a:rPr lang="en-US"/>
              <a:t> and their impact on the project </a:t>
            </a:r>
            <a:endParaRPr/>
          </a:p>
          <a:p>
            <a:pPr marL="228600" lvl="0" indent="-228600" algn="l" rtl="0">
              <a:lnSpc>
                <a:spcPct val="90000"/>
              </a:lnSpc>
              <a:spcBef>
                <a:spcPts val="600"/>
              </a:spcBef>
              <a:spcAft>
                <a:spcPts val="0"/>
              </a:spcAft>
              <a:buClr>
                <a:schemeClr val="dk1"/>
              </a:buClr>
              <a:buSzPts val="2800"/>
              <a:buChar char="•"/>
              <a:defRPr/>
            </a:pPr>
            <a:r>
              <a:rPr lang="en-US"/>
              <a:t>to develop appropriate management strategies to effectively engage stakeholders in project decisions and execution.</a:t>
            </a:r>
            <a:endParaRPr/>
          </a:p>
          <a:p>
            <a:pPr marL="228600" lvl="0" indent="-228600" algn="l" rtl="0">
              <a:lnSpc>
                <a:spcPct val="90000"/>
              </a:lnSpc>
              <a:spcBef>
                <a:spcPts val="1000"/>
              </a:spcBef>
              <a:spcAft>
                <a:spcPts val="0"/>
              </a:spcAft>
              <a:buClr>
                <a:schemeClr val="dk1"/>
              </a:buClr>
              <a:buSzPts val="2800"/>
              <a:buChar char="•"/>
              <a:defRPr/>
            </a:pPr>
            <a:r>
              <a:rPr lang="en-US" b="1"/>
              <a:t>4 processes:</a:t>
            </a:r>
            <a:endParaRPr b="1"/>
          </a:p>
          <a:p>
            <a:pPr marL="914400" lvl="1" indent="-457200" algn="l" rtl="0">
              <a:lnSpc>
                <a:spcPct val="90000"/>
              </a:lnSpc>
              <a:spcBef>
                <a:spcPts val="500"/>
              </a:spcBef>
              <a:spcAft>
                <a:spcPts val="0"/>
              </a:spcAft>
              <a:buClr>
                <a:schemeClr val="dk1"/>
              </a:buClr>
              <a:buSzPts val="2400"/>
              <a:buFont typeface="Times New Roman"/>
              <a:buAutoNum type="arabicPeriod"/>
              <a:defRPr/>
            </a:pPr>
            <a:r>
              <a:rPr lang="en-US" b="1"/>
              <a:t>Identify Stakeholders</a:t>
            </a:r>
            <a:endParaRPr b="1"/>
          </a:p>
          <a:p>
            <a:pPr lvl="1" indent="-457200">
              <a:buSzPts val="2400"/>
              <a:buFont typeface="Times New Roman"/>
              <a:buAutoNum type="arabicPeriod"/>
              <a:defRPr/>
            </a:pPr>
            <a:r>
              <a:rPr lang="en-US" b="1"/>
              <a:t>Plan Stakeholder Engagement</a:t>
            </a:r>
            <a:endParaRPr b="1"/>
          </a:p>
          <a:p>
            <a:pPr marL="914400" lvl="1" indent="-457200" algn="l" rtl="0">
              <a:lnSpc>
                <a:spcPct val="90000"/>
              </a:lnSpc>
              <a:spcBef>
                <a:spcPts val="500"/>
              </a:spcBef>
              <a:spcAft>
                <a:spcPts val="0"/>
              </a:spcAft>
              <a:buClr>
                <a:schemeClr val="dk1"/>
              </a:buClr>
              <a:buSzPts val="2400"/>
              <a:buFont typeface="Times New Roman"/>
              <a:buAutoNum type="arabicPeriod"/>
              <a:defRPr/>
            </a:pPr>
            <a:r>
              <a:rPr lang="en-US" b="1"/>
              <a:t>Manage Stakeholder Engagement</a:t>
            </a:r>
            <a:endParaRPr b="1"/>
          </a:p>
          <a:p>
            <a:pPr marL="914400" lvl="1" indent="-457200" algn="l" rtl="0">
              <a:lnSpc>
                <a:spcPct val="90000"/>
              </a:lnSpc>
              <a:spcBef>
                <a:spcPts val="500"/>
              </a:spcBef>
              <a:spcAft>
                <a:spcPts val="0"/>
              </a:spcAft>
              <a:buClr>
                <a:schemeClr val="dk1"/>
              </a:buClr>
              <a:buSzPts val="2400"/>
              <a:buFont typeface="Times New Roman"/>
              <a:buAutoNum type="arabicPeriod"/>
              <a:defRPr/>
            </a:pPr>
            <a:r>
              <a:rPr lang="en-US" b="1"/>
              <a:t>Monitor Stakeholder Engagement</a:t>
            </a:r>
            <a:endParaRPr b="1"/>
          </a:p>
        </p:txBody>
      </p:sp>
      <p:sp>
        <p:nvSpPr>
          <p:cNvPr id="1580459726" name="Google Shape;1767;p10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94</a:t>
            </a:fld>
            <a:endParaRPr/>
          </a:p>
        </p:txBody>
      </p:sp>
      <p:sp>
        <p:nvSpPr>
          <p:cNvPr id="1559225143" name="Google Shape;1768;p103"/>
          <p:cNvSpPr txBox="1"/>
          <p:nvPr/>
        </p:nvSpPr>
        <p:spPr bwMode="auto">
          <a:xfrm>
            <a:off x="3048000" y="533400"/>
            <a:ext cx="6971428" cy="715961"/>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dk1"/>
              </a:buClr>
              <a:buSzPts val="4000"/>
              <a:buFont typeface="Calibri"/>
              <a:buNone/>
              <a:defRPr/>
            </a:pPr>
            <a:r>
              <a:rPr lang="en-US" sz="4000" b="1" u="sng">
                <a:solidFill>
                  <a:schemeClr val="dk1"/>
                </a:solidFill>
                <a:latin typeface="Calibri"/>
                <a:ea typeface="Calibri"/>
                <a:cs typeface="Calibri"/>
              </a:rPr>
              <a:t>Project Stakeholder </a:t>
            </a:r>
            <a:r>
              <a:rPr lang="en-US" sz="4000" b="1">
                <a:solidFill>
                  <a:schemeClr val="dk1"/>
                </a:solidFill>
                <a:latin typeface="Calibri"/>
                <a:ea typeface="Calibri"/>
                <a:cs typeface="Calibri"/>
              </a:rPr>
              <a:t>Management</a:t>
            </a:r>
            <a:endParaRPr sz="4000" b="1">
              <a:solidFill>
                <a:schemeClr val="dk1"/>
              </a:solidFill>
              <a:latin typeface="Calibri"/>
              <a:ea typeface="Calibri"/>
              <a:cs typeface="Calibri"/>
            </a:endParaRPr>
          </a:p>
        </p:txBody>
      </p:sp>
      <p:sp>
        <p:nvSpPr>
          <p:cNvPr id="2101650676" name="Google Shape;1769;p103"/>
          <p:cNvSpPr txBox="1"/>
          <p:nvPr/>
        </p:nvSpPr>
        <p:spPr bwMode="auto">
          <a:xfrm>
            <a:off x="3085228" y="113513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110784577" name="Google Shape;1770;p103"/>
          <p:cNvCxnSpPr/>
          <p:nvPr/>
        </p:nvCxnSpPr>
        <p:spPr bwMode="auto">
          <a:xfrm rot="10800000">
            <a:off x="3200400" y="1608648"/>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1043802158" name="Google Shape;1771;p103"/>
          <p:cNvGrpSpPr/>
          <p:nvPr/>
        </p:nvGrpSpPr>
        <p:grpSpPr bwMode="auto">
          <a:xfrm>
            <a:off x="0" y="-1"/>
            <a:ext cx="2514600" cy="6858001"/>
            <a:chOff x="0" y="-1"/>
            <a:chExt cx="2514600" cy="6858001"/>
          </a:xfrm>
        </p:grpSpPr>
        <p:pic>
          <p:nvPicPr>
            <p:cNvPr id="1772" name="Google Shape;1772;p103"/>
            <p:cNvPicPr/>
            <p:nvPr/>
          </p:nvPicPr>
          <p:blipFill rotWithShape="1">
            <a:blip r:embed="rId3">
              <a:alphaModFix/>
            </a:blip>
            <a:srcRect l="35156" t="0" r="21873" b="0"/>
            <a:stretch/>
          </p:blipFill>
          <p:spPr bwMode="auto">
            <a:xfrm>
              <a:off x="0" y="2956560"/>
              <a:ext cx="2514600" cy="3901440"/>
            </a:xfrm>
            <a:prstGeom prst="rect">
              <a:avLst/>
            </a:prstGeom>
            <a:noFill/>
            <a:ln>
              <a:noFill/>
            </a:ln>
          </p:spPr>
        </p:pic>
        <p:pic>
          <p:nvPicPr>
            <p:cNvPr id="1773" name="Google Shape;1773;p103"/>
            <p:cNvPicPr/>
            <p:nvPr/>
          </p:nvPicPr>
          <p:blipFill rotWithShape="1">
            <a:blip r:embed="rId4">
              <a:alphaModFix/>
            </a:blip>
            <a:srcRect l="3260" t="2724" r="53771" b="17259"/>
            <a:stretch/>
          </p:blipFill>
          <p:spPr bwMode="auto">
            <a:xfrm>
              <a:off x="0" y="-1"/>
              <a:ext cx="2514600" cy="3124201"/>
            </a:xfrm>
            <a:prstGeom prst="rect">
              <a:avLst/>
            </a:prstGeom>
            <a:noFill/>
            <a:ln>
              <a:noFill/>
            </a:ln>
          </p:spPr>
        </p:pic>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559225143"/>
                                        </p:tgtEl>
                                        <p:attrNameLst>
                                          <p:attrName>style.visibility</p:attrName>
                                        </p:attrNameLst>
                                      </p:cBhvr>
                                      <p:to>
                                        <p:strVal val="visible"/>
                                      </p:to>
                                    </p:set>
                                    <p:anim calcmode="lin" valueType="num">
                                      <p:cBhvr additive="base">
                                        <p:cTn id="7" dur="500" fill="hold"/>
                                        <p:tgtEl>
                                          <p:spTgt spid="1559225143"/>
                                        </p:tgtEl>
                                        <p:attrNameLst>
                                          <p:attrName>ppt_x</p:attrName>
                                        </p:attrNameLst>
                                      </p:cBhvr>
                                      <p:tavLst>
                                        <p:tav tm="0">
                                          <p:val>
                                            <p:strVal val="#ppt_x"/>
                                          </p:val>
                                        </p:tav>
                                        <p:tav tm="100000">
                                          <p:val>
                                            <p:strVal val="#ppt_x"/>
                                          </p:val>
                                        </p:tav>
                                      </p:tavLst>
                                    </p:anim>
                                    <p:anim calcmode="lin" valueType="num">
                                      <p:cBhvr additive="base">
                                        <p:cTn id="8" dur="500" fill="hold"/>
                                        <p:tgtEl>
                                          <p:spTgt spid="155922514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9225143" grpId="0"/>
    </p:bldLst>
  </p:timing>
</p:sld>
</file>

<file path=ppt/slides/slide9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8870874" name="Google Shape;1778;p104"/>
          <p:cNvSpPr txBox="1">
            <a:spLocks noGrp="1"/>
          </p:cNvSpPr>
          <p:nvPr>
            <p:ph type="body" idx="1"/>
          </p:nvPr>
        </p:nvSpPr>
        <p:spPr bwMode="auto">
          <a:xfrm>
            <a:off x="3200400" y="3334930"/>
            <a:ext cx="8458200" cy="3205163"/>
          </a:xfrm>
          <a:prstGeom prst="rect">
            <a:avLst/>
          </a:prstGeom>
          <a:noFill/>
          <a:ln>
            <a:noFill/>
          </a:ln>
        </p:spPr>
        <p:txBody>
          <a:bodyPr spcFirstLastPara="1" wrap="square" lIns="91425" tIns="45700" rIns="91425" bIns="45700" anchor="t" anchorCtr="0">
            <a:normAutofit/>
          </a:bodyPr>
          <a:lstStyle/>
          <a:p>
            <a:pPr marL="57150" lvl="0" indent="0" algn="l" rtl="0">
              <a:lnSpc>
                <a:spcPct val="90000"/>
              </a:lnSpc>
              <a:spcBef>
                <a:spcPts val="0"/>
              </a:spcBef>
              <a:spcAft>
                <a:spcPts val="0"/>
              </a:spcAft>
              <a:buClr>
                <a:schemeClr val="dk1"/>
              </a:buClr>
              <a:buSzPts val="2400"/>
              <a:buNone/>
              <a:defRPr/>
            </a:pPr>
            <a:r>
              <a:rPr lang="en-US" sz="2400" b="1"/>
              <a:t>1. Identify Stakeholders</a:t>
            </a:r>
            <a:endParaRPr/>
          </a:p>
          <a:p>
            <a:pPr marL="514350" lvl="0" indent="-457200" algn="l" rtl="0">
              <a:lnSpc>
                <a:spcPct val="90000"/>
              </a:lnSpc>
              <a:spcBef>
                <a:spcPts val="1000"/>
              </a:spcBef>
              <a:spcAft>
                <a:spcPts val="0"/>
              </a:spcAft>
              <a:buClr>
                <a:schemeClr val="dk1"/>
              </a:buClr>
              <a:buSzPts val="2400"/>
              <a:buChar char="•"/>
              <a:defRPr/>
            </a:pPr>
            <a:r>
              <a:rPr lang="en-US" sz="2400" b="1"/>
              <a:t>Identify the people, groups, or organizations that could impact or be impacted</a:t>
            </a:r>
            <a:r>
              <a:rPr lang="en-US" sz="2400"/>
              <a:t> </a:t>
            </a:r>
            <a:r>
              <a:rPr lang="en-US" sz="2400" b="1"/>
              <a:t>by</a:t>
            </a:r>
            <a:r>
              <a:rPr lang="en-US" sz="2400"/>
              <a:t> </a:t>
            </a:r>
            <a:r>
              <a:rPr lang="en-US" sz="2400" b="1"/>
              <a:t>a decision, activity, or outcome of the project</a:t>
            </a:r>
            <a:r>
              <a:rPr lang="en-US" sz="2400"/>
              <a:t>; and analyze and document relevant information regarding their interests, involvement, interdependencies, influence, and potential impact on project success.</a:t>
            </a:r>
            <a:endParaRPr/>
          </a:p>
          <a:p>
            <a:pPr marL="514350" lvl="0" indent="-457200" algn="l" rtl="0">
              <a:lnSpc>
                <a:spcPct val="90000"/>
              </a:lnSpc>
              <a:spcBef>
                <a:spcPts val="1000"/>
              </a:spcBef>
              <a:spcAft>
                <a:spcPts val="0"/>
              </a:spcAft>
              <a:buClr>
                <a:schemeClr val="dk1"/>
              </a:buClr>
              <a:buSzPts val="2400"/>
              <a:buChar char="•"/>
              <a:defRPr/>
            </a:pPr>
            <a:r>
              <a:rPr lang="en-US" sz="2400">
                <a:solidFill>
                  <a:srgbClr val="FF0000"/>
                </a:solidFill>
              </a:rPr>
              <a:t>Output</a:t>
            </a:r>
            <a:r>
              <a:rPr lang="en-US" sz="2400"/>
              <a:t>: </a:t>
            </a:r>
            <a:r>
              <a:rPr lang="en-US" sz="2400" b="1"/>
              <a:t>stakeholder register. </a:t>
            </a:r>
            <a:endParaRPr b="1"/>
          </a:p>
        </p:txBody>
      </p:sp>
      <p:sp>
        <p:nvSpPr>
          <p:cNvPr id="13851853" name="Google Shape;1779;p10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95</a:t>
            </a:fld>
            <a:endParaRPr/>
          </a:p>
        </p:txBody>
      </p:sp>
      <p:sp>
        <p:nvSpPr>
          <p:cNvPr id="1321942292" name="Google Shape;1789;p104"/>
          <p:cNvSpPr txBox="1"/>
          <p:nvPr/>
        </p:nvSpPr>
        <p:spPr bwMode="auto">
          <a:xfrm>
            <a:off x="3048000" y="533400"/>
            <a:ext cx="6971428" cy="715961"/>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Stakeholder Management</a:t>
            </a:r>
            <a:endParaRPr sz="4000" b="1">
              <a:solidFill>
                <a:schemeClr val="dk1"/>
              </a:solidFill>
              <a:latin typeface="Calibri"/>
              <a:ea typeface="Calibri"/>
              <a:cs typeface="Calibri"/>
            </a:endParaRPr>
          </a:p>
        </p:txBody>
      </p:sp>
      <p:sp>
        <p:nvSpPr>
          <p:cNvPr id="1682396940" name="Google Shape;1790;p104"/>
          <p:cNvSpPr txBox="1"/>
          <p:nvPr/>
        </p:nvSpPr>
        <p:spPr bwMode="auto">
          <a:xfrm>
            <a:off x="3085228" y="113513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893046114" name="Google Shape;1791;p104"/>
          <p:cNvCxnSpPr/>
          <p:nvPr/>
        </p:nvCxnSpPr>
        <p:spPr bwMode="auto">
          <a:xfrm rot="10800000">
            <a:off x="3200400" y="1608648"/>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45740607" name="Google Shape;1792;p104"/>
          <p:cNvGrpSpPr/>
          <p:nvPr/>
        </p:nvGrpSpPr>
        <p:grpSpPr bwMode="auto">
          <a:xfrm>
            <a:off x="0" y="-1"/>
            <a:ext cx="2514600" cy="6858001"/>
            <a:chOff x="0" y="-1"/>
            <a:chExt cx="2514600" cy="6858001"/>
          </a:xfrm>
        </p:grpSpPr>
        <p:pic>
          <p:nvPicPr>
            <p:cNvPr id="1793" name="Google Shape;1793;p104"/>
            <p:cNvPicPr/>
            <p:nvPr/>
          </p:nvPicPr>
          <p:blipFill rotWithShape="1">
            <a:blip r:embed="rId3">
              <a:alphaModFix/>
            </a:blip>
            <a:srcRect l="35156" t="0" r="21873" b="0"/>
            <a:stretch/>
          </p:blipFill>
          <p:spPr bwMode="auto">
            <a:xfrm>
              <a:off x="0" y="2956560"/>
              <a:ext cx="2514600" cy="3901440"/>
            </a:xfrm>
            <a:prstGeom prst="rect">
              <a:avLst/>
            </a:prstGeom>
            <a:noFill/>
            <a:ln>
              <a:noFill/>
            </a:ln>
          </p:spPr>
        </p:pic>
        <p:pic>
          <p:nvPicPr>
            <p:cNvPr id="1794" name="Google Shape;1794;p104"/>
            <p:cNvPicPr/>
            <p:nvPr/>
          </p:nvPicPr>
          <p:blipFill rotWithShape="1">
            <a:blip r:embed="rId4">
              <a:alphaModFix/>
            </a:blip>
            <a:srcRect l="3260" t="2724" r="53771" b="17259"/>
            <a:stretch/>
          </p:blipFill>
          <p:spPr bwMode="auto">
            <a:xfrm>
              <a:off x="0" y="-1"/>
              <a:ext cx="2514600" cy="3124201"/>
            </a:xfrm>
            <a:prstGeom prst="rect">
              <a:avLst/>
            </a:prstGeom>
            <a:noFill/>
            <a:ln>
              <a:noFill/>
            </a:ln>
          </p:spPr>
        </p:pic>
      </p:grpSp>
      <p:grpSp>
        <p:nvGrpSpPr>
          <p:cNvPr id="1677989734" name="Google Shape;1843;p107"/>
          <p:cNvGrpSpPr/>
          <p:nvPr/>
        </p:nvGrpSpPr>
        <p:grpSpPr bwMode="auto">
          <a:xfrm>
            <a:off x="3202694" y="2079263"/>
            <a:ext cx="7411391" cy="785051"/>
            <a:chOff x="2294" y="70819"/>
            <a:chExt cx="7411391" cy="785051"/>
          </a:xfrm>
        </p:grpSpPr>
        <p:sp>
          <p:nvSpPr>
            <p:cNvPr id="3" name="Google Shape;1844;p107"/>
            <p:cNvSpPr/>
            <p:nvPr/>
          </p:nvSpPr>
          <p:spPr bwMode="auto">
            <a:xfrm>
              <a:off x="2294" y="70819"/>
              <a:ext cx="2112297" cy="78505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4" name="Google Shape;1845;p107"/>
            <p:cNvSpPr txBox="1"/>
            <p:nvPr/>
          </p:nvSpPr>
          <p:spPr bwMode="auto">
            <a:xfrm>
              <a:off x="394820" y="70819"/>
              <a:ext cx="1327246" cy="785051"/>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1">
                  <a:solidFill>
                    <a:schemeClr val="lt1"/>
                  </a:solidFill>
                  <a:latin typeface="Calibri"/>
                  <a:ea typeface="Calibri"/>
                  <a:cs typeface="Calibri"/>
                </a:rPr>
                <a:t>1.                             Identify Stakeholders                         </a:t>
              </a:r>
              <a:endParaRPr sz="1400" b="1">
                <a:solidFill>
                  <a:schemeClr val="lt1"/>
                </a:solidFill>
                <a:latin typeface="Calibri"/>
                <a:ea typeface="Calibri"/>
                <a:cs typeface="Calibri"/>
              </a:endParaRPr>
            </a:p>
          </p:txBody>
        </p:sp>
        <p:sp>
          <p:nvSpPr>
            <p:cNvPr id="5" name="Google Shape;1846;p107"/>
            <p:cNvSpPr/>
            <p:nvPr/>
          </p:nvSpPr>
          <p:spPr bwMode="auto">
            <a:xfrm>
              <a:off x="1918328" y="70819"/>
              <a:ext cx="1962627" cy="78505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6" name="Google Shape;1847;p107"/>
            <p:cNvSpPr txBox="1"/>
            <p:nvPr/>
          </p:nvSpPr>
          <p:spPr bwMode="auto">
            <a:xfrm>
              <a:off x="2310854" y="70819"/>
              <a:ext cx="1177575" cy="785051"/>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2. </a:t>
              </a:r>
              <a:br>
                <a:rPr lang="en-US" sz="1400">
                  <a:solidFill>
                    <a:schemeClr val="lt1"/>
                  </a:solidFill>
                  <a:latin typeface="Calibri"/>
                  <a:ea typeface="Calibri"/>
                  <a:cs typeface="Calibri"/>
                </a:rPr>
              </a:br>
              <a:r>
                <a:rPr lang="en-US" sz="1400">
                  <a:solidFill>
                    <a:schemeClr val="lt1"/>
                  </a:solidFill>
                  <a:latin typeface="Calibri"/>
                  <a:ea typeface="Calibri"/>
                  <a:cs typeface="Calibri"/>
                </a:rPr>
                <a:t>Plan Stakeholder Engagement</a:t>
              </a:r>
              <a:endParaRPr sz="1400">
                <a:solidFill>
                  <a:schemeClr val="lt1"/>
                </a:solidFill>
                <a:latin typeface="Calibri"/>
                <a:ea typeface="Calibri"/>
                <a:cs typeface="Calibri"/>
              </a:endParaRPr>
            </a:p>
          </p:txBody>
        </p:sp>
        <p:sp>
          <p:nvSpPr>
            <p:cNvPr id="7" name="Google Shape;1848;p107"/>
            <p:cNvSpPr/>
            <p:nvPr/>
          </p:nvSpPr>
          <p:spPr bwMode="auto">
            <a:xfrm>
              <a:off x="3684693" y="70819"/>
              <a:ext cx="1962627" cy="78505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 name="Google Shape;1849;p107"/>
            <p:cNvSpPr txBox="1"/>
            <p:nvPr/>
          </p:nvSpPr>
          <p:spPr bwMode="auto">
            <a:xfrm>
              <a:off x="4077219" y="70819"/>
              <a:ext cx="1177575" cy="785051"/>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3. </a:t>
              </a:r>
              <a:br>
                <a:rPr lang="en-US" sz="1400">
                  <a:solidFill>
                    <a:schemeClr val="lt1"/>
                  </a:solidFill>
                  <a:latin typeface="Calibri"/>
                  <a:ea typeface="Calibri"/>
                  <a:cs typeface="Calibri"/>
                </a:rPr>
              </a:br>
              <a:r>
                <a:rPr lang="en-US" sz="1400">
                  <a:solidFill>
                    <a:schemeClr val="lt1"/>
                  </a:solidFill>
                  <a:latin typeface="Calibri"/>
                  <a:ea typeface="Calibri"/>
                  <a:cs typeface="Calibri"/>
                </a:rPr>
                <a:t>Manage Stakeholder Engagement</a:t>
              </a:r>
              <a:endParaRPr sz="1400">
                <a:solidFill>
                  <a:schemeClr val="lt1"/>
                </a:solidFill>
                <a:latin typeface="Calibri"/>
                <a:ea typeface="Calibri"/>
                <a:cs typeface="Calibri"/>
              </a:endParaRPr>
            </a:p>
          </p:txBody>
        </p:sp>
        <p:sp>
          <p:nvSpPr>
            <p:cNvPr id="9" name="Google Shape;1850;p107"/>
            <p:cNvSpPr/>
            <p:nvPr/>
          </p:nvSpPr>
          <p:spPr bwMode="auto">
            <a:xfrm>
              <a:off x="5451058" y="70819"/>
              <a:ext cx="1962627" cy="785051"/>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 name="Google Shape;1851;p107"/>
            <p:cNvSpPr txBox="1"/>
            <p:nvPr/>
          </p:nvSpPr>
          <p:spPr bwMode="auto">
            <a:xfrm>
              <a:off x="5843584" y="70819"/>
              <a:ext cx="1177575" cy="785051"/>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4. </a:t>
              </a:r>
              <a:br>
                <a:rPr lang="en-US" sz="1400">
                  <a:solidFill>
                    <a:schemeClr val="lt1"/>
                  </a:solidFill>
                  <a:latin typeface="Calibri"/>
                  <a:ea typeface="Calibri"/>
                  <a:cs typeface="Calibri"/>
                </a:rPr>
              </a:br>
              <a:r>
                <a:rPr lang="en-US" sz="1400">
                  <a:solidFill>
                    <a:schemeClr val="lt1"/>
                  </a:solidFill>
                  <a:latin typeface="Calibri"/>
                  <a:ea typeface="Calibri"/>
                  <a:cs typeface="Calibri"/>
                </a:rPr>
                <a:t>Monitor Stakeholder Engagement</a:t>
              </a:r>
              <a:endParaRPr sz="1400">
                <a:solidFill>
                  <a:schemeClr val="lt1"/>
                </a:solidFill>
                <a:latin typeface="Calibri"/>
                <a:ea typeface="Calibri"/>
                <a:cs typeface="Calibri"/>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78870874">
                                            <p:txEl>
                                              <p:pRg st="0" end="0"/>
                                            </p:txEl>
                                          </p:spTgt>
                                        </p:tgtEl>
                                        <p:attrNameLst>
                                          <p:attrName>style.visibility</p:attrName>
                                        </p:attrNameLst>
                                      </p:cBhvr>
                                      <p:to>
                                        <p:strVal val="visible"/>
                                      </p:to>
                                    </p:set>
                                    <p:animEffect transition="in" filter="wipe(left)">
                                      <p:cBhvr>
                                        <p:cTn id="7" dur="500"/>
                                        <p:tgtEl>
                                          <p:spTgt spid="57887087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57289335" name="Google Shape;1778;p104"/>
          <p:cNvSpPr txBox="1">
            <a:spLocks noGrp="1"/>
          </p:cNvSpPr>
          <p:nvPr>
            <p:ph type="body" idx="1"/>
          </p:nvPr>
        </p:nvSpPr>
        <p:spPr bwMode="auto">
          <a:xfrm>
            <a:off x="3120001" y="1631140"/>
            <a:ext cx="9246170" cy="715961"/>
          </a:xfrm>
          <a:prstGeom prst="rect">
            <a:avLst/>
          </a:prstGeom>
          <a:noFill/>
          <a:ln>
            <a:noFill/>
          </a:ln>
        </p:spPr>
        <p:txBody>
          <a:bodyPr spcFirstLastPara="1" wrap="square" lIns="91425" tIns="45700" rIns="91425" bIns="45700" anchor="t" anchorCtr="0">
            <a:normAutofit/>
          </a:bodyPr>
          <a:lstStyle/>
          <a:p>
            <a:pPr marL="57150" lvl="0" indent="0" algn="l" rtl="0">
              <a:lnSpc>
                <a:spcPct val="90000"/>
              </a:lnSpc>
              <a:spcBef>
                <a:spcPts val="0"/>
              </a:spcBef>
              <a:spcAft>
                <a:spcPts val="0"/>
              </a:spcAft>
              <a:buClr>
                <a:schemeClr val="dk1"/>
              </a:buClr>
              <a:buSzPts val="2400"/>
              <a:buNone/>
              <a:defRPr/>
            </a:pPr>
            <a:r>
              <a:rPr lang="en-US" sz="1800" b="1">
                <a:solidFill>
                  <a:srgbClr val="FF0000"/>
                </a:solidFill>
                <a:latin typeface="Calibri"/>
                <a:cs typeface="Calibri"/>
              </a:rPr>
              <a:t>Stakeholder register (e.g. 1)</a:t>
            </a:r>
            <a:endParaRPr/>
          </a:p>
          <a:p>
            <a:pPr marL="57150" indent="0">
              <a:spcBef>
                <a:spcPts val="0"/>
              </a:spcBef>
              <a:buSzPts val="2400"/>
              <a:buNone/>
              <a:defRPr/>
            </a:pPr>
            <a:r>
              <a:rPr lang="en-GB" sz="1800" i="1">
                <a:latin typeface="Calibri"/>
                <a:ea typeface="Arial"/>
                <a:cs typeface="Calibri"/>
              </a:rPr>
              <a:t>(Project  = To develop a </a:t>
            </a:r>
            <a:r>
              <a:rPr lang="en-GB" sz="1800" b="1" i="1">
                <a:latin typeface="Calibri"/>
                <a:ea typeface="Arial"/>
                <a:cs typeface="Calibri"/>
              </a:rPr>
              <a:t>Web-based Attendance System (WAS) </a:t>
            </a:r>
            <a:r>
              <a:rPr lang="en-GB" sz="1800" i="1">
                <a:latin typeface="Calibri"/>
                <a:ea typeface="Arial"/>
                <a:cs typeface="Calibri"/>
              </a:rPr>
              <a:t>for AAA University)</a:t>
            </a:r>
            <a:endParaRPr/>
          </a:p>
          <a:p>
            <a:pPr marL="57150" lvl="0" indent="0" algn="l" rtl="0">
              <a:lnSpc>
                <a:spcPct val="90000"/>
              </a:lnSpc>
              <a:spcBef>
                <a:spcPts val="0"/>
              </a:spcBef>
              <a:spcAft>
                <a:spcPts val="0"/>
              </a:spcAft>
              <a:buClr>
                <a:schemeClr val="dk1"/>
              </a:buClr>
              <a:buSzPts val="2400"/>
              <a:buNone/>
              <a:defRPr/>
            </a:pPr>
            <a:endParaRPr lang="en-US" sz="1800" b="1">
              <a:solidFill>
                <a:srgbClr val="FF0000"/>
              </a:solidFill>
              <a:latin typeface="Calibri"/>
              <a:cs typeface="Calibri"/>
            </a:endParaRPr>
          </a:p>
          <a:p>
            <a:pPr marL="57150" lvl="0" indent="0" algn="l" rtl="0">
              <a:lnSpc>
                <a:spcPct val="90000"/>
              </a:lnSpc>
              <a:spcBef>
                <a:spcPts val="0"/>
              </a:spcBef>
              <a:spcAft>
                <a:spcPts val="0"/>
              </a:spcAft>
              <a:buClr>
                <a:schemeClr val="dk1"/>
              </a:buClr>
              <a:buSzPts val="2400"/>
              <a:buNone/>
              <a:defRPr/>
            </a:pPr>
            <a:endParaRPr sz="1800" b="1" u="sng">
              <a:latin typeface="Calibri"/>
              <a:cs typeface="Calibri"/>
            </a:endParaRPr>
          </a:p>
        </p:txBody>
      </p:sp>
      <p:sp>
        <p:nvSpPr>
          <p:cNvPr id="1037265447" name="Google Shape;1779;p10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96</a:t>
            </a:fld>
            <a:endParaRPr/>
          </a:p>
        </p:txBody>
      </p:sp>
      <p:sp>
        <p:nvSpPr>
          <p:cNvPr id="109035609" name="Google Shape;1789;p104"/>
          <p:cNvSpPr txBox="1"/>
          <p:nvPr/>
        </p:nvSpPr>
        <p:spPr bwMode="auto">
          <a:xfrm>
            <a:off x="3048000" y="533400"/>
            <a:ext cx="6971428" cy="715961"/>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Stakeholder Management</a:t>
            </a:r>
            <a:endParaRPr sz="4000" b="1">
              <a:solidFill>
                <a:schemeClr val="dk1"/>
              </a:solidFill>
              <a:latin typeface="Calibri"/>
              <a:ea typeface="Calibri"/>
              <a:cs typeface="Calibri"/>
            </a:endParaRPr>
          </a:p>
        </p:txBody>
      </p:sp>
      <p:sp>
        <p:nvSpPr>
          <p:cNvPr id="1811085595" name="Google Shape;1790;p104"/>
          <p:cNvSpPr txBox="1"/>
          <p:nvPr/>
        </p:nvSpPr>
        <p:spPr bwMode="auto">
          <a:xfrm>
            <a:off x="3085228" y="113513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grpSp>
        <p:nvGrpSpPr>
          <p:cNvPr id="216157142" name="Google Shape;1792;p104"/>
          <p:cNvGrpSpPr/>
          <p:nvPr/>
        </p:nvGrpSpPr>
        <p:grpSpPr bwMode="auto">
          <a:xfrm>
            <a:off x="0" y="-1"/>
            <a:ext cx="2514600" cy="6858001"/>
            <a:chOff x="0" y="-1"/>
            <a:chExt cx="2514600" cy="6858001"/>
          </a:xfrm>
        </p:grpSpPr>
        <p:pic>
          <p:nvPicPr>
            <p:cNvPr id="1793" name="Google Shape;1793;p104"/>
            <p:cNvPicPr/>
            <p:nvPr/>
          </p:nvPicPr>
          <p:blipFill rotWithShape="1">
            <a:blip r:embed="rId3">
              <a:alphaModFix/>
            </a:blip>
            <a:srcRect l="35156" t="0" r="21873" b="0"/>
            <a:stretch/>
          </p:blipFill>
          <p:spPr bwMode="auto">
            <a:xfrm>
              <a:off x="0" y="2956560"/>
              <a:ext cx="2514600" cy="3901440"/>
            </a:xfrm>
            <a:prstGeom prst="rect">
              <a:avLst/>
            </a:prstGeom>
            <a:noFill/>
            <a:ln>
              <a:noFill/>
            </a:ln>
          </p:spPr>
        </p:pic>
        <p:pic>
          <p:nvPicPr>
            <p:cNvPr id="1794" name="Google Shape;1794;p104"/>
            <p:cNvPicPr/>
            <p:nvPr/>
          </p:nvPicPr>
          <p:blipFill rotWithShape="1">
            <a:blip r:embed="rId4">
              <a:alphaModFix/>
            </a:blip>
            <a:srcRect l="3260" t="2724" r="53771" b="17259"/>
            <a:stretch/>
          </p:blipFill>
          <p:spPr bwMode="auto">
            <a:xfrm>
              <a:off x="0" y="-1"/>
              <a:ext cx="2514600" cy="3124201"/>
            </a:xfrm>
            <a:prstGeom prst="rect">
              <a:avLst/>
            </a:prstGeom>
            <a:noFill/>
            <a:ln>
              <a:noFill/>
            </a:ln>
          </p:spPr>
        </p:pic>
      </p:grpSp>
      <p:graphicFrame>
        <p:nvGraphicFramePr>
          <p:cNvPr id="1072811078" name="Table 3"/>
          <p:cNvGraphicFramePr>
            <a:graphicFrameLocks xmlns:a="http://schemas.openxmlformats.org/drawingml/2006/main" noGrp="1"/>
          </p:cNvGraphicFramePr>
          <p:nvPr/>
        </p:nvGraphicFramePr>
        <p:xfrm rot="0">
          <a:off x="3283797" y="2295218"/>
          <a:ext cx="8473190" cy="1693164"/>
        </p:xfrm>
        <a:graphic>
          <a:graphicData uri="http://schemas.openxmlformats.org/drawingml/2006/table">
            <a:tbl>
              <a:tblPr firstRow="1" firstCol="1" lastRow="0" lastCol="0" bandRow="1" bandCol="0">
                <a:tableStyleId>{4C38C2D8-9331-4F24-B9CF-3786705C414E}</a:tableStyleId>
              </a:tblPr>
              <a:tblGrid>
                <a:gridCol w="642280"/>
                <a:gridCol w="1603866"/>
                <a:gridCol w="2286544"/>
                <a:gridCol w="2720884"/>
                <a:gridCol w="1219616"/>
              </a:tblGrid>
              <a:tr h="0">
                <a:tc>
                  <a:txBody>
                    <a:bodyPr/>
                    <a:p>
                      <a:pPr marL="0" marR="0" algn="just">
                        <a:lnSpc>
                          <a:spcPct val="150000"/>
                        </a:lnSpc>
                        <a:spcBef>
                          <a:spcPts val="0"/>
                        </a:spcBef>
                        <a:spcAft>
                          <a:spcPts val="0"/>
                        </a:spcAft>
                        <a:defRPr/>
                      </a:pPr>
                      <a:r>
                        <a:rPr lang="en-GB" sz="1600"/>
                        <a:t>No</a:t>
                      </a:r>
                      <a:endParaRPr lang="en-GB" sz="1600">
                        <a:latin typeface="Arial"/>
                        <a:ea typeface="Arial"/>
                      </a:endParaRPr>
                    </a:p>
                  </a:txBody>
                  <a:tcPr marL="68580" marR="68580" marT="0" marB="0">
                    <a:solidFill>
                      <a:schemeClr val="accent1">
                        <a:lumMod val="20000"/>
                        <a:lumOff val="80000"/>
                      </a:schemeClr>
                    </a:solidFill>
                  </a:tcPr>
                </a:tc>
                <a:tc>
                  <a:txBody>
                    <a:bodyPr/>
                    <a:p>
                      <a:pPr marL="0" marR="0" algn="just">
                        <a:lnSpc>
                          <a:spcPct val="150000"/>
                        </a:lnSpc>
                        <a:spcBef>
                          <a:spcPts val="0"/>
                        </a:spcBef>
                        <a:spcAft>
                          <a:spcPts val="0"/>
                        </a:spcAft>
                        <a:defRPr/>
                      </a:pPr>
                      <a:r>
                        <a:rPr lang="en-GB" sz="1600"/>
                        <a:t>Indiv</a:t>
                      </a:r>
                      <a:r>
                        <a:rPr lang="en-GB" sz="1600"/>
                        <a:t>/GROUP</a:t>
                      </a:r>
                      <a:endParaRPr lang="en-GB" sz="1600">
                        <a:latin typeface="Arial"/>
                        <a:ea typeface="Arial"/>
                      </a:endParaRPr>
                    </a:p>
                  </a:txBody>
                  <a:tcPr marL="68580" marR="68580" marT="0" marB="0">
                    <a:solidFill>
                      <a:schemeClr val="accent1">
                        <a:lumMod val="20000"/>
                        <a:lumOff val="80000"/>
                      </a:schemeClr>
                    </a:solidFill>
                  </a:tcPr>
                </a:tc>
                <a:tc>
                  <a:txBody>
                    <a:bodyPr/>
                    <a:p>
                      <a:pPr marL="0" marR="0" algn="just">
                        <a:lnSpc>
                          <a:spcPct val="150000"/>
                        </a:lnSpc>
                        <a:spcBef>
                          <a:spcPts val="0"/>
                        </a:spcBef>
                        <a:spcAft>
                          <a:spcPts val="0"/>
                        </a:spcAft>
                        <a:defRPr/>
                      </a:pPr>
                      <a:r>
                        <a:rPr lang="en-GB" sz="1600"/>
                        <a:t>JOB POSITION</a:t>
                      </a:r>
                      <a:endParaRPr lang="en-GB" sz="1600">
                        <a:latin typeface="Arial"/>
                        <a:ea typeface="Arial"/>
                      </a:endParaRPr>
                    </a:p>
                  </a:txBody>
                  <a:tcPr marL="68580" marR="68580" marT="0" marB="0">
                    <a:solidFill>
                      <a:schemeClr val="accent1">
                        <a:lumMod val="20000"/>
                        <a:lumOff val="80000"/>
                      </a:schemeClr>
                    </a:solidFill>
                  </a:tcPr>
                </a:tc>
                <a:tc>
                  <a:txBody>
                    <a:bodyPr/>
                    <a:p>
                      <a:pPr marL="0" marR="0" algn="just">
                        <a:lnSpc>
                          <a:spcPct val="150000"/>
                        </a:lnSpc>
                        <a:spcBef>
                          <a:spcPts val="0"/>
                        </a:spcBef>
                        <a:spcAft>
                          <a:spcPts val="0"/>
                        </a:spcAft>
                        <a:defRPr/>
                      </a:pPr>
                      <a:r>
                        <a:rPr lang="en-GB" sz="1600"/>
                        <a:t>ROLE</a:t>
                      </a:r>
                      <a:endParaRPr lang="en-GB" sz="1600">
                        <a:latin typeface="Arial"/>
                        <a:ea typeface="Arial"/>
                      </a:endParaRPr>
                    </a:p>
                  </a:txBody>
                  <a:tcPr marL="68580" marR="68580" marT="0" marB="0">
                    <a:solidFill>
                      <a:schemeClr val="accent1">
                        <a:lumMod val="20000"/>
                        <a:lumOff val="80000"/>
                      </a:schemeClr>
                    </a:solidFill>
                  </a:tcPr>
                </a:tc>
                <a:tc>
                  <a:txBody>
                    <a:bodyPr/>
                    <a:p>
                      <a:pPr marL="0" marR="0" algn="just">
                        <a:lnSpc>
                          <a:spcPct val="150000"/>
                        </a:lnSpc>
                        <a:spcBef>
                          <a:spcPts val="0"/>
                        </a:spcBef>
                        <a:spcAft>
                          <a:spcPts val="0"/>
                        </a:spcAft>
                        <a:defRPr/>
                      </a:pPr>
                      <a:r>
                        <a:rPr lang="en-GB" sz="1600"/>
                        <a:t>Expectation</a:t>
                      </a:r>
                      <a:endParaRPr lang="en-GB" sz="1600">
                        <a:latin typeface="Arial"/>
                        <a:ea typeface="Arial"/>
                      </a:endParaRPr>
                    </a:p>
                  </a:txBody>
                  <a:tcPr marL="68580" marR="68580" marT="0" marB="0">
                    <a:solidFill>
                      <a:schemeClr val="accent1">
                        <a:lumMod val="20000"/>
                        <a:lumOff val="80000"/>
                      </a:schemeClr>
                    </a:solidFill>
                  </a:tcPr>
                </a:tc>
              </a:tr>
              <a:tr h="0">
                <a:tc>
                  <a:txBody>
                    <a:bodyPr/>
                    <a:p>
                      <a:pPr marL="0" marR="0" algn="just">
                        <a:lnSpc>
                          <a:spcPct val="150000"/>
                        </a:lnSpc>
                        <a:spcBef>
                          <a:spcPts val="0"/>
                        </a:spcBef>
                        <a:spcAft>
                          <a:spcPts val="0"/>
                        </a:spcAft>
                        <a:defRPr/>
                      </a:pPr>
                      <a:r>
                        <a:rPr lang="en-US" sz="1600">
                          <a:latin typeface="Arial"/>
                          <a:ea typeface="Arial"/>
                        </a:rPr>
                        <a:t>1</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Top management</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President, Vice presidents</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Project sponsor</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endParaRPr lang="en-GB" sz="1600">
                        <a:latin typeface="Arial"/>
                        <a:ea typeface="Arial"/>
                      </a:endParaRPr>
                    </a:p>
                  </a:txBody>
                  <a:tcPr marL="68580" marR="68580" marT="0" marB="0"/>
                </a:tc>
              </a:tr>
              <a:tr h="0">
                <a:tc>
                  <a:txBody>
                    <a:bodyPr/>
                    <a:p>
                      <a:pPr marL="0" marR="0" algn="just">
                        <a:lnSpc>
                          <a:spcPct val="150000"/>
                        </a:lnSpc>
                        <a:spcBef>
                          <a:spcPts val="0"/>
                        </a:spcBef>
                        <a:spcAft>
                          <a:spcPts val="0"/>
                        </a:spcAft>
                        <a:defRPr/>
                      </a:pPr>
                      <a:r>
                        <a:rPr lang="en-US" sz="1600">
                          <a:latin typeface="Arial"/>
                          <a:ea typeface="Arial"/>
                        </a:rPr>
                        <a:t>2</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Academics</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Professors, lecturers, tutors.</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Users (generate attendance code for students)</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endParaRPr lang="en-GB" sz="1600">
                        <a:latin typeface="Arial"/>
                        <a:ea typeface="Arial"/>
                      </a:endParaRPr>
                    </a:p>
                  </a:txBody>
                  <a:tcPr marL="68580" marR="68580" marT="0" marB="0"/>
                </a:tc>
              </a:tr>
            </a:tbl>
          </a:graphicData>
        </a:graphic>
      </p:graphicFrame>
      <p:graphicFrame>
        <p:nvGraphicFramePr>
          <p:cNvPr id="79708697" name="Table 9"/>
          <p:cNvGraphicFramePr>
            <a:graphicFrameLocks xmlns:a="http://schemas.openxmlformats.org/drawingml/2006/main" noGrp="1"/>
          </p:cNvGraphicFramePr>
          <p:nvPr/>
        </p:nvGraphicFramePr>
        <p:xfrm rot="0">
          <a:off x="3283797" y="3988382"/>
          <a:ext cx="8473190" cy="686308"/>
        </p:xfrm>
        <a:graphic>
          <a:graphicData uri="http://schemas.openxmlformats.org/drawingml/2006/table">
            <a:tbl>
              <a:tblPr firstRow="1" firstCol="1" lastRow="0" lastCol="0" bandRow="1" bandCol="0">
                <a:tableStyleId>{4C38C2D8-9331-4F24-B9CF-3786705C414E}</a:tableStyleId>
              </a:tblPr>
              <a:tblGrid>
                <a:gridCol w="642280"/>
                <a:gridCol w="1603866"/>
                <a:gridCol w="2286544"/>
                <a:gridCol w="2720884"/>
                <a:gridCol w="1219616"/>
              </a:tblGrid>
              <a:tr h="0">
                <a:tc>
                  <a:txBody>
                    <a:bodyPr/>
                    <a:p>
                      <a:pPr marL="0" marR="0" algn="just">
                        <a:lnSpc>
                          <a:spcPct val="150000"/>
                        </a:lnSpc>
                        <a:spcBef>
                          <a:spcPts val="0"/>
                        </a:spcBef>
                        <a:spcAft>
                          <a:spcPts val="0"/>
                        </a:spcAft>
                        <a:defRPr/>
                      </a:pPr>
                      <a:r>
                        <a:rPr lang="en-US" sz="1600">
                          <a:latin typeface="Arial"/>
                          <a:ea typeface="Arial"/>
                        </a:rPr>
                        <a:t>3</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Students</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US" sz="1600">
                          <a:latin typeface="Arial"/>
                          <a:ea typeface="Arial"/>
                        </a:rPr>
                        <a:t>C</a:t>
                      </a:r>
                      <a:r>
                        <a:rPr lang="en-GB" sz="1600">
                          <a:latin typeface="Arial"/>
                          <a:ea typeface="Arial"/>
                        </a:rPr>
                        <a:t>ourse</a:t>
                      </a:r>
                      <a:r>
                        <a:rPr lang="en-GB" sz="1600">
                          <a:latin typeface="Arial"/>
                          <a:ea typeface="Arial"/>
                        </a:rPr>
                        <a:t>-rep, class-rep, ordinary students</a:t>
                      </a:r>
                      <a:endParaRPr/>
                    </a:p>
                  </a:txBody>
                  <a:tcPr marL="68580" marR="68580" marT="0" marB="0"/>
                </a:tc>
                <a:tc>
                  <a:txBody>
                    <a:bodyPr/>
                    <a:p>
                      <a:pPr marL="0" marR="0" algn="just">
                        <a:lnSpc>
                          <a:spcPct val="150000"/>
                        </a:lnSpc>
                        <a:spcBef>
                          <a:spcPts val="0"/>
                        </a:spcBef>
                        <a:spcAft>
                          <a:spcPts val="0"/>
                        </a:spcAft>
                        <a:defRPr/>
                      </a:pPr>
                      <a:r>
                        <a:rPr lang="en-GB" sz="1600"/>
                        <a:t>Users (taking own class attendance)</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endParaRPr lang="en-GB" sz="1600">
                        <a:latin typeface="Arial"/>
                        <a:ea typeface="Arial"/>
                      </a:endParaRPr>
                    </a:p>
                  </a:txBody>
                  <a:tcPr marL="68580" marR="68580" marT="0" marB="0"/>
                </a:tc>
              </a:tr>
            </a:tbl>
          </a:graphicData>
        </a:graphic>
      </p:graphicFrame>
      <p:graphicFrame>
        <p:nvGraphicFramePr>
          <p:cNvPr id="559953197" name="Table 10"/>
          <p:cNvGraphicFramePr>
            <a:graphicFrameLocks xmlns:a="http://schemas.openxmlformats.org/drawingml/2006/main" noGrp="1"/>
          </p:cNvGraphicFramePr>
          <p:nvPr/>
        </p:nvGraphicFramePr>
        <p:xfrm rot="0">
          <a:off x="3283797" y="4675550"/>
          <a:ext cx="8473190" cy="1647952"/>
        </p:xfrm>
        <a:graphic>
          <a:graphicData uri="http://schemas.openxmlformats.org/drawingml/2006/table">
            <a:tbl>
              <a:tblPr firstRow="1" firstCol="1" lastRow="0" lastCol="0" bandRow="1" bandCol="0">
                <a:tableStyleId>{4C38C2D8-9331-4F24-B9CF-3786705C414E}</a:tableStyleId>
              </a:tblPr>
              <a:tblGrid>
                <a:gridCol w="642280"/>
                <a:gridCol w="1603866"/>
                <a:gridCol w="2286544"/>
                <a:gridCol w="2720884"/>
                <a:gridCol w="1219616"/>
              </a:tblGrid>
              <a:tr h="0">
                <a:tc>
                  <a:txBody>
                    <a:bodyPr/>
                    <a:p>
                      <a:pPr marL="0" marR="0" algn="just">
                        <a:lnSpc>
                          <a:spcPct val="150000"/>
                        </a:lnSpc>
                        <a:spcBef>
                          <a:spcPts val="0"/>
                        </a:spcBef>
                        <a:spcAft>
                          <a:spcPts val="0"/>
                        </a:spcAft>
                        <a:defRPr/>
                      </a:pPr>
                      <a:r>
                        <a:rPr lang="en-GB" sz="1600" b="1">
                          <a:solidFill>
                            <a:srgbClr val="0000FF"/>
                          </a:solidFill>
                        </a:rPr>
                        <a:t>4</a:t>
                      </a:r>
                      <a:endParaRPr lang="en-GB" sz="1600" b="1">
                        <a:solidFill>
                          <a:srgbClr val="0000FF"/>
                        </a:solidFill>
                        <a:latin typeface="Arial"/>
                        <a:ea typeface="Arial"/>
                      </a:endParaRPr>
                    </a:p>
                  </a:txBody>
                  <a:tcPr marL="68580" marR="68580" marT="0" marB="0">
                    <a:solidFill>
                      <a:schemeClr val="accent6">
                        <a:lumMod val="40000"/>
                        <a:lumOff val="60000"/>
                      </a:schemeClr>
                    </a:solidFill>
                  </a:tcPr>
                </a:tc>
                <a:tc>
                  <a:txBody>
                    <a:bodyPr/>
                    <a:p>
                      <a:pPr marL="0" marR="0" algn="just">
                        <a:lnSpc>
                          <a:spcPct val="150000"/>
                        </a:lnSpc>
                        <a:spcBef>
                          <a:spcPts val="0"/>
                        </a:spcBef>
                        <a:spcAft>
                          <a:spcPts val="0"/>
                        </a:spcAft>
                        <a:defRPr/>
                      </a:pPr>
                      <a:r>
                        <a:rPr lang="en-GB" sz="1600" b="1">
                          <a:solidFill>
                            <a:srgbClr val="0000FF"/>
                          </a:solidFill>
                        </a:rPr>
                        <a:t>JACK</a:t>
                      </a:r>
                      <a:endParaRPr lang="en-GB" sz="1600" b="1">
                        <a:solidFill>
                          <a:srgbClr val="0000FF"/>
                        </a:solidFill>
                        <a:latin typeface="Arial"/>
                        <a:ea typeface="Arial"/>
                      </a:endParaRPr>
                    </a:p>
                  </a:txBody>
                  <a:tcPr marL="68580" marR="68580" marT="0" marB="0">
                    <a:solidFill>
                      <a:schemeClr val="accent6">
                        <a:lumMod val="40000"/>
                        <a:lumOff val="60000"/>
                      </a:schemeClr>
                    </a:solidFill>
                  </a:tcPr>
                </a:tc>
                <a:tc>
                  <a:txBody>
                    <a:bodyPr/>
                    <a:p>
                      <a:pPr marL="0" marR="0" algn="just">
                        <a:lnSpc>
                          <a:spcPct val="150000"/>
                        </a:lnSpc>
                        <a:spcBef>
                          <a:spcPts val="0"/>
                        </a:spcBef>
                        <a:spcAft>
                          <a:spcPts val="0"/>
                        </a:spcAft>
                        <a:defRPr/>
                      </a:pPr>
                      <a:r>
                        <a:rPr lang="en-GB" sz="1600" b="1">
                          <a:solidFill>
                            <a:srgbClr val="0000FF"/>
                          </a:solidFill>
                        </a:rPr>
                        <a:t>Project manager</a:t>
                      </a:r>
                      <a:endParaRPr lang="en-GB" sz="1600" b="1">
                        <a:solidFill>
                          <a:srgbClr val="0000FF"/>
                        </a:solidFill>
                        <a:latin typeface="Arial"/>
                        <a:ea typeface="Arial"/>
                      </a:endParaRPr>
                    </a:p>
                  </a:txBody>
                  <a:tcPr marL="68580" marR="68580" marT="0" marB="0">
                    <a:solidFill>
                      <a:schemeClr val="accent6">
                        <a:lumMod val="40000"/>
                        <a:lumOff val="60000"/>
                      </a:schemeClr>
                    </a:solidFill>
                  </a:tcPr>
                </a:tc>
                <a:tc>
                  <a:txBody>
                    <a:bodyPr/>
                    <a:p>
                      <a:pPr marL="0" marR="0" algn="l">
                        <a:lnSpc>
                          <a:spcPct val="150000"/>
                        </a:lnSpc>
                        <a:spcBef>
                          <a:spcPts val="0"/>
                        </a:spcBef>
                        <a:spcAft>
                          <a:spcPts val="0"/>
                        </a:spcAft>
                        <a:defRPr/>
                      </a:pPr>
                      <a:r>
                        <a:rPr lang="en-GB" sz="1600" b="1">
                          <a:solidFill>
                            <a:srgbClr val="0000FF"/>
                          </a:solidFill>
                        </a:rPr>
                        <a:t>Manage the WAS development project</a:t>
                      </a:r>
                      <a:endParaRPr lang="en-GB" sz="1600" b="1">
                        <a:solidFill>
                          <a:srgbClr val="0000FF"/>
                        </a:solidFill>
                        <a:latin typeface="Arial"/>
                        <a:ea typeface="Arial"/>
                      </a:endParaRPr>
                    </a:p>
                  </a:txBody>
                  <a:tcPr marL="68580" marR="68580" marT="0" marB="0">
                    <a:solidFill>
                      <a:schemeClr val="accent6">
                        <a:lumMod val="40000"/>
                        <a:lumOff val="60000"/>
                      </a:schemeClr>
                    </a:solidFill>
                  </a:tcPr>
                </a:tc>
                <a:tc>
                  <a:txBody>
                    <a:bodyPr/>
                    <a:p>
                      <a:pPr marL="0" marR="0" algn="just">
                        <a:lnSpc>
                          <a:spcPct val="150000"/>
                        </a:lnSpc>
                        <a:spcBef>
                          <a:spcPts val="0"/>
                        </a:spcBef>
                        <a:spcAft>
                          <a:spcPts val="0"/>
                        </a:spcAft>
                        <a:defRPr/>
                      </a:pPr>
                      <a:endParaRPr lang="en-GB" sz="1600" b="1">
                        <a:latin typeface="Arial"/>
                        <a:ea typeface="Arial"/>
                      </a:endParaRPr>
                    </a:p>
                  </a:txBody>
                  <a:tcPr marL="68580" marR="68580" marT="0" marB="0">
                    <a:solidFill>
                      <a:schemeClr val="accent6">
                        <a:lumMod val="40000"/>
                        <a:lumOff val="60000"/>
                      </a:schemeClr>
                    </a:solidFill>
                  </a:tcPr>
                </a:tc>
              </a:tr>
              <a:tr h="0">
                <a:tc>
                  <a:txBody>
                    <a:bodyPr/>
                    <a:p>
                      <a:pPr marL="0" marR="0" algn="just">
                        <a:lnSpc>
                          <a:spcPct val="150000"/>
                        </a:lnSpc>
                        <a:spcBef>
                          <a:spcPts val="0"/>
                        </a:spcBef>
                        <a:spcAft>
                          <a:spcPts val="0"/>
                        </a:spcAft>
                        <a:defRPr/>
                      </a:pPr>
                      <a:r>
                        <a:rPr lang="en-GB" sz="1600">
                          <a:solidFill>
                            <a:srgbClr val="0000FF"/>
                          </a:solidFill>
                        </a:rPr>
                        <a:t>5</a:t>
                      </a:r>
                      <a:endParaRPr lang="en-GB" sz="1600">
                        <a:solidFill>
                          <a:srgbClr val="0000FF"/>
                        </a:solidFill>
                        <a:latin typeface="Arial"/>
                        <a:ea typeface="Arial"/>
                      </a:endParaRPr>
                    </a:p>
                  </a:txBody>
                  <a:tcPr marL="68580" marR="68580" marT="0" marB="0">
                    <a:noFill/>
                  </a:tcPr>
                </a:tc>
                <a:tc>
                  <a:txBody>
                    <a:bodyPr/>
                    <a:p>
                      <a:pPr marL="0" marR="0" algn="just">
                        <a:lnSpc>
                          <a:spcPct val="150000"/>
                        </a:lnSpc>
                        <a:spcBef>
                          <a:spcPts val="0"/>
                        </a:spcBef>
                        <a:spcAft>
                          <a:spcPts val="0"/>
                        </a:spcAft>
                        <a:defRPr/>
                      </a:pPr>
                      <a:r>
                        <a:rPr lang="en-GB" sz="1600">
                          <a:solidFill>
                            <a:srgbClr val="0000FF"/>
                          </a:solidFill>
                        </a:rPr>
                        <a:t>Team members</a:t>
                      </a:r>
                      <a:endParaRPr lang="en-GB" sz="1600">
                        <a:solidFill>
                          <a:srgbClr val="0000FF"/>
                        </a:solidFill>
                        <a:latin typeface="Arial"/>
                        <a:ea typeface="Arial"/>
                      </a:endParaRPr>
                    </a:p>
                  </a:txBody>
                  <a:tcPr marL="68580" marR="68580" marT="0" marB="0">
                    <a:noFill/>
                  </a:tcPr>
                </a:tc>
                <a:tc>
                  <a:txBody>
                    <a:bodyPr/>
                    <a:p>
                      <a:pPr marL="0" marR="0" algn="just">
                        <a:lnSpc>
                          <a:spcPct val="150000"/>
                        </a:lnSpc>
                        <a:spcBef>
                          <a:spcPts val="0"/>
                        </a:spcBef>
                        <a:spcAft>
                          <a:spcPts val="0"/>
                        </a:spcAft>
                        <a:defRPr/>
                      </a:pPr>
                      <a:r>
                        <a:rPr lang="en-GB" sz="1600">
                          <a:solidFill>
                            <a:srgbClr val="0000FF"/>
                          </a:solidFill>
                        </a:rPr>
                        <a:t>Developers, testers</a:t>
                      </a:r>
                      <a:endParaRPr lang="en-GB" sz="1600">
                        <a:solidFill>
                          <a:srgbClr val="0000FF"/>
                        </a:solidFill>
                        <a:latin typeface="Arial"/>
                        <a:ea typeface="Arial"/>
                      </a:endParaRPr>
                    </a:p>
                  </a:txBody>
                  <a:tcPr marL="68580" marR="68580" marT="0" marB="0">
                    <a:noFill/>
                  </a:tcPr>
                </a:tc>
                <a:tc>
                  <a:txBody>
                    <a:bodyPr/>
                    <a:p>
                      <a:pPr marL="0" marR="0" algn="just">
                        <a:lnSpc>
                          <a:spcPct val="150000"/>
                        </a:lnSpc>
                        <a:spcBef>
                          <a:spcPts val="0"/>
                        </a:spcBef>
                        <a:spcAft>
                          <a:spcPts val="0"/>
                        </a:spcAft>
                        <a:defRPr/>
                      </a:pPr>
                      <a:r>
                        <a:rPr lang="en-GB" sz="1600">
                          <a:solidFill>
                            <a:srgbClr val="0000FF"/>
                          </a:solidFill>
                        </a:rPr>
                        <a:t>Develop &amp; test WAS</a:t>
                      </a:r>
                      <a:endParaRPr lang="en-GB" sz="1600">
                        <a:solidFill>
                          <a:srgbClr val="0000FF"/>
                        </a:solidFill>
                        <a:latin typeface="Arial"/>
                        <a:ea typeface="Arial"/>
                      </a:endParaRPr>
                    </a:p>
                  </a:txBody>
                  <a:tcPr marL="68580" marR="68580" marT="0" marB="0">
                    <a:noFill/>
                  </a:tcPr>
                </a:tc>
                <a:tc>
                  <a:txBody>
                    <a:bodyPr/>
                    <a:p>
                      <a:pPr marL="0" marR="0" algn="just">
                        <a:lnSpc>
                          <a:spcPct val="150000"/>
                        </a:lnSpc>
                        <a:spcBef>
                          <a:spcPts val="0"/>
                        </a:spcBef>
                        <a:spcAft>
                          <a:spcPts val="0"/>
                        </a:spcAft>
                        <a:defRPr/>
                      </a:pPr>
                      <a:endParaRPr lang="en-GB" sz="1600">
                        <a:latin typeface="Arial"/>
                        <a:ea typeface="Arial"/>
                      </a:endParaRPr>
                    </a:p>
                  </a:txBody>
                  <a:tcPr marL="68580" marR="68580" marT="0" marB="0">
                    <a:noFill/>
                  </a:tcPr>
                </a:tc>
              </a:tr>
              <a:tr h="0">
                <a:tc>
                  <a:txBody>
                    <a:bodyPr/>
                    <a:p>
                      <a:pPr marL="0" marR="0" algn="just">
                        <a:lnSpc>
                          <a:spcPct val="150000"/>
                        </a:lnSpc>
                        <a:spcBef>
                          <a:spcPts val="0"/>
                        </a:spcBef>
                        <a:spcAft>
                          <a:spcPts val="0"/>
                        </a:spcAft>
                        <a:defRPr/>
                      </a:pPr>
                      <a:r>
                        <a:rPr lang="en-GB" sz="1600"/>
                        <a:t>6</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 </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 </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 </a:t>
                      </a:r>
                      <a:endParaRPr lang="en-GB" sz="1600">
                        <a:latin typeface="Arial"/>
                        <a:ea typeface="Arial"/>
                      </a:endParaRPr>
                    </a:p>
                  </a:txBody>
                  <a:tcPr marL="68580" marR="68580" marT="0" marB="0"/>
                </a:tc>
              </a:tr>
              <a:tr h="0">
                <a:tc>
                  <a:txBody>
                    <a:bodyPr/>
                    <a:p>
                      <a:pPr marL="0" marR="0" algn="just">
                        <a:lnSpc>
                          <a:spcPct val="150000"/>
                        </a:lnSpc>
                        <a:spcBef>
                          <a:spcPts val="0"/>
                        </a:spcBef>
                        <a:spcAft>
                          <a:spcPts val="0"/>
                        </a:spcAft>
                        <a:defRPr/>
                      </a:pPr>
                      <a:r>
                        <a:rPr lang="en-GB" sz="1600"/>
                        <a:t>7</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 </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 </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 </a:t>
                      </a:r>
                      <a:endParaRPr lang="en-GB" sz="1600">
                        <a:latin typeface="Arial"/>
                        <a:ea typeface="Arial"/>
                      </a:endParaRPr>
                    </a:p>
                  </a:txBody>
                  <a:tcPr marL="68580" marR="68580" marT="0" marB="0"/>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57289335">
                                            <p:txEl>
                                              <p:pRg st="0" end="0"/>
                                            </p:txEl>
                                          </p:spTgt>
                                        </p:tgtEl>
                                        <p:attrNameLst>
                                          <p:attrName>style.visibility</p:attrName>
                                        </p:attrNameLst>
                                      </p:cBhvr>
                                      <p:to>
                                        <p:strVal val="visible"/>
                                      </p:to>
                                    </p:set>
                                    <p:animEffect transition="in" filter="wipe(left)">
                                      <p:cBhvr>
                                        <p:cTn id="7" dur="500"/>
                                        <p:tgtEl>
                                          <p:spTgt spid="4572893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72811078"/>
                                        </p:tgtEl>
                                        <p:attrNameLst>
                                          <p:attrName>style.visibility</p:attrName>
                                        </p:attrNameLst>
                                      </p:cBhvr>
                                      <p:to>
                                        <p:strVal val="visible"/>
                                      </p:to>
                                    </p:set>
                                    <p:animEffect transition="in" filter="wipe(left)">
                                      <p:cBhvr>
                                        <p:cTn id="12" dur="500"/>
                                        <p:tgtEl>
                                          <p:spTgt spid="107281107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9708697"/>
                                        </p:tgtEl>
                                        <p:attrNameLst>
                                          <p:attrName>style.visibility</p:attrName>
                                        </p:attrNameLst>
                                      </p:cBhvr>
                                      <p:to>
                                        <p:strVal val="visible"/>
                                      </p:to>
                                    </p:set>
                                    <p:animEffect transition="in" filter="wipe(left)">
                                      <p:cBhvr>
                                        <p:cTn id="17" dur="500"/>
                                        <p:tgtEl>
                                          <p:spTgt spid="7970869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559953197"/>
                                        </p:tgtEl>
                                        <p:attrNameLst>
                                          <p:attrName>style.visibility</p:attrName>
                                        </p:attrNameLst>
                                      </p:cBhvr>
                                      <p:to>
                                        <p:strVal val="visible"/>
                                      </p:to>
                                    </p:set>
                                    <p:animEffect transition="in" filter="wipe(down)">
                                      <p:cBhvr>
                                        <p:cTn id="22" dur="500"/>
                                        <p:tgtEl>
                                          <p:spTgt spid="5599531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958475" name="Google Shape;1778;p104"/>
          <p:cNvSpPr txBox="1">
            <a:spLocks noGrp="1"/>
          </p:cNvSpPr>
          <p:nvPr>
            <p:ph type="body" idx="1"/>
          </p:nvPr>
        </p:nvSpPr>
        <p:spPr bwMode="auto">
          <a:xfrm>
            <a:off x="3120001" y="1631140"/>
            <a:ext cx="9246170" cy="715961"/>
          </a:xfrm>
          <a:prstGeom prst="rect">
            <a:avLst/>
          </a:prstGeom>
          <a:noFill/>
          <a:ln>
            <a:noFill/>
          </a:ln>
        </p:spPr>
        <p:txBody>
          <a:bodyPr spcFirstLastPara="1" wrap="square" lIns="91425" tIns="45700" rIns="91425" bIns="45700" anchor="t" anchorCtr="0">
            <a:normAutofit/>
          </a:bodyPr>
          <a:lstStyle/>
          <a:p>
            <a:pPr marL="57150" lvl="0" indent="0" algn="l" rtl="0">
              <a:lnSpc>
                <a:spcPct val="90000"/>
              </a:lnSpc>
              <a:spcBef>
                <a:spcPts val="0"/>
              </a:spcBef>
              <a:spcAft>
                <a:spcPts val="0"/>
              </a:spcAft>
              <a:buClr>
                <a:schemeClr val="dk1"/>
              </a:buClr>
              <a:buSzPts val="2400"/>
              <a:buNone/>
              <a:defRPr/>
            </a:pPr>
            <a:r>
              <a:rPr lang="en-US" sz="1800" b="1" u="sng">
                <a:solidFill>
                  <a:srgbClr val="FF0000"/>
                </a:solidFill>
                <a:latin typeface="Calibri"/>
                <a:cs typeface="Calibri"/>
              </a:rPr>
              <a:t>Stakeholder</a:t>
            </a:r>
            <a:r>
              <a:rPr lang="en-US" sz="1800" b="1">
                <a:solidFill>
                  <a:srgbClr val="FF0000"/>
                </a:solidFill>
                <a:latin typeface="Calibri"/>
                <a:cs typeface="Calibri"/>
              </a:rPr>
              <a:t> register (e.g. 2)</a:t>
            </a:r>
            <a:endParaRPr/>
          </a:p>
          <a:p>
            <a:pPr marL="57150" indent="0">
              <a:spcBef>
                <a:spcPts val="0"/>
              </a:spcBef>
              <a:buSzPts val="2400"/>
              <a:buNone/>
              <a:defRPr/>
            </a:pPr>
            <a:r>
              <a:rPr lang="en-GB" sz="1800" i="1">
                <a:latin typeface="Calibri"/>
                <a:ea typeface="Arial"/>
                <a:cs typeface="Calibri"/>
              </a:rPr>
              <a:t>(Project  = To develop a </a:t>
            </a:r>
            <a:r>
              <a:rPr lang="en-GB" sz="1800" b="1" i="1">
                <a:latin typeface="Calibri"/>
                <a:ea typeface="Arial"/>
                <a:cs typeface="Calibri"/>
              </a:rPr>
              <a:t>Web-based Attendance System (WAS) </a:t>
            </a:r>
            <a:r>
              <a:rPr lang="en-GB" sz="1800" i="1">
                <a:latin typeface="Calibri"/>
                <a:ea typeface="Arial"/>
                <a:cs typeface="Calibri"/>
              </a:rPr>
              <a:t>for AAA University)</a:t>
            </a:r>
            <a:endParaRPr/>
          </a:p>
          <a:p>
            <a:pPr marL="57150" lvl="0" indent="0" algn="l" rtl="0">
              <a:lnSpc>
                <a:spcPct val="90000"/>
              </a:lnSpc>
              <a:spcBef>
                <a:spcPts val="0"/>
              </a:spcBef>
              <a:spcAft>
                <a:spcPts val="0"/>
              </a:spcAft>
              <a:buClr>
                <a:schemeClr val="dk1"/>
              </a:buClr>
              <a:buSzPts val="2400"/>
              <a:buNone/>
              <a:defRPr/>
            </a:pPr>
            <a:endParaRPr lang="en-US" sz="1800" b="1">
              <a:solidFill>
                <a:srgbClr val="FF0000"/>
              </a:solidFill>
              <a:latin typeface="Calibri"/>
              <a:cs typeface="Calibri"/>
            </a:endParaRPr>
          </a:p>
          <a:p>
            <a:pPr marL="57150" lvl="0" indent="0" algn="l" rtl="0">
              <a:lnSpc>
                <a:spcPct val="90000"/>
              </a:lnSpc>
              <a:spcBef>
                <a:spcPts val="0"/>
              </a:spcBef>
              <a:spcAft>
                <a:spcPts val="0"/>
              </a:spcAft>
              <a:buClr>
                <a:schemeClr val="dk1"/>
              </a:buClr>
              <a:buSzPts val="2400"/>
              <a:buNone/>
              <a:defRPr/>
            </a:pPr>
            <a:endParaRPr sz="1800" b="1" u="sng">
              <a:latin typeface="Calibri"/>
              <a:cs typeface="Calibri"/>
            </a:endParaRPr>
          </a:p>
        </p:txBody>
      </p:sp>
      <p:sp>
        <p:nvSpPr>
          <p:cNvPr id="1993626878" name="Google Shape;1779;p10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97</a:t>
            </a:fld>
            <a:endParaRPr/>
          </a:p>
        </p:txBody>
      </p:sp>
      <p:sp>
        <p:nvSpPr>
          <p:cNvPr id="230422342" name="Google Shape;1789;p104"/>
          <p:cNvSpPr txBox="1"/>
          <p:nvPr/>
        </p:nvSpPr>
        <p:spPr bwMode="auto">
          <a:xfrm>
            <a:off x="3048000" y="533400"/>
            <a:ext cx="6971428" cy="715961"/>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Stakeholder Management</a:t>
            </a:r>
            <a:endParaRPr sz="4000" b="1">
              <a:solidFill>
                <a:schemeClr val="dk1"/>
              </a:solidFill>
              <a:latin typeface="Calibri"/>
              <a:ea typeface="Calibri"/>
              <a:cs typeface="Calibri"/>
            </a:endParaRPr>
          </a:p>
        </p:txBody>
      </p:sp>
      <p:sp>
        <p:nvSpPr>
          <p:cNvPr id="74353840" name="Google Shape;1790;p104"/>
          <p:cNvSpPr txBox="1"/>
          <p:nvPr/>
        </p:nvSpPr>
        <p:spPr bwMode="auto">
          <a:xfrm>
            <a:off x="3085228" y="113513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grpSp>
        <p:nvGrpSpPr>
          <p:cNvPr id="1512125587" name="Google Shape;1792;p104"/>
          <p:cNvGrpSpPr/>
          <p:nvPr/>
        </p:nvGrpSpPr>
        <p:grpSpPr bwMode="auto">
          <a:xfrm>
            <a:off x="0" y="-1"/>
            <a:ext cx="2514600" cy="6858001"/>
            <a:chOff x="0" y="-1"/>
            <a:chExt cx="2514600" cy="6858001"/>
          </a:xfrm>
        </p:grpSpPr>
        <p:pic>
          <p:nvPicPr>
            <p:cNvPr id="1793" name="Google Shape;1793;p104"/>
            <p:cNvPicPr/>
            <p:nvPr/>
          </p:nvPicPr>
          <p:blipFill rotWithShape="1">
            <a:blip r:embed="rId3">
              <a:alphaModFix/>
            </a:blip>
            <a:srcRect l="35156" t="0" r="21873" b="0"/>
            <a:stretch/>
          </p:blipFill>
          <p:spPr bwMode="auto">
            <a:xfrm>
              <a:off x="0" y="2956560"/>
              <a:ext cx="2514600" cy="3901440"/>
            </a:xfrm>
            <a:prstGeom prst="rect">
              <a:avLst/>
            </a:prstGeom>
            <a:noFill/>
            <a:ln>
              <a:noFill/>
            </a:ln>
          </p:spPr>
        </p:pic>
        <p:pic>
          <p:nvPicPr>
            <p:cNvPr id="1794" name="Google Shape;1794;p104"/>
            <p:cNvPicPr/>
            <p:nvPr/>
          </p:nvPicPr>
          <p:blipFill rotWithShape="1">
            <a:blip r:embed="rId4">
              <a:alphaModFix/>
            </a:blip>
            <a:srcRect l="3260" t="2724" r="53771" b="17259"/>
            <a:stretch/>
          </p:blipFill>
          <p:spPr bwMode="auto">
            <a:xfrm>
              <a:off x="0" y="-1"/>
              <a:ext cx="2514600" cy="3124201"/>
            </a:xfrm>
            <a:prstGeom prst="rect">
              <a:avLst/>
            </a:prstGeom>
            <a:noFill/>
            <a:ln>
              <a:noFill/>
            </a:ln>
          </p:spPr>
        </p:pic>
      </p:grpSp>
      <p:graphicFrame>
        <p:nvGraphicFramePr>
          <p:cNvPr id="2121639939" name="Table 3"/>
          <p:cNvGraphicFramePr>
            <a:graphicFrameLocks xmlns:a="http://schemas.openxmlformats.org/drawingml/2006/main" noGrp="1"/>
          </p:cNvGraphicFramePr>
          <p:nvPr/>
        </p:nvGraphicFramePr>
        <p:xfrm rot="0">
          <a:off x="3283797" y="2295218"/>
          <a:ext cx="8473190" cy="1693164"/>
        </p:xfrm>
        <a:graphic>
          <a:graphicData uri="http://schemas.openxmlformats.org/drawingml/2006/table">
            <a:tbl>
              <a:tblPr firstRow="1" firstCol="1" lastRow="0" lastCol="0" bandRow="1" bandCol="0">
                <a:tableStyleId>{4C38C2D8-9331-4F24-B9CF-3786705C414E}</a:tableStyleId>
              </a:tblPr>
              <a:tblGrid>
                <a:gridCol w="642280"/>
                <a:gridCol w="1603866"/>
                <a:gridCol w="2286544"/>
                <a:gridCol w="2720884"/>
                <a:gridCol w="1219616"/>
              </a:tblGrid>
              <a:tr h="0">
                <a:tc>
                  <a:txBody>
                    <a:bodyPr/>
                    <a:p>
                      <a:pPr marL="0" marR="0" algn="just">
                        <a:lnSpc>
                          <a:spcPct val="150000"/>
                        </a:lnSpc>
                        <a:spcBef>
                          <a:spcPts val="0"/>
                        </a:spcBef>
                        <a:spcAft>
                          <a:spcPts val="0"/>
                        </a:spcAft>
                        <a:defRPr/>
                      </a:pPr>
                      <a:r>
                        <a:rPr lang="en-GB" sz="1600"/>
                        <a:t>No</a:t>
                      </a:r>
                      <a:endParaRPr lang="en-GB" sz="1600">
                        <a:latin typeface="Arial"/>
                        <a:ea typeface="Arial"/>
                      </a:endParaRPr>
                    </a:p>
                  </a:txBody>
                  <a:tcPr marL="68580" marR="68580" marT="0" marB="0">
                    <a:solidFill>
                      <a:schemeClr val="accent1">
                        <a:lumMod val="20000"/>
                        <a:lumOff val="80000"/>
                      </a:schemeClr>
                    </a:solidFill>
                  </a:tcPr>
                </a:tc>
                <a:tc>
                  <a:txBody>
                    <a:bodyPr/>
                    <a:p>
                      <a:pPr marL="0" marR="0" algn="just">
                        <a:lnSpc>
                          <a:spcPct val="150000"/>
                        </a:lnSpc>
                        <a:spcBef>
                          <a:spcPts val="0"/>
                        </a:spcBef>
                        <a:spcAft>
                          <a:spcPts val="0"/>
                        </a:spcAft>
                        <a:defRPr/>
                      </a:pPr>
                      <a:r>
                        <a:rPr lang="en-GB" sz="1600"/>
                        <a:t>Indiv</a:t>
                      </a:r>
                      <a:r>
                        <a:rPr lang="en-GB" sz="1600"/>
                        <a:t>/GROUP</a:t>
                      </a:r>
                      <a:endParaRPr lang="en-GB" sz="1600">
                        <a:latin typeface="Arial"/>
                        <a:ea typeface="Arial"/>
                      </a:endParaRPr>
                    </a:p>
                  </a:txBody>
                  <a:tcPr marL="68580" marR="68580" marT="0" marB="0">
                    <a:solidFill>
                      <a:schemeClr val="accent1">
                        <a:lumMod val="20000"/>
                        <a:lumOff val="80000"/>
                      </a:schemeClr>
                    </a:solidFill>
                  </a:tcPr>
                </a:tc>
                <a:tc>
                  <a:txBody>
                    <a:bodyPr/>
                    <a:p>
                      <a:pPr marL="0" marR="0" algn="just">
                        <a:lnSpc>
                          <a:spcPct val="150000"/>
                        </a:lnSpc>
                        <a:spcBef>
                          <a:spcPts val="0"/>
                        </a:spcBef>
                        <a:spcAft>
                          <a:spcPts val="0"/>
                        </a:spcAft>
                        <a:defRPr/>
                      </a:pPr>
                      <a:r>
                        <a:rPr lang="en-GB" sz="1600"/>
                        <a:t>JOB POSITION</a:t>
                      </a:r>
                      <a:endParaRPr lang="en-GB" sz="1600">
                        <a:latin typeface="Arial"/>
                        <a:ea typeface="Arial"/>
                      </a:endParaRPr>
                    </a:p>
                  </a:txBody>
                  <a:tcPr marL="68580" marR="68580" marT="0" marB="0">
                    <a:solidFill>
                      <a:schemeClr val="accent1">
                        <a:lumMod val="20000"/>
                        <a:lumOff val="80000"/>
                      </a:schemeClr>
                    </a:solidFill>
                  </a:tcPr>
                </a:tc>
                <a:tc>
                  <a:txBody>
                    <a:bodyPr/>
                    <a:p>
                      <a:pPr marL="0" marR="0" algn="just">
                        <a:lnSpc>
                          <a:spcPct val="150000"/>
                        </a:lnSpc>
                        <a:spcBef>
                          <a:spcPts val="0"/>
                        </a:spcBef>
                        <a:spcAft>
                          <a:spcPts val="0"/>
                        </a:spcAft>
                        <a:defRPr/>
                      </a:pPr>
                      <a:r>
                        <a:rPr lang="en-GB" sz="1600"/>
                        <a:t>ROLE</a:t>
                      </a:r>
                      <a:endParaRPr lang="en-GB" sz="1600">
                        <a:latin typeface="Arial"/>
                        <a:ea typeface="Arial"/>
                      </a:endParaRPr>
                    </a:p>
                  </a:txBody>
                  <a:tcPr marL="68580" marR="68580" marT="0" marB="0">
                    <a:solidFill>
                      <a:schemeClr val="accent1">
                        <a:lumMod val="20000"/>
                        <a:lumOff val="80000"/>
                      </a:schemeClr>
                    </a:solidFill>
                  </a:tcPr>
                </a:tc>
                <a:tc>
                  <a:txBody>
                    <a:bodyPr/>
                    <a:p>
                      <a:pPr marL="0" marR="0" algn="just">
                        <a:lnSpc>
                          <a:spcPct val="150000"/>
                        </a:lnSpc>
                        <a:spcBef>
                          <a:spcPts val="0"/>
                        </a:spcBef>
                        <a:spcAft>
                          <a:spcPts val="0"/>
                        </a:spcAft>
                        <a:defRPr/>
                      </a:pPr>
                      <a:r>
                        <a:rPr lang="en-GB" sz="1600"/>
                        <a:t>Expectation</a:t>
                      </a:r>
                      <a:endParaRPr lang="en-GB" sz="1600">
                        <a:latin typeface="Arial"/>
                        <a:ea typeface="Arial"/>
                      </a:endParaRPr>
                    </a:p>
                  </a:txBody>
                  <a:tcPr marL="68580" marR="68580" marT="0" marB="0">
                    <a:solidFill>
                      <a:schemeClr val="accent1">
                        <a:lumMod val="20000"/>
                        <a:lumOff val="80000"/>
                      </a:schemeClr>
                    </a:solidFill>
                  </a:tcPr>
                </a:tc>
              </a:tr>
              <a:tr h="0">
                <a:tc>
                  <a:txBody>
                    <a:bodyPr/>
                    <a:p>
                      <a:pPr marL="0" marR="0" algn="just">
                        <a:lnSpc>
                          <a:spcPct val="150000"/>
                        </a:lnSpc>
                        <a:spcBef>
                          <a:spcPts val="0"/>
                        </a:spcBef>
                        <a:spcAft>
                          <a:spcPts val="0"/>
                        </a:spcAft>
                        <a:defRPr/>
                      </a:pPr>
                      <a:r>
                        <a:rPr lang="en-US" sz="1600">
                          <a:latin typeface="Arial"/>
                          <a:ea typeface="Arial"/>
                        </a:rPr>
                        <a:t>1</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Top management</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President, Vice presidents, Deans</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Project sponsor</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endParaRPr lang="en-GB" sz="1600">
                        <a:latin typeface="Arial"/>
                        <a:ea typeface="Arial"/>
                      </a:endParaRPr>
                    </a:p>
                  </a:txBody>
                  <a:tcPr marL="68580" marR="68580" marT="0" marB="0"/>
                </a:tc>
              </a:tr>
              <a:tr h="0">
                <a:tc>
                  <a:txBody>
                    <a:bodyPr/>
                    <a:p>
                      <a:pPr marL="0" marR="0" algn="just">
                        <a:lnSpc>
                          <a:spcPct val="150000"/>
                        </a:lnSpc>
                        <a:spcBef>
                          <a:spcPts val="0"/>
                        </a:spcBef>
                        <a:spcAft>
                          <a:spcPts val="0"/>
                        </a:spcAft>
                        <a:defRPr/>
                      </a:pPr>
                      <a:r>
                        <a:rPr lang="en-US" sz="1600">
                          <a:latin typeface="Arial"/>
                          <a:ea typeface="Arial"/>
                        </a:rPr>
                        <a:t>2</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Academics</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Professors, lecturers, tutors.</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Users (generate attendance code for students, … )</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endParaRPr lang="en-GB" sz="1600">
                        <a:latin typeface="Arial"/>
                        <a:ea typeface="Arial"/>
                      </a:endParaRPr>
                    </a:p>
                  </a:txBody>
                  <a:tcPr marL="68580" marR="68580" marT="0" marB="0"/>
                </a:tc>
              </a:tr>
            </a:tbl>
          </a:graphicData>
        </a:graphic>
      </p:graphicFrame>
      <p:graphicFrame>
        <p:nvGraphicFramePr>
          <p:cNvPr id="1499147486" name="Table 9"/>
          <p:cNvGraphicFramePr>
            <a:graphicFrameLocks xmlns:a="http://schemas.openxmlformats.org/drawingml/2006/main" noGrp="1"/>
          </p:cNvGraphicFramePr>
          <p:nvPr/>
        </p:nvGraphicFramePr>
        <p:xfrm rot="0">
          <a:off x="3283797" y="3988382"/>
          <a:ext cx="8473190" cy="686308"/>
        </p:xfrm>
        <a:graphic>
          <a:graphicData uri="http://schemas.openxmlformats.org/drawingml/2006/table">
            <a:tbl>
              <a:tblPr firstRow="1" firstCol="1" lastRow="0" lastCol="0" bandRow="1" bandCol="0">
                <a:tableStyleId>{4C38C2D8-9331-4F24-B9CF-3786705C414E}</a:tableStyleId>
              </a:tblPr>
              <a:tblGrid>
                <a:gridCol w="642280"/>
                <a:gridCol w="1603866"/>
                <a:gridCol w="2286544"/>
                <a:gridCol w="2720884"/>
                <a:gridCol w="1219616"/>
              </a:tblGrid>
              <a:tr h="0">
                <a:tc>
                  <a:txBody>
                    <a:bodyPr/>
                    <a:p>
                      <a:pPr marL="0" marR="0" algn="just">
                        <a:lnSpc>
                          <a:spcPct val="150000"/>
                        </a:lnSpc>
                        <a:spcBef>
                          <a:spcPts val="0"/>
                        </a:spcBef>
                        <a:spcAft>
                          <a:spcPts val="0"/>
                        </a:spcAft>
                        <a:defRPr/>
                      </a:pPr>
                      <a:r>
                        <a:rPr lang="en-US" sz="1600">
                          <a:latin typeface="Arial"/>
                          <a:ea typeface="Arial"/>
                        </a:rPr>
                        <a:t>3</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Students</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US" sz="1600">
                          <a:latin typeface="Arial"/>
                          <a:ea typeface="Arial"/>
                        </a:rPr>
                        <a:t>C</a:t>
                      </a:r>
                      <a:r>
                        <a:rPr lang="en-GB" sz="1600">
                          <a:latin typeface="Arial"/>
                          <a:ea typeface="Arial"/>
                        </a:rPr>
                        <a:t>ourse</a:t>
                      </a:r>
                      <a:r>
                        <a:rPr lang="en-GB" sz="1600">
                          <a:latin typeface="Arial"/>
                          <a:ea typeface="Arial"/>
                        </a:rPr>
                        <a:t>-rep, class-rep, ordinary students</a:t>
                      </a:r>
                      <a:endParaRPr/>
                    </a:p>
                  </a:txBody>
                  <a:tcPr marL="68580" marR="68580" marT="0" marB="0"/>
                </a:tc>
                <a:tc>
                  <a:txBody>
                    <a:bodyPr/>
                    <a:p>
                      <a:pPr marL="0" marR="0" algn="just">
                        <a:lnSpc>
                          <a:spcPct val="150000"/>
                        </a:lnSpc>
                        <a:spcBef>
                          <a:spcPts val="0"/>
                        </a:spcBef>
                        <a:spcAft>
                          <a:spcPts val="0"/>
                        </a:spcAft>
                        <a:defRPr/>
                      </a:pPr>
                      <a:r>
                        <a:rPr lang="en-GB" sz="1600"/>
                        <a:t>Users (taking own class attendance, …)</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endParaRPr lang="en-GB" sz="1600">
                        <a:latin typeface="Arial"/>
                        <a:ea typeface="Arial"/>
                      </a:endParaRPr>
                    </a:p>
                  </a:txBody>
                  <a:tcPr marL="68580" marR="68580" marT="0" marB="0"/>
                </a:tc>
              </a:tr>
            </a:tbl>
          </a:graphicData>
        </a:graphic>
      </p:graphicFrame>
      <p:graphicFrame>
        <p:nvGraphicFramePr>
          <p:cNvPr id="750969478" name="Table 10"/>
          <p:cNvGraphicFramePr>
            <a:graphicFrameLocks xmlns:a="http://schemas.openxmlformats.org/drawingml/2006/main" noGrp="1"/>
          </p:cNvGraphicFramePr>
          <p:nvPr/>
        </p:nvGraphicFramePr>
        <p:xfrm rot="0">
          <a:off x="3283797" y="4691543"/>
          <a:ext cx="8473190" cy="1647952"/>
        </p:xfrm>
        <a:graphic>
          <a:graphicData uri="http://schemas.openxmlformats.org/drawingml/2006/table">
            <a:tbl>
              <a:tblPr firstRow="1" firstCol="1" lastRow="0" lastCol="0" bandRow="1" bandCol="0">
                <a:tableStyleId>{4C38C2D8-9331-4F24-B9CF-3786705C414E}</a:tableStyleId>
              </a:tblPr>
              <a:tblGrid>
                <a:gridCol w="642280"/>
                <a:gridCol w="1603866"/>
                <a:gridCol w="2286544"/>
                <a:gridCol w="2720884"/>
                <a:gridCol w="1219616"/>
              </a:tblGrid>
              <a:tr h="0">
                <a:tc>
                  <a:txBody>
                    <a:bodyPr/>
                    <a:p>
                      <a:pPr marL="0" marR="0" algn="just">
                        <a:lnSpc>
                          <a:spcPct val="150000"/>
                        </a:lnSpc>
                        <a:spcBef>
                          <a:spcPts val="0"/>
                        </a:spcBef>
                        <a:spcAft>
                          <a:spcPts val="0"/>
                        </a:spcAft>
                        <a:defRPr/>
                      </a:pPr>
                      <a:r>
                        <a:rPr lang="en-GB" sz="1600" b="1">
                          <a:solidFill>
                            <a:srgbClr val="0000FF"/>
                          </a:solidFill>
                        </a:rPr>
                        <a:t>4</a:t>
                      </a:r>
                      <a:endParaRPr lang="en-GB" sz="1600" b="1">
                        <a:solidFill>
                          <a:srgbClr val="0000FF"/>
                        </a:solidFill>
                        <a:latin typeface="Arial"/>
                        <a:ea typeface="Arial"/>
                      </a:endParaRPr>
                    </a:p>
                  </a:txBody>
                  <a:tcPr marL="68580" marR="68580" marT="0" marB="0">
                    <a:noFill/>
                  </a:tcPr>
                </a:tc>
                <a:tc>
                  <a:txBody>
                    <a:bodyPr/>
                    <a:p>
                      <a:pPr marL="0" marR="0" algn="just">
                        <a:lnSpc>
                          <a:spcPct val="150000"/>
                        </a:lnSpc>
                        <a:spcBef>
                          <a:spcPts val="0"/>
                        </a:spcBef>
                        <a:spcAft>
                          <a:spcPts val="0"/>
                        </a:spcAft>
                        <a:defRPr/>
                      </a:pPr>
                      <a:r>
                        <a:rPr lang="en-GB" sz="1600" b="1">
                          <a:solidFill>
                            <a:srgbClr val="0000FF"/>
                          </a:solidFill>
                        </a:rPr>
                        <a:t>JACK</a:t>
                      </a:r>
                      <a:endParaRPr lang="en-GB" sz="1600" b="1">
                        <a:solidFill>
                          <a:srgbClr val="0000FF"/>
                        </a:solidFill>
                        <a:latin typeface="Arial"/>
                        <a:ea typeface="Arial"/>
                      </a:endParaRPr>
                    </a:p>
                  </a:txBody>
                  <a:tcPr marL="68580" marR="68580" marT="0" marB="0">
                    <a:noFill/>
                  </a:tcPr>
                </a:tc>
                <a:tc>
                  <a:txBody>
                    <a:bodyPr/>
                    <a:p>
                      <a:pPr marL="0" marR="0" algn="just">
                        <a:lnSpc>
                          <a:spcPct val="150000"/>
                        </a:lnSpc>
                        <a:spcBef>
                          <a:spcPts val="0"/>
                        </a:spcBef>
                        <a:spcAft>
                          <a:spcPts val="0"/>
                        </a:spcAft>
                        <a:defRPr/>
                      </a:pPr>
                      <a:r>
                        <a:rPr lang="en-GB" sz="1600" b="1">
                          <a:solidFill>
                            <a:srgbClr val="0000FF"/>
                          </a:solidFill>
                        </a:rPr>
                        <a:t>Project manager</a:t>
                      </a:r>
                      <a:endParaRPr lang="en-GB" sz="1600" b="1">
                        <a:solidFill>
                          <a:srgbClr val="0000FF"/>
                        </a:solidFill>
                        <a:latin typeface="Arial"/>
                        <a:ea typeface="Arial"/>
                      </a:endParaRPr>
                    </a:p>
                  </a:txBody>
                  <a:tcPr marL="68580" marR="68580" marT="0" marB="0">
                    <a:noFill/>
                  </a:tcPr>
                </a:tc>
                <a:tc>
                  <a:txBody>
                    <a:bodyPr/>
                    <a:p>
                      <a:pPr marL="0" marR="0" algn="l">
                        <a:lnSpc>
                          <a:spcPct val="150000"/>
                        </a:lnSpc>
                        <a:spcBef>
                          <a:spcPts val="0"/>
                        </a:spcBef>
                        <a:spcAft>
                          <a:spcPts val="0"/>
                        </a:spcAft>
                        <a:defRPr/>
                      </a:pPr>
                      <a:r>
                        <a:rPr lang="en-GB" sz="1600" b="1">
                          <a:solidFill>
                            <a:srgbClr val="0000FF"/>
                          </a:solidFill>
                        </a:rPr>
                        <a:t>Manage the WAS development project</a:t>
                      </a:r>
                      <a:endParaRPr lang="en-GB" sz="1600" b="1">
                        <a:solidFill>
                          <a:srgbClr val="0000FF"/>
                        </a:solidFill>
                        <a:latin typeface="Arial"/>
                        <a:ea typeface="Arial"/>
                      </a:endParaRPr>
                    </a:p>
                  </a:txBody>
                  <a:tcPr marL="68580" marR="68580" marT="0" marB="0">
                    <a:noFill/>
                  </a:tcPr>
                </a:tc>
                <a:tc>
                  <a:txBody>
                    <a:bodyPr/>
                    <a:p>
                      <a:pPr marL="0" marR="0" algn="just">
                        <a:lnSpc>
                          <a:spcPct val="150000"/>
                        </a:lnSpc>
                        <a:spcBef>
                          <a:spcPts val="0"/>
                        </a:spcBef>
                        <a:spcAft>
                          <a:spcPts val="0"/>
                        </a:spcAft>
                        <a:defRPr/>
                      </a:pPr>
                      <a:endParaRPr lang="en-GB" sz="1600" b="1">
                        <a:latin typeface="Arial"/>
                        <a:ea typeface="Arial"/>
                      </a:endParaRPr>
                    </a:p>
                  </a:txBody>
                  <a:tcPr marL="68580" marR="68580" marT="0" marB="0">
                    <a:noFill/>
                  </a:tcPr>
                </a:tc>
              </a:tr>
              <a:tr h="0">
                <a:tc>
                  <a:txBody>
                    <a:bodyPr/>
                    <a:p>
                      <a:pPr marL="0" marR="0" algn="just">
                        <a:lnSpc>
                          <a:spcPct val="150000"/>
                        </a:lnSpc>
                        <a:spcBef>
                          <a:spcPts val="0"/>
                        </a:spcBef>
                        <a:spcAft>
                          <a:spcPts val="0"/>
                        </a:spcAft>
                        <a:defRPr/>
                      </a:pPr>
                      <a:r>
                        <a:rPr lang="en-GB" sz="1600">
                          <a:solidFill>
                            <a:srgbClr val="0000FF"/>
                          </a:solidFill>
                        </a:rPr>
                        <a:t>5</a:t>
                      </a:r>
                      <a:endParaRPr lang="en-GB" sz="1600">
                        <a:solidFill>
                          <a:srgbClr val="0000FF"/>
                        </a:solidFill>
                        <a:latin typeface="Arial"/>
                        <a:ea typeface="Arial"/>
                      </a:endParaRPr>
                    </a:p>
                  </a:txBody>
                  <a:tcPr marL="68580" marR="68580" marT="0" marB="0">
                    <a:solidFill>
                      <a:schemeClr val="accent6">
                        <a:lumMod val="40000"/>
                        <a:lumOff val="60000"/>
                      </a:schemeClr>
                    </a:solidFill>
                  </a:tcPr>
                </a:tc>
                <a:tc>
                  <a:txBody>
                    <a:bodyPr/>
                    <a:p>
                      <a:pPr marL="0" marR="0" algn="just">
                        <a:lnSpc>
                          <a:spcPct val="150000"/>
                        </a:lnSpc>
                        <a:spcBef>
                          <a:spcPts val="0"/>
                        </a:spcBef>
                        <a:spcAft>
                          <a:spcPts val="0"/>
                        </a:spcAft>
                        <a:defRPr/>
                      </a:pPr>
                      <a:r>
                        <a:rPr lang="en-GB" sz="1600">
                          <a:solidFill>
                            <a:srgbClr val="0000FF"/>
                          </a:solidFill>
                        </a:rPr>
                        <a:t>JIM</a:t>
                      </a:r>
                      <a:endParaRPr lang="en-GB" sz="1600">
                        <a:solidFill>
                          <a:srgbClr val="0000FF"/>
                        </a:solidFill>
                        <a:latin typeface="Arial"/>
                        <a:ea typeface="Arial"/>
                      </a:endParaRPr>
                    </a:p>
                  </a:txBody>
                  <a:tcPr marL="68580" marR="68580" marT="0" marB="0">
                    <a:solidFill>
                      <a:schemeClr val="accent6">
                        <a:lumMod val="40000"/>
                        <a:lumOff val="60000"/>
                      </a:schemeClr>
                    </a:solidFill>
                  </a:tcPr>
                </a:tc>
                <a:tc>
                  <a:txBody>
                    <a:bodyPr/>
                    <a:p>
                      <a:pPr marL="0" marR="0" lvl="0" indent="0" algn="just" defTabSz="914400" rtl="0">
                        <a:lnSpc>
                          <a:spcPct val="150000"/>
                        </a:lnSpc>
                        <a:spcBef>
                          <a:spcPts val="0"/>
                        </a:spcBef>
                        <a:spcAft>
                          <a:spcPts val="0"/>
                        </a:spcAft>
                        <a:buClr>
                          <a:srgbClr val="000000"/>
                        </a:buClr>
                        <a:buSzTx/>
                        <a:buFont typeface="Arial"/>
                        <a:buNone/>
                        <a:defRPr/>
                      </a:pPr>
                      <a:r>
                        <a:rPr lang="en-GB" sz="1600">
                          <a:solidFill>
                            <a:srgbClr val="0000FF"/>
                          </a:solidFill>
                        </a:rPr>
                        <a:t>UI &amp; DB Designer</a:t>
                      </a:r>
                      <a:endParaRPr lang="en-GB" sz="1600">
                        <a:solidFill>
                          <a:srgbClr val="0000FF"/>
                        </a:solidFill>
                        <a:latin typeface="Arial"/>
                        <a:ea typeface="Arial"/>
                      </a:endParaRPr>
                    </a:p>
                  </a:txBody>
                  <a:tcPr marL="68580" marR="68580" marT="0" marB="0">
                    <a:solidFill>
                      <a:schemeClr val="accent6">
                        <a:lumMod val="40000"/>
                        <a:lumOff val="60000"/>
                      </a:schemeClr>
                    </a:solidFill>
                  </a:tcPr>
                </a:tc>
                <a:tc>
                  <a:txBody>
                    <a:bodyPr/>
                    <a:p>
                      <a:pPr marL="0" marR="0" algn="just">
                        <a:lnSpc>
                          <a:spcPct val="150000"/>
                        </a:lnSpc>
                        <a:spcBef>
                          <a:spcPts val="0"/>
                        </a:spcBef>
                        <a:spcAft>
                          <a:spcPts val="0"/>
                        </a:spcAft>
                        <a:defRPr/>
                      </a:pPr>
                      <a:r>
                        <a:rPr lang="en-GB" sz="1600">
                          <a:solidFill>
                            <a:srgbClr val="0000FF"/>
                          </a:solidFill>
                        </a:rPr>
                        <a:t>Design sys UI &amp; Database</a:t>
                      </a:r>
                      <a:endParaRPr lang="en-GB" sz="1600">
                        <a:solidFill>
                          <a:srgbClr val="0000FF"/>
                        </a:solidFill>
                        <a:latin typeface="Arial"/>
                        <a:ea typeface="Arial"/>
                      </a:endParaRPr>
                    </a:p>
                  </a:txBody>
                  <a:tcPr marL="68580" marR="68580" marT="0" marB="0">
                    <a:solidFill>
                      <a:schemeClr val="accent6">
                        <a:lumMod val="40000"/>
                        <a:lumOff val="60000"/>
                      </a:schemeClr>
                    </a:solidFill>
                  </a:tcPr>
                </a:tc>
                <a:tc>
                  <a:txBody>
                    <a:bodyPr/>
                    <a:p>
                      <a:pPr marL="0" marR="0" algn="just">
                        <a:lnSpc>
                          <a:spcPct val="150000"/>
                        </a:lnSpc>
                        <a:spcBef>
                          <a:spcPts val="0"/>
                        </a:spcBef>
                        <a:spcAft>
                          <a:spcPts val="0"/>
                        </a:spcAft>
                        <a:defRPr/>
                      </a:pPr>
                      <a:endParaRPr lang="en-GB" sz="1600">
                        <a:latin typeface="Arial"/>
                        <a:ea typeface="Arial"/>
                      </a:endParaRPr>
                    </a:p>
                  </a:txBody>
                  <a:tcPr marL="68580" marR="68580" marT="0" marB="0">
                    <a:solidFill>
                      <a:schemeClr val="accent6">
                        <a:lumMod val="40000"/>
                        <a:lumOff val="60000"/>
                      </a:schemeClr>
                    </a:solidFill>
                  </a:tcPr>
                </a:tc>
              </a:tr>
              <a:tr h="0">
                <a:tc>
                  <a:txBody>
                    <a:bodyPr/>
                    <a:p>
                      <a:pPr marL="0" marR="0" algn="just">
                        <a:lnSpc>
                          <a:spcPct val="150000"/>
                        </a:lnSpc>
                        <a:spcBef>
                          <a:spcPts val="0"/>
                        </a:spcBef>
                        <a:spcAft>
                          <a:spcPts val="0"/>
                        </a:spcAft>
                        <a:defRPr/>
                      </a:pPr>
                      <a:r>
                        <a:rPr lang="en-GB" sz="1600">
                          <a:solidFill>
                            <a:srgbClr val="0000FF"/>
                          </a:solidFill>
                        </a:rPr>
                        <a:t>6</a:t>
                      </a:r>
                      <a:endParaRPr lang="en-GB" sz="1600">
                        <a:solidFill>
                          <a:srgbClr val="0000FF"/>
                        </a:solidFill>
                        <a:latin typeface="Arial"/>
                        <a:ea typeface="Arial"/>
                      </a:endParaRPr>
                    </a:p>
                  </a:txBody>
                  <a:tcPr marL="68580" marR="68580" marT="0" marB="0">
                    <a:solidFill>
                      <a:schemeClr val="accent6">
                        <a:lumMod val="40000"/>
                        <a:lumOff val="60000"/>
                      </a:schemeClr>
                    </a:solidFill>
                  </a:tcPr>
                </a:tc>
                <a:tc>
                  <a:txBody>
                    <a:bodyPr/>
                    <a:p>
                      <a:pPr marL="0" marR="0" algn="just">
                        <a:lnSpc>
                          <a:spcPct val="150000"/>
                        </a:lnSpc>
                        <a:spcBef>
                          <a:spcPts val="0"/>
                        </a:spcBef>
                        <a:spcAft>
                          <a:spcPts val="0"/>
                        </a:spcAft>
                        <a:defRPr/>
                      </a:pPr>
                      <a:r>
                        <a:rPr lang="en-GB" sz="1600">
                          <a:solidFill>
                            <a:srgbClr val="0000FF"/>
                          </a:solidFill>
                        </a:rPr>
                        <a:t>JOHN</a:t>
                      </a:r>
                      <a:endParaRPr lang="en-GB" sz="1600">
                        <a:solidFill>
                          <a:srgbClr val="0000FF"/>
                        </a:solidFill>
                        <a:latin typeface="Arial"/>
                        <a:ea typeface="Arial"/>
                      </a:endParaRPr>
                    </a:p>
                  </a:txBody>
                  <a:tcPr marL="68580" marR="68580" marT="0" marB="0">
                    <a:solidFill>
                      <a:schemeClr val="accent6">
                        <a:lumMod val="40000"/>
                        <a:lumOff val="60000"/>
                      </a:schemeClr>
                    </a:solidFill>
                  </a:tcPr>
                </a:tc>
                <a:tc>
                  <a:txBody>
                    <a:bodyPr/>
                    <a:p>
                      <a:pPr marL="0" marR="0" lvl="0" indent="0" algn="just" defTabSz="914400" rtl="0">
                        <a:lnSpc>
                          <a:spcPct val="150000"/>
                        </a:lnSpc>
                        <a:spcBef>
                          <a:spcPts val="0"/>
                        </a:spcBef>
                        <a:spcAft>
                          <a:spcPts val="0"/>
                        </a:spcAft>
                        <a:buClr>
                          <a:srgbClr val="000000"/>
                        </a:buClr>
                        <a:buSzTx/>
                        <a:buFont typeface="Arial"/>
                        <a:buNone/>
                        <a:defRPr/>
                      </a:pPr>
                      <a:r>
                        <a:rPr lang="en-GB" sz="1600">
                          <a:solidFill>
                            <a:srgbClr val="0000FF"/>
                          </a:solidFill>
                        </a:rPr>
                        <a:t>Developer</a:t>
                      </a:r>
                      <a:endParaRPr lang="en-GB" sz="1600">
                        <a:solidFill>
                          <a:srgbClr val="0000FF"/>
                        </a:solidFill>
                        <a:latin typeface="Arial"/>
                        <a:ea typeface="Arial"/>
                      </a:endParaRPr>
                    </a:p>
                  </a:txBody>
                  <a:tcPr marL="68580" marR="68580" marT="0" marB="0">
                    <a:solidFill>
                      <a:schemeClr val="accent6">
                        <a:lumMod val="40000"/>
                        <a:lumOff val="60000"/>
                      </a:schemeClr>
                    </a:solidFill>
                  </a:tcPr>
                </a:tc>
                <a:tc>
                  <a:txBody>
                    <a:bodyPr/>
                    <a:p>
                      <a:pPr marL="0" marR="0" algn="just">
                        <a:lnSpc>
                          <a:spcPct val="150000"/>
                        </a:lnSpc>
                        <a:spcBef>
                          <a:spcPts val="0"/>
                        </a:spcBef>
                        <a:spcAft>
                          <a:spcPts val="0"/>
                        </a:spcAft>
                        <a:defRPr/>
                      </a:pPr>
                      <a:r>
                        <a:rPr lang="en-GB" sz="1600">
                          <a:solidFill>
                            <a:srgbClr val="0000FF"/>
                          </a:solidFill>
                        </a:rPr>
                        <a:t>Develop &amp; test the WAS</a:t>
                      </a:r>
                      <a:endParaRPr lang="en-GB" sz="1600">
                        <a:solidFill>
                          <a:srgbClr val="0000FF"/>
                        </a:solidFill>
                        <a:latin typeface="Arial"/>
                        <a:ea typeface="Arial"/>
                      </a:endParaRPr>
                    </a:p>
                  </a:txBody>
                  <a:tcPr marL="68580" marR="68580" marT="0" marB="0">
                    <a:solidFill>
                      <a:schemeClr val="accent6">
                        <a:lumMod val="40000"/>
                        <a:lumOff val="60000"/>
                      </a:schemeClr>
                    </a:solidFill>
                  </a:tcPr>
                </a:tc>
                <a:tc>
                  <a:txBody>
                    <a:bodyPr/>
                    <a:p>
                      <a:pPr marL="0" marR="0" algn="just">
                        <a:lnSpc>
                          <a:spcPct val="150000"/>
                        </a:lnSpc>
                        <a:spcBef>
                          <a:spcPts val="0"/>
                        </a:spcBef>
                        <a:spcAft>
                          <a:spcPts val="0"/>
                        </a:spcAft>
                        <a:defRPr/>
                      </a:pPr>
                      <a:r>
                        <a:rPr lang="en-GB" sz="1600"/>
                        <a:t> </a:t>
                      </a:r>
                      <a:endParaRPr lang="en-GB" sz="1600">
                        <a:latin typeface="Arial"/>
                        <a:ea typeface="Arial"/>
                      </a:endParaRPr>
                    </a:p>
                  </a:txBody>
                  <a:tcPr marL="68580" marR="68580" marT="0" marB="0">
                    <a:solidFill>
                      <a:schemeClr val="accent6">
                        <a:lumMod val="40000"/>
                        <a:lumOff val="60000"/>
                      </a:schemeClr>
                    </a:solidFill>
                  </a:tcPr>
                </a:tc>
              </a:tr>
              <a:tr h="0">
                <a:tc>
                  <a:txBody>
                    <a:bodyPr/>
                    <a:p>
                      <a:pPr marL="0" marR="0" algn="just">
                        <a:lnSpc>
                          <a:spcPct val="150000"/>
                        </a:lnSpc>
                        <a:spcBef>
                          <a:spcPts val="0"/>
                        </a:spcBef>
                        <a:spcAft>
                          <a:spcPts val="0"/>
                        </a:spcAft>
                        <a:defRPr/>
                      </a:pPr>
                      <a:r>
                        <a:rPr lang="en-GB" sz="1600"/>
                        <a:t>7</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 </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 </a:t>
                      </a:r>
                      <a:endParaRPr lang="en-GB" sz="1600">
                        <a:latin typeface="Arial"/>
                        <a:ea typeface="Arial"/>
                      </a:endParaRPr>
                    </a:p>
                  </a:txBody>
                  <a:tcPr marL="68580" marR="68580" marT="0" marB="0"/>
                </a:tc>
                <a:tc>
                  <a:txBody>
                    <a:bodyPr/>
                    <a:p>
                      <a:pPr marL="0" marR="0" algn="just">
                        <a:lnSpc>
                          <a:spcPct val="150000"/>
                        </a:lnSpc>
                        <a:spcBef>
                          <a:spcPts val="0"/>
                        </a:spcBef>
                        <a:spcAft>
                          <a:spcPts val="0"/>
                        </a:spcAft>
                        <a:defRPr/>
                      </a:pPr>
                      <a:r>
                        <a:rPr lang="en-GB" sz="1600"/>
                        <a:t> </a:t>
                      </a:r>
                      <a:endParaRPr lang="en-GB" sz="1600">
                        <a:latin typeface="Arial"/>
                        <a:ea typeface="Arial"/>
                      </a:endParaRPr>
                    </a:p>
                  </a:txBody>
                  <a:tcPr marL="68580" marR="68580" marT="0" marB="0"/>
                </a:tc>
              </a:tr>
            </a:tbl>
          </a:graphicData>
        </a:graphic>
      </p:graphicFrame>
      <p:cxnSp>
        <p:nvCxnSpPr>
          <p:cNvPr id="1449948642" name="Straight Connector 2"/>
          <p:cNvCxnSpPr>
            <a:stCxn id="1993626878" idx="3"/>
          </p:cNvCxnSpPr>
          <p:nvPr/>
        </p:nvCxnSpPr>
        <p:spPr bwMode="auto">
          <a:xfrm>
            <a:off x="11353800" y="6538913"/>
            <a:ext cx="403186" cy="1372"/>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
        <p:nvSpPr>
          <p:cNvPr id="350826982" name="Speech Bubble: Rectangle 4"/>
          <p:cNvSpPr/>
          <p:nvPr/>
        </p:nvSpPr>
        <p:spPr bwMode="auto">
          <a:xfrm>
            <a:off x="207034" y="272794"/>
            <a:ext cx="4349151" cy="778305"/>
          </a:xfrm>
          <a:prstGeom prst="wedgeRectCallout">
            <a:avLst>
              <a:gd name="adj1" fmla="val 23878"/>
              <a:gd name="adj2" fmla="val 131262"/>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defRPr/>
            </a:pPr>
            <a:r>
              <a:rPr lang="en-US" sz="1600" b="1"/>
              <a:t>The people, groups or organizations that could impact or be impacted</a:t>
            </a:r>
            <a:r>
              <a:rPr lang="en-US" sz="1600"/>
              <a:t> </a:t>
            </a:r>
            <a:r>
              <a:rPr lang="en-US" sz="1600" b="1"/>
              <a:t>by</a:t>
            </a:r>
            <a:r>
              <a:rPr lang="en-US" sz="1600"/>
              <a:t> </a:t>
            </a:r>
            <a:r>
              <a:rPr lang="en-US" sz="1600" b="1"/>
              <a:t>a decision, activity or outcome of the project</a:t>
            </a:r>
            <a:endParaRPr lang="en-GB" sz="1600"/>
          </a:p>
        </p:txBody>
      </p:sp>
      <p:sp>
        <p:nvSpPr>
          <p:cNvPr id="660132704" name="Rectangle 5"/>
          <p:cNvSpPr/>
          <p:nvPr/>
        </p:nvSpPr>
        <p:spPr bwMode="auto">
          <a:xfrm>
            <a:off x="10420709" y="2699657"/>
            <a:ext cx="1408434" cy="188685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2054803903" name="Left Brace 6"/>
          <p:cNvSpPr/>
          <p:nvPr/>
        </p:nvSpPr>
        <p:spPr bwMode="auto">
          <a:xfrm>
            <a:off x="3363949" y="2804688"/>
            <a:ext cx="485286" cy="1706212"/>
          </a:xfrm>
          <a:prstGeom prst="leftBrace">
            <a:avLst>
              <a:gd name="adj1" fmla="val 8333"/>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GB"/>
          </a:p>
        </p:txBody>
      </p:sp>
      <p:sp>
        <p:nvSpPr>
          <p:cNvPr id="841169715" name="Left Brace 7"/>
          <p:cNvSpPr/>
          <p:nvPr/>
        </p:nvSpPr>
        <p:spPr bwMode="auto">
          <a:xfrm>
            <a:off x="3363949" y="4780786"/>
            <a:ext cx="485286" cy="1182629"/>
          </a:xfrm>
          <a:prstGeom prst="leftBrace">
            <a:avLst>
              <a:gd name="adj1" fmla="val 8333"/>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en-GB"/>
          </a:p>
        </p:txBody>
      </p:sp>
      <p:sp>
        <p:nvSpPr>
          <p:cNvPr id="1351972318" name="Rectangle 8"/>
          <p:cNvSpPr/>
          <p:nvPr/>
        </p:nvSpPr>
        <p:spPr bwMode="auto">
          <a:xfrm>
            <a:off x="10428704" y="4769077"/>
            <a:ext cx="1408434" cy="140471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2110166566" name="Rectangle 1"/>
          <p:cNvSpPr/>
          <p:nvPr/>
        </p:nvSpPr>
        <p:spPr bwMode="auto">
          <a:xfrm>
            <a:off x="3849235" y="2295218"/>
            <a:ext cx="1462994" cy="37755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1728979304" name="TextBox 11"/>
          <p:cNvSpPr txBox="1"/>
          <p:nvPr/>
        </p:nvSpPr>
        <p:spPr bwMode="auto">
          <a:xfrm>
            <a:off x="3262824" y="6278578"/>
            <a:ext cx="7165880" cy="369332"/>
          </a:xfrm>
          <a:prstGeom prst="rect">
            <a:avLst/>
          </a:prstGeom>
          <a:noFill/>
        </p:spPr>
        <p:txBody>
          <a:bodyPr wrap="square" rtlCol="0">
            <a:spAutoFit/>
          </a:bodyPr>
          <a:lstStyle/>
          <a:p>
            <a:pPr>
              <a:defRPr/>
            </a:pPr>
            <a:r>
              <a:rPr lang="en-US" sz="1800" b="1"/>
              <a:t>Work with </a:t>
            </a:r>
            <a:r>
              <a:rPr lang="en-US" sz="1800" b="1">
                <a:solidFill>
                  <a:srgbClr val="FF0000"/>
                </a:solidFill>
              </a:rPr>
              <a:t>stakeholders</a:t>
            </a:r>
            <a:r>
              <a:rPr lang="en-US" sz="1800" b="1"/>
              <a:t> </a:t>
            </a:r>
            <a:r>
              <a:rPr lang="en-US" sz="1800" b="1" u="sng"/>
              <a:t>to meet their needs/expectations</a:t>
            </a:r>
            <a:endParaRPr lang="en-MY" sz="1800"/>
          </a:p>
        </p:txBody>
      </p:sp>
      <p:sp>
        <p:nvSpPr>
          <p:cNvPr id="396777403" name="TextBox 12"/>
          <p:cNvSpPr txBox="1"/>
          <p:nvPr/>
        </p:nvSpPr>
        <p:spPr bwMode="auto">
          <a:xfrm>
            <a:off x="-690113" y="1631140"/>
            <a:ext cx="2514600" cy="1173547"/>
          </a:xfrm>
          <a:prstGeom prst="rect">
            <a:avLst/>
          </a:prstGeom>
          <a:noFill/>
        </p:spPr>
        <p:txBody>
          <a:bodyPr wrap="square" rtlCol="0">
            <a:spAutoFit/>
          </a:bodyPr>
          <a:lstStyle/>
          <a:p>
            <a:pPr>
              <a:defRPr/>
            </a:pPr>
            <a:endParaRPr lang="en-GB"/>
          </a:p>
        </p:txBody>
      </p:sp>
      <p:sp>
        <p:nvSpPr>
          <p:cNvPr id="251538247" name="TextBox 14"/>
          <p:cNvSpPr txBox="1"/>
          <p:nvPr/>
        </p:nvSpPr>
        <p:spPr bwMode="auto">
          <a:xfrm>
            <a:off x="195912" y="1153078"/>
            <a:ext cx="2514600" cy="1200329"/>
          </a:xfrm>
          <a:prstGeom prst="rect">
            <a:avLst/>
          </a:prstGeom>
          <a:noFill/>
        </p:spPr>
        <p:txBody>
          <a:bodyPr wrap="square" rtlCol="0">
            <a:spAutoFit/>
          </a:bodyPr>
          <a:lstStyle/>
          <a:p>
            <a:pPr>
              <a:defRPr/>
            </a:pPr>
            <a:r>
              <a:rPr lang="en-US" sz="1800">
                <a:solidFill>
                  <a:srgbClr val="FF0000"/>
                </a:solidFill>
              </a:rPr>
              <a:t>If you are assigned to manage a project, you need to know who are the stakeholders</a:t>
            </a:r>
            <a:endParaRPr lang="en-GB" sz="1800">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7958475">
                                            <p:txEl>
                                              <p:pRg st="0" end="0"/>
                                            </p:txEl>
                                          </p:spTgt>
                                        </p:tgtEl>
                                        <p:attrNameLst>
                                          <p:attrName>style.visibility</p:attrName>
                                        </p:attrNameLst>
                                      </p:cBhvr>
                                      <p:to>
                                        <p:strVal val="visible"/>
                                      </p:to>
                                    </p:set>
                                    <p:animEffect transition="in" filter="wipe(left)">
                                      <p:cBhvr>
                                        <p:cTn id="7" dur="500"/>
                                        <p:tgtEl>
                                          <p:spTgt spid="179584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50826982"/>
                                        </p:tgtEl>
                                        <p:attrNameLst>
                                          <p:attrName>style.visibility</p:attrName>
                                        </p:attrNameLst>
                                      </p:cBhvr>
                                      <p:to>
                                        <p:strVal val="visible"/>
                                      </p:to>
                                    </p:set>
                                    <p:animEffect transition="in" filter="wipe(up)">
                                      <p:cBhvr>
                                        <p:cTn id="12" dur="500"/>
                                        <p:tgtEl>
                                          <p:spTgt spid="35082698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1538247"/>
                                        </p:tgtEl>
                                        <p:attrNameLst>
                                          <p:attrName>style.visibility</p:attrName>
                                        </p:attrNameLst>
                                      </p:cBhvr>
                                      <p:to>
                                        <p:strVal val="visible"/>
                                      </p:to>
                                    </p:set>
                                    <p:animEffect transition="in" filter="wipe(left)">
                                      <p:cBhvr>
                                        <p:cTn id="17" dur="500"/>
                                        <p:tgtEl>
                                          <p:spTgt spid="2515382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10166566"/>
                                        </p:tgtEl>
                                        <p:attrNameLst>
                                          <p:attrName>style.visibility</p:attrName>
                                        </p:attrNameLst>
                                      </p:cBhvr>
                                      <p:to>
                                        <p:strVal val="visible"/>
                                      </p:to>
                                    </p:set>
                                    <p:animEffect transition="in" filter="wipe(left)">
                                      <p:cBhvr>
                                        <p:cTn id="22" dur="500"/>
                                        <p:tgtEl>
                                          <p:spTgt spid="211016656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54803903"/>
                                        </p:tgtEl>
                                        <p:attrNameLst>
                                          <p:attrName>style.visibility</p:attrName>
                                        </p:attrNameLst>
                                      </p:cBhvr>
                                      <p:to>
                                        <p:strVal val="visible"/>
                                      </p:to>
                                    </p:set>
                                    <p:animEffect transition="in" filter="wipe(left)">
                                      <p:cBhvr>
                                        <p:cTn id="27" dur="500"/>
                                        <p:tgtEl>
                                          <p:spTgt spid="205480390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60132704"/>
                                        </p:tgtEl>
                                        <p:attrNameLst>
                                          <p:attrName>style.visibility</p:attrName>
                                        </p:attrNameLst>
                                      </p:cBhvr>
                                      <p:to>
                                        <p:strVal val="visible"/>
                                      </p:to>
                                    </p:set>
                                    <p:animEffect transition="in" filter="wipe(left)">
                                      <p:cBhvr>
                                        <p:cTn id="32" dur="500"/>
                                        <p:tgtEl>
                                          <p:spTgt spid="66013270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50969478"/>
                                        </p:tgtEl>
                                        <p:attrNameLst>
                                          <p:attrName>style.visibility</p:attrName>
                                        </p:attrNameLst>
                                      </p:cBhvr>
                                      <p:to>
                                        <p:strVal val="visible"/>
                                      </p:to>
                                    </p:set>
                                    <p:animEffect transition="in" filter="wipe(left)">
                                      <p:cBhvr>
                                        <p:cTn id="37" dur="500"/>
                                        <p:tgtEl>
                                          <p:spTgt spid="75096947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41169715"/>
                                        </p:tgtEl>
                                        <p:attrNameLst>
                                          <p:attrName>style.visibility</p:attrName>
                                        </p:attrNameLst>
                                      </p:cBhvr>
                                      <p:to>
                                        <p:strVal val="visible"/>
                                      </p:to>
                                    </p:set>
                                    <p:animEffect transition="in" filter="wipe(left)">
                                      <p:cBhvr>
                                        <p:cTn id="42" dur="500"/>
                                        <p:tgtEl>
                                          <p:spTgt spid="84116971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51972318"/>
                                        </p:tgtEl>
                                        <p:attrNameLst>
                                          <p:attrName>style.visibility</p:attrName>
                                        </p:attrNameLst>
                                      </p:cBhvr>
                                      <p:to>
                                        <p:strVal val="visible"/>
                                      </p:to>
                                    </p:set>
                                    <p:animEffect transition="in" filter="wipe(left)">
                                      <p:cBhvr>
                                        <p:cTn id="47" dur="500"/>
                                        <p:tgtEl>
                                          <p:spTgt spid="1351972318"/>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1728979304"/>
                                        </p:tgtEl>
                                        <p:attrNameLst>
                                          <p:attrName>style.visibility</p:attrName>
                                        </p:attrNameLst>
                                      </p:cBhvr>
                                      <p:to>
                                        <p:strVal val="visible"/>
                                      </p:to>
                                    </p:set>
                                    <p:anim calcmode="lin" valueType="num">
                                      <p:cBhvr additive="base">
                                        <p:cTn id="52" dur="500" fill="hold"/>
                                        <p:tgtEl>
                                          <p:spTgt spid="1728979304"/>
                                        </p:tgtEl>
                                        <p:attrNameLst>
                                          <p:attrName>ppt_x</p:attrName>
                                        </p:attrNameLst>
                                      </p:cBhvr>
                                      <p:tavLst>
                                        <p:tav tm="0">
                                          <p:val>
                                            <p:strVal val="#ppt_x"/>
                                          </p:val>
                                        </p:tav>
                                        <p:tav tm="100000">
                                          <p:val>
                                            <p:strVal val="#ppt_x"/>
                                          </p:val>
                                        </p:tav>
                                      </p:tavLst>
                                    </p:anim>
                                    <p:anim calcmode="lin" valueType="num">
                                      <p:cBhvr additive="base">
                                        <p:cTn id="53" dur="500" fill="hold"/>
                                        <p:tgtEl>
                                          <p:spTgt spid="17289793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826982" grpId="0" animBg="1"/>
      <p:bldP spid="660132704" grpId="0" animBg="1"/>
      <p:bldP spid="2054803903" grpId="0" animBg="1"/>
      <p:bldP spid="841169715" grpId="0" animBg="1"/>
      <p:bldP spid="1351972318" grpId="0" animBg="1"/>
      <p:bldP spid="2110166566" grpId="0" animBg="1"/>
      <p:bldP spid="1728979304" grpId="0"/>
      <p:bldP spid="251538247" grpId="0"/>
    </p:bldLst>
  </p:timing>
</p:sld>
</file>

<file path=ppt/slides/slide9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14835342" name="Google Shape;1778;p104"/>
          <p:cNvSpPr txBox="1">
            <a:spLocks noGrp="1"/>
          </p:cNvSpPr>
          <p:nvPr>
            <p:ph type="body" idx="1"/>
          </p:nvPr>
        </p:nvSpPr>
        <p:spPr bwMode="auto">
          <a:xfrm>
            <a:off x="3090973" y="1413431"/>
            <a:ext cx="8458200" cy="1228339"/>
          </a:xfrm>
          <a:prstGeom prst="rect">
            <a:avLst/>
          </a:prstGeom>
          <a:noFill/>
          <a:ln>
            <a:noFill/>
          </a:ln>
        </p:spPr>
        <p:txBody>
          <a:bodyPr spcFirstLastPara="1" wrap="square" lIns="91425" tIns="45700" rIns="91425" bIns="45700" anchor="t" anchorCtr="0">
            <a:normAutofit fontScale="85000" lnSpcReduction="20000"/>
          </a:bodyPr>
          <a:lstStyle/>
          <a:p>
            <a:pPr marL="57150" lvl="0" indent="0" algn="l" rtl="0">
              <a:lnSpc>
                <a:spcPct val="90000"/>
              </a:lnSpc>
              <a:spcBef>
                <a:spcPts val="600"/>
              </a:spcBef>
              <a:spcAft>
                <a:spcPts val="0"/>
              </a:spcAft>
              <a:buClr>
                <a:schemeClr val="dk1"/>
              </a:buClr>
              <a:buSzPts val="2400"/>
              <a:buNone/>
              <a:defRPr/>
            </a:pPr>
            <a:r>
              <a:rPr lang="en-US" sz="1600" b="1"/>
              <a:t>1. </a:t>
            </a:r>
            <a:r>
              <a:rPr lang="en-US" sz="1600" b="1" u="sng"/>
              <a:t>Identify</a:t>
            </a:r>
            <a:r>
              <a:rPr lang="en-US" sz="1600" b="1"/>
              <a:t> </a:t>
            </a:r>
            <a:r>
              <a:rPr lang="en-US" sz="1600" b="1" u="sng"/>
              <a:t>Stakeholders</a:t>
            </a:r>
            <a:endParaRPr sz="1600" u="sng"/>
          </a:p>
          <a:p>
            <a:pPr marL="57150" lvl="0" indent="0" algn="l" rtl="0">
              <a:lnSpc>
                <a:spcPct val="90000"/>
              </a:lnSpc>
              <a:spcBef>
                <a:spcPts val="1000"/>
              </a:spcBef>
              <a:spcAft>
                <a:spcPts val="0"/>
              </a:spcAft>
              <a:buClr>
                <a:schemeClr val="dk1"/>
              </a:buClr>
              <a:buSzPts val="2400"/>
              <a:buNone/>
              <a:defRPr/>
            </a:pPr>
            <a:r>
              <a:rPr lang="en-US" sz="1600"/>
              <a:t>Identify the people, groups, or organizations that could impact or be impacted by a decision, activity, or outcome of the project; and analyze and document relevant information regarding their interests, involvement, interdependencies, influence, and potential impact on project success. </a:t>
            </a:r>
            <a:endParaRPr/>
          </a:p>
          <a:p>
            <a:pPr marL="57150" lvl="0" indent="0" algn="l" rtl="0">
              <a:lnSpc>
                <a:spcPct val="90000"/>
              </a:lnSpc>
              <a:spcBef>
                <a:spcPts val="1000"/>
              </a:spcBef>
              <a:spcAft>
                <a:spcPts val="0"/>
              </a:spcAft>
              <a:buClr>
                <a:schemeClr val="dk1"/>
              </a:buClr>
              <a:buSzPts val="2400"/>
              <a:buNone/>
              <a:defRPr/>
            </a:pPr>
            <a:r>
              <a:rPr lang="en-US" sz="1600" b="1">
                <a:solidFill>
                  <a:schemeClr val="tx1"/>
                </a:solidFill>
              </a:rPr>
              <a:t>Output</a:t>
            </a:r>
            <a:r>
              <a:rPr lang="en-US" sz="1600">
                <a:solidFill>
                  <a:schemeClr val="tx1"/>
                </a:solidFill>
              </a:rPr>
              <a:t>:</a:t>
            </a:r>
            <a:r>
              <a:rPr lang="en-US" sz="1900">
                <a:solidFill>
                  <a:schemeClr val="tx1"/>
                </a:solidFill>
              </a:rPr>
              <a:t> </a:t>
            </a:r>
            <a:r>
              <a:rPr lang="en-US" sz="1900" b="1">
                <a:solidFill>
                  <a:srgbClr val="FF0000"/>
                </a:solidFill>
              </a:rPr>
              <a:t>Stakeholder register (e.g. 3)</a:t>
            </a:r>
            <a:endParaRPr sz="1900" b="1"/>
          </a:p>
        </p:txBody>
      </p:sp>
      <p:sp>
        <p:nvSpPr>
          <p:cNvPr id="224829680" name="Google Shape;1779;p10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98</a:t>
            </a:fld>
            <a:endParaRPr/>
          </a:p>
        </p:txBody>
      </p:sp>
      <p:sp>
        <p:nvSpPr>
          <p:cNvPr id="1069336855" name="Google Shape;1789;p104"/>
          <p:cNvSpPr txBox="1"/>
          <p:nvPr/>
        </p:nvSpPr>
        <p:spPr bwMode="auto">
          <a:xfrm>
            <a:off x="3048000" y="533400"/>
            <a:ext cx="6971428" cy="715961"/>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Stakeholder Management</a:t>
            </a:r>
            <a:endParaRPr sz="4000" b="1">
              <a:solidFill>
                <a:schemeClr val="dk1"/>
              </a:solidFill>
              <a:latin typeface="Calibri"/>
              <a:ea typeface="Calibri"/>
              <a:cs typeface="Calibri"/>
            </a:endParaRPr>
          </a:p>
        </p:txBody>
      </p:sp>
      <p:sp>
        <p:nvSpPr>
          <p:cNvPr id="1001543152" name="Google Shape;1790;p104"/>
          <p:cNvSpPr txBox="1"/>
          <p:nvPr/>
        </p:nvSpPr>
        <p:spPr bwMode="auto">
          <a:xfrm>
            <a:off x="3085228" y="113513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grpSp>
        <p:nvGrpSpPr>
          <p:cNvPr id="1827345590" name="Google Shape;1792;p104"/>
          <p:cNvGrpSpPr/>
          <p:nvPr/>
        </p:nvGrpSpPr>
        <p:grpSpPr bwMode="auto">
          <a:xfrm>
            <a:off x="0" y="-1"/>
            <a:ext cx="2514600" cy="6858001"/>
            <a:chOff x="0" y="-1"/>
            <a:chExt cx="2514600" cy="6858001"/>
          </a:xfrm>
        </p:grpSpPr>
        <p:pic>
          <p:nvPicPr>
            <p:cNvPr id="1793" name="Google Shape;1793;p104"/>
            <p:cNvPicPr/>
            <p:nvPr/>
          </p:nvPicPr>
          <p:blipFill rotWithShape="1">
            <a:blip r:embed="rId3">
              <a:alphaModFix/>
            </a:blip>
            <a:srcRect l="35156" t="0" r="21873" b="0"/>
            <a:stretch/>
          </p:blipFill>
          <p:spPr bwMode="auto">
            <a:xfrm>
              <a:off x="0" y="2956560"/>
              <a:ext cx="2514600" cy="3901440"/>
            </a:xfrm>
            <a:prstGeom prst="rect">
              <a:avLst/>
            </a:prstGeom>
            <a:noFill/>
            <a:ln>
              <a:noFill/>
            </a:ln>
          </p:spPr>
        </p:pic>
        <p:pic>
          <p:nvPicPr>
            <p:cNvPr id="1794" name="Google Shape;1794;p104"/>
            <p:cNvPicPr/>
            <p:nvPr/>
          </p:nvPicPr>
          <p:blipFill rotWithShape="1">
            <a:blip r:embed="rId4">
              <a:alphaModFix/>
            </a:blip>
            <a:srcRect l="3260" t="2724" r="53771" b="17259"/>
            <a:stretch/>
          </p:blipFill>
          <p:spPr bwMode="auto">
            <a:xfrm>
              <a:off x="0" y="-1"/>
              <a:ext cx="2514600" cy="3124201"/>
            </a:xfrm>
            <a:prstGeom prst="rect">
              <a:avLst/>
            </a:prstGeom>
            <a:noFill/>
            <a:ln>
              <a:noFill/>
            </a:ln>
          </p:spPr>
        </p:pic>
      </p:grpSp>
      <p:pic>
        <p:nvPicPr>
          <p:cNvPr id="343498285" name="Picture 2" descr="Table&#10;&#10;Description automatically generated"/>
          <p:cNvPicPr>
            <a:picLocks noChangeAspect="1"/>
          </p:cNvPicPr>
          <p:nvPr/>
        </p:nvPicPr>
        <p:blipFill rotWithShape="1">
          <a:blip r:embed="rId5"/>
          <a:srcRect l="2983" t="23704" r="1737" b="12545"/>
          <a:stretch/>
        </p:blipFill>
        <p:spPr bwMode="auto">
          <a:xfrm>
            <a:off x="3312826" y="2601638"/>
            <a:ext cx="8458200" cy="3772484"/>
          </a:xfrm>
          <a:prstGeom prst="rect">
            <a:avLst/>
          </a:prstGeom>
          <a:ln w="28575">
            <a:solidFill>
              <a:srgbClr val="FF0000"/>
            </a:solidFill>
          </a:ln>
        </p:spPr>
      </p:pic>
      <p:sp>
        <p:nvSpPr>
          <p:cNvPr id="1993618864" name="Callout: Line 4"/>
          <p:cNvSpPr/>
          <p:nvPr/>
        </p:nvSpPr>
        <p:spPr bwMode="auto">
          <a:xfrm>
            <a:off x="8249545" y="1510806"/>
            <a:ext cx="3539765" cy="606955"/>
          </a:xfrm>
          <a:prstGeom prst="borderCallout1">
            <a:avLst>
              <a:gd name="adj1" fmla="val 102782"/>
              <a:gd name="adj2" fmla="val 38304"/>
              <a:gd name="adj3" fmla="val 279261"/>
              <a:gd name="adj4" fmla="val 13449"/>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defRPr/>
            </a:pPr>
            <a:r>
              <a:rPr lang="en-US" sz="1600">
                <a:solidFill>
                  <a:srgbClr val="FF0000"/>
                </a:solidFill>
              </a:rPr>
              <a:t>PS: A high-ranking manager who champions and supports a project</a:t>
            </a:r>
            <a:endParaRPr/>
          </a:p>
          <a:p>
            <a:pPr algn="r">
              <a:defRPr/>
            </a:pPr>
            <a:r>
              <a:rPr lang="en-US" sz="1200">
                <a:solidFill>
                  <a:srgbClr val="FF0000"/>
                </a:solidFill>
              </a:rPr>
              <a:t>(Larson, 2021)</a:t>
            </a:r>
            <a:endParaRPr lang="en-MY" sz="1200">
              <a:solidFill>
                <a:srgbClr val="FF0000"/>
              </a:solidFill>
            </a:endParaRPr>
          </a:p>
        </p:txBody>
      </p:sp>
      <p:sp>
        <p:nvSpPr>
          <p:cNvPr id="1636076045" name="Rectangle 6"/>
          <p:cNvSpPr/>
          <p:nvPr/>
        </p:nvSpPr>
        <p:spPr bwMode="auto">
          <a:xfrm>
            <a:off x="10227627" y="6354584"/>
            <a:ext cx="1558388" cy="5034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solidFill>
                  <a:schemeClr val="tx1"/>
                </a:solidFill>
              </a:rPr>
              <a:t>(Schwalbe, 2019)</a:t>
            </a:r>
            <a:endParaRPr lang="en-MY">
              <a:solidFill>
                <a:schemeClr val="tx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14835342">
                                            <p:txEl>
                                              <p:pRg st="2" end="2"/>
                                            </p:txEl>
                                          </p:spTgt>
                                        </p:tgtEl>
                                        <p:attrNameLst>
                                          <p:attrName>style.visibility</p:attrName>
                                        </p:attrNameLst>
                                      </p:cBhvr>
                                      <p:to>
                                        <p:strVal val="visible"/>
                                      </p:to>
                                    </p:set>
                                    <p:animEffect transition="in" filter="wipe(left)">
                                      <p:cBhvr>
                                        <p:cTn id="7" dur="500"/>
                                        <p:tgtEl>
                                          <p:spTgt spid="91483534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993618864"/>
                                        </p:tgtEl>
                                        <p:attrNameLst>
                                          <p:attrName>style.visibility</p:attrName>
                                        </p:attrNameLst>
                                      </p:cBhvr>
                                      <p:to>
                                        <p:strVal val="visible"/>
                                      </p:to>
                                    </p:set>
                                    <p:animEffect transition="in" filter="wipe(up)">
                                      <p:cBhvr>
                                        <p:cTn id="12" dur="500"/>
                                        <p:tgtEl>
                                          <p:spTgt spid="19936188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3618864" grpId="0" animBg="1"/>
    </p:bldLst>
  </p:timing>
</p:sld>
</file>

<file path=ppt/slides/slide9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57772384" name="Google Shape;1799;p105"/>
          <p:cNvSpPr txBox="1">
            <a:spLocks noGrp="1"/>
          </p:cNvSpPr>
          <p:nvPr>
            <p:ph type="body" idx="1"/>
          </p:nvPr>
        </p:nvSpPr>
        <p:spPr bwMode="auto">
          <a:xfrm>
            <a:off x="3200400" y="3334930"/>
            <a:ext cx="8458200" cy="3205163"/>
          </a:xfrm>
          <a:prstGeom prst="rect">
            <a:avLst/>
          </a:prstGeom>
          <a:noFill/>
          <a:ln>
            <a:noFill/>
          </a:ln>
        </p:spPr>
        <p:txBody>
          <a:bodyPr spcFirstLastPara="1" wrap="square" lIns="91425" tIns="45700" rIns="91425" bIns="45700" anchor="t" anchorCtr="0">
            <a:normAutofit/>
          </a:bodyPr>
          <a:lstStyle/>
          <a:p>
            <a:pPr marL="57150" lvl="0" indent="0" algn="l" rtl="0">
              <a:lnSpc>
                <a:spcPct val="90000"/>
              </a:lnSpc>
              <a:spcBef>
                <a:spcPts val="0"/>
              </a:spcBef>
              <a:spcAft>
                <a:spcPts val="0"/>
              </a:spcAft>
              <a:buClr>
                <a:schemeClr val="dk1"/>
              </a:buClr>
              <a:buSzPts val="2400"/>
              <a:buNone/>
              <a:defRPr/>
            </a:pPr>
            <a:r>
              <a:rPr lang="en-US" sz="2400" b="1"/>
              <a:t>2. Plan Stakeholder Management</a:t>
            </a:r>
            <a:endParaRPr/>
          </a:p>
          <a:p>
            <a:pPr marL="514350" lvl="0" indent="-457200" algn="l" rtl="0">
              <a:lnSpc>
                <a:spcPct val="90000"/>
              </a:lnSpc>
              <a:spcBef>
                <a:spcPts val="1000"/>
              </a:spcBef>
              <a:spcAft>
                <a:spcPts val="0"/>
              </a:spcAft>
              <a:buClr>
                <a:schemeClr val="dk1"/>
              </a:buClr>
              <a:buSzPts val="2400"/>
              <a:buChar char="•"/>
              <a:defRPr/>
            </a:pPr>
            <a:r>
              <a:rPr lang="en-US" sz="2400" b="1"/>
              <a:t>Develop appropriate </a:t>
            </a:r>
            <a:r>
              <a:rPr lang="en-US" sz="2400" b="1">
                <a:solidFill>
                  <a:schemeClr val="tx1"/>
                </a:solidFill>
              </a:rPr>
              <a:t>management strategies to </a:t>
            </a:r>
            <a:r>
              <a:rPr lang="en-US" sz="2400" b="1"/>
              <a:t>effectively </a:t>
            </a:r>
            <a:r>
              <a:rPr lang="en-US" sz="2400" b="1" u="sng">
                <a:solidFill>
                  <a:srgbClr val="FF0000"/>
                </a:solidFill>
              </a:rPr>
              <a:t>engage</a:t>
            </a:r>
            <a:r>
              <a:rPr lang="en-US" sz="2400" b="1">
                <a:solidFill>
                  <a:srgbClr val="FF0000"/>
                </a:solidFill>
              </a:rPr>
              <a:t> stakeholders </a:t>
            </a:r>
            <a:r>
              <a:rPr lang="en-US" sz="2400" b="1"/>
              <a:t>throughout the project life cycle</a:t>
            </a:r>
            <a:r>
              <a:rPr lang="en-US" sz="2400"/>
              <a:t>, based on the analysis of their needs, interests, and potential impact on project success.</a:t>
            </a:r>
            <a:endParaRPr/>
          </a:p>
          <a:p>
            <a:pPr marL="514350" lvl="0" indent="-457200" algn="l" rtl="0">
              <a:lnSpc>
                <a:spcPct val="90000"/>
              </a:lnSpc>
              <a:spcBef>
                <a:spcPts val="1000"/>
              </a:spcBef>
              <a:spcAft>
                <a:spcPts val="0"/>
              </a:spcAft>
              <a:buClr>
                <a:schemeClr val="dk1"/>
              </a:buClr>
              <a:buSzPts val="2400"/>
              <a:buChar char="•"/>
              <a:defRPr/>
            </a:pPr>
            <a:r>
              <a:rPr lang="en-US" sz="2400">
                <a:solidFill>
                  <a:schemeClr val="tx1"/>
                </a:solidFill>
              </a:rPr>
              <a:t>Output: stakeholder management plan. </a:t>
            </a:r>
            <a:endParaRPr>
              <a:solidFill>
                <a:schemeClr val="tx1"/>
              </a:solidFill>
            </a:endParaRPr>
          </a:p>
        </p:txBody>
      </p:sp>
      <p:sp>
        <p:nvSpPr>
          <p:cNvPr id="1163731519" name="Google Shape;1800;p10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99</a:t>
            </a:fld>
            <a:endParaRPr/>
          </a:p>
        </p:txBody>
      </p:sp>
      <p:sp>
        <p:nvSpPr>
          <p:cNvPr id="635596009" name="Google Shape;1810;p105"/>
          <p:cNvSpPr txBox="1"/>
          <p:nvPr/>
        </p:nvSpPr>
        <p:spPr bwMode="auto">
          <a:xfrm>
            <a:off x="3048000" y="533400"/>
            <a:ext cx="6971428" cy="715961"/>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Stakeholder Management</a:t>
            </a:r>
            <a:endParaRPr sz="4000" b="1">
              <a:solidFill>
                <a:schemeClr val="dk1"/>
              </a:solidFill>
              <a:latin typeface="Calibri"/>
              <a:ea typeface="Calibri"/>
              <a:cs typeface="Calibri"/>
            </a:endParaRPr>
          </a:p>
        </p:txBody>
      </p:sp>
      <p:sp>
        <p:nvSpPr>
          <p:cNvPr id="783823794" name="Google Shape;1811;p105"/>
          <p:cNvSpPr txBox="1"/>
          <p:nvPr/>
        </p:nvSpPr>
        <p:spPr bwMode="auto">
          <a:xfrm>
            <a:off x="3085228" y="113513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971890379" name="Google Shape;1812;p105"/>
          <p:cNvCxnSpPr/>
          <p:nvPr/>
        </p:nvCxnSpPr>
        <p:spPr bwMode="auto">
          <a:xfrm rot="10800000">
            <a:off x="3200400" y="1608648"/>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731588275" name="Google Shape;1813;p105"/>
          <p:cNvGrpSpPr/>
          <p:nvPr/>
        </p:nvGrpSpPr>
        <p:grpSpPr bwMode="auto">
          <a:xfrm>
            <a:off x="0" y="-1"/>
            <a:ext cx="2514600" cy="6858001"/>
            <a:chOff x="0" y="-1"/>
            <a:chExt cx="2514600" cy="6858001"/>
          </a:xfrm>
        </p:grpSpPr>
        <p:pic>
          <p:nvPicPr>
            <p:cNvPr id="1814" name="Google Shape;1814;p105"/>
            <p:cNvPicPr/>
            <p:nvPr/>
          </p:nvPicPr>
          <p:blipFill rotWithShape="1">
            <a:blip r:embed="rId3">
              <a:alphaModFix/>
            </a:blip>
            <a:srcRect l="35156" t="0" r="21873" b="0"/>
            <a:stretch/>
          </p:blipFill>
          <p:spPr bwMode="auto">
            <a:xfrm>
              <a:off x="0" y="2956560"/>
              <a:ext cx="2514600" cy="3901440"/>
            </a:xfrm>
            <a:prstGeom prst="rect">
              <a:avLst/>
            </a:prstGeom>
            <a:noFill/>
            <a:ln>
              <a:noFill/>
            </a:ln>
          </p:spPr>
        </p:pic>
        <p:pic>
          <p:nvPicPr>
            <p:cNvPr id="1815" name="Google Shape;1815;p105"/>
            <p:cNvPicPr/>
            <p:nvPr/>
          </p:nvPicPr>
          <p:blipFill rotWithShape="1">
            <a:blip r:embed="rId4">
              <a:alphaModFix/>
            </a:blip>
            <a:srcRect l="3260" t="2724" r="53771" b="17259"/>
            <a:stretch/>
          </p:blipFill>
          <p:spPr bwMode="auto">
            <a:xfrm>
              <a:off x="0" y="-1"/>
              <a:ext cx="2514600" cy="3124201"/>
            </a:xfrm>
            <a:prstGeom prst="rect">
              <a:avLst/>
            </a:prstGeom>
            <a:noFill/>
            <a:ln>
              <a:noFill/>
            </a:ln>
          </p:spPr>
        </p:pic>
      </p:grpSp>
      <p:grpSp>
        <p:nvGrpSpPr>
          <p:cNvPr id="1863670392" name="Google Shape;1843;p107"/>
          <p:cNvGrpSpPr/>
          <p:nvPr/>
        </p:nvGrpSpPr>
        <p:grpSpPr bwMode="auto">
          <a:xfrm>
            <a:off x="3202694" y="2079263"/>
            <a:ext cx="7411391" cy="785051"/>
            <a:chOff x="2294" y="70819"/>
            <a:chExt cx="7411391" cy="785051"/>
          </a:xfrm>
        </p:grpSpPr>
        <p:sp>
          <p:nvSpPr>
            <p:cNvPr id="12" name="Google Shape;1844;p107"/>
            <p:cNvSpPr/>
            <p:nvPr/>
          </p:nvSpPr>
          <p:spPr bwMode="auto">
            <a:xfrm>
              <a:off x="2294" y="70819"/>
              <a:ext cx="2112297" cy="78505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3" name="Google Shape;1845;p107"/>
            <p:cNvSpPr txBox="1"/>
            <p:nvPr/>
          </p:nvSpPr>
          <p:spPr bwMode="auto">
            <a:xfrm>
              <a:off x="394820" y="70819"/>
              <a:ext cx="1327246" cy="785051"/>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1">
                  <a:solidFill>
                    <a:schemeClr val="lt1"/>
                  </a:solidFill>
                  <a:latin typeface="Calibri"/>
                  <a:ea typeface="Calibri"/>
                  <a:cs typeface="Calibri"/>
                </a:rPr>
                <a:t>1.                             Identify Stakeholders                         </a:t>
              </a:r>
              <a:endParaRPr sz="1400" b="1">
                <a:solidFill>
                  <a:schemeClr val="lt1"/>
                </a:solidFill>
                <a:latin typeface="Calibri"/>
                <a:ea typeface="Calibri"/>
                <a:cs typeface="Calibri"/>
              </a:endParaRPr>
            </a:p>
          </p:txBody>
        </p:sp>
        <p:sp>
          <p:nvSpPr>
            <p:cNvPr id="14" name="Google Shape;1846;p107"/>
            <p:cNvSpPr/>
            <p:nvPr/>
          </p:nvSpPr>
          <p:spPr bwMode="auto">
            <a:xfrm>
              <a:off x="1918328" y="70819"/>
              <a:ext cx="1962627" cy="78505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 name="Google Shape;1847;p107"/>
            <p:cNvSpPr txBox="1"/>
            <p:nvPr/>
          </p:nvSpPr>
          <p:spPr bwMode="auto">
            <a:xfrm>
              <a:off x="2310854" y="70819"/>
              <a:ext cx="1177575" cy="785051"/>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2. </a:t>
              </a:r>
              <a:br>
                <a:rPr lang="en-US" sz="1400">
                  <a:solidFill>
                    <a:schemeClr val="lt1"/>
                  </a:solidFill>
                  <a:latin typeface="Calibri"/>
                  <a:ea typeface="Calibri"/>
                  <a:cs typeface="Calibri"/>
                </a:rPr>
              </a:br>
              <a:r>
                <a:rPr lang="en-US" sz="1400">
                  <a:solidFill>
                    <a:schemeClr val="lt1"/>
                  </a:solidFill>
                  <a:latin typeface="Calibri"/>
                  <a:ea typeface="Calibri"/>
                  <a:cs typeface="Calibri"/>
                </a:rPr>
                <a:t>Plan Stakeholder Engagement</a:t>
              </a:r>
              <a:endParaRPr sz="1400">
                <a:solidFill>
                  <a:schemeClr val="lt1"/>
                </a:solidFill>
                <a:latin typeface="Calibri"/>
                <a:ea typeface="Calibri"/>
                <a:cs typeface="Calibri"/>
              </a:endParaRPr>
            </a:p>
          </p:txBody>
        </p:sp>
        <p:sp>
          <p:nvSpPr>
            <p:cNvPr id="16" name="Google Shape;1848;p107"/>
            <p:cNvSpPr/>
            <p:nvPr/>
          </p:nvSpPr>
          <p:spPr bwMode="auto">
            <a:xfrm>
              <a:off x="3684693" y="70819"/>
              <a:ext cx="1962627" cy="78505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7" name="Google Shape;1849;p107"/>
            <p:cNvSpPr txBox="1"/>
            <p:nvPr/>
          </p:nvSpPr>
          <p:spPr bwMode="auto">
            <a:xfrm>
              <a:off x="4077219" y="70819"/>
              <a:ext cx="1177575" cy="785051"/>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3. </a:t>
              </a:r>
              <a:br>
                <a:rPr lang="en-US" sz="1400">
                  <a:solidFill>
                    <a:schemeClr val="lt1"/>
                  </a:solidFill>
                  <a:latin typeface="Calibri"/>
                  <a:ea typeface="Calibri"/>
                  <a:cs typeface="Calibri"/>
                </a:rPr>
              </a:br>
              <a:r>
                <a:rPr lang="en-US" sz="1400">
                  <a:solidFill>
                    <a:schemeClr val="lt1"/>
                  </a:solidFill>
                  <a:latin typeface="Calibri"/>
                  <a:ea typeface="Calibri"/>
                  <a:cs typeface="Calibri"/>
                </a:rPr>
                <a:t>Manage Stakeholder Engagement</a:t>
              </a:r>
              <a:endParaRPr sz="1400">
                <a:solidFill>
                  <a:schemeClr val="lt1"/>
                </a:solidFill>
                <a:latin typeface="Calibri"/>
                <a:ea typeface="Calibri"/>
                <a:cs typeface="Calibri"/>
              </a:endParaRPr>
            </a:p>
          </p:txBody>
        </p:sp>
        <p:sp>
          <p:nvSpPr>
            <p:cNvPr id="18" name="Google Shape;1850;p107"/>
            <p:cNvSpPr/>
            <p:nvPr/>
          </p:nvSpPr>
          <p:spPr bwMode="auto">
            <a:xfrm>
              <a:off x="5451058" y="70819"/>
              <a:ext cx="1962627" cy="785051"/>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9" name="Google Shape;1851;p107"/>
            <p:cNvSpPr txBox="1"/>
            <p:nvPr/>
          </p:nvSpPr>
          <p:spPr bwMode="auto">
            <a:xfrm>
              <a:off x="5843584" y="70819"/>
              <a:ext cx="1177575" cy="785051"/>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4. </a:t>
              </a:r>
              <a:br>
                <a:rPr lang="en-US" sz="1400">
                  <a:solidFill>
                    <a:schemeClr val="lt1"/>
                  </a:solidFill>
                  <a:latin typeface="Calibri"/>
                  <a:ea typeface="Calibri"/>
                  <a:cs typeface="Calibri"/>
                </a:rPr>
              </a:br>
              <a:r>
                <a:rPr lang="en-US" sz="1400">
                  <a:solidFill>
                    <a:schemeClr val="lt1"/>
                  </a:solidFill>
                  <a:latin typeface="Calibri"/>
                  <a:ea typeface="Calibri"/>
                  <a:cs typeface="Calibri"/>
                </a:rPr>
                <a:t>Monitor Stakeholder Engagement</a:t>
              </a:r>
              <a:endParaRPr sz="1400">
                <a:solidFill>
                  <a:schemeClr val="lt1"/>
                </a:solidFill>
                <a:latin typeface="Calibri"/>
                <a:ea typeface="Calibri"/>
                <a:cs typeface="Calibri"/>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557772384">
                                            <p:txEl>
                                              <p:pRg st="0" end="0"/>
                                            </p:txEl>
                                          </p:spTgt>
                                        </p:tgtEl>
                                        <p:attrNameLst>
                                          <p:attrName>style.visibility</p:attrName>
                                        </p:attrNameLst>
                                      </p:cBhvr>
                                      <p:to>
                                        <p:strVal val="visible"/>
                                      </p:to>
                                    </p:set>
                                    <p:anim calcmode="lin" valueType="num">
                                      <p:cBhvr additive="base">
                                        <p:cTn id="7" dur="500" fill="hold"/>
                                        <p:tgtEl>
                                          <p:spTgt spid="155777238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57772384">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57772384">
                                            <p:txEl>
                                              <p:pRg st="1" end="1"/>
                                            </p:txEl>
                                          </p:spTgt>
                                        </p:tgtEl>
                                        <p:attrNameLst>
                                          <p:attrName>style.visibility</p:attrName>
                                        </p:attrNameLst>
                                      </p:cBhvr>
                                      <p:to>
                                        <p:strVal val="visible"/>
                                      </p:to>
                                    </p:set>
                                    <p:anim calcmode="lin" valueType="num">
                                      <p:cBhvr additive="base">
                                        <p:cTn id="13" dur="500" fill="hold"/>
                                        <p:tgtEl>
                                          <p:spTgt spid="155777238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5777238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557772384">
                                            <p:txEl>
                                              <p:pRg st="2" end="2"/>
                                            </p:txEl>
                                          </p:spTgt>
                                        </p:tgtEl>
                                        <p:attrNameLst>
                                          <p:attrName>style.visibility</p:attrName>
                                        </p:attrNameLst>
                                      </p:cBhvr>
                                      <p:to>
                                        <p:strVal val="visible"/>
                                      </p:to>
                                    </p:set>
                                    <p:anim calcmode="lin" valueType="num">
                                      <p:cBhvr additive="base">
                                        <p:cTn id="17" dur="500" fill="hold"/>
                                        <p:tgtEl>
                                          <p:spTgt spid="155777238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55777238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91959028" name="Google Shape;1800;p10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100</a:t>
            </a:fld>
            <a:endParaRPr/>
          </a:p>
        </p:txBody>
      </p:sp>
      <p:sp>
        <p:nvSpPr>
          <p:cNvPr id="2142299018" name="Google Shape;1810;p105"/>
          <p:cNvSpPr txBox="1"/>
          <p:nvPr/>
        </p:nvSpPr>
        <p:spPr bwMode="auto">
          <a:xfrm>
            <a:off x="3048000" y="533400"/>
            <a:ext cx="6971428" cy="715961"/>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Stakeholder Management</a:t>
            </a:r>
            <a:endParaRPr sz="4000" b="1">
              <a:solidFill>
                <a:schemeClr val="dk1"/>
              </a:solidFill>
              <a:latin typeface="Calibri"/>
              <a:ea typeface="Calibri"/>
              <a:cs typeface="Calibri"/>
            </a:endParaRPr>
          </a:p>
        </p:txBody>
      </p:sp>
      <p:sp>
        <p:nvSpPr>
          <p:cNvPr id="562784285" name="Google Shape;1811;p105"/>
          <p:cNvSpPr txBox="1"/>
          <p:nvPr/>
        </p:nvSpPr>
        <p:spPr bwMode="auto">
          <a:xfrm>
            <a:off x="3085228" y="113513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499861475" name="Google Shape;1812;p105"/>
          <p:cNvCxnSpPr/>
          <p:nvPr/>
        </p:nvCxnSpPr>
        <p:spPr bwMode="auto">
          <a:xfrm rot="10800000">
            <a:off x="3200400" y="1608648"/>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272489070" name="Google Shape;1813;p105"/>
          <p:cNvGrpSpPr/>
          <p:nvPr/>
        </p:nvGrpSpPr>
        <p:grpSpPr bwMode="auto">
          <a:xfrm>
            <a:off x="0" y="-1"/>
            <a:ext cx="2514600" cy="6858001"/>
            <a:chOff x="0" y="-1"/>
            <a:chExt cx="2514600" cy="6858001"/>
          </a:xfrm>
        </p:grpSpPr>
        <p:pic>
          <p:nvPicPr>
            <p:cNvPr id="1814" name="Google Shape;1814;p105"/>
            <p:cNvPicPr/>
            <p:nvPr/>
          </p:nvPicPr>
          <p:blipFill rotWithShape="1">
            <a:blip r:embed="rId3">
              <a:alphaModFix/>
            </a:blip>
            <a:srcRect l="35156" t="0" r="21873" b="0"/>
            <a:stretch/>
          </p:blipFill>
          <p:spPr bwMode="auto">
            <a:xfrm>
              <a:off x="0" y="2956560"/>
              <a:ext cx="2514600" cy="3901440"/>
            </a:xfrm>
            <a:prstGeom prst="rect">
              <a:avLst/>
            </a:prstGeom>
            <a:noFill/>
            <a:ln>
              <a:noFill/>
            </a:ln>
          </p:spPr>
        </p:pic>
        <p:pic>
          <p:nvPicPr>
            <p:cNvPr id="1815" name="Google Shape;1815;p105"/>
            <p:cNvPicPr/>
            <p:nvPr/>
          </p:nvPicPr>
          <p:blipFill rotWithShape="1">
            <a:blip r:embed="rId4">
              <a:alphaModFix/>
            </a:blip>
            <a:srcRect l="3260" t="2724" r="53771" b="17259"/>
            <a:stretch/>
          </p:blipFill>
          <p:spPr bwMode="auto">
            <a:xfrm>
              <a:off x="0" y="-1"/>
              <a:ext cx="2514600" cy="3124201"/>
            </a:xfrm>
            <a:prstGeom prst="rect">
              <a:avLst/>
            </a:prstGeom>
            <a:noFill/>
            <a:ln>
              <a:noFill/>
            </a:ln>
          </p:spPr>
        </p:pic>
      </p:grpSp>
      <p:pic>
        <p:nvPicPr>
          <p:cNvPr id="839357172" name="Picture 2" descr="Table&#10;&#10;Description automatically generated"/>
          <p:cNvPicPr>
            <a:picLocks noChangeAspect="1"/>
          </p:cNvPicPr>
          <p:nvPr/>
        </p:nvPicPr>
        <p:blipFill rotWithShape="1">
          <a:blip r:embed="rId5"/>
          <a:srcRect l="8415" t="13552" r="11585" b="21967"/>
          <a:stretch/>
        </p:blipFill>
        <p:spPr bwMode="auto">
          <a:xfrm>
            <a:off x="3397518" y="2291628"/>
            <a:ext cx="7425380" cy="4488704"/>
          </a:xfrm>
          <a:prstGeom prst="rect">
            <a:avLst/>
          </a:prstGeom>
          <a:ln w="28575">
            <a:noFill/>
          </a:ln>
        </p:spPr>
      </p:pic>
      <p:cxnSp>
        <p:nvCxnSpPr>
          <p:cNvPr id="1477386322" name="Straight Connector 5"/>
          <p:cNvCxnSpPr/>
          <p:nvPr/>
        </p:nvCxnSpPr>
        <p:spPr bwMode="auto">
          <a:xfrm>
            <a:off x="8015153" y="3771900"/>
            <a:ext cx="2640147"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4050632" name="Straight Connector 7"/>
          <p:cNvCxnSpPr/>
          <p:nvPr/>
        </p:nvCxnSpPr>
        <p:spPr bwMode="auto">
          <a:xfrm>
            <a:off x="6580053" y="3975100"/>
            <a:ext cx="2538547"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2536253" name="Straight Connector 9"/>
          <p:cNvCxnSpPr/>
          <p:nvPr/>
        </p:nvCxnSpPr>
        <p:spPr bwMode="auto">
          <a:xfrm>
            <a:off x="6623595" y="2639785"/>
            <a:ext cx="230269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863824152" name="Google Shape;1799;p105"/>
          <p:cNvSpPr txBox="1">
            <a:spLocks noGrp="1"/>
          </p:cNvSpPr>
          <p:nvPr>
            <p:ph type="body" idx="1"/>
          </p:nvPr>
        </p:nvSpPr>
        <p:spPr bwMode="auto">
          <a:xfrm>
            <a:off x="3200400" y="1174099"/>
            <a:ext cx="8851692" cy="1058672"/>
          </a:xfrm>
          <a:prstGeom prst="rect">
            <a:avLst/>
          </a:prstGeom>
          <a:solidFill>
            <a:schemeClr val="bg1"/>
          </a:solidFill>
          <a:ln>
            <a:noFill/>
          </a:ln>
        </p:spPr>
        <p:txBody>
          <a:bodyPr spcFirstLastPara="1" wrap="square" lIns="91425" tIns="45700" rIns="91425" bIns="45700" anchor="t" anchorCtr="0">
            <a:normAutofit lnSpcReduction="10000"/>
          </a:bodyPr>
          <a:lstStyle/>
          <a:p>
            <a:pPr marL="57150" lvl="0" indent="0" algn="l" rtl="0">
              <a:lnSpc>
                <a:spcPct val="90000"/>
              </a:lnSpc>
              <a:spcBef>
                <a:spcPts val="0"/>
              </a:spcBef>
              <a:spcAft>
                <a:spcPts val="0"/>
              </a:spcAft>
              <a:buClr>
                <a:schemeClr val="dk1"/>
              </a:buClr>
              <a:buSzPts val="2400"/>
              <a:buNone/>
              <a:defRPr/>
            </a:pPr>
            <a:r>
              <a:rPr lang="en-US" sz="1600" b="1"/>
              <a:t>2. Plan Stakeholder Management</a:t>
            </a:r>
            <a:endParaRPr sz="1600"/>
          </a:p>
          <a:p>
            <a:pPr marL="57150" lvl="0" indent="0" algn="l" rtl="0">
              <a:lnSpc>
                <a:spcPct val="90000"/>
              </a:lnSpc>
              <a:spcBef>
                <a:spcPts val="1000"/>
              </a:spcBef>
              <a:spcAft>
                <a:spcPts val="0"/>
              </a:spcAft>
              <a:buClr>
                <a:schemeClr val="dk1"/>
              </a:buClr>
              <a:buSzPts val="2400"/>
              <a:buNone/>
              <a:defRPr/>
            </a:pPr>
            <a:r>
              <a:rPr lang="en-US" sz="1600">
                <a:solidFill>
                  <a:schemeClr val="tx1"/>
                </a:solidFill>
              </a:rPr>
              <a:t>Develop appropriate management strategies to effectively </a:t>
            </a:r>
            <a:r>
              <a:rPr lang="en-US" sz="1600" u="sng">
                <a:solidFill>
                  <a:schemeClr val="tx1"/>
                </a:solidFill>
              </a:rPr>
              <a:t>engage</a:t>
            </a:r>
            <a:r>
              <a:rPr lang="en-US" sz="1600">
                <a:solidFill>
                  <a:schemeClr val="tx1"/>
                </a:solidFill>
              </a:rPr>
              <a:t> stakeholders throughout the project life cycle, based on the analysis of their needs, interests, and potential impact on project success. </a:t>
            </a:r>
            <a:r>
              <a:rPr lang="en-US" sz="1600" u="sng">
                <a:solidFill>
                  <a:schemeClr val="tx1"/>
                </a:solidFill>
              </a:rPr>
              <a:t>Output</a:t>
            </a:r>
            <a:r>
              <a:rPr lang="en-US" sz="1600">
                <a:solidFill>
                  <a:schemeClr val="tx1"/>
                </a:solidFill>
              </a:rPr>
              <a:t>: stakeholder management plan (e.g.) </a:t>
            </a:r>
            <a:endParaRPr sz="1600">
              <a:solidFill>
                <a:schemeClr val="tx1"/>
              </a:solidFill>
            </a:endParaRPr>
          </a:p>
        </p:txBody>
      </p:sp>
      <p:sp>
        <p:nvSpPr>
          <p:cNvPr id="260413715" name="Rectangle 1"/>
          <p:cNvSpPr/>
          <p:nvPr/>
        </p:nvSpPr>
        <p:spPr bwMode="auto">
          <a:xfrm>
            <a:off x="3302000" y="2733675"/>
            <a:ext cx="812800" cy="38004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700060650" name="Callout: Line 3"/>
          <p:cNvSpPr/>
          <p:nvPr/>
        </p:nvSpPr>
        <p:spPr bwMode="auto">
          <a:xfrm>
            <a:off x="3397518" y="3318319"/>
            <a:ext cx="2640147" cy="463107"/>
          </a:xfrm>
          <a:prstGeom prst="borderCallout1">
            <a:avLst>
              <a:gd name="adj1" fmla="val -12714"/>
              <a:gd name="adj2" fmla="val 34484"/>
              <a:gd name="adj3" fmla="val -71114"/>
              <a:gd name="adj4" fmla="val 18754"/>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defRPr/>
            </a:pPr>
            <a:r>
              <a:rPr lang="en-US">
                <a:solidFill>
                  <a:srgbClr val="FF0000"/>
                </a:solidFill>
              </a:rPr>
              <a:t>Knows what he wants</a:t>
            </a:r>
            <a:endParaRPr/>
          </a:p>
          <a:p>
            <a:pPr>
              <a:defRPr/>
            </a:pPr>
            <a:r>
              <a:rPr lang="en-US">
                <a:solidFill>
                  <a:srgbClr val="FF0000"/>
                </a:solidFill>
              </a:rPr>
              <a:t>and what he likes</a:t>
            </a:r>
            <a:endParaRPr lang="en-GB">
              <a:solidFill>
                <a:srgbClr val="FF0000"/>
              </a:solidFill>
            </a:endParaRPr>
          </a:p>
        </p:txBody>
      </p:sp>
      <p:sp>
        <p:nvSpPr>
          <p:cNvPr id="497818271" name="Callout: Line 4"/>
          <p:cNvSpPr/>
          <p:nvPr/>
        </p:nvSpPr>
        <p:spPr bwMode="auto">
          <a:xfrm>
            <a:off x="7539727" y="878948"/>
            <a:ext cx="4512365" cy="581842"/>
          </a:xfrm>
          <a:prstGeom prst="borderCallout1">
            <a:avLst>
              <a:gd name="adj1" fmla="val 45275"/>
              <a:gd name="adj2" fmla="val 478"/>
              <a:gd name="adj3" fmla="val 344488"/>
              <a:gd name="adj4" fmla="val -3348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a:t>“Leading” status means Stephen is an </a:t>
            </a:r>
            <a:r>
              <a:rPr lang="en-US" b="1"/>
              <a:t>influential</a:t>
            </a:r>
            <a:r>
              <a:rPr lang="en-US"/>
              <a:t> person, who is also </a:t>
            </a:r>
            <a:r>
              <a:rPr lang="en-US" b="1"/>
              <a:t>actively</a:t>
            </a:r>
            <a:r>
              <a:rPr lang="en-US"/>
              <a:t> involved in the project</a:t>
            </a:r>
            <a:endParaRPr lang="en-MY"/>
          </a:p>
        </p:txBody>
      </p:sp>
      <p:sp>
        <p:nvSpPr>
          <p:cNvPr id="568458011" name="Callout: Line 6"/>
          <p:cNvSpPr/>
          <p:nvPr/>
        </p:nvSpPr>
        <p:spPr bwMode="auto">
          <a:xfrm>
            <a:off x="7325139" y="246603"/>
            <a:ext cx="3796748" cy="637001"/>
          </a:xfrm>
          <a:prstGeom prst="borderCallout1">
            <a:avLst>
              <a:gd name="adj1" fmla="val 18750"/>
              <a:gd name="adj2" fmla="val -8333"/>
              <a:gd name="adj3" fmla="val 112500"/>
              <a:gd name="adj4" fmla="val -38333"/>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1294714637" name="Rectangle 8"/>
          <p:cNvSpPr/>
          <p:nvPr/>
        </p:nvSpPr>
        <p:spPr bwMode="auto">
          <a:xfrm>
            <a:off x="4243538" y="2232771"/>
            <a:ext cx="922221" cy="88095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359764314" name="Rectangle 10"/>
          <p:cNvSpPr/>
          <p:nvPr/>
        </p:nvSpPr>
        <p:spPr bwMode="auto">
          <a:xfrm>
            <a:off x="5294497" y="2243249"/>
            <a:ext cx="1062759" cy="88095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60413715"/>
                                        </p:tgtEl>
                                        <p:attrNameLst>
                                          <p:attrName>style.visibility</p:attrName>
                                        </p:attrNameLst>
                                      </p:cBhvr>
                                      <p:to>
                                        <p:strVal val="visible"/>
                                      </p:to>
                                    </p:set>
                                    <p:animEffect transition="in" filter="wipe(left)">
                                      <p:cBhvr>
                                        <p:cTn id="7" dur="500"/>
                                        <p:tgtEl>
                                          <p:spTgt spid="2604137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94714637"/>
                                        </p:tgtEl>
                                        <p:attrNameLst>
                                          <p:attrName>style.visibility</p:attrName>
                                        </p:attrNameLst>
                                      </p:cBhvr>
                                      <p:to>
                                        <p:strVal val="visible"/>
                                      </p:to>
                                    </p:set>
                                    <p:animEffect transition="in" filter="wipe(left)">
                                      <p:cBhvr>
                                        <p:cTn id="12" dur="500"/>
                                        <p:tgtEl>
                                          <p:spTgt spid="129471463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59764314"/>
                                        </p:tgtEl>
                                        <p:attrNameLst>
                                          <p:attrName>style.visibility</p:attrName>
                                        </p:attrNameLst>
                                      </p:cBhvr>
                                      <p:to>
                                        <p:strVal val="visible"/>
                                      </p:to>
                                    </p:set>
                                    <p:animEffect transition="in" filter="wipe(left)">
                                      <p:cBhvr>
                                        <p:cTn id="17" dur="500"/>
                                        <p:tgtEl>
                                          <p:spTgt spid="13597643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97818271"/>
                                        </p:tgtEl>
                                        <p:attrNameLst>
                                          <p:attrName>style.visibility</p:attrName>
                                        </p:attrNameLst>
                                      </p:cBhvr>
                                      <p:to>
                                        <p:strVal val="visible"/>
                                      </p:to>
                                    </p:set>
                                    <p:animEffect transition="in" filter="wipe(up)">
                                      <p:cBhvr>
                                        <p:cTn id="22" dur="500"/>
                                        <p:tgtEl>
                                          <p:spTgt spid="49781827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2536253"/>
                                        </p:tgtEl>
                                        <p:attrNameLst>
                                          <p:attrName>style.visibility</p:attrName>
                                        </p:attrNameLst>
                                      </p:cBhvr>
                                      <p:to>
                                        <p:strVal val="visible"/>
                                      </p:to>
                                    </p:set>
                                    <p:animEffect transition="in" filter="wipe(left)">
                                      <p:cBhvr>
                                        <p:cTn id="27" dur="500"/>
                                        <p:tgtEl>
                                          <p:spTgt spid="17253625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477386322"/>
                                        </p:tgtEl>
                                        <p:attrNameLst>
                                          <p:attrName>style.visibility</p:attrName>
                                        </p:attrNameLst>
                                      </p:cBhvr>
                                      <p:to>
                                        <p:strVal val="visible"/>
                                      </p:to>
                                    </p:set>
                                    <p:animEffect transition="in" filter="wipe(left)">
                                      <p:cBhvr>
                                        <p:cTn id="32" dur="500"/>
                                        <p:tgtEl>
                                          <p:spTgt spid="1477386322"/>
                                        </p:tgtEl>
                                      </p:cBhvr>
                                    </p:animEffect>
                                  </p:childTnLst>
                                </p:cTn>
                              </p:par>
                              <p:par>
                                <p:cTn id="33" presetID="22" presetClass="entr" presetSubtype="8" fill="hold" nodeType="withEffect">
                                  <p:stCondLst>
                                    <p:cond delay="0"/>
                                  </p:stCondLst>
                                  <p:childTnLst>
                                    <p:set>
                                      <p:cBhvr>
                                        <p:cTn id="34" dur="1" fill="hold">
                                          <p:stCondLst>
                                            <p:cond delay="0"/>
                                          </p:stCondLst>
                                        </p:cTn>
                                        <p:tgtEl>
                                          <p:spTgt spid="114050632"/>
                                        </p:tgtEl>
                                        <p:attrNameLst>
                                          <p:attrName>style.visibility</p:attrName>
                                        </p:attrNameLst>
                                      </p:cBhvr>
                                      <p:to>
                                        <p:strVal val="visible"/>
                                      </p:to>
                                    </p:set>
                                    <p:animEffect transition="in" filter="wipe(left)">
                                      <p:cBhvr>
                                        <p:cTn id="35" dur="500"/>
                                        <p:tgtEl>
                                          <p:spTgt spid="11405063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700060650"/>
                                        </p:tgtEl>
                                        <p:attrNameLst>
                                          <p:attrName>style.visibility</p:attrName>
                                        </p:attrNameLst>
                                      </p:cBhvr>
                                      <p:to>
                                        <p:strVal val="visible"/>
                                      </p:to>
                                    </p:set>
                                    <p:animEffect transition="in" filter="wipe(down)">
                                      <p:cBhvr>
                                        <p:cTn id="40" dur="500"/>
                                        <p:tgtEl>
                                          <p:spTgt spid="7000606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413715" grpId="0" animBg="1"/>
      <p:bldP spid="700060650" grpId="0" animBg="1"/>
      <p:bldP spid="497818271" grpId="0" animBg="1"/>
      <p:bldP spid="1294714637" grpId="0" animBg="1"/>
      <p:bldP spid="1359764314" grpId="0" animBg="1"/>
    </p:bldLst>
  </p:timing>
</p:sld>
</file>

<file path=ppt/slides/slide10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3469010" name="Google Shape;1820;p106"/>
          <p:cNvSpPr txBox="1">
            <a:spLocks noGrp="1"/>
          </p:cNvSpPr>
          <p:nvPr>
            <p:ph type="body" idx="1"/>
          </p:nvPr>
        </p:nvSpPr>
        <p:spPr bwMode="auto">
          <a:xfrm>
            <a:off x="3200400" y="3334930"/>
            <a:ext cx="8458200" cy="3205163"/>
          </a:xfrm>
          <a:prstGeom prst="rect">
            <a:avLst/>
          </a:prstGeom>
          <a:noFill/>
          <a:ln>
            <a:noFill/>
          </a:ln>
        </p:spPr>
        <p:txBody>
          <a:bodyPr spcFirstLastPara="1" wrap="square" lIns="91425" tIns="45700" rIns="91425" bIns="45700" anchor="t" anchorCtr="0">
            <a:normAutofit/>
          </a:bodyPr>
          <a:lstStyle/>
          <a:p>
            <a:pPr marL="57150" lvl="0" indent="0" algn="l" rtl="0">
              <a:lnSpc>
                <a:spcPct val="90000"/>
              </a:lnSpc>
              <a:spcBef>
                <a:spcPts val="0"/>
              </a:spcBef>
              <a:spcAft>
                <a:spcPts val="0"/>
              </a:spcAft>
              <a:buClr>
                <a:schemeClr val="dk1"/>
              </a:buClr>
              <a:buSzPts val="2400"/>
              <a:buNone/>
              <a:defRPr/>
            </a:pPr>
            <a:r>
              <a:rPr lang="en-US" sz="2400" b="1"/>
              <a:t>3. Manage Stakeholder Engagement/ relation</a:t>
            </a:r>
            <a:endParaRPr/>
          </a:p>
          <a:p>
            <a:pPr marL="514350" lvl="0" indent="-457200" algn="l" rtl="0">
              <a:lnSpc>
                <a:spcPct val="90000"/>
              </a:lnSpc>
              <a:spcBef>
                <a:spcPts val="1000"/>
              </a:spcBef>
              <a:spcAft>
                <a:spcPts val="0"/>
              </a:spcAft>
              <a:buClr>
                <a:schemeClr val="dk1"/>
              </a:buClr>
              <a:buSzPts val="2400"/>
              <a:buChar char="•"/>
              <a:defRPr/>
            </a:pPr>
            <a:r>
              <a:rPr lang="en-US" sz="2400" b="1"/>
              <a:t>Communicate and work with </a:t>
            </a:r>
            <a:r>
              <a:rPr lang="en-US" sz="2400" b="1">
                <a:solidFill>
                  <a:srgbClr val="FF0000"/>
                </a:solidFill>
              </a:rPr>
              <a:t>stakeholders</a:t>
            </a:r>
            <a:r>
              <a:rPr lang="en-US" sz="2400" b="1"/>
              <a:t> </a:t>
            </a:r>
            <a:r>
              <a:rPr lang="en-US" sz="2400" b="1" u="sng"/>
              <a:t>to meet their needs/expectations</a:t>
            </a:r>
            <a:r>
              <a:rPr lang="en-US" sz="2400" b="1"/>
              <a:t>, address issues as they occur</a:t>
            </a:r>
            <a:r>
              <a:rPr lang="en-US" sz="2400"/>
              <a:t>, and foster appropriate stakeholder engagement in project activities throughout the project life cycle.</a:t>
            </a:r>
            <a:endParaRPr/>
          </a:p>
          <a:p>
            <a:pPr marL="514350" lvl="0" indent="-457200" algn="l" rtl="0">
              <a:lnSpc>
                <a:spcPct val="90000"/>
              </a:lnSpc>
              <a:spcBef>
                <a:spcPts val="1000"/>
              </a:spcBef>
              <a:spcAft>
                <a:spcPts val="0"/>
              </a:spcAft>
              <a:buClr>
                <a:schemeClr val="dk1"/>
              </a:buClr>
              <a:buSzPts val="2400"/>
              <a:buChar char="•"/>
              <a:defRPr/>
            </a:pPr>
            <a:r>
              <a:rPr lang="en-US" sz="2400">
                <a:solidFill>
                  <a:schemeClr val="tx1">
                    <a:lumMod val="65000"/>
                    <a:lumOff val="35000"/>
                  </a:schemeClr>
                </a:solidFill>
              </a:rPr>
              <a:t>Output: issue log, change requests. </a:t>
            </a:r>
            <a:endParaRPr>
              <a:solidFill>
                <a:schemeClr val="tx1">
                  <a:lumMod val="65000"/>
                  <a:lumOff val="35000"/>
                </a:schemeClr>
              </a:solidFill>
            </a:endParaRPr>
          </a:p>
        </p:txBody>
      </p:sp>
      <p:sp>
        <p:nvSpPr>
          <p:cNvPr id="1481203713" name="Google Shape;1821;p10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101</a:t>
            </a:fld>
            <a:endParaRPr/>
          </a:p>
        </p:txBody>
      </p:sp>
      <p:sp>
        <p:nvSpPr>
          <p:cNvPr id="1254482616" name="Google Shape;1831;p106"/>
          <p:cNvSpPr txBox="1"/>
          <p:nvPr/>
        </p:nvSpPr>
        <p:spPr bwMode="auto">
          <a:xfrm>
            <a:off x="3048000" y="533400"/>
            <a:ext cx="6971428" cy="715961"/>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Stakeholder Management</a:t>
            </a:r>
            <a:endParaRPr sz="4000" b="1">
              <a:solidFill>
                <a:schemeClr val="dk1"/>
              </a:solidFill>
              <a:latin typeface="Calibri"/>
              <a:ea typeface="Calibri"/>
              <a:cs typeface="Calibri"/>
            </a:endParaRPr>
          </a:p>
        </p:txBody>
      </p:sp>
      <p:sp>
        <p:nvSpPr>
          <p:cNvPr id="1716309877" name="Google Shape;1832;p106"/>
          <p:cNvSpPr txBox="1"/>
          <p:nvPr/>
        </p:nvSpPr>
        <p:spPr bwMode="auto">
          <a:xfrm>
            <a:off x="3085228" y="113513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195449314" name="Google Shape;1833;p106"/>
          <p:cNvCxnSpPr/>
          <p:nvPr/>
        </p:nvCxnSpPr>
        <p:spPr bwMode="auto">
          <a:xfrm rot="10800000">
            <a:off x="3200400" y="1608648"/>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894013660" name="Google Shape;1834;p106"/>
          <p:cNvGrpSpPr/>
          <p:nvPr/>
        </p:nvGrpSpPr>
        <p:grpSpPr bwMode="auto">
          <a:xfrm>
            <a:off x="0" y="-1"/>
            <a:ext cx="2514600" cy="6858001"/>
            <a:chOff x="0" y="-1"/>
            <a:chExt cx="2514600" cy="6858001"/>
          </a:xfrm>
        </p:grpSpPr>
        <p:pic>
          <p:nvPicPr>
            <p:cNvPr id="1835" name="Google Shape;1835;p106"/>
            <p:cNvPicPr/>
            <p:nvPr/>
          </p:nvPicPr>
          <p:blipFill rotWithShape="1">
            <a:blip r:embed="rId3">
              <a:alphaModFix/>
            </a:blip>
            <a:srcRect l="35156" t="0" r="21873" b="0"/>
            <a:stretch/>
          </p:blipFill>
          <p:spPr bwMode="auto">
            <a:xfrm>
              <a:off x="0" y="2956560"/>
              <a:ext cx="2514600" cy="3901440"/>
            </a:xfrm>
            <a:prstGeom prst="rect">
              <a:avLst/>
            </a:prstGeom>
            <a:noFill/>
            <a:ln>
              <a:noFill/>
            </a:ln>
          </p:spPr>
        </p:pic>
        <p:pic>
          <p:nvPicPr>
            <p:cNvPr id="1836" name="Google Shape;1836;p106"/>
            <p:cNvPicPr/>
            <p:nvPr/>
          </p:nvPicPr>
          <p:blipFill rotWithShape="1">
            <a:blip r:embed="rId4">
              <a:alphaModFix/>
            </a:blip>
            <a:srcRect l="3260" t="2724" r="53771" b="17259"/>
            <a:stretch/>
          </p:blipFill>
          <p:spPr bwMode="auto">
            <a:xfrm>
              <a:off x="0" y="-1"/>
              <a:ext cx="2514600" cy="3124201"/>
            </a:xfrm>
            <a:prstGeom prst="rect">
              <a:avLst/>
            </a:prstGeom>
            <a:noFill/>
            <a:ln>
              <a:noFill/>
            </a:ln>
          </p:spPr>
        </p:pic>
      </p:grpSp>
      <p:grpSp>
        <p:nvGrpSpPr>
          <p:cNvPr id="1480529681" name="Google Shape;1843;p107"/>
          <p:cNvGrpSpPr/>
          <p:nvPr/>
        </p:nvGrpSpPr>
        <p:grpSpPr bwMode="auto">
          <a:xfrm>
            <a:off x="3202694" y="2079263"/>
            <a:ext cx="7411391" cy="785051"/>
            <a:chOff x="2294" y="70819"/>
            <a:chExt cx="7411391" cy="785051"/>
          </a:xfrm>
        </p:grpSpPr>
        <p:sp>
          <p:nvSpPr>
            <p:cNvPr id="21" name="Google Shape;1844;p107"/>
            <p:cNvSpPr/>
            <p:nvPr/>
          </p:nvSpPr>
          <p:spPr bwMode="auto">
            <a:xfrm>
              <a:off x="2294" y="70819"/>
              <a:ext cx="2112297" cy="78505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2" name="Google Shape;1845;p107"/>
            <p:cNvSpPr txBox="1"/>
            <p:nvPr/>
          </p:nvSpPr>
          <p:spPr bwMode="auto">
            <a:xfrm>
              <a:off x="394820" y="70819"/>
              <a:ext cx="1327246" cy="785051"/>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1">
                  <a:solidFill>
                    <a:schemeClr val="lt1"/>
                  </a:solidFill>
                  <a:latin typeface="Calibri"/>
                  <a:ea typeface="Calibri"/>
                  <a:cs typeface="Calibri"/>
                </a:rPr>
                <a:t>1.                             Identify Stakeholders                         </a:t>
              </a:r>
              <a:endParaRPr sz="1400" b="1">
                <a:solidFill>
                  <a:schemeClr val="lt1"/>
                </a:solidFill>
                <a:latin typeface="Calibri"/>
                <a:ea typeface="Calibri"/>
                <a:cs typeface="Calibri"/>
              </a:endParaRPr>
            </a:p>
          </p:txBody>
        </p:sp>
        <p:sp>
          <p:nvSpPr>
            <p:cNvPr id="23" name="Google Shape;1846;p107"/>
            <p:cNvSpPr/>
            <p:nvPr/>
          </p:nvSpPr>
          <p:spPr bwMode="auto">
            <a:xfrm>
              <a:off x="1918328" y="70819"/>
              <a:ext cx="1962627" cy="78505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4" name="Google Shape;1847;p107"/>
            <p:cNvSpPr txBox="1"/>
            <p:nvPr/>
          </p:nvSpPr>
          <p:spPr bwMode="auto">
            <a:xfrm>
              <a:off x="2310854" y="70819"/>
              <a:ext cx="1177575" cy="785051"/>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2. </a:t>
              </a:r>
              <a:br>
                <a:rPr lang="en-US" sz="1400">
                  <a:solidFill>
                    <a:schemeClr val="lt1"/>
                  </a:solidFill>
                  <a:latin typeface="Calibri"/>
                  <a:ea typeface="Calibri"/>
                  <a:cs typeface="Calibri"/>
                </a:rPr>
              </a:br>
              <a:r>
                <a:rPr lang="en-US" sz="1400">
                  <a:solidFill>
                    <a:schemeClr val="lt1"/>
                  </a:solidFill>
                  <a:latin typeface="Calibri"/>
                  <a:ea typeface="Calibri"/>
                  <a:cs typeface="Calibri"/>
                </a:rPr>
                <a:t>Plan Stakeholder Engagement</a:t>
              </a:r>
              <a:endParaRPr sz="1400">
                <a:solidFill>
                  <a:schemeClr val="lt1"/>
                </a:solidFill>
                <a:latin typeface="Calibri"/>
                <a:ea typeface="Calibri"/>
                <a:cs typeface="Calibri"/>
              </a:endParaRPr>
            </a:p>
          </p:txBody>
        </p:sp>
        <p:sp>
          <p:nvSpPr>
            <p:cNvPr id="25" name="Google Shape;1848;p107"/>
            <p:cNvSpPr/>
            <p:nvPr/>
          </p:nvSpPr>
          <p:spPr bwMode="auto">
            <a:xfrm>
              <a:off x="3684693" y="70819"/>
              <a:ext cx="1962627" cy="78505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6" name="Google Shape;1849;p107"/>
            <p:cNvSpPr txBox="1"/>
            <p:nvPr/>
          </p:nvSpPr>
          <p:spPr bwMode="auto">
            <a:xfrm>
              <a:off x="4077219" y="70819"/>
              <a:ext cx="1177575" cy="785051"/>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3. </a:t>
              </a:r>
              <a:br>
                <a:rPr lang="en-US" sz="1400">
                  <a:solidFill>
                    <a:schemeClr val="lt1"/>
                  </a:solidFill>
                  <a:latin typeface="Calibri"/>
                  <a:ea typeface="Calibri"/>
                  <a:cs typeface="Calibri"/>
                </a:rPr>
              </a:br>
              <a:r>
                <a:rPr lang="en-US" sz="1400">
                  <a:solidFill>
                    <a:schemeClr val="lt1"/>
                  </a:solidFill>
                  <a:latin typeface="Calibri"/>
                  <a:ea typeface="Calibri"/>
                  <a:cs typeface="Calibri"/>
                </a:rPr>
                <a:t>Manage Stakeholder Engagement</a:t>
              </a:r>
              <a:endParaRPr sz="1400">
                <a:solidFill>
                  <a:schemeClr val="lt1"/>
                </a:solidFill>
                <a:latin typeface="Calibri"/>
                <a:ea typeface="Calibri"/>
                <a:cs typeface="Calibri"/>
              </a:endParaRPr>
            </a:p>
          </p:txBody>
        </p:sp>
        <p:sp>
          <p:nvSpPr>
            <p:cNvPr id="27" name="Google Shape;1850;p107"/>
            <p:cNvSpPr/>
            <p:nvPr/>
          </p:nvSpPr>
          <p:spPr bwMode="auto">
            <a:xfrm>
              <a:off x="5451058" y="70819"/>
              <a:ext cx="1962627" cy="785051"/>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28" name="Google Shape;1851;p107"/>
            <p:cNvSpPr txBox="1"/>
            <p:nvPr/>
          </p:nvSpPr>
          <p:spPr bwMode="auto">
            <a:xfrm>
              <a:off x="5843584" y="70819"/>
              <a:ext cx="1177575" cy="785051"/>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4. </a:t>
              </a:r>
              <a:br>
                <a:rPr lang="en-US" sz="1400">
                  <a:solidFill>
                    <a:schemeClr val="lt1"/>
                  </a:solidFill>
                  <a:latin typeface="Calibri"/>
                  <a:ea typeface="Calibri"/>
                  <a:cs typeface="Calibri"/>
                </a:rPr>
              </a:br>
              <a:r>
                <a:rPr lang="en-US" sz="1400">
                  <a:solidFill>
                    <a:schemeClr val="lt1"/>
                  </a:solidFill>
                  <a:latin typeface="Calibri"/>
                  <a:ea typeface="Calibri"/>
                  <a:cs typeface="Calibri"/>
                </a:rPr>
                <a:t>Monitor Stakeholder Engagement</a:t>
              </a:r>
              <a:endParaRPr sz="1400">
                <a:solidFill>
                  <a:schemeClr val="lt1"/>
                </a:solidFill>
                <a:latin typeface="Calibri"/>
                <a:ea typeface="Calibri"/>
                <a:cs typeface="Calibri"/>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03469010">
                                            <p:txEl>
                                              <p:pRg st="0" end="0"/>
                                            </p:txEl>
                                          </p:spTgt>
                                        </p:tgtEl>
                                        <p:attrNameLst>
                                          <p:attrName>style.visibility</p:attrName>
                                        </p:attrNameLst>
                                      </p:cBhvr>
                                      <p:to>
                                        <p:strVal val="visible"/>
                                      </p:to>
                                    </p:set>
                                    <p:animEffect transition="in" filter="wipe(left)">
                                      <p:cBhvr>
                                        <p:cTn id="7" dur="500"/>
                                        <p:tgtEl>
                                          <p:spTgt spid="2034690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03469010">
                                            <p:txEl>
                                              <p:pRg st="1" end="1"/>
                                            </p:txEl>
                                          </p:spTgt>
                                        </p:tgtEl>
                                        <p:attrNameLst>
                                          <p:attrName>style.visibility</p:attrName>
                                        </p:attrNameLst>
                                      </p:cBhvr>
                                      <p:to>
                                        <p:strVal val="visible"/>
                                      </p:to>
                                    </p:set>
                                    <p:anim calcmode="lin" valueType="num">
                                      <p:cBhvr additive="base">
                                        <p:cTn id="12" dur="500" fill="hold"/>
                                        <p:tgtEl>
                                          <p:spTgt spid="203469010">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03469010">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203469010">
                                            <p:txEl>
                                              <p:pRg st="2" end="2"/>
                                            </p:txEl>
                                          </p:spTgt>
                                        </p:tgtEl>
                                        <p:attrNameLst>
                                          <p:attrName>style.visibility</p:attrName>
                                        </p:attrNameLst>
                                      </p:cBhvr>
                                      <p:to>
                                        <p:strVal val="visible"/>
                                      </p:to>
                                    </p:set>
                                    <p:anim calcmode="lin" valueType="num">
                                      <p:cBhvr additive="base">
                                        <p:cTn id="16" dur="500" fill="hold"/>
                                        <p:tgtEl>
                                          <p:spTgt spid="203469010">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20346901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15775497" name="Google Shape;1841;p107"/>
          <p:cNvSpPr txBox="1">
            <a:spLocks noGrp="1"/>
          </p:cNvSpPr>
          <p:nvPr>
            <p:ph type="body" idx="1"/>
          </p:nvPr>
        </p:nvSpPr>
        <p:spPr bwMode="auto">
          <a:xfrm>
            <a:off x="3237628" y="3334930"/>
            <a:ext cx="8458200" cy="3205163"/>
          </a:xfrm>
          <a:prstGeom prst="rect">
            <a:avLst/>
          </a:prstGeom>
          <a:noFill/>
          <a:ln>
            <a:noFill/>
          </a:ln>
        </p:spPr>
        <p:txBody>
          <a:bodyPr spcFirstLastPara="1" wrap="square" lIns="91425" tIns="45700" rIns="91425" bIns="45700" anchor="t" anchorCtr="0">
            <a:normAutofit/>
          </a:bodyPr>
          <a:lstStyle/>
          <a:p>
            <a:pPr marL="57150" lvl="0" indent="0" algn="l" rtl="0">
              <a:lnSpc>
                <a:spcPct val="90000"/>
              </a:lnSpc>
              <a:spcBef>
                <a:spcPts val="0"/>
              </a:spcBef>
              <a:spcAft>
                <a:spcPts val="0"/>
              </a:spcAft>
              <a:buClr>
                <a:schemeClr val="dk1"/>
              </a:buClr>
              <a:buSzPts val="2400"/>
              <a:buNone/>
              <a:defRPr/>
            </a:pPr>
            <a:r>
              <a:rPr lang="en-US" sz="2400" b="1"/>
              <a:t>4. Monitor Stakeholder Engagement</a:t>
            </a:r>
            <a:endParaRPr/>
          </a:p>
          <a:p>
            <a:pPr marL="514350" lvl="0" indent="-457200" algn="l" rtl="0">
              <a:lnSpc>
                <a:spcPct val="90000"/>
              </a:lnSpc>
              <a:spcBef>
                <a:spcPts val="1000"/>
              </a:spcBef>
              <a:spcAft>
                <a:spcPts val="0"/>
              </a:spcAft>
              <a:buClr>
                <a:schemeClr val="dk1"/>
              </a:buClr>
              <a:buSzPts val="2400"/>
              <a:buChar char="•"/>
              <a:defRPr/>
            </a:pPr>
            <a:r>
              <a:rPr lang="en-US" sz="2400" b="1"/>
              <a:t>Monitor stakeholder relationships and adjust plans and strategies to engage stakeholders as needed.</a:t>
            </a:r>
            <a:endParaRPr b="1"/>
          </a:p>
          <a:p>
            <a:pPr marL="514350" lvl="0" indent="-457200" algn="l" rtl="0">
              <a:lnSpc>
                <a:spcPct val="90000"/>
              </a:lnSpc>
              <a:spcBef>
                <a:spcPts val="1000"/>
              </a:spcBef>
              <a:spcAft>
                <a:spcPts val="0"/>
              </a:spcAft>
              <a:buClr>
                <a:schemeClr val="dk1"/>
              </a:buClr>
              <a:buSzPts val="2400"/>
              <a:buChar char="•"/>
              <a:defRPr/>
            </a:pPr>
            <a:r>
              <a:rPr lang="en-US" sz="2400">
                <a:solidFill>
                  <a:schemeClr val="tx1"/>
                </a:solidFill>
              </a:rPr>
              <a:t>Main output: </a:t>
            </a:r>
            <a:r>
              <a:rPr lang="en-US" sz="2400"/>
              <a:t>work performance information &amp; change request</a:t>
            </a:r>
            <a:endParaRPr/>
          </a:p>
        </p:txBody>
      </p:sp>
      <p:sp>
        <p:nvSpPr>
          <p:cNvPr id="52160680" name="Google Shape;1842;p10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102</a:t>
            </a:fld>
            <a:endParaRPr/>
          </a:p>
        </p:txBody>
      </p:sp>
      <p:sp>
        <p:nvSpPr>
          <p:cNvPr id="1080732913" name="Google Shape;1852;p107"/>
          <p:cNvSpPr txBox="1"/>
          <p:nvPr/>
        </p:nvSpPr>
        <p:spPr bwMode="auto">
          <a:xfrm>
            <a:off x="3085228" y="533400"/>
            <a:ext cx="6971428" cy="715961"/>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Stakeholder Management</a:t>
            </a:r>
            <a:endParaRPr sz="4000" b="1">
              <a:solidFill>
                <a:schemeClr val="dk1"/>
              </a:solidFill>
              <a:latin typeface="Calibri"/>
              <a:ea typeface="Calibri"/>
              <a:cs typeface="Calibri"/>
            </a:endParaRPr>
          </a:p>
        </p:txBody>
      </p:sp>
      <p:sp>
        <p:nvSpPr>
          <p:cNvPr id="1997905717" name="Google Shape;1853;p107"/>
          <p:cNvSpPr txBox="1"/>
          <p:nvPr/>
        </p:nvSpPr>
        <p:spPr bwMode="auto">
          <a:xfrm>
            <a:off x="3085228" y="113513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819596071" name="Google Shape;1854;p107"/>
          <p:cNvCxnSpPr/>
          <p:nvPr/>
        </p:nvCxnSpPr>
        <p:spPr bwMode="auto">
          <a:xfrm rot="10800000">
            <a:off x="3200400" y="1608648"/>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1051946186" name="Google Shape;1855;p107"/>
          <p:cNvGrpSpPr/>
          <p:nvPr/>
        </p:nvGrpSpPr>
        <p:grpSpPr bwMode="auto">
          <a:xfrm>
            <a:off x="0" y="-1"/>
            <a:ext cx="2514600" cy="6858001"/>
            <a:chOff x="0" y="-1"/>
            <a:chExt cx="2514600" cy="6858001"/>
          </a:xfrm>
        </p:grpSpPr>
        <p:pic>
          <p:nvPicPr>
            <p:cNvPr id="1856" name="Google Shape;1856;p107"/>
            <p:cNvPicPr/>
            <p:nvPr/>
          </p:nvPicPr>
          <p:blipFill rotWithShape="1">
            <a:blip r:embed="rId3">
              <a:alphaModFix/>
            </a:blip>
            <a:srcRect l="35156" t="0" r="21873" b="0"/>
            <a:stretch/>
          </p:blipFill>
          <p:spPr bwMode="auto">
            <a:xfrm>
              <a:off x="0" y="2956560"/>
              <a:ext cx="2514600" cy="3901440"/>
            </a:xfrm>
            <a:prstGeom prst="rect">
              <a:avLst/>
            </a:prstGeom>
            <a:noFill/>
            <a:ln>
              <a:noFill/>
            </a:ln>
          </p:spPr>
        </p:pic>
        <p:pic>
          <p:nvPicPr>
            <p:cNvPr id="1857" name="Google Shape;1857;p107"/>
            <p:cNvPicPr/>
            <p:nvPr/>
          </p:nvPicPr>
          <p:blipFill rotWithShape="1">
            <a:blip r:embed="rId4">
              <a:alphaModFix/>
            </a:blip>
            <a:srcRect l="3260" t="2724" r="53771" b="17259"/>
            <a:stretch/>
          </p:blipFill>
          <p:spPr bwMode="auto">
            <a:xfrm>
              <a:off x="0" y="-1"/>
              <a:ext cx="2514600" cy="3124201"/>
            </a:xfrm>
            <a:prstGeom prst="rect">
              <a:avLst/>
            </a:prstGeom>
            <a:noFill/>
            <a:ln>
              <a:noFill/>
            </a:ln>
          </p:spPr>
        </p:pic>
      </p:grpSp>
      <p:grpSp>
        <p:nvGrpSpPr>
          <p:cNvPr id="939981184" name="Google Shape;1843;p107"/>
          <p:cNvGrpSpPr/>
          <p:nvPr/>
        </p:nvGrpSpPr>
        <p:grpSpPr bwMode="auto">
          <a:xfrm>
            <a:off x="3202694" y="2079263"/>
            <a:ext cx="7411391" cy="785051"/>
            <a:chOff x="2294" y="70819"/>
            <a:chExt cx="7411391" cy="785051"/>
          </a:xfrm>
        </p:grpSpPr>
        <p:sp>
          <p:nvSpPr>
            <p:cNvPr id="3" name="Google Shape;1844;p107"/>
            <p:cNvSpPr/>
            <p:nvPr/>
          </p:nvSpPr>
          <p:spPr bwMode="auto">
            <a:xfrm>
              <a:off x="2294" y="70819"/>
              <a:ext cx="2112297" cy="78505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4" name="Google Shape;1845;p107"/>
            <p:cNvSpPr txBox="1"/>
            <p:nvPr/>
          </p:nvSpPr>
          <p:spPr bwMode="auto">
            <a:xfrm>
              <a:off x="394820" y="70819"/>
              <a:ext cx="1327246" cy="785051"/>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1">
                  <a:solidFill>
                    <a:schemeClr val="lt1"/>
                  </a:solidFill>
                  <a:latin typeface="Calibri"/>
                  <a:ea typeface="Calibri"/>
                  <a:cs typeface="Calibri"/>
                </a:rPr>
                <a:t>1.                             Identify Stakeholders                         </a:t>
              </a:r>
              <a:endParaRPr sz="1400" b="1">
                <a:solidFill>
                  <a:schemeClr val="lt1"/>
                </a:solidFill>
                <a:latin typeface="Calibri"/>
                <a:ea typeface="Calibri"/>
                <a:cs typeface="Calibri"/>
              </a:endParaRPr>
            </a:p>
          </p:txBody>
        </p:sp>
        <p:sp>
          <p:nvSpPr>
            <p:cNvPr id="5" name="Google Shape;1846;p107"/>
            <p:cNvSpPr/>
            <p:nvPr/>
          </p:nvSpPr>
          <p:spPr bwMode="auto">
            <a:xfrm>
              <a:off x="1918328" y="70819"/>
              <a:ext cx="1962627" cy="78505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6" name="Google Shape;1847;p107"/>
            <p:cNvSpPr txBox="1"/>
            <p:nvPr/>
          </p:nvSpPr>
          <p:spPr bwMode="auto">
            <a:xfrm>
              <a:off x="2310854" y="70819"/>
              <a:ext cx="1177575" cy="785051"/>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2. </a:t>
              </a:r>
              <a:br>
                <a:rPr lang="en-US" sz="1400">
                  <a:solidFill>
                    <a:schemeClr val="lt1"/>
                  </a:solidFill>
                  <a:latin typeface="Calibri"/>
                  <a:ea typeface="Calibri"/>
                  <a:cs typeface="Calibri"/>
                </a:rPr>
              </a:br>
              <a:r>
                <a:rPr lang="en-US" sz="1400">
                  <a:solidFill>
                    <a:schemeClr val="lt1"/>
                  </a:solidFill>
                  <a:latin typeface="Calibri"/>
                  <a:ea typeface="Calibri"/>
                  <a:cs typeface="Calibri"/>
                </a:rPr>
                <a:t>Plan Stakeholder Engagement</a:t>
              </a:r>
              <a:endParaRPr sz="1400">
                <a:solidFill>
                  <a:schemeClr val="lt1"/>
                </a:solidFill>
                <a:latin typeface="Calibri"/>
                <a:ea typeface="Calibri"/>
                <a:cs typeface="Calibri"/>
              </a:endParaRPr>
            </a:p>
          </p:txBody>
        </p:sp>
        <p:sp>
          <p:nvSpPr>
            <p:cNvPr id="7" name="Google Shape;1848;p107"/>
            <p:cNvSpPr/>
            <p:nvPr/>
          </p:nvSpPr>
          <p:spPr bwMode="auto">
            <a:xfrm>
              <a:off x="3684693" y="70819"/>
              <a:ext cx="1962627" cy="78505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 name="Google Shape;1849;p107"/>
            <p:cNvSpPr txBox="1"/>
            <p:nvPr/>
          </p:nvSpPr>
          <p:spPr bwMode="auto">
            <a:xfrm>
              <a:off x="4077219" y="70819"/>
              <a:ext cx="1177575" cy="785051"/>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3. </a:t>
              </a:r>
              <a:br>
                <a:rPr lang="en-US" sz="1400">
                  <a:solidFill>
                    <a:schemeClr val="lt1"/>
                  </a:solidFill>
                  <a:latin typeface="Calibri"/>
                  <a:ea typeface="Calibri"/>
                  <a:cs typeface="Calibri"/>
                </a:rPr>
              </a:br>
              <a:r>
                <a:rPr lang="en-US" sz="1400">
                  <a:solidFill>
                    <a:schemeClr val="lt1"/>
                  </a:solidFill>
                  <a:latin typeface="Calibri"/>
                  <a:ea typeface="Calibri"/>
                  <a:cs typeface="Calibri"/>
                </a:rPr>
                <a:t>Manage Stakeholder Engagement</a:t>
              </a:r>
              <a:endParaRPr sz="1400">
                <a:solidFill>
                  <a:schemeClr val="lt1"/>
                </a:solidFill>
                <a:latin typeface="Calibri"/>
                <a:ea typeface="Calibri"/>
                <a:cs typeface="Calibri"/>
              </a:endParaRPr>
            </a:p>
          </p:txBody>
        </p:sp>
        <p:sp>
          <p:nvSpPr>
            <p:cNvPr id="9" name="Google Shape;1850;p107"/>
            <p:cNvSpPr/>
            <p:nvPr/>
          </p:nvSpPr>
          <p:spPr bwMode="auto">
            <a:xfrm>
              <a:off x="5451058" y="70819"/>
              <a:ext cx="1962627" cy="785051"/>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0" name="Google Shape;1851;p107"/>
            <p:cNvSpPr txBox="1"/>
            <p:nvPr/>
          </p:nvSpPr>
          <p:spPr bwMode="auto">
            <a:xfrm>
              <a:off x="5843584" y="70819"/>
              <a:ext cx="1177575" cy="785051"/>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4. </a:t>
              </a:r>
              <a:br>
                <a:rPr lang="en-US" sz="1400">
                  <a:solidFill>
                    <a:schemeClr val="lt1"/>
                  </a:solidFill>
                  <a:latin typeface="Calibri"/>
                  <a:ea typeface="Calibri"/>
                  <a:cs typeface="Calibri"/>
                </a:rPr>
              </a:br>
              <a:r>
                <a:rPr lang="en-US" sz="1400">
                  <a:solidFill>
                    <a:schemeClr val="lt1"/>
                  </a:solidFill>
                  <a:latin typeface="Calibri"/>
                  <a:ea typeface="Calibri"/>
                  <a:cs typeface="Calibri"/>
                </a:rPr>
                <a:t>Monitor Stakeholder Engagement</a:t>
              </a:r>
              <a:endParaRPr sz="1400">
                <a:solidFill>
                  <a:schemeClr val="lt1"/>
                </a:solidFill>
                <a:latin typeface="Calibri"/>
                <a:ea typeface="Calibri"/>
                <a:cs typeface="Calibri"/>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615775497">
                                            <p:txEl>
                                              <p:pRg st="0" end="0"/>
                                            </p:txEl>
                                          </p:spTgt>
                                        </p:tgtEl>
                                        <p:attrNameLst>
                                          <p:attrName>style.visibility</p:attrName>
                                        </p:attrNameLst>
                                      </p:cBhvr>
                                      <p:to>
                                        <p:strVal val="visible"/>
                                      </p:to>
                                    </p:set>
                                    <p:animEffect transition="in" filter="wipe(left)">
                                      <p:cBhvr>
                                        <p:cTn id="7" dur="500"/>
                                        <p:tgtEl>
                                          <p:spTgt spid="16157754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15775497">
                                            <p:txEl>
                                              <p:pRg st="1" end="1"/>
                                            </p:txEl>
                                          </p:spTgt>
                                        </p:tgtEl>
                                        <p:attrNameLst>
                                          <p:attrName>style.visibility</p:attrName>
                                        </p:attrNameLst>
                                      </p:cBhvr>
                                      <p:to>
                                        <p:strVal val="visible"/>
                                      </p:to>
                                    </p:set>
                                    <p:anim calcmode="lin" valueType="num">
                                      <p:cBhvr additive="base">
                                        <p:cTn id="12" dur="500" fill="hold"/>
                                        <p:tgtEl>
                                          <p:spTgt spid="161577549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615775497">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615775497">
                                            <p:txEl>
                                              <p:pRg st="2" end="2"/>
                                            </p:txEl>
                                          </p:spTgt>
                                        </p:tgtEl>
                                        <p:attrNameLst>
                                          <p:attrName>style.visibility</p:attrName>
                                        </p:attrNameLst>
                                      </p:cBhvr>
                                      <p:to>
                                        <p:strVal val="visible"/>
                                      </p:to>
                                    </p:set>
                                    <p:anim calcmode="lin" valueType="num">
                                      <p:cBhvr additive="base">
                                        <p:cTn id="16" dur="500" fill="hold"/>
                                        <p:tgtEl>
                                          <p:spTgt spid="1615775497">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161577549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25722593" name="Google Shape;721;p46"/>
          <p:cNvPicPr/>
          <p:nvPr/>
        </p:nvPicPr>
        <p:blipFill rotWithShape="1">
          <a:blip r:embed="rId3">
            <a:alphaModFix/>
          </a:blip>
          <a:srcRect l="21648" t="0" r="35518" b="0"/>
          <a:stretch/>
        </p:blipFill>
        <p:spPr bwMode="auto">
          <a:xfrm>
            <a:off x="-49211" y="-9876"/>
            <a:ext cx="4419600" cy="6867876"/>
          </a:xfrm>
          <a:prstGeom prst="rect">
            <a:avLst/>
          </a:prstGeom>
          <a:noFill/>
          <a:ln>
            <a:noFill/>
          </a:ln>
        </p:spPr>
      </p:pic>
      <p:sp>
        <p:nvSpPr>
          <p:cNvPr id="296000120" name="Google Shape;722;p46"/>
          <p:cNvSpPr txBox="1">
            <a:spLocks noGrp="1"/>
          </p:cNvSpPr>
          <p:nvPr>
            <p:ph type="title"/>
          </p:nvPr>
        </p:nvSpPr>
        <p:spPr bwMode="auto">
          <a:xfrm>
            <a:off x="609600" y="302394"/>
            <a:ext cx="5105400" cy="7159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defRPr/>
            </a:pPr>
            <a:r>
              <a:rPr lang="en-US" b="1"/>
              <a:t>Knowledge of a PM</a:t>
            </a:r>
            <a:endParaRPr/>
          </a:p>
        </p:txBody>
      </p:sp>
      <p:grpSp>
        <p:nvGrpSpPr>
          <p:cNvPr id="711910123" name="Google Shape;723;p46"/>
          <p:cNvGrpSpPr/>
          <p:nvPr/>
        </p:nvGrpSpPr>
        <p:grpSpPr bwMode="auto">
          <a:xfrm>
            <a:off x="5101159" y="1733961"/>
            <a:ext cx="6100240" cy="4657009"/>
            <a:chOff x="5688824" y="1864854"/>
            <a:chExt cx="4394200" cy="4133851"/>
          </a:xfrm>
        </p:grpSpPr>
        <p:grpSp>
          <p:nvGrpSpPr>
            <p:cNvPr id="724" name="Google Shape;724;p46"/>
            <p:cNvGrpSpPr/>
            <p:nvPr/>
          </p:nvGrpSpPr>
          <p:grpSpPr bwMode="auto">
            <a:xfrm>
              <a:off x="6438123" y="2544305"/>
              <a:ext cx="3048000" cy="2873375"/>
              <a:chOff x="1981198" y="861054"/>
              <a:chExt cx="2895602" cy="2872745"/>
            </a:xfrm>
          </p:grpSpPr>
          <p:sp>
            <p:nvSpPr>
              <p:cNvPr id="725" name="Google Shape;725;p46"/>
              <p:cNvSpPr/>
              <p:nvPr/>
            </p:nvSpPr>
            <p:spPr bwMode="auto">
              <a:xfrm>
                <a:off x="1981198" y="861054"/>
                <a:ext cx="2895602" cy="2872745"/>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26" name="Google Shape;726;p46"/>
              <p:cNvSpPr/>
              <p:nvPr/>
            </p:nvSpPr>
            <p:spPr bwMode="auto">
              <a:xfrm>
                <a:off x="2405060" y="1281650"/>
                <a:ext cx="2047876" cy="2031554"/>
              </a:xfrm>
              <a:prstGeom prst="rect">
                <a:avLst/>
              </a:prstGeom>
              <a:noFill/>
              <a:ln>
                <a:noFill/>
              </a:ln>
            </p:spPr>
            <p:txBody>
              <a:bodyPr spcFirstLastPara="1" wrap="square" lIns="44450" tIns="44450" rIns="44450" bIns="44450" anchor="ctr" anchorCtr="0">
                <a:noAutofit/>
              </a:bodyPr>
              <a:lstStyle/>
              <a:p>
                <a:pPr marL="0" marR="0" lvl="0" indent="0" algn="ctr" rtl="0">
                  <a:lnSpc>
                    <a:spcPct val="90000"/>
                  </a:lnSpc>
                  <a:spcBef>
                    <a:spcPts val="0"/>
                  </a:spcBef>
                  <a:spcAft>
                    <a:spcPts val="0"/>
                  </a:spcAft>
                  <a:buNone/>
                  <a:defRPr/>
                </a:pPr>
                <a:r>
                  <a:rPr lang="en-US" sz="3500">
                    <a:solidFill>
                      <a:schemeClr val="dk1"/>
                    </a:solidFill>
                    <a:latin typeface="Calibri"/>
                    <a:ea typeface="Calibri"/>
                    <a:cs typeface="Calibri"/>
                  </a:rPr>
                  <a:t>Integration</a:t>
                </a:r>
                <a:endParaRPr/>
              </a:p>
            </p:txBody>
          </p:sp>
        </p:grpSp>
        <p:grpSp>
          <p:nvGrpSpPr>
            <p:cNvPr id="727" name="Google Shape;727;p46"/>
            <p:cNvGrpSpPr/>
            <p:nvPr/>
          </p:nvGrpSpPr>
          <p:grpSpPr bwMode="auto">
            <a:xfrm>
              <a:off x="7306486" y="1864854"/>
              <a:ext cx="1158875" cy="947738"/>
              <a:chOff x="2849129" y="181000"/>
              <a:chExt cx="1159740" cy="947887"/>
            </a:xfrm>
          </p:grpSpPr>
          <p:sp>
            <p:nvSpPr>
              <p:cNvPr id="728" name="Google Shape;728;p46"/>
              <p:cNvSpPr/>
              <p:nvPr/>
            </p:nvSpPr>
            <p:spPr bwMode="auto">
              <a:xfrm>
                <a:off x="2849129" y="181000"/>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29" name="Google Shape;729;p46"/>
              <p:cNvSpPr/>
              <p:nvPr/>
            </p:nvSpPr>
            <p:spPr bwMode="auto">
              <a:xfrm>
                <a:off x="3019119" y="319135"/>
                <a:ext cx="819761"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Scope</a:t>
                </a:r>
                <a:endParaRPr/>
              </a:p>
            </p:txBody>
          </p:sp>
        </p:grpSp>
        <p:grpSp>
          <p:nvGrpSpPr>
            <p:cNvPr id="730" name="Google Shape;730;p46"/>
            <p:cNvGrpSpPr/>
            <p:nvPr/>
          </p:nvGrpSpPr>
          <p:grpSpPr bwMode="auto">
            <a:xfrm>
              <a:off x="8495523" y="2249029"/>
              <a:ext cx="1160462" cy="947738"/>
              <a:chOff x="3904896" y="565268"/>
              <a:chExt cx="1159740" cy="947887"/>
            </a:xfrm>
          </p:grpSpPr>
          <p:sp>
            <p:nvSpPr>
              <p:cNvPr id="731" name="Google Shape;731;p46"/>
              <p:cNvSpPr/>
              <p:nvPr/>
            </p:nvSpPr>
            <p:spPr bwMode="auto">
              <a:xfrm>
                <a:off x="3904896" y="565268"/>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2" name="Google Shape;732;p46"/>
              <p:cNvSpPr/>
              <p:nvPr/>
            </p:nvSpPr>
            <p:spPr bwMode="auto">
              <a:xfrm>
                <a:off x="4074652" y="703403"/>
                <a:ext cx="820227"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Time</a:t>
                </a:r>
                <a:endParaRPr/>
              </a:p>
            </p:txBody>
          </p:sp>
        </p:grpSp>
        <p:grpSp>
          <p:nvGrpSpPr>
            <p:cNvPr id="733" name="Google Shape;733;p46"/>
            <p:cNvGrpSpPr/>
            <p:nvPr/>
          </p:nvGrpSpPr>
          <p:grpSpPr bwMode="auto">
            <a:xfrm>
              <a:off x="8922561" y="3222168"/>
              <a:ext cx="1160463" cy="947737"/>
              <a:chOff x="4466658" y="1538269"/>
              <a:chExt cx="1159740" cy="947887"/>
            </a:xfrm>
          </p:grpSpPr>
          <p:sp>
            <p:nvSpPr>
              <p:cNvPr id="734" name="Google Shape;734;p46"/>
              <p:cNvSpPr/>
              <p:nvPr/>
            </p:nvSpPr>
            <p:spPr bwMode="auto">
              <a:xfrm>
                <a:off x="4466658" y="1538269"/>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5" name="Google Shape;735;p46"/>
              <p:cNvSpPr/>
              <p:nvPr/>
            </p:nvSpPr>
            <p:spPr bwMode="auto">
              <a:xfrm>
                <a:off x="4636415" y="1676403"/>
                <a:ext cx="820226"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Cost</a:t>
                </a:r>
                <a:endParaRPr/>
              </a:p>
            </p:txBody>
          </p:sp>
        </p:grpSp>
        <p:grpSp>
          <p:nvGrpSpPr>
            <p:cNvPr id="736" name="Google Shape;736;p46"/>
            <p:cNvGrpSpPr/>
            <p:nvPr/>
          </p:nvGrpSpPr>
          <p:grpSpPr bwMode="auto">
            <a:xfrm>
              <a:off x="8800323" y="4328654"/>
              <a:ext cx="1160462" cy="947738"/>
              <a:chOff x="4271560" y="2644723"/>
              <a:chExt cx="1159740" cy="947887"/>
            </a:xfrm>
          </p:grpSpPr>
          <p:sp>
            <p:nvSpPr>
              <p:cNvPr id="737" name="Google Shape;737;p46"/>
              <p:cNvSpPr/>
              <p:nvPr/>
            </p:nvSpPr>
            <p:spPr bwMode="auto">
              <a:xfrm>
                <a:off x="4271560" y="2644723"/>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8" name="Google Shape;738;p46"/>
              <p:cNvSpPr/>
              <p:nvPr/>
            </p:nvSpPr>
            <p:spPr bwMode="auto">
              <a:xfrm>
                <a:off x="4441316" y="2782859"/>
                <a:ext cx="820227"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Quality</a:t>
                </a:r>
                <a:endParaRPr/>
              </a:p>
            </p:txBody>
          </p:sp>
        </p:grpSp>
        <p:grpSp>
          <p:nvGrpSpPr>
            <p:cNvPr id="739" name="Google Shape;739;p46"/>
            <p:cNvGrpSpPr/>
            <p:nvPr/>
          </p:nvGrpSpPr>
          <p:grpSpPr bwMode="auto">
            <a:xfrm>
              <a:off x="7912910" y="5050968"/>
              <a:ext cx="1160463" cy="947737"/>
              <a:chOff x="3410891" y="3366911"/>
              <a:chExt cx="1159740" cy="947887"/>
            </a:xfrm>
          </p:grpSpPr>
          <p:sp>
            <p:nvSpPr>
              <p:cNvPr id="740" name="Google Shape;740;p46"/>
              <p:cNvSpPr/>
              <p:nvPr/>
            </p:nvSpPr>
            <p:spPr bwMode="auto">
              <a:xfrm>
                <a:off x="3410891" y="3366911"/>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1" name="Google Shape;741;p46"/>
              <p:cNvSpPr/>
              <p:nvPr/>
            </p:nvSpPr>
            <p:spPr bwMode="auto">
              <a:xfrm>
                <a:off x="3580648" y="3505045"/>
                <a:ext cx="820226"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Human Resource</a:t>
                </a:r>
                <a:endParaRPr/>
              </a:p>
            </p:txBody>
          </p:sp>
        </p:grpSp>
        <p:grpSp>
          <p:nvGrpSpPr>
            <p:cNvPr id="742" name="Google Shape;742;p46"/>
            <p:cNvGrpSpPr/>
            <p:nvPr/>
          </p:nvGrpSpPr>
          <p:grpSpPr bwMode="auto">
            <a:xfrm>
              <a:off x="6684186" y="5050968"/>
              <a:ext cx="1160463" cy="947737"/>
              <a:chOff x="2287367" y="3366911"/>
              <a:chExt cx="1159740" cy="947887"/>
            </a:xfrm>
          </p:grpSpPr>
          <p:sp>
            <p:nvSpPr>
              <p:cNvPr id="743" name="Google Shape;743;p46"/>
              <p:cNvSpPr/>
              <p:nvPr/>
            </p:nvSpPr>
            <p:spPr bwMode="auto">
              <a:xfrm>
                <a:off x="2287367" y="3366911"/>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4" name="Google Shape;744;p46"/>
              <p:cNvSpPr/>
              <p:nvPr/>
            </p:nvSpPr>
            <p:spPr bwMode="auto">
              <a:xfrm>
                <a:off x="2338135" y="3505045"/>
                <a:ext cx="1032819"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Communication</a:t>
                </a:r>
                <a:endParaRPr/>
              </a:p>
            </p:txBody>
          </p:sp>
        </p:grpSp>
        <p:grpSp>
          <p:nvGrpSpPr>
            <p:cNvPr id="745" name="Google Shape;745;p46"/>
            <p:cNvGrpSpPr/>
            <p:nvPr/>
          </p:nvGrpSpPr>
          <p:grpSpPr bwMode="auto">
            <a:xfrm>
              <a:off x="5845986" y="4328654"/>
              <a:ext cx="1160463" cy="947738"/>
              <a:chOff x="1426698" y="2644723"/>
              <a:chExt cx="1159740" cy="947887"/>
            </a:xfrm>
          </p:grpSpPr>
          <p:sp>
            <p:nvSpPr>
              <p:cNvPr id="746" name="Google Shape;746;p46"/>
              <p:cNvSpPr/>
              <p:nvPr/>
            </p:nvSpPr>
            <p:spPr bwMode="auto">
              <a:xfrm>
                <a:off x="1426698" y="2644723"/>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7" name="Google Shape;747;p46"/>
              <p:cNvSpPr/>
              <p:nvPr/>
            </p:nvSpPr>
            <p:spPr bwMode="auto">
              <a:xfrm>
                <a:off x="1596455" y="2782859"/>
                <a:ext cx="820226"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Risk</a:t>
                </a:r>
                <a:endParaRPr/>
              </a:p>
            </p:txBody>
          </p:sp>
        </p:grpSp>
        <p:grpSp>
          <p:nvGrpSpPr>
            <p:cNvPr id="748" name="Google Shape;748;p46"/>
            <p:cNvGrpSpPr/>
            <p:nvPr/>
          </p:nvGrpSpPr>
          <p:grpSpPr bwMode="auto">
            <a:xfrm>
              <a:off x="5688824" y="3222168"/>
              <a:ext cx="1158875" cy="947737"/>
              <a:chOff x="1231599" y="1538269"/>
              <a:chExt cx="1159741" cy="947887"/>
            </a:xfrm>
          </p:grpSpPr>
          <p:sp>
            <p:nvSpPr>
              <p:cNvPr id="749" name="Google Shape;749;p46"/>
              <p:cNvSpPr/>
              <p:nvPr/>
            </p:nvSpPr>
            <p:spPr bwMode="auto">
              <a:xfrm>
                <a:off x="1231600" y="1538269"/>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50" name="Google Shape;750;p46"/>
              <p:cNvSpPr/>
              <p:nvPr/>
            </p:nvSpPr>
            <p:spPr bwMode="auto">
              <a:xfrm>
                <a:off x="1231599" y="1676403"/>
                <a:ext cx="1154974"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Procurement</a:t>
                </a:r>
                <a:endParaRPr/>
              </a:p>
            </p:txBody>
          </p:sp>
        </p:grpSp>
        <p:grpSp>
          <p:nvGrpSpPr>
            <p:cNvPr id="751" name="Google Shape;751;p46"/>
            <p:cNvGrpSpPr/>
            <p:nvPr/>
          </p:nvGrpSpPr>
          <p:grpSpPr bwMode="auto">
            <a:xfrm>
              <a:off x="6150786" y="2249029"/>
              <a:ext cx="1160463" cy="947738"/>
              <a:chOff x="1793362" y="565268"/>
              <a:chExt cx="1159740" cy="947887"/>
            </a:xfrm>
          </p:grpSpPr>
          <p:sp>
            <p:nvSpPr>
              <p:cNvPr id="752" name="Google Shape;752;p46"/>
              <p:cNvSpPr/>
              <p:nvPr/>
            </p:nvSpPr>
            <p:spPr bwMode="auto">
              <a:xfrm>
                <a:off x="1793362" y="565268"/>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53" name="Google Shape;753;p46"/>
              <p:cNvSpPr/>
              <p:nvPr/>
            </p:nvSpPr>
            <p:spPr bwMode="auto">
              <a:xfrm>
                <a:off x="1850476" y="703403"/>
                <a:ext cx="1102626"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Stakeholders</a:t>
                </a:r>
                <a:endParaRPr/>
              </a:p>
            </p:txBody>
          </p:sp>
        </p:grpSp>
      </p:grpSp>
      <p:sp>
        <p:nvSpPr>
          <p:cNvPr id="1968571307" name="Google Shape;754;p46"/>
          <p:cNvSpPr txBox="1"/>
          <p:nvPr/>
        </p:nvSpPr>
        <p:spPr bwMode="auto">
          <a:xfrm>
            <a:off x="646828" y="98775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sp>
        <p:nvSpPr>
          <p:cNvPr id="783444785" name="Google Shape;755;p46"/>
          <p:cNvSpPr txBox="1"/>
          <p:nvPr/>
        </p:nvSpPr>
        <p:spPr bwMode="auto">
          <a:xfrm>
            <a:off x="681560" y="1703714"/>
            <a:ext cx="2970213"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defRPr/>
            </a:pPr>
            <a:r>
              <a:rPr lang="en-US" sz="2400">
                <a:solidFill>
                  <a:schemeClr val="tx1"/>
                </a:solidFill>
                <a:latin typeface="Times New Roman"/>
                <a:ea typeface="Times New Roman"/>
                <a:cs typeface="Times New Roman"/>
              </a:rPr>
              <a:t>10 Knowledge Areas</a:t>
            </a:r>
            <a:endParaRPr>
              <a:solidFill>
                <a:schemeClr val="tx1"/>
              </a:solidFill>
            </a:endParaRPr>
          </a:p>
        </p:txBody>
      </p:sp>
      <p:sp>
        <p:nvSpPr>
          <p:cNvPr id="1985803500" name="Google Shape;756;p4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103</a:t>
            </a:fld>
            <a:endParaRPr/>
          </a:p>
        </p:txBody>
      </p:sp>
      <p:cxnSp>
        <p:nvCxnSpPr>
          <p:cNvPr id="1228938816" name="Google Shape;757;p46"/>
          <p:cNvCxnSpPr/>
          <p:nvPr/>
        </p:nvCxnSpPr>
        <p:spPr bwMode="auto">
          <a:xfrm rot="10800000">
            <a:off x="762000" y="1461268"/>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105297330" name="Freeform: Shape 1"/>
          <p:cNvSpPr/>
          <p:nvPr/>
        </p:nvSpPr>
        <p:spPr bwMode="auto">
          <a:xfrm>
            <a:off x="8183105" y="1999281"/>
            <a:ext cx="449451" cy="604434"/>
          </a:xfrm>
          <a:custGeom>
            <a:avLst/>
            <a:gdLst>
              <a:gd name="connsiteX0" fmla="*/ 0 w 449451"/>
              <a:gd name="connsiteY0" fmla="*/ 418455 h 604434"/>
              <a:gd name="connsiteX1" fmla="*/ 154983 w 449451"/>
              <a:gd name="connsiteY1" fmla="*/ 604434 h 604434"/>
              <a:gd name="connsiteX2" fmla="*/ 449451 w 449451"/>
              <a:gd name="connsiteY2" fmla="*/ 0 h 604434"/>
            </a:gdLst>
            <a:ahLst/>
            <a:cxnLst>
              <a:cxn ang="0">
                <a:pos x="connsiteX0" y="connsiteY0"/>
              </a:cxn>
              <a:cxn ang="0">
                <a:pos x="connsiteX1" y="connsiteY1"/>
              </a:cxn>
              <a:cxn ang="0">
                <a:pos x="connsiteX2" y="connsiteY2"/>
              </a:cxn>
            </a:cxnLst>
            <a:rect l="l" t="t" r="r" b="b"/>
            <a:pathLst>
              <a:path w="449451" h="604434" fill="norm" stroke="1" extrusionOk="0">
                <a:moveTo>
                  <a:pt x="0" y="418455"/>
                </a:moveTo>
                <a:lnTo>
                  <a:pt x="154983" y="604434"/>
                </a:lnTo>
                <a:lnTo>
                  <a:pt x="449451" y="0"/>
                </a:lnTo>
              </a:path>
            </a:pathLst>
          </a:cu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787460016" name="Freeform: Shape 2"/>
          <p:cNvSpPr/>
          <p:nvPr/>
        </p:nvSpPr>
        <p:spPr bwMode="auto">
          <a:xfrm>
            <a:off x="9895037" y="2405269"/>
            <a:ext cx="449451" cy="604434"/>
          </a:xfrm>
          <a:custGeom>
            <a:avLst/>
            <a:gdLst>
              <a:gd name="connsiteX0" fmla="*/ 0 w 449451"/>
              <a:gd name="connsiteY0" fmla="*/ 418455 h 604434"/>
              <a:gd name="connsiteX1" fmla="*/ 154983 w 449451"/>
              <a:gd name="connsiteY1" fmla="*/ 604434 h 604434"/>
              <a:gd name="connsiteX2" fmla="*/ 449451 w 449451"/>
              <a:gd name="connsiteY2" fmla="*/ 0 h 604434"/>
            </a:gdLst>
            <a:ahLst/>
            <a:cxnLst>
              <a:cxn ang="0">
                <a:pos x="connsiteX0" y="connsiteY0"/>
              </a:cxn>
              <a:cxn ang="0">
                <a:pos x="connsiteX1" y="connsiteY1"/>
              </a:cxn>
              <a:cxn ang="0">
                <a:pos x="connsiteX2" y="connsiteY2"/>
              </a:cxn>
            </a:cxnLst>
            <a:rect l="l" t="t" r="r" b="b"/>
            <a:pathLst>
              <a:path w="449451" h="604434" fill="norm" stroke="1" extrusionOk="0">
                <a:moveTo>
                  <a:pt x="0" y="418455"/>
                </a:moveTo>
                <a:lnTo>
                  <a:pt x="154983" y="604434"/>
                </a:lnTo>
                <a:lnTo>
                  <a:pt x="449451" y="0"/>
                </a:lnTo>
              </a:path>
            </a:pathLst>
          </a:cu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938366918" name="Freeform: Shape 3"/>
          <p:cNvSpPr/>
          <p:nvPr/>
        </p:nvSpPr>
        <p:spPr bwMode="auto">
          <a:xfrm>
            <a:off x="10477501" y="3494671"/>
            <a:ext cx="449451" cy="604434"/>
          </a:xfrm>
          <a:custGeom>
            <a:avLst/>
            <a:gdLst>
              <a:gd name="connsiteX0" fmla="*/ 0 w 449451"/>
              <a:gd name="connsiteY0" fmla="*/ 418455 h 604434"/>
              <a:gd name="connsiteX1" fmla="*/ 154983 w 449451"/>
              <a:gd name="connsiteY1" fmla="*/ 604434 h 604434"/>
              <a:gd name="connsiteX2" fmla="*/ 449451 w 449451"/>
              <a:gd name="connsiteY2" fmla="*/ 0 h 604434"/>
            </a:gdLst>
            <a:ahLst/>
            <a:cxnLst>
              <a:cxn ang="0">
                <a:pos x="connsiteX0" y="connsiteY0"/>
              </a:cxn>
              <a:cxn ang="0">
                <a:pos x="connsiteX1" y="connsiteY1"/>
              </a:cxn>
              <a:cxn ang="0">
                <a:pos x="connsiteX2" y="connsiteY2"/>
              </a:cxn>
            </a:cxnLst>
            <a:rect l="l" t="t" r="r" b="b"/>
            <a:pathLst>
              <a:path w="449451" h="604434" fill="norm" stroke="1" extrusionOk="0">
                <a:moveTo>
                  <a:pt x="0" y="418455"/>
                </a:moveTo>
                <a:lnTo>
                  <a:pt x="154983" y="604434"/>
                </a:lnTo>
                <a:lnTo>
                  <a:pt x="449451" y="0"/>
                </a:lnTo>
              </a:path>
            </a:pathLst>
          </a:cu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771876938" name="TextBox 4"/>
          <p:cNvSpPr txBox="1"/>
          <p:nvPr/>
        </p:nvSpPr>
        <p:spPr bwMode="auto">
          <a:xfrm>
            <a:off x="9996191" y="5092944"/>
            <a:ext cx="696117" cy="307777"/>
          </a:xfrm>
          <a:prstGeom prst="rect">
            <a:avLst/>
          </a:prstGeom>
          <a:noFill/>
        </p:spPr>
        <p:txBody>
          <a:bodyPr wrap="square" rtlCol="0">
            <a:spAutoFit/>
          </a:bodyPr>
          <a:lstStyle/>
          <a:p>
            <a:pPr>
              <a:defRPr/>
            </a:pPr>
            <a:r>
              <a:rPr lang="en-US">
                <a:solidFill>
                  <a:schemeClr val="tx1"/>
                </a:solidFill>
              </a:rPr>
              <a:t>(ch3)</a:t>
            </a:r>
            <a:endParaRPr lang="en-GB">
              <a:solidFill>
                <a:schemeClr val="tx1"/>
              </a:solidFill>
            </a:endParaRPr>
          </a:p>
        </p:txBody>
      </p:sp>
      <p:sp>
        <p:nvSpPr>
          <p:cNvPr id="1456467868" name="Freeform: Shape 5"/>
          <p:cNvSpPr/>
          <p:nvPr/>
        </p:nvSpPr>
        <p:spPr bwMode="auto">
          <a:xfrm>
            <a:off x="9186722" y="5756084"/>
            <a:ext cx="449451" cy="604434"/>
          </a:xfrm>
          <a:custGeom>
            <a:avLst/>
            <a:gdLst>
              <a:gd name="connsiteX0" fmla="*/ 0 w 449451"/>
              <a:gd name="connsiteY0" fmla="*/ 418455 h 604434"/>
              <a:gd name="connsiteX1" fmla="*/ 154983 w 449451"/>
              <a:gd name="connsiteY1" fmla="*/ 604434 h 604434"/>
              <a:gd name="connsiteX2" fmla="*/ 449451 w 449451"/>
              <a:gd name="connsiteY2" fmla="*/ 0 h 604434"/>
            </a:gdLst>
            <a:ahLst/>
            <a:cxnLst>
              <a:cxn ang="0">
                <a:pos x="connsiteX0" y="connsiteY0"/>
              </a:cxn>
              <a:cxn ang="0">
                <a:pos x="connsiteX1" y="connsiteY1"/>
              </a:cxn>
              <a:cxn ang="0">
                <a:pos x="connsiteX2" y="connsiteY2"/>
              </a:cxn>
            </a:cxnLst>
            <a:rect l="l" t="t" r="r" b="b"/>
            <a:pathLst>
              <a:path w="449451" h="604434" fill="norm" stroke="1" extrusionOk="0">
                <a:moveTo>
                  <a:pt x="0" y="418455"/>
                </a:moveTo>
                <a:lnTo>
                  <a:pt x="154983" y="604434"/>
                </a:lnTo>
                <a:lnTo>
                  <a:pt x="449451" y="0"/>
                </a:lnTo>
              </a:path>
            </a:pathLst>
          </a:cu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595309664" name="Google Shape;112;p2"/>
          <p:cNvSpPr txBox="1"/>
          <p:nvPr/>
        </p:nvSpPr>
        <p:spPr bwMode="auto">
          <a:xfrm>
            <a:off x="650051" y="919711"/>
            <a:ext cx="6066183"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9pPr>
          </a:lstStyle>
          <a:p>
            <a:pPr>
              <a:buSzPts val="4000"/>
              <a:defRPr/>
            </a:pPr>
            <a:r>
              <a:rPr lang="en-US" sz="4000" b="1">
                <a:solidFill>
                  <a:srgbClr val="0000FF"/>
                </a:solidFill>
              </a:rPr>
              <a:t>L3: Quick Review of  </a:t>
            </a:r>
            <a:r>
              <a:rPr lang="en-US" sz="4000" b="1">
                <a:solidFill>
                  <a:srgbClr val="0000FF"/>
                </a:solidFill>
              </a:rPr>
              <a:t>PrevL</a:t>
            </a:r>
            <a:endParaRPr lang="en-US" sz="4000" b="1">
              <a:solidFill>
                <a:srgbClr val="0000FF"/>
              </a:solidFill>
            </a:endParaRPr>
          </a:p>
        </p:txBody>
      </p:sp>
      <p:sp>
        <p:nvSpPr>
          <p:cNvPr id="1004734167" name="Freeform: Shape 6"/>
          <p:cNvSpPr/>
          <p:nvPr/>
        </p:nvSpPr>
        <p:spPr bwMode="auto">
          <a:xfrm>
            <a:off x="6904037" y="2421052"/>
            <a:ext cx="449451" cy="604434"/>
          </a:xfrm>
          <a:custGeom>
            <a:avLst/>
            <a:gdLst>
              <a:gd name="connsiteX0" fmla="*/ 0 w 449451"/>
              <a:gd name="connsiteY0" fmla="*/ 418455 h 604434"/>
              <a:gd name="connsiteX1" fmla="*/ 154983 w 449451"/>
              <a:gd name="connsiteY1" fmla="*/ 604434 h 604434"/>
              <a:gd name="connsiteX2" fmla="*/ 449451 w 449451"/>
              <a:gd name="connsiteY2" fmla="*/ 0 h 604434"/>
            </a:gdLst>
            <a:ahLst/>
            <a:cxnLst>
              <a:cxn ang="0">
                <a:pos x="connsiteX0" y="connsiteY0"/>
              </a:cxn>
              <a:cxn ang="0">
                <a:pos x="connsiteX1" y="connsiteY1"/>
              </a:cxn>
              <a:cxn ang="0">
                <a:pos x="connsiteX2" y="connsiteY2"/>
              </a:cxn>
            </a:cxnLst>
            <a:rect l="l" t="t" r="r" b="b"/>
            <a:pathLst>
              <a:path w="449451" h="604434" fill="norm" stroke="1" extrusionOk="0">
                <a:moveTo>
                  <a:pt x="0" y="418455"/>
                </a:moveTo>
                <a:lnTo>
                  <a:pt x="154983" y="604434"/>
                </a:lnTo>
                <a:lnTo>
                  <a:pt x="449451" y="0"/>
                </a:lnTo>
              </a:path>
            </a:pathLst>
          </a:cu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GB"/>
          </a:p>
        </p:txBody>
      </p:sp>
      <p:cxnSp>
        <p:nvCxnSpPr>
          <p:cNvPr id="771793258" name="Straight Arrow Connector 9"/>
          <p:cNvCxnSpPr/>
          <p:nvPr/>
        </p:nvCxnSpPr>
        <p:spPr bwMode="auto">
          <a:xfrm>
            <a:off x="5649686" y="5832284"/>
            <a:ext cx="892628"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71793258"/>
                                        </p:tgtEl>
                                        <p:attrNameLst>
                                          <p:attrName>style.visibility</p:attrName>
                                        </p:attrNameLst>
                                      </p:cBhvr>
                                      <p:to>
                                        <p:strVal val="visible"/>
                                      </p:to>
                                    </p:set>
                                    <p:animEffect transition="in" filter="wipe(left)">
                                      <p:cBhvr>
                                        <p:cTn id="7" dur="500"/>
                                        <p:tgtEl>
                                          <p:spTgt spid="771793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20586469" name="Google Shape;1474;p87"/>
          <p:cNvSpPr txBox="1">
            <a:spLocks noGrp="1"/>
          </p:cNvSpPr>
          <p:nvPr>
            <p:ph type="body" idx="1"/>
          </p:nvPr>
        </p:nvSpPr>
        <p:spPr bwMode="auto">
          <a:xfrm>
            <a:off x="987692" y="2438400"/>
            <a:ext cx="7394308" cy="3890963"/>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800"/>
              <a:defRPr/>
            </a:pPr>
            <a:r>
              <a:rPr lang="en-US" sz="2800">
                <a:solidFill>
                  <a:srgbClr val="FF0000"/>
                </a:solidFill>
              </a:rPr>
              <a:t>Purpose</a:t>
            </a:r>
            <a:r>
              <a:rPr lang="en-US" sz="2800"/>
              <a:t>: </a:t>
            </a:r>
            <a:r>
              <a:rPr lang="en-US" sz="2800" b="1"/>
              <a:t>To collect, disseminate </a:t>
            </a:r>
            <a:r>
              <a:rPr lang="en-US" b="1"/>
              <a:t>and store </a:t>
            </a:r>
            <a:r>
              <a:rPr lang="en-US" sz="2800" b="1"/>
              <a:t>of project information </a:t>
            </a:r>
            <a:r>
              <a:rPr lang="en-US" sz="2800"/>
              <a:t>in a </a:t>
            </a:r>
            <a:r>
              <a:rPr lang="en-US"/>
              <a:t>timely manner</a:t>
            </a:r>
            <a:endParaRPr lang="en-US" sz="2800"/>
          </a:p>
          <a:p>
            <a:pPr marL="228600" lvl="0" indent="-228600">
              <a:spcBef>
                <a:spcPts val="0"/>
              </a:spcBef>
              <a:buSzPts val="2800"/>
              <a:defRPr/>
            </a:pPr>
            <a:endParaRPr b="1"/>
          </a:p>
          <a:p>
            <a:pPr marL="228600" lvl="0" indent="-228600" algn="l" rtl="0">
              <a:lnSpc>
                <a:spcPct val="90000"/>
              </a:lnSpc>
              <a:spcBef>
                <a:spcPts val="1000"/>
              </a:spcBef>
              <a:spcAft>
                <a:spcPts val="0"/>
              </a:spcAft>
              <a:buClr>
                <a:schemeClr val="dk1"/>
              </a:buClr>
              <a:buSzPts val="2800"/>
              <a:buChar char="•"/>
              <a:defRPr/>
            </a:pPr>
            <a:r>
              <a:rPr lang="en-US" sz="2800" b="1"/>
              <a:t>3 processes:</a:t>
            </a:r>
            <a:endParaRPr b="1"/>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b="1"/>
              <a:t>Plan</a:t>
            </a:r>
            <a:r>
              <a:rPr lang="en-US"/>
              <a:t> Communications Management</a:t>
            </a:r>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b="1"/>
              <a:t>Manage</a:t>
            </a:r>
            <a:r>
              <a:rPr lang="en-US"/>
              <a:t> Communications</a:t>
            </a:r>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b="1"/>
              <a:t>Control</a:t>
            </a:r>
            <a:r>
              <a:rPr lang="en-US"/>
              <a:t> communications</a:t>
            </a:r>
            <a:endParaRPr/>
          </a:p>
        </p:txBody>
      </p:sp>
      <p:sp>
        <p:nvSpPr>
          <p:cNvPr id="1583255259" name="Google Shape;1475;p8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104</a:t>
            </a:fld>
            <a:endParaRPr/>
          </a:p>
        </p:txBody>
      </p:sp>
      <p:sp>
        <p:nvSpPr>
          <p:cNvPr id="1445414251" name="Google Shape;1476;p87"/>
          <p:cNvSpPr txBox="1"/>
          <p:nvPr/>
        </p:nvSpPr>
        <p:spPr bwMode="auto">
          <a:xfrm>
            <a:off x="911492" y="750150"/>
            <a:ext cx="7010399" cy="715961"/>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Communication Management</a:t>
            </a:r>
            <a:endParaRPr sz="4000" b="1">
              <a:solidFill>
                <a:schemeClr val="dk1"/>
              </a:solidFill>
              <a:latin typeface="Calibri"/>
              <a:ea typeface="Calibri"/>
              <a:cs typeface="Calibri"/>
            </a:endParaRPr>
          </a:p>
        </p:txBody>
      </p:sp>
      <p:sp>
        <p:nvSpPr>
          <p:cNvPr id="717769416" name="Google Shape;1477;p87"/>
          <p:cNvSpPr txBox="1"/>
          <p:nvPr/>
        </p:nvSpPr>
        <p:spPr bwMode="auto">
          <a:xfrm>
            <a:off x="948720" y="135188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2050934759" name="Google Shape;1478;p87"/>
          <p:cNvCxnSpPr/>
          <p:nvPr/>
        </p:nvCxnSpPr>
        <p:spPr bwMode="auto">
          <a:xfrm rot="10800000">
            <a:off x="1063892" y="1825399"/>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897391969" name="Google Shape;1479;p87"/>
          <p:cNvPicPr/>
          <p:nvPr/>
        </p:nvPicPr>
        <p:blipFill rotWithShape="1">
          <a:blip r:embed="rId3">
            <a:alphaModFix/>
          </a:blip>
          <a:srcRect l="28082" t="0" r="43098" b="0"/>
          <a:stretch/>
        </p:blipFill>
        <p:spPr bwMode="auto">
          <a:xfrm>
            <a:off x="9220200" y="0"/>
            <a:ext cx="2971800" cy="6874287"/>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445414251"/>
                                        </p:tgtEl>
                                        <p:attrNameLst>
                                          <p:attrName>style.visibility</p:attrName>
                                        </p:attrNameLst>
                                      </p:cBhvr>
                                      <p:to>
                                        <p:strVal val="visible"/>
                                      </p:to>
                                    </p:set>
                                    <p:anim calcmode="lin" valueType="num">
                                      <p:cBhvr additive="base">
                                        <p:cTn id="7" dur="500" fill="hold"/>
                                        <p:tgtEl>
                                          <p:spTgt spid="1445414251"/>
                                        </p:tgtEl>
                                        <p:attrNameLst>
                                          <p:attrName>ppt_x</p:attrName>
                                        </p:attrNameLst>
                                      </p:cBhvr>
                                      <p:tavLst>
                                        <p:tav tm="0">
                                          <p:val>
                                            <p:strVal val="#ppt_x"/>
                                          </p:val>
                                        </p:tav>
                                        <p:tav tm="100000">
                                          <p:val>
                                            <p:strVal val="#ppt_x"/>
                                          </p:val>
                                        </p:tav>
                                      </p:tavLst>
                                    </p:anim>
                                    <p:anim calcmode="lin" valueType="num">
                                      <p:cBhvr additive="base">
                                        <p:cTn id="8" dur="500" fill="hold"/>
                                        <p:tgtEl>
                                          <p:spTgt spid="1445414251"/>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20586469">
                                            <p:txEl>
                                              <p:pRg st="2" end="2"/>
                                            </p:txEl>
                                          </p:spTgt>
                                        </p:tgtEl>
                                        <p:attrNameLst>
                                          <p:attrName>style.visibility</p:attrName>
                                        </p:attrNameLst>
                                      </p:cBhvr>
                                      <p:to>
                                        <p:strVal val="visible"/>
                                      </p:to>
                                    </p:set>
                                    <p:anim calcmode="lin" valueType="num">
                                      <p:cBhvr additive="base">
                                        <p:cTn id="13" dur="500" fill="hold"/>
                                        <p:tgtEl>
                                          <p:spTgt spid="122058646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20586469">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220586469">
                                            <p:txEl>
                                              <p:pRg st="3" end="3"/>
                                            </p:txEl>
                                          </p:spTgt>
                                        </p:tgtEl>
                                        <p:attrNameLst>
                                          <p:attrName>style.visibility</p:attrName>
                                        </p:attrNameLst>
                                      </p:cBhvr>
                                      <p:to>
                                        <p:strVal val="visible"/>
                                      </p:to>
                                    </p:set>
                                    <p:anim calcmode="lin" valueType="num">
                                      <p:cBhvr additive="base">
                                        <p:cTn id="17" dur="500" fill="hold"/>
                                        <p:tgtEl>
                                          <p:spTgt spid="1220586469">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220586469">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220586469">
                                            <p:txEl>
                                              <p:pRg st="4" end="4"/>
                                            </p:txEl>
                                          </p:spTgt>
                                        </p:tgtEl>
                                        <p:attrNameLst>
                                          <p:attrName>style.visibility</p:attrName>
                                        </p:attrNameLst>
                                      </p:cBhvr>
                                      <p:to>
                                        <p:strVal val="visible"/>
                                      </p:to>
                                    </p:set>
                                    <p:anim calcmode="lin" valueType="num">
                                      <p:cBhvr additive="base">
                                        <p:cTn id="21" dur="500" fill="hold"/>
                                        <p:tgtEl>
                                          <p:spTgt spid="1220586469">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20586469">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220586469">
                                            <p:txEl>
                                              <p:pRg st="5" end="5"/>
                                            </p:txEl>
                                          </p:spTgt>
                                        </p:tgtEl>
                                        <p:attrNameLst>
                                          <p:attrName>style.visibility</p:attrName>
                                        </p:attrNameLst>
                                      </p:cBhvr>
                                      <p:to>
                                        <p:strVal val="visible"/>
                                      </p:to>
                                    </p:set>
                                    <p:anim calcmode="lin" valueType="num">
                                      <p:cBhvr additive="base">
                                        <p:cTn id="25" dur="500" fill="hold"/>
                                        <p:tgtEl>
                                          <p:spTgt spid="1220586469">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2058646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5414251" grpId="0"/>
    </p:bldLst>
  </p:timing>
</p:sld>
</file>

<file path=ppt/slides/slide10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21003922" name="Google Shape;1484;p88"/>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105</a:t>
            </a:fld>
            <a:endParaRPr/>
          </a:p>
        </p:txBody>
      </p:sp>
      <p:sp>
        <p:nvSpPr>
          <p:cNvPr id="1177425003" name="Google Shape;1485;p88"/>
          <p:cNvSpPr txBox="1"/>
          <p:nvPr/>
        </p:nvSpPr>
        <p:spPr bwMode="auto">
          <a:xfrm>
            <a:off x="197224" y="31376"/>
            <a:ext cx="7010399" cy="715961"/>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Communication Management</a:t>
            </a:r>
            <a:endParaRPr sz="4000" b="1">
              <a:solidFill>
                <a:schemeClr val="dk1"/>
              </a:solidFill>
              <a:latin typeface="Calibri"/>
              <a:ea typeface="Calibri"/>
              <a:cs typeface="Calibri"/>
            </a:endParaRPr>
          </a:p>
        </p:txBody>
      </p:sp>
      <p:sp>
        <p:nvSpPr>
          <p:cNvPr id="2084497720" name="Google Shape;1486;p88"/>
          <p:cNvSpPr txBox="1"/>
          <p:nvPr/>
        </p:nvSpPr>
        <p:spPr bwMode="auto">
          <a:xfrm>
            <a:off x="234452" y="633109"/>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53146318" name="Google Shape;1487;p88"/>
          <p:cNvCxnSpPr/>
          <p:nvPr/>
        </p:nvCxnSpPr>
        <p:spPr bwMode="auto">
          <a:xfrm rot="10800000">
            <a:off x="349624" y="1106624"/>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138821220" name="Google Shape;1488;p88"/>
          <p:cNvSpPr txBox="1">
            <a:spLocks noGrp="1"/>
          </p:cNvSpPr>
          <p:nvPr>
            <p:ph type="body" idx="1"/>
          </p:nvPr>
        </p:nvSpPr>
        <p:spPr bwMode="auto">
          <a:xfrm>
            <a:off x="5422558" y="633109"/>
            <a:ext cx="7010399" cy="348991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defRPr/>
            </a:pPr>
            <a:r>
              <a:rPr lang="en-US" sz="1800" b="1"/>
              <a:t>1. Plan Communication Management</a:t>
            </a:r>
            <a:endParaRPr sz="1800"/>
          </a:p>
          <a:p>
            <a:pPr marL="685800" lvl="1" indent="-228600" algn="l" rtl="0">
              <a:lnSpc>
                <a:spcPct val="90000"/>
              </a:lnSpc>
              <a:spcBef>
                <a:spcPts val="500"/>
              </a:spcBef>
              <a:spcAft>
                <a:spcPts val="0"/>
              </a:spcAft>
              <a:buClr>
                <a:schemeClr val="dk1"/>
              </a:buClr>
              <a:buSzPts val="2400"/>
              <a:buChar char="•"/>
              <a:defRPr/>
            </a:pPr>
            <a:r>
              <a:rPr lang="en-US" sz="1800"/>
              <a:t>Develop an appropriate approach and </a:t>
            </a:r>
            <a:r>
              <a:rPr lang="en-US" sz="1800" b="1">
                <a:solidFill>
                  <a:srgbClr val="FF0000"/>
                </a:solidFill>
              </a:rPr>
              <a:t>plan for project </a:t>
            </a:r>
            <a:r>
              <a:rPr lang="en-US" sz="1800" b="1" u="sng">
                <a:solidFill>
                  <a:srgbClr val="FF0000"/>
                </a:solidFill>
              </a:rPr>
              <a:t>communications</a:t>
            </a:r>
            <a:r>
              <a:rPr lang="en-US" sz="1800" b="1">
                <a:solidFill>
                  <a:srgbClr val="FF0000"/>
                </a:solidFill>
              </a:rPr>
              <a:t> </a:t>
            </a:r>
            <a:r>
              <a:rPr lang="en-US" sz="1800"/>
              <a:t>based on stakeholder’s information needs and requirements, and available organizational assets.</a:t>
            </a:r>
            <a:endParaRPr sz="1800"/>
          </a:p>
          <a:p>
            <a:pPr marL="685800" lvl="1" indent="-228600" algn="l" rtl="0">
              <a:lnSpc>
                <a:spcPct val="90000"/>
              </a:lnSpc>
              <a:spcBef>
                <a:spcPts val="500"/>
              </a:spcBef>
              <a:spcAft>
                <a:spcPts val="0"/>
              </a:spcAft>
              <a:buClr>
                <a:schemeClr val="dk1"/>
              </a:buClr>
              <a:buSzPts val="2400"/>
              <a:buChar char="•"/>
              <a:defRPr/>
            </a:pPr>
            <a:r>
              <a:rPr lang="en-US" sz="1800"/>
              <a:t>Key benefit: identifies and documents the approach to communicate most effectively and efficiently with stakeholders.</a:t>
            </a:r>
            <a:endParaRPr sz="1800"/>
          </a:p>
          <a:p>
            <a:pPr marL="228600" lvl="0" indent="-50800" algn="l" rtl="0">
              <a:lnSpc>
                <a:spcPct val="90000"/>
              </a:lnSpc>
              <a:spcBef>
                <a:spcPts val="1000"/>
              </a:spcBef>
              <a:spcAft>
                <a:spcPts val="0"/>
              </a:spcAft>
              <a:buClr>
                <a:schemeClr val="dk1"/>
              </a:buClr>
              <a:buSzPts val="2800"/>
              <a:buNone/>
              <a:defRPr/>
            </a:pPr>
            <a:endParaRPr/>
          </a:p>
        </p:txBody>
      </p:sp>
      <p:grpSp>
        <p:nvGrpSpPr>
          <p:cNvPr id="139621076" name="Google Shape;1489;p88"/>
          <p:cNvGrpSpPr/>
          <p:nvPr/>
        </p:nvGrpSpPr>
        <p:grpSpPr bwMode="auto">
          <a:xfrm>
            <a:off x="91441" y="1002516"/>
            <a:ext cx="6094213" cy="870346"/>
            <a:chOff x="0" y="43885"/>
            <a:chExt cx="6094213" cy="870346"/>
          </a:xfrm>
        </p:grpSpPr>
        <p:sp>
          <p:nvSpPr>
            <p:cNvPr id="1490" name="Google Shape;1490;p88"/>
            <p:cNvSpPr/>
            <p:nvPr/>
          </p:nvSpPr>
          <p:spPr bwMode="auto">
            <a:xfrm>
              <a:off x="0" y="43885"/>
              <a:ext cx="2175867" cy="870346"/>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91" name="Google Shape;1491;p88"/>
            <p:cNvSpPr txBox="1"/>
            <p:nvPr/>
          </p:nvSpPr>
          <p:spPr bwMode="auto">
            <a:xfrm>
              <a:off x="435173" y="43885"/>
              <a:ext cx="1305521" cy="870346"/>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1">
                  <a:solidFill>
                    <a:schemeClr val="lt1"/>
                  </a:solidFill>
                  <a:latin typeface="Calibri"/>
                  <a:ea typeface="Calibri"/>
                  <a:cs typeface="Calibri"/>
                </a:rPr>
                <a:t>1.                             Plan </a:t>
              </a:r>
              <a:r>
                <a:rPr lang="en-US" sz="1300" b="1">
                  <a:solidFill>
                    <a:schemeClr val="lt1"/>
                  </a:solidFill>
                  <a:latin typeface="Calibri"/>
                  <a:ea typeface="Calibri"/>
                  <a:cs typeface="Calibri"/>
                </a:rPr>
                <a:t>Communications</a:t>
              </a:r>
              <a:r>
                <a:rPr lang="en-US" sz="1400" b="1">
                  <a:solidFill>
                    <a:schemeClr val="lt1"/>
                  </a:solidFill>
                  <a:latin typeface="Calibri"/>
                  <a:ea typeface="Calibri"/>
                  <a:cs typeface="Calibri"/>
                </a:rPr>
                <a:t> Management</a:t>
              </a:r>
              <a:endParaRPr/>
            </a:p>
          </p:txBody>
        </p:sp>
        <p:sp>
          <p:nvSpPr>
            <p:cNvPr id="1492" name="Google Shape;1492;p88"/>
            <p:cNvSpPr/>
            <p:nvPr/>
          </p:nvSpPr>
          <p:spPr bwMode="auto">
            <a:xfrm>
              <a:off x="1960066" y="43885"/>
              <a:ext cx="2175867" cy="870346"/>
            </a:xfrm>
            <a:prstGeom prst="chevron">
              <a:avLst>
                <a:gd name="adj" fmla="val 50000"/>
              </a:avLst>
            </a:prstGeom>
            <a:solidFill>
              <a:srgbClr val="0070C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93" name="Google Shape;1493;p88"/>
            <p:cNvSpPr txBox="1"/>
            <p:nvPr/>
          </p:nvSpPr>
          <p:spPr bwMode="auto">
            <a:xfrm>
              <a:off x="2395239" y="43885"/>
              <a:ext cx="1305521" cy="870346"/>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2. </a:t>
              </a:r>
              <a:br>
                <a:rPr lang="en-US" sz="1400">
                  <a:solidFill>
                    <a:schemeClr val="lt1"/>
                  </a:solidFill>
                  <a:latin typeface="Calibri"/>
                  <a:ea typeface="Calibri"/>
                  <a:cs typeface="Calibri"/>
                </a:rPr>
              </a:br>
              <a:r>
                <a:rPr lang="en-US" sz="1400">
                  <a:solidFill>
                    <a:schemeClr val="lt1"/>
                  </a:solidFill>
                  <a:latin typeface="Calibri"/>
                  <a:ea typeface="Calibri"/>
                  <a:cs typeface="Calibri"/>
                </a:rPr>
                <a:t>Manage Communications</a:t>
              </a:r>
              <a:endParaRPr/>
            </a:p>
          </p:txBody>
        </p:sp>
        <p:sp>
          <p:nvSpPr>
            <p:cNvPr id="1494" name="Google Shape;1494;p88"/>
            <p:cNvSpPr/>
            <p:nvPr/>
          </p:nvSpPr>
          <p:spPr bwMode="auto">
            <a:xfrm>
              <a:off x="3918346" y="43885"/>
              <a:ext cx="2175867" cy="870346"/>
            </a:xfrm>
            <a:prstGeom prst="chevron">
              <a:avLst>
                <a:gd name="adj" fmla="val 50000"/>
              </a:avLst>
            </a:prstGeom>
            <a:solidFill>
              <a:srgbClr val="0070C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495" name="Google Shape;1495;p88"/>
            <p:cNvSpPr txBox="1"/>
            <p:nvPr/>
          </p:nvSpPr>
          <p:spPr bwMode="auto">
            <a:xfrm>
              <a:off x="4353519" y="43885"/>
              <a:ext cx="1305521" cy="870346"/>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3.</a:t>
              </a:r>
              <a:br>
                <a:rPr lang="en-US" sz="1400">
                  <a:solidFill>
                    <a:schemeClr val="lt1"/>
                  </a:solidFill>
                  <a:latin typeface="Calibri"/>
                  <a:ea typeface="Calibri"/>
                  <a:cs typeface="Calibri"/>
                </a:rPr>
              </a:br>
              <a:r>
                <a:rPr lang="en-US" sz="1400">
                  <a:solidFill>
                    <a:schemeClr val="lt1"/>
                  </a:solidFill>
                  <a:latin typeface="Calibri"/>
                  <a:ea typeface="Calibri"/>
                  <a:cs typeface="Calibri"/>
                </a:rPr>
                <a:t>Control communications</a:t>
              </a:r>
              <a:endParaRPr/>
            </a:p>
          </p:txBody>
        </p:sp>
      </p:grpSp>
      <p:sp>
        <p:nvSpPr>
          <p:cNvPr id="915441348" name="TextBox 3"/>
          <p:cNvSpPr txBox="1"/>
          <p:nvPr/>
        </p:nvSpPr>
        <p:spPr bwMode="auto">
          <a:xfrm>
            <a:off x="197224" y="1998721"/>
            <a:ext cx="3964840" cy="707886"/>
          </a:xfrm>
          <a:prstGeom prst="rect">
            <a:avLst/>
          </a:prstGeom>
          <a:noFill/>
        </p:spPr>
        <p:txBody>
          <a:bodyPr wrap="square" rtlCol="0">
            <a:spAutoFit/>
          </a:bodyPr>
          <a:lstStyle/>
          <a:p>
            <a:pPr>
              <a:defRPr/>
            </a:pPr>
            <a:r>
              <a:rPr lang="en-MY" sz="2000" b="1">
                <a:solidFill>
                  <a:srgbClr val="FF0000"/>
                </a:solidFill>
              </a:rPr>
              <a:t>How to develop a Project </a:t>
            </a:r>
            <a:r>
              <a:rPr lang="en-MY" sz="2000" b="1" u="sng">
                <a:solidFill>
                  <a:srgbClr val="FF0000"/>
                </a:solidFill>
              </a:rPr>
              <a:t>Communication</a:t>
            </a:r>
            <a:r>
              <a:rPr lang="en-MY" sz="2000" b="1">
                <a:solidFill>
                  <a:srgbClr val="FF0000"/>
                </a:solidFill>
              </a:rPr>
              <a:t> Plan?</a:t>
            </a:r>
            <a:endParaRPr/>
          </a:p>
        </p:txBody>
      </p:sp>
      <p:pic>
        <p:nvPicPr>
          <p:cNvPr id="1448256037" name="Google Shape;1496;p88"/>
          <p:cNvPicPr/>
          <p:nvPr/>
        </p:nvPicPr>
        <p:blipFill rotWithShape="1">
          <a:blip r:embed="rId3">
            <a:alphaModFix/>
          </a:blip>
          <a:srcRect l="1233" t="1970" r="611" b="1810"/>
          <a:stretch/>
        </p:blipFill>
        <p:spPr bwMode="auto">
          <a:xfrm>
            <a:off x="3027680" y="2352664"/>
            <a:ext cx="7477760" cy="4338331"/>
          </a:xfrm>
          <a:prstGeom prst="rect">
            <a:avLst/>
          </a:prstGeom>
          <a:noFill/>
          <a:ln w="28575">
            <a:noFill/>
          </a:ln>
        </p:spPr>
      </p:pic>
      <p:sp>
        <p:nvSpPr>
          <p:cNvPr id="551232701" name="Rectangle 6"/>
          <p:cNvSpPr/>
          <p:nvPr/>
        </p:nvSpPr>
        <p:spPr bwMode="auto">
          <a:xfrm>
            <a:off x="3027680" y="2804160"/>
            <a:ext cx="7411720" cy="9292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ln>
                <a:solidFill>
                  <a:srgbClr val="FF0000"/>
                </a:solidFill>
              </a:ln>
            </a:endParaRPr>
          </a:p>
        </p:txBody>
      </p:sp>
      <p:sp>
        <p:nvSpPr>
          <p:cNvPr id="1416391795" name="Callout: Line 7"/>
          <p:cNvSpPr/>
          <p:nvPr/>
        </p:nvSpPr>
        <p:spPr bwMode="auto">
          <a:xfrm>
            <a:off x="10357797" y="3585031"/>
            <a:ext cx="1755160" cy="3105964"/>
          </a:xfrm>
          <a:prstGeom prst="borderCallout1">
            <a:avLst>
              <a:gd name="adj1" fmla="val 29666"/>
              <a:gd name="adj2" fmla="val -2214"/>
              <a:gd name="adj3" fmla="val 30138"/>
              <a:gd name="adj4" fmla="val -185220"/>
            </a:avLst>
          </a:prstGeom>
          <a:noFill/>
          <a:ln w="19050">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MY" sz="1800" u="sng">
                <a:solidFill>
                  <a:srgbClr val="FF00FF"/>
                </a:solidFill>
              </a:rPr>
              <a:t>email newsletter </a:t>
            </a:r>
            <a:r>
              <a:rPr lang="en-MY" sz="1800">
                <a:solidFill>
                  <a:srgbClr val="FF00FF"/>
                </a:solidFill>
              </a:rPr>
              <a:t>to keep stakeholders informed of project progress</a:t>
            </a:r>
            <a:endParaRPr/>
          </a:p>
        </p:txBody>
      </p:sp>
      <p:sp>
        <p:nvSpPr>
          <p:cNvPr id="278913584" name="Rectangle: Rounded Corners 1"/>
          <p:cNvSpPr/>
          <p:nvPr/>
        </p:nvSpPr>
        <p:spPr bwMode="auto">
          <a:xfrm>
            <a:off x="3007281" y="4213254"/>
            <a:ext cx="7432118" cy="409981"/>
          </a:xfrm>
          <a:prstGeom prst="roundRect">
            <a:avLst>
              <a:gd name="adj" fmla="val 16667"/>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496637711" name="Rectangle: Rounded Corners 2"/>
          <p:cNvSpPr/>
          <p:nvPr/>
        </p:nvSpPr>
        <p:spPr bwMode="auto">
          <a:xfrm>
            <a:off x="3007281" y="3799481"/>
            <a:ext cx="7432119" cy="335898"/>
          </a:xfrm>
          <a:prstGeom prst="roundRect">
            <a:avLst>
              <a:gd name="adj" fmla="val 16667"/>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1225165123" name="Callout: Line 11"/>
          <p:cNvSpPr/>
          <p:nvPr/>
        </p:nvSpPr>
        <p:spPr bwMode="auto">
          <a:xfrm>
            <a:off x="334490" y="2966947"/>
            <a:ext cx="1755160" cy="1956459"/>
          </a:xfrm>
          <a:prstGeom prst="borderCallout1">
            <a:avLst>
              <a:gd name="adj1" fmla="val 30832"/>
              <a:gd name="adj2" fmla="val 99974"/>
              <a:gd name="adj3" fmla="val 49884"/>
              <a:gd name="adj4" fmla="val 156190"/>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MY" sz="1800">
                <a:solidFill>
                  <a:srgbClr val="0000FF"/>
                </a:solidFill>
              </a:rPr>
              <a:t>PTM is to collect &amp; disseminate project information</a:t>
            </a:r>
            <a:endParaRPr/>
          </a:p>
        </p:txBody>
      </p:sp>
      <p:cxnSp>
        <p:nvCxnSpPr>
          <p:cNvPr id="937335416" name="Straight Connector 8"/>
          <p:cNvCxnSpPr/>
          <p:nvPr/>
        </p:nvCxnSpPr>
        <p:spPr bwMode="auto">
          <a:xfrm>
            <a:off x="3103587" y="4936800"/>
            <a:ext cx="1058477" cy="0"/>
          </a:xfrm>
          <a:prstGeom prst="line">
            <a:avLst/>
          </a:prstGeom>
          <a:ln w="28575">
            <a:solidFill>
              <a:srgbClr val="FF00FF"/>
            </a:solidFill>
          </a:ln>
        </p:spPr>
        <p:style>
          <a:lnRef idx="1">
            <a:schemeClr val="accent1"/>
          </a:lnRef>
          <a:fillRef idx="0">
            <a:schemeClr val="accent1"/>
          </a:fillRef>
          <a:effectRef idx="0">
            <a:schemeClr val="accent1"/>
          </a:effectRef>
          <a:fontRef idx="minor">
            <a:schemeClr val="tx1"/>
          </a:fontRef>
        </p:style>
      </p:cxnSp>
      <p:sp>
        <p:nvSpPr>
          <p:cNvPr id="918482332" name="Rectangle: Rounded Corners 17"/>
          <p:cNvSpPr/>
          <p:nvPr/>
        </p:nvSpPr>
        <p:spPr bwMode="auto">
          <a:xfrm>
            <a:off x="3007281" y="4701110"/>
            <a:ext cx="7432118" cy="637670"/>
          </a:xfrm>
          <a:prstGeom prst="roundRect">
            <a:avLst>
              <a:gd name="adj" fmla="val 16667"/>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927898436" name="Rectangle: Rounded Corners 20"/>
          <p:cNvSpPr/>
          <p:nvPr/>
        </p:nvSpPr>
        <p:spPr bwMode="auto">
          <a:xfrm>
            <a:off x="3463880" y="4262618"/>
            <a:ext cx="1051572" cy="322432"/>
          </a:xfrm>
          <a:prstGeom prst="roundRect">
            <a:avLst>
              <a:gd name="adj" fmla="val 16667"/>
            </a:avLst>
          </a:prstGeom>
          <a:noFill/>
          <a:ln w="12700">
            <a:solidFill>
              <a:srgbClr val="FF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806464121" name="Rectangle: Rounded Corners 25"/>
          <p:cNvSpPr/>
          <p:nvPr/>
        </p:nvSpPr>
        <p:spPr bwMode="auto">
          <a:xfrm>
            <a:off x="6054680" y="4262618"/>
            <a:ext cx="1049732" cy="322432"/>
          </a:xfrm>
          <a:prstGeom prst="roundRect">
            <a:avLst>
              <a:gd name="adj" fmla="val 16667"/>
            </a:avLst>
          </a:prstGeom>
          <a:noFill/>
          <a:ln w="12700">
            <a:solidFill>
              <a:srgbClr val="FF00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cxnSp>
        <p:nvCxnSpPr>
          <p:cNvPr id="931412175" name="Straight Connector 32"/>
          <p:cNvCxnSpPr/>
          <p:nvPr/>
        </p:nvCxnSpPr>
        <p:spPr bwMode="auto">
          <a:xfrm>
            <a:off x="6054680" y="4936800"/>
            <a:ext cx="498520" cy="0"/>
          </a:xfrm>
          <a:prstGeom prst="line">
            <a:avLst/>
          </a:prstGeom>
          <a:ln w="28575">
            <a:solidFill>
              <a:srgbClr val="FF00FF"/>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138821220">
                                            <p:txEl>
                                              <p:pRg st="0" end="0"/>
                                            </p:txEl>
                                          </p:spTgt>
                                        </p:tgtEl>
                                        <p:attrNameLst>
                                          <p:attrName>style.visibility</p:attrName>
                                        </p:attrNameLst>
                                      </p:cBhvr>
                                      <p:to>
                                        <p:strVal val="visible"/>
                                      </p:to>
                                    </p:set>
                                    <p:anim calcmode="lin" valueType="num">
                                      <p:cBhvr additive="base">
                                        <p:cTn id="7" dur="500" fill="hold"/>
                                        <p:tgtEl>
                                          <p:spTgt spid="113882122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38821220">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138821220">
                                            <p:txEl>
                                              <p:pRg st="1" end="1"/>
                                            </p:txEl>
                                          </p:spTgt>
                                        </p:tgtEl>
                                        <p:attrNameLst>
                                          <p:attrName>style.visibility</p:attrName>
                                        </p:attrNameLst>
                                      </p:cBhvr>
                                      <p:to>
                                        <p:strVal val="visible"/>
                                      </p:to>
                                    </p:set>
                                    <p:anim calcmode="lin" valueType="num">
                                      <p:cBhvr additive="base">
                                        <p:cTn id="11" dur="500" fill="hold"/>
                                        <p:tgtEl>
                                          <p:spTgt spid="113882122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38821220">
                                            <p:txEl>
                                              <p:pRg st="1" end="1"/>
                                            </p:tx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1138821220">
                                            <p:txEl>
                                              <p:pRg st="2" end="2"/>
                                            </p:txEl>
                                          </p:spTgt>
                                        </p:tgtEl>
                                        <p:attrNameLst>
                                          <p:attrName>style.visibility</p:attrName>
                                        </p:attrNameLst>
                                      </p:cBhvr>
                                      <p:to>
                                        <p:strVal val="visible"/>
                                      </p:to>
                                    </p:set>
                                    <p:anim calcmode="lin" valueType="num">
                                      <p:cBhvr additive="base">
                                        <p:cTn id="15" dur="500" fill="hold"/>
                                        <p:tgtEl>
                                          <p:spTgt spid="1138821220">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38821220">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15441348"/>
                                        </p:tgtEl>
                                        <p:attrNameLst>
                                          <p:attrName>style.visibility</p:attrName>
                                        </p:attrNameLst>
                                      </p:cBhvr>
                                      <p:to>
                                        <p:strVal val="visible"/>
                                      </p:to>
                                    </p:set>
                                    <p:animEffect transition="in" filter="wipe(left)">
                                      <p:cBhvr>
                                        <p:cTn id="21" dur="500"/>
                                        <p:tgtEl>
                                          <p:spTgt spid="91544134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51232701"/>
                                        </p:tgtEl>
                                        <p:attrNameLst>
                                          <p:attrName>style.visibility</p:attrName>
                                        </p:attrNameLst>
                                      </p:cBhvr>
                                      <p:to>
                                        <p:strVal val="visible"/>
                                      </p:to>
                                    </p:set>
                                    <p:animEffect transition="in" filter="wipe(left)">
                                      <p:cBhvr>
                                        <p:cTn id="26" dur="500"/>
                                        <p:tgtEl>
                                          <p:spTgt spid="55123270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96637711"/>
                                        </p:tgtEl>
                                        <p:attrNameLst>
                                          <p:attrName>style.visibility</p:attrName>
                                        </p:attrNameLst>
                                      </p:cBhvr>
                                      <p:to>
                                        <p:strVal val="visible"/>
                                      </p:to>
                                    </p:set>
                                    <p:animEffect transition="in" filter="wipe(left)">
                                      <p:cBhvr>
                                        <p:cTn id="31" dur="500"/>
                                        <p:tgtEl>
                                          <p:spTgt spid="49663771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225165123"/>
                                        </p:tgtEl>
                                        <p:attrNameLst>
                                          <p:attrName>style.visibility</p:attrName>
                                        </p:attrNameLst>
                                      </p:cBhvr>
                                      <p:to>
                                        <p:strVal val="visible"/>
                                      </p:to>
                                    </p:set>
                                    <p:animEffect transition="in" filter="wipe(left)">
                                      <p:cBhvr>
                                        <p:cTn id="36" dur="500"/>
                                        <p:tgtEl>
                                          <p:spTgt spid="122516512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78913584"/>
                                        </p:tgtEl>
                                        <p:attrNameLst>
                                          <p:attrName>style.visibility</p:attrName>
                                        </p:attrNameLst>
                                      </p:cBhvr>
                                      <p:to>
                                        <p:strVal val="visible"/>
                                      </p:to>
                                    </p:set>
                                    <p:animEffect transition="in" filter="wipe(left)">
                                      <p:cBhvr>
                                        <p:cTn id="41" dur="500"/>
                                        <p:tgtEl>
                                          <p:spTgt spid="27891358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918482332"/>
                                        </p:tgtEl>
                                        <p:attrNameLst>
                                          <p:attrName>style.visibility</p:attrName>
                                        </p:attrNameLst>
                                      </p:cBhvr>
                                      <p:to>
                                        <p:strVal val="visible"/>
                                      </p:to>
                                    </p:set>
                                    <p:animEffect transition="in" filter="wipe(left)">
                                      <p:cBhvr>
                                        <p:cTn id="46" dur="500"/>
                                        <p:tgtEl>
                                          <p:spTgt spid="91848233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927898436"/>
                                        </p:tgtEl>
                                        <p:attrNameLst>
                                          <p:attrName>style.visibility</p:attrName>
                                        </p:attrNameLst>
                                      </p:cBhvr>
                                      <p:to>
                                        <p:strVal val="visible"/>
                                      </p:to>
                                    </p:set>
                                    <p:animEffect transition="in" filter="wipe(left)">
                                      <p:cBhvr>
                                        <p:cTn id="51" dur="500"/>
                                        <p:tgtEl>
                                          <p:spTgt spid="92789843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806464121"/>
                                        </p:tgtEl>
                                        <p:attrNameLst>
                                          <p:attrName>style.visibility</p:attrName>
                                        </p:attrNameLst>
                                      </p:cBhvr>
                                      <p:to>
                                        <p:strVal val="visible"/>
                                      </p:to>
                                    </p:set>
                                    <p:animEffect transition="in" filter="wipe(left)">
                                      <p:cBhvr>
                                        <p:cTn id="56" dur="500"/>
                                        <p:tgtEl>
                                          <p:spTgt spid="806464121"/>
                                        </p:tgtEl>
                                      </p:cBhvr>
                                    </p:animEffect>
                                  </p:childTnLst>
                                </p:cTn>
                              </p:par>
                              <p:par>
                                <p:cTn id="57" presetID="22" presetClass="entr" presetSubtype="2" fill="hold" grpId="0" nodeType="withEffect">
                                  <p:stCondLst>
                                    <p:cond delay="0"/>
                                  </p:stCondLst>
                                  <p:childTnLst>
                                    <p:set>
                                      <p:cBhvr>
                                        <p:cTn id="58" dur="1" fill="hold">
                                          <p:stCondLst>
                                            <p:cond delay="0"/>
                                          </p:stCondLst>
                                        </p:cTn>
                                        <p:tgtEl>
                                          <p:spTgt spid="1416391795"/>
                                        </p:tgtEl>
                                        <p:attrNameLst>
                                          <p:attrName>style.visibility</p:attrName>
                                        </p:attrNameLst>
                                      </p:cBhvr>
                                      <p:to>
                                        <p:strVal val="visible"/>
                                      </p:to>
                                    </p:set>
                                    <p:animEffect transition="in" filter="wipe(right)">
                                      <p:cBhvr>
                                        <p:cTn id="59" dur="500"/>
                                        <p:tgtEl>
                                          <p:spTgt spid="1416391795"/>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937335416"/>
                                        </p:tgtEl>
                                        <p:attrNameLst>
                                          <p:attrName>style.visibility</p:attrName>
                                        </p:attrNameLst>
                                      </p:cBhvr>
                                      <p:to>
                                        <p:strVal val="visible"/>
                                      </p:to>
                                    </p:set>
                                    <p:animEffect transition="in" filter="wipe(left)">
                                      <p:cBhvr>
                                        <p:cTn id="64" dur="500"/>
                                        <p:tgtEl>
                                          <p:spTgt spid="937335416"/>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931412175"/>
                                        </p:tgtEl>
                                        <p:attrNameLst>
                                          <p:attrName>style.visibility</p:attrName>
                                        </p:attrNameLst>
                                      </p:cBhvr>
                                      <p:to>
                                        <p:strVal val="visible"/>
                                      </p:to>
                                    </p:set>
                                    <p:animEffect transition="in" filter="wipe(left)">
                                      <p:cBhvr>
                                        <p:cTn id="69" dur="500"/>
                                        <p:tgtEl>
                                          <p:spTgt spid="931412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8821220" grpId="0" build="p"/>
      <p:bldP spid="915441348" grpId="0"/>
      <p:bldP spid="551232701" grpId="0" animBg="1"/>
      <p:bldP spid="1416391795" grpId="0" animBg="1"/>
      <p:bldP spid="278913584" grpId="0" animBg="1"/>
      <p:bldP spid="496637711" grpId="0" animBg="1"/>
      <p:bldP spid="1225165123" grpId="0" animBg="1"/>
      <p:bldP spid="918482332" grpId="0" animBg="1"/>
      <p:bldP spid="927898436" grpId="0" animBg="1"/>
      <p:bldP spid="806464121" grpId="0" animBg="1"/>
    </p:bldLst>
  </p:timing>
</p:sld>
</file>

<file path=ppt/slides/slide10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1006868" name="Google Shape;1501;p89"/>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106</a:t>
            </a:fld>
            <a:endParaRPr/>
          </a:p>
        </p:txBody>
      </p:sp>
      <p:sp>
        <p:nvSpPr>
          <p:cNvPr id="820464895" name="Google Shape;1502;p89"/>
          <p:cNvSpPr txBox="1"/>
          <p:nvPr/>
        </p:nvSpPr>
        <p:spPr bwMode="auto">
          <a:xfrm>
            <a:off x="685800" y="750150"/>
            <a:ext cx="7010399" cy="715961"/>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Communication Management</a:t>
            </a:r>
            <a:endParaRPr sz="4000" b="1">
              <a:solidFill>
                <a:schemeClr val="dk1"/>
              </a:solidFill>
              <a:latin typeface="Calibri"/>
              <a:ea typeface="Calibri"/>
              <a:cs typeface="Calibri"/>
            </a:endParaRPr>
          </a:p>
        </p:txBody>
      </p:sp>
      <p:sp>
        <p:nvSpPr>
          <p:cNvPr id="1052881071" name="Google Shape;1503;p89"/>
          <p:cNvSpPr txBox="1"/>
          <p:nvPr/>
        </p:nvSpPr>
        <p:spPr bwMode="auto">
          <a:xfrm>
            <a:off x="723028" y="135188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95096188" name="Google Shape;1504;p89"/>
          <p:cNvCxnSpPr/>
          <p:nvPr/>
        </p:nvCxnSpPr>
        <p:spPr bwMode="auto">
          <a:xfrm rot="10800000">
            <a:off x="838200" y="1825399"/>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252844161" name="Google Shape;1505;p89"/>
          <p:cNvSpPr txBox="1">
            <a:spLocks noGrp="1"/>
          </p:cNvSpPr>
          <p:nvPr>
            <p:ph type="body" idx="1"/>
          </p:nvPr>
        </p:nvSpPr>
        <p:spPr bwMode="auto">
          <a:xfrm>
            <a:off x="8234061" y="1416149"/>
            <a:ext cx="3957939" cy="3062861"/>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None/>
              <a:defRPr/>
            </a:pPr>
            <a:r>
              <a:rPr lang="en-US" sz="1800" b="1"/>
              <a:t>2. </a:t>
            </a:r>
            <a:r>
              <a:rPr lang="en-US" sz="2000" b="1">
                <a:solidFill>
                  <a:srgbClr val="FF0000"/>
                </a:solidFill>
              </a:rPr>
              <a:t>Manage Communications</a:t>
            </a:r>
            <a:endParaRPr sz="2000">
              <a:solidFill>
                <a:srgbClr val="FF0000"/>
              </a:solidFill>
            </a:endParaRPr>
          </a:p>
          <a:p>
            <a:pPr marL="685800" lvl="1" indent="-228600" algn="l" rtl="0">
              <a:lnSpc>
                <a:spcPct val="90000"/>
              </a:lnSpc>
              <a:spcBef>
                <a:spcPts val="500"/>
              </a:spcBef>
              <a:spcAft>
                <a:spcPts val="0"/>
              </a:spcAft>
              <a:buClr>
                <a:schemeClr val="dk1"/>
              </a:buClr>
              <a:buSzPts val="2400"/>
              <a:buChar char="•"/>
              <a:defRPr/>
            </a:pPr>
            <a:r>
              <a:rPr lang="en-US" sz="1800"/>
              <a:t>Create, </a:t>
            </a:r>
            <a:r>
              <a:rPr lang="en-US" sz="1800" b="1"/>
              <a:t>collect, disseminate</a:t>
            </a:r>
            <a:r>
              <a:rPr lang="en-US" sz="1800"/>
              <a:t>, </a:t>
            </a:r>
            <a:r>
              <a:rPr lang="en-US" sz="1800" b="1"/>
              <a:t>store</a:t>
            </a:r>
            <a:r>
              <a:rPr lang="en-US" sz="1800"/>
              <a:t>, retrieve, and ultimately </a:t>
            </a:r>
            <a:r>
              <a:rPr lang="en-US" sz="1800">
                <a:solidFill>
                  <a:schemeClr val="tx1"/>
                </a:solidFill>
              </a:rPr>
              <a:t>dispose </a:t>
            </a:r>
            <a:r>
              <a:rPr lang="en-US" sz="1800" b="1">
                <a:solidFill>
                  <a:schemeClr val="tx1"/>
                </a:solidFill>
              </a:rPr>
              <a:t>project information </a:t>
            </a:r>
            <a:r>
              <a:rPr lang="en-US" sz="1800" b="1" u="sng">
                <a:solidFill>
                  <a:schemeClr val="tx1"/>
                </a:solidFill>
              </a:rPr>
              <a:t>according</a:t>
            </a:r>
            <a:r>
              <a:rPr lang="en-US" sz="1800" b="1">
                <a:solidFill>
                  <a:schemeClr val="tx1"/>
                </a:solidFill>
              </a:rPr>
              <a:t> to the communication management plan</a:t>
            </a:r>
            <a:r>
              <a:rPr lang="en-US" sz="1800">
                <a:solidFill>
                  <a:schemeClr val="tx1"/>
                </a:solidFill>
              </a:rPr>
              <a:t>.</a:t>
            </a:r>
            <a:endParaRPr sz="1800">
              <a:solidFill>
                <a:schemeClr val="tx1"/>
              </a:solidFill>
            </a:endParaRPr>
          </a:p>
          <a:p>
            <a:pPr marL="685800" lvl="1" indent="-228600" algn="l" rtl="0">
              <a:lnSpc>
                <a:spcPct val="90000"/>
              </a:lnSpc>
              <a:spcBef>
                <a:spcPts val="500"/>
              </a:spcBef>
              <a:spcAft>
                <a:spcPts val="0"/>
              </a:spcAft>
              <a:buClr>
                <a:schemeClr val="dk1"/>
              </a:buClr>
              <a:buSzPts val="2400"/>
              <a:buChar char="•"/>
              <a:defRPr/>
            </a:pPr>
            <a:r>
              <a:rPr lang="en-US" sz="1800"/>
              <a:t>Key benefit: enables an efficient and effective communications flow between project stakeholders.</a:t>
            </a:r>
            <a:endParaRPr sz="1800"/>
          </a:p>
        </p:txBody>
      </p:sp>
      <p:grpSp>
        <p:nvGrpSpPr>
          <p:cNvPr id="1939147762" name="Google Shape;1489;p88"/>
          <p:cNvGrpSpPr/>
          <p:nvPr/>
        </p:nvGrpSpPr>
        <p:grpSpPr bwMode="auto">
          <a:xfrm>
            <a:off x="723028" y="1705827"/>
            <a:ext cx="6094213" cy="870346"/>
            <a:chOff x="0" y="43885"/>
            <a:chExt cx="6094213" cy="870346"/>
          </a:xfrm>
        </p:grpSpPr>
        <p:sp>
          <p:nvSpPr>
            <p:cNvPr id="3" name="Google Shape;1490;p88"/>
            <p:cNvSpPr/>
            <p:nvPr/>
          </p:nvSpPr>
          <p:spPr bwMode="auto">
            <a:xfrm>
              <a:off x="0" y="43885"/>
              <a:ext cx="2175867" cy="870346"/>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4" name="Google Shape;1491;p88"/>
            <p:cNvSpPr txBox="1"/>
            <p:nvPr/>
          </p:nvSpPr>
          <p:spPr bwMode="auto">
            <a:xfrm>
              <a:off x="435173" y="43885"/>
              <a:ext cx="1305521" cy="870346"/>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1">
                  <a:solidFill>
                    <a:schemeClr val="lt1"/>
                  </a:solidFill>
                  <a:latin typeface="Calibri"/>
                  <a:ea typeface="Calibri"/>
                  <a:cs typeface="Calibri"/>
                </a:rPr>
                <a:t>1.                             Plan </a:t>
              </a:r>
              <a:r>
                <a:rPr lang="en-US" sz="1300" b="1">
                  <a:solidFill>
                    <a:schemeClr val="lt1"/>
                  </a:solidFill>
                  <a:latin typeface="Calibri"/>
                  <a:ea typeface="Calibri"/>
                  <a:cs typeface="Calibri"/>
                </a:rPr>
                <a:t>Communications</a:t>
              </a:r>
              <a:r>
                <a:rPr lang="en-US" sz="1400" b="1">
                  <a:solidFill>
                    <a:schemeClr val="lt1"/>
                  </a:solidFill>
                  <a:latin typeface="Calibri"/>
                  <a:ea typeface="Calibri"/>
                  <a:cs typeface="Calibri"/>
                </a:rPr>
                <a:t> Management</a:t>
              </a:r>
              <a:endParaRPr/>
            </a:p>
          </p:txBody>
        </p:sp>
        <p:sp>
          <p:nvSpPr>
            <p:cNvPr id="5" name="Google Shape;1492;p88"/>
            <p:cNvSpPr/>
            <p:nvPr/>
          </p:nvSpPr>
          <p:spPr bwMode="auto">
            <a:xfrm>
              <a:off x="1960066" y="43885"/>
              <a:ext cx="2175867" cy="870346"/>
            </a:xfrm>
            <a:prstGeom prst="chevron">
              <a:avLst>
                <a:gd name="adj" fmla="val 50000"/>
              </a:avLst>
            </a:prstGeom>
            <a:solidFill>
              <a:srgbClr val="0070C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6" name="Google Shape;1493;p88"/>
            <p:cNvSpPr txBox="1"/>
            <p:nvPr/>
          </p:nvSpPr>
          <p:spPr bwMode="auto">
            <a:xfrm>
              <a:off x="2395239" y="43885"/>
              <a:ext cx="1305521" cy="870346"/>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2. </a:t>
              </a:r>
              <a:br>
                <a:rPr lang="en-US" sz="1400">
                  <a:solidFill>
                    <a:schemeClr val="lt1"/>
                  </a:solidFill>
                  <a:latin typeface="Calibri"/>
                  <a:ea typeface="Calibri"/>
                  <a:cs typeface="Calibri"/>
                </a:rPr>
              </a:br>
              <a:r>
                <a:rPr lang="en-US" sz="1400">
                  <a:solidFill>
                    <a:schemeClr val="lt1"/>
                  </a:solidFill>
                  <a:latin typeface="Calibri"/>
                  <a:ea typeface="Calibri"/>
                  <a:cs typeface="Calibri"/>
                </a:rPr>
                <a:t>Manage Communications</a:t>
              </a:r>
              <a:endParaRPr/>
            </a:p>
          </p:txBody>
        </p:sp>
        <p:sp>
          <p:nvSpPr>
            <p:cNvPr id="7" name="Google Shape;1494;p88"/>
            <p:cNvSpPr/>
            <p:nvPr/>
          </p:nvSpPr>
          <p:spPr bwMode="auto">
            <a:xfrm>
              <a:off x="3918346" y="43885"/>
              <a:ext cx="2175867" cy="870346"/>
            </a:xfrm>
            <a:prstGeom prst="chevron">
              <a:avLst>
                <a:gd name="adj" fmla="val 50000"/>
              </a:avLst>
            </a:prstGeom>
            <a:solidFill>
              <a:srgbClr val="0070C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8" name="Google Shape;1495;p88"/>
            <p:cNvSpPr txBox="1"/>
            <p:nvPr/>
          </p:nvSpPr>
          <p:spPr bwMode="auto">
            <a:xfrm>
              <a:off x="4353519" y="43885"/>
              <a:ext cx="1305521" cy="870346"/>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3.</a:t>
              </a:r>
              <a:br>
                <a:rPr lang="en-US" sz="1400">
                  <a:solidFill>
                    <a:schemeClr val="lt1"/>
                  </a:solidFill>
                  <a:latin typeface="Calibri"/>
                  <a:ea typeface="Calibri"/>
                  <a:cs typeface="Calibri"/>
                </a:rPr>
              </a:br>
              <a:r>
                <a:rPr lang="en-US" sz="1400">
                  <a:solidFill>
                    <a:schemeClr val="lt1"/>
                  </a:solidFill>
                  <a:latin typeface="Calibri"/>
                  <a:ea typeface="Calibri"/>
                  <a:cs typeface="Calibri"/>
                </a:rPr>
                <a:t>Control communications</a:t>
              </a:r>
              <a:endParaRPr/>
            </a:p>
          </p:txBody>
        </p:sp>
      </p:grpSp>
      <p:pic>
        <p:nvPicPr>
          <p:cNvPr id="1187618027" name="Google Shape;1496;p88"/>
          <p:cNvPicPr/>
          <p:nvPr/>
        </p:nvPicPr>
        <p:blipFill rotWithShape="1">
          <a:blip r:embed="rId3">
            <a:alphaModFix/>
          </a:blip>
          <a:srcRect l="1233" t="1970" r="611" b="1810"/>
          <a:stretch/>
        </p:blipFill>
        <p:spPr bwMode="auto">
          <a:xfrm>
            <a:off x="733188" y="2426491"/>
            <a:ext cx="7477760" cy="4338331"/>
          </a:xfrm>
          <a:prstGeom prst="rect">
            <a:avLst/>
          </a:prstGeom>
          <a:noFill/>
          <a:ln w="28575">
            <a:noFill/>
          </a:ln>
        </p:spPr>
      </p:pic>
      <p:sp>
        <p:nvSpPr>
          <p:cNvPr id="1570666092" name="Callout: Line 10"/>
          <p:cNvSpPr/>
          <p:nvPr/>
        </p:nvSpPr>
        <p:spPr bwMode="auto">
          <a:xfrm>
            <a:off x="8360880" y="2541292"/>
            <a:ext cx="3371335" cy="711544"/>
          </a:xfrm>
          <a:prstGeom prst="borderCallout1">
            <a:avLst>
              <a:gd name="adj1" fmla="val 36900"/>
              <a:gd name="adj2" fmla="val -1383"/>
              <a:gd name="adj3" fmla="val 217170"/>
              <a:gd name="adj4" fmla="val -63867"/>
            </a:avLst>
          </a:prstGeom>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800"/>
              <a:t>Project team </a:t>
            </a:r>
            <a:r>
              <a:rPr lang="en-US" sz="1800" b="1"/>
              <a:t>(Developers, QA team )</a:t>
            </a:r>
            <a:endParaRPr lang="en-GB" sz="1800" b="1"/>
          </a:p>
        </p:txBody>
      </p:sp>
      <p:sp>
        <p:nvSpPr>
          <p:cNvPr id="989730876" name="Callout: Line 11"/>
          <p:cNvSpPr/>
          <p:nvPr/>
        </p:nvSpPr>
        <p:spPr bwMode="auto">
          <a:xfrm>
            <a:off x="8360882" y="3451828"/>
            <a:ext cx="3664342" cy="1027182"/>
          </a:xfrm>
          <a:prstGeom prst="borderCallout1">
            <a:avLst>
              <a:gd name="adj1" fmla="val 36900"/>
              <a:gd name="adj2" fmla="val -1383"/>
              <a:gd name="adj3" fmla="val 140311"/>
              <a:gd name="adj4" fmla="val -56475"/>
            </a:avLst>
          </a:prstGeom>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defRPr/>
            </a:pPr>
            <a:r>
              <a:rPr lang="en-US" sz="1800"/>
              <a:t>SW Dev. Co. side (</a:t>
            </a:r>
            <a:r>
              <a:rPr lang="en-US" sz="1800"/>
              <a:t>e.g</a:t>
            </a:r>
            <a:r>
              <a:rPr lang="en-US" sz="1800"/>
              <a:t> CEO, PM)</a:t>
            </a:r>
            <a:endParaRPr/>
          </a:p>
          <a:p>
            <a:pPr>
              <a:defRPr/>
            </a:pPr>
            <a:r>
              <a:rPr lang="en-US" sz="1800"/>
              <a:t>Client side (</a:t>
            </a:r>
            <a:r>
              <a:rPr lang="en-US" sz="1800"/>
              <a:t>e.g</a:t>
            </a:r>
            <a:r>
              <a:rPr lang="en-US" sz="1800"/>
              <a:t> CEO, Dept </a:t>
            </a:r>
            <a:r>
              <a:rPr lang="en-US" sz="1800"/>
              <a:t>mgrs</a:t>
            </a:r>
            <a:r>
              <a:rPr lang="en-US" sz="1800"/>
              <a:t>, </a:t>
            </a:r>
            <a:r>
              <a:rPr lang="en-US" sz="1800"/>
              <a:t>etc</a:t>
            </a:r>
            <a:r>
              <a:rPr lang="en-US" sz="1800"/>
              <a:t>)</a:t>
            </a:r>
            <a:endParaRPr lang="en-GB" sz="1800"/>
          </a:p>
        </p:txBody>
      </p:sp>
      <p:sp>
        <p:nvSpPr>
          <p:cNvPr id="404886344" name="Callout: Line 12"/>
          <p:cNvSpPr/>
          <p:nvPr/>
        </p:nvSpPr>
        <p:spPr bwMode="auto">
          <a:xfrm>
            <a:off x="8360881" y="4662638"/>
            <a:ext cx="3371335" cy="1177545"/>
          </a:xfrm>
          <a:prstGeom prst="borderCallout1">
            <a:avLst>
              <a:gd name="adj1" fmla="val 36900"/>
              <a:gd name="adj2" fmla="val -1383"/>
              <a:gd name="adj3" fmla="val 81813"/>
              <a:gd name="adj4" fmla="val -66798"/>
            </a:avLst>
          </a:prstGeom>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en-US" sz="1800"/>
              <a:t>Means other relevant parties</a:t>
            </a:r>
            <a:endParaRPr/>
          </a:p>
        </p:txBody>
      </p:sp>
      <p:sp>
        <p:nvSpPr>
          <p:cNvPr id="1039846239" name="Rectangle: Rounded Corners 9"/>
          <p:cNvSpPr/>
          <p:nvPr/>
        </p:nvSpPr>
        <p:spPr bwMode="auto">
          <a:xfrm>
            <a:off x="657868" y="4320566"/>
            <a:ext cx="3983504" cy="374106"/>
          </a:xfrm>
          <a:prstGeom prst="roundRect">
            <a:avLst>
              <a:gd name="adj" fmla="val 16667"/>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2039796493" name="Rectangle: Rounded Corners 14"/>
          <p:cNvSpPr/>
          <p:nvPr/>
        </p:nvSpPr>
        <p:spPr bwMode="auto">
          <a:xfrm>
            <a:off x="657868" y="3893209"/>
            <a:ext cx="3983505" cy="374106"/>
          </a:xfrm>
          <a:prstGeom prst="roundRect">
            <a:avLst>
              <a:gd name="adj" fmla="val 16667"/>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1945916105" name="Rectangle: Rounded Corners 15"/>
          <p:cNvSpPr/>
          <p:nvPr/>
        </p:nvSpPr>
        <p:spPr bwMode="auto">
          <a:xfrm>
            <a:off x="655564" y="4778066"/>
            <a:ext cx="3983504" cy="637269"/>
          </a:xfrm>
          <a:prstGeom prst="roundRect">
            <a:avLst>
              <a:gd name="adj" fmla="val 16667"/>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273345634" name="Rectangle: Rounded Corners 16"/>
          <p:cNvSpPr/>
          <p:nvPr/>
        </p:nvSpPr>
        <p:spPr bwMode="auto">
          <a:xfrm>
            <a:off x="657868" y="5498729"/>
            <a:ext cx="3983504" cy="876985"/>
          </a:xfrm>
          <a:prstGeom prst="roundRect">
            <a:avLst>
              <a:gd name="adj" fmla="val 16667"/>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235006238" name="Rectangle: Rounded Corners 13"/>
          <p:cNvSpPr/>
          <p:nvPr/>
        </p:nvSpPr>
        <p:spPr bwMode="auto">
          <a:xfrm>
            <a:off x="5076548" y="2830969"/>
            <a:ext cx="1427770" cy="947401"/>
          </a:xfrm>
          <a:prstGeom prst="roundRect">
            <a:avLst>
              <a:gd name="adj" fmla="val 16667"/>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252844161">
                                            <p:txEl>
                                              <p:pRg st="0" end="0"/>
                                            </p:txEl>
                                          </p:spTgt>
                                        </p:tgtEl>
                                        <p:attrNameLst>
                                          <p:attrName>style.visibility</p:attrName>
                                        </p:attrNameLst>
                                      </p:cBhvr>
                                      <p:to>
                                        <p:strVal val="visible"/>
                                      </p:to>
                                    </p:set>
                                    <p:anim calcmode="lin" valueType="num">
                                      <p:cBhvr additive="base">
                                        <p:cTn id="7" dur="500" fill="hold"/>
                                        <p:tgtEl>
                                          <p:spTgt spid="25284416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2844161">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252844161">
                                            <p:txEl>
                                              <p:pRg st="1" end="1"/>
                                            </p:txEl>
                                          </p:spTgt>
                                        </p:tgtEl>
                                        <p:attrNameLst>
                                          <p:attrName>style.visibility</p:attrName>
                                        </p:attrNameLst>
                                      </p:cBhvr>
                                      <p:to>
                                        <p:strVal val="visible"/>
                                      </p:to>
                                    </p:set>
                                    <p:anim calcmode="lin" valueType="num">
                                      <p:cBhvr additive="base">
                                        <p:cTn id="11" dur="500" fill="hold"/>
                                        <p:tgtEl>
                                          <p:spTgt spid="25284416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52844161">
                                            <p:txEl>
                                              <p:pRg st="1" end="1"/>
                                            </p:tx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252844161">
                                            <p:txEl>
                                              <p:pRg st="2" end="2"/>
                                            </p:txEl>
                                          </p:spTgt>
                                        </p:tgtEl>
                                        <p:attrNameLst>
                                          <p:attrName>style.visibility</p:attrName>
                                        </p:attrNameLst>
                                      </p:cBhvr>
                                      <p:to>
                                        <p:strVal val="visible"/>
                                      </p:to>
                                    </p:set>
                                    <p:anim calcmode="lin" valueType="num">
                                      <p:cBhvr additive="base">
                                        <p:cTn id="15" dur="500" fill="hold"/>
                                        <p:tgtEl>
                                          <p:spTgt spid="25284416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52844161">
                                            <p:txEl>
                                              <p:pRg st="2" end="2"/>
                                            </p:txEl>
                                          </p:spTgt>
                                        </p:tgtEl>
                                        <p:attrNameLst>
                                          <p:attrName>ppt_y</p:attrName>
                                        </p:attrNameLst>
                                      </p:cBhvr>
                                      <p:tavLst>
                                        <p:tav tm="0">
                                          <p:val>
                                            <p:strVal val="0-#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039796493"/>
                                        </p:tgtEl>
                                        <p:attrNameLst>
                                          <p:attrName>style.visibility</p:attrName>
                                        </p:attrNameLst>
                                      </p:cBhvr>
                                      <p:to>
                                        <p:strVal val="visible"/>
                                      </p:to>
                                    </p:set>
                                    <p:animEffect transition="in" filter="wipe(left)">
                                      <p:cBhvr>
                                        <p:cTn id="21" dur="500"/>
                                        <p:tgtEl>
                                          <p:spTgt spid="203979649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39846239"/>
                                        </p:tgtEl>
                                        <p:attrNameLst>
                                          <p:attrName>style.visibility</p:attrName>
                                        </p:attrNameLst>
                                      </p:cBhvr>
                                      <p:to>
                                        <p:strVal val="visible"/>
                                      </p:to>
                                    </p:set>
                                    <p:animEffect transition="in" filter="wipe(left)">
                                      <p:cBhvr>
                                        <p:cTn id="26" dur="500"/>
                                        <p:tgtEl>
                                          <p:spTgt spid="103984623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945916105"/>
                                        </p:tgtEl>
                                        <p:attrNameLst>
                                          <p:attrName>style.visibility</p:attrName>
                                        </p:attrNameLst>
                                      </p:cBhvr>
                                      <p:to>
                                        <p:strVal val="visible"/>
                                      </p:to>
                                    </p:set>
                                    <p:animEffect transition="in" filter="wipe(left)">
                                      <p:cBhvr>
                                        <p:cTn id="31" dur="500"/>
                                        <p:tgtEl>
                                          <p:spTgt spid="194591610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73345634"/>
                                        </p:tgtEl>
                                        <p:attrNameLst>
                                          <p:attrName>style.visibility</p:attrName>
                                        </p:attrNameLst>
                                      </p:cBhvr>
                                      <p:to>
                                        <p:strVal val="visible"/>
                                      </p:to>
                                    </p:set>
                                    <p:animEffect transition="in" filter="wipe(left)">
                                      <p:cBhvr>
                                        <p:cTn id="36" dur="500"/>
                                        <p:tgtEl>
                                          <p:spTgt spid="27334563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35006238"/>
                                        </p:tgtEl>
                                        <p:attrNameLst>
                                          <p:attrName>style.visibility</p:attrName>
                                        </p:attrNameLst>
                                      </p:cBhvr>
                                      <p:to>
                                        <p:strVal val="visible"/>
                                      </p:to>
                                    </p:set>
                                    <p:animEffect transition="in" filter="wipe(left)">
                                      <p:cBhvr>
                                        <p:cTn id="41" dur="500"/>
                                        <p:tgtEl>
                                          <p:spTgt spid="23500623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grpId="0" nodeType="clickEffect">
                                  <p:stCondLst>
                                    <p:cond delay="0"/>
                                  </p:stCondLst>
                                  <p:childTnLst>
                                    <p:set>
                                      <p:cBhvr>
                                        <p:cTn id="45" dur="1" fill="hold">
                                          <p:stCondLst>
                                            <p:cond delay="0"/>
                                          </p:stCondLst>
                                        </p:cTn>
                                        <p:tgtEl>
                                          <p:spTgt spid="1570666092"/>
                                        </p:tgtEl>
                                        <p:attrNameLst>
                                          <p:attrName>style.visibility</p:attrName>
                                        </p:attrNameLst>
                                      </p:cBhvr>
                                      <p:to>
                                        <p:strVal val="visible"/>
                                      </p:to>
                                    </p:set>
                                    <p:animEffect transition="in" filter="wipe(right)">
                                      <p:cBhvr>
                                        <p:cTn id="46" dur="500"/>
                                        <p:tgtEl>
                                          <p:spTgt spid="157066609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grpId="0" nodeType="clickEffect">
                                  <p:stCondLst>
                                    <p:cond delay="0"/>
                                  </p:stCondLst>
                                  <p:childTnLst>
                                    <p:set>
                                      <p:cBhvr>
                                        <p:cTn id="50" dur="1" fill="hold">
                                          <p:stCondLst>
                                            <p:cond delay="0"/>
                                          </p:stCondLst>
                                        </p:cTn>
                                        <p:tgtEl>
                                          <p:spTgt spid="989730876"/>
                                        </p:tgtEl>
                                        <p:attrNameLst>
                                          <p:attrName>style.visibility</p:attrName>
                                        </p:attrNameLst>
                                      </p:cBhvr>
                                      <p:to>
                                        <p:strVal val="visible"/>
                                      </p:to>
                                    </p:set>
                                    <p:animEffect transition="in" filter="wipe(right)">
                                      <p:cBhvr>
                                        <p:cTn id="51" dur="500"/>
                                        <p:tgtEl>
                                          <p:spTgt spid="98973087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2" fill="hold" grpId="0" nodeType="clickEffect">
                                  <p:stCondLst>
                                    <p:cond delay="0"/>
                                  </p:stCondLst>
                                  <p:childTnLst>
                                    <p:set>
                                      <p:cBhvr>
                                        <p:cTn id="55" dur="1" fill="hold">
                                          <p:stCondLst>
                                            <p:cond delay="0"/>
                                          </p:stCondLst>
                                        </p:cTn>
                                        <p:tgtEl>
                                          <p:spTgt spid="404886344"/>
                                        </p:tgtEl>
                                        <p:attrNameLst>
                                          <p:attrName>style.visibility</p:attrName>
                                        </p:attrNameLst>
                                      </p:cBhvr>
                                      <p:to>
                                        <p:strVal val="visible"/>
                                      </p:to>
                                    </p:set>
                                    <p:animEffect transition="in" filter="wipe(right)">
                                      <p:cBhvr>
                                        <p:cTn id="56" dur="500"/>
                                        <p:tgtEl>
                                          <p:spTgt spid="404886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844161" grpId="0" uiExpand="1" build="p"/>
      <p:bldP spid="1570666092" grpId="0" animBg="1"/>
      <p:bldP spid="989730876" grpId="0" animBg="1"/>
      <p:bldP spid="404886344" grpId="0" animBg="1"/>
      <p:bldP spid="1039846239" grpId="0" animBg="1"/>
      <p:bldP spid="2039796493" grpId="0" animBg="1"/>
      <p:bldP spid="1945916105" grpId="0" animBg="1"/>
      <p:bldP spid="273345634" grpId="0" animBg="1"/>
      <p:bldP spid="235006238" grpId="0" animBg="1"/>
    </p:bldLst>
  </p:timing>
</p:sld>
</file>

<file path=ppt/slides/slide10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24024526" name="Google Shape;1517;p90"/>
          <p:cNvSpPr txBox="1">
            <a:spLocks noGrp="1"/>
          </p:cNvSpPr>
          <p:nvPr>
            <p:ph type="sldNum" idx="12"/>
          </p:nvPr>
        </p:nvSpPr>
        <p:spPr bwMode="auto">
          <a:xfrm>
            <a:off x="9146054" y="6332028"/>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107</a:t>
            </a:fld>
            <a:endParaRPr/>
          </a:p>
        </p:txBody>
      </p:sp>
      <p:sp>
        <p:nvSpPr>
          <p:cNvPr id="1444537002" name="Google Shape;1518;p90"/>
          <p:cNvSpPr txBox="1"/>
          <p:nvPr/>
        </p:nvSpPr>
        <p:spPr bwMode="auto">
          <a:xfrm>
            <a:off x="685800" y="750150"/>
            <a:ext cx="7010399" cy="715961"/>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Communication Management</a:t>
            </a:r>
            <a:endParaRPr sz="4000" b="1">
              <a:solidFill>
                <a:schemeClr val="dk1"/>
              </a:solidFill>
              <a:latin typeface="Calibri"/>
              <a:ea typeface="Calibri"/>
              <a:cs typeface="Calibri"/>
            </a:endParaRPr>
          </a:p>
        </p:txBody>
      </p:sp>
      <p:sp>
        <p:nvSpPr>
          <p:cNvPr id="1637568830" name="Google Shape;1519;p90"/>
          <p:cNvSpPr txBox="1"/>
          <p:nvPr/>
        </p:nvSpPr>
        <p:spPr bwMode="auto">
          <a:xfrm>
            <a:off x="723028" y="135188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591311406" name="Google Shape;1520;p90"/>
          <p:cNvCxnSpPr/>
          <p:nvPr/>
        </p:nvCxnSpPr>
        <p:spPr bwMode="auto">
          <a:xfrm rot="10800000">
            <a:off x="838200" y="1825399"/>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161247420" name="Google Shape;1521;p90"/>
          <p:cNvSpPr txBox="1">
            <a:spLocks noGrp="1"/>
          </p:cNvSpPr>
          <p:nvPr>
            <p:ph type="body" idx="1"/>
          </p:nvPr>
        </p:nvSpPr>
        <p:spPr bwMode="auto">
          <a:xfrm>
            <a:off x="7865534" y="1045950"/>
            <a:ext cx="4268869" cy="513417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None/>
              <a:defRPr/>
            </a:pPr>
            <a:r>
              <a:rPr lang="en-US" sz="2000" b="1">
                <a:solidFill>
                  <a:srgbClr val="FF0000"/>
                </a:solidFill>
              </a:rPr>
              <a:t>3. Control Communications</a:t>
            </a:r>
            <a:endParaRPr sz="2000">
              <a:solidFill>
                <a:srgbClr val="FF0000"/>
              </a:solidFill>
            </a:endParaRPr>
          </a:p>
          <a:p>
            <a:pPr marL="685800" lvl="1" indent="-228600" algn="l" rtl="0">
              <a:lnSpc>
                <a:spcPct val="90000"/>
              </a:lnSpc>
              <a:spcBef>
                <a:spcPts val="500"/>
              </a:spcBef>
              <a:spcAft>
                <a:spcPts val="0"/>
              </a:spcAft>
              <a:buClr>
                <a:schemeClr val="dk1"/>
              </a:buClr>
              <a:buSzPts val="2400"/>
              <a:buChar char="•"/>
              <a:defRPr/>
            </a:pPr>
            <a:r>
              <a:rPr lang="en-US" sz="2000">
                <a:solidFill>
                  <a:schemeClr val="tx1"/>
                </a:solidFill>
              </a:rPr>
              <a:t>Monitor and control communications throughout the entire project life cycle </a:t>
            </a:r>
            <a:r>
              <a:rPr lang="en-US" sz="2000" b="1">
                <a:solidFill>
                  <a:srgbClr val="FF0000"/>
                </a:solidFill>
              </a:rPr>
              <a:t>to ensure the information needs of project stakeholders are met.</a:t>
            </a:r>
            <a:endParaRPr/>
          </a:p>
          <a:p>
            <a:pPr marL="685800" lvl="1" indent="-228600" algn="l" rtl="0">
              <a:lnSpc>
                <a:spcPct val="90000"/>
              </a:lnSpc>
              <a:spcBef>
                <a:spcPts val="500"/>
              </a:spcBef>
              <a:spcAft>
                <a:spcPts val="0"/>
              </a:spcAft>
              <a:buClr>
                <a:schemeClr val="dk1"/>
              </a:buClr>
              <a:buSzPts val="2400"/>
              <a:buChar char="•"/>
              <a:defRPr/>
            </a:pPr>
            <a:endParaRPr lang="en-MY" sz="2000" b="1">
              <a:solidFill>
                <a:srgbClr val="FF0000"/>
              </a:solidFill>
            </a:endParaRPr>
          </a:p>
          <a:p>
            <a:pPr marL="720724" lvl="1" indent="0" algn="l" rtl="0">
              <a:lnSpc>
                <a:spcPct val="90000"/>
              </a:lnSpc>
              <a:spcBef>
                <a:spcPts val="500"/>
              </a:spcBef>
              <a:spcAft>
                <a:spcPts val="0"/>
              </a:spcAft>
              <a:buClr>
                <a:schemeClr val="dk1"/>
              </a:buClr>
              <a:buSzPts val="2400"/>
              <a:buNone/>
              <a:defRPr/>
            </a:pPr>
            <a:r>
              <a:rPr lang="en-MY" sz="2000" b="1">
                <a:solidFill>
                  <a:schemeClr val="tx1"/>
                </a:solidFill>
              </a:rPr>
              <a:t>(</a:t>
            </a:r>
            <a:r>
              <a:rPr lang="en-MY" sz="2000" b="1" u="sng">
                <a:solidFill>
                  <a:schemeClr val="tx1"/>
                </a:solidFill>
              </a:rPr>
              <a:t>note</a:t>
            </a:r>
            <a:r>
              <a:rPr lang="en-MY" sz="2000" b="1">
                <a:solidFill>
                  <a:schemeClr val="tx1"/>
                </a:solidFill>
              </a:rPr>
              <a:t>: if some project stakeholders are no longer relevant to the project then these people should be removed from the audience list)</a:t>
            </a:r>
            <a:endParaRPr/>
          </a:p>
          <a:p>
            <a:pPr marL="720724" lvl="1" indent="0" algn="l" rtl="0">
              <a:lnSpc>
                <a:spcPct val="90000"/>
              </a:lnSpc>
              <a:spcBef>
                <a:spcPts val="500"/>
              </a:spcBef>
              <a:spcAft>
                <a:spcPts val="0"/>
              </a:spcAft>
              <a:buClr>
                <a:schemeClr val="dk1"/>
              </a:buClr>
              <a:buSzPts val="2400"/>
              <a:buNone/>
              <a:defRPr/>
            </a:pPr>
            <a:endParaRPr sz="2000" b="1">
              <a:solidFill>
                <a:schemeClr val="tx1"/>
              </a:solidFill>
            </a:endParaRPr>
          </a:p>
          <a:p>
            <a:pPr marL="685800" lvl="1" indent="-228600" algn="l" rtl="0">
              <a:lnSpc>
                <a:spcPct val="90000"/>
              </a:lnSpc>
              <a:spcBef>
                <a:spcPts val="500"/>
              </a:spcBef>
              <a:spcAft>
                <a:spcPts val="0"/>
              </a:spcAft>
              <a:buClr>
                <a:schemeClr val="dk1"/>
              </a:buClr>
              <a:buSzPts val="2400"/>
              <a:buChar char="•"/>
              <a:defRPr/>
            </a:pPr>
            <a:r>
              <a:rPr lang="en-US" sz="2000"/>
              <a:t>Key benefit: ensures an optimal information flow among all communication participants, at any moment in time.</a:t>
            </a:r>
            <a:endParaRPr sz="2000"/>
          </a:p>
        </p:txBody>
      </p:sp>
      <p:grpSp>
        <p:nvGrpSpPr>
          <p:cNvPr id="907945446" name="Google Shape;1522;p90"/>
          <p:cNvGrpSpPr/>
          <p:nvPr/>
        </p:nvGrpSpPr>
        <p:grpSpPr bwMode="auto">
          <a:xfrm>
            <a:off x="838198" y="1705827"/>
            <a:ext cx="6094213" cy="870346"/>
            <a:chOff x="0" y="43885"/>
            <a:chExt cx="6094213" cy="870346"/>
          </a:xfrm>
        </p:grpSpPr>
        <p:sp>
          <p:nvSpPr>
            <p:cNvPr id="1523" name="Google Shape;1523;p90"/>
            <p:cNvSpPr/>
            <p:nvPr/>
          </p:nvSpPr>
          <p:spPr bwMode="auto">
            <a:xfrm>
              <a:off x="0" y="43885"/>
              <a:ext cx="2175867" cy="870346"/>
            </a:xfrm>
            <a:prstGeom prst="chevron">
              <a:avLst>
                <a:gd name="adj" fmla="val 50000"/>
              </a:avLst>
            </a:prstGeom>
            <a:solidFill>
              <a:srgbClr val="0070C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24" name="Google Shape;1524;p90"/>
            <p:cNvSpPr txBox="1"/>
            <p:nvPr/>
          </p:nvSpPr>
          <p:spPr bwMode="auto">
            <a:xfrm>
              <a:off x="435173" y="43885"/>
              <a:ext cx="1305521" cy="870346"/>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1.                             Plan Communications Management</a:t>
              </a:r>
              <a:endParaRPr/>
            </a:p>
          </p:txBody>
        </p:sp>
        <p:sp>
          <p:nvSpPr>
            <p:cNvPr id="1525" name="Google Shape;1525;p90"/>
            <p:cNvSpPr/>
            <p:nvPr/>
          </p:nvSpPr>
          <p:spPr bwMode="auto">
            <a:xfrm>
              <a:off x="1960066" y="43885"/>
              <a:ext cx="2175867" cy="870346"/>
            </a:xfrm>
            <a:prstGeom prst="chevron">
              <a:avLst>
                <a:gd name="adj" fmla="val 50000"/>
              </a:avLst>
            </a:prstGeom>
            <a:solidFill>
              <a:srgbClr val="0070C0"/>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26" name="Google Shape;1526;p90"/>
            <p:cNvSpPr txBox="1"/>
            <p:nvPr/>
          </p:nvSpPr>
          <p:spPr bwMode="auto">
            <a:xfrm>
              <a:off x="2395239" y="43885"/>
              <a:ext cx="1305521" cy="870346"/>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2. </a:t>
              </a:r>
              <a:br>
                <a:rPr lang="en-US" sz="1400">
                  <a:solidFill>
                    <a:schemeClr val="lt1"/>
                  </a:solidFill>
                  <a:latin typeface="Calibri"/>
                  <a:ea typeface="Calibri"/>
                  <a:cs typeface="Calibri"/>
                </a:rPr>
              </a:br>
              <a:r>
                <a:rPr lang="en-US" sz="1400">
                  <a:solidFill>
                    <a:schemeClr val="lt1"/>
                  </a:solidFill>
                  <a:latin typeface="Calibri"/>
                  <a:ea typeface="Calibri"/>
                  <a:cs typeface="Calibri"/>
                </a:rPr>
                <a:t>Manage Communications</a:t>
              </a:r>
              <a:endParaRPr/>
            </a:p>
          </p:txBody>
        </p:sp>
        <p:sp>
          <p:nvSpPr>
            <p:cNvPr id="1527" name="Google Shape;1527;p90"/>
            <p:cNvSpPr/>
            <p:nvPr/>
          </p:nvSpPr>
          <p:spPr bwMode="auto">
            <a:xfrm>
              <a:off x="3918346" y="43885"/>
              <a:ext cx="2175867" cy="870346"/>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28" name="Google Shape;1528;p90"/>
            <p:cNvSpPr txBox="1"/>
            <p:nvPr/>
          </p:nvSpPr>
          <p:spPr bwMode="auto">
            <a:xfrm>
              <a:off x="4353519" y="43885"/>
              <a:ext cx="1305521" cy="870346"/>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a:solidFill>
                    <a:schemeClr val="lt1"/>
                  </a:solidFill>
                  <a:latin typeface="Calibri"/>
                  <a:ea typeface="Calibri"/>
                  <a:cs typeface="Calibri"/>
                </a:rPr>
                <a:t>3.</a:t>
              </a:r>
              <a:br>
                <a:rPr lang="en-US" sz="1400">
                  <a:solidFill>
                    <a:schemeClr val="lt1"/>
                  </a:solidFill>
                  <a:latin typeface="Calibri"/>
                  <a:ea typeface="Calibri"/>
                  <a:cs typeface="Calibri"/>
                </a:rPr>
              </a:br>
              <a:r>
                <a:rPr lang="en-US" sz="1400">
                  <a:solidFill>
                    <a:schemeClr val="lt1"/>
                  </a:solidFill>
                  <a:latin typeface="Calibri"/>
                  <a:ea typeface="Calibri"/>
                  <a:cs typeface="Calibri"/>
                </a:rPr>
                <a:t>Control communications</a:t>
              </a:r>
              <a:endParaRPr/>
            </a:p>
          </p:txBody>
        </p:sp>
      </p:grpSp>
      <p:pic>
        <p:nvPicPr>
          <p:cNvPr id="927915426" name="Google Shape;1496;p88"/>
          <p:cNvPicPr/>
          <p:nvPr/>
        </p:nvPicPr>
        <p:blipFill rotWithShape="1">
          <a:blip r:embed="rId3">
            <a:alphaModFix/>
          </a:blip>
          <a:srcRect l="1233" t="1970" r="611" b="1810"/>
          <a:stretch/>
        </p:blipFill>
        <p:spPr bwMode="auto">
          <a:xfrm>
            <a:off x="733188" y="2426491"/>
            <a:ext cx="7477760" cy="4338331"/>
          </a:xfrm>
          <a:prstGeom prst="rect">
            <a:avLst/>
          </a:prstGeom>
          <a:noFill/>
          <a:ln w="28575">
            <a:solidFill>
              <a:schemeClr val="tx1"/>
            </a:solidFill>
          </a:ln>
        </p:spPr>
      </p:pic>
      <p:sp>
        <p:nvSpPr>
          <p:cNvPr id="1681343991" name="Rectangle 3"/>
          <p:cNvSpPr/>
          <p:nvPr/>
        </p:nvSpPr>
        <p:spPr bwMode="auto">
          <a:xfrm>
            <a:off x="3687417" y="4281828"/>
            <a:ext cx="1305521" cy="3905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1606434335" name="TextBox 5"/>
          <p:cNvSpPr txBox="1"/>
          <p:nvPr/>
        </p:nvSpPr>
        <p:spPr bwMode="auto">
          <a:xfrm>
            <a:off x="3773308" y="5352221"/>
            <a:ext cx="8115946" cy="707886"/>
          </a:xfrm>
          <a:prstGeom prst="rect">
            <a:avLst/>
          </a:prstGeom>
          <a:solidFill>
            <a:schemeClr val="bg1"/>
          </a:solidFill>
        </p:spPr>
        <p:txBody>
          <a:bodyPr wrap="square" rtlCol="0">
            <a:spAutoFit/>
          </a:bodyPr>
          <a:lstStyle/>
          <a:p>
            <a:pPr>
              <a:defRPr/>
            </a:pPr>
            <a:r>
              <a:rPr lang="en-US" sz="2000" b="1">
                <a:solidFill>
                  <a:srgbClr val="0000FF"/>
                </a:solidFill>
              </a:rPr>
              <a:t>The purpose of COMM MGMT. is to collect, disseminate and store of project information in a timely manner </a:t>
            </a:r>
            <a:endParaRPr lang="en-MY" sz="2000" b="1">
              <a:solidFill>
                <a:srgbClr val="0000FF"/>
              </a:solidFill>
            </a:endParaRPr>
          </a:p>
        </p:txBody>
      </p:sp>
      <p:sp>
        <p:nvSpPr>
          <p:cNvPr id="1949777125" name="Rectangle 1"/>
          <p:cNvSpPr/>
          <p:nvPr/>
        </p:nvSpPr>
        <p:spPr bwMode="auto">
          <a:xfrm>
            <a:off x="5087230" y="4281828"/>
            <a:ext cx="1305521" cy="39054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569229206" name="Rectangle 4"/>
          <p:cNvSpPr/>
          <p:nvPr/>
        </p:nvSpPr>
        <p:spPr bwMode="auto">
          <a:xfrm>
            <a:off x="619176" y="3859893"/>
            <a:ext cx="2956480" cy="2837260"/>
          </a:xfrm>
          <a:prstGeom prst="rect">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
        <p:nvSpPr>
          <p:cNvPr id="2102796295" name="TextBox 8"/>
          <p:cNvSpPr txBox="1"/>
          <p:nvPr/>
        </p:nvSpPr>
        <p:spPr bwMode="auto">
          <a:xfrm>
            <a:off x="3799765" y="5989267"/>
            <a:ext cx="4657311" cy="707886"/>
          </a:xfrm>
          <a:prstGeom prst="rect">
            <a:avLst/>
          </a:prstGeom>
          <a:noFill/>
        </p:spPr>
        <p:txBody>
          <a:bodyPr wrap="square" rtlCol="0">
            <a:spAutoFit/>
          </a:bodyPr>
          <a:lstStyle/>
          <a:p>
            <a:pPr>
              <a:defRPr/>
            </a:pPr>
            <a:r>
              <a:rPr lang="en-US" sz="2000" b="1">
                <a:solidFill>
                  <a:srgbClr val="0000FF"/>
                </a:solidFill>
              </a:rPr>
              <a:t>so that stakeholders don't have to guess the STATUS of a project.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161247420">
                                            <p:txEl>
                                              <p:pRg st="0" end="0"/>
                                            </p:txEl>
                                          </p:spTgt>
                                        </p:tgtEl>
                                        <p:attrNameLst>
                                          <p:attrName>style.visibility</p:attrName>
                                        </p:attrNameLst>
                                      </p:cBhvr>
                                      <p:to>
                                        <p:strVal val="visible"/>
                                      </p:to>
                                    </p:set>
                                    <p:anim calcmode="lin" valueType="num">
                                      <p:cBhvr additive="base">
                                        <p:cTn id="7" dur="500" fill="hold"/>
                                        <p:tgtEl>
                                          <p:spTgt spid="116124742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61247420">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161247420">
                                            <p:txEl>
                                              <p:pRg st="1" end="1"/>
                                            </p:txEl>
                                          </p:spTgt>
                                        </p:tgtEl>
                                        <p:attrNameLst>
                                          <p:attrName>style.visibility</p:attrName>
                                        </p:attrNameLst>
                                      </p:cBhvr>
                                      <p:to>
                                        <p:strVal val="visible"/>
                                      </p:to>
                                    </p:set>
                                    <p:anim calcmode="lin" valueType="num">
                                      <p:cBhvr additive="base">
                                        <p:cTn id="11" dur="500" fill="hold"/>
                                        <p:tgtEl>
                                          <p:spTgt spid="1161247420">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61247420">
                                            <p:txEl>
                                              <p:pRg st="1" end="1"/>
                                            </p:tx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1161247420">
                                            <p:txEl>
                                              <p:pRg st="3" end="3"/>
                                            </p:txEl>
                                          </p:spTgt>
                                        </p:tgtEl>
                                        <p:attrNameLst>
                                          <p:attrName>style.visibility</p:attrName>
                                        </p:attrNameLst>
                                      </p:cBhvr>
                                      <p:to>
                                        <p:strVal val="visible"/>
                                      </p:to>
                                    </p:set>
                                    <p:anim calcmode="lin" valueType="num">
                                      <p:cBhvr additive="base">
                                        <p:cTn id="15" dur="500" fill="hold"/>
                                        <p:tgtEl>
                                          <p:spTgt spid="1161247420">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61247420">
                                            <p:txEl>
                                              <p:pRg st="3" end="3"/>
                                            </p:txEl>
                                          </p:spTgt>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1161247420">
                                            <p:txEl>
                                              <p:pRg st="5" end="5"/>
                                            </p:txEl>
                                          </p:spTgt>
                                        </p:tgtEl>
                                        <p:attrNameLst>
                                          <p:attrName>style.visibility</p:attrName>
                                        </p:attrNameLst>
                                      </p:cBhvr>
                                      <p:to>
                                        <p:strVal val="visible"/>
                                      </p:to>
                                    </p:set>
                                    <p:anim calcmode="lin" valueType="num">
                                      <p:cBhvr additive="base">
                                        <p:cTn id="19" dur="500" fill="hold"/>
                                        <p:tgtEl>
                                          <p:spTgt spid="1161247420">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61247420">
                                            <p:txEl>
                                              <p:pRg st="5" end="5"/>
                                            </p:txEl>
                                          </p:spTgt>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681343991"/>
                                        </p:tgtEl>
                                        <p:attrNameLst>
                                          <p:attrName>style.visibility</p:attrName>
                                        </p:attrNameLst>
                                      </p:cBhvr>
                                      <p:to>
                                        <p:strVal val="visible"/>
                                      </p:to>
                                    </p:set>
                                    <p:animEffect transition="in" filter="wipe(left)">
                                      <p:cBhvr>
                                        <p:cTn id="25" dur="500"/>
                                        <p:tgtEl>
                                          <p:spTgt spid="1681343991"/>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949777125"/>
                                        </p:tgtEl>
                                        <p:attrNameLst>
                                          <p:attrName>style.visibility</p:attrName>
                                        </p:attrNameLst>
                                      </p:cBhvr>
                                      <p:to>
                                        <p:strVal val="visible"/>
                                      </p:to>
                                    </p:set>
                                    <p:animEffect transition="in" filter="wipe(left)">
                                      <p:cBhvr>
                                        <p:cTn id="28" dur="500"/>
                                        <p:tgtEl>
                                          <p:spTgt spid="194977712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606434335"/>
                                        </p:tgtEl>
                                        <p:attrNameLst>
                                          <p:attrName>style.visibility</p:attrName>
                                        </p:attrNameLst>
                                      </p:cBhvr>
                                      <p:to>
                                        <p:strVal val="visible"/>
                                      </p:to>
                                    </p:set>
                                    <p:animEffect transition="in" filter="wipe(left)">
                                      <p:cBhvr>
                                        <p:cTn id="33" dur="500"/>
                                        <p:tgtEl>
                                          <p:spTgt spid="160643433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569229206"/>
                                        </p:tgtEl>
                                        <p:attrNameLst>
                                          <p:attrName>style.visibility</p:attrName>
                                        </p:attrNameLst>
                                      </p:cBhvr>
                                      <p:to>
                                        <p:strVal val="visible"/>
                                      </p:to>
                                    </p:set>
                                    <p:animEffect transition="in" filter="wipe(left)">
                                      <p:cBhvr>
                                        <p:cTn id="36" dur="500"/>
                                        <p:tgtEl>
                                          <p:spTgt spid="569229206"/>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102796295"/>
                                        </p:tgtEl>
                                        <p:attrNameLst>
                                          <p:attrName>style.visibility</p:attrName>
                                        </p:attrNameLst>
                                      </p:cBhvr>
                                      <p:to>
                                        <p:strVal val="visible"/>
                                      </p:to>
                                    </p:set>
                                    <p:anim calcmode="lin" valueType="num">
                                      <p:cBhvr additive="base">
                                        <p:cTn id="41" dur="500" fill="hold"/>
                                        <p:tgtEl>
                                          <p:spTgt spid="2102796295"/>
                                        </p:tgtEl>
                                        <p:attrNameLst>
                                          <p:attrName>ppt_x</p:attrName>
                                        </p:attrNameLst>
                                      </p:cBhvr>
                                      <p:tavLst>
                                        <p:tav tm="0">
                                          <p:val>
                                            <p:strVal val="#ppt_x"/>
                                          </p:val>
                                        </p:tav>
                                        <p:tav tm="100000">
                                          <p:val>
                                            <p:strVal val="#ppt_x"/>
                                          </p:val>
                                        </p:tav>
                                      </p:tavLst>
                                    </p:anim>
                                    <p:anim calcmode="lin" valueType="num">
                                      <p:cBhvr additive="base">
                                        <p:cTn id="42" dur="500" fill="hold"/>
                                        <p:tgtEl>
                                          <p:spTgt spid="21027962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1247420" grpId="0" build="p"/>
      <p:bldP spid="1681343991" grpId="0" animBg="1"/>
      <p:bldP spid="1606434335" grpId="0" animBg="1"/>
      <p:bldP spid="1949777125" grpId="0" animBg="1"/>
      <p:bldP spid="569229206" grpId="0" animBg="1"/>
      <p:bldP spid="2102796295" grpId="0" animBg="1"/>
    </p:bldLst>
  </p:timing>
</p:sld>
</file>

<file path=ppt/slides/slide10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67128967" name="Google Shape;1533;p91"/>
          <p:cNvSpPr txBox="1">
            <a:spLocks noGrp="1"/>
          </p:cNvSpPr>
          <p:nvPr>
            <p:ph type="body" idx="1"/>
          </p:nvPr>
        </p:nvSpPr>
        <p:spPr bwMode="auto">
          <a:xfrm>
            <a:off x="3124200" y="2743199"/>
            <a:ext cx="8229600" cy="34337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defRPr/>
            </a:pPr>
            <a:r>
              <a:rPr lang="en-US"/>
              <a:t>6 major processes:</a:t>
            </a:r>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t>Plan Risk Management</a:t>
            </a:r>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t>Identify Risk</a:t>
            </a:r>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t>Perform Qualitative Risk Analysis</a:t>
            </a:r>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t>Perform Quantitative Risk Analysis</a:t>
            </a:r>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t>Plan Risk Response</a:t>
            </a:r>
            <a:endParaRPr/>
          </a:p>
          <a:p>
            <a:pPr marL="971550" lvl="1" indent="-514350" algn="l" rtl="0">
              <a:lnSpc>
                <a:spcPct val="90000"/>
              </a:lnSpc>
              <a:spcBef>
                <a:spcPts val="500"/>
              </a:spcBef>
              <a:spcAft>
                <a:spcPts val="0"/>
              </a:spcAft>
              <a:buClr>
                <a:schemeClr val="dk1"/>
              </a:buClr>
              <a:buSzPts val="2400"/>
              <a:buFont typeface="Times New Roman"/>
              <a:buAutoNum type="arabicPeriod"/>
              <a:defRPr/>
            </a:pPr>
            <a:r>
              <a:rPr lang="en-US"/>
              <a:t>Control Risk</a:t>
            </a:r>
            <a:endParaRPr/>
          </a:p>
          <a:p>
            <a:pPr marL="228600" lvl="0" indent="-50800" algn="l" rtl="0">
              <a:lnSpc>
                <a:spcPct val="90000"/>
              </a:lnSpc>
              <a:spcBef>
                <a:spcPts val="1000"/>
              </a:spcBef>
              <a:spcAft>
                <a:spcPts val="0"/>
              </a:spcAft>
              <a:buClr>
                <a:schemeClr val="dk1"/>
              </a:buClr>
              <a:buSzPts val="2800"/>
              <a:buNone/>
              <a:defRPr/>
            </a:pPr>
            <a:endParaRPr/>
          </a:p>
        </p:txBody>
      </p:sp>
      <p:sp>
        <p:nvSpPr>
          <p:cNvPr id="1047767336" name="Google Shape;1534;p9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108</a:t>
            </a:fld>
            <a:endParaRPr/>
          </a:p>
        </p:txBody>
      </p:sp>
      <p:pic>
        <p:nvPicPr>
          <p:cNvPr id="1561122531" name="Google Shape;1535;p91"/>
          <p:cNvPicPr/>
          <p:nvPr/>
        </p:nvPicPr>
        <p:blipFill rotWithShape="1">
          <a:blip r:embed="rId3">
            <a:alphaModFix/>
          </a:blip>
          <a:srcRect l="28148" t="0" r="45927" b="0"/>
          <a:stretch/>
        </p:blipFill>
        <p:spPr bwMode="auto">
          <a:xfrm>
            <a:off x="0" y="0"/>
            <a:ext cx="2667000" cy="6842113"/>
          </a:xfrm>
          <a:prstGeom prst="rect">
            <a:avLst/>
          </a:prstGeom>
          <a:noFill/>
          <a:ln>
            <a:noFill/>
          </a:ln>
        </p:spPr>
      </p:pic>
      <p:sp>
        <p:nvSpPr>
          <p:cNvPr id="11920470" name="Google Shape;1536;p91"/>
          <p:cNvSpPr txBox="1"/>
          <p:nvPr/>
        </p:nvSpPr>
        <p:spPr bwMode="auto">
          <a:xfrm>
            <a:off x="3086971" y="1074667"/>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Risk Management</a:t>
            </a:r>
            <a:endParaRPr sz="4000" b="1">
              <a:solidFill>
                <a:schemeClr val="dk1"/>
              </a:solidFill>
              <a:latin typeface="Calibri"/>
              <a:ea typeface="Calibri"/>
              <a:cs typeface="Calibri"/>
            </a:endParaRPr>
          </a:p>
        </p:txBody>
      </p:sp>
      <p:sp>
        <p:nvSpPr>
          <p:cNvPr id="2014534467" name="Google Shape;1537;p91"/>
          <p:cNvSpPr txBox="1"/>
          <p:nvPr/>
        </p:nvSpPr>
        <p:spPr bwMode="auto">
          <a:xfrm>
            <a:off x="3124200" y="16764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323763076" name="Google Shape;1538;p91"/>
          <p:cNvCxnSpPr/>
          <p:nvPr/>
        </p:nvCxnSpPr>
        <p:spPr bwMode="auto">
          <a:xfrm rot="10800000">
            <a:off x="3239372" y="2149915"/>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2126322495" name="TextBox 1"/>
          <p:cNvSpPr txBox="1"/>
          <p:nvPr/>
        </p:nvSpPr>
        <p:spPr bwMode="auto">
          <a:xfrm>
            <a:off x="11155680" y="6048573"/>
            <a:ext cx="858520" cy="307777"/>
          </a:xfrm>
          <a:prstGeom prst="rect">
            <a:avLst/>
          </a:prstGeom>
          <a:noFill/>
          <a:ln>
            <a:solidFill>
              <a:srgbClr val="FF0000"/>
            </a:solidFill>
          </a:ln>
        </p:spPr>
        <p:txBody>
          <a:bodyPr wrap="square" rtlCol="0">
            <a:spAutoFit/>
          </a:bodyPr>
          <a:lstStyle/>
          <a:p>
            <a:pPr>
              <a:defRPr/>
            </a:pPr>
            <a:r>
              <a:rPr lang="en-MY">
                <a:solidFill>
                  <a:srgbClr val="FF0000"/>
                </a:solidFill>
              </a:rPr>
              <a:t>S / Ch 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1920470"/>
                                        </p:tgtEl>
                                        <p:attrNameLst>
                                          <p:attrName>style.visibility</p:attrName>
                                        </p:attrNameLst>
                                      </p:cBhvr>
                                      <p:to>
                                        <p:strVal val="visible"/>
                                      </p:to>
                                    </p:set>
                                    <p:anim calcmode="lin" valueType="num">
                                      <p:cBhvr additive="base">
                                        <p:cTn id="7" dur="500" fill="hold"/>
                                        <p:tgtEl>
                                          <p:spTgt spid="11920470"/>
                                        </p:tgtEl>
                                        <p:attrNameLst>
                                          <p:attrName>ppt_x</p:attrName>
                                        </p:attrNameLst>
                                      </p:cBhvr>
                                      <p:tavLst>
                                        <p:tav tm="0">
                                          <p:val>
                                            <p:strVal val="#ppt_x"/>
                                          </p:val>
                                        </p:tav>
                                        <p:tav tm="100000">
                                          <p:val>
                                            <p:strVal val="#ppt_x"/>
                                          </p:val>
                                        </p:tav>
                                      </p:tavLst>
                                    </p:anim>
                                    <p:anim calcmode="lin" valueType="num">
                                      <p:cBhvr additive="base">
                                        <p:cTn id="8" dur="500" fill="hold"/>
                                        <p:tgtEl>
                                          <p:spTgt spid="1192047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20470" grpId="0"/>
    </p:bldLst>
  </p:timing>
</p:sld>
</file>

<file path=ppt/slides/slide10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79519829" name="Google Shape;1543;p92"/>
          <p:cNvSpPr txBox="1">
            <a:spLocks noGrp="1"/>
          </p:cNvSpPr>
          <p:nvPr>
            <p:ph type="body" idx="1"/>
          </p:nvPr>
        </p:nvSpPr>
        <p:spPr bwMode="auto">
          <a:xfrm>
            <a:off x="3124200" y="3733800"/>
            <a:ext cx="8382000" cy="2443162"/>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Font typeface="Calibri"/>
              <a:buNone/>
              <a:defRPr/>
            </a:pPr>
            <a:r>
              <a:rPr lang="en-US" b="1"/>
              <a:t>1. Plan Risk Management</a:t>
            </a:r>
            <a:endParaRPr/>
          </a:p>
          <a:p>
            <a:pPr marL="685800" lvl="1" indent="-228600" algn="l" rtl="0">
              <a:lnSpc>
                <a:spcPct val="90000"/>
              </a:lnSpc>
              <a:spcBef>
                <a:spcPts val="500"/>
              </a:spcBef>
              <a:spcAft>
                <a:spcPts val="0"/>
              </a:spcAft>
              <a:buClr>
                <a:schemeClr val="dk1"/>
              </a:buClr>
              <a:buSzPts val="2400"/>
              <a:buChar char="•"/>
              <a:defRPr/>
            </a:pPr>
            <a:r>
              <a:rPr lang="en-US"/>
              <a:t>Decide how to approach and plan the risk management activities for the project.</a:t>
            </a:r>
            <a:endParaRPr/>
          </a:p>
          <a:p>
            <a:pPr marL="685800" lvl="1" indent="-228600" algn="l" rtl="0">
              <a:lnSpc>
                <a:spcPct val="90000"/>
              </a:lnSpc>
              <a:spcBef>
                <a:spcPts val="500"/>
              </a:spcBef>
              <a:spcAft>
                <a:spcPts val="0"/>
              </a:spcAft>
              <a:buClr>
                <a:schemeClr val="dk1"/>
              </a:buClr>
              <a:buSzPts val="2400"/>
              <a:buChar char="•"/>
              <a:defRPr/>
            </a:pPr>
            <a:r>
              <a:rPr lang="en-US"/>
              <a:t>By reviewing the project scope statement; cost, schedule, and communications management plans; enterprise environmental factors; and organizational process assets</a:t>
            </a:r>
            <a:endParaRPr/>
          </a:p>
          <a:p>
            <a:pPr marL="685800" lvl="1" indent="-228600" algn="l" rtl="0">
              <a:lnSpc>
                <a:spcPct val="90000"/>
              </a:lnSpc>
              <a:spcBef>
                <a:spcPts val="500"/>
              </a:spcBef>
              <a:spcAft>
                <a:spcPts val="0"/>
              </a:spcAft>
              <a:buClr>
                <a:schemeClr val="dk1"/>
              </a:buClr>
              <a:buSzPts val="2400"/>
              <a:buChar char="•"/>
              <a:defRPr/>
            </a:pPr>
            <a:r>
              <a:rPr lang="en-US"/>
              <a:t>Main output: risk management plan</a:t>
            </a:r>
            <a:endParaRPr/>
          </a:p>
        </p:txBody>
      </p:sp>
      <p:sp>
        <p:nvSpPr>
          <p:cNvPr id="501509648" name="Google Shape;1544;p92"/>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109</a:t>
            </a:fld>
            <a:endParaRPr/>
          </a:p>
        </p:txBody>
      </p:sp>
      <p:pic>
        <p:nvPicPr>
          <p:cNvPr id="1513705734" name="Google Shape;1545;p92"/>
          <p:cNvPicPr/>
          <p:nvPr/>
        </p:nvPicPr>
        <p:blipFill rotWithShape="1">
          <a:blip r:embed="rId3">
            <a:alphaModFix/>
          </a:blip>
          <a:srcRect l="28148" t="0" r="45927" b="0"/>
          <a:stretch/>
        </p:blipFill>
        <p:spPr bwMode="auto">
          <a:xfrm>
            <a:off x="0" y="0"/>
            <a:ext cx="2667000" cy="6842113"/>
          </a:xfrm>
          <a:prstGeom prst="rect">
            <a:avLst/>
          </a:prstGeom>
          <a:noFill/>
          <a:ln>
            <a:noFill/>
          </a:ln>
        </p:spPr>
      </p:pic>
      <p:sp>
        <p:nvSpPr>
          <p:cNvPr id="503068585" name="Google Shape;1546;p92"/>
          <p:cNvSpPr txBox="1"/>
          <p:nvPr/>
        </p:nvSpPr>
        <p:spPr bwMode="auto">
          <a:xfrm>
            <a:off x="3086971" y="1074667"/>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Risk Management</a:t>
            </a:r>
            <a:endParaRPr sz="4000" b="1">
              <a:solidFill>
                <a:schemeClr val="dk1"/>
              </a:solidFill>
              <a:latin typeface="Calibri"/>
              <a:ea typeface="Calibri"/>
              <a:cs typeface="Calibri"/>
            </a:endParaRPr>
          </a:p>
        </p:txBody>
      </p:sp>
      <p:sp>
        <p:nvSpPr>
          <p:cNvPr id="1460632923" name="Google Shape;1547;p92"/>
          <p:cNvSpPr txBox="1"/>
          <p:nvPr/>
        </p:nvSpPr>
        <p:spPr bwMode="auto">
          <a:xfrm>
            <a:off x="3124200" y="16764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978663782" name="Google Shape;1548;p92"/>
          <p:cNvCxnSpPr/>
          <p:nvPr/>
        </p:nvCxnSpPr>
        <p:spPr bwMode="auto">
          <a:xfrm rot="10800000">
            <a:off x="3239372" y="2149915"/>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1463157838" name="Google Shape;1549;p92"/>
          <p:cNvGrpSpPr/>
          <p:nvPr/>
        </p:nvGrpSpPr>
        <p:grpSpPr bwMode="auto">
          <a:xfrm>
            <a:off x="3217376" y="2659367"/>
            <a:ext cx="8224728" cy="564981"/>
            <a:chOff x="2435" y="219193"/>
            <a:chExt cx="8224728" cy="564981"/>
          </a:xfrm>
        </p:grpSpPr>
        <p:sp>
          <p:nvSpPr>
            <p:cNvPr id="1550" name="Google Shape;1550;p92"/>
            <p:cNvSpPr/>
            <p:nvPr/>
          </p:nvSpPr>
          <p:spPr bwMode="auto">
            <a:xfrm>
              <a:off x="2435" y="219193"/>
              <a:ext cx="1412453" cy="564981"/>
            </a:xfrm>
            <a:prstGeom prst="homePlate">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51" name="Google Shape;1551;p92"/>
            <p:cNvSpPr txBox="1"/>
            <p:nvPr/>
          </p:nvSpPr>
          <p:spPr bwMode="auto">
            <a:xfrm>
              <a:off x="2435" y="219193"/>
              <a:ext cx="1271208" cy="564981"/>
            </a:xfrm>
            <a:prstGeom prst="rect">
              <a:avLst/>
            </a:prstGeom>
            <a:noFill/>
            <a:ln>
              <a:noFill/>
            </a:ln>
          </p:spPr>
          <p:txBody>
            <a:bodyPr spcFirstLastPara="1" wrap="square" lIns="64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1.                             Plan Risk Management</a:t>
              </a:r>
              <a:endParaRPr/>
            </a:p>
          </p:txBody>
        </p:sp>
        <p:sp>
          <p:nvSpPr>
            <p:cNvPr id="1552" name="Google Shape;1552;p92"/>
            <p:cNvSpPr/>
            <p:nvPr/>
          </p:nvSpPr>
          <p:spPr bwMode="auto">
            <a:xfrm>
              <a:off x="1132397" y="219193"/>
              <a:ext cx="1412453"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53" name="Google Shape;1553;p92"/>
            <p:cNvSpPr txBox="1"/>
            <p:nvPr/>
          </p:nvSpPr>
          <p:spPr bwMode="auto">
            <a:xfrm>
              <a:off x="1414888" y="219193"/>
              <a:ext cx="847472"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2.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Identify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Risk</a:t>
              </a:r>
              <a:endParaRPr/>
            </a:p>
          </p:txBody>
        </p:sp>
        <p:sp>
          <p:nvSpPr>
            <p:cNvPr id="1554" name="Google Shape;1554;p92"/>
            <p:cNvSpPr/>
            <p:nvPr/>
          </p:nvSpPr>
          <p:spPr bwMode="auto">
            <a:xfrm>
              <a:off x="2262360" y="219193"/>
              <a:ext cx="2029709"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55" name="Google Shape;1555;p92"/>
            <p:cNvSpPr txBox="1"/>
            <p:nvPr/>
          </p:nvSpPr>
          <p:spPr bwMode="auto">
            <a:xfrm>
              <a:off x="2544851" y="219193"/>
              <a:ext cx="1464728"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3.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Perform Qualitative Risk Analysis</a:t>
              </a:r>
              <a:endParaRPr/>
            </a:p>
          </p:txBody>
        </p:sp>
        <p:sp>
          <p:nvSpPr>
            <p:cNvPr id="1556" name="Google Shape;1556;p92"/>
            <p:cNvSpPr/>
            <p:nvPr/>
          </p:nvSpPr>
          <p:spPr bwMode="auto">
            <a:xfrm>
              <a:off x="4009579" y="219193"/>
              <a:ext cx="2199514"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57" name="Google Shape;1557;p92"/>
            <p:cNvSpPr txBox="1"/>
            <p:nvPr/>
          </p:nvSpPr>
          <p:spPr bwMode="auto">
            <a:xfrm>
              <a:off x="4292070" y="219193"/>
              <a:ext cx="1634533"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4.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Perform Quantitative Risk Analysis</a:t>
              </a:r>
              <a:endParaRPr/>
            </a:p>
          </p:txBody>
        </p:sp>
        <p:sp>
          <p:nvSpPr>
            <p:cNvPr id="1558" name="Google Shape;1558;p92"/>
            <p:cNvSpPr/>
            <p:nvPr/>
          </p:nvSpPr>
          <p:spPr bwMode="auto">
            <a:xfrm>
              <a:off x="5926603" y="219193"/>
              <a:ext cx="1412453"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59" name="Google Shape;1559;p92"/>
            <p:cNvSpPr txBox="1"/>
            <p:nvPr/>
          </p:nvSpPr>
          <p:spPr bwMode="auto">
            <a:xfrm>
              <a:off x="6209094" y="219193"/>
              <a:ext cx="847472"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5.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Plan Risk Response</a:t>
              </a:r>
              <a:endParaRPr/>
            </a:p>
          </p:txBody>
        </p:sp>
        <p:sp>
          <p:nvSpPr>
            <p:cNvPr id="1560" name="Google Shape;1560;p92"/>
            <p:cNvSpPr/>
            <p:nvPr/>
          </p:nvSpPr>
          <p:spPr bwMode="auto">
            <a:xfrm>
              <a:off x="7056565" y="219193"/>
              <a:ext cx="1170598"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61" name="Google Shape;1561;p92"/>
            <p:cNvSpPr txBox="1"/>
            <p:nvPr/>
          </p:nvSpPr>
          <p:spPr bwMode="auto">
            <a:xfrm>
              <a:off x="7339056" y="219193"/>
              <a:ext cx="605617"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6.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Control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Risk</a:t>
              </a:r>
              <a:endParaRPr/>
            </a:p>
          </p:txBody>
        </p:sp>
      </p:grpSp>
      <p:sp>
        <p:nvSpPr>
          <p:cNvPr id="366747738" name="TextBox 1"/>
          <p:cNvSpPr txBox="1"/>
          <p:nvPr/>
        </p:nvSpPr>
        <p:spPr bwMode="auto">
          <a:xfrm>
            <a:off x="11155680" y="6048573"/>
            <a:ext cx="858520" cy="307777"/>
          </a:xfrm>
          <a:prstGeom prst="rect">
            <a:avLst/>
          </a:prstGeom>
          <a:noFill/>
          <a:ln>
            <a:solidFill>
              <a:srgbClr val="FF0000"/>
            </a:solidFill>
          </a:ln>
        </p:spPr>
        <p:txBody>
          <a:bodyPr wrap="square" rtlCol="0">
            <a:spAutoFit/>
          </a:bodyPr>
          <a:lstStyle/>
          <a:p>
            <a:pPr>
              <a:defRPr/>
            </a:pPr>
            <a:r>
              <a:rPr lang="en-MY">
                <a:solidFill>
                  <a:srgbClr val="FF0000"/>
                </a:solidFill>
              </a:rPr>
              <a:t>S / Ch 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sld>
</file>

<file path=ppt/slides/slide1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48520341" name="Google Shape;1566;p93"/>
          <p:cNvSpPr txBox="1">
            <a:spLocks noGrp="1"/>
          </p:cNvSpPr>
          <p:nvPr>
            <p:ph type="body" idx="1"/>
          </p:nvPr>
        </p:nvSpPr>
        <p:spPr bwMode="auto">
          <a:xfrm>
            <a:off x="3124200" y="3733800"/>
            <a:ext cx="8382000" cy="24431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Calibri"/>
              <a:buNone/>
              <a:defRPr/>
            </a:pPr>
            <a:r>
              <a:rPr lang="en-US" b="1"/>
              <a:t>2. Identify Risk</a:t>
            </a:r>
            <a:endParaRPr/>
          </a:p>
          <a:p>
            <a:pPr marL="685800" lvl="1" indent="-228600" algn="l" rtl="0">
              <a:lnSpc>
                <a:spcPct val="90000"/>
              </a:lnSpc>
              <a:spcBef>
                <a:spcPts val="500"/>
              </a:spcBef>
              <a:spcAft>
                <a:spcPts val="0"/>
              </a:spcAft>
              <a:buClr>
                <a:schemeClr val="dk1"/>
              </a:buClr>
              <a:buSzPts val="2400"/>
              <a:buChar char="•"/>
              <a:defRPr/>
            </a:pPr>
            <a:r>
              <a:rPr lang="en-US"/>
              <a:t>Determine which risks are likely to affect a project and documenting the characteristics of each</a:t>
            </a:r>
            <a:endParaRPr/>
          </a:p>
          <a:p>
            <a:pPr marL="685800" lvl="1" indent="-228600" algn="l" rtl="0">
              <a:lnSpc>
                <a:spcPct val="90000"/>
              </a:lnSpc>
              <a:spcBef>
                <a:spcPts val="500"/>
              </a:spcBef>
              <a:spcAft>
                <a:spcPts val="0"/>
              </a:spcAft>
              <a:buClr>
                <a:schemeClr val="dk1"/>
              </a:buClr>
              <a:buSzPts val="2400"/>
              <a:buChar char="•"/>
              <a:defRPr/>
            </a:pPr>
            <a:r>
              <a:rPr lang="en-US"/>
              <a:t>Main output: the start of a risk register</a:t>
            </a:r>
            <a:endParaRPr/>
          </a:p>
          <a:p>
            <a:pPr marL="685800" lvl="1" indent="-228600" algn="l" rtl="0">
              <a:lnSpc>
                <a:spcPct val="90000"/>
              </a:lnSpc>
              <a:spcBef>
                <a:spcPts val="500"/>
              </a:spcBef>
              <a:spcAft>
                <a:spcPts val="0"/>
              </a:spcAft>
              <a:buClr>
                <a:schemeClr val="dk1"/>
              </a:buClr>
              <a:buSzPts val="2400"/>
              <a:buFont typeface="Calibri"/>
              <a:buNone/>
              <a:defRPr/>
            </a:pPr>
            <a:endParaRPr/>
          </a:p>
        </p:txBody>
      </p:sp>
      <p:sp>
        <p:nvSpPr>
          <p:cNvPr id="1470857530" name="Google Shape;1567;p9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110</a:t>
            </a:fld>
            <a:endParaRPr/>
          </a:p>
        </p:txBody>
      </p:sp>
      <p:pic>
        <p:nvPicPr>
          <p:cNvPr id="1064200307" name="Google Shape;1568;p93"/>
          <p:cNvPicPr/>
          <p:nvPr/>
        </p:nvPicPr>
        <p:blipFill rotWithShape="1">
          <a:blip r:embed="rId3">
            <a:alphaModFix/>
          </a:blip>
          <a:srcRect l="28148" t="0" r="45927" b="0"/>
          <a:stretch/>
        </p:blipFill>
        <p:spPr bwMode="auto">
          <a:xfrm>
            <a:off x="0" y="0"/>
            <a:ext cx="2667000" cy="6842113"/>
          </a:xfrm>
          <a:prstGeom prst="rect">
            <a:avLst/>
          </a:prstGeom>
          <a:noFill/>
          <a:ln>
            <a:noFill/>
          </a:ln>
        </p:spPr>
      </p:pic>
      <p:sp>
        <p:nvSpPr>
          <p:cNvPr id="1571350053" name="Google Shape;1569;p93"/>
          <p:cNvSpPr txBox="1"/>
          <p:nvPr/>
        </p:nvSpPr>
        <p:spPr bwMode="auto">
          <a:xfrm>
            <a:off x="3086971" y="1074667"/>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Risk Management</a:t>
            </a:r>
            <a:endParaRPr sz="4000" b="1">
              <a:solidFill>
                <a:schemeClr val="dk1"/>
              </a:solidFill>
              <a:latin typeface="Calibri"/>
              <a:ea typeface="Calibri"/>
              <a:cs typeface="Calibri"/>
            </a:endParaRPr>
          </a:p>
        </p:txBody>
      </p:sp>
      <p:sp>
        <p:nvSpPr>
          <p:cNvPr id="287106895" name="Google Shape;1570;p93"/>
          <p:cNvSpPr txBox="1"/>
          <p:nvPr/>
        </p:nvSpPr>
        <p:spPr bwMode="auto">
          <a:xfrm>
            <a:off x="3124200" y="16764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380254534" name="Google Shape;1571;p93"/>
          <p:cNvCxnSpPr/>
          <p:nvPr/>
        </p:nvCxnSpPr>
        <p:spPr bwMode="auto">
          <a:xfrm rot="10800000">
            <a:off x="3239372" y="2149915"/>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1658160599" name="Google Shape;1572;p93"/>
          <p:cNvGrpSpPr/>
          <p:nvPr/>
        </p:nvGrpSpPr>
        <p:grpSpPr bwMode="auto">
          <a:xfrm>
            <a:off x="3217376" y="2659367"/>
            <a:ext cx="8224728" cy="564981"/>
            <a:chOff x="2435" y="219193"/>
            <a:chExt cx="8224728" cy="564981"/>
          </a:xfrm>
        </p:grpSpPr>
        <p:sp>
          <p:nvSpPr>
            <p:cNvPr id="1573" name="Google Shape;1573;p93"/>
            <p:cNvSpPr/>
            <p:nvPr/>
          </p:nvSpPr>
          <p:spPr bwMode="auto">
            <a:xfrm>
              <a:off x="2435" y="219193"/>
              <a:ext cx="1412453" cy="564981"/>
            </a:xfrm>
            <a:prstGeom prst="homePlate">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74" name="Google Shape;1574;p93"/>
            <p:cNvSpPr txBox="1"/>
            <p:nvPr/>
          </p:nvSpPr>
          <p:spPr bwMode="auto">
            <a:xfrm>
              <a:off x="2435" y="219193"/>
              <a:ext cx="1271208" cy="564981"/>
            </a:xfrm>
            <a:prstGeom prst="rect">
              <a:avLst/>
            </a:prstGeom>
            <a:noFill/>
            <a:ln>
              <a:noFill/>
            </a:ln>
          </p:spPr>
          <p:txBody>
            <a:bodyPr spcFirstLastPara="1" wrap="square" lIns="64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1.                             Plan Risk Management</a:t>
              </a:r>
              <a:endParaRPr/>
            </a:p>
          </p:txBody>
        </p:sp>
        <p:sp>
          <p:nvSpPr>
            <p:cNvPr id="1575" name="Google Shape;1575;p93"/>
            <p:cNvSpPr/>
            <p:nvPr/>
          </p:nvSpPr>
          <p:spPr bwMode="auto">
            <a:xfrm>
              <a:off x="1132397" y="219193"/>
              <a:ext cx="1412453" cy="564981"/>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76" name="Google Shape;1576;p93"/>
            <p:cNvSpPr txBox="1"/>
            <p:nvPr/>
          </p:nvSpPr>
          <p:spPr bwMode="auto">
            <a:xfrm>
              <a:off x="1414888" y="219193"/>
              <a:ext cx="847472"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2.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Identify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Risk</a:t>
              </a:r>
              <a:endParaRPr/>
            </a:p>
          </p:txBody>
        </p:sp>
        <p:sp>
          <p:nvSpPr>
            <p:cNvPr id="1577" name="Google Shape;1577;p93"/>
            <p:cNvSpPr/>
            <p:nvPr/>
          </p:nvSpPr>
          <p:spPr bwMode="auto">
            <a:xfrm>
              <a:off x="2262360" y="219193"/>
              <a:ext cx="2029709"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78" name="Google Shape;1578;p93"/>
            <p:cNvSpPr txBox="1"/>
            <p:nvPr/>
          </p:nvSpPr>
          <p:spPr bwMode="auto">
            <a:xfrm>
              <a:off x="2544851" y="219193"/>
              <a:ext cx="1464728"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3.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Perform Qualitative Risk Analysis</a:t>
              </a:r>
              <a:endParaRPr/>
            </a:p>
          </p:txBody>
        </p:sp>
        <p:sp>
          <p:nvSpPr>
            <p:cNvPr id="1579" name="Google Shape;1579;p93"/>
            <p:cNvSpPr/>
            <p:nvPr/>
          </p:nvSpPr>
          <p:spPr bwMode="auto">
            <a:xfrm>
              <a:off x="4009579" y="219193"/>
              <a:ext cx="2199514"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80" name="Google Shape;1580;p93"/>
            <p:cNvSpPr txBox="1"/>
            <p:nvPr/>
          </p:nvSpPr>
          <p:spPr bwMode="auto">
            <a:xfrm>
              <a:off x="4292070" y="219193"/>
              <a:ext cx="1634533"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4.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Perform Quantitative Risk Analysis</a:t>
              </a:r>
              <a:endParaRPr/>
            </a:p>
          </p:txBody>
        </p:sp>
        <p:sp>
          <p:nvSpPr>
            <p:cNvPr id="1581" name="Google Shape;1581;p93"/>
            <p:cNvSpPr/>
            <p:nvPr/>
          </p:nvSpPr>
          <p:spPr bwMode="auto">
            <a:xfrm>
              <a:off x="5926603" y="219193"/>
              <a:ext cx="1412453"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82" name="Google Shape;1582;p93"/>
            <p:cNvSpPr txBox="1"/>
            <p:nvPr/>
          </p:nvSpPr>
          <p:spPr bwMode="auto">
            <a:xfrm>
              <a:off x="6209094" y="219193"/>
              <a:ext cx="847472"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5.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Plan Risk Response</a:t>
              </a:r>
              <a:endParaRPr/>
            </a:p>
          </p:txBody>
        </p:sp>
        <p:sp>
          <p:nvSpPr>
            <p:cNvPr id="1583" name="Google Shape;1583;p93"/>
            <p:cNvSpPr/>
            <p:nvPr/>
          </p:nvSpPr>
          <p:spPr bwMode="auto">
            <a:xfrm>
              <a:off x="7056565" y="219193"/>
              <a:ext cx="1170598"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84" name="Google Shape;1584;p93"/>
            <p:cNvSpPr txBox="1"/>
            <p:nvPr/>
          </p:nvSpPr>
          <p:spPr bwMode="auto">
            <a:xfrm>
              <a:off x="7339056" y="219193"/>
              <a:ext cx="605617"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6.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Control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Risk</a:t>
              </a:r>
              <a:endParaRPr/>
            </a:p>
          </p:txBody>
        </p:sp>
      </p:grpSp>
      <p:sp>
        <p:nvSpPr>
          <p:cNvPr id="2014222704" name="TextBox 1"/>
          <p:cNvSpPr txBox="1"/>
          <p:nvPr/>
        </p:nvSpPr>
        <p:spPr bwMode="auto">
          <a:xfrm>
            <a:off x="11155680" y="6048573"/>
            <a:ext cx="858520" cy="307777"/>
          </a:xfrm>
          <a:prstGeom prst="rect">
            <a:avLst/>
          </a:prstGeom>
          <a:noFill/>
          <a:ln>
            <a:solidFill>
              <a:srgbClr val="FF0000"/>
            </a:solidFill>
          </a:ln>
        </p:spPr>
        <p:txBody>
          <a:bodyPr wrap="square" rtlCol="0">
            <a:spAutoFit/>
          </a:bodyPr>
          <a:lstStyle/>
          <a:p>
            <a:pPr>
              <a:defRPr/>
            </a:pPr>
            <a:r>
              <a:rPr lang="en-MY">
                <a:solidFill>
                  <a:srgbClr val="FF0000"/>
                </a:solidFill>
              </a:rPr>
              <a:t>S / Ch 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sld>
</file>

<file path=ppt/slides/slide1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31578836" name="Google Shape;1589;p94"/>
          <p:cNvSpPr txBox="1">
            <a:spLocks noGrp="1"/>
          </p:cNvSpPr>
          <p:nvPr>
            <p:ph type="body" idx="1"/>
          </p:nvPr>
        </p:nvSpPr>
        <p:spPr bwMode="auto">
          <a:xfrm>
            <a:off x="3124200" y="3733800"/>
            <a:ext cx="8382000" cy="2443162"/>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Font typeface="Calibri"/>
              <a:buNone/>
              <a:defRPr/>
            </a:pPr>
            <a:r>
              <a:rPr lang="en-US" b="1"/>
              <a:t>3. Perform Qualitative Risk Analysis</a:t>
            </a:r>
            <a:endParaRPr/>
          </a:p>
          <a:p>
            <a:pPr marL="685800" lvl="1" indent="-228600" algn="l" rtl="0">
              <a:lnSpc>
                <a:spcPct val="90000"/>
              </a:lnSpc>
              <a:spcBef>
                <a:spcPts val="500"/>
              </a:spcBef>
              <a:spcAft>
                <a:spcPts val="0"/>
              </a:spcAft>
              <a:buClr>
                <a:schemeClr val="dk1"/>
              </a:buClr>
              <a:buSzPts val="2400"/>
              <a:buChar char="•"/>
              <a:defRPr/>
            </a:pPr>
            <a:r>
              <a:rPr lang="en-US"/>
              <a:t>Prioritize risks based on their probability and impact of occurrence.</a:t>
            </a:r>
            <a:endParaRPr/>
          </a:p>
          <a:p>
            <a:pPr marL="685800" lvl="1" indent="-228600" algn="l" rtl="0">
              <a:lnSpc>
                <a:spcPct val="90000"/>
              </a:lnSpc>
              <a:spcBef>
                <a:spcPts val="500"/>
              </a:spcBef>
              <a:spcAft>
                <a:spcPts val="0"/>
              </a:spcAft>
              <a:buClr>
                <a:schemeClr val="dk1"/>
              </a:buClr>
              <a:buSzPts val="2400"/>
              <a:buChar char="•"/>
              <a:defRPr/>
            </a:pPr>
            <a:r>
              <a:rPr lang="en-US"/>
              <a:t>After identifying risks, various tools and techniques can be used by project teams to rank risks and update information in the risk register</a:t>
            </a:r>
            <a:endParaRPr/>
          </a:p>
          <a:p>
            <a:pPr marL="685800" lvl="1" indent="-228600" algn="l" rtl="0">
              <a:lnSpc>
                <a:spcPct val="90000"/>
              </a:lnSpc>
              <a:spcBef>
                <a:spcPts val="500"/>
              </a:spcBef>
              <a:spcAft>
                <a:spcPts val="0"/>
              </a:spcAft>
              <a:buClr>
                <a:schemeClr val="dk1"/>
              </a:buClr>
              <a:buSzPts val="2400"/>
              <a:buChar char="•"/>
              <a:defRPr/>
            </a:pPr>
            <a:r>
              <a:rPr lang="en-US"/>
              <a:t>Main output: risk register updates.</a:t>
            </a:r>
            <a:endParaRPr/>
          </a:p>
        </p:txBody>
      </p:sp>
      <p:sp>
        <p:nvSpPr>
          <p:cNvPr id="1401009850" name="Google Shape;1590;p9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111</a:t>
            </a:fld>
            <a:endParaRPr/>
          </a:p>
        </p:txBody>
      </p:sp>
      <p:pic>
        <p:nvPicPr>
          <p:cNvPr id="1525987536" name="Google Shape;1591;p94"/>
          <p:cNvPicPr/>
          <p:nvPr/>
        </p:nvPicPr>
        <p:blipFill rotWithShape="1">
          <a:blip r:embed="rId3">
            <a:alphaModFix/>
          </a:blip>
          <a:srcRect l="28148" t="0" r="45927" b="0"/>
          <a:stretch/>
        </p:blipFill>
        <p:spPr bwMode="auto">
          <a:xfrm>
            <a:off x="0" y="0"/>
            <a:ext cx="2667000" cy="6842113"/>
          </a:xfrm>
          <a:prstGeom prst="rect">
            <a:avLst/>
          </a:prstGeom>
          <a:noFill/>
          <a:ln>
            <a:noFill/>
          </a:ln>
        </p:spPr>
      </p:pic>
      <p:sp>
        <p:nvSpPr>
          <p:cNvPr id="299028429" name="Google Shape;1592;p94"/>
          <p:cNvSpPr txBox="1"/>
          <p:nvPr/>
        </p:nvSpPr>
        <p:spPr bwMode="auto">
          <a:xfrm>
            <a:off x="3086971" y="1074667"/>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Risk Management</a:t>
            </a:r>
            <a:endParaRPr sz="4000" b="1">
              <a:solidFill>
                <a:schemeClr val="dk1"/>
              </a:solidFill>
              <a:latin typeface="Calibri"/>
              <a:ea typeface="Calibri"/>
              <a:cs typeface="Calibri"/>
            </a:endParaRPr>
          </a:p>
        </p:txBody>
      </p:sp>
      <p:sp>
        <p:nvSpPr>
          <p:cNvPr id="839829987" name="Google Shape;1593;p94"/>
          <p:cNvSpPr txBox="1"/>
          <p:nvPr/>
        </p:nvSpPr>
        <p:spPr bwMode="auto">
          <a:xfrm>
            <a:off x="3124200" y="16764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33360417" name="Google Shape;1594;p94"/>
          <p:cNvCxnSpPr/>
          <p:nvPr/>
        </p:nvCxnSpPr>
        <p:spPr bwMode="auto">
          <a:xfrm rot="10800000">
            <a:off x="3239372" y="2149915"/>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2123206355" name="Google Shape;1595;p94"/>
          <p:cNvGrpSpPr/>
          <p:nvPr/>
        </p:nvGrpSpPr>
        <p:grpSpPr bwMode="auto">
          <a:xfrm>
            <a:off x="3217376" y="2659367"/>
            <a:ext cx="8224728" cy="564981"/>
            <a:chOff x="2435" y="219193"/>
            <a:chExt cx="8224728" cy="564981"/>
          </a:xfrm>
        </p:grpSpPr>
        <p:sp>
          <p:nvSpPr>
            <p:cNvPr id="1596" name="Google Shape;1596;p94"/>
            <p:cNvSpPr/>
            <p:nvPr/>
          </p:nvSpPr>
          <p:spPr bwMode="auto">
            <a:xfrm>
              <a:off x="2435" y="219193"/>
              <a:ext cx="1412453" cy="564981"/>
            </a:xfrm>
            <a:prstGeom prst="homePlate">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97" name="Google Shape;1597;p94"/>
            <p:cNvSpPr txBox="1"/>
            <p:nvPr/>
          </p:nvSpPr>
          <p:spPr bwMode="auto">
            <a:xfrm>
              <a:off x="2435" y="219193"/>
              <a:ext cx="1271208" cy="564981"/>
            </a:xfrm>
            <a:prstGeom prst="rect">
              <a:avLst/>
            </a:prstGeom>
            <a:noFill/>
            <a:ln>
              <a:noFill/>
            </a:ln>
          </p:spPr>
          <p:txBody>
            <a:bodyPr spcFirstLastPara="1" wrap="square" lIns="64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1.                             Plan Risk Management</a:t>
              </a:r>
              <a:endParaRPr/>
            </a:p>
          </p:txBody>
        </p:sp>
        <p:sp>
          <p:nvSpPr>
            <p:cNvPr id="1598" name="Google Shape;1598;p94"/>
            <p:cNvSpPr/>
            <p:nvPr/>
          </p:nvSpPr>
          <p:spPr bwMode="auto">
            <a:xfrm>
              <a:off x="1132397" y="219193"/>
              <a:ext cx="1412453"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599" name="Google Shape;1599;p94"/>
            <p:cNvSpPr txBox="1"/>
            <p:nvPr/>
          </p:nvSpPr>
          <p:spPr bwMode="auto">
            <a:xfrm>
              <a:off x="1414888" y="219193"/>
              <a:ext cx="847472"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2.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Identify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Risk</a:t>
              </a:r>
              <a:endParaRPr/>
            </a:p>
          </p:txBody>
        </p:sp>
        <p:sp>
          <p:nvSpPr>
            <p:cNvPr id="1600" name="Google Shape;1600;p94"/>
            <p:cNvSpPr/>
            <p:nvPr/>
          </p:nvSpPr>
          <p:spPr bwMode="auto">
            <a:xfrm>
              <a:off x="2262360" y="219193"/>
              <a:ext cx="2029709" cy="564981"/>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01" name="Google Shape;1601;p94"/>
            <p:cNvSpPr txBox="1"/>
            <p:nvPr/>
          </p:nvSpPr>
          <p:spPr bwMode="auto">
            <a:xfrm>
              <a:off x="2544851" y="219193"/>
              <a:ext cx="1464728"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3.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Perform Qualitative Risk Analysis</a:t>
              </a:r>
              <a:endParaRPr/>
            </a:p>
          </p:txBody>
        </p:sp>
        <p:sp>
          <p:nvSpPr>
            <p:cNvPr id="1602" name="Google Shape;1602;p94"/>
            <p:cNvSpPr/>
            <p:nvPr/>
          </p:nvSpPr>
          <p:spPr bwMode="auto">
            <a:xfrm>
              <a:off x="4009579" y="219193"/>
              <a:ext cx="2199514"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03" name="Google Shape;1603;p94"/>
            <p:cNvSpPr txBox="1"/>
            <p:nvPr/>
          </p:nvSpPr>
          <p:spPr bwMode="auto">
            <a:xfrm>
              <a:off x="4292070" y="219193"/>
              <a:ext cx="1634533"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4.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Perform Quantitative Risk Analysis</a:t>
              </a:r>
              <a:endParaRPr/>
            </a:p>
          </p:txBody>
        </p:sp>
        <p:sp>
          <p:nvSpPr>
            <p:cNvPr id="1604" name="Google Shape;1604;p94"/>
            <p:cNvSpPr/>
            <p:nvPr/>
          </p:nvSpPr>
          <p:spPr bwMode="auto">
            <a:xfrm>
              <a:off x="5926603" y="219193"/>
              <a:ext cx="1412453"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05" name="Google Shape;1605;p94"/>
            <p:cNvSpPr txBox="1"/>
            <p:nvPr/>
          </p:nvSpPr>
          <p:spPr bwMode="auto">
            <a:xfrm>
              <a:off x="6209094" y="219193"/>
              <a:ext cx="847472"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5.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Plan Risk Response</a:t>
              </a:r>
              <a:endParaRPr/>
            </a:p>
          </p:txBody>
        </p:sp>
        <p:sp>
          <p:nvSpPr>
            <p:cNvPr id="1606" name="Google Shape;1606;p94"/>
            <p:cNvSpPr/>
            <p:nvPr/>
          </p:nvSpPr>
          <p:spPr bwMode="auto">
            <a:xfrm>
              <a:off x="7056565" y="219193"/>
              <a:ext cx="1170598"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07" name="Google Shape;1607;p94"/>
            <p:cNvSpPr txBox="1"/>
            <p:nvPr/>
          </p:nvSpPr>
          <p:spPr bwMode="auto">
            <a:xfrm>
              <a:off x="7339056" y="219193"/>
              <a:ext cx="605617"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6.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Control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Risk</a:t>
              </a:r>
              <a:endParaRPr/>
            </a:p>
          </p:txBody>
        </p:sp>
      </p:grpSp>
      <p:sp>
        <p:nvSpPr>
          <p:cNvPr id="1249282104" name="TextBox 1"/>
          <p:cNvSpPr txBox="1"/>
          <p:nvPr/>
        </p:nvSpPr>
        <p:spPr bwMode="auto">
          <a:xfrm>
            <a:off x="11155680" y="6048573"/>
            <a:ext cx="858520" cy="307777"/>
          </a:xfrm>
          <a:prstGeom prst="rect">
            <a:avLst/>
          </a:prstGeom>
          <a:noFill/>
          <a:ln>
            <a:solidFill>
              <a:srgbClr val="FF0000"/>
            </a:solidFill>
          </a:ln>
        </p:spPr>
        <p:txBody>
          <a:bodyPr wrap="square" rtlCol="0">
            <a:spAutoFit/>
          </a:bodyPr>
          <a:lstStyle/>
          <a:p>
            <a:pPr>
              <a:defRPr/>
            </a:pPr>
            <a:r>
              <a:rPr lang="en-MY">
                <a:solidFill>
                  <a:srgbClr val="FF0000"/>
                </a:solidFill>
              </a:rPr>
              <a:t>S / Ch 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sld>
</file>

<file path=ppt/slides/slide1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17030462" name="Google Shape;1612;p95"/>
          <p:cNvSpPr txBox="1">
            <a:spLocks noGrp="1"/>
          </p:cNvSpPr>
          <p:nvPr>
            <p:ph type="body" idx="1"/>
          </p:nvPr>
        </p:nvSpPr>
        <p:spPr bwMode="auto">
          <a:xfrm>
            <a:off x="3124200" y="3733800"/>
            <a:ext cx="8382000" cy="24431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Calibri"/>
              <a:buNone/>
              <a:defRPr/>
            </a:pPr>
            <a:r>
              <a:rPr lang="en-US" b="1"/>
              <a:t>4. Perform Quantitative Risk Analysis</a:t>
            </a:r>
            <a:endParaRPr/>
          </a:p>
          <a:p>
            <a:pPr marL="685800" lvl="1" indent="-228600" algn="l" rtl="0">
              <a:lnSpc>
                <a:spcPct val="90000"/>
              </a:lnSpc>
              <a:spcBef>
                <a:spcPts val="500"/>
              </a:spcBef>
              <a:spcAft>
                <a:spcPts val="0"/>
              </a:spcAft>
              <a:buClr>
                <a:schemeClr val="dk1"/>
              </a:buClr>
              <a:buSzPts val="2400"/>
              <a:buChar char="•"/>
              <a:defRPr/>
            </a:pPr>
            <a:r>
              <a:rPr lang="en-US"/>
              <a:t>Numerically estimate the </a:t>
            </a:r>
            <a:r>
              <a:rPr lang="en-US">
                <a:solidFill>
                  <a:schemeClr val="tx1"/>
                </a:solidFill>
              </a:rPr>
              <a:t>effects</a:t>
            </a:r>
            <a:r>
              <a:rPr lang="en-US"/>
              <a:t> of risks on project objectives.</a:t>
            </a:r>
            <a:endParaRPr/>
          </a:p>
          <a:p>
            <a:pPr marL="685800" lvl="1" indent="-228600" algn="l" rtl="0">
              <a:lnSpc>
                <a:spcPct val="90000"/>
              </a:lnSpc>
              <a:spcBef>
                <a:spcPts val="500"/>
              </a:spcBef>
              <a:spcAft>
                <a:spcPts val="0"/>
              </a:spcAft>
              <a:buClr>
                <a:schemeClr val="dk1"/>
              </a:buClr>
              <a:buSzPts val="2400"/>
              <a:buChar char="•"/>
              <a:defRPr/>
            </a:pPr>
            <a:r>
              <a:rPr lang="en-US"/>
              <a:t>Main output: risk register updates.</a:t>
            </a:r>
            <a:endParaRPr/>
          </a:p>
          <a:p>
            <a:pPr marL="685800" lvl="1" indent="-228600" algn="l" rtl="0">
              <a:lnSpc>
                <a:spcPct val="90000"/>
              </a:lnSpc>
              <a:spcBef>
                <a:spcPts val="500"/>
              </a:spcBef>
              <a:spcAft>
                <a:spcPts val="0"/>
              </a:spcAft>
              <a:buClr>
                <a:schemeClr val="dk1"/>
              </a:buClr>
              <a:buSzPts val="2400"/>
              <a:buFont typeface="Calibri"/>
              <a:buNone/>
              <a:defRPr/>
            </a:pPr>
            <a:endParaRPr/>
          </a:p>
        </p:txBody>
      </p:sp>
      <p:sp>
        <p:nvSpPr>
          <p:cNvPr id="342953548" name="Google Shape;1613;p9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112</a:t>
            </a:fld>
            <a:endParaRPr/>
          </a:p>
        </p:txBody>
      </p:sp>
      <p:pic>
        <p:nvPicPr>
          <p:cNvPr id="1355048317" name="Google Shape;1614;p95"/>
          <p:cNvPicPr/>
          <p:nvPr/>
        </p:nvPicPr>
        <p:blipFill rotWithShape="1">
          <a:blip r:embed="rId3">
            <a:alphaModFix/>
          </a:blip>
          <a:srcRect l="28148" t="0" r="45927" b="0"/>
          <a:stretch/>
        </p:blipFill>
        <p:spPr bwMode="auto">
          <a:xfrm>
            <a:off x="0" y="0"/>
            <a:ext cx="2667000" cy="6842113"/>
          </a:xfrm>
          <a:prstGeom prst="rect">
            <a:avLst/>
          </a:prstGeom>
          <a:noFill/>
          <a:ln>
            <a:noFill/>
          </a:ln>
        </p:spPr>
      </p:pic>
      <p:sp>
        <p:nvSpPr>
          <p:cNvPr id="1332483864" name="Google Shape;1615;p95"/>
          <p:cNvSpPr txBox="1"/>
          <p:nvPr/>
        </p:nvSpPr>
        <p:spPr bwMode="auto">
          <a:xfrm>
            <a:off x="3086971" y="1074667"/>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Risk Management</a:t>
            </a:r>
            <a:endParaRPr sz="4000" b="1">
              <a:solidFill>
                <a:schemeClr val="dk1"/>
              </a:solidFill>
              <a:latin typeface="Calibri"/>
              <a:ea typeface="Calibri"/>
              <a:cs typeface="Calibri"/>
            </a:endParaRPr>
          </a:p>
        </p:txBody>
      </p:sp>
      <p:sp>
        <p:nvSpPr>
          <p:cNvPr id="423430626" name="Google Shape;1616;p95"/>
          <p:cNvSpPr txBox="1"/>
          <p:nvPr/>
        </p:nvSpPr>
        <p:spPr bwMode="auto">
          <a:xfrm>
            <a:off x="3124200" y="16764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562396025" name="Google Shape;1617;p95"/>
          <p:cNvCxnSpPr/>
          <p:nvPr/>
        </p:nvCxnSpPr>
        <p:spPr bwMode="auto">
          <a:xfrm rot="10800000">
            <a:off x="3239372" y="2149915"/>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1222926092" name="Google Shape;1618;p95"/>
          <p:cNvGrpSpPr/>
          <p:nvPr/>
        </p:nvGrpSpPr>
        <p:grpSpPr bwMode="auto">
          <a:xfrm>
            <a:off x="3217376" y="2659367"/>
            <a:ext cx="8224728" cy="564981"/>
            <a:chOff x="2435" y="219193"/>
            <a:chExt cx="8224728" cy="564981"/>
          </a:xfrm>
        </p:grpSpPr>
        <p:sp>
          <p:nvSpPr>
            <p:cNvPr id="1619" name="Google Shape;1619;p95"/>
            <p:cNvSpPr/>
            <p:nvPr/>
          </p:nvSpPr>
          <p:spPr bwMode="auto">
            <a:xfrm>
              <a:off x="2435" y="219193"/>
              <a:ext cx="1412453" cy="564981"/>
            </a:xfrm>
            <a:prstGeom prst="homePlate">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20" name="Google Shape;1620;p95"/>
            <p:cNvSpPr txBox="1"/>
            <p:nvPr/>
          </p:nvSpPr>
          <p:spPr bwMode="auto">
            <a:xfrm>
              <a:off x="2435" y="219193"/>
              <a:ext cx="1271208" cy="564981"/>
            </a:xfrm>
            <a:prstGeom prst="rect">
              <a:avLst/>
            </a:prstGeom>
            <a:noFill/>
            <a:ln>
              <a:noFill/>
            </a:ln>
          </p:spPr>
          <p:txBody>
            <a:bodyPr spcFirstLastPara="1" wrap="square" lIns="64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1.                             Plan Risk Management</a:t>
              </a:r>
              <a:endParaRPr/>
            </a:p>
          </p:txBody>
        </p:sp>
        <p:sp>
          <p:nvSpPr>
            <p:cNvPr id="1621" name="Google Shape;1621;p95"/>
            <p:cNvSpPr/>
            <p:nvPr/>
          </p:nvSpPr>
          <p:spPr bwMode="auto">
            <a:xfrm>
              <a:off x="1132397" y="219193"/>
              <a:ext cx="1412453"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22" name="Google Shape;1622;p95"/>
            <p:cNvSpPr txBox="1"/>
            <p:nvPr/>
          </p:nvSpPr>
          <p:spPr bwMode="auto">
            <a:xfrm>
              <a:off x="1414888" y="219193"/>
              <a:ext cx="847472"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2.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Identify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Risk</a:t>
              </a:r>
              <a:endParaRPr/>
            </a:p>
          </p:txBody>
        </p:sp>
        <p:sp>
          <p:nvSpPr>
            <p:cNvPr id="1623" name="Google Shape;1623;p95"/>
            <p:cNvSpPr/>
            <p:nvPr/>
          </p:nvSpPr>
          <p:spPr bwMode="auto">
            <a:xfrm>
              <a:off x="2262360" y="219193"/>
              <a:ext cx="2029709"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24" name="Google Shape;1624;p95"/>
            <p:cNvSpPr txBox="1"/>
            <p:nvPr/>
          </p:nvSpPr>
          <p:spPr bwMode="auto">
            <a:xfrm>
              <a:off x="2544851" y="219193"/>
              <a:ext cx="1464728"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3.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Perform Qualitative Risk Analysis</a:t>
              </a:r>
              <a:endParaRPr/>
            </a:p>
          </p:txBody>
        </p:sp>
        <p:sp>
          <p:nvSpPr>
            <p:cNvPr id="1625" name="Google Shape;1625;p95"/>
            <p:cNvSpPr/>
            <p:nvPr/>
          </p:nvSpPr>
          <p:spPr bwMode="auto">
            <a:xfrm>
              <a:off x="4009579" y="219193"/>
              <a:ext cx="2199514" cy="564981"/>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26" name="Google Shape;1626;p95"/>
            <p:cNvSpPr txBox="1"/>
            <p:nvPr/>
          </p:nvSpPr>
          <p:spPr bwMode="auto">
            <a:xfrm>
              <a:off x="4292070" y="219193"/>
              <a:ext cx="1634533"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4.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Perform Quantitative Risk Analysis</a:t>
              </a:r>
              <a:endParaRPr/>
            </a:p>
          </p:txBody>
        </p:sp>
        <p:sp>
          <p:nvSpPr>
            <p:cNvPr id="1627" name="Google Shape;1627;p95"/>
            <p:cNvSpPr/>
            <p:nvPr/>
          </p:nvSpPr>
          <p:spPr bwMode="auto">
            <a:xfrm>
              <a:off x="5926603" y="219193"/>
              <a:ext cx="1412453"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28" name="Google Shape;1628;p95"/>
            <p:cNvSpPr txBox="1"/>
            <p:nvPr/>
          </p:nvSpPr>
          <p:spPr bwMode="auto">
            <a:xfrm>
              <a:off x="6209094" y="219193"/>
              <a:ext cx="847472"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5.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Plan Risk Response</a:t>
              </a:r>
              <a:endParaRPr/>
            </a:p>
          </p:txBody>
        </p:sp>
        <p:sp>
          <p:nvSpPr>
            <p:cNvPr id="1629" name="Google Shape;1629;p95"/>
            <p:cNvSpPr/>
            <p:nvPr/>
          </p:nvSpPr>
          <p:spPr bwMode="auto">
            <a:xfrm>
              <a:off x="7056565" y="219193"/>
              <a:ext cx="1170598"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30" name="Google Shape;1630;p95"/>
            <p:cNvSpPr txBox="1"/>
            <p:nvPr/>
          </p:nvSpPr>
          <p:spPr bwMode="auto">
            <a:xfrm>
              <a:off x="7339056" y="219193"/>
              <a:ext cx="605617"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6.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Control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Risk</a:t>
              </a:r>
              <a:endParaRPr/>
            </a:p>
          </p:txBody>
        </p:sp>
      </p:grpSp>
      <p:sp>
        <p:nvSpPr>
          <p:cNvPr id="220705360" name="TextBox 1"/>
          <p:cNvSpPr txBox="1"/>
          <p:nvPr/>
        </p:nvSpPr>
        <p:spPr bwMode="auto">
          <a:xfrm>
            <a:off x="11155680" y="6048573"/>
            <a:ext cx="858520" cy="307777"/>
          </a:xfrm>
          <a:prstGeom prst="rect">
            <a:avLst/>
          </a:prstGeom>
          <a:noFill/>
          <a:ln>
            <a:solidFill>
              <a:srgbClr val="FF0000"/>
            </a:solidFill>
          </a:ln>
        </p:spPr>
        <p:txBody>
          <a:bodyPr wrap="square" rtlCol="0">
            <a:spAutoFit/>
          </a:bodyPr>
          <a:lstStyle/>
          <a:p>
            <a:pPr>
              <a:defRPr/>
            </a:pPr>
            <a:r>
              <a:rPr lang="en-MY">
                <a:solidFill>
                  <a:srgbClr val="FF0000"/>
                </a:solidFill>
              </a:rPr>
              <a:t>S / Ch 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sld>
</file>

<file path=ppt/slides/slide1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7483385" name="Google Shape;1635;p96"/>
          <p:cNvSpPr txBox="1">
            <a:spLocks noGrp="1"/>
          </p:cNvSpPr>
          <p:nvPr>
            <p:ph type="body" idx="1"/>
          </p:nvPr>
        </p:nvSpPr>
        <p:spPr bwMode="auto">
          <a:xfrm>
            <a:off x="3124200" y="3733800"/>
            <a:ext cx="8382000" cy="2743200"/>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Font typeface="Calibri"/>
              <a:buNone/>
              <a:defRPr/>
            </a:pPr>
            <a:r>
              <a:rPr lang="en-US" b="1"/>
              <a:t>5. Plan Risk Responses</a:t>
            </a:r>
            <a:endParaRPr/>
          </a:p>
          <a:p>
            <a:pPr marL="685800" lvl="1" indent="-228600" algn="l" rtl="0">
              <a:lnSpc>
                <a:spcPct val="90000"/>
              </a:lnSpc>
              <a:spcBef>
                <a:spcPts val="500"/>
              </a:spcBef>
              <a:spcAft>
                <a:spcPts val="0"/>
              </a:spcAft>
              <a:buClr>
                <a:schemeClr val="dk1"/>
              </a:buClr>
              <a:buSzPts val="2400"/>
              <a:buChar char="•"/>
              <a:defRPr/>
            </a:pPr>
            <a:r>
              <a:rPr lang="en-US"/>
              <a:t>Take steps to enhance opportunities and reduce threats to meeting project objectives.</a:t>
            </a:r>
            <a:endParaRPr/>
          </a:p>
          <a:p>
            <a:pPr marL="685800" lvl="1" indent="-228600" algn="l" rtl="0">
              <a:lnSpc>
                <a:spcPct val="90000"/>
              </a:lnSpc>
              <a:spcBef>
                <a:spcPts val="500"/>
              </a:spcBef>
              <a:spcAft>
                <a:spcPts val="0"/>
              </a:spcAft>
              <a:buClr>
                <a:schemeClr val="dk1"/>
              </a:buClr>
              <a:buSzPts val="2400"/>
              <a:buChar char="•"/>
              <a:defRPr/>
            </a:pPr>
            <a:r>
              <a:rPr lang="en-US"/>
              <a:t>Using outputs from the preceding risk management processes, project teams can </a:t>
            </a:r>
            <a:r>
              <a:rPr lang="en-US">
                <a:solidFill>
                  <a:schemeClr val="tx1"/>
                </a:solidFill>
              </a:rPr>
              <a:t>develop risk response strategies that often result in updates </a:t>
            </a:r>
            <a:r>
              <a:rPr lang="en-US"/>
              <a:t>to the risk register, project management plan, and other project documents as well as risk-related contract decisions</a:t>
            </a:r>
            <a:endParaRPr/>
          </a:p>
        </p:txBody>
      </p:sp>
      <p:sp>
        <p:nvSpPr>
          <p:cNvPr id="2142810798" name="Google Shape;1636;p9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113</a:t>
            </a:fld>
            <a:endParaRPr/>
          </a:p>
        </p:txBody>
      </p:sp>
      <p:pic>
        <p:nvPicPr>
          <p:cNvPr id="303479939" name="Google Shape;1637;p96"/>
          <p:cNvPicPr/>
          <p:nvPr/>
        </p:nvPicPr>
        <p:blipFill rotWithShape="1">
          <a:blip r:embed="rId3">
            <a:alphaModFix/>
          </a:blip>
          <a:srcRect l="28148" t="0" r="45927" b="0"/>
          <a:stretch/>
        </p:blipFill>
        <p:spPr bwMode="auto">
          <a:xfrm>
            <a:off x="0" y="0"/>
            <a:ext cx="2667000" cy="6842113"/>
          </a:xfrm>
          <a:prstGeom prst="rect">
            <a:avLst/>
          </a:prstGeom>
          <a:noFill/>
          <a:ln>
            <a:noFill/>
          </a:ln>
        </p:spPr>
      </p:pic>
      <p:sp>
        <p:nvSpPr>
          <p:cNvPr id="1099674092" name="Google Shape;1638;p96"/>
          <p:cNvSpPr txBox="1"/>
          <p:nvPr/>
        </p:nvSpPr>
        <p:spPr bwMode="auto">
          <a:xfrm>
            <a:off x="3086971" y="1074667"/>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Risk Management</a:t>
            </a:r>
            <a:endParaRPr sz="4000" b="1">
              <a:solidFill>
                <a:schemeClr val="dk1"/>
              </a:solidFill>
              <a:latin typeface="Calibri"/>
              <a:ea typeface="Calibri"/>
              <a:cs typeface="Calibri"/>
            </a:endParaRPr>
          </a:p>
        </p:txBody>
      </p:sp>
      <p:sp>
        <p:nvSpPr>
          <p:cNvPr id="453846463" name="Google Shape;1639;p96"/>
          <p:cNvSpPr txBox="1"/>
          <p:nvPr/>
        </p:nvSpPr>
        <p:spPr bwMode="auto">
          <a:xfrm>
            <a:off x="3124200" y="16764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926002035" name="Google Shape;1640;p96"/>
          <p:cNvCxnSpPr/>
          <p:nvPr/>
        </p:nvCxnSpPr>
        <p:spPr bwMode="auto">
          <a:xfrm rot="10800000">
            <a:off x="3239372" y="2149915"/>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2093217610" name="Google Shape;1641;p96"/>
          <p:cNvGrpSpPr/>
          <p:nvPr/>
        </p:nvGrpSpPr>
        <p:grpSpPr bwMode="auto">
          <a:xfrm>
            <a:off x="3217376" y="2659367"/>
            <a:ext cx="8224728" cy="564981"/>
            <a:chOff x="2435" y="219193"/>
            <a:chExt cx="8224728" cy="564981"/>
          </a:xfrm>
        </p:grpSpPr>
        <p:sp>
          <p:nvSpPr>
            <p:cNvPr id="1642" name="Google Shape;1642;p96"/>
            <p:cNvSpPr/>
            <p:nvPr/>
          </p:nvSpPr>
          <p:spPr bwMode="auto">
            <a:xfrm>
              <a:off x="2435" y="219193"/>
              <a:ext cx="1412453" cy="564981"/>
            </a:xfrm>
            <a:prstGeom prst="homePlate">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43" name="Google Shape;1643;p96"/>
            <p:cNvSpPr txBox="1"/>
            <p:nvPr/>
          </p:nvSpPr>
          <p:spPr bwMode="auto">
            <a:xfrm>
              <a:off x="2435" y="219193"/>
              <a:ext cx="1271208" cy="564981"/>
            </a:xfrm>
            <a:prstGeom prst="rect">
              <a:avLst/>
            </a:prstGeom>
            <a:noFill/>
            <a:ln>
              <a:noFill/>
            </a:ln>
          </p:spPr>
          <p:txBody>
            <a:bodyPr spcFirstLastPara="1" wrap="square" lIns="64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1.                             Plan Risk Management</a:t>
              </a:r>
              <a:endParaRPr/>
            </a:p>
          </p:txBody>
        </p:sp>
        <p:sp>
          <p:nvSpPr>
            <p:cNvPr id="1644" name="Google Shape;1644;p96"/>
            <p:cNvSpPr/>
            <p:nvPr/>
          </p:nvSpPr>
          <p:spPr bwMode="auto">
            <a:xfrm>
              <a:off x="1132397" y="219193"/>
              <a:ext cx="1412453"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45" name="Google Shape;1645;p96"/>
            <p:cNvSpPr txBox="1"/>
            <p:nvPr/>
          </p:nvSpPr>
          <p:spPr bwMode="auto">
            <a:xfrm>
              <a:off x="1414888" y="219193"/>
              <a:ext cx="847472"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2.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Identify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Risk</a:t>
              </a:r>
              <a:endParaRPr/>
            </a:p>
          </p:txBody>
        </p:sp>
        <p:sp>
          <p:nvSpPr>
            <p:cNvPr id="1646" name="Google Shape;1646;p96"/>
            <p:cNvSpPr/>
            <p:nvPr/>
          </p:nvSpPr>
          <p:spPr bwMode="auto">
            <a:xfrm>
              <a:off x="2262360" y="219193"/>
              <a:ext cx="2029709"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47" name="Google Shape;1647;p96"/>
            <p:cNvSpPr txBox="1"/>
            <p:nvPr/>
          </p:nvSpPr>
          <p:spPr bwMode="auto">
            <a:xfrm>
              <a:off x="2544851" y="219193"/>
              <a:ext cx="1464728"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3.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Perform Qualitative Risk Analysis</a:t>
              </a:r>
              <a:endParaRPr/>
            </a:p>
          </p:txBody>
        </p:sp>
        <p:sp>
          <p:nvSpPr>
            <p:cNvPr id="1648" name="Google Shape;1648;p96"/>
            <p:cNvSpPr/>
            <p:nvPr/>
          </p:nvSpPr>
          <p:spPr bwMode="auto">
            <a:xfrm>
              <a:off x="4009579" y="219193"/>
              <a:ext cx="2199514"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49" name="Google Shape;1649;p96"/>
            <p:cNvSpPr txBox="1"/>
            <p:nvPr/>
          </p:nvSpPr>
          <p:spPr bwMode="auto">
            <a:xfrm>
              <a:off x="4292070" y="219193"/>
              <a:ext cx="1634533"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4.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Perform Quantitative Risk Analysis</a:t>
              </a:r>
              <a:endParaRPr/>
            </a:p>
          </p:txBody>
        </p:sp>
        <p:sp>
          <p:nvSpPr>
            <p:cNvPr id="1650" name="Google Shape;1650;p96"/>
            <p:cNvSpPr/>
            <p:nvPr/>
          </p:nvSpPr>
          <p:spPr bwMode="auto">
            <a:xfrm>
              <a:off x="5926603" y="219193"/>
              <a:ext cx="1412453" cy="564981"/>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51" name="Google Shape;1651;p96"/>
            <p:cNvSpPr txBox="1"/>
            <p:nvPr/>
          </p:nvSpPr>
          <p:spPr bwMode="auto">
            <a:xfrm>
              <a:off x="6209094" y="219193"/>
              <a:ext cx="847472"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5.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Plan Risk Response</a:t>
              </a:r>
              <a:endParaRPr/>
            </a:p>
          </p:txBody>
        </p:sp>
        <p:sp>
          <p:nvSpPr>
            <p:cNvPr id="1652" name="Google Shape;1652;p96"/>
            <p:cNvSpPr/>
            <p:nvPr/>
          </p:nvSpPr>
          <p:spPr bwMode="auto">
            <a:xfrm>
              <a:off x="7056565" y="219193"/>
              <a:ext cx="1170598"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53" name="Google Shape;1653;p96"/>
            <p:cNvSpPr txBox="1"/>
            <p:nvPr/>
          </p:nvSpPr>
          <p:spPr bwMode="auto">
            <a:xfrm>
              <a:off x="7339056" y="219193"/>
              <a:ext cx="605617"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6.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Control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Risk</a:t>
              </a:r>
              <a:endParaRPr/>
            </a:p>
          </p:txBody>
        </p:sp>
      </p:grpSp>
      <p:sp>
        <p:nvSpPr>
          <p:cNvPr id="1055516668" name="TextBox 1"/>
          <p:cNvSpPr txBox="1"/>
          <p:nvPr/>
        </p:nvSpPr>
        <p:spPr bwMode="auto">
          <a:xfrm>
            <a:off x="11155680" y="6048573"/>
            <a:ext cx="858520" cy="307777"/>
          </a:xfrm>
          <a:prstGeom prst="rect">
            <a:avLst/>
          </a:prstGeom>
          <a:noFill/>
          <a:ln>
            <a:solidFill>
              <a:srgbClr val="FF0000"/>
            </a:solidFill>
          </a:ln>
        </p:spPr>
        <p:txBody>
          <a:bodyPr wrap="square" rtlCol="0">
            <a:spAutoFit/>
          </a:bodyPr>
          <a:lstStyle/>
          <a:p>
            <a:pPr>
              <a:defRPr/>
            </a:pPr>
            <a:r>
              <a:rPr lang="en-MY">
                <a:solidFill>
                  <a:srgbClr val="FF0000"/>
                </a:solidFill>
              </a:rPr>
              <a:t>S / Ch 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sld>
</file>

<file path=ppt/slides/slide1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14858288" name="Google Shape;1658;p97"/>
          <p:cNvSpPr txBox="1">
            <a:spLocks noGrp="1"/>
          </p:cNvSpPr>
          <p:nvPr>
            <p:ph type="body" idx="1"/>
          </p:nvPr>
        </p:nvSpPr>
        <p:spPr bwMode="auto">
          <a:xfrm>
            <a:off x="3124200" y="3733800"/>
            <a:ext cx="8382000" cy="2443162"/>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Calibri"/>
              <a:buNone/>
              <a:defRPr/>
            </a:pPr>
            <a:r>
              <a:rPr lang="en-US" b="1"/>
              <a:t>6. Control Risk</a:t>
            </a:r>
            <a:endParaRPr/>
          </a:p>
          <a:p>
            <a:pPr marL="685800" lvl="1" indent="-228600" algn="l" rtl="0">
              <a:lnSpc>
                <a:spcPct val="90000"/>
              </a:lnSpc>
              <a:spcBef>
                <a:spcPts val="500"/>
              </a:spcBef>
              <a:spcAft>
                <a:spcPts val="0"/>
              </a:spcAft>
              <a:buClr>
                <a:schemeClr val="dk1"/>
              </a:buClr>
              <a:buSzPts val="2400"/>
              <a:buChar char="•"/>
              <a:defRPr/>
            </a:pPr>
            <a:r>
              <a:rPr lang="en-US"/>
              <a:t>Monitor identified and residual risks, identify new risks, carry out risk response plans, and evaluate the effectiveness of risk strategies throughout the life of the project. </a:t>
            </a:r>
            <a:endParaRPr/>
          </a:p>
          <a:p>
            <a:pPr marL="685800" lvl="1" indent="-228600" algn="l" rtl="0">
              <a:lnSpc>
                <a:spcPct val="90000"/>
              </a:lnSpc>
              <a:spcBef>
                <a:spcPts val="500"/>
              </a:spcBef>
              <a:spcAft>
                <a:spcPts val="0"/>
              </a:spcAft>
              <a:buClr>
                <a:schemeClr val="dk1"/>
              </a:buClr>
              <a:buSzPts val="2400"/>
              <a:buChar char="•"/>
              <a:defRPr/>
            </a:pPr>
            <a:r>
              <a:rPr lang="en-US"/>
              <a:t>Main outputs: change requests and updates to the risk register.</a:t>
            </a:r>
            <a:endParaRPr/>
          </a:p>
        </p:txBody>
      </p:sp>
      <p:sp>
        <p:nvSpPr>
          <p:cNvPr id="738191938" name="Google Shape;1659;p9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114</a:t>
            </a:fld>
            <a:endParaRPr/>
          </a:p>
        </p:txBody>
      </p:sp>
      <p:pic>
        <p:nvPicPr>
          <p:cNvPr id="88316769" name="Google Shape;1660;p97"/>
          <p:cNvPicPr/>
          <p:nvPr/>
        </p:nvPicPr>
        <p:blipFill rotWithShape="1">
          <a:blip r:embed="rId3">
            <a:alphaModFix/>
          </a:blip>
          <a:srcRect l="28148" t="0" r="45927" b="0"/>
          <a:stretch/>
        </p:blipFill>
        <p:spPr bwMode="auto">
          <a:xfrm>
            <a:off x="0" y="0"/>
            <a:ext cx="2667000" cy="6842113"/>
          </a:xfrm>
          <a:prstGeom prst="rect">
            <a:avLst/>
          </a:prstGeom>
          <a:noFill/>
          <a:ln>
            <a:noFill/>
          </a:ln>
        </p:spPr>
      </p:pic>
      <p:sp>
        <p:nvSpPr>
          <p:cNvPr id="874331481" name="Google Shape;1661;p97"/>
          <p:cNvSpPr txBox="1"/>
          <p:nvPr/>
        </p:nvSpPr>
        <p:spPr bwMode="auto">
          <a:xfrm>
            <a:off x="3086971" y="1074667"/>
            <a:ext cx="7010399" cy="71596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000"/>
              <a:buFont typeface="Calibri"/>
              <a:buNone/>
              <a:defRPr/>
            </a:pPr>
            <a:r>
              <a:rPr lang="en-US" sz="4000" b="1">
                <a:solidFill>
                  <a:schemeClr val="dk1"/>
                </a:solidFill>
                <a:latin typeface="Calibri"/>
                <a:ea typeface="Calibri"/>
                <a:cs typeface="Calibri"/>
              </a:rPr>
              <a:t>Project Risk Management</a:t>
            </a:r>
            <a:endParaRPr sz="4000" b="1">
              <a:solidFill>
                <a:schemeClr val="dk1"/>
              </a:solidFill>
              <a:latin typeface="Calibri"/>
              <a:ea typeface="Calibri"/>
              <a:cs typeface="Calibri"/>
            </a:endParaRPr>
          </a:p>
        </p:txBody>
      </p:sp>
      <p:sp>
        <p:nvSpPr>
          <p:cNvPr id="1339581776" name="Google Shape;1662;p97"/>
          <p:cNvSpPr txBox="1"/>
          <p:nvPr/>
        </p:nvSpPr>
        <p:spPr bwMode="auto">
          <a:xfrm>
            <a:off x="3124200" y="16764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548445074" name="Google Shape;1663;p97"/>
          <p:cNvCxnSpPr/>
          <p:nvPr/>
        </p:nvCxnSpPr>
        <p:spPr bwMode="auto">
          <a:xfrm rot="10800000">
            <a:off x="3239372" y="2149915"/>
            <a:ext cx="1023822" cy="0"/>
          </a:xfrm>
          <a:prstGeom prst="straightConnector1">
            <a:avLst/>
          </a:prstGeom>
          <a:noFill/>
          <a:ln w="28575" cap="flat" cmpd="sng">
            <a:solidFill>
              <a:srgbClr val="3F3F3F"/>
            </a:solidFill>
            <a:prstDash val="solid"/>
            <a:miter lim="800000"/>
            <a:headEnd type="none" w="sm" len="sm"/>
            <a:tailEnd type="none" w="sm" len="sm"/>
          </a:ln>
        </p:spPr>
      </p:cxnSp>
      <p:grpSp>
        <p:nvGrpSpPr>
          <p:cNvPr id="1840498289" name="Google Shape;1664;p97"/>
          <p:cNvGrpSpPr/>
          <p:nvPr/>
        </p:nvGrpSpPr>
        <p:grpSpPr bwMode="auto">
          <a:xfrm>
            <a:off x="3217376" y="2659367"/>
            <a:ext cx="8224728" cy="564981"/>
            <a:chOff x="2435" y="219193"/>
            <a:chExt cx="8224728" cy="564981"/>
          </a:xfrm>
        </p:grpSpPr>
        <p:sp>
          <p:nvSpPr>
            <p:cNvPr id="1665" name="Google Shape;1665;p97"/>
            <p:cNvSpPr/>
            <p:nvPr/>
          </p:nvSpPr>
          <p:spPr bwMode="auto">
            <a:xfrm>
              <a:off x="2435" y="219193"/>
              <a:ext cx="1412453" cy="564981"/>
            </a:xfrm>
            <a:prstGeom prst="homePlate">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66" name="Google Shape;1666;p97"/>
            <p:cNvSpPr txBox="1"/>
            <p:nvPr/>
          </p:nvSpPr>
          <p:spPr bwMode="auto">
            <a:xfrm>
              <a:off x="2435" y="219193"/>
              <a:ext cx="1271208" cy="564981"/>
            </a:xfrm>
            <a:prstGeom prst="rect">
              <a:avLst/>
            </a:prstGeom>
            <a:noFill/>
            <a:ln>
              <a:noFill/>
            </a:ln>
          </p:spPr>
          <p:txBody>
            <a:bodyPr spcFirstLastPara="1" wrap="square" lIns="64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1.                             Plan Risk Management</a:t>
              </a:r>
              <a:endParaRPr/>
            </a:p>
          </p:txBody>
        </p:sp>
        <p:sp>
          <p:nvSpPr>
            <p:cNvPr id="1667" name="Google Shape;1667;p97"/>
            <p:cNvSpPr/>
            <p:nvPr/>
          </p:nvSpPr>
          <p:spPr bwMode="auto">
            <a:xfrm>
              <a:off x="1132397" y="219193"/>
              <a:ext cx="1412453"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68" name="Google Shape;1668;p97"/>
            <p:cNvSpPr txBox="1"/>
            <p:nvPr/>
          </p:nvSpPr>
          <p:spPr bwMode="auto">
            <a:xfrm>
              <a:off x="1414888" y="219193"/>
              <a:ext cx="847472"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2.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Identify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Risk</a:t>
              </a:r>
              <a:endParaRPr/>
            </a:p>
          </p:txBody>
        </p:sp>
        <p:sp>
          <p:nvSpPr>
            <p:cNvPr id="1669" name="Google Shape;1669;p97"/>
            <p:cNvSpPr/>
            <p:nvPr/>
          </p:nvSpPr>
          <p:spPr bwMode="auto">
            <a:xfrm>
              <a:off x="2262360" y="219193"/>
              <a:ext cx="2029709"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70" name="Google Shape;1670;p97"/>
            <p:cNvSpPr txBox="1"/>
            <p:nvPr/>
          </p:nvSpPr>
          <p:spPr bwMode="auto">
            <a:xfrm>
              <a:off x="2544851" y="219193"/>
              <a:ext cx="1464728"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3.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Perform Qualitative Risk Analysis</a:t>
              </a:r>
              <a:endParaRPr/>
            </a:p>
          </p:txBody>
        </p:sp>
        <p:sp>
          <p:nvSpPr>
            <p:cNvPr id="1671" name="Google Shape;1671;p97"/>
            <p:cNvSpPr/>
            <p:nvPr/>
          </p:nvSpPr>
          <p:spPr bwMode="auto">
            <a:xfrm>
              <a:off x="4009579" y="219193"/>
              <a:ext cx="2199514"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72" name="Google Shape;1672;p97"/>
            <p:cNvSpPr txBox="1"/>
            <p:nvPr/>
          </p:nvSpPr>
          <p:spPr bwMode="auto">
            <a:xfrm>
              <a:off x="4292070" y="219193"/>
              <a:ext cx="1634533"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4.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Perform Quantitative Risk Analysis</a:t>
              </a:r>
              <a:endParaRPr/>
            </a:p>
          </p:txBody>
        </p:sp>
        <p:sp>
          <p:nvSpPr>
            <p:cNvPr id="1673" name="Google Shape;1673;p97"/>
            <p:cNvSpPr/>
            <p:nvPr/>
          </p:nvSpPr>
          <p:spPr bwMode="auto">
            <a:xfrm>
              <a:off x="5926603" y="219193"/>
              <a:ext cx="1412453" cy="564981"/>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74" name="Google Shape;1674;p97"/>
            <p:cNvSpPr txBox="1"/>
            <p:nvPr/>
          </p:nvSpPr>
          <p:spPr bwMode="auto">
            <a:xfrm>
              <a:off x="6209094" y="219193"/>
              <a:ext cx="847472"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5.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Plan Risk Response</a:t>
              </a:r>
              <a:endParaRPr/>
            </a:p>
          </p:txBody>
        </p:sp>
        <p:sp>
          <p:nvSpPr>
            <p:cNvPr id="1675" name="Google Shape;1675;p97"/>
            <p:cNvSpPr/>
            <p:nvPr/>
          </p:nvSpPr>
          <p:spPr bwMode="auto">
            <a:xfrm>
              <a:off x="7056565" y="219193"/>
              <a:ext cx="1170598" cy="564981"/>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76" name="Google Shape;1676;p97"/>
            <p:cNvSpPr txBox="1"/>
            <p:nvPr/>
          </p:nvSpPr>
          <p:spPr bwMode="auto">
            <a:xfrm>
              <a:off x="7339056" y="219193"/>
              <a:ext cx="605617" cy="564981"/>
            </a:xfrm>
            <a:prstGeom prst="rect">
              <a:avLst/>
            </a:prstGeom>
            <a:noFill/>
            <a:ln>
              <a:noFill/>
            </a:ln>
          </p:spPr>
          <p:txBody>
            <a:bodyPr spcFirstLastPara="1" wrap="square" lIns="48000" tIns="32000" rIns="16000" bIns="32000" anchor="ctr" anchorCtr="0">
              <a:noAutofit/>
            </a:bodyPr>
            <a:lstStyle/>
            <a:p>
              <a:pPr marL="0" marR="0" lvl="0" indent="0" algn="ctr" rtl="0">
                <a:lnSpc>
                  <a:spcPct val="90000"/>
                </a:lnSpc>
                <a:spcBef>
                  <a:spcPts val="0"/>
                </a:spcBef>
                <a:spcAft>
                  <a:spcPts val="0"/>
                </a:spcAft>
                <a:buNone/>
                <a:defRPr/>
              </a:pPr>
              <a:r>
                <a:rPr lang="en-US" sz="1200" b="0">
                  <a:solidFill>
                    <a:schemeClr val="lt1"/>
                  </a:solidFill>
                  <a:latin typeface="Calibri"/>
                  <a:ea typeface="Calibri"/>
                  <a:cs typeface="Calibri"/>
                </a:rPr>
                <a:t>6.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Control </a:t>
              </a:r>
              <a:br>
                <a:rPr lang="en-US" sz="1200" b="0">
                  <a:solidFill>
                    <a:schemeClr val="lt1"/>
                  </a:solidFill>
                  <a:latin typeface="Calibri"/>
                  <a:ea typeface="Calibri"/>
                  <a:cs typeface="Calibri"/>
                </a:rPr>
              </a:br>
              <a:r>
                <a:rPr lang="en-US" sz="1200" b="0">
                  <a:solidFill>
                    <a:schemeClr val="lt1"/>
                  </a:solidFill>
                  <a:latin typeface="Calibri"/>
                  <a:ea typeface="Calibri"/>
                  <a:cs typeface="Calibri"/>
                </a:rPr>
                <a:t>Risk</a:t>
              </a:r>
              <a:endParaRPr/>
            </a:p>
          </p:txBody>
        </p:sp>
      </p:grpSp>
      <p:sp>
        <p:nvSpPr>
          <p:cNvPr id="1687967854" name="TextBox 1"/>
          <p:cNvSpPr txBox="1"/>
          <p:nvPr/>
        </p:nvSpPr>
        <p:spPr bwMode="auto">
          <a:xfrm>
            <a:off x="11155680" y="6048573"/>
            <a:ext cx="858520" cy="307777"/>
          </a:xfrm>
          <a:prstGeom prst="rect">
            <a:avLst/>
          </a:prstGeom>
          <a:noFill/>
          <a:ln>
            <a:solidFill>
              <a:srgbClr val="FF0000"/>
            </a:solidFill>
          </a:ln>
        </p:spPr>
        <p:txBody>
          <a:bodyPr wrap="square" rtlCol="0">
            <a:spAutoFit/>
          </a:bodyPr>
          <a:lstStyle/>
          <a:p>
            <a:pPr>
              <a:defRPr/>
            </a:pPr>
            <a:r>
              <a:rPr lang="en-MY">
                <a:solidFill>
                  <a:srgbClr val="FF0000"/>
                </a:solidFill>
              </a:rPr>
              <a:t>S / Ch 5</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0" advClick="1"/>
    </mc:Choice>
    <mc:Fallback>
      <p:transition advClick="1"/>
    </mc:Fallback>
  </mc:AlternateContent>
</p:sld>
</file>

<file path=ppt/slides/slide1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25190615" name="Google Shape;721;p46"/>
          <p:cNvPicPr/>
          <p:nvPr/>
        </p:nvPicPr>
        <p:blipFill rotWithShape="1">
          <a:blip r:embed="rId3">
            <a:alphaModFix/>
          </a:blip>
          <a:srcRect l="21648" t="0" r="35518" b="0"/>
          <a:stretch/>
        </p:blipFill>
        <p:spPr bwMode="auto">
          <a:xfrm>
            <a:off x="-49211" y="-9876"/>
            <a:ext cx="4419600" cy="6867876"/>
          </a:xfrm>
          <a:prstGeom prst="rect">
            <a:avLst/>
          </a:prstGeom>
          <a:noFill/>
          <a:ln>
            <a:noFill/>
          </a:ln>
        </p:spPr>
      </p:pic>
      <p:grpSp>
        <p:nvGrpSpPr>
          <p:cNvPr id="377832511" name="Google Shape;723;p46"/>
          <p:cNvGrpSpPr/>
          <p:nvPr/>
        </p:nvGrpSpPr>
        <p:grpSpPr bwMode="auto">
          <a:xfrm>
            <a:off x="5101159" y="1733961"/>
            <a:ext cx="6100240" cy="4657009"/>
            <a:chOff x="5688824" y="1864854"/>
            <a:chExt cx="4394200" cy="4133851"/>
          </a:xfrm>
        </p:grpSpPr>
        <p:grpSp>
          <p:nvGrpSpPr>
            <p:cNvPr id="724" name="Google Shape;724;p46"/>
            <p:cNvGrpSpPr/>
            <p:nvPr/>
          </p:nvGrpSpPr>
          <p:grpSpPr bwMode="auto">
            <a:xfrm>
              <a:off x="6438123" y="2544305"/>
              <a:ext cx="3048000" cy="2873375"/>
              <a:chOff x="1981198" y="861054"/>
              <a:chExt cx="2895602" cy="2872745"/>
            </a:xfrm>
          </p:grpSpPr>
          <p:sp>
            <p:nvSpPr>
              <p:cNvPr id="725" name="Google Shape;725;p46"/>
              <p:cNvSpPr/>
              <p:nvPr/>
            </p:nvSpPr>
            <p:spPr bwMode="auto">
              <a:xfrm>
                <a:off x="1981198" y="861054"/>
                <a:ext cx="2895602" cy="2872745"/>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26" name="Google Shape;726;p46"/>
              <p:cNvSpPr/>
              <p:nvPr/>
            </p:nvSpPr>
            <p:spPr bwMode="auto">
              <a:xfrm>
                <a:off x="2405060" y="1281650"/>
                <a:ext cx="2047876" cy="2031554"/>
              </a:xfrm>
              <a:prstGeom prst="rect">
                <a:avLst/>
              </a:prstGeom>
              <a:noFill/>
              <a:ln>
                <a:noFill/>
              </a:ln>
            </p:spPr>
            <p:txBody>
              <a:bodyPr spcFirstLastPara="1" wrap="square" lIns="44450" tIns="44450" rIns="44450" bIns="44450" anchor="ctr" anchorCtr="0">
                <a:noAutofit/>
              </a:bodyPr>
              <a:lstStyle/>
              <a:p>
                <a:pPr marL="0" marR="0" lvl="0" indent="0" algn="ctr" rtl="0">
                  <a:lnSpc>
                    <a:spcPct val="90000"/>
                  </a:lnSpc>
                  <a:spcBef>
                    <a:spcPts val="0"/>
                  </a:spcBef>
                  <a:spcAft>
                    <a:spcPts val="0"/>
                  </a:spcAft>
                  <a:buNone/>
                  <a:defRPr/>
                </a:pPr>
                <a:r>
                  <a:rPr lang="en-US" sz="3500">
                    <a:solidFill>
                      <a:schemeClr val="dk1"/>
                    </a:solidFill>
                    <a:latin typeface="Calibri"/>
                    <a:ea typeface="Calibri"/>
                    <a:cs typeface="Calibri"/>
                  </a:rPr>
                  <a:t>Integration</a:t>
                </a:r>
                <a:endParaRPr/>
              </a:p>
            </p:txBody>
          </p:sp>
        </p:grpSp>
        <p:grpSp>
          <p:nvGrpSpPr>
            <p:cNvPr id="727" name="Google Shape;727;p46"/>
            <p:cNvGrpSpPr/>
            <p:nvPr/>
          </p:nvGrpSpPr>
          <p:grpSpPr bwMode="auto">
            <a:xfrm>
              <a:off x="7306486" y="1864854"/>
              <a:ext cx="1158875" cy="947738"/>
              <a:chOff x="2849129" y="181000"/>
              <a:chExt cx="1159740" cy="947887"/>
            </a:xfrm>
          </p:grpSpPr>
          <p:sp>
            <p:nvSpPr>
              <p:cNvPr id="728" name="Google Shape;728;p46"/>
              <p:cNvSpPr/>
              <p:nvPr/>
            </p:nvSpPr>
            <p:spPr bwMode="auto">
              <a:xfrm>
                <a:off x="2849129" y="181000"/>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29" name="Google Shape;729;p46"/>
              <p:cNvSpPr/>
              <p:nvPr/>
            </p:nvSpPr>
            <p:spPr bwMode="auto">
              <a:xfrm>
                <a:off x="3019119" y="319135"/>
                <a:ext cx="819761"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Scope</a:t>
                </a:r>
                <a:endParaRPr/>
              </a:p>
            </p:txBody>
          </p:sp>
        </p:grpSp>
        <p:grpSp>
          <p:nvGrpSpPr>
            <p:cNvPr id="730" name="Google Shape;730;p46"/>
            <p:cNvGrpSpPr/>
            <p:nvPr/>
          </p:nvGrpSpPr>
          <p:grpSpPr bwMode="auto">
            <a:xfrm>
              <a:off x="8495523" y="2249029"/>
              <a:ext cx="1160462" cy="947738"/>
              <a:chOff x="3904896" y="565268"/>
              <a:chExt cx="1159740" cy="947887"/>
            </a:xfrm>
          </p:grpSpPr>
          <p:sp>
            <p:nvSpPr>
              <p:cNvPr id="731" name="Google Shape;731;p46"/>
              <p:cNvSpPr/>
              <p:nvPr/>
            </p:nvSpPr>
            <p:spPr bwMode="auto">
              <a:xfrm>
                <a:off x="3904896" y="565268"/>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2" name="Google Shape;732;p46"/>
              <p:cNvSpPr/>
              <p:nvPr/>
            </p:nvSpPr>
            <p:spPr bwMode="auto">
              <a:xfrm>
                <a:off x="4074652" y="703403"/>
                <a:ext cx="820227"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Time</a:t>
                </a:r>
                <a:endParaRPr/>
              </a:p>
            </p:txBody>
          </p:sp>
        </p:grpSp>
        <p:grpSp>
          <p:nvGrpSpPr>
            <p:cNvPr id="733" name="Google Shape;733;p46"/>
            <p:cNvGrpSpPr/>
            <p:nvPr/>
          </p:nvGrpSpPr>
          <p:grpSpPr bwMode="auto">
            <a:xfrm>
              <a:off x="8922561" y="3222168"/>
              <a:ext cx="1160463" cy="947737"/>
              <a:chOff x="4466658" y="1538269"/>
              <a:chExt cx="1159740" cy="947887"/>
            </a:xfrm>
          </p:grpSpPr>
          <p:sp>
            <p:nvSpPr>
              <p:cNvPr id="734" name="Google Shape;734;p46"/>
              <p:cNvSpPr/>
              <p:nvPr/>
            </p:nvSpPr>
            <p:spPr bwMode="auto">
              <a:xfrm>
                <a:off x="4466658" y="1538269"/>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5" name="Google Shape;735;p46"/>
              <p:cNvSpPr/>
              <p:nvPr/>
            </p:nvSpPr>
            <p:spPr bwMode="auto">
              <a:xfrm>
                <a:off x="4636415" y="1676403"/>
                <a:ext cx="820226"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Cost</a:t>
                </a:r>
                <a:endParaRPr/>
              </a:p>
            </p:txBody>
          </p:sp>
        </p:grpSp>
        <p:grpSp>
          <p:nvGrpSpPr>
            <p:cNvPr id="736" name="Google Shape;736;p46"/>
            <p:cNvGrpSpPr/>
            <p:nvPr/>
          </p:nvGrpSpPr>
          <p:grpSpPr bwMode="auto">
            <a:xfrm>
              <a:off x="8800323" y="4328654"/>
              <a:ext cx="1160462" cy="947738"/>
              <a:chOff x="4271560" y="2644723"/>
              <a:chExt cx="1159740" cy="947887"/>
            </a:xfrm>
          </p:grpSpPr>
          <p:sp>
            <p:nvSpPr>
              <p:cNvPr id="737" name="Google Shape;737;p46"/>
              <p:cNvSpPr/>
              <p:nvPr/>
            </p:nvSpPr>
            <p:spPr bwMode="auto">
              <a:xfrm>
                <a:off x="4271560" y="2644723"/>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8" name="Google Shape;738;p46"/>
              <p:cNvSpPr/>
              <p:nvPr/>
            </p:nvSpPr>
            <p:spPr bwMode="auto">
              <a:xfrm>
                <a:off x="4441316" y="2782859"/>
                <a:ext cx="820227"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Quality</a:t>
                </a:r>
                <a:endParaRPr/>
              </a:p>
            </p:txBody>
          </p:sp>
        </p:grpSp>
        <p:grpSp>
          <p:nvGrpSpPr>
            <p:cNvPr id="739" name="Google Shape;739;p46"/>
            <p:cNvGrpSpPr/>
            <p:nvPr/>
          </p:nvGrpSpPr>
          <p:grpSpPr bwMode="auto">
            <a:xfrm>
              <a:off x="7912910" y="5050968"/>
              <a:ext cx="1160463" cy="947737"/>
              <a:chOff x="3410891" y="3366911"/>
              <a:chExt cx="1159740" cy="947887"/>
            </a:xfrm>
          </p:grpSpPr>
          <p:sp>
            <p:nvSpPr>
              <p:cNvPr id="740" name="Google Shape;740;p46"/>
              <p:cNvSpPr/>
              <p:nvPr/>
            </p:nvSpPr>
            <p:spPr bwMode="auto">
              <a:xfrm>
                <a:off x="3410891" y="3366911"/>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1" name="Google Shape;741;p46"/>
              <p:cNvSpPr/>
              <p:nvPr/>
            </p:nvSpPr>
            <p:spPr bwMode="auto">
              <a:xfrm>
                <a:off x="3580648" y="3505045"/>
                <a:ext cx="820226"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Human Resource</a:t>
                </a:r>
                <a:endParaRPr/>
              </a:p>
            </p:txBody>
          </p:sp>
        </p:grpSp>
        <p:grpSp>
          <p:nvGrpSpPr>
            <p:cNvPr id="742" name="Google Shape;742;p46"/>
            <p:cNvGrpSpPr/>
            <p:nvPr/>
          </p:nvGrpSpPr>
          <p:grpSpPr bwMode="auto">
            <a:xfrm>
              <a:off x="6684186" y="5050968"/>
              <a:ext cx="1160463" cy="947737"/>
              <a:chOff x="2287367" y="3366911"/>
              <a:chExt cx="1159740" cy="947887"/>
            </a:xfrm>
          </p:grpSpPr>
          <p:sp>
            <p:nvSpPr>
              <p:cNvPr id="743" name="Google Shape;743;p46"/>
              <p:cNvSpPr/>
              <p:nvPr/>
            </p:nvSpPr>
            <p:spPr bwMode="auto">
              <a:xfrm>
                <a:off x="2287367" y="3366911"/>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4" name="Google Shape;744;p46"/>
              <p:cNvSpPr/>
              <p:nvPr/>
            </p:nvSpPr>
            <p:spPr bwMode="auto">
              <a:xfrm>
                <a:off x="2338135" y="3505045"/>
                <a:ext cx="1032819"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Communication</a:t>
                </a:r>
                <a:endParaRPr/>
              </a:p>
            </p:txBody>
          </p:sp>
        </p:grpSp>
        <p:grpSp>
          <p:nvGrpSpPr>
            <p:cNvPr id="745" name="Google Shape;745;p46"/>
            <p:cNvGrpSpPr/>
            <p:nvPr/>
          </p:nvGrpSpPr>
          <p:grpSpPr bwMode="auto">
            <a:xfrm>
              <a:off x="5845986" y="4328654"/>
              <a:ext cx="1160463" cy="947738"/>
              <a:chOff x="1426698" y="2644723"/>
              <a:chExt cx="1159740" cy="947887"/>
            </a:xfrm>
          </p:grpSpPr>
          <p:sp>
            <p:nvSpPr>
              <p:cNvPr id="746" name="Google Shape;746;p46"/>
              <p:cNvSpPr/>
              <p:nvPr/>
            </p:nvSpPr>
            <p:spPr bwMode="auto">
              <a:xfrm>
                <a:off x="1426698" y="2644723"/>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7" name="Google Shape;747;p46"/>
              <p:cNvSpPr/>
              <p:nvPr/>
            </p:nvSpPr>
            <p:spPr bwMode="auto">
              <a:xfrm>
                <a:off x="1596455" y="2782859"/>
                <a:ext cx="820226"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Risk</a:t>
                </a:r>
                <a:endParaRPr/>
              </a:p>
            </p:txBody>
          </p:sp>
        </p:grpSp>
        <p:grpSp>
          <p:nvGrpSpPr>
            <p:cNvPr id="748" name="Google Shape;748;p46"/>
            <p:cNvGrpSpPr/>
            <p:nvPr/>
          </p:nvGrpSpPr>
          <p:grpSpPr bwMode="auto">
            <a:xfrm>
              <a:off x="5688824" y="3222168"/>
              <a:ext cx="1158875" cy="947737"/>
              <a:chOff x="1231599" y="1538269"/>
              <a:chExt cx="1159741" cy="947887"/>
            </a:xfrm>
          </p:grpSpPr>
          <p:sp>
            <p:nvSpPr>
              <p:cNvPr id="749" name="Google Shape;749;p46"/>
              <p:cNvSpPr/>
              <p:nvPr/>
            </p:nvSpPr>
            <p:spPr bwMode="auto">
              <a:xfrm>
                <a:off x="1231600" y="1538269"/>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50" name="Google Shape;750;p46"/>
              <p:cNvSpPr/>
              <p:nvPr/>
            </p:nvSpPr>
            <p:spPr bwMode="auto">
              <a:xfrm>
                <a:off x="1231599" y="1676403"/>
                <a:ext cx="1154974" cy="671619"/>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Procurement</a:t>
                </a:r>
                <a:endParaRPr/>
              </a:p>
            </p:txBody>
          </p:sp>
        </p:grpSp>
        <p:grpSp>
          <p:nvGrpSpPr>
            <p:cNvPr id="751" name="Google Shape;751;p46"/>
            <p:cNvGrpSpPr/>
            <p:nvPr/>
          </p:nvGrpSpPr>
          <p:grpSpPr bwMode="auto">
            <a:xfrm>
              <a:off x="6150786" y="2249029"/>
              <a:ext cx="1160463" cy="947738"/>
              <a:chOff x="1793362" y="565268"/>
              <a:chExt cx="1159740" cy="947887"/>
            </a:xfrm>
          </p:grpSpPr>
          <p:sp>
            <p:nvSpPr>
              <p:cNvPr id="752" name="Google Shape;752;p46"/>
              <p:cNvSpPr/>
              <p:nvPr/>
            </p:nvSpPr>
            <p:spPr bwMode="auto">
              <a:xfrm>
                <a:off x="1793362" y="565268"/>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53" name="Google Shape;753;p46"/>
              <p:cNvSpPr/>
              <p:nvPr/>
            </p:nvSpPr>
            <p:spPr bwMode="auto">
              <a:xfrm>
                <a:off x="1850476" y="703403"/>
                <a:ext cx="1102626" cy="67161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Stakeholders</a:t>
                </a:r>
                <a:endParaRPr/>
              </a:p>
            </p:txBody>
          </p:sp>
        </p:grpSp>
      </p:grpSp>
      <p:sp>
        <p:nvSpPr>
          <p:cNvPr id="1767295295" name="Google Shape;754;p46"/>
          <p:cNvSpPr txBox="1"/>
          <p:nvPr/>
        </p:nvSpPr>
        <p:spPr bwMode="auto">
          <a:xfrm>
            <a:off x="646828" y="987753"/>
            <a:ext cx="4929924" cy="3539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sp>
        <p:nvSpPr>
          <p:cNvPr id="404278962" name="Google Shape;755;p46"/>
          <p:cNvSpPr txBox="1"/>
          <p:nvPr/>
        </p:nvSpPr>
        <p:spPr bwMode="auto">
          <a:xfrm>
            <a:off x="681560" y="1703714"/>
            <a:ext cx="2970213"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defRPr/>
            </a:pPr>
            <a:r>
              <a:rPr lang="en-US" sz="2400">
                <a:solidFill>
                  <a:srgbClr val="FF0000"/>
                </a:solidFill>
                <a:latin typeface="Times New Roman"/>
                <a:ea typeface="Times New Roman"/>
                <a:cs typeface="Times New Roman"/>
              </a:rPr>
              <a:t>10 </a:t>
            </a:r>
            <a:r>
              <a:rPr lang="en-US" sz="2400">
                <a:solidFill>
                  <a:schemeClr val="dk1"/>
                </a:solidFill>
                <a:latin typeface="Times New Roman"/>
                <a:ea typeface="Times New Roman"/>
                <a:cs typeface="Times New Roman"/>
              </a:rPr>
              <a:t>Knowledge </a:t>
            </a:r>
            <a:r>
              <a:rPr lang="en-US" sz="2400">
                <a:solidFill>
                  <a:srgbClr val="FF0000"/>
                </a:solidFill>
                <a:latin typeface="Times New Roman"/>
                <a:ea typeface="Times New Roman"/>
                <a:cs typeface="Times New Roman"/>
              </a:rPr>
              <a:t>Areas</a:t>
            </a:r>
            <a:endParaRPr>
              <a:solidFill>
                <a:srgbClr val="FF0000"/>
              </a:solidFill>
            </a:endParaRPr>
          </a:p>
        </p:txBody>
      </p:sp>
      <p:sp>
        <p:nvSpPr>
          <p:cNvPr id="94815763" name="Google Shape;756;p4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115</a:t>
            </a:fld>
            <a:endParaRPr/>
          </a:p>
        </p:txBody>
      </p:sp>
      <p:cxnSp>
        <p:nvCxnSpPr>
          <p:cNvPr id="76692131" name="Google Shape;757;p46"/>
          <p:cNvCxnSpPr/>
          <p:nvPr/>
        </p:nvCxnSpPr>
        <p:spPr bwMode="auto">
          <a:xfrm rot="10800000">
            <a:off x="762000" y="1461268"/>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121718449" name="TextBox 2"/>
          <p:cNvSpPr txBox="1"/>
          <p:nvPr/>
        </p:nvSpPr>
        <p:spPr bwMode="auto">
          <a:xfrm>
            <a:off x="8413578" y="1973429"/>
            <a:ext cx="394043" cy="646331"/>
          </a:xfrm>
          <a:prstGeom prst="rect">
            <a:avLst/>
          </a:prstGeom>
          <a:noFill/>
        </p:spPr>
        <p:txBody>
          <a:bodyPr wrap="square" rtlCol="0">
            <a:spAutoFit/>
          </a:bodyPr>
          <a:lstStyle/>
          <a:p>
            <a:pPr>
              <a:defRPr/>
            </a:pPr>
            <a:r>
              <a:rPr lang="en-US" sz="3600">
                <a:solidFill>
                  <a:srgbClr val="FF0000"/>
                </a:solidFill>
                <a:latin typeface="Arimo"/>
                <a:ea typeface="Arimo"/>
                <a:cs typeface="Arimo"/>
              </a:rPr>
              <a:t>√</a:t>
            </a:r>
            <a:endParaRPr lang="en-MY" sz="3600">
              <a:solidFill>
                <a:srgbClr val="FF0000"/>
              </a:solidFill>
            </a:endParaRPr>
          </a:p>
        </p:txBody>
      </p:sp>
      <p:sp>
        <p:nvSpPr>
          <p:cNvPr id="322835841" name="TextBox 3"/>
          <p:cNvSpPr txBox="1"/>
          <p:nvPr/>
        </p:nvSpPr>
        <p:spPr bwMode="auto">
          <a:xfrm>
            <a:off x="9976067" y="2429683"/>
            <a:ext cx="394043" cy="646331"/>
          </a:xfrm>
          <a:prstGeom prst="rect">
            <a:avLst/>
          </a:prstGeom>
          <a:noFill/>
        </p:spPr>
        <p:txBody>
          <a:bodyPr wrap="square" rtlCol="0">
            <a:spAutoFit/>
          </a:bodyPr>
          <a:lstStyle/>
          <a:p>
            <a:pPr>
              <a:defRPr/>
            </a:pPr>
            <a:r>
              <a:rPr lang="en-US" sz="3600">
                <a:solidFill>
                  <a:srgbClr val="FF0000"/>
                </a:solidFill>
                <a:latin typeface="Arimo"/>
                <a:ea typeface="Arimo"/>
                <a:cs typeface="Arimo"/>
              </a:rPr>
              <a:t>√</a:t>
            </a:r>
            <a:endParaRPr lang="en-MY" sz="3600">
              <a:solidFill>
                <a:srgbClr val="FF0000"/>
              </a:solidFill>
            </a:endParaRPr>
          </a:p>
        </p:txBody>
      </p:sp>
      <p:sp>
        <p:nvSpPr>
          <p:cNvPr id="1251281418" name="TextBox 4"/>
          <p:cNvSpPr txBox="1"/>
          <p:nvPr/>
        </p:nvSpPr>
        <p:spPr bwMode="auto">
          <a:xfrm>
            <a:off x="10564930" y="3540400"/>
            <a:ext cx="394043" cy="646331"/>
          </a:xfrm>
          <a:prstGeom prst="rect">
            <a:avLst/>
          </a:prstGeom>
          <a:noFill/>
        </p:spPr>
        <p:txBody>
          <a:bodyPr wrap="square" rtlCol="0">
            <a:spAutoFit/>
          </a:bodyPr>
          <a:lstStyle/>
          <a:p>
            <a:pPr>
              <a:defRPr/>
            </a:pPr>
            <a:r>
              <a:rPr lang="en-US" sz="3600">
                <a:solidFill>
                  <a:srgbClr val="FF0000"/>
                </a:solidFill>
                <a:latin typeface="Arimo"/>
                <a:ea typeface="Arimo"/>
                <a:cs typeface="Arimo"/>
              </a:rPr>
              <a:t>√</a:t>
            </a:r>
            <a:endParaRPr lang="en-MY" sz="3600">
              <a:solidFill>
                <a:srgbClr val="FF0000"/>
              </a:solidFill>
            </a:endParaRPr>
          </a:p>
        </p:txBody>
      </p:sp>
      <p:sp>
        <p:nvSpPr>
          <p:cNvPr id="2096164378" name="TextBox 5"/>
          <p:cNvSpPr txBox="1"/>
          <p:nvPr/>
        </p:nvSpPr>
        <p:spPr bwMode="auto">
          <a:xfrm>
            <a:off x="9324344" y="5682824"/>
            <a:ext cx="394043" cy="646331"/>
          </a:xfrm>
          <a:prstGeom prst="rect">
            <a:avLst/>
          </a:prstGeom>
          <a:noFill/>
        </p:spPr>
        <p:txBody>
          <a:bodyPr wrap="square" rtlCol="0">
            <a:spAutoFit/>
          </a:bodyPr>
          <a:lstStyle/>
          <a:p>
            <a:pPr>
              <a:defRPr/>
            </a:pPr>
            <a:r>
              <a:rPr lang="en-US" sz="3600">
                <a:solidFill>
                  <a:srgbClr val="FF0000"/>
                </a:solidFill>
                <a:latin typeface="Arimo"/>
                <a:ea typeface="Arimo"/>
                <a:cs typeface="Arimo"/>
              </a:rPr>
              <a:t>√</a:t>
            </a:r>
            <a:endParaRPr lang="en-MY" sz="3600">
              <a:solidFill>
                <a:srgbClr val="FF0000"/>
              </a:solidFill>
            </a:endParaRPr>
          </a:p>
        </p:txBody>
      </p:sp>
      <p:sp>
        <p:nvSpPr>
          <p:cNvPr id="449617968" name="TextBox 6"/>
          <p:cNvSpPr txBox="1"/>
          <p:nvPr/>
        </p:nvSpPr>
        <p:spPr bwMode="auto">
          <a:xfrm>
            <a:off x="9859078" y="5116730"/>
            <a:ext cx="1624168" cy="276999"/>
          </a:xfrm>
          <a:prstGeom prst="rect">
            <a:avLst/>
          </a:prstGeom>
          <a:noFill/>
        </p:spPr>
        <p:txBody>
          <a:bodyPr wrap="square" rtlCol="0">
            <a:spAutoFit/>
          </a:bodyPr>
          <a:lstStyle/>
          <a:p>
            <a:pPr>
              <a:defRPr/>
            </a:pPr>
            <a:r>
              <a:rPr lang="en-US" sz="1200" i="1">
                <a:solidFill>
                  <a:srgbClr val="0000FF"/>
                </a:solidFill>
                <a:latin typeface="Arimo"/>
                <a:ea typeface="Arimo"/>
                <a:cs typeface="Arimo"/>
              </a:rPr>
              <a:t>(CHAP3)</a:t>
            </a:r>
            <a:endParaRPr lang="en-MY" sz="1200" i="1">
              <a:solidFill>
                <a:srgbClr val="0000FF"/>
              </a:solidFill>
            </a:endParaRPr>
          </a:p>
        </p:txBody>
      </p:sp>
      <p:sp>
        <p:nvSpPr>
          <p:cNvPr id="1491861824" name="TextBox 1"/>
          <p:cNvSpPr txBox="1"/>
          <p:nvPr/>
        </p:nvSpPr>
        <p:spPr bwMode="auto">
          <a:xfrm>
            <a:off x="7728655" y="5621114"/>
            <a:ext cx="394043" cy="646331"/>
          </a:xfrm>
          <a:prstGeom prst="rect">
            <a:avLst/>
          </a:prstGeom>
          <a:noFill/>
        </p:spPr>
        <p:txBody>
          <a:bodyPr wrap="square" rtlCol="0">
            <a:spAutoFit/>
          </a:bodyPr>
          <a:lstStyle/>
          <a:p>
            <a:pPr>
              <a:defRPr/>
            </a:pPr>
            <a:r>
              <a:rPr lang="en-US" sz="3600">
                <a:solidFill>
                  <a:srgbClr val="FF0000"/>
                </a:solidFill>
                <a:latin typeface="Arimo"/>
                <a:ea typeface="Arimo"/>
                <a:cs typeface="Arimo"/>
              </a:rPr>
              <a:t>√</a:t>
            </a:r>
            <a:endParaRPr lang="en-MY" sz="3600">
              <a:solidFill>
                <a:srgbClr val="FF0000"/>
              </a:solidFill>
            </a:endParaRPr>
          </a:p>
        </p:txBody>
      </p:sp>
      <p:sp>
        <p:nvSpPr>
          <p:cNvPr id="1868525624" name="TextBox 7"/>
          <p:cNvSpPr txBox="1"/>
          <p:nvPr/>
        </p:nvSpPr>
        <p:spPr bwMode="auto">
          <a:xfrm>
            <a:off x="5781629" y="5074907"/>
            <a:ext cx="1624168" cy="276999"/>
          </a:xfrm>
          <a:prstGeom prst="rect">
            <a:avLst/>
          </a:prstGeom>
          <a:noFill/>
        </p:spPr>
        <p:txBody>
          <a:bodyPr wrap="square" rtlCol="0">
            <a:spAutoFit/>
          </a:bodyPr>
          <a:lstStyle/>
          <a:p>
            <a:pPr>
              <a:defRPr/>
            </a:pPr>
            <a:r>
              <a:rPr lang="en-US" sz="1200" i="1">
                <a:solidFill>
                  <a:srgbClr val="0000FF"/>
                </a:solidFill>
                <a:latin typeface="Arimo"/>
                <a:ea typeface="Arimo"/>
                <a:cs typeface="Arimo"/>
              </a:rPr>
              <a:t>(CHAP5)</a:t>
            </a:r>
            <a:endParaRPr lang="en-MY" sz="1200" i="1">
              <a:solidFill>
                <a:srgbClr val="0000FF"/>
              </a:solidFill>
            </a:endParaRPr>
          </a:p>
        </p:txBody>
      </p:sp>
      <p:sp>
        <p:nvSpPr>
          <p:cNvPr id="1963419061" name="TextBox 8"/>
          <p:cNvSpPr txBox="1"/>
          <p:nvPr/>
        </p:nvSpPr>
        <p:spPr bwMode="auto">
          <a:xfrm>
            <a:off x="6910959" y="2499400"/>
            <a:ext cx="394043" cy="646331"/>
          </a:xfrm>
          <a:prstGeom prst="rect">
            <a:avLst/>
          </a:prstGeom>
          <a:noFill/>
        </p:spPr>
        <p:txBody>
          <a:bodyPr wrap="square" rtlCol="0">
            <a:spAutoFit/>
          </a:bodyPr>
          <a:lstStyle/>
          <a:p>
            <a:pPr>
              <a:defRPr/>
            </a:pPr>
            <a:r>
              <a:rPr lang="en-US" sz="3600">
                <a:solidFill>
                  <a:srgbClr val="FF0000"/>
                </a:solidFill>
                <a:latin typeface="Arimo"/>
                <a:ea typeface="Arimo"/>
                <a:cs typeface="Arimo"/>
              </a:rPr>
              <a:t>√</a:t>
            </a:r>
            <a:endParaRPr lang="en-MY" sz="3600">
              <a:solidFill>
                <a:srgbClr val="FF0000"/>
              </a:solidFill>
            </a:endParaRPr>
          </a:p>
        </p:txBody>
      </p:sp>
      <p:sp>
        <p:nvSpPr>
          <p:cNvPr id="718578094" name="Title 10"/>
          <p:cNvSpPr>
            <a:spLocks noGrp="1"/>
          </p:cNvSpPr>
          <p:nvPr>
            <p:ph type="title"/>
          </p:nvPr>
        </p:nvSpPr>
        <p:spPr bwMode="auto"/>
        <p:txBody>
          <a:bodyPr/>
          <a:lstStyle/>
          <a:p>
            <a:pPr>
              <a:defRPr/>
            </a:pPr>
            <a:endParaRPr lang="en-GB"/>
          </a:p>
        </p:txBody>
      </p:sp>
      <p:cxnSp>
        <p:nvCxnSpPr>
          <p:cNvPr id="1069049507" name="Straight Connector 11"/>
          <p:cNvCxnSpPr/>
          <p:nvPr/>
        </p:nvCxnSpPr>
        <p:spPr bwMode="auto">
          <a:xfrm>
            <a:off x="5354464" y="3967568"/>
            <a:ext cx="1003884"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868525624"/>
                                        </p:tgtEl>
                                        <p:attrNameLst>
                                          <p:attrName>style.visibility</p:attrName>
                                        </p:attrNameLst>
                                      </p:cBhvr>
                                      <p:to>
                                        <p:strVal val="visible"/>
                                      </p:to>
                                    </p:set>
                                    <p:animEffect transition="in" filter="wipe(left)">
                                      <p:cBhvr>
                                        <p:cTn id="7" dur="500"/>
                                        <p:tgtEl>
                                          <p:spTgt spid="18685256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69049507"/>
                                        </p:tgtEl>
                                        <p:attrNameLst>
                                          <p:attrName>style.visibility</p:attrName>
                                        </p:attrNameLst>
                                      </p:cBhvr>
                                      <p:to>
                                        <p:strVal val="visible"/>
                                      </p:to>
                                    </p:set>
                                    <p:animEffect transition="in" filter="wipe(left)">
                                      <p:cBhvr>
                                        <p:cTn id="12" dur="500"/>
                                        <p:tgtEl>
                                          <p:spTgt spid="1069049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8525624" grpId="0"/>
    </p:bldLst>
  </p:timing>
</p:sld>
</file>

<file path=ppt/slides/slide1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3483785" name="Google Shape;1681;p98"/>
          <p:cNvSpPr txBox="1">
            <a:spLocks noGrp="1"/>
          </p:cNvSpPr>
          <p:nvPr>
            <p:ph type="body" idx="1"/>
          </p:nvPr>
        </p:nvSpPr>
        <p:spPr bwMode="auto">
          <a:xfrm>
            <a:off x="533399" y="2035310"/>
            <a:ext cx="6161869" cy="4027817"/>
          </a:xfrm>
          <a:prstGeom prst="rect">
            <a:avLst/>
          </a:prstGeom>
          <a:noFill/>
          <a:ln>
            <a:noFill/>
          </a:ln>
        </p:spPr>
        <p:txBody>
          <a:bodyPr spcFirstLastPara="1" wrap="square" lIns="91425" tIns="45700" rIns="91425" bIns="45700" anchor="t" anchorCtr="0">
            <a:normAutofit lnSpcReduction="10000"/>
          </a:bodyPr>
          <a:lstStyle/>
          <a:p>
            <a:pPr marL="228600" lvl="0" indent="-228600">
              <a:lnSpc>
                <a:spcPct val="80000"/>
              </a:lnSpc>
              <a:spcBef>
                <a:spcPts val="0"/>
              </a:spcBef>
              <a:buSzPts val="2800"/>
              <a:defRPr/>
            </a:pPr>
            <a:r>
              <a:rPr lang="en-US" sz="2800"/>
              <a:t>Includes the processes required </a:t>
            </a:r>
            <a:r>
              <a:rPr lang="en-US" sz="2800" b="1">
                <a:solidFill>
                  <a:srgbClr val="FF0000"/>
                </a:solidFill>
              </a:rPr>
              <a:t>to</a:t>
            </a:r>
            <a:r>
              <a:rPr lang="en-US" sz="2800">
                <a:solidFill>
                  <a:srgbClr val="FF0000"/>
                </a:solidFill>
              </a:rPr>
              <a:t> </a:t>
            </a:r>
            <a:r>
              <a:rPr lang="en-US" sz="2800" b="1">
                <a:solidFill>
                  <a:srgbClr val="FF0000"/>
                </a:solidFill>
              </a:rPr>
              <a:t>acquire goods and services </a:t>
            </a:r>
            <a:r>
              <a:rPr lang="en-US" sz="2800" b="1"/>
              <a:t>for a project from an </a:t>
            </a:r>
            <a:r>
              <a:rPr lang="en-US" sz="2800" b="1" u="sng"/>
              <a:t>outside source </a:t>
            </a:r>
            <a:r>
              <a:rPr lang="en-US" sz="2400" i="1"/>
              <a:t>(supplier/vendor/contractor/seller).</a:t>
            </a:r>
            <a:endParaRPr sz="2400" i="1"/>
          </a:p>
          <a:p>
            <a:pPr marL="228600" lvl="0" indent="-228600" algn="l" rtl="0">
              <a:lnSpc>
                <a:spcPct val="80000"/>
              </a:lnSpc>
              <a:spcBef>
                <a:spcPts val="1000"/>
              </a:spcBef>
              <a:spcAft>
                <a:spcPts val="0"/>
              </a:spcAft>
              <a:buClr>
                <a:schemeClr val="dk1"/>
              </a:buClr>
              <a:buSzPts val="2800"/>
              <a:buChar char="•"/>
              <a:defRPr/>
            </a:pPr>
            <a:r>
              <a:rPr lang="en-US" sz="2800"/>
              <a:t>Organizations can be either the buyer or seller of products or services under a contract.</a:t>
            </a:r>
            <a:endParaRPr/>
          </a:p>
          <a:p>
            <a:pPr marL="269875" indent="-269875">
              <a:lnSpc>
                <a:spcPct val="80000"/>
              </a:lnSpc>
              <a:buSzPts val="2800"/>
              <a:defRPr/>
            </a:pPr>
            <a:r>
              <a:rPr lang="en-US" sz="2800" b="1"/>
              <a:t>3 main processes in Procurement Management:</a:t>
            </a:r>
            <a:endParaRPr b="1"/>
          </a:p>
          <a:p>
            <a:pPr marL="914400" lvl="1" indent="-457200" algn="l" rtl="0">
              <a:lnSpc>
                <a:spcPct val="80000"/>
              </a:lnSpc>
              <a:spcBef>
                <a:spcPts val="500"/>
              </a:spcBef>
              <a:spcAft>
                <a:spcPts val="0"/>
              </a:spcAft>
              <a:buClr>
                <a:schemeClr val="dk1"/>
              </a:buClr>
              <a:buSzPts val="2400"/>
              <a:buFont typeface="Calibri"/>
              <a:buAutoNum type="arabicPeriod"/>
              <a:defRPr/>
            </a:pPr>
            <a:r>
              <a:rPr lang="en-US" sz="2400" u="sng"/>
              <a:t>Plan</a:t>
            </a:r>
            <a:r>
              <a:rPr lang="en-US" sz="2400"/>
              <a:t> Procurement Management</a:t>
            </a:r>
            <a:endParaRPr/>
          </a:p>
          <a:p>
            <a:pPr marL="914400" lvl="1" indent="-457200" algn="l" rtl="0">
              <a:lnSpc>
                <a:spcPct val="80000"/>
              </a:lnSpc>
              <a:spcBef>
                <a:spcPts val="500"/>
              </a:spcBef>
              <a:spcAft>
                <a:spcPts val="0"/>
              </a:spcAft>
              <a:buClr>
                <a:schemeClr val="dk1"/>
              </a:buClr>
              <a:buSzPts val="2400"/>
              <a:buFont typeface="Calibri"/>
              <a:buAutoNum type="arabicPeriod"/>
              <a:defRPr/>
            </a:pPr>
            <a:r>
              <a:rPr lang="en-US" sz="2400" u="sng"/>
              <a:t>Conduct</a:t>
            </a:r>
            <a:r>
              <a:rPr lang="en-US" sz="2400"/>
              <a:t> Procurement</a:t>
            </a:r>
            <a:endParaRPr/>
          </a:p>
          <a:p>
            <a:pPr marL="914400" lvl="1" indent="-457200" algn="l" rtl="0">
              <a:lnSpc>
                <a:spcPct val="80000"/>
              </a:lnSpc>
              <a:spcBef>
                <a:spcPts val="500"/>
              </a:spcBef>
              <a:spcAft>
                <a:spcPts val="0"/>
              </a:spcAft>
              <a:buClr>
                <a:schemeClr val="dk1"/>
              </a:buClr>
              <a:buSzPts val="2400"/>
              <a:buFont typeface="Calibri"/>
              <a:buAutoNum type="arabicPeriod"/>
              <a:defRPr/>
            </a:pPr>
            <a:r>
              <a:rPr lang="en-US" sz="2400" u="sng"/>
              <a:t>Control</a:t>
            </a:r>
            <a:r>
              <a:rPr lang="en-US" sz="2400"/>
              <a:t> Procurement</a:t>
            </a:r>
            <a:endParaRPr/>
          </a:p>
          <a:p>
            <a:pPr marL="685800" lvl="1" indent="-76200" algn="l" rtl="0">
              <a:lnSpc>
                <a:spcPct val="80000"/>
              </a:lnSpc>
              <a:spcBef>
                <a:spcPts val="500"/>
              </a:spcBef>
              <a:spcAft>
                <a:spcPts val="0"/>
              </a:spcAft>
              <a:buClr>
                <a:schemeClr val="dk1"/>
              </a:buClr>
              <a:buSzPts val="2400"/>
              <a:buNone/>
              <a:defRPr/>
            </a:pPr>
            <a:endParaRPr sz="2400"/>
          </a:p>
        </p:txBody>
      </p:sp>
      <p:sp>
        <p:nvSpPr>
          <p:cNvPr id="1523580573" name="Google Shape;1682;p98"/>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116</a:t>
            </a:fld>
            <a:endParaRPr/>
          </a:p>
        </p:txBody>
      </p:sp>
      <p:sp>
        <p:nvSpPr>
          <p:cNvPr id="1855710718" name="Google Shape;1683;p98"/>
          <p:cNvSpPr txBox="1"/>
          <p:nvPr/>
        </p:nvSpPr>
        <p:spPr bwMode="auto">
          <a:xfrm>
            <a:off x="699179" y="693667"/>
            <a:ext cx="6971428" cy="715961"/>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a:t>
            </a:r>
            <a:r>
              <a:rPr lang="en-US" sz="4000" b="1" u="sng">
                <a:solidFill>
                  <a:srgbClr val="FF0000"/>
                </a:solidFill>
                <a:latin typeface="Calibri"/>
                <a:ea typeface="Calibri"/>
                <a:cs typeface="Calibri"/>
              </a:rPr>
              <a:t>Procurement</a:t>
            </a:r>
            <a:r>
              <a:rPr lang="en-US" sz="4000" b="1">
                <a:solidFill>
                  <a:schemeClr val="dk1"/>
                </a:solidFill>
                <a:latin typeface="Calibri"/>
                <a:ea typeface="Calibri"/>
                <a:cs typeface="Calibri"/>
              </a:rPr>
              <a:t> Management</a:t>
            </a:r>
            <a:endParaRPr sz="4000" b="1">
              <a:solidFill>
                <a:schemeClr val="dk1"/>
              </a:solidFill>
              <a:latin typeface="Calibri"/>
              <a:ea typeface="Calibri"/>
              <a:cs typeface="Calibri"/>
            </a:endParaRPr>
          </a:p>
        </p:txBody>
      </p:sp>
      <p:sp>
        <p:nvSpPr>
          <p:cNvPr id="1172961591" name="Google Shape;1684;p98"/>
          <p:cNvSpPr txBox="1"/>
          <p:nvPr/>
        </p:nvSpPr>
        <p:spPr bwMode="auto">
          <a:xfrm>
            <a:off x="736406" y="12954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098763289" name="Google Shape;1685;p98"/>
          <p:cNvCxnSpPr/>
          <p:nvPr/>
        </p:nvCxnSpPr>
        <p:spPr bwMode="auto">
          <a:xfrm rot="10800000">
            <a:off x="851579" y="1768915"/>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249463064" name="TextBox 1"/>
          <p:cNvSpPr txBox="1"/>
          <p:nvPr/>
        </p:nvSpPr>
        <p:spPr bwMode="auto">
          <a:xfrm>
            <a:off x="7492127" y="2073715"/>
            <a:ext cx="3835595" cy="2339102"/>
          </a:xfrm>
          <a:prstGeom prst="rect">
            <a:avLst/>
          </a:prstGeom>
          <a:noFill/>
          <a:ln>
            <a:solidFill>
              <a:schemeClr val="accent1"/>
            </a:solidFill>
          </a:ln>
        </p:spPr>
        <p:txBody>
          <a:bodyPr wrap="square" rtlCol="0">
            <a:spAutoFit/>
          </a:bodyPr>
          <a:lstStyle/>
          <a:p>
            <a:pPr>
              <a:defRPr/>
            </a:pPr>
            <a:r>
              <a:rPr lang="en-US" sz="1800" b="1">
                <a:solidFill>
                  <a:srgbClr val="FF0000"/>
                </a:solidFill>
              </a:rPr>
              <a:t>Examples of </a:t>
            </a:r>
            <a:r>
              <a:rPr lang="en-US" sz="1800" b="1" u="sng">
                <a:solidFill>
                  <a:srgbClr val="FF0000"/>
                </a:solidFill>
              </a:rPr>
              <a:t>Goods</a:t>
            </a:r>
            <a:r>
              <a:rPr lang="en-US" sz="1800" b="1">
                <a:solidFill>
                  <a:srgbClr val="FF0000"/>
                </a:solidFill>
              </a:rPr>
              <a:t> to acquire</a:t>
            </a:r>
            <a:endParaRPr/>
          </a:p>
          <a:p>
            <a:pPr>
              <a:defRPr/>
            </a:pPr>
            <a:r>
              <a:rPr lang="en-GB" sz="1600">
                <a:solidFill>
                  <a:srgbClr val="FF0000"/>
                </a:solidFill>
              </a:rPr>
              <a:t>Hardware:</a:t>
            </a:r>
            <a:endParaRPr/>
          </a:p>
          <a:p>
            <a:pPr>
              <a:defRPr/>
            </a:pPr>
            <a:r>
              <a:rPr lang="en-GB" sz="1600"/>
              <a:t>servers, computers, laptops, tablets, mobile devices, printers, scanners, etc.</a:t>
            </a:r>
            <a:endParaRPr/>
          </a:p>
          <a:p>
            <a:pPr>
              <a:defRPr/>
            </a:pPr>
            <a:endParaRPr lang="en-GB" sz="1600" b="1"/>
          </a:p>
          <a:p>
            <a:pPr>
              <a:defRPr/>
            </a:pPr>
            <a:r>
              <a:rPr lang="en-GB" sz="1600">
                <a:solidFill>
                  <a:srgbClr val="FF0000"/>
                </a:solidFill>
              </a:rPr>
              <a:t>Software:</a:t>
            </a:r>
            <a:endParaRPr/>
          </a:p>
          <a:p>
            <a:pPr>
              <a:defRPr/>
            </a:pPr>
            <a:r>
              <a:rPr lang="en-GB" sz="1600"/>
              <a:t>operating systems, development tools, project management software, database management systems, MS Office, etc</a:t>
            </a:r>
            <a:endParaRPr/>
          </a:p>
        </p:txBody>
      </p:sp>
      <p:sp>
        <p:nvSpPr>
          <p:cNvPr id="1981264243" name="TextBox 5"/>
          <p:cNvSpPr txBox="1"/>
          <p:nvPr/>
        </p:nvSpPr>
        <p:spPr bwMode="auto">
          <a:xfrm>
            <a:off x="7492127" y="4518898"/>
            <a:ext cx="3835595" cy="1354217"/>
          </a:xfrm>
          <a:prstGeom prst="rect">
            <a:avLst/>
          </a:prstGeom>
          <a:noFill/>
          <a:ln>
            <a:solidFill>
              <a:schemeClr val="accent1"/>
            </a:solidFill>
          </a:ln>
        </p:spPr>
        <p:txBody>
          <a:bodyPr wrap="square" rtlCol="0">
            <a:spAutoFit/>
          </a:bodyPr>
          <a:lstStyle/>
          <a:p>
            <a:pPr>
              <a:defRPr/>
            </a:pPr>
            <a:r>
              <a:rPr lang="en-US" sz="1800" b="1">
                <a:solidFill>
                  <a:srgbClr val="FF0000"/>
                </a:solidFill>
              </a:rPr>
              <a:t>Examples of </a:t>
            </a:r>
            <a:r>
              <a:rPr lang="en-US" sz="1800" b="1" u="sng">
                <a:solidFill>
                  <a:srgbClr val="FF0000"/>
                </a:solidFill>
              </a:rPr>
              <a:t>services</a:t>
            </a:r>
            <a:r>
              <a:rPr lang="en-US" sz="1800" b="1">
                <a:solidFill>
                  <a:srgbClr val="FF0000"/>
                </a:solidFill>
              </a:rPr>
              <a:t> to acquire</a:t>
            </a:r>
            <a:endParaRPr/>
          </a:p>
          <a:p>
            <a:pPr>
              <a:defRPr/>
            </a:pPr>
            <a:r>
              <a:rPr lang="en-US" sz="1600">
                <a:solidFill>
                  <a:srgbClr val="FF0000"/>
                </a:solidFill>
              </a:rPr>
              <a:t>Software testing: </a:t>
            </a:r>
            <a:endParaRPr/>
          </a:p>
          <a:p>
            <a:pPr>
              <a:defRPr/>
            </a:pPr>
            <a:r>
              <a:rPr lang="en-US" sz="1600"/>
              <a:t>usability testing, </a:t>
            </a:r>
            <a:r>
              <a:rPr lang="en-US" sz="1600"/>
              <a:t>etc</a:t>
            </a:r>
            <a:endParaRPr lang="en-GB" sz="1600" b="1"/>
          </a:p>
          <a:p>
            <a:pPr>
              <a:defRPr/>
            </a:pPr>
            <a:r>
              <a:rPr lang="en-US" sz="1600">
                <a:solidFill>
                  <a:srgbClr val="FF0000"/>
                </a:solidFill>
              </a:rPr>
              <a:t>Training:</a:t>
            </a:r>
            <a:endParaRPr/>
          </a:p>
          <a:p>
            <a:pPr>
              <a:defRPr/>
            </a:pPr>
            <a:r>
              <a:rPr lang="en-US" sz="1600"/>
              <a:t>provide training for end-users</a:t>
            </a:r>
            <a:endParaRPr lang="en-GB"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comb dir="horz"/>
      </p:transition>
    </mc:Choice>
    <mc:Fallback>
      <p:transition spd="med" advClick="1">
        <p:comb dir="horz"/>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855710718">
                                            <p:txEl>
                                              <p:pRg st="0" end="0"/>
                                            </p:txEl>
                                          </p:spTgt>
                                        </p:tgtEl>
                                        <p:attrNameLst>
                                          <p:attrName>style.visibility</p:attrName>
                                        </p:attrNameLst>
                                      </p:cBhvr>
                                      <p:to>
                                        <p:strVal val="visible"/>
                                      </p:to>
                                    </p:set>
                                    <p:anim calcmode="lin" valueType="num">
                                      <p:cBhvr additive="base">
                                        <p:cTn id="7" dur="500" fill="hold"/>
                                        <p:tgtEl>
                                          <p:spTgt spid="18557107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55710718">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783483785">
                                            <p:txEl>
                                              <p:pRg st="0" end="0"/>
                                            </p:txEl>
                                          </p:spTgt>
                                        </p:tgtEl>
                                        <p:attrNameLst>
                                          <p:attrName>style.visibility</p:attrName>
                                        </p:attrNameLst>
                                      </p:cBhvr>
                                      <p:to>
                                        <p:strVal val="visible"/>
                                      </p:to>
                                    </p:set>
                                    <p:animEffect transition="in" filter="wipe(left)">
                                      <p:cBhvr>
                                        <p:cTn id="13" dur="500"/>
                                        <p:tgtEl>
                                          <p:spTgt spid="783483785">
                                            <p:txEl>
                                              <p:pRg st="0" end="0"/>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783483785">
                                            <p:txEl>
                                              <p:pRg st="1" end="1"/>
                                            </p:txEl>
                                          </p:spTgt>
                                        </p:tgtEl>
                                        <p:attrNameLst>
                                          <p:attrName>style.visibility</p:attrName>
                                        </p:attrNameLst>
                                      </p:cBhvr>
                                      <p:to>
                                        <p:strVal val="visible"/>
                                      </p:to>
                                    </p:set>
                                    <p:animEffect transition="in" filter="wipe(left)">
                                      <p:cBhvr>
                                        <p:cTn id="16" dur="500"/>
                                        <p:tgtEl>
                                          <p:spTgt spid="78348378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49463064"/>
                                        </p:tgtEl>
                                        <p:attrNameLst>
                                          <p:attrName>style.visibility</p:attrName>
                                        </p:attrNameLst>
                                      </p:cBhvr>
                                      <p:to>
                                        <p:strVal val="visible"/>
                                      </p:to>
                                    </p:set>
                                    <p:animEffect transition="in" filter="wipe(left)">
                                      <p:cBhvr>
                                        <p:cTn id="21" dur="500"/>
                                        <p:tgtEl>
                                          <p:spTgt spid="124946306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981264243"/>
                                        </p:tgtEl>
                                        <p:attrNameLst>
                                          <p:attrName>style.visibility</p:attrName>
                                        </p:attrNameLst>
                                      </p:cBhvr>
                                      <p:to>
                                        <p:strVal val="visible"/>
                                      </p:to>
                                    </p:set>
                                    <p:animEffect transition="in" filter="wipe(left)">
                                      <p:cBhvr>
                                        <p:cTn id="26" dur="500"/>
                                        <p:tgtEl>
                                          <p:spTgt spid="1981264243"/>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83483785">
                                            <p:txEl>
                                              <p:pRg st="2" end="2"/>
                                            </p:txEl>
                                          </p:spTgt>
                                        </p:tgtEl>
                                        <p:attrNameLst>
                                          <p:attrName>style.visibility</p:attrName>
                                        </p:attrNameLst>
                                      </p:cBhvr>
                                      <p:to>
                                        <p:strVal val="visible"/>
                                      </p:to>
                                    </p:set>
                                    <p:anim calcmode="lin" valueType="num">
                                      <p:cBhvr additive="base">
                                        <p:cTn id="31" dur="500" fill="hold"/>
                                        <p:tgtEl>
                                          <p:spTgt spid="783483785">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83483785">
                                            <p:txEl>
                                              <p:pRg st="2" end="2"/>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83483785">
                                            <p:txEl>
                                              <p:pRg st="3" end="3"/>
                                            </p:txEl>
                                          </p:spTgt>
                                        </p:tgtEl>
                                        <p:attrNameLst>
                                          <p:attrName>style.visibility</p:attrName>
                                        </p:attrNameLst>
                                      </p:cBhvr>
                                      <p:to>
                                        <p:strVal val="visible"/>
                                      </p:to>
                                    </p:set>
                                    <p:anim calcmode="lin" valueType="num">
                                      <p:cBhvr additive="base">
                                        <p:cTn id="35" dur="500" fill="hold"/>
                                        <p:tgtEl>
                                          <p:spTgt spid="783483785">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83483785">
                                            <p:txEl>
                                              <p:pRg st="3" end="3"/>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783483785">
                                            <p:txEl>
                                              <p:pRg st="4" end="4"/>
                                            </p:txEl>
                                          </p:spTgt>
                                        </p:tgtEl>
                                        <p:attrNameLst>
                                          <p:attrName>style.visibility</p:attrName>
                                        </p:attrNameLst>
                                      </p:cBhvr>
                                      <p:to>
                                        <p:strVal val="visible"/>
                                      </p:to>
                                    </p:set>
                                    <p:anim calcmode="lin" valueType="num">
                                      <p:cBhvr additive="base">
                                        <p:cTn id="39" dur="500" fill="hold"/>
                                        <p:tgtEl>
                                          <p:spTgt spid="783483785">
                                            <p:txEl>
                                              <p:pRg st="4" end="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83483785">
                                            <p:txEl>
                                              <p:pRg st="4" end="4"/>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783483785">
                                            <p:txEl>
                                              <p:pRg st="5" end="5"/>
                                            </p:txEl>
                                          </p:spTgt>
                                        </p:tgtEl>
                                        <p:attrNameLst>
                                          <p:attrName>style.visibility</p:attrName>
                                        </p:attrNameLst>
                                      </p:cBhvr>
                                      <p:to>
                                        <p:strVal val="visible"/>
                                      </p:to>
                                    </p:set>
                                    <p:anim calcmode="lin" valueType="num">
                                      <p:cBhvr additive="base">
                                        <p:cTn id="43" dur="500" fill="hold"/>
                                        <p:tgtEl>
                                          <p:spTgt spid="783483785">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8348378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463064" grpId="0" animBg="1"/>
      <p:bldP spid="1981264243" grpId="0" animBg="1"/>
    </p:bldLst>
  </p:timing>
</p:sld>
</file>

<file path=ppt/slides/slide1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86939353" name="Google Shape;1690;p99"/>
          <p:cNvSpPr txBox="1">
            <a:spLocks noGrp="1"/>
          </p:cNvSpPr>
          <p:nvPr>
            <p:ph type="body" idx="1"/>
          </p:nvPr>
        </p:nvSpPr>
        <p:spPr bwMode="auto">
          <a:xfrm>
            <a:off x="838200" y="3280087"/>
            <a:ext cx="8197321" cy="335756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Calibri"/>
              <a:buNone/>
              <a:defRPr/>
            </a:pPr>
            <a:r>
              <a:rPr lang="en-US" sz="2800"/>
              <a:t>1. </a:t>
            </a:r>
            <a:r>
              <a:rPr lang="en-US" sz="2800" u="sng"/>
              <a:t>Plan</a:t>
            </a:r>
            <a:r>
              <a:rPr lang="en-US" sz="2800"/>
              <a:t> Procurement Management involve:</a:t>
            </a:r>
            <a:endParaRPr/>
          </a:p>
          <a:p>
            <a:pPr marL="685800" lvl="1" indent="-228600">
              <a:buSzPts val="2400"/>
              <a:defRPr/>
            </a:pPr>
            <a:r>
              <a:rPr lang="en-US" sz="2400" b="1"/>
              <a:t>Decide </a:t>
            </a:r>
            <a:r>
              <a:rPr lang="en-US" sz="2400" b="1" u="sng"/>
              <a:t>what &amp; when </a:t>
            </a:r>
            <a:r>
              <a:rPr lang="en-US" sz="2400" b="1"/>
              <a:t>to ACQUIRE, </a:t>
            </a:r>
            <a:r>
              <a:rPr lang="en-US" sz="2400"/>
              <a:t>determine</a:t>
            </a:r>
            <a:r>
              <a:rPr lang="en-US" sz="2400" b="1"/>
              <a:t> the </a:t>
            </a:r>
            <a:r>
              <a:rPr lang="en-US" sz="2400" b="1" u="sng"/>
              <a:t>type</a:t>
            </a:r>
            <a:r>
              <a:rPr lang="en-US" sz="2400" b="1"/>
              <a:t> of contract, and describe the </a:t>
            </a:r>
            <a:r>
              <a:rPr lang="en-US" sz="2400" b="1" u="sng"/>
              <a:t>work</a:t>
            </a:r>
            <a:r>
              <a:rPr lang="en-US" sz="2400" b="1"/>
              <a:t> for the </a:t>
            </a:r>
            <a:r>
              <a:rPr lang="en-US" b="1" i="1"/>
              <a:t>contractors/ suppliers</a:t>
            </a:r>
            <a:r>
              <a:rPr lang="en-US" sz="2400" b="1"/>
              <a:t>.</a:t>
            </a:r>
            <a:endParaRPr b="1"/>
          </a:p>
          <a:p>
            <a:pPr marL="685800" lvl="1" indent="-228600" algn="l" rtl="0">
              <a:lnSpc>
                <a:spcPct val="90000"/>
              </a:lnSpc>
              <a:spcBef>
                <a:spcPts val="500"/>
              </a:spcBef>
              <a:spcAft>
                <a:spcPts val="0"/>
              </a:spcAft>
              <a:buClr>
                <a:schemeClr val="dk1"/>
              </a:buClr>
              <a:buSzPts val="2400"/>
              <a:buChar char="•"/>
              <a:defRPr/>
            </a:pPr>
            <a:r>
              <a:rPr lang="en-US" sz="2400">
                <a:solidFill>
                  <a:schemeClr val="tx1">
                    <a:lumMod val="65000"/>
                    <a:lumOff val="35000"/>
                  </a:schemeClr>
                </a:solidFill>
              </a:rPr>
              <a:t>Outputs: procurement management plan, statements of work, make-or-buy decisions, procurement documents, source selection criteria, and change requests.</a:t>
            </a:r>
            <a:endParaRPr>
              <a:solidFill>
                <a:schemeClr val="tx1">
                  <a:lumMod val="65000"/>
                  <a:lumOff val="35000"/>
                </a:schemeClr>
              </a:solidFill>
            </a:endParaRPr>
          </a:p>
        </p:txBody>
      </p:sp>
      <p:sp>
        <p:nvSpPr>
          <p:cNvPr id="1251574781" name="Google Shape;1691;p99"/>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117</a:t>
            </a:fld>
            <a:endParaRPr/>
          </a:p>
        </p:txBody>
      </p:sp>
      <p:grpSp>
        <p:nvGrpSpPr>
          <p:cNvPr id="577324033" name="Google Shape;1692;p99"/>
          <p:cNvGrpSpPr/>
          <p:nvPr/>
        </p:nvGrpSpPr>
        <p:grpSpPr bwMode="auto">
          <a:xfrm>
            <a:off x="840558" y="2298699"/>
            <a:ext cx="7615284" cy="806648"/>
            <a:chOff x="2357" y="171252"/>
            <a:chExt cx="7615284" cy="806648"/>
          </a:xfrm>
        </p:grpSpPr>
        <p:sp>
          <p:nvSpPr>
            <p:cNvPr id="1693" name="Google Shape;1693;p99"/>
            <p:cNvSpPr/>
            <p:nvPr/>
          </p:nvSpPr>
          <p:spPr bwMode="auto">
            <a:xfrm>
              <a:off x="2357" y="171252"/>
              <a:ext cx="2170408" cy="806648"/>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94" name="Google Shape;1694;p99"/>
            <p:cNvSpPr txBox="1"/>
            <p:nvPr/>
          </p:nvSpPr>
          <p:spPr bwMode="auto">
            <a:xfrm>
              <a:off x="405680" y="171252"/>
              <a:ext cx="1363760" cy="806648"/>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1">
                  <a:solidFill>
                    <a:schemeClr val="lt1"/>
                  </a:solidFill>
                  <a:latin typeface="Calibri"/>
                  <a:ea typeface="Calibri"/>
                  <a:cs typeface="Calibri"/>
                </a:rPr>
                <a:t>1.                             Plan Procurement Management</a:t>
              </a:r>
              <a:endParaRPr sz="1400" b="1">
                <a:solidFill>
                  <a:schemeClr val="lt1"/>
                </a:solidFill>
                <a:latin typeface="Calibri"/>
                <a:ea typeface="Calibri"/>
                <a:cs typeface="Calibri"/>
              </a:endParaRPr>
            </a:p>
          </p:txBody>
        </p:sp>
        <p:sp>
          <p:nvSpPr>
            <p:cNvPr id="1695" name="Google Shape;1695;p99"/>
            <p:cNvSpPr/>
            <p:nvPr/>
          </p:nvSpPr>
          <p:spPr bwMode="auto">
            <a:xfrm>
              <a:off x="1971103" y="171252"/>
              <a:ext cx="2016621" cy="806648"/>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96" name="Google Shape;1696;p99"/>
            <p:cNvSpPr txBox="1"/>
            <p:nvPr/>
          </p:nvSpPr>
          <p:spPr bwMode="auto">
            <a:xfrm>
              <a:off x="2374427" y="171252"/>
              <a:ext cx="1209973" cy="806648"/>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2.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Conduct Procurement</a:t>
              </a:r>
              <a:endParaRPr sz="1400" b="0">
                <a:solidFill>
                  <a:schemeClr val="lt1"/>
                </a:solidFill>
                <a:latin typeface="Calibri"/>
                <a:ea typeface="Calibri"/>
                <a:cs typeface="Calibri"/>
              </a:endParaRPr>
            </a:p>
          </p:txBody>
        </p:sp>
        <p:sp>
          <p:nvSpPr>
            <p:cNvPr id="1697" name="Google Shape;1697;p99"/>
            <p:cNvSpPr/>
            <p:nvPr/>
          </p:nvSpPr>
          <p:spPr bwMode="auto">
            <a:xfrm>
              <a:off x="3786062" y="171252"/>
              <a:ext cx="2016621" cy="806648"/>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698" name="Google Shape;1698;p99"/>
            <p:cNvSpPr txBox="1"/>
            <p:nvPr/>
          </p:nvSpPr>
          <p:spPr bwMode="auto">
            <a:xfrm>
              <a:off x="4189386" y="171252"/>
              <a:ext cx="1209973" cy="806648"/>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3.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Control Procurement</a:t>
              </a:r>
              <a:endParaRPr sz="1400" b="0">
                <a:solidFill>
                  <a:schemeClr val="lt1"/>
                </a:solidFill>
                <a:latin typeface="Calibri"/>
                <a:ea typeface="Calibri"/>
                <a:cs typeface="Calibri"/>
              </a:endParaRPr>
            </a:p>
          </p:txBody>
        </p:sp>
        <p:sp>
          <p:nvSpPr>
            <p:cNvPr id="1699" name="Google Shape;1699;p99"/>
            <p:cNvSpPr/>
            <p:nvPr/>
          </p:nvSpPr>
          <p:spPr bwMode="auto">
            <a:xfrm>
              <a:off x="5601020" y="171252"/>
              <a:ext cx="2016621" cy="806648"/>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700" name="Google Shape;1700;p99"/>
            <p:cNvSpPr txBox="1"/>
            <p:nvPr/>
          </p:nvSpPr>
          <p:spPr bwMode="auto">
            <a:xfrm>
              <a:off x="6004345" y="171252"/>
              <a:ext cx="1209973" cy="806648"/>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4.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Close Procurement</a:t>
              </a:r>
              <a:endParaRPr sz="1400" b="0">
                <a:solidFill>
                  <a:schemeClr val="lt1"/>
                </a:solidFill>
                <a:latin typeface="Calibri"/>
                <a:ea typeface="Calibri"/>
                <a:cs typeface="Calibri"/>
              </a:endParaRPr>
            </a:p>
          </p:txBody>
        </p:sp>
      </p:grpSp>
      <p:sp>
        <p:nvSpPr>
          <p:cNvPr id="2116630761" name="Google Shape;1701;p99"/>
          <p:cNvSpPr txBox="1"/>
          <p:nvPr/>
        </p:nvSpPr>
        <p:spPr bwMode="auto">
          <a:xfrm>
            <a:off x="699179" y="693667"/>
            <a:ext cx="6971428" cy="715961"/>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Procurement Management</a:t>
            </a:r>
            <a:endParaRPr sz="4000" b="1">
              <a:solidFill>
                <a:schemeClr val="dk1"/>
              </a:solidFill>
              <a:latin typeface="Calibri"/>
              <a:ea typeface="Calibri"/>
              <a:cs typeface="Calibri"/>
            </a:endParaRPr>
          </a:p>
        </p:txBody>
      </p:sp>
      <p:sp>
        <p:nvSpPr>
          <p:cNvPr id="395045317" name="Google Shape;1702;p99"/>
          <p:cNvSpPr txBox="1"/>
          <p:nvPr/>
        </p:nvSpPr>
        <p:spPr bwMode="auto">
          <a:xfrm>
            <a:off x="736406" y="12954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626202113" name="Google Shape;1703;p99"/>
          <p:cNvCxnSpPr/>
          <p:nvPr/>
        </p:nvCxnSpPr>
        <p:spPr bwMode="auto">
          <a:xfrm rot="10800000">
            <a:off x="851579" y="1768915"/>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2004976740" name="Google Shape;1704;p99"/>
          <p:cNvPicPr/>
          <p:nvPr/>
        </p:nvPicPr>
        <p:blipFill rotWithShape="1">
          <a:blip r:embed="rId3">
            <a:alphaModFix/>
          </a:blip>
          <a:srcRect l="25266" t="0" r="44128" b="0"/>
          <a:stretch/>
        </p:blipFill>
        <p:spPr bwMode="auto">
          <a:xfrm>
            <a:off x="9035521" y="0"/>
            <a:ext cx="3148334" cy="6858000"/>
          </a:xfrm>
          <a:prstGeom prst="rect">
            <a:avLst/>
          </a:prstGeom>
          <a:noFill/>
          <a:ln>
            <a:noFill/>
          </a:ln>
        </p:spPr>
      </p:pic>
      <p:sp>
        <p:nvSpPr>
          <p:cNvPr id="206500515" name="TextBox 2"/>
          <p:cNvSpPr txBox="1"/>
          <p:nvPr/>
        </p:nvSpPr>
        <p:spPr bwMode="auto">
          <a:xfrm>
            <a:off x="736406" y="1944399"/>
            <a:ext cx="6098874" cy="387798"/>
          </a:xfrm>
          <a:prstGeom prst="rect">
            <a:avLst/>
          </a:prstGeom>
          <a:noFill/>
        </p:spPr>
        <p:txBody>
          <a:bodyPr wrap="square">
            <a:spAutoFit/>
          </a:bodyPr>
          <a:lstStyle/>
          <a:p>
            <a:pPr marL="269875" indent="-269875">
              <a:lnSpc>
                <a:spcPct val="80000"/>
              </a:lnSpc>
              <a:buSzPts val="2800"/>
              <a:defRPr/>
            </a:pPr>
            <a:r>
              <a:rPr lang="en-US" sz="2400" b="1"/>
              <a:t>Procurement Management Processes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comb dir="horz"/>
      </p:transition>
    </mc:Choice>
    <mc:Fallback>
      <p:transition spd="med" advClick="1">
        <p:comb dir="horz"/>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06500515"/>
                                        </p:tgtEl>
                                        <p:attrNameLst>
                                          <p:attrName>style.visibility</p:attrName>
                                        </p:attrNameLst>
                                      </p:cBhvr>
                                      <p:to>
                                        <p:strVal val="visible"/>
                                      </p:to>
                                    </p:set>
                                    <p:animEffect transition="in" filter="wipe(left)">
                                      <p:cBhvr>
                                        <p:cTn id="7" dur="500"/>
                                        <p:tgtEl>
                                          <p:spTgt spid="206500515"/>
                                        </p:tgtEl>
                                      </p:cBhvr>
                                    </p:animEffect>
                                  </p:childTnLst>
                                </p:cTn>
                              </p:par>
                              <p:par>
                                <p:cTn id="8" presetID="22" presetClass="entr" presetSubtype="8" fill="hold" nodeType="withEffect">
                                  <p:stCondLst>
                                    <p:cond delay="0"/>
                                  </p:stCondLst>
                                  <p:childTnLst>
                                    <p:set>
                                      <p:cBhvr>
                                        <p:cTn id="9" dur="1" fill="hold">
                                          <p:stCondLst>
                                            <p:cond delay="0"/>
                                          </p:stCondLst>
                                        </p:cTn>
                                        <p:tgtEl>
                                          <p:spTgt spid="577324033"/>
                                        </p:tgtEl>
                                        <p:attrNameLst>
                                          <p:attrName>style.visibility</p:attrName>
                                        </p:attrNameLst>
                                      </p:cBhvr>
                                      <p:to>
                                        <p:strVal val="visible"/>
                                      </p:to>
                                    </p:set>
                                    <p:animEffect transition="in" filter="wipe(left)">
                                      <p:cBhvr>
                                        <p:cTn id="10" dur="500"/>
                                        <p:tgtEl>
                                          <p:spTgt spid="577324033"/>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586939353">
                                            <p:txEl>
                                              <p:pRg st="0" end="0"/>
                                            </p:txEl>
                                          </p:spTgt>
                                        </p:tgtEl>
                                        <p:attrNameLst>
                                          <p:attrName>style.visibility</p:attrName>
                                        </p:attrNameLst>
                                      </p:cBhvr>
                                      <p:to>
                                        <p:strVal val="visible"/>
                                      </p:to>
                                    </p:set>
                                    <p:anim calcmode="lin" valueType="num">
                                      <p:cBhvr additive="base">
                                        <p:cTn id="15" dur="500" fill="hold"/>
                                        <p:tgtEl>
                                          <p:spTgt spid="586939353">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86939353">
                                            <p:txEl>
                                              <p:pRg st="0" end="0"/>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86939353">
                                            <p:txEl>
                                              <p:pRg st="1" end="1"/>
                                            </p:txEl>
                                          </p:spTgt>
                                        </p:tgtEl>
                                        <p:attrNameLst>
                                          <p:attrName>style.visibility</p:attrName>
                                        </p:attrNameLst>
                                      </p:cBhvr>
                                      <p:to>
                                        <p:strVal val="visible"/>
                                      </p:to>
                                    </p:set>
                                    <p:anim calcmode="lin" valueType="num">
                                      <p:cBhvr additive="base">
                                        <p:cTn id="19" dur="500" fill="hold"/>
                                        <p:tgtEl>
                                          <p:spTgt spid="58693935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86939353">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86939353">
                                            <p:txEl>
                                              <p:pRg st="2" end="2"/>
                                            </p:txEl>
                                          </p:spTgt>
                                        </p:tgtEl>
                                        <p:attrNameLst>
                                          <p:attrName>style.visibility</p:attrName>
                                        </p:attrNameLst>
                                      </p:cBhvr>
                                      <p:to>
                                        <p:strVal val="visible"/>
                                      </p:to>
                                    </p:set>
                                    <p:anim calcmode="lin" valueType="num">
                                      <p:cBhvr additive="base">
                                        <p:cTn id="23" dur="500" fill="hold"/>
                                        <p:tgtEl>
                                          <p:spTgt spid="586939353">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8693935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6939353" grpId="0" uiExpand="1" build="p"/>
      <p:bldP spid="206500515" grpId="0"/>
    </p:bldLst>
  </p:timing>
</p:sld>
</file>

<file path=ppt/slides/slide1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25513443" name="Google Shape;1709;p100"/>
          <p:cNvSpPr txBox="1">
            <a:spLocks noGrp="1"/>
          </p:cNvSpPr>
          <p:nvPr>
            <p:ph type="body" idx="1"/>
          </p:nvPr>
        </p:nvSpPr>
        <p:spPr bwMode="auto">
          <a:xfrm>
            <a:off x="838200" y="3635130"/>
            <a:ext cx="8365761" cy="3002519"/>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Calibri"/>
              <a:buNone/>
              <a:defRPr/>
            </a:pPr>
            <a:r>
              <a:rPr lang="en-US"/>
              <a:t>2. Conduct Procurement</a:t>
            </a:r>
            <a:endParaRPr/>
          </a:p>
          <a:p>
            <a:pPr marL="685800" lvl="1" indent="-228600">
              <a:buSzPts val="2400"/>
              <a:defRPr/>
            </a:pPr>
            <a:r>
              <a:rPr lang="en-US" b="1"/>
              <a:t>Invite</a:t>
            </a:r>
            <a:r>
              <a:rPr lang="en-US"/>
              <a:t> </a:t>
            </a:r>
            <a:r>
              <a:rPr lang="en-US" b="1" i="1"/>
              <a:t>contractors/suppliers</a:t>
            </a:r>
            <a:r>
              <a:rPr lang="en-US"/>
              <a:t> to submit proposal </a:t>
            </a:r>
            <a:endParaRPr lang="en-US" b="1"/>
          </a:p>
          <a:p>
            <a:pPr marL="685800" lvl="1" indent="-228600">
              <a:buSzPts val="2400"/>
              <a:defRPr/>
            </a:pPr>
            <a:r>
              <a:rPr lang="en-US" b="1"/>
              <a:t>Obtain</a:t>
            </a:r>
            <a:r>
              <a:rPr lang="en-US"/>
              <a:t> </a:t>
            </a:r>
            <a:r>
              <a:rPr lang="en-US" b="1" i="1"/>
              <a:t>contractors/suppliers</a:t>
            </a:r>
            <a:r>
              <a:rPr lang="en-US"/>
              <a:t> responses, </a:t>
            </a:r>
            <a:endParaRPr/>
          </a:p>
          <a:p>
            <a:pPr marL="685800" lvl="1" indent="-228600">
              <a:buSzPts val="2400"/>
              <a:defRPr/>
            </a:pPr>
            <a:r>
              <a:rPr lang="en-US" b="1">
                <a:solidFill>
                  <a:srgbClr val="FF0000"/>
                </a:solidFill>
              </a:rPr>
              <a:t>Select</a:t>
            </a:r>
            <a:r>
              <a:rPr lang="en-US"/>
              <a:t> </a:t>
            </a:r>
            <a:r>
              <a:rPr lang="en-US" b="1" i="1"/>
              <a:t>contractors/suppliers</a:t>
            </a:r>
            <a:r>
              <a:rPr lang="en-US"/>
              <a:t>, </a:t>
            </a:r>
            <a:endParaRPr/>
          </a:p>
          <a:p>
            <a:pPr marL="685800" lvl="1" indent="-228600" algn="l" rtl="0">
              <a:lnSpc>
                <a:spcPct val="90000"/>
              </a:lnSpc>
              <a:spcBef>
                <a:spcPts val="500"/>
              </a:spcBef>
              <a:spcAft>
                <a:spcPts val="0"/>
              </a:spcAft>
              <a:buClr>
                <a:schemeClr val="dk1"/>
              </a:buClr>
              <a:buSzPts val="2400"/>
              <a:buChar char="•"/>
              <a:defRPr/>
            </a:pPr>
            <a:r>
              <a:rPr lang="en-US" b="1"/>
              <a:t>Award</a:t>
            </a:r>
            <a:r>
              <a:rPr lang="en-US"/>
              <a:t> contracts.</a:t>
            </a:r>
            <a:endParaRPr/>
          </a:p>
          <a:p>
            <a:pPr marL="685800" lvl="1" indent="-228600" algn="l" rtl="0">
              <a:lnSpc>
                <a:spcPct val="90000"/>
              </a:lnSpc>
              <a:spcBef>
                <a:spcPts val="500"/>
              </a:spcBef>
              <a:spcAft>
                <a:spcPts val="0"/>
              </a:spcAft>
              <a:buClr>
                <a:schemeClr val="dk1"/>
              </a:buClr>
              <a:buSzPts val="2400"/>
              <a:buChar char="•"/>
              <a:defRPr/>
            </a:pPr>
            <a:r>
              <a:rPr lang="en-US">
                <a:solidFill>
                  <a:schemeClr val="tx1">
                    <a:lumMod val="65000"/>
                    <a:lumOff val="35000"/>
                  </a:schemeClr>
                </a:solidFill>
              </a:rPr>
              <a:t>Main output: Selected seller(s), agreement, change request</a:t>
            </a:r>
            <a:endParaRPr>
              <a:solidFill>
                <a:schemeClr val="tx1">
                  <a:lumMod val="65000"/>
                  <a:lumOff val="35000"/>
                </a:schemeClr>
              </a:solidFill>
            </a:endParaRPr>
          </a:p>
          <a:p>
            <a:pPr marL="457200" lvl="1" indent="0" algn="l" rtl="0">
              <a:lnSpc>
                <a:spcPct val="90000"/>
              </a:lnSpc>
              <a:spcBef>
                <a:spcPts val="500"/>
              </a:spcBef>
              <a:spcAft>
                <a:spcPts val="0"/>
              </a:spcAft>
              <a:buClr>
                <a:schemeClr val="dk1"/>
              </a:buClr>
              <a:buSzPts val="2400"/>
              <a:buNone/>
              <a:defRPr/>
            </a:pPr>
            <a:endParaRPr/>
          </a:p>
        </p:txBody>
      </p:sp>
      <p:sp>
        <p:nvSpPr>
          <p:cNvPr id="1077010066" name="Google Shape;1710;p100"/>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118</a:t>
            </a:fld>
            <a:endParaRPr/>
          </a:p>
        </p:txBody>
      </p:sp>
      <p:grpSp>
        <p:nvGrpSpPr>
          <p:cNvPr id="131892519" name="Google Shape;1711;p100"/>
          <p:cNvGrpSpPr/>
          <p:nvPr/>
        </p:nvGrpSpPr>
        <p:grpSpPr bwMode="auto">
          <a:xfrm>
            <a:off x="840558" y="2298699"/>
            <a:ext cx="7615284" cy="806648"/>
            <a:chOff x="2357" y="171252"/>
            <a:chExt cx="7615284" cy="806648"/>
          </a:xfrm>
        </p:grpSpPr>
        <p:sp>
          <p:nvSpPr>
            <p:cNvPr id="1712" name="Google Shape;1712;p100"/>
            <p:cNvSpPr/>
            <p:nvPr/>
          </p:nvSpPr>
          <p:spPr bwMode="auto">
            <a:xfrm>
              <a:off x="2357" y="171252"/>
              <a:ext cx="2170408" cy="806648"/>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713" name="Google Shape;1713;p100"/>
            <p:cNvSpPr txBox="1"/>
            <p:nvPr/>
          </p:nvSpPr>
          <p:spPr bwMode="auto">
            <a:xfrm>
              <a:off x="405680" y="171252"/>
              <a:ext cx="1363760" cy="806648"/>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1.                             Plan Procurement Management</a:t>
              </a:r>
              <a:endParaRPr sz="1400" b="0">
                <a:solidFill>
                  <a:schemeClr val="lt1"/>
                </a:solidFill>
                <a:latin typeface="Calibri"/>
                <a:ea typeface="Calibri"/>
                <a:cs typeface="Calibri"/>
              </a:endParaRPr>
            </a:p>
          </p:txBody>
        </p:sp>
        <p:sp>
          <p:nvSpPr>
            <p:cNvPr id="1714" name="Google Shape;1714;p100"/>
            <p:cNvSpPr/>
            <p:nvPr/>
          </p:nvSpPr>
          <p:spPr bwMode="auto">
            <a:xfrm>
              <a:off x="1971103" y="171252"/>
              <a:ext cx="2016621" cy="806648"/>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715" name="Google Shape;1715;p100"/>
            <p:cNvSpPr txBox="1"/>
            <p:nvPr/>
          </p:nvSpPr>
          <p:spPr bwMode="auto">
            <a:xfrm>
              <a:off x="2374427" y="171252"/>
              <a:ext cx="1209973" cy="806648"/>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1">
                  <a:solidFill>
                    <a:schemeClr val="lt1"/>
                  </a:solidFill>
                  <a:latin typeface="Calibri"/>
                  <a:ea typeface="Calibri"/>
                  <a:cs typeface="Calibri"/>
                </a:rPr>
                <a:t>2. </a:t>
              </a:r>
              <a:br>
                <a:rPr lang="en-US" sz="1400" b="1">
                  <a:solidFill>
                    <a:schemeClr val="lt1"/>
                  </a:solidFill>
                  <a:latin typeface="Calibri"/>
                  <a:ea typeface="Calibri"/>
                  <a:cs typeface="Calibri"/>
                </a:rPr>
              </a:br>
              <a:r>
                <a:rPr lang="en-US" sz="1400" b="1">
                  <a:solidFill>
                    <a:schemeClr val="lt1"/>
                  </a:solidFill>
                  <a:latin typeface="Calibri"/>
                  <a:ea typeface="Calibri"/>
                  <a:cs typeface="Calibri"/>
                </a:rPr>
                <a:t>Conduct Procurement</a:t>
              </a:r>
              <a:endParaRPr sz="1400" b="1">
                <a:solidFill>
                  <a:schemeClr val="lt1"/>
                </a:solidFill>
                <a:latin typeface="Calibri"/>
                <a:ea typeface="Calibri"/>
                <a:cs typeface="Calibri"/>
              </a:endParaRPr>
            </a:p>
          </p:txBody>
        </p:sp>
        <p:sp>
          <p:nvSpPr>
            <p:cNvPr id="1716" name="Google Shape;1716;p100"/>
            <p:cNvSpPr/>
            <p:nvPr/>
          </p:nvSpPr>
          <p:spPr bwMode="auto">
            <a:xfrm>
              <a:off x="3786062" y="171252"/>
              <a:ext cx="2016621" cy="806648"/>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717" name="Google Shape;1717;p100"/>
            <p:cNvSpPr txBox="1"/>
            <p:nvPr/>
          </p:nvSpPr>
          <p:spPr bwMode="auto">
            <a:xfrm>
              <a:off x="4189386" y="171252"/>
              <a:ext cx="1209973" cy="806648"/>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3.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Control Procurement</a:t>
              </a:r>
              <a:endParaRPr sz="1400" b="0">
                <a:solidFill>
                  <a:schemeClr val="lt1"/>
                </a:solidFill>
                <a:latin typeface="Calibri"/>
                <a:ea typeface="Calibri"/>
                <a:cs typeface="Calibri"/>
              </a:endParaRPr>
            </a:p>
          </p:txBody>
        </p:sp>
        <p:sp>
          <p:nvSpPr>
            <p:cNvPr id="1718" name="Google Shape;1718;p100"/>
            <p:cNvSpPr/>
            <p:nvPr/>
          </p:nvSpPr>
          <p:spPr bwMode="auto">
            <a:xfrm>
              <a:off x="5601020" y="171252"/>
              <a:ext cx="2016621" cy="806648"/>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719" name="Google Shape;1719;p100"/>
            <p:cNvSpPr txBox="1"/>
            <p:nvPr/>
          </p:nvSpPr>
          <p:spPr bwMode="auto">
            <a:xfrm>
              <a:off x="6004345" y="171252"/>
              <a:ext cx="1209973" cy="806648"/>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4.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Close Procurement</a:t>
              </a:r>
              <a:endParaRPr sz="1400" b="0">
                <a:solidFill>
                  <a:schemeClr val="lt1"/>
                </a:solidFill>
                <a:latin typeface="Calibri"/>
                <a:ea typeface="Calibri"/>
                <a:cs typeface="Calibri"/>
              </a:endParaRPr>
            </a:p>
          </p:txBody>
        </p:sp>
      </p:grpSp>
      <p:sp>
        <p:nvSpPr>
          <p:cNvPr id="1377887443" name="Google Shape;1720;p100"/>
          <p:cNvSpPr txBox="1"/>
          <p:nvPr/>
        </p:nvSpPr>
        <p:spPr bwMode="auto">
          <a:xfrm>
            <a:off x="699179" y="693667"/>
            <a:ext cx="6971428" cy="715961"/>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Procurement Management</a:t>
            </a:r>
            <a:endParaRPr sz="4000" b="1">
              <a:solidFill>
                <a:schemeClr val="dk1"/>
              </a:solidFill>
              <a:latin typeface="Calibri"/>
              <a:ea typeface="Calibri"/>
              <a:cs typeface="Calibri"/>
            </a:endParaRPr>
          </a:p>
        </p:txBody>
      </p:sp>
      <p:sp>
        <p:nvSpPr>
          <p:cNvPr id="2013180511" name="Google Shape;1721;p100"/>
          <p:cNvSpPr txBox="1"/>
          <p:nvPr/>
        </p:nvSpPr>
        <p:spPr bwMode="auto">
          <a:xfrm>
            <a:off x="736406" y="12954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42619078" name="Google Shape;1722;p100"/>
          <p:cNvCxnSpPr/>
          <p:nvPr/>
        </p:nvCxnSpPr>
        <p:spPr bwMode="auto">
          <a:xfrm rot="10800000">
            <a:off x="851579" y="1768915"/>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125481774" name="Google Shape;1723;p100"/>
          <p:cNvPicPr/>
          <p:nvPr/>
        </p:nvPicPr>
        <p:blipFill rotWithShape="1">
          <a:blip r:embed="rId3">
            <a:alphaModFix/>
          </a:blip>
          <a:srcRect l="25266" t="0" r="44128" b="0"/>
          <a:stretch/>
        </p:blipFill>
        <p:spPr bwMode="auto">
          <a:xfrm>
            <a:off x="9203961" y="0"/>
            <a:ext cx="2979894" cy="68580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comb dir="horz"/>
      </p:transition>
    </mc:Choice>
    <mc:Fallback>
      <p:transition spd="med" advClick="1">
        <p:comb dir="horz"/>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5513443">
                                            <p:txEl>
                                              <p:pRg st="0" end="0"/>
                                            </p:txEl>
                                          </p:spTgt>
                                        </p:tgtEl>
                                        <p:attrNameLst>
                                          <p:attrName>style.visibility</p:attrName>
                                        </p:attrNameLst>
                                      </p:cBhvr>
                                      <p:to>
                                        <p:strVal val="visible"/>
                                      </p:to>
                                    </p:set>
                                    <p:animEffect transition="in" filter="wipe(left)">
                                      <p:cBhvr>
                                        <p:cTn id="7" dur="500"/>
                                        <p:tgtEl>
                                          <p:spTgt spid="925513443">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25513443">
                                            <p:txEl>
                                              <p:pRg st="1" end="1"/>
                                            </p:txEl>
                                          </p:spTgt>
                                        </p:tgtEl>
                                        <p:attrNameLst>
                                          <p:attrName>style.visibility</p:attrName>
                                        </p:attrNameLst>
                                      </p:cBhvr>
                                      <p:to>
                                        <p:strVal val="visible"/>
                                      </p:to>
                                    </p:set>
                                    <p:animEffect transition="in" filter="wipe(left)">
                                      <p:cBhvr>
                                        <p:cTn id="10" dur="500"/>
                                        <p:tgtEl>
                                          <p:spTgt spid="92551344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25513443">
                                            <p:txEl>
                                              <p:pRg st="2" end="2"/>
                                            </p:txEl>
                                          </p:spTgt>
                                        </p:tgtEl>
                                        <p:attrNameLst>
                                          <p:attrName>style.visibility</p:attrName>
                                        </p:attrNameLst>
                                      </p:cBhvr>
                                      <p:to>
                                        <p:strVal val="visible"/>
                                      </p:to>
                                    </p:set>
                                    <p:animEffect transition="in" filter="wipe(left)">
                                      <p:cBhvr>
                                        <p:cTn id="15" dur="500"/>
                                        <p:tgtEl>
                                          <p:spTgt spid="92551344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25513443">
                                            <p:txEl>
                                              <p:pRg st="3" end="3"/>
                                            </p:txEl>
                                          </p:spTgt>
                                        </p:tgtEl>
                                        <p:attrNameLst>
                                          <p:attrName>style.visibility</p:attrName>
                                        </p:attrNameLst>
                                      </p:cBhvr>
                                      <p:to>
                                        <p:strVal val="visible"/>
                                      </p:to>
                                    </p:set>
                                    <p:animEffect transition="in" filter="wipe(left)">
                                      <p:cBhvr>
                                        <p:cTn id="20" dur="500"/>
                                        <p:tgtEl>
                                          <p:spTgt spid="92551344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25513443">
                                            <p:txEl>
                                              <p:pRg st="4" end="4"/>
                                            </p:txEl>
                                          </p:spTgt>
                                        </p:tgtEl>
                                        <p:attrNameLst>
                                          <p:attrName>style.visibility</p:attrName>
                                        </p:attrNameLst>
                                      </p:cBhvr>
                                      <p:to>
                                        <p:strVal val="visible"/>
                                      </p:to>
                                    </p:set>
                                    <p:anim calcmode="lin" valueType="num">
                                      <p:cBhvr additive="base">
                                        <p:cTn id="25" dur="500" fill="hold"/>
                                        <p:tgtEl>
                                          <p:spTgt spid="92551344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2551344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25513443">
                                            <p:txEl>
                                              <p:pRg st="5" end="5"/>
                                            </p:txEl>
                                          </p:spTgt>
                                        </p:tgtEl>
                                        <p:attrNameLst>
                                          <p:attrName>style.visibility</p:attrName>
                                        </p:attrNameLst>
                                      </p:cBhvr>
                                      <p:to>
                                        <p:strVal val="visible"/>
                                      </p:to>
                                    </p:set>
                                    <p:anim calcmode="lin" valueType="num">
                                      <p:cBhvr additive="base">
                                        <p:cTn id="29" dur="500" fill="hold"/>
                                        <p:tgtEl>
                                          <p:spTgt spid="92551344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2551344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5513443" grpId="0" uiExpand="1" build="p"/>
    </p:bldLst>
  </p:timing>
</p:sld>
</file>

<file path=ppt/slides/slide1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18646431" name="Google Shape;1728;p101"/>
          <p:cNvSpPr txBox="1">
            <a:spLocks noGrp="1"/>
          </p:cNvSpPr>
          <p:nvPr>
            <p:ph type="body" idx="1"/>
          </p:nvPr>
        </p:nvSpPr>
        <p:spPr bwMode="auto">
          <a:xfrm>
            <a:off x="838200" y="3429000"/>
            <a:ext cx="8197321" cy="320865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Font typeface="Calibri"/>
              <a:buNone/>
              <a:defRPr/>
            </a:pPr>
            <a:r>
              <a:rPr lang="en-US" b="1"/>
              <a:t>3. Control Procurement</a:t>
            </a:r>
            <a:endParaRPr b="1"/>
          </a:p>
          <a:p>
            <a:pPr marL="685800" lvl="1" indent="-228600" algn="l" rtl="0">
              <a:lnSpc>
                <a:spcPct val="90000"/>
              </a:lnSpc>
              <a:spcBef>
                <a:spcPts val="500"/>
              </a:spcBef>
              <a:spcAft>
                <a:spcPts val="0"/>
              </a:spcAft>
              <a:buClr>
                <a:schemeClr val="dk1"/>
              </a:buClr>
              <a:buSzPts val="2400"/>
              <a:buChar char="•"/>
              <a:defRPr/>
            </a:pPr>
            <a:r>
              <a:rPr lang="en-US"/>
              <a:t>Manage relationships with sellers,</a:t>
            </a:r>
            <a:endParaRPr/>
          </a:p>
          <a:p>
            <a:pPr marL="685800" lvl="1" indent="-228600" algn="l" rtl="0">
              <a:lnSpc>
                <a:spcPct val="90000"/>
              </a:lnSpc>
              <a:spcBef>
                <a:spcPts val="500"/>
              </a:spcBef>
              <a:spcAft>
                <a:spcPts val="0"/>
              </a:spcAft>
              <a:buClr>
                <a:schemeClr val="dk1"/>
              </a:buClr>
              <a:buSzPts val="2400"/>
              <a:buChar char="•"/>
              <a:defRPr/>
            </a:pPr>
            <a:r>
              <a:rPr lang="en-US" b="1" u="sng"/>
              <a:t>monitor</a:t>
            </a:r>
            <a:r>
              <a:rPr lang="en-US" b="1"/>
              <a:t> contract performance, </a:t>
            </a:r>
            <a:endParaRPr/>
          </a:p>
          <a:p>
            <a:pPr marL="685800" lvl="1" indent="-228600" algn="l" rtl="0">
              <a:lnSpc>
                <a:spcPct val="90000"/>
              </a:lnSpc>
              <a:spcBef>
                <a:spcPts val="500"/>
              </a:spcBef>
              <a:spcAft>
                <a:spcPts val="0"/>
              </a:spcAft>
              <a:buClr>
                <a:schemeClr val="dk1"/>
              </a:buClr>
              <a:buSzPts val="2400"/>
              <a:buChar char="•"/>
              <a:defRPr/>
            </a:pPr>
            <a:r>
              <a:rPr lang="en-US" b="1" u="sng"/>
              <a:t>make changes </a:t>
            </a:r>
            <a:r>
              <a:rPr lang="en-US" b="1"/>
              <a:t>if needed,</a:t>
            </a:r>
            <a:endParaRPr/>
          </a:p>
          <a:p>
            <a:pPr marL="685800" lvl="1" indent="-228600" algn="l" rtl="0">
              <a:lnSpc>
                <a:spcPct val="90000"/>
              </a:lnSpc>
              <a:spcBef>
                <a:spcPts val="500"/>
              </a:spcBef>
              <a:spcAft>
                <a:spcPts val="0"/>
              </a:spcAft>
              <a:buClr>
                <a:schemeClr val="dk1"/>
              </a:buClr>
              <a:buSzPts val="2400"/>
              <a:buChar char="•"/>
              <a:defRPr/>
            </a:pPr>
            <a:r>
              <a:rPr lang="en-US" b="1"/>
              <a:t>close the contracts</a:t>
            </a:r>
            <a:endParaRPr b="1"/>
          </a:p>
          <a:p>
            <a:pPr marL="685800" lvl="1" indent="-228600" algn="l" rtl="0">
              <a:lnSpc>
                <a:spcPct val="90000"/>
              </a:lnSpc>
              <a:spcBef>
                <a:spcPts val="500"/>
              </a:spcBef>
              <a:spcAft>
                <a:spcPts val="0"/>
              </a:spcAft>
              <a:buClr>
                <a:schemeClr val="dk1"/>
              </a:buClr>
              <a:buSzPts val="2400"/>
              <a:buChar char="•"/>
              <a:defRPr/>
            </a:pPr>
            <a:r>
              <a:rPr lang="en-US">
                <a:solidFill>
                  <a:schemeClr val="tx1"/>
                </a:solidFill>
              </a:rPr>
              <a:t>Main outputs:</a:t>
            </a:r>
            <a:r>
              <a:rPr lang="en-US">
                <a:solidFill>
                  <a:srgbClr val="FF0000"/>
                </a:solidFill>
              </a:rPr>
              <a:t> </a:t>
            </a:r>
            <a:r>
              <a:rPr lang="en-US">
                <a:solidFill>
                  <a:schemeClr val="tx1"/>
                </a:solidFill>
              </a:rPr>
              <a:t>Work performance info, change request, procurement documentation updates &amp; closed procurement.</a:t>
            </a:r>
            <a:endParaRPr>
              <a:solidFill>
                <a:schemeClr val="tx1"/>
              </a:solidFill>
            </a:endParaRPr>
          </a:p>
        </p:txBody>
      </p:sp>
      <p:sp>
        <p:nvSpPr>
          <p:cNvPr id="854317199" name="Google Shape;1729;p10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119</a:t>
            </a:fld>
            <a:endParaRPr/>
          </a:p>
        </p:txBody>
      </p:sp>
      <p:grpSp>
        <p:nvGrpSpPr>
          <p:cNvPr id="2066179839" name="Google Shape;1730;p101"/>
          <p:cNvGrpSpPr/>
          <p:nvPr/>
        </p:nvGrpSpPr>
        <p:grpSpPr bwMode="auto">
          <a:xfrm>
            <a:off x="840558" y="2298699"/>
            <a:ext cx="7615284" cy="806648"/>
            <a:chOff x="2357" y="171252"/>
            <a:chExt cx="7615284" cy="806648"/>
          </a:xfrm>
        </p:grpSpPr>
        <p:sp>
          <p:nvSpPr>
            <p:cNvPr id="1731" name="Google Shape;1731;p101"/>
            <p:cNvSpPr/>
            <p:nvPr/>
          </p:nvSpPr>
          <p:spPr bwMode="auto">
            <a:xfrm>
              <a:off x="2357" y="171252"/>
              <a:ext cx="2170408" cy="806648"/>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732" name="Google Shape;1732;p101"/>
            <p:cNvSpPr txBox="1"/>
            <p:nvPr/>
          </p:nvSpPr>
          <p:spPr bwMode="auto">
            <a:xfrm>
              <a:off x="405680" y="171252"/>
              <a:ext cx="1363760" cy="806648"/>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1.                             Plan Procurement Management</a:t>
              </a:r>
              <a:endParaRPr sz="1400" b="0">
                <a:solidFill>
                  <a:schemeClr val="lt1"/>
                </a:solidFill>
                <a:latin typeface="Calibri"/>
                <a:ea typeface="Calibri"/>
                <a:cs typeface="Calibri"/>
              </a:endParaRPr>
            </a:p>
          </p:txBody>
        </p:sp>
        <p:sp>
          <p:nvSpPr>
            <p:cNvPr id="1733" name="Google Shape;1733;p101"/>
            <p:cNvSpPr/>
            <p:nvPr/>
          </p:nvSpPr>
          <p:spPr bwMode="auto">
            <a:xfrm>
              <a:off x="1971103" y="171252"/>
              <a:ext cx="2016621" cy="806648"/>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734" name="Google Shape;1734;p101"/>
            <p:cNvSpPr txBox="1"/>
            <p:nvPr/>
          </p:nvSpPr>
          <p:spPr bwMode="auto">
            <a:xfrm>
              <a:off x="2374427" y="171252"/>
              <a:ext cx="1209973" cy="806648"/>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2.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Conduct Procurement</a:t>
              </a:r>
              <a:endParaRPr sz="1400" b="0">
                <a:solidFill>
                  <a:schemeClr val="lt1"/>
                </a:solidFill>
                <a:latin typeface="Calibri"/>
                <a:ea typeface="Calibri"/>
                <a:cs typeface="Calibri"/>
              </a:endParaRPr>
            </a:p>
          </p:txBody>
        </p:sp>
        <p:sp>
          <p:nvSpPr>
            <p:cNvPr id="1735" name="Google Shape;1735;p101"/>
            <p:cNvSpPr/>
            <p:nvPr/>
          </p:nvSpPr>
          <p:spPr bwMode="auto">
            <a:xfrm>
              <a:off x="3786062" y="171252"/>
              <a:ext cx="2016621" cy="806648"/>
            </a:xfrm>
            <a:prstGeom prst="chevron">
              <a:avLst>
                <a:gd name="adj" fmla="val 50000"/>
              </a:avLst>
            </a:prstGeom>
            <a:solidFill>
              <a:srgbClr val="54813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736" name="Google Shape;1736;p101"/>
            <p:cNvSpPr txBox="1"/>
            <p:nvPr/>
          </p:nvSpPr>
          <p:spPr bwMode="auto">
            <a:xfrm>
              <a:off x="4189386" y="171252"/>
              <a:ext cx="1209973" cy="806648"/>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1">
                  <a:solidFill>
                    <a:schemeClr val="lt1"/>
                  </a:solidFill>
                  <a:latin typeface="Calibri"/>
                  <a:ea typeface="Calibri"/>
                  <a:cs typeface="Calibri"/>
                </a:rPr>
                <a:t>3. </a:t>
              </a:r>
              <a:br>
                <a:rPr lang="en-US" sz="1400" b="1">
                  <a:solidFill>
                    <a:schemeClr val="lt1"/>
                  </a:solidFill>
                  <a:latin typeface="Calibri"/>
                  <a:ea typeface="Calibri"/>
                  <a:cs typeface="Calibri"/>
                </a:rPr>
              </a:br>
              <a:r>
                <a:rPr lang="en-US" sz="1400" b="1">
                  <a:solidFill>
                    <a:schemeClr val="lt1"/>
                  </a:solidFill>
                  <a:latin typeface="Calibri"/>
                  <a:ea typeface="Calibri"/>
                  <a:cs typeface="Calibri"/>
                </a:rPr>
                <a:t>Control Procurement</a:t>
              </a:r>
              <a:endParaRPr sz="1400" b="1">
                <a:solidFill>
                  <a:schemeClr val="lt1"/>
                </a:solidFill>
                <a:latin typeface="Calibri"/>
                <a:ea typeface="Calibri"/>
                <a:cs typeface="Calibri"/>
              </a:endParaRPr>
            </a:p>
          </p:txBody>
        </p:sp>
        <p:sp>
          <p:nvSpPr>
            <p:cNvPr id="1737" name="Google Shape;1737;p101"/>
            <p:cNvSpPr/>
            <p:nvPr/>
          </p:nvSpPr>
          <p:spPr bwMode="auto">
            <a:xfrm>
              <a:off x="5601020" y="171252"/>
              <a:ext cx="2016621" cy="806648"/>
            </a:xfrm>
            <a:prstGeom prst="chevron">
              <a:avLst>
                <a:gd name="adj" fmla="val 50000"/>
              </a:avLst>
            </a:prstGeom>
            <a:solidFill>
              <a:srgbClr val="2E75B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738" name="Google Shape;1738;p101"/>
            <p:cNvSpPr txBox="1"/>
            <p:nvPr/>
          </p:nvSpPr>
          <p:spPr bwMode="auto">
            <a:xfrm>
              <a:off x="6004345" y="171252"/>
              <a:ext cx="1209973" cy="806648"/>
            </a:xfrm>
            <a:prstGeom prst="rect">
              <a:avLst/>
            </a:prstGeom>
            <a:noFill/>
            <a:ln>
              <a:noFill/>
            </a:ln>
          </p:spPr>
          <p:txBody>
            <a:bodyPr spcFirstLastPara="1" wrap="square" lIns="56000" tIns="18650" rIns="18650" bIns="18650" anchor="ctr" anchorCtr="0">
              <a:noAutofit/>
            </a:bodyPr>
            <a:lstStyle/>
            <a:p>
              <a:pPr marL="0" marR="0" lvl="0" indent="0" algn="ctr" rtl="0">
                <a:lnSpc>
                  <a:spcPct val="90000"/>
                </a:lnSpc>
                <a:spcBef>
                  <a:spcPts val="0"/>
                </a:spcBef>
                <a:spcAft>
                  <a:spcPts val="0"/>
                </a:spcAft>
                <a:buNone/>
                <a:defRPr/>
              </a:pPr>
              <a:r>
                <a:rPr lang="en-US" sz="1400" b="0">
                  <a:solidFill>
                    <a:schemeClr val="lt1"/>
                  </a:solidFill>
                  <a:latin typeface="Calibri"/>
                  <a:ea typeface="Calibri"/>
                  <a:cs typeface="Calibri"/>
                </a:rPr>
                <a:t>4. </a:t>
              </a:r>
              <a:br>
                <a:rPr lang="en-US" sz="1400" b="0">
                  <a:solidFill>
                    <a:schemeClr val="lt1"/>
                  </a:solidFill>
                  <a:latin typeface="Calibri"/>
                  <a:ea typeface="Calibri"/>
                  <a:cs typeface="Calibri"/>
                </a:rPr>
              </a:br>
              <a:r>
                <a:rPr lang="en-US" sz="1400" b="0">
                  <a:solidFill>
                    <a:schemeClr val="lt1"/>
                  </a:solidFill>
                  <a:latin typeface="Calibri"/>
                  <a:ea typeface="Calibri"/>
                  <a:cs typeface="Calibri"/>
                </a:rPr>
                <a:t>Close Procurement</a:t>
              </a:r>
              <a:endParaRPr sz="1400" b="0">
                <a:solidFill>
                  <a:schemeClr val="lt1"/>
                </a:solidFill>
                <a:latin typeface="Calibri"/>
                <a:ea typeface="Calibri"/>
                <a:cs typeface="Calibri"/>
              </a:endParaRPr>
            </a:p>
          </p:txBody>
        </p:sp>
      </p:grpSp>
      <p:sp>
        <p:nvSpPr>
          <p:cNvPr id="667926239" name="Google Shape;1739;p101"/>
          <p:cNvSpPr txBox="1"/>
          <p:nvPr/>
        </p:nvSpPr>
        <p:spPr bwMode="auto">
          <a:xfrm>
            <a:off x="699179" y="693667"/>
            <a:ext cx="6971428" cy="715961"/>
          </a:xfrm>
          <a:prstGeom prst="rect">
            <a:avLst/>
          </a:prstGeom>
          <a:noFill/>
          <a:ln>
            <a:noFill/>
          </a:ln>
        </p:spPr>
        <p:txBody>
          <a:bodyPr spcFirstLastPara="1" wrap="square" lIns="91425" tIns="45700" rIns="91425" bIns="45700" anchor="ctr" anchorCtr="0">
            <a:normAutofit fontScale="92500"/>
          </a:bodyPr>
          <a:lstStyle/>
          <a:p>
            <a:pPr marL="0" marR="0" lvl="0" indent="0" algn="l" rtl="0">
              <a:lnSpc>
                <a:spcPct val="90000"/>
              </a:lnSpc>
              <a:spcBef>
                <a:spcPts val="0"/>
              </a:spcBef>
              <a:spcAft>
                <a:spcPts val="0"/>
              </a:spcAft>
              <a:buClr>
                <a:schemeClr val="dk1"/>
              </a:buClr>
              <a:buSzPct val="100000"/>
              <a:buFont typeface="Calibri"/>
              <a:buNone/>
              <a:defRPr/>
            </a:pPr>
            <a:r>
              <a:rPr lang="en-US" sz="4000" b="1">
                <a:solidFill>
                  <a:schemeClr val="dk1"/>
                </a:solidFill>
                <a:latin typeface="Calibri"/>
                <a:ea typeface="Calibri"/>
                <a:cs typeface="Calibri"/>
              </a:rPr>
              <a:t>Project Procurement Management</a:t>
            </a:r>
            <a:endParaRPr sz="4000" b="1">
              <a:solidFill>
                <a:schemeClr val="dk1"/>
              </a:solidFill>
              <a:latin typeface="Calibri"/>
              <a:ea typeface="Calibri"/>
              <a:cs typeface="Calibri"/>
            </a:endParaRPr>
          </a:p>
        </p:txBody>
      </p:sp>
      <p:sp>
        <p:nvSpPr>
          <p:cNvPr id="848376275" name="Google Shape;1740;p101"/>
          <p:cNvSpPr txBox="1"/>
          <p:nvPr/>
        </p:nvSpPr>
        <p:spPr bwMode="auto">
          <a:xfrm>
            <a:off x="736406" y="1295400"/>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cxnSp>
        <p:nvCxnSpPr>
          <p:cNvPr id="168557766" name="Google Shape;1741;p101"/>
          <p:cNvCxnSpPr/>
          <p:nvPr/>
        </p:nvCxnSpPr>
        <p:spPr bwMode="auto">
          <a:xfrm rot="10800000">
            <a:off x="851579" y="1768915"/>
            <a:ext cx="1023822" cy="0"/>
          </a:xfrm>
          <a:prstGeom prst="straightConnector1">
            <a:avLst/>
          </a:prstGeom>
          <a:noFill/>
          <a:ln w="28575" cap="flat" cmpd="sng">
            <a:solidFill>
              <a:srgbClr val="3F3F3F"/>
            </a:solidFill>
            <a:prstDash val="solid"/>
            <a:miter lim="800000"/>
            <a:headEnd type="none" w="sm" len="sm"/>
            <a:tailEnd type="none" w="sm" len="sm"/>
          </a:ln>
        </p:spPr>
      </p:cxnSp>
      <p:pic>
        <p:nvPicPr>
          <p:cNvPr id="1250626524" name="Google Shape;1742;p101"/>
          <p:cNvPicPr/>
          <p:nvPr/>
        </p:nvPicPr>
        <p:blipFill rotWithShape="1">
          <a:blip r:embed="rId3">
            <a:alphaModFix/>
          </a:blip>
          <a:srcRect l="25266" t="0" r="44128" b="0"/>
          <a:stretch/>
        </p:blipFill>
        <p:spPr bwMode="auto">
          <a:xfrm>
            <a:off x="9035521" y="0"/>
            <a:ext cx="3148334" cy="6858000"/>
          </a:xfrm>
          <a:prstGeom prst="rect">
            <a:avLst/>
          </a:prstGeom>
          <a:noFill/>
          <a:ln>
            <a:no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comb dir="horz"/>
      </p:transition>
    </mc:Choice>
    <mc:Fallback>
      <p:transition spd="med" advClick="1">
        <p:comb dir="horz"/>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18646431">
                                            <p:txEl>
                                              <p:pRg st="0" end="0"/>
                                            </p:txEl>
                                          </p:spTgt>
                                        </p:tgtEl>
                                        <p:attrNameLst>
                                          <p:attrName>style.visibility</p:attrName>
                                        </p:attrNameLst>
                                      </p:cBhvr>
                                      <p:to>
                                        <p:strVal val="visible"/>
                                      </p:to>
                                    </p:set>
                                    <p:animEffect transition="in" filter="wipe(left)">
                                      <p:cBhvr>
                                        <p:cTn id="7" dur="500"/>
                                        <p:tgtEl>
                                          <p:spTgt spid="9186464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44385921" name="Google Shape;721;p46"/>
          <p:cNvPicPr/>
          <p:nvPr/>
        </p:nvPicPr>
        <p:blipFill rotWithShape="1">
          <a:blip r:embed="rId3">
            <a:alphaModFix/>
          </a:blip>
          <a:srcRect l="21648" t="0" r="35518" b="0"/>
          <a:stretch/>
        </p:blipFill>
        <p:spPr bwMode="auto">
          <a:xfrm>
            <a:off x="-49211" y="-9876"/>
            <a:ext cx="4419600" cy="6867876"/>
          </a:xfrm>
          <a:prstGeom prst="rect">
            <a:avLst/>
          </a:prstGeom>
          <a:noFill/>
          <a:ln>
            <a:noFill/>
          </a:ln>
        </p:spPr>
      </p:pic>
      <p:sp>
        <p:nvSpPr>
          <p:cNvPr id="588209025" name="Google Shape;722;p46"/>
          <p:cNvSpPr txBox="1">
            <a:spLocks noGrp="1"/>
          </p:cNvSpPr>
          <p:nvPr>
            <p:ph type="title"/>
          </p:nvPr>
        </p:nvSpPr>
        <p:spPr bwMode="auto">
          <a:xfrm>
            <a:off x="609600" y="302394"/>
            <a:ext cx="5105400" cy="71596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defRPr/>
            </a:pPr>
            <a:r>
              <a:rPr lang="en-US" b="1"/>
              <a:t>Knowledge of a PM</a:t>
            </a:r>
            <a:endParaRPr/>
          </a:p>
        </p:txBody>
      </p:sp>
      <p:grpSp>
        <p:nvGrpSpPr>
          <p:cNvPr id="1031658587" name="Google Shape;723;p46"/>
          <p:cNvGrpSpPr/>
          <p:nvPr/>
        </p:nvGrpSpPr>
        <p:grpSpPr bwMode="auto">
          <a:xfrm>
            <a:off x="5101159" y="1733961"/>
            <a:ext cx="6100240" cy="4657009"/>
            <a:chOff x="5688824" y="1864854"/>
            <a:chExt cx="4394200" cy="4133851"/>
          </a:xfrm>
        </p:grpSpPr>
        <p:grpSp>
          <p:nvGrpSpPr>
            <p:cNvPr id="724" name="Google Shape;724;p46"/>
            <p:cNvGrpSpPr/>
            <p:nvPr/>
          </p:nvGrpSpPr>
          <p:grpSpPr bwMode="auto">
            <a:xfrm>
              <a:off x="6438123" y="2544305"/>
              <a:ext cx="3048000" cy="2873375"/>
              <a:chOff x="1981198" y="861054"/>
              <a:chExt cx="2895602" cy="2872745"/>
            </a:xfrm>
          </p:grpSpPr>
          <p:sp>
            <p:nvSpPr>
              <p:cNvPr id="725" name="Google Shape;725;p46"/>
              <p:cNvSpPr/>
              <p:nvPr/>
            </p:nvSpPr>
            <p:spPr bwMode="auto">
              <a:xfrm>
                <a:off x="1981198" y="861054"/>
                <a:ext cx="2895602" cy="2872745"/>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solidFill>
                  <a:srgbClr val="FF0000"/>
                </a:solid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26" name="Google Shape;726;p46"/>
              <p:cNvSpPr/>
              <p:nvPr/>
            </p:nvSpPr>
            <p:spPr bwMode="auto">
              <a:xfrm>
                <a:off x="2405060" y="1281650"/>
                <a:ext cx="2047876" cy="2031554"/>
              </a:xfrm>
              <a:prstGeom prst="rect">
                <a:avLst/>
              </a:prstGeom>
              <a:noFill/>
              <a:ln>
                <a:solidFill>
                  <a:srgbClr val="FF0000"/>
                </a:solidFill>
              </a:ln>
            </p:spPr>
            <p:txBody>
              <a:bodyPr spcFirstLastPara="1" wrap="square" lIns="44450" tIns="44450" rIns="44450" bIns="44450" anchor="ctr" anchorCtr="0">
                <a:noAutofit/>
              </a:bodyPr>
              <a:lstStyle/>
              <a:p>
                <a:pPr marL="0" marR="0" lvl="0" indent="0" algn="ctr" rtl="0">
                  <a:lnSpc>
                    <a:spcPct val="90000"/>
                  </a:lnSpc>
                  <a:spcBef>
                    <a:spcPts val="0"/>
                  </a:spcBef>
                  <a:spcAft>
                    <a:spcPts val="0"/>
                  </a:spcAft>
                  <a:buNone/>
                  <a:defRPr/>
                </a:pPr>
                <a:r>
                  <a:rPr lang="en-US" sz="3500">
                    <a:solidFill>
                      <a:schemeClr val="dk1"/>
                    </a:solidFill>
                    <a:latin typeface="Calibri"/>
                    <a:ea typeface="Calibri"/>
                    <a:cs typeface="Calibri"/>
                  </a:rPr>
                  <a:t>Integration</a:t>
                </a:r>
                <a:endParaRPr/>
              </a:p>
            </p:txBody>
          </p:sp>
        </p:grpSp>
        <p:grpSp>
          <p:nvGrpSpPr>
            <p:cNvPr id="727" name="Google Shape;727;p46"/>
            <p:cNvGrpSpPr/>
            <p:nvPr/>
          </p:nvGrpSpPr>
          <p:grpSpPr bwMode="auto">
            <a:xfrm>
              <a:off x="7306486" y="1864854"/>
              <a:ext cx="1158875" cy="947738"/>
              <a:chOff x="2849129" y="181000"/>
              <a:chExt cx="1159740" cy="947887"/>
            </a:xfrm>
          </p:grpSpPr>
          <p:sp>
            <p:nvSpPr>
              <p:cNvPr id="728" name="Google Shape;728;p46"/>
              <p:cNvSpPr/>
              <p:nvPr/>
            </p:nvSpPr>
            <p:spPr bwMode="auto">
              <a:xfrm>
                <a:off x="2849129" y="181000"/>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solidFill>
                  <a:srgbClr val="FF0000"/>
                </a:solid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29" name="Google Shape;729;p46"/>
              <p:cNvSpPr/>
              <p:nvPr/>
            </p:nvSpPr>
            <p:spPr bwMode="auto">
              <a:xfrm>
                <a:off x="3019119" y="319135"/>
                <a:ext cx="819761" cy="671617"/>
              </a:xfrm>
              <a:prstGeom prst="rect">
                <a:avLst/>
              </a:prstGeom>
              <a:noFill/>
              <a:ln>
                <a:solidFill>
                  <a:srgbClr val="FF0000"/>
                </a:solid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Scope</a:t>
                </a:r>
                <a:endParaRPr/>
              </a:p>
            </p:txBody>
          </p:sp>
        </p:grpSp>
        <p:grpSp>
          <p:nvGrpSpPr>
            <p:cNvPr id="730" name="Google Shape;730;p46"/>
            <p:cNvGrpSpPr/>
            <p:nvPr/>
          </p:nvGrpSpPr>
          <p:grpSpPr bwMode="auto">
            <a:xfrm>
              <a:off x="8495523" y="2249029"/>
              <a:ext cx="1160462" cy="947738"/>
              <a:chOff x="3904896" y="565268"/>
              <a:chExt cx="1159740" cy="947887"/>
            </a:xfrm>
          </p:grpSpPr>
          <p:sp>
            <p:nvSpPr>
              <p:cNvPr id="731" name="Google Shape;731;p46"/>
              <p:cNvSpPr/>
              <p:nvPr/>
            </p:nvSpPr>
            <p:spPr bwMode="auto">
              <a:xfrm>
                <a:off x="3904896" y="565268"/>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solidFill>
                  <a:srgbClr val="FF0000"/>
                </a:solid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2" name="Google Shape;732;p46"/>
              <p:cNvSpPr/>
              <p:nvPr/>
            </p:nvSpPr>
            <p:spPr bwMode="auto">
              <a:xfrm>
                <a:off x="4074652" y="703403"/>
                <a:ext cx="820227" cy="671617"/>
              </a:xfrm>
              <a:prstGeom prst="rect">
                <a:avLst/>
              </a:prstGeom>
              <a:noFill/>
              <a:ln>
                <a:solidFill>
                  <a:srgbClr val="FF0000"/>
                </a:solid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Time</a:t>
                </a:r>
                <a:endParaRPr/>
              </a:p>
            </p:txBody>
          </p:sp>
        </p:grpSp>
        <p:grpSp>
          <p:nvGrpSpPr>
            <p:cNvPr id="733" name="Google Shape;733;p46"/>
            <p:cNvGrpSpPr/>
            <p:nvPr/>
          </p:nvGrpSpPr>
          <p:grpSpPr bwMode="auto">
            <a:xfrm>
              <a:off x="8922561" y="3222168"/>
              <a:ext cx="1160463" cy="947737"/>
              <a:chOff x="4466658" y="1538269"/>
              <a:chExt cx="1159740" cy="947887"/>
            </a:xfrm>
          </p:grpSpPr>
          <p:sp>
            <p:nvSpPr>
              <p:cNvPr id="734" name="Google Shape;734;p46"/>
              <p:cNvSpPr/>
              <p:nvPr/>
            </p:nvSpPr>
            <p:spPr bwMode="auto">
              <a:xfrm>
                <a:off x="4466658" y="1538269"/>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solidFill>
                  <a:srgbClr val="FF0000"/>
                </a:solid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5" name="Google Shape;735;p46"/>
              <p:cNvSpPr/>
              <p:nvPr/>
            </p:nvSpPr>
            <p:spPr bwMode="auto">
              <a:xfrm>
                <a:off x="4636415" y="1676403"/>
                <a:ext cx="820226" cy="671619"/>
              </a:xfrm>
              <a:prstGeom prst="rect">
                <a:avLst/>
              </a:prstGeom>
              <a:noFill/>
              <a:ln>
                <a:solidFill>
                  <a:srgbClr val="FF0000"/>
                </a:solid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Cost</a:t>
                </a:r>
                <a:endParaRPr/>
              </a:p>
            </p:txBody>
          </p:sp>
        </p:grpSp>
        <p:grpSp>
          <p:nvGrpSpPr>
            <p:cNvPr id="736" name="Google Shape;736;p46"/>
            <p:cNvGrpSpPr/>
            <p:nvPr/>
          </p:nvGrpSpPr>
          <p:grpSpPr bwMode="auto">
            <a:xfrm>
              <a:off x="8800323" y="4328654"/>
              <a:ext cx="1160462" cy="947738"/>
              <a:chOff x="4271560" y="2644723"/>
              <a:chExt cx="1159740" cy="947887"/>
            </a:xfrm>
          </p:grpSpPr>
          <p:sp>
            <p:nvSpPr>
              <p:cNvPr id="737" name="Google Shape;737;p46"/>
              <p:cNvSpPr/>
              <p:nvPr/>
            </p:nvSpPr>
            <p:spPr bwMode="auto">
              <a:xfrm>
                <a:off x="4271560" y="2644723"/>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solidFill>
                  <a:srgbClr val="FF0000"/>
                </a:solid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38" name="Google Shape;738;p46"/>
              <p:cNvSpPr/>
              <p:nvPr/>
            </p:nvSpPr>
            <p:spPr bwMode="auto">
              <a:xfrm>
                <a:off x="4441316" y="2782859"/>
                <a:ext cx="820227" cy="671617"/>
              </a:xfrm>
              <a:prstGeom prst="rect">
                <a:avLst/>
              </a:prstGeom>
              <a:noFill/>
              <a:ln>
                <a:solidFill>
                  <a:srgbClr val="FF0000"/>
                </a:solid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Quality</a:t>
                </a:r>
                <a:endParaRPr/>
              </a:p>
            </p:txBody>
          </p:sp>
        </p:grpSp>
        <p:grpSp>
          <p:nvGrpSpPr>
            <p:cNvPr id="739" name="Google Shape;739;p46"/>
            <p:cNvGrpSpPr/>
            <p:nvPr/>
          </p:nvGrpSpPr>
          <p:grpSpPr bwMode="auto">
            <a:xfrm>
              <a:off x="7912910" y="5050968"/>
              <a:ext cx="1160463" cy="947737"/>
              <a:chOff x="3410891" y="3366911"/>
              <a:chExt cx="1159740" cy="947887"/>
            </a:xfrm>
          </p:grpSpPr>
          <p:sp>
            <p:nvSpPr>
              <p:cNvPr id="740" name="Google Shape;740;p46"/>
              <p:cNvSpPr/>
              <p:nvPr/>
            </p:nvSpPr>
            <p:spPr bwMode="auto">
              <a:xfrm>
                <a:off x="3410891" y="3366911"/>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solidFill>
                  <a:srgbClr val="FF0000"/>
                </a:solid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1" name="Google Shape;741;p46"/>
              <p:cNvSpPr/>
              <p:nvPr/>
            </p:nvSpPr>
            <p:spPr bwMode="auto">
              <a:xfrm>
                <a:off x="3580648" y="3505045"/>
                <a:ext cx="820226" cy="671619"/>
              </a:xfrm>
              <a:prstGeom prst="rect">
                <a:avLst/>
              </a:prstGeom>
              <a:noFill/>
              <a:ln>
                <a:solidFill>
                  <a:srgbClr val="FF0000"/>
                </a:solid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Human Resource</a:t>
                </a:r>
                <a:endParaRPr/>
              </a:p>
            </p:txBody>
          </p:sp>
        </p:grpSp>
        <p:grpSp>
          <p:nvGrpSpPr>
            <p:cNvPr id="742" name="Google Shape;742;p46"/>
            <p:cNvGrpSpPr/>
            <p:nvPr/>
          </p:nvGrpSpPr>
          <p:grpSpPr bwMode="auto">
            <a:xfrm>
              <a:off x="6684186" y="5050968"/>
              <a:ext cx="1160463" cy="947737"/>
              <a:chOff x="2287367" y="3366911"/>
              <a:chExt cx="1159740" cy="947887"/>
            </a:xfrm>
          </p:grpSpPr>
          <p:sp>
            <p:nvSpPr>
              <p:cNvPr id="743" name="Google Shape;743;p46"/>
              <p:cNvSpPr/>
              <p:nvPr/>
            </p:nvSpPr>
            <p:spPr bwMode="auto">
              <a:xfrm>
                <a:off x="2287367" y="3366911"/>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solidFill>
                  <a:srgbClr val="FF0000"/>
                </a:solid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4" name="Google Shape;744;p46"/>
              <p:cNvSpPr/>
              <p:nvPr/>
            </p:nvSpPr>
            <p:spPr bwMode="auto">
              <a:xfrm>
                <a:off x="2338135" y="3505045"/>
                <a:ext cx="1032819" cy="671619"/>
              </a:xfrm>
              <a:prstGeom prst="rect">
                <a:avLst/>
              </a:prstGeom>
              <a:noFill/>
              <a:ln>
                <a:solidFill>
                  <a:srgbClr val="FF0000"/>
                </a:solid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Communication</a:t>
                </a:r>
                <a:endParaRPr/>
              </a:p>
            </p:txBody>
          </p:sp>
        </p:grpSp>
        <p:grpSp>
          <p:nvGrpSpPr>
            <p:cNvPr id="745" name="Google Shape;745;p46"/>
            <p:cNvGrpSpPr/>
            <p:nvPr/>
          </p:nvGrpSpPr>
          <p:grpSpPr bwMode="auto">
            <a:xfrm>
              <a:off x="5845986" y="4328654"/>
              <a:ext cx="1160463" cy="947738"/>
              <a:chOff x="1426698" y="2644723"/>
              <a:chExt cx="1159740" cy="947887"/>
            </a:xfrm>
          </p:grpSpPr>
          <p:sp>
            <p:nvSpPr>
              <p:cNvPr id="746" name="Google Shape;746;p46"/>
              <p:cNvSpPr/>
              <p:nvPr/>
            </p:nvSpPr>
            <p:spPr bwMode="auto">
              <a:xfrm>
                <a:off x="1426698" y="2644723"/>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solidFill>
                  <a:srgbClr val="FF0000"/>
                </a:solid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47" name="Google Shape;747;p46"/>
              <p:cNvSpPr/>
              <p:nvPr/>
            </p:nvSpPr>
            <p:spPr bwMode="auto">
              <a:xfrm>
                <a:off x="1596455" y="2782859"/>
                <a:ext cx="820226" cy="671617"/>
              </a:xfrm>
              <a:prstGeom prst="rect">
                <a:avLst/>
              </a:prstGeom>
              <a:noFill/>
              <a:ln>
                <a:solidFill>
                  <a:srgbClr val="FF0000"/>
                </a:solid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Risk</a:t>
                </a:r>
                <a:endParaRPr/>
              </a:p>
            </p:txBody>
          </p:sp>
        </p:grpSp>
        <p:grpSp>
          <p:nvGrpSpPr>
            <p:cNvPr id="748" name="Google Shape;748;p46"/>
            <p:cNvGrpSpPr/>
            <p:nvPr/>
          </p:nvGrpSpPr>
          <p:grpSpPr bwMode="auto">
            <a:xfrm>
              <a:off x="5688824" y="3222168"/>
              <a:ext cx="1158875" cy="947737"/>
              <a:chOff x="1231599" y="1538269"/>
              <a:chExt cx="1159741" cy="947887"/>
            </a:xfrm>
          </p:grpSpPr>
          <p:sp>
            <p:nvSpPr>
              <p:cNvPr id="749" name="Google Shape;749;p46"/>
              <p:cNvSpPr/>
              <p:nvPr/>
            </p:nvSpPr>
            <p:spPr bwMode="auto">
              <a:xfrm>
                <a:off x="1231600" y="1538269"/>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solidFill>
                  <a:srgbClr val="FF0000"/>
                </a:solid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50" name="Google Shape;750;p46"/>
              <p:cNvSpPr/>
              <p:nvPr/>
            </p:nvSpPr>
            <p:spPr bwMode="auto">
              <a:xfrm>
                <a:off x="1231599" y="1676403"/>
                <a:ext cx="1154974" cy="671619"/>
              </a:xfrm>
              <a:prstGeom prst="rect">
                <a:avLst/>
              </a:prstGeom>
              <a:noFill/>
              <a:ln>
                <a:solidFill>
                  <a:srgbClr val="FF0000"/>
                </a:solid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Procurement</a:t>
                </a:r>
                <a:endParaRPr/>
              </a:p>
            </p:txBody>
          </p:sp>
        </p:grpSp>
        <p:grpSp>
          <p:nvGrpSpPr>
            <p:cNvPr id="751" name="Google Shape;751;p46"/>
            <p:cNvGrpSpPr/>
            <p:nvPr/>
          </p:nvGrpSpPr>
          <p:grpSpPr bwMode="auto">
            <a:xfrm>
              <a:off x="6150786" y="2249029"/>
              <a:ext cx="1160463" cy="947738"/>
              <a:chOff x="1793362" y="565268"/>
              <a:chExt cx="1159740" cy="947887"/>
            </a:xfrm>
          </p:grpSpPr>
          <p:sp>
            <p:nvSpPr>
              <p:cNvPr id="752" name="Google Shape;752;p46"/>
              <p:cNvSpPr/>
              <p:nvPr/>
            </p:nvSpPr>
            <p:spPr bwMode="auto">
              <a:xfrm>
                <a:off x="1793362" y="565268"/>
                <a:ext cx="1159740" cy="947887"/>
              </a:xfrm>
              <a:prstGeom prst="ellipse">
                <a:avLst/>
              </a:prstGeom>
              <a:gradFill>
                <a:gsLst>
                  <a:gs pos="0">
                    <a:srgbClr val="FFFFFF">
                      <a:alpha val="49803"/>
                    </a:srgbClr>
                  </a:gs>
                  <a:gs pos="50000">
                    <a:srgbClr val="FFFFFF">
                      <a:alpha val="49803"/>
                    </a:srgbClr>
                  </a:gs>
                  <a:gs pos="100000">
                    <a:srgbClr val="E1E1E1">
                      <a:alpha val="49803"/>
                    </a:srgbClr>
                  </a:gs>
                </a:gsLst>
                <a:lin ang="5400000" scaled="0"/>
              </a:gradFill>
              <a:ln>
                <a:solidFill>
                  <a:srgbClr val="FF0000"/>
                </a:solid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753" name="Google Shape;753;p46"/>
              <p:cNvSpPr/>
              <p:nvPr/>
            </p:nvSpPr>
            <p:spPr bwMode="auto">
              <a:xfrm>
                <a:off x="1850476" y="703403"/>
                <a:ext cx="1102626" cy="671617"/>
              </a:xfrm>
              <a:prstGeom prst="rect">
                <a:avLst/>
              </a:prstGeom>
              <a:noFill/>
              <a:ln>
                <a:solidFill>
                  <a:srgbClr val="FF0000"/>
                </a:solid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None/>
                  <a:defRPr/>
                </a:pPr>
                <a:r>
                  <a:rPr lang="en-US" sz="1600">
                    <a:solidFill>
                      <a:schemeClr val="dk1"/>
                    </a:solidFill>
                    <a:latin typeface="Calibri"/>
                    <a:ea typeface="Calibri"/>
                    <a:cs typeface="Calibri"/>
                  </a:rPr>
                  <a:t>Stakeholders</a:t>
                </a:r>
                <a:endParaRPr/>
              </a:p>
            </p:txBody>
          </p:sp>
        </p:grpSp>
      </p:grpSp>
      <p:sp>
        <p:nvSpPr>
          <p:cNvPr id="259637518" name="Google Shape;754;p46"/>
          <p:cNvSpPr txBox="1"/>
          <p:nvPr/>
        </p:nvSpPr>
        <p:spPr bwMode="auto">
          <a:xfrm>
            <a:off x="646828" y="987753"/>
            <a:ext cx="4929924" cy="3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1.4 Knowledge &amp; Attributes of a Project Manager</a:t>
            </a:r>
            <a:endParaRPr sz="1700">
              <a:solidFill>
                <a:schemeClr val="dk1"/>
              </a:solidFill>
              <a:latin typeface="Arimo"/>
              <a:ea typeface="Arimo"/>
              <a:cs typeface="Arimo"/>
            </a:endParaRPr>
          </a:p>
        </p:txBody>
      </p:sp>
      <p:sp>
        <p:nvSpPr>
          <p:cNvPr id="1736429115" name="Google Shape;755;p46"/>
          <p:cNvSpPr txBox="1"/>
          <p:nvPr/>
        </p:nvSpPr>
        <p:spPr bwMode="auto">
          <a:xfrm>
            <a:off x="681560" y="1703714"/>
            <a:ext cx="2970213"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defRPr/>
            </a:pPr>
            <a:r>
              <a:rPr lang="en-US" sz="2400" b="1">
                <a:solidFill>
                  <a:srgbClr val="FF0000"/>
                </a:solidFill>
                <a:latin typeface="Times New Roman"/>
                <a:ea typeface="Times New Roman"/>
                <a:cs typeface="Times New Roman"/>
              </a:rPr>
              <a:t>10 Knowledge Areas</a:t>
            </a:r>
            <a:endParaRPr b="1">
              <a:solidFill>
                <a:srgbClr val="FF0000"/>
              </a:solidFill>
            </a:endParaRPr>
          </a:p>
        </p:txBody>
      </p:sp>
      <p:sp>
        <p:nvSpPr>
          <p:cNvPr id="484453913" name="Google Shape;756;p4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120</a:t>
            </a:fld>
            <a:endParaRPr/>
          </a:p>
        </p:txBody>
      </p:sp>
      <p:cxnSp>
        <p:nvCxnSpPr>
          <p:cNvPr id="1559700065" name="Google Shape;757;p46"/>
          <p:cNvCxnSpPr/>
          <p:nvPr/>
        </p:nvCxnSpPr>
        <p:spPr bwMode="auto">
          <a:xfrm rot="10800000">
            <a:off x="762000" y="1461268"/>
            <a:ext cx="1023822" cy="0"/>
          </a:xfrm>
          <a:prstGeom prst="straightConnector1">
            <a:avLst/>
          </a:prstGeom>
          <a:noFill/>
          <a:ln w="28575" cap="flat" cmpd="sng">
            <a:solidFill>
              <a:srgbClr val="3F3F3F"/>
            </a:solidFill>
            <a:prstDash val="solid"/>
            <a:miter lim="800000"/>
            <a:headEnd type="none" w="sm" len="sm"/>
            <a:tailEnd type="none" w="sm" len="sm"/>
          </a:ln>
        </p:spPr>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031658587"/>
                                        </p:tgtEl>
                                        <p:attrNameLst>
                                          <p:attrName>style.visibility</p:attrName>
                                        </p:attrNameLst>
                                      </p:cBhvr>
                                      <p:to>
                                        <p:strVal val="visible"/>
                                      </p:to>
                                    </p:set>
                                    <p:animEffect transition="in" filter="fade">
                                      <p:cBhvr>
                                        <p:cTn id="7" dur="1000"/>
                                        <p:tgtEl>
                                          <p:spTgt spid="1031658587"/>
                                        </p:tgtEl>
                                      </p:cBhvr>
                                    </p:animEffect>
                                    <p:anim calcmode="lin" valueType="num">
                                      <p:cBhvr>
                                        <p:cTn id="8" dur="1000" fill="hold"/>
                                        <p:tgtEl>
                                          <p:spTgt spid="1031658587"/>
                                        </p:tgtEl>
                                        <p:attrNameLst>
                                          <p:attrName>ppt_x</p:attrName>
                                        </p:attrNameLst>
                                      </p:cBhvr>
                                      <p:tavLst>
                                        <p:tav tm="0">
                                          <p:val>
                                            <p:strVal val="#ppt_x"/>
                                          </p:val>
                                        </p:tav>
                                        <p:tav tm="100000">
                                          <p:val>
                                            <p:strVal val="#ppt_x"/>
                                          </p:val>
                                        </p:tav>
                                      </p:tavLst>
                                    </p:anim>
                                    <p:anim calcmode="lin" valueType="num">
                                      <p:cBhvr>
                                        <p:cTn id="9" dur="1000" fill="hold"/>
                                        <p:tgtEl>
                                          <p:spTgt spid="1031658587"/>
                                        </p:tgtEl>
                                        <p:attrNameLst>
                                          <p:attrName>ppt_y</p:attrName>
                                        </p:attrNameLst>
                                      </p:cBhvr>
                                      <p:tavLst>
                                        <p:tav tm="0">
                                          <p:val>
                                            <p:strVal val="#ppt_y+.1"/>
                                          </p:val>
                                        </p:tav>
                                        <p:tav tm="100000">
                                          <p:val>
                                            <p:strVal val="#ppt_y"/>
                                          </p:val>
                                        </p:tav>
                                      </p:tavLst>
                                    </p:anim>
                                  </p:childTnLst>
                                </p:cTn>
                              </p:par>
                              <p:par>
                                <p:cTn id="10" presetID="2" presetClass="entr" presetSubtype="8" fill="hold" grpId="0" nodeType="withEffect">
                                  <p:stCondLst>
                                    <p:cond delay="0"/>
                                  </p:stCondLst>
                                  <p:childTnLst>
                                    <p:set>
                                      <p:cBhvr>
                                        <p:cTn id="11" dur="1" fill="hold">
                                          <p:stCondLst>
                                            <p:cond delay="0"/>
                                          </p:stCondLst>
                                        </p:cTn>
                                        <p:tgtEl>
                                          <p:spTgt spid="1736429115"/>
                                        </p:tgtEl>
                                        <p:attrNameLst>
                                          <p:attrName>style.visibility</p:attrName>
                                        </p:attrNameLst>
                                      </p:cBhvr>
                                      <p:to>
                                        <p:strVal val="visible"/>
                                      </p:to>
                                    </p:set>
                                    <p:anim calcmode="lin" valueType="num">
                                      <p:cBhvr additive="base">
                                        <p:cTn id="12" dur="500" fill="hold"/>
                                        <p:tgtEl>
                                          <p:spTgt spid="1736429115"/>
                                        </p:tgtEl>
                                        <p:attrNameLst>
                                          <p:attrName>ppt_x</p:attrName>
                                        </p:attrNameLst>
                                      </p:cBhvr>
                                      <p:tavLst>
                                        <p:tav tm="0">
                                          <p:val>
                                            <p:strVal val="0-#ppt_w/2"/>
                                          </p:val>
                                        </p:tav>
                                        <p:tav tm="100000">
                                          <p:val>
                                            <p:strVal val="#ppt_x"/>
                                          </p:val>
                                        </p:tav>
                                      </p:tavLst>
                                    </p:anim>
                                    <p:anim calcmode="lin" valueType="num">
                                      <p:cBhvr additive="base">
                                        <p:cTn id="13" dur="500" fill="hold"/>
                                        <p:tgtEl>
                                          <p:spTgt spid="17364291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6429115" grpId="0"/>
    </p:bldLst>
  </p:timing>
</p:sld>
</file>

<file path=ppt/slides/slide1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40098246" name="Google Shape;1862;p108"/>
          <p:cNvPicPr/>
          <p:nvPr/>
        </p:nvPicPr>
        <p:blipFill rotWithShape="1">
          <a:blip r:embed="rId3">
            <a:alphaModFix/>
          </a:blip>
          <a:srcRect l="0" t="12333" r="0" b="0"/>
          <a:stretch/>
        </p:blipFill>
        <p:spPr bwMode="auto">
          <a:xfrm>
            <a:off x="7337990" y="4021091"/>
            <a:ext cx="4854009" cy="2836908"/>
          </a:xfrm>
          <a:prstGeom prst="rect">
            <a:avLst/>
          </a:prstGeom>
          <a:noFill/>
          <a:ln>
            <a:noFill/>
          </a:ln>
        </p:spPr>
      </p:pic>
      <p:pic>
        <p:nvPicPr>
          <p:cNvPr id="606032631" name="Google Shape;1863;p108"/>
          <p:cNvPicPr/>
          <p:nvPr/>
        </p:nvPicPr>
        <p:blipFill rotWithShape="1">
          <a:blip r:embed="rId4">
            <a:alphaModFix/>
          </a:blip>
          <a:stretch/>
        </p:blipFill>
        <p:spPr bwMode="auto">
          <a:xfrm>
            <a:off x="0" y="4027368"/>
            <a:ext cx="7449675" cy="2836908"/>
          </a:xfrm>
          <a:prstGeom prst="rect">
            <a:avLst/>
          </a:prstGeom>
          <a:noFill/>
          <a:ln>
            <a:noFill/>
          </a:ln>
        </p:spPr>
      </p:pic>
      <p:sp>
        <p:nvSpPr>
          <p:cNvPr id="249782570" name="Google Shape;1864;p108"/>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121</a:t>
            </a:fld>
            <a:endParaRPr/>
          </a:p>
        </p:txBody>
      </p:sp>
      <p:cxnSp>
        <p:nvCxnSpPr>
          <p:cNvPr id="1916997440" name="Google Shape;1866;p108"/>
          <p:cNvCxnSpPr/>
          <p:nvPr/>
        </p:nvCxnSpPr>
        <p:spPr bwMode="auto">
          <a:xfrm rot="10800000">
            <a:off x="5540494" y="1289913"/>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731721327" name="Google Shape;1867;p108"/>
          <p:cNvSpPr txBox="1"/>
          <p:nvPr/>
        </p:nvSpPr>
        <p:spPr bwMode="auto">
          <a:xfrm>
            <a:off x="4066336" y="374297"/>
            <a:ext cx="40751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defRPr/>
            </a:pPr>
            <a:r>
              <a:rPr lang="en-US" sz="3200" b="1">
                <a:solidFill>
                  <a:schemeClr val="dk1"/>
                </a:solidFill>
                <a:latin typeface="Calibri"/>
                <a:ea typeface="Calibri"/>
                <a:cs typeface="Calibri"/>
              </a:rPr>
              <a:t>Attributes of a PM</a:t>
            </a:r>
            <a:endParaRPr sz="3200" b="1">
              <a:solidFill>
                <a:srgbClr val="3F3F3F"/>
              </a:solidFill>
              <a:latin typeface="Open Sans"/>
              <a:ea typeface="Open Sans"/>
              <a:cs typeface="Open Sans"/>
            </a:endParaRPr>
          </a:p>
        </p:txBody>
      </p:sp>
      <p:sp>
        <p:nvSpPr>
          <p:cNvPr id="808735357" name="Google Shape;1868;p108"/>
          <p:cNvSpPr txBox="1"/>
          <p:nvPr/>
        </p:nvSpPr>
        <p:spPr bwMode="auto">
          <a:xfrm>
            <a:off x="3967315" y="851037"/>
            <a:ext cx="4621778"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defRPr/>
            </a:pPr>
            <a:r>
              <a:rPr lang="en-US" sz="1600">
                <a:solidFill>
                  <a:schemeClr val="dk1"/>
                </a:solidFill>
                <a:latin typeface="Arimo"/>
                <a:ea typeface="Arimo"/>
                <a:cs typeface="Arimo"/>
              </a:rPr>
              <a:t>1.4 Knowledge &amp; Attributes of a Project Manager</a:t>
            </a:r>
            <a:endParaRPr sz="1600">
              <a:solidFill>
                <a:schemeClr val="dk1"/>
              </a:solidFill>
              <a:latin typeface="Arimo"/>
              <a:ea typeface="Arimo"/>
              <a:cs typeface="Arimo"/>
            </a:endParaRPr>
          </a:p>
        </p:txBody>
      </p:sp>
      <p:sp>
        <p:nvSpPr>
          <p:cNvPr id="1302808253" name="Google Shape;1869;p108"/>
          <p:cNvSpPr/>
          <p:nvPr/>
        </p:nvSpPr>
        <p:spPr bwMode="auto">
          <a:xfrm>
            <a:off x="756974" y="1871130"/>
            <a:ext cx="6405826" cy="4111829"/>
          </a:xfrm>
          <a:prstGeom prst="quadArrow">
            <a:avLst>
              <a:gd name="adj1" fmla="val 2000"/>
              <a:gd name="adj2" fmla="val 4000"/>
              <a:gd name="adj3" fmla="val 5000"/>
            </a:avLst>
          </a:prstGeom>
          <a:solidFill>
            <a:srgbClr val="1F3864"/>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nvGrpSpPr>
          <p:cNvPr id="474907097" name="Google Shape;1870;p108"/>
          <p:cNvGrpSpPr/>
          <p:nvPr/>
        </p:nvGrpSpPr>
        <p:grpSpPr bwMode="auto">
          <a:xfrm>
            <a:off x="602026" y="2138399"/>
            <a:ext cx="3174129" cy="1644731"/>
            <a:chOff x="602026" y="2138399"/>
            <a:chExt cx="3174129" cy="1644731"/>
          </a:xfrm>
        </p:grpSpPr>
        <p:sp>
          <p:nvSpPr>
            <p:cNvPr id="1871" name="Google Shape;1871;p108"/>
            <p:cNvSpPr/>
            <p:nvPr/>
          </p:nvSpPr>
          <p:spPr bwMode="auto">
            <a:xfrm>
              <a:off x="602026" y="2138399"/>
              <a:ext cx="3174129" cy="1644731"/>
            </a:xfrm>
            <a:prstGeom prst="roundRect">
              <a:avLst>
                <a:gd name="adj" fmla="val 16667"/>
              </a:avLst>
            </a:prstGeom>
            <a:solidFill>
              <a:srgbClr val="1F3864"/>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872" name="Google Shape;1872;p108"/>
            <p:cNvSpPr/>
            <p:nvPr/>
          </p:nvSpPr>
          <p:spPr bwMode="auto">
            <a:xfrm>
              <a:off x="756974" y="2218688"/>
              <a:ext cx="2864234" cy="1484153"/>
            </a:xfrm>
            <a:prstGeom prst="rect">
              <a:avLst/>
            </a:prstGeom>
            <a:solidFill>
              <a:srgbClr val="1F3864"/>
            </a:solid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None/>
                <a:defRPr/>
              </a:pPr>
              <a:r>
                <a:rPr lang="en-US" sz="1800" b="1">
                  <a:solidFill>
                    <a:schemeClr val="lt1"/>
                  </a:solidFill>
                  <a:latin typeface="Arial"/>
                  <a:ea typeface="Arial"/>
                  <a:cs typeface="Arial"/>
                </a:rPr>
                <a:t>Personal characteristics</a:t>
              </a:r>
              <a:endParaRPr/>
            </a:p>
            <a:p>
              <a:pPr marL="285750" marR="0" lvl="0" indent="-285750" algn="l" rtl="0">
                <a:lnSpc>
                  <a:spcPct val="90000"/>
                </a:lnSpc>
                <a:spcBef>
                  <a:spcPts val="630"/>
                </a:spcBef>
                <a:spcAft>
                  <a:spcPts val="0"/>
                </a:spcAft>
                <a:buClr>
                  <a:schemeClr val="lt1"/>
                </a:buClr>
                <a:buSzPts val="1800"/>
                <a:buFont typeface="Arial"/>
                <a:buChar char="•"/>
                <a:defRPr/>
              </a:pPr>
              <a:r>
                <a:rPr lang="en-US" sz="1800">
                  <a:solidFill>
                    <a:schemeClr val="lt1"/>
                  </a:solidFill>
                  <a:latin typeface="Calibri"/>
                  <a:ea typeface="Calibri"/>
                  <a:cs typeface="Calibri"/>
                </a:rPr>
                <a:t>Task oriented vs People oriented</a:t>
              </a:r>
              <a:endParaRPr/>
            </a:p>
            <a:p>
              <a:pPr marL="285750" marR="0" lvl="0" indent="-285750" algn="l" rtl="0">
                <a:lnSpc>
                  <a:spcPct val="90000"/>
                </a:lnSpc>
                <a:spcBef>
                  <a:spcPts val="630"/>
                </a:spcBef>
                <a:spcAft>
                  <a:spcPts val="0"/>
                </a:spcAft>
                <a:buClr>
                  <a:schemeClr val="lt1"/>
                </a:buClr>
                <a:buSzPts val="1800"/>
                <a:buFont typeface="Arial"/>
                <a:buChar char="•"/>
                <a:defRPr/>
              </a:pPr>
              <a:r>
                <a:rPr lang="en-US" sz="1800">
                  <a:solidFill>
                    <a:schemeClr val="lt1"/>
                  </a:solidFill>
                  <a:latin typeface="Calibri"/>
                  <a:ea typeface="Calibri"/>
                  <a:cs typeface="Calibri"/>
                </a:rPr>
                <a:t>Charismatic </a:t>
              </a:r>
              <a:endParaRPr sz="1800">
                <a:solidFill>
                  <a:schemeClr val="lt1"/>
                </a:solidFill>
                <a:latin typeface="Calibri"/>
                <a:ea typeface="Calibri"/>
                <a:cs typeface="Calibri"/>
              </a:endParaRPr>
            </a:p>
          </p:txBody>
        </p:sp>
      </p:grpSp>
      <p:grpSp>
        <p:nvGrpSpPr>
          <p:cNvPr id="1326081381" name="Google Shape;1873;p108"/>
          <p:cNvGrpSpPr/>
          <p:nvPr/>
        </p:nvGrpSpPr>
        <p:grpSpPr bwMode="auto">
          <a:xfrm>
            <a:off x="4143618" y="2138399"/>
            <a:ext cx="3019182" cy="1644731"/>
            <a:chOff x="4143618" y="2138399"/>
            <a:chExt cx="3019182" cy="1644731"/>
          </a:xfrm>
        </p:grpSpPr>
        <p:sp>
          <p:nvSpPr>
            <p:cNvPr id="1874" name="Google Shape;1874;p108"/>
            <p:cNvSpPr/>
            <p:nvPr/>
          </p:nvSpPr>
          <p:spPr bwMode="auto">
            <a:xfrm>
              <a:off x="4143618" y="2138399"/>
              <a:ext cx="3019182" cy="1644731"/>
            </a:xfrm>
            <a:prstGeom prst="roundRect">
              <a:avLst>
                <a:gd name="adj" fmla="val 16667"/>
              </a:avLst>
            </a:prstGeom>
            <a:solidFill>
              <a:srgbClr val="1F3864"/>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875" name="Google Shape;1875;p108"/>
            <p:cNvSpPr/>
            <p:nvPr/>
          </p:nvSpPr>
          <p:spPr bwMode="auto">
            <a:xfrm>
              <a:off x="4291002" y="2218688"/>
              <a:ext cx="2724414" cy="1484153"/>
            </a:xfrm>
            <a:prstGeom prst="rect">
              <a:avLst/>
            </a:prstGeom>
            <a:solidFill>
              <a:srgbClr val="1F3864"/>
            </a:solid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None/>
                <a:defRPr/>
              </a:pPr>
              <a:r>
                <a:rPr lang="en-US" sz="1800" b="1">
                  <a:solidFill>
                    <a:schemeClr val="lt1"/>
                  </a:solidFill>
                  <a:latin typeface="Arial"/>
                  <a:ea typeface="Arial"/>
                  <a:cs typeface="Arial"/>
                </a:rPr>
                <a:t>Behavioral skills</a:t>
              </a:r>
              <a:endParaRPr/>
            </a:p>
            <a:p>
              <a:pPr marL="285750" marR="0" lvl="0" indent="-285750" algn="l" rtl="0">
                <a:lnSpc>
                  <a:spcPct val="90000"/>
                </a:lnSpc>
                <a:spcBef>
                  <a:spcPts val="630"/>
                </a:spcBef>
                <a:spcAft>
                  <a:spcPts val="0"/>
                </a:spcAft>
                <a:buClr>
                  <a:schemeClr val="lt1"/>
                </a:buClr>
                <a:buSzPts val="1800"/>
                <a:buFont typeface="Arial"/>
                <a:buChar char="•"/>
                <a:defRPr/>
              </a:pPr>
              <a:r>
                <a:rPr lang="en-US" sz="1800">
                  <a:solidFill>
                    <a:schemeClr val="lt1"/>
                  </a:solidFill>
                  <a:latin typeface="Calibri"/>
                  <a:ea typeface="Calibri"/>
                  <a:cs typeface="Calibri"/>
                </a:rPr>
                <a:t>Interpersonal skill</a:t>
              </a:r>
              <a:endParaRPr/>
            </a:p>
            <a:p>
              <a:pPr marL="285750" marR="0" lvl="0" indent="-285750" algn="l" rtl="0">
                <a:lnSpc>
                  <a:spcPct val="90000"/>
                </a:lnSpc>
                <a:spcBef>
                  <a:spcPts val="630"/>
                </a:spcBef>
                <a:spcAft>
                  <a:spcPts val="0"/>
                </a:spcAft>
                <a:buClr>
                  <a:schemeClr val="lt1"/>
                </a:buClr>
                <a:buSzPts val="1800"/>
                <a:buFont typeface="Arial"/>
                <a:buChar char="•"/>
                <a:defRPr/>
              </a:pPr>
              <a:r>
                <a:rPr lang="en-US" sz="1800">
                  <a:solidFill>
                    <a:schemeClr val="lt1"/>
                  </a:solidFill>
                  <a:latin typeface="Calibri"/>
                  <a:ea typeface="Calibri"/>
                  <a:cs typeface="Calibri"/>
                </a:rPr>
                <a:t>Communication skills </a:t>
              </a:r>
              <a:endParaRPr sz="1800">
                <a:solidFill>
                  <a:schemeClr val="lt1"/>
                </a:solidFill>
                <a:latin typeface="Calibri"/>
                <a:ea typeface="Calibri"/>
                <a:cs typeface="Calibri"/>
              </a:endParaRPr>
            </a:p>
          </p:txBody>
        </p:sp>
      </p:grpSp>
      <p:grpSp>
        <p:nvGrpSpPr>
          <p:cNvPr id="99996755" name="Google Shape;1876;p108"/>
          <p:cNvGrpSpPr/>
          <p:nvPr/>
        </p:nvGrpSpPr>
        <p:grpSpPr bwMode="auto">
          <a:xfrm>
            <a:off x="602026" y="4070958"/>
            <a:ext cx="3174129" cy="1644731"/>
            <a:chOff x="602026" y="4070958"/>
            <a:chExt cx="3174129" cy="1644731"/>
          </a:xfrm>
        </p:grpSpPr>
        <p:sp>
          <p:nvSpPr>
            <p:cNvPr id="1877" name="Google Shape;1877;p108"/>
            <p:cNvSpPr/>
            <p:nvPr/>
          </p:nvSpPr>
          <p:spPr bwMode="auto">
            <a:xfrm>
              <a:off x="602026" y="4070958"/>
              <a:ext cx="3174129" cy="1644731"/>
            </a:xfrm>
            <a:prstGeom prst="roundRect">
              <a:avLst>
                <a:gd name="adj" fmla="val 16667"/>
              </a:avLst>
            </a:prstGeom>
            <a:solidFill>
              <a:srgbClr val="1F3864"/>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878" name="Google Shape;1878;p108"/>
            <p:cNvSpPr/>
            <p:nvPr/>
          </p:nvSpPr>
          <p:spPr bwMode="auto">
            <a:xfrm>
              <a:off x="756974" y="4151247"/>
              <a:ext cx="2864234" cy="1484153"/>
            </a:xfrm>
            <a:prstGeom prst="rect">
              <a:avLst/>
            </a:prstGeom>
            <a:solidFill>
              <a:srgbClr val="1F3864"/>
            </a:solid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None/>
                <a:defRPr/>
              </a:pPr>
              <a:r>
                <a:rPr lang="en-US" sz="1800" b="1">
                  <a:solidFill>
                    <a:schemeClr val="lt1"/>
                  </a:solidFill>
                  <a:latin typeface="Arial"/>
                  <a:ea typeface="Arial"/>
                  <a:cs typeface="Arial"/>
                </a:rPr>
                <a:t>General business skills</a:t>
              </a:r>
              <a:endParaRPr/>
            </a:p>
            <a:p>
              <a:pPr marL="0" marR="0" lvl="0" indent="0" algn="l" rtl="0">
                <a:lnSpc>
                  <a:spcPct val="90000"/>
                </a:lnSpc>
                <a:spcBef>
                  <a:spcPts val="630"/>
                </a:spcBef>
                <a:spcAft>
                  <a:spcPts val="0"/>
                </a:spcAft>
                <a:buNone/>
                <a:defRPr/>
              </a:pPr>
              <a:r>
                <a:rPr lang="en-US" sz="1800">
                  <a:solidFill>
                    <a:schemeClr val="lt1"/>
                  </a:solidFill>
                  <a:latin typeface="Calibri"/>
                  <a:ea typeface="Calibri"/>
                  <a:cs typeface="Calibri"/>
                </a:rPr>
                <a:t>MBA vs MSc?</a:t>
              </a:r>
              <a:endParaRPr sz="1800">
                <a:solidFill>
                  <a:schemeClr val="lt1"/>
                </a:solidFill>
                <a:latin typeface="Calibri"/>
                <a:ea typeface="Calibri"/>
                <a:cs typeface="Calibri"/>
              </a:endParaRPr>
            </a:p>
          </p:txBody>
        </p:sp>
      </p:grpSp>
      <p:grpSp>
        <p:nvGrpSpPr>
          <p:cNvPr id="514029487" name="Google Shape;1879;p108"/>
          <p:cNvGrpSpPr/>
          <p:nvPr/>
        </p:nvGrpSpPr>
        <p:grpSpPr bwMode="auto">
          <a:xfrm>
            <a:off x="4143618" y="4070958"/>
            <a:ext cx="3019182" cy="1644731"/>
            <a:chOff x="4143618" y="4070958"/>
            <a:chExt cx="3019182" cy="1644731"/>
          </a:xfrm>
        </p:grpSpPr>
        <p:sp>
          <p:nvSpPr>
            <p:cNvPr id="1880" name="Google Shape;1880;p108"/>
            <p:cNvSpPr/>
            <p:nvPr/>
          </p:nvSpPr>
          <p:spPr bwMode="auto">
            <a:xfrm>
              <a:off x="4143618" y="4070958"/>
              <a:ext cx="3019182" cy="1644731"/>
            </a:xfrm>
            <a:prstGeom prst="roundRect">
              <a:avLst>
                <a:gd name="adj" fmla="val 16667"/>
              </a:avLst>
            </a:prstGeom>
            <a:solidFill>
              <a:srgbClr val="1F3864"/>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881" name="Google Shape;1881;p108"/>
            <p:cNvSpPr/>
            <p:nvPr/>
          </p:nvSpPr>
          <p:spPr bwMode="auto">
            <a:xfrm>
              <a:off x="4291002" y="4151247"/>
              <a:ext cx="2724414" cy="1484153"/>
            </a:xfrm>
            <a:prstGeom prst="rect">
              <a:avLst/>
            </a:prstGeom>
            <a:solidFill>
              <a:srgbClr val="1F3864"/>
            </a:solid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None/>
                <a:defRPr/>
              </a:pPr>
              <a:r>
                <a:rPr lang="en-US" sz="1800" b="1">
                  <a:solidFill>
                    <a:schemeClr val="lt1"/>
                  </a:solidFill>
                  <a:latin typeface="Arial"/>
                  <a:ea typeface="Arial"/>
                  <a:cs typeface="Arial"/>
                </a:rPr>
                <a:t>Technical skills</a:t>
              </a:r>
              <a:endParaRPr/>
            </a:p>
            <a:p>
              <a:pPr marL="0" marR="0" lvl="0" indent="0" algn="l" rtl="0">
                <a:lnSpc>
                  <a:spcPct val="90000"/>
                </a:lnSpc>
                <a:spcBef>
                  <a:spcPts val="630"/>
                </a:spcBef>
                <a:spcAft>
                  <a:spcPts val="0"/>
                </a:spcAft>
                <a:buNone/>
                <a:defRPr/>
              </a:pPr>
              <a:r>
                <a:rPr lang="en-US" sz="1800">
                  <a:solidFill>
                    <a:schemeClr val="lt1"/>
                  </a:solidFill>
                  <a:latin typeface="Calibri"/>
                  <a:ea typeface="Calibri"/>
                  <a:cs typeface="Calibri"/>
                </a:rPr>
                <a:t>IT/IS knowledge</a:t>
              </a:r>
              <a:endParaRPr sz="1800">
                <a:solidFill>
                  <a:schemeClr val="lt1"/>
                </a:solidFill>
                <a:latin typeface="Calibri"/>
                <a:ea typeface="Calibri"/>
                <a:cs typeface="Calibri"/>
              </a:endParaRPr>
            </a:p>
          </p:txBody>
        </p:sp>
      </p:grpSp>
      <p:cxnSp>
        <p:nvCxnSpPr>
          <p:cNvPr id="1190390832" name="Straight Connector 2"/>
          <p:cNvCxnSpPr/>
          <p:nvPr/>
        </p:nvCxnSpPr>
        <p:spPr bwMode="auto">
          <a:xfrm>
            <a:off x="4407108" y="4886793"/>
            <a:ext cx="157396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84588866" name="TextBox 3"/>
          <p:cNvSpPr txBox="1"/>
          <p:nvPr/>
        </p:nvSpPr>
        <p:spPr bwMode="auto">
          <a:xfrm>
            <a:off x="602026" y="1323783"/>
            <a:ext cx="5339026" cy="461665"/>
          </a:xfrm>
          <a:prstGeom prst="rect">
            <a:avLst/>
          </a:prstGeom>
          <a:noFill/>
        </p:spPr>
        <p:txBody>
          <a:bodyPr wrap="square" rtlCol="0">
            <a:spAutoFit/>
          </a:bodyPr>
          <a:lstStyle/>
          <a:p>
            <a:pPr>
              <a:defRPr/>
            </a:pPr>
            <a:r>
              <a:rPr lang="en-US" sz="2400">
                <a:solidFill>
                  <a:srgbClr val="FF0000"/>
                </a:solidFill>
              </a:rPr>
              <a:t>What are </a:t>
            </a:r>
            <a:r>
              <a:rPr lang="en-US" sz="2400" u="sng">
                <a:solidFill>
                  <a:srgbClr val="FF0000"/>
                </a:solidFill>
              </a:rPr>
              <a:t>skills</a:t>
            </a:r>
            <a:r>
              <a:rPr lang="en-US" sz="2400">
                <a:solidFill>
                  <a:srgbClr val="FF0000"/>
                </a:solidFill>
              </a:rPr>
              <a:t> needed to be a PM?</a:t>
            </a:r>
            <a:endParaRPr lang="en-MY" sz="2400">
              <a:solidFill>
                <a:srgbClr val="FF0000"/>
              </a:solidFill>
            </a:endParaRPr>
          </a:p>
        </p:txBody>
      </p:sp>
      <p:cxnSp>
        <p:nvCxnSpPr>
          <p:cNvPr id="1291250586" name="Straight Connector 4"/>
          <p:cNvCxnSpPr/>
          <p:nvPr/>
        </p:nvCxnSpPr>
        <p:spPr bwMode="auto">
          <a:xfrm>
            <a:off x="1708878" y="4886793"/>
            <a:ext cx="157396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554171322" name="TextBox 5"/>
          <p:cNvSpPr txBox="1"/>
          <p:nvPr/>
        </p:nvSpPr>
        <p:spPr bwMode="auto">
          <a:xfrm>
            <a:off x="756974" y="5410280"/>
            <a:ext cx="2525871" cy="338554"/>
          </a:xfrm>
          <a:prstGeom prst="rect">
            <a:avLst/>
          </a:prstGeom>
          <a:noFill/>
        </p:spPr>
        <p:txBody>
          <a:bodyPr wrap="square" rtlCol="0">
            <a:spAutoFit/>
          </a:bodyPr>
          <a:lstStyle/>
          <a:p>
            <a:pPr>
              <a:defRPr/>
            </a:pPr>
            <a:r>
              <a:rPr lang="en-US" sz="1600" b="1">
                <a:solidFill>
                  <a:srgbClr val="FF0000"/>
                </a:solidFill>
                <a:latin typeface="Calibri"/>
                <a:cs typeface="Calibri"/>
              </a:rPr>
              <a:t>Analyse</a:t>
            </a:r>
            <a:r>
              <a:rPr lang="en-US" sz="1600" b="1">
                <a:solidFill>
                  <a:srgbClr val="FF0000"/>
                </a:solidFill>
                <a:latin typeface="Calibri"/>
                <a:cs typeface="Calibri"/>
              </a:rPr>
              <a:t> Costs &amp; Benefits</a:t>
            </a:r>
            <a:endParaRPr lang="en-MY" sz="1600">
              <a:solidFill>
                <a:srgbClr val="FF0000"/>
              </a:solidFill>
              <a:latin typeface="Calibri"/>
              <a:cs typeface="Calibri"/>
            </a:endParaRPr>
          </a:p>
        </p:txBody>
      </p:sp>
      <p:sp>
        <p:nvSpPr>
          <p:cNvPr id="1793916796" name="TextBox 6"/>
          <p:cNvSpPr txBox="1"/>
          <p:nvPr/>
        </p:nvSpPr>
        <p:spPr bwMode="auto">
          <a:xfrm>
            <a:off x="723194" y="5778040"/>
            <a:ext cx="3545334" cy="338554"/>
          </a:xfrm>
          <a:prstGeom prst="rect">
            <a:avLst/>
          </a:prstGeom>
          <a:noFill/>
        </p:spPr>
        <p:txBody>
          <a:bodyPr wrap="square" rtlCol="0">
            <a:spAutoFit/>
          </a:bodyPr>
          <a:lstStyle/>
          <a:p>
            <a:pPr>
              <a:defRPr/>
            </a:pPr>
            <a:r>
              <a:rPr lang="en-US" sz="1600" b="1">
                <a:solidFill>
                  <a:srgbClr val="FF0000"/>
                </a:solidFill>
                <a:latin typeface="Calibri"/>
                <a:cs typeface="Calibri"/>
              </a:rPr>
              <a:t>Calculate NP, PB, ROI, NPV </a:t>
            </a:r>
            <a:endParaRPr lang="en-MY" sz="1600">
              <a:solidFill>
                <a:srgbClr val="FF0000"/>
              </a:solidFill>
              <a:latin typeface="Calibri"/>
              <a:cs typeface="Calibri"/>
            </a:endParaRPr>
          </a:p>
        </p:txBody>
      </p:sp>
      <p:sp>
        <p:nvSpPr>
          <p:cNvPr id="188505241" name="TextBox 7"/>
          <p:cNvSpPr txBox="1"/>
          <p:nvPr/>
        </p:nvSpPr>
        <p:spPr bwMode="auto">
          <a:xfrm>
            <a:off x="756974" y="5125607"/>
            <a:ext cx="3545334" cy="338554"/>
          </a:xfrm>
          <a:prstGeom prst="rect">
            <a:avLst/>
          </a:prstGeom>
          <a:noFill/>
        </p:spPr>
        <p:txBody>
          <a:bodyPr wrap="square" rtlCol="0">
            <a:spAutoFit/>
          </a:bodyPr>
          <a:lstStyle/>
          <a:p>
            <a:pPr>
              <a:defRPr/>
            </a:pPr>
            <a:r>
              <a:rPr lang="en-US" sz="1600" b="1">
                <a:solidFill>
                  <a:srgbClr val="FF0000"/>
                </a:solidFill>
                <a:latin typeface="Calibri"/>
                <a:cs typeface="Calibri"/>
              </a:rPr>
              <a:t>Estimate project costs</a:t>
            </a:r>
            <a:endParaRPr lang="en-MY" sz="1600">
              <a:solidFill>
                <a:srgbClr val="FF0000"/>
              </a:solidFill>
              <a:latin typeface="Calibri"/>
              <a:cs typeface="Calibri"/>
            </a:endParaRPr>
          </a:p>
        </p:txBody>
      </p:sp>
      <p:sp>
        <p:nvSpPr>
          <p:cNvPr id="1610102436" name="Google Shape;1865;p108"/>
          <p:cNvSpPr txBox="1"/>
          <p:nvPr/>
        </p:nvSpPr>
        <p:spPr bwMode="auto">
          <a:xfrm>
            <a:off x="7190607" y="3138387"/>
            <a:ext cx="4754765" cy="1253260"/>
          </a:xfrm>
          <a:prstGeom prst="rect">
            <a:avLst/>
          </a:prstGeom>
          <a:noFill/>
          <a:ln>
            <a:noFill/>
          </a:ln>
        </p:spPr>
        <p:txBody>
          <a:bodyPr spcFirstLastPara="1" wrap="square" lIns="91425" tIns="45700" rIns="91425" bIns="45700" anchor="t" anchorCtr="0">
            <a:normAutofit fontScale="85000" lnSpcReduction="10000"/>
          </a:bodyPr>
          <a:lstStyle/>
          <a:p>
            <a:pPr marL="0" marR="0" lvl="0" indent="0" algn="l" rtl="0">
              <a:lnSpc>
                <a:spcPct val="90000"/>
              </a:lnSpc>
              <a:spcBef>
                <a:spcPts val="0"/>
              </a:spcBef>
              <a:spcAft>
                <a:spcPts val="0"/>
              </a:spcAft>
              <a:buClr>
                <a:schemeClr val="dk1"/>
              </a:buClr>
              <a:buSzPct val="100000"/>
              <a:buFont typeface="Arial"/>
              <a:buNone/>
              <a:defRPr/>
            </a:pPr>
            <a:r>
              <a:rPr lang="en-US" sz="2000">
                <a:solidFill>
                  <a:schemeClr val="dk1"/>
                </a:solidFill>
                <a:latin typeface="Calibri"/>
                <a:ea typeface="Calibri"/>
                <a:cs typeface="Calibri"/>
              </a:rPr>
              <a:t>-- PM need </a:t>
            </a:r>
            <a:r>
              <a:rPr lang="en-US" sz="2000" b="1">
                <a:solidFill>
                  <a:schemeClr val="dk1"/>
                </a:solidFill>
                <a:latin typeface="Calibri"/>
                <a:ea typeface="Calibri"/>
                <a:cs typeface="Calibri"/>
              </a:rPr>
              <a:t>to</a:t>
            </a:r>
            <a:r>
              <a:rPr lang="en-US" sz="2000">
                <a:solidFill>
                  <a:schemeClr val="dk1"/>
                </a:solidFill>
                <a:latin typeface="Calibri"/>
                <a:ea typeface="Calibri"/>
                <a:cs typeface="Calibri"/>
              </a:rPr>
              <a:t> </a:t>
            </a:r>
            <a:r>
              <a:rPr lang="en-US" sz="2000" b="1">
                <a:solidFill>
                  <a:schemeClr val="dk1"/>
                </a:solidFill>
                <a:latin typeface="Calibri"/>
                <a:ea typeface="Calibri"/>
                <a:cs typeface="Calibri"/>
              </a:rPr>
              <a:t>interact with project team members &amp; stakeholders </a:t>
            </a:r>
            <a:r>
              <a:rPr lang="en-US" sz="2000">
                <a:solidFill>
                  <a:schemeClr val="dk1"/>
                </a:solidFill>
                <a:latin typeface="Calibri"/>
                <a:cs typeface="Calibri"/>
              </a:rPr>
              <a:t>(see “communication plan”)</a:t>
            </a:r>
            <a:endParaRPr/>
          </a:p>
          <a:p>
            <a:pPr marL="0" marR="0" lvl="0" indent="0" algn="l" rtl="0">
              <a:lnSpc>
                <a:spcPct val="90000"/>
              </a:lnSpc>
              <a:spcBef>
                <a:spcPts val="0"/>
              </a:spcBef>
              <a:spcAft>
                <a:spcPts val="0"/>
              </a:spcAft>
              <a:buClr>
                <a:schemeClr val="dk1"/>
              </a:buClr>
              <a:buSzPct val="100000"/>
              <a:buFont typeface="Arial"/>
              <a:buNone/>
              <a:defRPr/>
            </a:pPr>
            <a:endParaRPr lang="en-US" sz="2000">
              <a:solidFill>
                <a:schemeClr val="dk1"/>
              </a:solidFill>
              <a:latin typeface="Calibri"/>
              <a:cs typeface="Calibri"/>
            </a:endParaRPr>
          </a:p>
          <a:p>
            <a:pPr marL="0" marR="0" lvl="0" indent="0" algn="l" rtl="0">
              <a:lnSpc>
                <a:spcPct val="90000"/>
              </a:lnSpc>
              <a:spcBef>
                <a:spcPts val="0"/>
              </a:spcBef>
              <a:spcAft>
                <a:spcPts val="0"/>
              </a:spcAft>
              <a:buClr>
                <a:schemeClr val="dk1"/>
              </a:buClr>
              <a:buSzPct val="100000"/>
              <a:buFont typeface="Arial"/>
              <a:buNone/>
              <a:defRPr/>
            </a:pPr>
            <a:r>
              <a:rPr lang="en-US" sz="2000">
                <a:solidFill>
                  <a:schemeClr val="dk1"/>
                </a:solidFill>
                <a:latin typeface="Calibri"/>
                <a:cs typeface="Calibri"/>
              </a:rPr>
              <a:t>-- comm skills </a:t>
            </a:r>
            <a:r>
              <a:rPr lang="en-US" sz="2000" u="sng">
                <a:solidFill>
                  <a:schemeClr val="dk1"/>
                </a:solidFill>
                <a:latin typeface="Calibri"/>
                <a:cs typeface="Calibri"/>
              </a:rPr>
              <a:t>including</a:t>
            </a:r>
            <a:r>
              <a:rPr lang="en-US" sz="2000" b="1">
                <a:solidFill>
                  <a:schemeClr val="dk1"/>
                </a:solidFill>
                <a:latin typeface="Calibri"/>
                <a:cs typeface="Calibri"/>
              </a:rPr>
              <a:t> listening skills &amp; ability to decode non-verbal cues</a:t>
            </a:r>
            <a:endParaRPr sz="2000" b="1">
              <a:latin typeface="Calibri"/>
              <a:cs typeface="Calibri"/>
            </a:endParaRPr>
          </a:p>
        </p:txBody>
      </p:sp>
      <p:sp>
        <p:nvSpPr>
          <p:cNvPr id="433268209" name="Google Shape;1865;p108"/>
          <p:cNvSpPr txBox="1"/>
          <p:nvPr/>
        </p:nvSpPr>
        <p:spPr bwMode="auto">
          <a:xfrm>
            <a:off x="7162800" y="2248236"/>
            <a:ext cx="4754765" cy="1084766"/>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ct val="100000"/>
              <a:buFont typeface="Arial"/>
              <a:buNone/>
              <a:defRPr/>
            </a:pPr>
            <a:r>
              <a:rPr lang="en-US" sz="2000">
                <a:solidFill>
                  <a:schemeClr val="dk1"/>
                </a:solidFill>
                <a:latin typeface="Calibri"/>
                <a:ea typeface="Calibri"/>
                <a:cs typeface="Calibri"/>
              </a:rPr>
              <a:t>-- </a:t>
            </a:r>
            <a:r>
              <a:rPr lang="en-US" sz="2000" b="1">
                <a:solidFill>
                  <a:schemeClr val="dk1"/>
                </a:solidFill>
                <a:latin typeface="Calibri"/>
                <a:ea typeface="Calibri"/>
                <a:cs typeface="Calibri"/>
              </a:rPr>
              <a:t>aka</a:t>
            </a:r>
            <a:r>
              <a:rPr lang="en-US" sz="2000">
                <a:solidFill>
                  <a:schemeClr val="dk1"/>
                </a:solidFill>
                <a:latin typeface="Calibri"/>
                <a:ea typeface="Calibri"/>
                <a:cs typeface="Calibri"/>
              </a:rPr>
              <a:t> </a:t>
            </a:r>
            <a:r>
              <a:rPr lang="en-US" sz="2000" b="1">
                <a:solidFill>
                  <a:schemeClr val="dk1"/>
                </a:solidFill>
                <a:latin typeface="Calibri"/>
                <a:ea typeface="Calibri"/>
                <a:cs typeface="Calibri"/>
              </a:rPr>
              <a:t>people skills</a:t>
            </a:r>
            <a:r>
              <a:rPr lang="en-US" sz="2000">
                <a:solidFill>
                  <a:schemeClr val="dk1"/>
                </a:solidFill>
                <a:latin typeface="Calibri"/>
                <a:ea typeface="Calibri"/>
                <a:cs typeface="Calibri"/>
              </a:rPr>
              <a:t>: </a:t>
            </a:r>
            <a:r>
              <a:rPr lang="en-US" sz="2000" b="0" i="0">
                <a:solidFill>
                  <a:srgbClr val="111111"/>
                </a:solidFill>
                <a:latin typeface="Calibri"/>
                <a:cs typeface="Calibri"/>
              </a:rPr>
              <a:t> tactics a person uses when interacting with others</a:t>
            </a:r>
            <a:endParaRPr sz="2000">
              <a:latin typeface="Calibri"/>
              <a:cs typeface="Calibri"/>
            </a:endParaRPr>
          </a:p>
        </p:txBody>
      </p:sp>
      <p:cxnSp>
        <p:nvCxnSpPr>
          <p:cNvPr id="1513798554" name="Straight Connector 12"/>
          <p:cNvCxnSpPr/>
          <p:nvPr/>
        </p:nvCxnSpPr>
        <p:spPr bwMode="auto">
          <a:xfrm>
            <a:off x="4704237" y="3125845"/>
            <a:ext cx="157396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65478584" name="Straight Connector 13"/>
          <p:cNvCxnSpPr/>
          <p:nvPr/>
        </p:nvCxnSpPr>
        <p:spPr bwMode="auto">
          <a:xfrm>
            <a:off x="4753510" y="3436891"/>
            <a:ext cx="157396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684588866"/>
                                        </p:tgtEl>
                                        <p:attrNameLst>
                                          <p:attrName>style.visibility</p:attrName>
                                        </p:attrNameLst>
                                      </p:cBhvr>
                                      <p:to>
                                        <p:strVal val="visible"/>
                                      </p:to>
                                    </p:set>
                                    <p:anim calcmode="lin" valueType="num">
                                      <p:cBhvr additive="base">
                                        <p:cTn id="7" dur="500" fill="hold"/>
                                        <p:tgtEl>
                                          <p:spTgt spid="684588866"/>
                                        </p:tgtEl>
                                        <p:attrNameLst>
                                          <p:attrName>ppt_x</p:attrName>
                                        </p:attrNameLst>
                                      </p:cBhvr>
                                      <p:tavLst>
                                        <p:tav tm="0">
                                          <p:val>
                                            <p:strVal val="#ppt_x"/>
                                          </p:val>
                                        </p:tav>
                                        <p:tav tm="100000">
                                          <p:val>
                                            <p:strVal val="#ppt_x"/>
                                          </p:val>
                                        </p:tav>
                                      </p:tavLst>
                                    </p:anim>
                                    <p:anim calcmode="lin" valueType="num">
                                      <p:cBhvr additive="base">
                                        <p:cTn id="8" dur="500" fill="hold"/>
                                        <p:tgtEl>
                                          <p:spTgt spid="684588866"/>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190390832"/>
                                        </p:tgtEl>
                                        <p:attrNameLst>
                                          <p:attrName>style.visibility</p:attrName>
                                        </p:attrNameLst>
                                      </p:cBhvr>
                                      <p:to>
                                        <p:strVal val="visible"/>
                                      </p:to>
                                    </p:set>
                                    <p:animEffect transition="in" filter="wipe(left)">
                                      <p:cBhvr>
                                        <p:cTn id="13" dur="500"/>
                                        <p:tgtEl>
                                          <p:spTgt spid="119039083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291250586"/>
                                        </p:tgtEl>
                                        <p:attrNameLst>
                                          <p:attrName>style.visibility</p:attrName>
                                        </p:attrNameLst>
                                      </p:cBhvr>
                                      <p:to>
                                        <p:strVal val="visible"/>
                                      </p:to>
                                    </p:set>
                                    <p:animEffect transition="in" filter="wipe(left)">
                                      <p:cBhvr>
                                        <p:cTn id="18" dur="500"/>
                                        <p:tgtEl>
                                          <p:spTgt spid="129125058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88505241"/>
                                        </p:tgtEl>
                                        <p:attrNameLst>
                                          <p:attrName>style.visibility</p:attrName>
                                        </p:attrNameLst>
                                      </p:cBhvr>
                                      <p:to>
                                        <p:strVal val="visible"/>
                                      </p:to>
                                    </p:set>
                                    <p:animEffect transition="in" filter="wipe(left)">
                                      <p:cBhvr>
                                        <p:cTn id="23" dur="500"/>
                                        <p:tgtEl>
                                          <p:spTgt spid="18850524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554171322"/>
                                        </p:tgtEl>
                                        <p:attrNameLst>
                                          <p:attrName>style.visibility</p:attrName>
                                        </p:attrNameLst>
                                      </p:cBhvr>
                                      <p:to>
                                        <p:strVal val="visible"/>
                                      </p:to>
                                    </p:set>
                                    <p:animEffect transition="in" filter="wipe(left)">
                                      <p:cBhvr>
                                        <p:cTn id="28" dur="500"/>
                                        <p:tgtEl>
                                          <p:spTgt spid="155417132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793916796"/>
                                        </p:tgtEl>
                                        <p:attrNameLst>
                                          <p:attrName>style.visibility</p:attrName>
                                        </p:attrNameLst>
                                      </p:cBhvr>
                                      <p:to>
                                        <p:strVal val="visible"/>
                                      </p:to>
                                    </p:set>
                                    <p:animEffect transition="in" filter="wipe(left)">
                                      <p:cBhvr>
                                        <p:cTn id="33" dur="500"/>
                                        <p:tgtEl>
                                          <p:spTgt spid="179391679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513798554"/>
                                        </p:tgtEl>
                                        <p:attrNameLst>
                                          <p:attrName>style.visibility</p:attrName>
                                        </p:attrNameLst>
                                      </p:cBhvr>
                                      <p:to>
                                        <p:strVal val="visible"/>
                                      </p:to>
                                    </p:set>
                                    <p:animEffect transition="in" filter="wipe(left)">
                                      <p:cBhvr>
                                        <p:cTn id="38" dur="500"/>
                                        <p:tgtEl>
                                          <p:spTgt spid="1513798554"/>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433268209"/>
                                        </p:tgtEl>
                                        <p:attrNameLst>
                                          <p:attrName>style.visibility</p:attrName>
                                        </p:attrNameLst>
                                      </p:cBhvr>
                                      <p:to>
                                        <p:strVal val="visible"/>
                                      </p:to>
                                    </p:set>
                                    <p:animEffect transition="in" filter="wipe(left)">
                                      <p:cBhvr>
                                        <p:cTn id="41" dur="500"/>
                                        <p:tgtEl>
                                          <p:spTgt spid="43326820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165478584"/>
                                        </p:tgtEl>
                                        <p:attrNameLst>
                                          <p:attrName>style.visibility</p:attrName>
                                        </p:attrNameLst>
                                      </p:cBhvr>
                                      <p:to>
                                        <p:strVal val="visible"/>
                                      </p:to>
                                    </p:set>
                                    <p:animEffect transition="in" filter="wipe(left)">
                                      <p:cBhvr>
                                        <p:cTn id="46" dur="500"/>
                                        <p:tgtEl>
                                          <p:spTgt spid="1165478584"/>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610102436">
                                            <p:txEl>
                                              <p:pRg st="0" end="0"/>
                                            </p:txEl>
                                          </p:spTgt>
                                        </p:tgtEl>
                                        <p:attrNameLst>
                                          <p:attrName>style.visibility</p:attrName>
                                        </p:attrNameLst>
                                      </p:cBhvr>
                                      <p:to>
                                        <p:strVal val="visible"/>
                                      </p:to>
                                    </p:set>
                                    <p:animEffect transition="in" filter="wipe(left)">
                                      <p:cBhvr>
                                        <p:cTn id="51" dur="500"/>
                                        <p:tgtEl>
                                          <p:spTgt spid="1610102436">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610102436">
                                            <p:txEl>
                                              <p:pRg st="2" end="2"/>
                                            </p:txEl>
                                          </p:spTgt>
                                        </p:tgtEl>
                                        <p:attrNameLst>
                                          <p:attrName>style.visibility</p:attrName>
                                        </p:attrNameLst>
                                      </p:cBhvr>
                                      <p:to>
                                        <p:strVal val="visible"/>
                                      </p:to>
                                    </p:set>
                                    <p:animEffect transition="in" filter="wipe(left)">
                                      <p:cBhvr>
                                        <p:cTn id="56" dur="500"/>
                                        <p:tgtEl>
                                          <p:spTgt spid="1610102436">
                                            <p:txEl>
                                              <p:pRg st="2" end="2"/>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610102436"/>
                                        </p:tgtEl>
                                        <p:attrNameLst>
                                          <p:attrName>style.visibility</p:attrName>
                                        </p:attrNameLst>
                                      </p:cBhvr>
                                      <p:to>
                                        <p:strVal val="visible"/>
                                      </p:to>
                                    </p:set>
                                    <p:animEffect transition="in" filter="wipe(left)">
                                      <p:cBhvr>
                                        <p:cTn id="61" dur="500"/>
                                        <p:tgtEl>
                                          <p:spTgt spid="1610102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4588866" grpId="0"/>
      <p:bldP spid="1554171322" grpId="0"/>
      <p:bldP spid="1793916796" grpId="0"/>
      <p:bldP spid="188505241" grpId="0"/>
      <p:bldP spid="1610102436" grpId="0"/>
      <p:bldP spid="433268209" grpId="0"/>
    </p:bldLst>
  </p:timing>
</p:sld>
</file>

<file path=ppt/slides/slide1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34976086" name="Google Shape;1862;p108"/>
          <p:cNvPicPr/>
          <p:nvPr/>
        </p:nvPicPr>
        <p:blipFill rotWithShape="1">
          <a:blip r:embed="rId3">
            <a:alphaModFix/>
          </a:blip>
          <a:srcRect l="0" t="12333" r="0" b="0"/>
          <a:stretch/>
        </p:blipFill>
        <p:spPr bwMode="auto">
          <a:xfrm>
            <a:off x="7337990" y="4021091"/>
            <a:ext cx="4854009" cy="2836908"/>
          </a:xfrm>
          <a:prstGeom prst="rect">
            <a:avLst/>
          </a:prstGeom>
          <a:noFill/>
          <a:ln>
            <a:noFill/>
          </a:ln>
        </p:spPr>
      </p:pic>
      <p:pic>
        <p:nvPicPr>
          <p:cNvPr id="2111609349" name="Google Shape;1863;p108"/>
          <p:cNvPicPr/>
          <p:nvPr/>
        </p:nvPicPr>
        <p:blipFill rotWithShape="1">
          <a:blip r:embed="rId4">
            <a:alphaModFix/>
          </a:blip>
          <a:stretch/>
        </p:blipFill>
        <p:spPr bwMode="auto">
          <a:xfrm>
            <a:off x="0" y="4027368"/>
            <a:ext cx="7449675" cy="2836908"/>
          </a:xfrm>
          <a:prstGeom prst="rect">
            <a:avLst/>
          </a:prstGeom>
          <a:noFill/>
          <a:ln>
            <a:noFill/>
          </a:ln>
        </p:spPr>
      </p:pic>
      <p:sp>
        <p:nvSpPr>
          <p:cNvPr id="1720022639" name="Google Shape;1864;p108"/>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122</a:t>
            </a:fld>
            <a:endParaRPr/>
          </a:p>
        </p:txBody>
      </p:sp>
      <p:sp>
        <p:nvSpPr>
          <p:cNvPr id="1312104918" name="Google Shape;1865;p108"/>
          <p:cNvSpPr txBox="1"/>
          <p:nvPr/>
        </p:nvSpPr>
        <p:spPr bwMode="auto">
          <a:xfrm>
            <a:off x="6806798" y="5099778"/>
            <a:ext cx="5072727" cy="1516922"/>
          </a:xfrm>
          <a:prstGeom prst="rect">
            <a:avLst/>
          </a:prstGeom>
          <a:noFill/>
          <a:ln>
            <a:noFill/>
          </a:ln>
        </p:spPr>
        <p:txBody>
          <a:bodyPr spcFirstLastPara="1" wrap="square" lIns="91425" tIns="45700" rIns="91425" bIns="45700" anchor="t" anchorCtr="0">
            <a:normAutofit/>
          </a:bodyPr>
          <a:lstStyle/>
          <a:p>
            <a:pPr>
              <a:defRPr/>
            </a:pPr>
            <a:r>
              <a:rPr lang="en-US" sz="2000"/>
              <a:t>A project manager should be </a:t>
            </a:r>
            <a:r>
              <a:rPr lang="en-US" sz="2000" b="1">
                <a:solidFill>
                  <a:srgbClr val="FF0000"/>
                </a:solidFill>
              </a:rPr>
              <a:t>task-oriented</a:t>
            </a:r>
            <a:r>
              <a:rPr lang="en-US" sz="2000"/>
              <a:t> to keep the project on track </a:t>
            </a:r>
            <a:r>
              <a:rPr lang="en-US" sz="2000">
                <a:solidFill>
                  <a:srgbClr val="FF0000"/>
                </a:solidFill>
              </a:rPr>
              <a:t>and</a:t>
            </a:r>
            <a:r>
              <a:rPr lang="en-US" sz="2000"/>
              <a:t> be </a:t>
            </a:r>
            <a:r>
              <a:rPr lang="en-US" sz="2000" b="1">
                <a:solidFill>
                  <a:srgbClr val="FF0000"/>
                </a:solidFill>
              </a:rPr>
              <a:t>people-oriented</a:t>
            </a:r>
            <a:r>
              <a:rPr lang="en-US" sz="2000"/>
              <a:t> to keep the team engaged and motivated.</a:t>
            </a:r>
            <a:endParaRPr/>
          </a:p>
          <a:p>
            <a:pPr marL="0" marR="0" lvl="0" indent="0" algn="l" rtl="0">
              <a:lnSpc>
                <a:spcPct val="90000"/>
              </a:lnSpc>
              <a:spcBef>
                <a:spcPts val="0"/>
              </a:spcBef>
              <a:spcAft>
                <a:spcPts val="0"/>
              </a:spcAft>
              <a:buClr>
                <a:schemeClr val="dk1"/>
              </a:buClr>
              <a:buSzPct val="100000"/>
              <a:buFont typeface="Arial"/>
              <a:buNone/>
              <a:defRPr/>
            </a:pPr>
            <a:endParaRPr lang="en-US" sz="2000">
              <a:solidFill>
                <a:schemeClr val="tx1"/>
              </a:solidFill>
              <a:latin typeface="Calibri"/>
              <a:ea typeface="Calibri"/>
              <a:cs typeface="Calibri"/>
            </a:endParaRPr>
          </a:p>
        </p:txBody>
      </p:sp>
      <p:cxnSp>
        <p:nvCxnSpPr>
          <p:cNvPr id="336809081" name="Google Shape;1866;p108"/>
          <p:cNvCxnSpPr/>
          <p:nvPr/>
        </p:nvCxnSpPr>
        <p:spPr bwMode="auto">
          <a:xfrm rot="10800000">
            <a:off x="5540494" y="1289913"/>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624226027" name="Google Shape;1867;p108"/>
          <p:cNvSpPr txBox="1"/>
          <p:nvPr/>
        </p:nvSpPr>
        <p:spPr bwMode="auto">
          <a:xfrm>
            <a:off x="4066336" y="374297"/>
            <a:ext cx="40751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defRPr/>
            </a:pPr>
            <a:r>
              <a:rPr lang="en-US" sz="3200" b="1">
                <a:solidFill>
                  <a:schemeClr val="dk1"/>
                </a:solidFill>
                <a:latin typeface="Calibri"/>
                <a:ea typeface="Calibri"/>
                <a:cs typeface="Calibri"/>
              </a:rPr>
              <a:t>Attributes of a PM</a:t>
            </a:r>
            <a:endParaRPr sz="3200" b="1">
              <a:solidFill>
                <a:srgbClr val="3F3F3F"/>
              </a:solidFill>
              <a:latin typeface="Open Sans"/>
              <a:ea typeface="Open Sans"/>
              <a:cs typeface="Open Sans"/>
            </a:endParaRPr>
          </a:p>
        </p:txBody>
      </p:sp>
      <p:sp>
        <p:nvSpPr>
          <p:cNvPr id="1751209324" name="Google Shape;1868;p108"/>
          <p:cNvSpPr txBox="1"/>
          <p:nvPr/>
        </p:nvSpPr>
        <p:spPr bwMode="auto">
          <a:xfrm>
            <a:off x="3967315" y="851037"/>
            <a:ext cx="4621778"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defRPr/>
            </a:pPr>
            <a:r>
              <a:rPr lang="en-US" sz="1600">
                <a:solidFill>
                  <a:schemeClr val="dk1"/>
                </a:solidFill>
                <a:latin typeface="Arimo"/>
                <a:ea typeface="Arimo"/>
                <a:cs typeface="Arimo"/>
              </a:rPr>
              <a:t>1.4 Knowledge &amp; Attributes of a Project Manager</a:t>
            </a:r>
            <a:endParaRPr sz="1600">
              <a:solidFill>
                <a:schemeClr val="dk1"/>
              </a:solidFill>
              <a:latin typeface="Arimo"/>
              <a:ea typeface="Arimo"/>
              <a:cs typeface="Arimo"/>
            </a:endParaRPr>
          </a:p>
        </p:txBody>
      </p:sp>
      <p:sp>
        <p:nvSpPr>
          <p:cNvPr id="983595998" name="Google Shape;1869;p108"/>
          <p:cNvSpPr/>
          <p:nvPr/>
        </p:nvSpPr>
        <p:spPr bwMode="auto">
          <a:xfrm>
            <a:off x="312474" y="1871130"/>
            <a:ext cx="6405826" cy="4111829"/>
          </a:xfrm>
          <a:prstGeom prst="quadArrow">
            <a:avLst>
              <a:gd name="adj1" fmla="val 2000"/>
              <a:gd name="adj2" fmla="val 4000"/>
              <a:gd name="adj3" fmla="val 5000"/>
            </a:avLst>
          </a:prstGeom>
          <a:solidFill>
            <a:srgbClr val="1F3864"/>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nvGrpSpPr>
          <p:cNvPr id="332937054" name="Google Shape;1870;p108"/>
          <p:cNvGrpSpPr/>
          <p:nvPr/>
        </p:nvGrpSpPr>
        <p:grpSpPr bwMode="auto">
          <a:xfrm>
            <a:off x="3621644" y="2152118"/>
            <a:ext cx="3174129" cy="1644731"/>
            <a:chOff x="4066144" y="2152118"/>
            <a:chExt cx="3174129" cy="1644731"/>
          </a:xfrm>
        </p:grpSpPr>
        <p:sp>
          <p:nvSpPr>
            <p:cNvPr id="1871" name="Google Shape;1871;p108"/>
            <p:cNvSpPr/>
            <p:nvPr/>
          </p:nvSpPr>
          <p:spPr bwMode="auto">
            <a:xfrm>
              <a:off x="4066144" y="2152118"/>
              <a:ext cx="3174129" cy="1644731"/>
            </a:xfrm>
            <a:prstGeom prst="roundRect">
              <a:avLst>
                <a:gd name="adj" fmla="val 16667"/>
              </a:avLst>
            </a:prstGeom>
            <a:solidFill>
              <a:srgbClr val="1F3864"/>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872" name="Google Shape;1872;p108"/>
            <p:cNvSpPr/>
            <p:nvPr/>
          </p:nvSpPr>
          <p:spPr bwMode="auto">
            <a:xfrm>
              <a:off x="4159177" y="2232406"/>
              <a:ext cx="2864234" cy="1484153"/>
            </a:xfrm>
            <a:prstGeom prst="rect">
              <a:avLst/>
            </a:prstGeom>
            <a:solidFill>
              <a:srgbClr val="1F3864"/>
            </a:solid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None/>
                <a:defRPr/>
              </a:pPr>
              <a:r>
                <a:rPr lang="en-US" sz="1800" b="1">
                  <a:solidFill>
                    <a:schemeClr val="lt1"/>
                  </a:solidFill>
                  <a:latin typeface="Arial"/>
                  <a:ea typeface="Arial"/>
                  <a:cs typeface="Arial"/>
                </a:rPr>
                <a:t>Personal characteristics</a:t>
              </a:r>
              <a:endParaRPr/>
            </a:p>
            <a:p>
              <a:pPr marL="285750" marR="0" lvl="0" indent="-285750" algn="l" rtl="0">
                <a:lnSpc>
                  <a:spcPct val="90000"/>
                </a:lnSpc>
                <a:spcBef>
                  <a:spcPts val="630"/>
                </a:spcBef>
                <a:spcAft>
                  <a:spcPts val="0"/>
                </a:spcAft>
                <a:buClr>
                  <a:schemeClr val="lt1"/>
                </a:buClr>
                <a:buSzPts val="1800"/>
                <a:buFont typeface="Arial"/>
                <a:buChar char="•"/>
                <a:defRPr/>
              </a:pPr>
              <a:r>
                <a:rPr lang="en-US" sz="1800">
                  <a:solidFill>
                    <a:schemeClr val="lt1"/>
                  </a:solidFill>
                  <a:latin typeface="Calibri"/>
                  <a:ea typeface="Calibri"/>
                  <a:cs typeface="Calibri"/>
                </a:rPr>
                <a:t>Task oriented vs People oriented</a:t>
              </a:r>
              <a:endParaRPr/>
            </a:p>
            <a:p>
              <a:pPr marL="285750" marR="0" lvl="0" indent="-285750" algn="l" rtl="0">
                <a:lnSpc>
                  <a:spcPct val="90000"/>
                </a:lnSpc>
                <a:spcBef>
                  <a:spcPts val="630"/>
                </a:spcBef>
                <a:spcAft>
                  <a:spcPts val="0"/>
                </a:spcAft>
                <a:buClr>
                  <a:schemeClr val="lt1"/>
                </a:buClr>
                <a:buSzPts val="1800"/>
                <a:buFont typeface="Arial"/>
                <a:buChar char="•"/>
                <a:defRPr/>
              </a:pPr>
              <a:r>
                <a:rPr lang="en-US" sz="1800">
                  <a:solidFill>
                    <a:schemeClr val="lt1"/>
                  </a:solidFill>
                  <a:latin typeface="Calibri"/>
                  <a:ea typeface="Calibri"/>
                  <a:cs typeface="Calibri"/>
                </a:rPr>
                <a:t>Charismatic </a:t>
              </a:r>
              <a:endParaRPr sz="1800">
                <a:solidFill>
                  <a:schemeClr val="lt1"/>
                </a:solidFill>
                <a:latin typeface="Calibri"/>
                <a:ea typeface="Calibri"/>
                <a:cs typeface="Calibri"/>
              </a:endParaRPr>
            </a:p>
          </p:txBody>
        </p:sp>
      </p:grpSp>
      <p:grpSp>
        <p:nvGrpSpPr>
          <p:cNvPr id="1378530631" name="Google Shape;1873;p108"/>
          <p:cNvGrpSpPr/>
          <p:nvPr/>
        </p:nvGrpSpPr>
        <p:grpSpPr bwMode="auto">
          <a:xfrm>
            <a:off x="223975" y="2085457"/>
            <a:ext cx="3019182" cy="1644731"/>
            <a:chOff x="4055119" y="2071738"/>
            <a:chExt cx="3019182" cy="1644731"/>
          </a:xfrm>
        </p:grpSpPr>
        <p:sp>
          <p:nvSpPr>
            <p:cNvPr id="1874" name="Google Shape;1874;p108"/>
            <p:cNvSpPr/>
            <p:nvPr/>
          </p:nvSpPr>
          <p:spPr bwMode="auto">
            <a:xfrm>
              <a:off x="4055119" y="2071738"/>
              <a:ext cx="3019182" cy="1644731"/>
            </a:xfrm>
            <a:prstGeom prst="roundRect">
              <a:avLst>
                <a:gd name="adj" fmla="val 16667"/>
              </a:avLst>
            </a:prstGeom>
            <a:solidFill>
              <a:srgbClr val="1F3864"/>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875" name="Google Shape;1875;p108"/>
            <p:cNvSpPr/>
            <p:nvPr/>
          </p:nvSpPr>
          <p:spPr bwMode="auto">
            <a:xfrm>
              <a:off x="4291002" y="2218688"/>
              <a:ext cx="2724414" cy="1484153"/>
            </a:xfrm>
            <a:prstGeom prst="rect">
              <a:avLst/>
            </a:prstGeom>
            <a:solidFill>
              <a:srgbClr val="1F3864"/>
            </a:solid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None/>
                <a:defRPr/>
              </a:pPr>
              <a:r>
                <a:rPr lang="en-US" sz="1800" b="1">
                  <a:solidFill>
                    <a:schemeClr val="lt1"/>
                  </a:solidFill>
                  <a:latin typeface="Arial"/>
                  <a:ea typeface="Arial"/>
                  <a:cs typeface="Arial"/>
                </a:rPr>
                <a:t>Behavioral skills</a:t>
              </a:r>
              <a:endParaRPr/>
            </a:p>
            <a:p>
              <a:pPr marL="285750" marR="0" lvl="0" indent="-285750" algn="l" rtl="0">
                <a:lnSpc>
                  <a:spcPct val="90000"/>
                </a:lnSpc>
                <a:spcBef>
                  <a:spcPts val="630"/>
                </a:spcBef>
                <a:spcAft>
                  <a:spcPts val="0"/>
                </a:spcAft>
                <a:buClr>
                  <a:schemeClr val="lt1"/>
                </a:buClr>
                <a:buSzPts val="1800"/>
                <a:buFont typeface="Arial"/>
                <a:buChar char="•"/>
                <a:defRPr/>
              </a:pPr>
              <a:r>
                <a:rPr lang="en-US" sz="1800">
                  <a:solidFill>
                    <a:schemeClr val="lt1"/>
                  </a:solidFill>
                  <a:latin typeface="Calibri"/>
                  <a:ea typeface="Calibri"/>
                  <a:cs typeface="Calibri"/>
                </a:rPr>
                <a:t>Interpersonal skill</a:t>
              </a:r>
              <a:endParaRPr/>
            </a:p>
            <a:p>
              <a:pPr marL="285750" marR="0" lvl="0" indent="-285750" algn="l" rtl="0">
                <a:lnSpc>
                  <a:spcPct val="90000"/>
                </a:lnSpc>
                <a:spcBef>
                  <a:spcPts val="630"/>
                </a:spcBef>
                <a:spcAft>
                  <a:spcPts val="0"/>
                </a:spcAft>
                <a:buClr>
                  <a:schemeClr val="lt1"/>
                </a:buClr>
                <a:buSzPts val="1800"/>
                <a:buFont typeface="Arial"/>
                <a:buChar char="•"/>
                <a:defRPr/>
              </a:pPr>
              <a:r>
                <a:rPr lang="en-US" sz="1800">
                  <a:solidFill>
                    <a:schemeClr val="lt1"/>
                  </a:solidFill>
                  <a:latin typeface="Calibri"/>
                  <a:ea typeface="Calibri"/>
                  <a:cs typeface="Calibri"/>
                </a:rPr>
                <a:t>Communication skills </a:t>
              </a:r>
              <a:endParaRPr sz="1800">
                <a:solidFill>
                  <a:schemeClr val="lt1"/>
                </a:solidFill>
                <a:latin typeface="Calibri"/>
                <a:ea typeface="Calibri"/>
                <a:cs typeface="Calibri"/>
              </a:endParaRPr>
            </a:p>
          </p:txBody>
        </p:sp>
      </p:grpSp>
      <p:grpSp>
        <p:nvGrpSpPr>
          <p:cNvPr id="1363871558" name="Google Shape;1876;p108"/>
          <p:cNvGrpSpPr/>
          <p:nvPr/>
        </p:nvGrpSpPr>
        <p:grpSpPr bwMode="auto">
          <a:xfrm>
            <a:off x="157526" y="4070958"/>
            <a:ext cx="3174129" cy="1644731"/>
            <a:chOff x="602026" y="4070958"/>
            <a:chExt cx="3174129" cy="1644731"/>
          </a:xfrm>
        </p:grpSpPr>
        <p:sp>
          <p:nvSpPr>
            <p:cNvPr id="1877" name="Google Shape;1877;p108"/>
            <p:cNvSpPr/>
            <p:nvPr/>
          </p:nvSpPr>
          <p:spPr bwMode="auto">
            <a:xfrm>
              <a:off x="602026" y="4070958"/>
              <a:ext cx="3174129" cy="1644731"/>
            </a:xfrm>
            <a:prstGeom prst="roundRect">
              <a:avLst>
                <a:gd name="adj" fmla="val 16667"/>
              </a:avLst>
            </a:prstGeom>
            <a:solidFill>
              <a:srgbClr val="1F3864"/>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878" name="Google Shape;1878;p108"/>
            <p:cNvSpPr/>
            <p:nvPr/>
          </p:nvSpPr>
          <p:spPr bwMode="auto">
            <a:xfrm>
              <a:off x="756974" y="4151247"/>
              <a:ext cx="2864234" cy="1484153"/>
            </a:xfrm>
            <a:prstGeom prst="rect">
              <a:avLst/>
            </a:prstGeom>
            <a:solidFill>
              <a:srgbClr val="1F3864"/>
            </a:solid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None/>
                <a:defRPr/>
              </a:pPr>
              <a:r>
                <a:rPr lang="en-US" sz="1800" b="1">
                  <a:solidFill>
                    <a:schemeClr val="lt1"/>
                  </a:solidFill>
                  <a:latin typeface="Arial"/>
                  <a:ea typeface="Arial"/>
                  <a:cs typeface="Arial"/>
                </a:rPr>
                <a:t>General business skills</a:t>
              </a:r>
              <a:endParaRPr/>
            </a:p>
            <a:p>
              <a:pPr marL="0" marR="0" lvl="0" indent="0" algn="l" rtl="0">
                <a:lnSpc>
                  <a:spcPct val="90000"/>
                </a:lnSpc>
                <a:spcBef>
                  <a:spcPts val="630"/>
                </a:spcBef>
                <a:spcAft>
                  <a:spcPts val="0"/>
                </a:spcAft>
                <a:buNone/>
                <a:defRPr/>
              </a:pPr>
              <a:r>
                <a:rPr lang="en-US" sz="1800">
                  <a:solidFill>
                    <a:schemeClr val="lt1"/>
                  </a:solidFill>
                  <a:latin typeface="Calibri"/>
                  <a:ea typeface="Calibri"/>
                  <a:cs typeface="Calibri"/>
                </a:rPr>
                <a:t>MBA vs MSc?</a:t>
              </a:r>
              <a:endParaRPr sz="1800">
                <a:solidFill>
                  <a:schemeClr val="lt1"/>
                </a:solidFill>
                <a:latin typeface="Calibri"/>
                <a:ea typeface="Calibri"/>
                <a:cs typeface="Calibri"/>
              </a:endParaRPr>
            </a:p>
          </p:txBody>
        </p:sp>
      </p:grpSp>
      <p:grpSp>
        <p:nvGrpSpPr>
          <p:cNvPr id="1321943650" name="Google Shape;1879;p108"/>
          <p:cNvGrpSpPr/>
          <p:nvPr/>
        </p:nvGrpSpPr>
        <p:grpSpPr bwMode="auto">
          <a:xfrm>
            <a:off x="3699118" y="4070958"/>
            <a:ext cx="3019182" cy="1644731"/>
            <a:chOff x="4143618" y="4070958"/>
            <a:chExt cx="3019182" cy="1644731"/>
          </a:xfrm>
        </p:grpSpPr>
        <p:sp>
          <p:nvSpPr>
            <p:cNvPr id="1880" name="Google Shape;1880;p108"/>
            <p:cNvSpPr/>
            <p:nvPr/>
          </p:nvSpPr>
          <p:spPr bwMode="auto">
            <a:xfrm>
              <a:off x="4143618" y="4070958"/>
              <a:ext cx="3019182" cy="1644731"/>
            </a:xfrm>
            <a:prstGeom prst="roundRect">
              <a:avLst>
                <a:gd name="adj" fmla="val 16667"/>
              </a:avLst>
            </a:prstGeom>
            <a:solidFill>
              <a:srgbClr val="1F3864"/>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881" name="Google Shape;1881;p108"/>
            <p:cNvSpPr/>
            <p:nvPr/>
          </p:nvSpPr>
          <p:spPr bwMode="auto">
            <a:xfrm>
              <a:off x="4291002" y="4151247"/>
              <a:ext cx="2724414" cy="1484153"/>
            </a:xfrm>
            <a:prstGeom prst="rect">
              <a:avLst/>
            </a:prstGeom>
            <a:solidFill>
              <a:srgbClr val="1F3864"/>
            </a:solidFill>
            <a:ln>
              <a:noFill/>
            </a:ln>
          </p:spPr>
          <p:txBody>
            <a:bodyPr spcFirstLastPara="1" wrap="square" lIns="60950" tIns="60950" rIns="60950" bIns="60950" anchor="ctr" anchorCtr="0">
              <a:noAutofit/>
            </a:bodyPr>
            <a:lstStyle/>
            <a:p>
              <a:pPr marL="0" marR="0" lvl="0" indent="0" algn="l" rtl="0">
                <a:lnSpc>
                  <a:spcPct val="90000"/>
                </a:lnSpc>
                <a:spcBef>
                  <a:spcPts val="0"/>
                </a:spcBef>
                <a:spcAft>
                  <a:spcPts val="0"/>
                </a:spcAft>
                <a:buNone/>
                <a:defRPr/>
              </a:pPr>
              <a:r>
                <a:rPr lang="en-US" sz="1800" b="1">
                  <a:solidFill>
                    <a:schemeClr val="lt1"/>
                  </a:solidFill>
                  <a:latin typeface="Arial"/>
                  <a:ea typeface="Arial"/>
                  <a:cs typeface="Arial"/>
                </a:rPr>
                <a:t>Technical skills</a:t>
              </a:r>
              <a:endParaRPr/>
            </a:p>
            <a:p>
              <a:pPr marL="0" marR="0" lvl="0" indent="0" algn="l" rtl="0">
                <a:lnSpc>
                  <a:spcPct val="90000"/>
                </a:lnSpc>
                <a:spcBef>
                  <a:spcPts val="630"/>
                </a:spcBef>
                <a:spcAft>
                  <a:spcPts val="0"/>
                </a:spcAft>
                <a:buNone/>
                <a:defRPr/>
              </a:pPr>
              <a:r>
                <a:rPr lang="en-US" sz="1800">
                  <a:solidFill>
                    <a:schemeClr val="lt1"/>
                  </a:solidFill>
                  <a:latin typeface="Calibri"/>
                  <a:ea typeface="Calibri"/>
                  <a:cs typeface="Calibri"/>
                </a:rPr>
                <a:t>IT/IS knowledge</a:t>
              </a:r>
              <a:endParaRPr sz="1800">
                <a:solidFill>
                  <a:schemeClr val="lt1"/>
                </a:solidFill>
                <a:latin typeface="Calibri"/>
                <a:ea typeface="Calibri"/>
                <a:cs typeface="Calibri"/>
              </a:endParaRPr>
            </a:p>
          </p:txBody>
        </p:sp>
      </p:grpSp>
      <p:graphicFrame>
        <p:nvGraphicFramePr>
          <p:cNvPr id="1197666466" name="Table 1"/>
          <p:cNvGraphicFramePr>
            <a:graphicFrameLocks xmlns:a="http://schemas.openxmlformats.org/drawingml/2006/main" noGrp="1"/>
          </p:cNvGraphicFramePr>
          <p:nvPr/>
        </p:nvGraphicFramePr>
        <p:xfrm rot="0">
          <a:off x="6865684" y="2133861"/>
          <a:ext cx="3229338" cy="2897505"/>
        </p:xfrm>
        <a:graphic>
          <a:graphicData uri="http://schemas.openxmlformats.org/drawingml/2006/table">
            <a:tbl>
              <a:tblPr firstRow="0" firstCol="0" lastRow="0" lastCol="0" bandRow="0" bandCol="0"/>
              <a:tblGrid>
                <a:gridCol w="1764872"/>
                <a:gridCol w="1464466"/>
              </a:tblGrid>
              <a:tr h="0">
                <a:tc>
                  <a:txBody>
                    <a:bodyPr/>
                    <a:p>
                      <a:pPr algn="l">
                        <a:buNone/>
                        <a:defRPr/>
                      </a:pPr>
                      <a:r>
                        <a:rPr lang="en-GB" sz="1800" b="0">
                          <a:solidFill>
                            <a:schemeClr val="tx1"/>
                          </a:solidFill>
                        </a:rPr>
                        <a:t>Aspect</a:t>
                      </a:r>
                      <a:endParaRPr/>
                    </a:p>
                  </a:txBody>
                  <a:tcPr marL="114300" marR="76200" marT="76200" marB="66675">
                    <a:lnL w="12700" algn="ctr">
                      <a:solidFill>
                        <a:schemeClr val="tx1"/>
                      </a:solidFill>
                    </a:lnL>
                    <a:lnR w="12700" algn="ctr">
                      <a:solidFill>
                        <a:schemeClr val="tx1"/>
                      </a:solidFill>
                    </a:lnR>
                    <a:lnT w="12700" algn="ctr">
                      <a:solidFill>
                        <a:schemeClr val="tx1"/>
                      </a:solidFill>
                    </a:lnT>
                    <a:lnB w="12700" algn="ctr">
                      <a:solidFill>
                        <a:schemeClr val="tx1"/>
                      </a:solidFill>
                    </a:lnB>
                    <a:solidFill>
                      <a:srgbClr val="F5F5F5"/>
                    </a:solidFill>
                  </a:tcPr>
                </a:tc>
                <a:tc>
                  <a:txBody>
                    <a:bodyPr/>
                    <a:p>
                      <a:pPr algn="l">
                        <a:buNone/>
                        <a:defRPr/>
                      </a:pPr>
                      <a:r>
                        <a:rPr lang="en-GB" sz="1800" b="1">
                          <a:solidFill>
                            <a:srgbClr val="FF0000"/>
                          </a:solidFill>
                        </a:rPr>
                        <a:t>Task-Oriented</a:t>
                      </a:r>
                      <a:endParaRPr/>
                    </a:p>
                  </a:txBody>
                  <a:tcPr marL="114300" marR="76200" marT="76200" marB="66675">
                    <a:lnL w="12700" algn="ctr">
                      <a:solidFill>
                        <a:schemeClr val="tx1"/>
                      </a:solidFill>
                    </a:lnL>
                    <a:lnR w="12700" algn="ctr">
                      <a:solidFill>
                        <a:schemeClr val="tx1"/>
                      </a:solidFill>
                    </a:lnR>
                    <a:lnT w="12700" algn="ctr">
                      <a:solidFill>
                        <a:schemeClr val="tx1"/>
                      </a:solidFill>
                    </a:lnT>
                    <a:lnB w="12700" algn="ctr">
                      <a:solidFill>
                        <a:schemeClr val="tx1"/>
                      </a:solidFill>
                    </a:lnB>
                    <a:solidFill>
                      <a:srgbClr val="F5F5F5"/>
                    </a:solidFill>
                  </a:tcPr>
                </a:tc>
              </a:tr>
              <a:tr h="0">
                <a:tc>
                  <a:txBody>
                    <a:bodyPr/>
                    <a:p>
                      <a:pPr algn="l">
                        <a:buNone/>
                        <a:defRPr/>
                      </a:pPr>
                      <a:r>
                        <a:rPr lang="en-GB" sz="1800" b="1">
                          <a:solidFill>
                            <a:schemeClr val="tx1"/>
                          </a:solidFill>
                        </a:rPr>
                        <a:t>Focus</a:t>
                      </a:r>
                      <a:endParaRPr/>
                    </a:p>
                  </a:txBody>
                  <a:tcPr marL="114300" marR="76200" marT="76200" marB="66675">
                    <a:lnL w="12700" algn="ctr">
                      <a:solidFill>
                        <a:schemeClr val="tx1"/>
                      </a:solidFill>
                    </a:lnL>
                    <a:lnR w="12700" algn="ctr">
                      <a:solidFill>
                        <a:schemeClr val="tx1"/>
                      </a:solidFill>
                    </a:lnR>
                    <a:lnT w="12700" algn="ctr">
                      <a:solidFill>
                        <a:schemeClr val="tx1"/>
                      </a:solidFill>
                    </a:lnT>
                    <a:lnB w="12700" algn="ctr">
                      <a:solidFill>
                        <a:schemeClr val="tx1"/>
                      </a:solidFill>
                    </a:lnB>
                    <a:solidFill>
                      <a:srgbClr val="FAFAFA"/>
                    </a:solidFill>
                  </a:tcPr>
                </a:tc>
                <a:tc>
                  <a:txBody>
                    <a:bodyPr/>
                    <a:p>
                      <a:pPr algn="l">
                        <a:buNone/>
                        <a:defRPr/>
                      </a:pPr>
                      <a:r>
                        <a:rPr lang="en-GB" sz="1800" b="1">
                          <a:solidFill>
                            <a:srgbClr val="0000FF"/>
                          </a:solidFill>
                        </a:rPr>
                        <a:t>Tasks &amp; Deadlines</a:t>
                      </a:r>
                      <a:endParaRPr/>
                    </a:p>
                  </a:txBody>
                  <a:tcPr marL="114300" marR="76200" marT="76200" marB="66675">
                    <a:lnL w="12700" algn="ctr">
                      <a:solidFill>
                        <a:schemeClr val="tx1"/>
                      </a:solidFill>
                    </a:lnL>
                    <a:lnR w="12700" algn="ctr">
                      <a:solidFill>
                        <a:schemeClr val="tx1"/>
                      </a:solidFill>
                    </a:lnR>
                    <a:lnT w="12700" algn="ctr">
                      <a:solidFill>
                        <a:schemeClr val="tx1"/>
                      </a:solidFill>
                    </a:lnT>
                    <a:lnB w="12700" algn="ctr">
                      <a:solidFill>
                        <a:schemeClr val="tx1"/>
                      </a:solidFill>
                    </a:lnB>
                    <a:solidFill>
                      <a:srgbClr val="FAFAFA"/>
                    </a:solidFill>
                  </a:tcPr>
                </a:tc>
              </a:tr>
              <a:tr h="0">
                <a:tc>
                  <a:txBody>
                    <a:bodyPr/>
                    <a:p>
                      <a:pPr algn="l">
                        <a:buNone/>
                        <a:defRPr/>
                      </a:pPr>
                      <a:r>
                        <a:rPr lang="en-GB" sz="1800" b="1">
                          <a:solidFill>
                            <a:schemeClr val="tx1"/>
                          </a:solidFill>
                        </a:rPr>
                        <a:t>Communication Style</a:t>
                      </a:r>
                      <a:endParaRPr/>
                    </a:p>
                  </a:txBody>
                  <a:tcPr marL="114300" marR="76200" marT="76200" marB="66675">
                    <a:lnL w="12700" algn="ctr">
                      <a:solidFill>
                        <a:schemeClr val="tx1"/>
                      </a:solidFill>
                    </a:lnL>
                    <a:lnR w="12700" algn="ctr">
                      <a:solidFill>
                        <a:schemeClr val="tx1"/>
                      </a:solidFill>
                    </a:lnR>
                    <a:lnT w="12700" algn="ctr">
                      <a:solidFill>
                        <a:schemeClr val="tx1"/>
                      </a:solidFill>
                    </a:lnT>
                    <a:lnB w="12700" algn="ctr">
                      <a:solidFill>
                        <a:schemeClr val="tx1"/>
                      </a:solidFill>
                    </a:lnB>
                    <a:solidFill>
                      <a:srgbClr val="FAFAFA"/>
                    </a:solidFill>
                  </a:tcPr>
                </a:tc>
                <a:tc>
                  <a:txBody>
                    <a:bodyPr/>
                    <a:p>
                      <a:pPr algn="l">
                        <a:buNone/>
                        <a:defRPr/>
                      </a:pPr>
                      <a:r>
                        <a:rPr lang="en-GB" sz="1800" b="1">
                          <a:solidFill>
                            <a:srgbClr val="0000FF"/>
                          </a:solidFill>
                        </a:rPr>
                        <a:t>Directive</a:t>
                      </a:r>
                      <a:endParaRPr/>
                    </a:p>
                    <a:p>
                      <a:pPr algn="l">
                        <a:buNone/>
                        <a:defRPr/>
                      </a:pPr>
                      <a:r>
                        <a:rPr lang="en-US" sz="1800" b="0" i="0" u="none" strike="noStrike" cap="none">
                          <a:solidFill>
                            <a:srgbClr val="0000FF"/>
                          </a:solidFill>
                          <a:latin typeface="+mn-lt"/>
                          <a:ea typeface="+mn-ea"/>
                          <a:cs typeface="+mn-cs"/>
                        </a:rPr>
                        <a:t>(e.g. Follow these steps to complete the task)</a:t>
                      </a:r>
                      <a:endParaRPr lang="en-GB" sz="1800">
                        <a:solidFill>
                          <a:srgbClr val="0000FF"/>
                        </a:solidFill>
                      </a:endParaRPr>
                    </a:p>
                  </a:txBody>
                  <a:tcPr marL="114300" marR="76200" marT="76200" marB="66675">
                    <a:lnL w="12700" algn="ctr">
                      <a:solidFill>
                        <a:schemeClr val="tx1"/>
                      </a:solidFill>
                    </a:lnL>
                    <a:lnR w="12700" algn="ctr">
                      <a:solidFill>
                        <a:schemeClr val="tx1"/>
                      </a:solidFill>
                    </a:lnR>
                    <a:lnT w="12700" algn="ctr">
                      <a:solidFill>
                        <a:schemeClr val="tx1"/>
                      </a:solidFill>
                    </a:lnT>
                    <a:lnB w="12700" algn="ctr">
                      <a:solidFill>
                        <a:schemeClr val="tx1"/>
                      </a:solidFill>
                    </a:lnB>
                    <a:solidFill>
                      <a:srgbClr val="FAFAFA"/>
                    </a:solidFill>
                  </a:tcPr>
                </a:tc>
              </a:tr>
            </a:tbl>
          </a:graphicData>
        </a:graphic>
      </p:graphicFrame>
      <p:cxnSp>
        <p:nvCxnSpPr>
          <p:cNvPr id="136747884" name="Straight Connector 4"/>
          <p:cNvCxnSpPr/>
          <p:nvPr/>
        </p:nvCxnSpPr>
        <p:spPr bwMode="auto">
          <a:xfrm>
            <a:off x="3821102" y="2667000"/>
            <a:ext cx="250349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24139460" name="Straight Connector 5"/>
          <p:cNvCxnSpPr/>
          <p:nvPr/>
        </p:nvCxnSpPr>
        <p:spPr bwMode="auto">
          <a:xfrm>
            <a:off x="4075413" y="2974482"/>
            <a:ext cx="220279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94755881" name="Straight Connector 7"/>
          <p:cNvCxnSpPr/>
          <p:nvPr/>
        </p:nvCxnSpPr>
        <p:spPr bwMode="auto">
          <a:xfrm>
            <a:off x="4075413" y="3228482"/>
            <a:ext cx="750587"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859969125" name="Table 9"/>
          <p:cNvGraphicFramePr>
            <a:graphicFrameLocks xmlns:a="http://schemas.openxmlformats.org/drawingml/2006/main" noGrp="1"/>
          </p:cNvGraphicFramePr>
          <p:nvPr/>
        </p:nvGraphicFramePr>
        <p:xfrm rot="0">
          <a:off x="10120421" y="2127584"/>
          <a:ext cx="1784504" cy="2897505"/>
        </p:xfrm>
        <a:graphic>
          <a:graphicData uri="http://schemas.openxmlformats.org/drawingml/2006/table">
            <a:tbl>
              <a:tblPr firstRow="0" firstCol="0" lastRow="0" lastCol="0" bandRow="0" bandCol="0"/>
              <a:tblGrid>
                <a:gridCol w="1784504"/>
              </a:tblGrid>
              <a:tr h="0">
                <a:tc>
                  <a:txBody>
                    <a:bodyPr/>
                    <a:p>
                      <a:pPr algn="l">
                        <a:buNone/>
                        <a:defRPr/>
                      </a:pPr>
                      <a:r>
                        <a:rPr lang="en-GB" sz="1800" b="1">
                          <a:solidFill>
                            <a:srgbClr val="FF0000"/>
                          </a:solidFill>
                        </a:rPr>
                        <a:t>People-Oriented</a:t>
                      </a:r>
                      <a:endParaRPr/>
                    </a:p>
                  </a:txBody>
                  <a:tcPr marL="114300" marR="76200" marT="76200" marB="66675">
                    <a:lnL w="12700" algn="ctr">
                      <a:solidFill>
                        <a:schemeClr val="tx1"/>
                      </a:solidFill>
                    </a:lnL>
                    <a:lnR w="12700" algn="ctr">
                      <a:solidFill>
                        <a:schemeClr val="tx1"/>
                      </a:solidFill>
                    </a:lnR>
                    <a:lnT w="12700" algn="ctr">
                      <a:solidFill>
                        <a:schemeClr val="tx1"/>
                      </a:solidFill>
                    </a:lnT>
                    <a:lnB w="12700" algn="ctr">
                      <a:solidFill>
                        <a:schemeClr val="tx1"/>
                      </a:solidFill>
                    </a:lnB>
                    <a:solidFill>
                      <a:srgbClr val="F5F5F5"/>
                    </a:solidFill>
                  </a:tcPr>
                </a:tc>
              </a:tr>
              <a:tr h="0">
                <a:tc>
                  <a:txBody>
                    <a:bodyPr/>
                    <a:p>
                      <a:pPr algn="l">
                        <a:buNone/>
                        <a:defRPr/>
                      </a:pPr>
                      <a:r>
                        <a:rPr lang="en-GB" sz="1800" b="1">
                          <a:solidFill>
                            <a:srgbClr val="0000FF"/>
                          </a:solidFill>
                        </a:rPr>
                        <a:t>Team &amp; Relationships</a:t>
                      </a:r>
                      <a:endParaRPr/>
                    </a:p>
                  </a:txBody>
                  <a:tcPr marL="114300" marR="76200" marT="76200" marB="66675">
                    <a:lnL w="12700" algn="ctr">
                      <a:solidFill>
                        <a:schemeClr val="tx1"/>
                      </a:solidFill>
                    </a:lnL>
                    <a:lnR w="12700" algn="ctr">
                      <a:solidFill>
                        <a:schemeClr val="tx1"/>
                      </a:solidFill>
                    </a:lnR>
                    <a:lnT w="12700" algn="ctr">
                      <a:solidFill>
                        <a:schemeClr val="tx1"/>
                      </a:solidFill>
                    </a:lnT>
                    <a:lnB w="12700" algn="ctr">
                      <a:solidFill>
                        <a:schemeClr val="tx1"/>
                      </a:solidFill>
                    </a:lnB>
                    <a:solidFill>
                      <a:srgbClr val="FAFAFA"/>
                    </a:solidFill>
                  </a:tcPr>
                </a:tc>
              </a:tr>
              <a:tr h="0">
                <a:tc>
                  <a:txBody>
                    <a:bodyPr/>
                    <a:p>
                      <a:pPr algn="l">
                        <a:buNone/>
                        <a:defRPr/>
                      </a:pPr>
                      <a:r>
                        <a:rPr lang="en-GB" sz="1800" b="1">
                          <a:solidFill>
                            <a:srgbClr val="0000FF"/>
                          </a:solidFill>
                        </a:rPr>
                        <a:t>Collaborative</a:t>
                      </a:r>
                      <a:endParaRPr/>
                    </a:p>
                    <a:p>
                      <a:pPr algn="l">
                        <a:buNone/>
                        <a:defRPr/>
                      </a:pPr>
                      <a:r>
                        <a:rPr lang="en-GB" sz="1800">
                          <a:solidFill>
                            <a:srgbClr val="0000FF"/>
                          </a:solidFill>
                        </a:rPr>
                        <a:t>(e.g. </a:t>
                      </a:r>
                      <a:r>
                        <a:rPr lang="en-US" sz="1800" b="0" i="0" u="none" strike="noStrike" cap="none">
                          <a:solidFill>
                            <a:srgbClr val="0000FF"/>
                          </a:solidFill>
                          <a:latin typeface="+mn-lt"/>
                          <a:ea typeface="+mn-ea"/>
                          <a:cs typeface="+mn-cs"/>
                        </a:rPr>
                        <a:t>what ideas do you all have to do this task?"</a:t>
                      </a:r>
                      <a:endParaRPr lang="en-GB" sz="1800">
                        <a:solidFill>
                          <a:srgbClr val="0000FF"/>
                        </a:solidFill>
                      </a:endParaRPr>
                    </a:p>
                  </a:txBody>
                  <a:tcPr marL="114300" marR="76200" marT="76200" marB="66675">
                    <a:lnL w="12700" algn="ctr">
                      <a:solidFill>
                        <a:schemeClr val="tx1"/>
                      </a:solidFill>
                    </a:lnL>
                    <a:lnR w="12700" algn="ctr">
                      <a:solidFill>
                        <a:schemeClr val="tx1"/>
                      </a:solidFill>
                    </a:lnR>
                    <a:lnT w="12700" algn="ctr">
                      <a:solidFill>
                        <a:schemeClr val="tx1"/>
                      </a:solidFill>
                    </a:lnT>
                    <a:lnB w="12700" algn="ctr">
                      <a:solidFill>
                        <a:schemeClr val="tx1"/>
                      </a:solidFill>
                    </a:lnB>
                    <a:solidFill>
                      <a:srgbClr val="FAFAFA"/>
                    </a:solidFill>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6747884"/>
                                        </p:tgtEl>
                                        <p:attrNameLst>
                                          <p:attrName>style.visibility</p:attrName>
                                        </p:attrNameLst>
                                      </p:cBhvr>
                                      <p:to>
                                        <p:strVal val="visible"/>
                                      </p:to>
                                    </p:set>
                                    <p:animEffect transition="in" filter="wipe(left)">
                                      <p:cBhvr>
                                        <p:cTn id="7" dur="500"/>
                                        <p:tgtEl>
                                          <p:spTgt spid="1367478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4139460"/>
                                        </p:tgtEl>
                                        <p:attrNameLst>
                                          <p:attrName>style.visibility</p:attrName>
                                        </p:attrNameLst>
                                      </p:cBhvr>
                                      <p:to>
                                        <p:strVal val="visible"/>
                                      </p:to>
                                    </p:set>
                                    <p:animEffect transition="in" filter="wipe(left)">
                                      <p:cBhvr>
                                        <p:cTn id="12" dur="500"/>
                                        <p:tgtEl>
                                          <p:spTgt spid="1024139460"/>
                                        </p:tgtEl>
                                      </p:cBhvr>
                                    </p:animEffect>
                                  </p:childTnLst>
                                </p:cTn>
                              </p:par>
                              <p:par>
                                <p:cTn id="13" presetID="22" presetClass="entr" presetSubtype="8" fill="hold" nodeType="withEffect">
                                  <p:stCondLst>
                                    <p:cond delay="0"/>
                                  </p:stCondLst>
                                  <p:childTnLst>
                                    <p:set>
                                      <p:cBhvr>
                                        <p:cTn id="14" dur="1" fill="hold">
                                          <p:stCondLst>
                                            <p:cond delay="0"/>
                                          </p:stCondLst>
                                        </p:cTn>
                                        <p:tgtEl>
                                          <p:spTgt spid="694755881"/>
                                        </p:tgtEl>
                                        <p:attrNameLst>
                                          <p:attrName>style.visibility</p:attrName>
                                        </p:attrNameLst>
                                      </p:cBhvr>
                                      <p:to>
                                        <p:strVal val="visible"/>
                                      </p:to>
                                    </p:set>
                                    <p:animEffect transition="in" filter="wipe(left)">
                                      <p:cBhvr>
                                        <p:cTn id="15" dur="500"/>
                                        <p:tgtEl>
                                          <p:spTgt spid="69475588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197666466"/>
                                        </p:tgtEl>
                                        <p:attrNameLst>
                                          <p:attrName>style.visibility</p:attrName>
                                        </p:attrNameLst>
                                      </p:cBhvr>
                                      <p:to>
                                        <p:strVal val="visible"/>
                                      </p:to>
                                    </p:set>
                                    <p:animEffect transition="in" filter="wipe(left)">
                                      <p:cBhvr>
                                        <p:cTn id="20" dur="500"/>
                                        <p:tgtEl>
                                          <p:spTgt spid="1197666466"/>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859969125"/>
                                        </p:tgtEl>
                                        <p:attrNameLst>
                                          <p:attrName>style.visibility</p:attrName>
                                        </p:attrNameLst>
                                      </p:cBhvr>
                                      <p:to>
                                        <p:strVal val="visible"/>
                                      </p:to>
                                    </p:set>
                                    <p:animEffect transition="in" filter="wipe(left)">
                                      <p:cBhvr>
                                        <p:cTn id="25" dur="500"/>
                                        <p:tgtEl>
                                          <p:spTgt spid="85996912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312104918"/>
                                        </p:tgtEl>
                                        <p:attrNameLst>
                                          <p:attrName>style.visibility</p:attrName>
                                        </p:attrNameLst>
                                      </p:cBhvr>
                                      <p:to>
                                        <p:strVal val="visible"/>
                                      </p:to>
                                    </p:set>
                                    <p:animEffect transition="in" filter="wipe(left)">
                                      <p:cBhvr>
                                        <p:cTn id="30" dur="500"/>
                                        <p:tgtEl>
                                          <p:spTgt spid="1312104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2104918" grpId="0"/>
    </p:bldLst>
  </p:timing>
</p:sld>
</file>

<file path=ppt/slides/slide1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42041263" name="Google Shape;1886;p109"/>
          <p:cNvPicPr/>
          <p:nvPr/>
        </p:nvPicPr>
        <p:blipFill rotWithShape="1">
          <a:blip r:embed="rId3">
            <a:alphaModFix/>
          </a:blip>
          <a:srcRect l="0" t="12333" r="0" b="0"/>
          <a:stretch/>
        </p:blipFill>
        <p:spPr bwMode="auto">
          <a:xfrm>
            <a:off x="7337990" y="4021091"/>
            <a:ext cx="4854009" cy="2836908"/>
          </a:xfrm>
          <a:prstGeom prst="rect">
            <a:avLst/>
          </a:prstGeom>
          <a:noFill/>
          <a:ln>
            <a:noFill/>
          </a:ln>
        </p:spPr>
      </p:pic>
      <p:pic>
        <p:nvPicPr>
          <p:cNvPr id="1026180516" name="Google Shape;1887;p109"/>
          <p:cNvPicPr/>
          <p:nvPr/>
        </p:nvPicPr>
        <p:blipFill rotWithShape="1">
          <a:blip r:embed="rId4">
            <a:alphaModFix/>
          </a:blip>
          <a:stretch/>
        </p:blipFill>
        <p:spPr bwMode="auto">
          <a:xfrm>
            <a:off x="0" y="4027368"/>
            <a:ext cx="7449675" cy="2836908"/>
          </a:xfrm>
          <a:prstGeom prst="rect">
            <a:avLst/>
          </a:prstGeom>
          <a:noFill/>
          <a:ln>
            <a:noFill/>
          </a:ln>
        </p:spPr>
      </p:pic>
      <p:sp>
        <p:nvSpPr>
          <p:cNvPr id="1982281312" name="Google Shape;1888;p109"/>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123</a:t>
            </a:fld>
            <a:endParaRPr/>
          </a:p>
        </p:txBody>
      </p:sp>
      <p:cxnSp>
        <p:nvCxnSpPr>
          <p:cNvPr id="43511527" name="Google Shape;1889;p109"/>
          <p:cNvCxnSpPr/>
          <p:nvPr/>
        </p:nvCxnSpPr>
        <p:spPr bwMode="auto">
          <a:xfrm rot="10800000">
            <a:off x="5540494" y="1289913"/>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833009268" name="Google Shape;1890;p109"/>
          <p:cNvSpPr txBox="1"/>
          <p:nvPr/>
        </p:nvSpPr>
        <p:spPr bwMode="auto">
          <a:xfrm>
            <a:off x="4066336" y="374297"/>
            <a:ext cx="40751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defRPr/>
            </a:pPr>
            <a:r>
              <a:rPr lang="en-US" sz="3200" b="1">
                <a:solidFill>
                  <a:schemeClr val="dk1"/>
                </a:solidFill>
                <a:latin typeface="Calibri"/>
                <a:ea typeface="Calibri"/>
                <a:cs typeface="Calibri"/>
              </a:rPr>
              <a:t>Leading vs Managing</a:t>
            </a:r>
            <a:endParaRPr sz="3200" b="1">
              <a:solidFill>
                <a:srgbClr val="3F3F3F"/>
              </a:solidFill>
              <a:latin typeface="Open Sans"/>
              <a:ea typeface="Open Sans"/>
              <a:cs typeface="Open Sans"/>
            </a:endParaRPr>
          </a:p>
        </p:txBody>
      </p:sp>
      <p:sp>
        <p:nvSpPr>
          <p:cNvPr id="1285346710" name="Google Shape;1891;p109"/>
          <p:cNvSpPr txBox="1"/>
          <p:nvPr/>
        </p:nvSpPr>
        <p:spPr bwMode="auto">
          <a:xfrm>
            <a:off x="3967315" y="851037"/>
            <a:ext cx="4621778" cy="33855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defRPr/>
            </a:pPr>
            <a:r>
              <a:rPr lang="en-US" sz="1600">
                <a:solidFill>
                  <a:schemeClr val="dk1"/>
                </a:solidFill>
                <a:latin typeface="Arimo"/>
                <a:ea typeface="Arimo"/>
                <a:cs typeface="Arimo"/>
              </a:rPr>
              <a:t>1.4 Knowledge &amp; Attributes of a Project Manager</a:t>
            </a:r>
            <a:endParaRPr sz="1600">
              <a:solidFill>
                <a:schemeClr val="dk1"/>
              </a:solidFill>
              <a:latin typeface="Arimo"/>
              <a:ea typeface="Arimo"/>
              <a:cs typeface="Arimo"/>
            </a:endParaRPr>
          </a:p>
        </p:txBody>
      </p:sp>
      <p:sp>
        <p:nvSpPr>
          <p:cNvPr id="796281366" name="Google Shape;1892;p109"/>
          <p:cNvSpPr txBox="1"/>
          <p:nvPr/>
        </p:nvSpPr>
        <p:spPr bwMode="auto">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90000"/>
              </a:lnSpc>
              <a:spcBef>
                <a:spcPts val="0"/>
              </a:spcBef>
              <a:spcAft>
                <a:spcPts val="0"/>
              </a:spcAft>
              <a:buClr>
                <a:schemeClr val="dk1"/>
              </a:buClr>
              <a:buSzPts val="2800"/>
              <a:buFont typeface="Arial"/>
              <a:buChar char="•"/>
              <a:defRPr/>
            </a:pPr>
            <a:r>
              <a:rPr lang="en-US" sz="2800">
                <a:solidFill>
                  <a:schemeClr val="tx1">
                    <a:lumMod val="65000"/>
                    <a:lumOff val="35000"/>
                  </a:schemeClr>
                </a:solidFill>
                <a:latin typeface="Calibri"/>
                <a:ea typeface="Calibri"/>
                <a:cs typeface="Calibri"/>
              </a:rPr>
              <a:t>The overriding function of management is to provide </a:t>
            </a:r>
            <a:r>
              <a:rPr lang="en-US" sz="2800" b="1">
                <a:solidFill>
                  <a:schemeClr val="tx1">
                    <a:lumMod val="65000"/>
                    <a:lumOff val="35000"/>
                  </a:schemeClr>
                </a:solidFill>
                <a:latin typeface="Calibri"/>
                <a:ea typeface="Calibri"/>
                <a:cs typeface="Calibri"/>
              </a:rPr>
              <a:t>order and consistency to organizations</a:t>
            </a:r>
            <a:r>
              <a:rPr lang="en-US" sz="2800">
                <a:solidFill>
                  <a:schemeClr val="tx1">
                    <a:lumMod val="65000"/>
                    <a:lumOff val="35000"/>
                  </a:schemeClr>
                </a:solidFill>
                <a:latin typeface="Calibri"/>
                <a:ea typeface="Calibri"/>
                <a:cs typeface="Calibri"/>
              </a:rPr>
              <a:t>, whereas the primary function of leadership is to produce </a:t>
            </a:r>
            <a:r>
              <a:rPr lang="en-US" sz="2800" b="1">
                <a:solidFill>
                  <a:schemeClr val="tx1">
                    <a:lumMod val="65000"/>
                    <a:lumOff val="35000"/>
                  </a:schemeClr>
                </a:solidFill>
                <a:latin typeface="Calibri"/>
                <a:ea typeface="Calibri"/>
                <a:cs typeface="Calibri"/>
              </a:rPr>
              <a:t>change and movement</a:t>
            </a:r>
            <a:r>
              <a:rPr lang="en-US" sz="2800">
                <a:solidFill>
                  <a:schemeClr val="tx1">
                    <a:lumMod val="65000"/>
                    <a:lumOff val="35000"/>
                  </a:schemeClr>
                </a:solidFill>
                <a:latin typeface="Calibri"/>
                <a:ea typeface="Calibri"/>
                <a:cs typeface="Calibri"/>
              </a:rPr>
              <a:t>. </a:t>
            </a:r>
            <a:endParaRPr>
              <a:solidFill>
                <a:schemeClr val="tx1">
                  <a:lumMod val="65000"/>
                  <a:lumOff val="35000"/>
                </a:schemeClr>
              </a:solidFill>
            </a:endParaRPr>
          </a:p>
          <a:p>
            <a:pPr marL="228600" marR="0" lvl="0" indent="-228600" algn="l" rtl="0">
              <a:lnSpc>
                <a:spcPct val="90000"/>
              </a:lnSpc>
              <a:spcBef>
                <a:spcPts val="1000"/>
              </a:spcBef>
              <a:spcAft>
                <a:spcPts val="0"/>
              </a:spcAft>
              <a:buClr>
                <a:schemeClr val="dk1"/>
              </a:buClr>
              <a:buSzPts val="2800"/>
              <a:buFont typeface="Arial"/>
              <a:buChar char="•"/>
              <a:defRPr/>
            </a:pPr>
            <a:r>
              <a:rPr lang="en-US" sz="2800">
                <a:solidFill>
                  <a:schemeClr val="tx1">
                    <a:lumMod val="65000"/>
                    <a:lumOff val="35000"/>
                  </a:schemeClr>
                </a:solidFill>
                <a:latin typeface="Calibri"/>
                <a:ea typeface="Calibri"/>
                <a:cs typeface="Calibri"/>
              </a:rPr>
              <a:t>Leadership can be defined as the process of moving a group(s) in some direction through mostly non-coercive means</a:t>
            </a:r>
            <a:endParaRPr>
              <a:solidFill>
                <a:schemeClr val="tx1">
                  <a:lumMod val="65000"/>
                  <a:lumOff val="35000"/>
                </a:schemeClr>
              </a:solidFill>
            </a:endParaRPr>
          </a:p>
          <a:p>
            <a:pPr marL="228600" marR="0" lvl="0" indent="-228600" algn="l" rtl="0">
              <a:lnSpc>
                <a:spcPct val="90000"/>
              </a:lnSpc>
              <a:spcBef>
                <a:spcPts val="1000"/>
              </a:spcBef>
              <a:spcAft>
                <a:spcPts val="0"/>
              </a:spcAft>
              <a:buClr>
                <a:schemeClr val="dk1"/>
              </a:buClr>
              <a:buSzPts val="2800"/>
              <a:buFont typeface="Arial"/>
              <a:buChar char="•"/>
              <a:defRPr/>
            </a:pPr>
            <a:r>
              <a:rPr lang="en-US" sz="2800">
                <a:solidFill>
                  <a:schemeClr val="tx1">
                    <a:lumMod val="65000"/>
                    <a:lumOff val="35000"/>
                  </a:schemeClr>
                </a:solidFill>
                <a:latin typeface="Calibri"/>
                <a:ea typeface="Calibri"/>
                <a:cs typeface="Calibri"/>
              </a:rPr>
              <a:t>Effective leadership is defined as leadership that produces movement in the long-term best interests of the group(s) (Kotter, 1988).</a:t>
            </a:r>
            <a:endParaRPr>
              <a:solidFill>
                <a:schemeClr val="tx1">
                  <a:lumMod val="65000"/>
                  <a:lumOff val="35000"/>
                </a:schemeClr>
              </a:solidFill>
            </a:endParaRPr>
          </a:p>
          <a:p>
            <a:pPr marL="228600" marR="0" lvl="0" indent="-228600" algn="l" rtl="0">
              <a:lnSpc>
                <a:spcPct val="90000"/>
              </a:lnSpc>
              <a:spcBef>
                <a:spcPts val="1000"/>
              </a:spcBef>
              <a:spcAft>
                <a:spcPts val="0"/>
              </a:spcAft>
              <a:buClr>
                <a:schemeClr val="dk1"/>
              </a:buClr>
              <a:buSzPts val="2800"/>
              <a:buFont typeface="Arial"/>
              <a:buChar char="•"/>
              <a:defRPr/>
            </a:pPr>
            <a:r>
              <a:rPr lang="en-US" sz="2800" b="1">
                <a:solidFill>
                  <a:schemeClr val="tx2">
                    <a:lumMod val="50000"/>
                  </a:schemeClr>
                </a:solidFill>
                <a:latin typeface="Calibri"/>
                <a:ea typeface="Calibri"/>
                <a:cs typeface="Calibri"/>
              </a:rPr>
              <a:t>Thus, leadership is defined as the ability to influence people toward the attainment of goals</a:t>
            </a:r>
            <a:endParaRPr sz="2800" b="1">
              <a:solidFill>
                <a:schemeClr val="tx2">
                  <a:lumMod val="50000"/>
                </a:schemeClr>
              </a:solidFill>
              <a:latin typeface="Calibri"/>
              <a:ea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51621516" name="Google Shape;1897;p110"/>
          <p:cNvSpPr txBox="1">
            <a:spLocks noGrp="1"/>
          </p:cNvSpPr>
          <p:nvPr>
            <p:ph type="subTitle" idx="1"/>
          </p:nvPr>
        </p:nvSpPr>
        <p:spPr bwMode="auto">
          <a:xfrm>
            <a:off x="2971800" y="2133600"/>
            <a:ext cx="7848600" cy="1905000"/>
          </a:xfrm>
          <a:prstGeom prst="rect">
            <a:avLst/>
          </a:prstGeom>
          <a:noFill/>
          <a:ln>
            <a:noFill/>
          </a:ln>
        </p:spPr>
        <p:txBody>
          <a:bodyPr spcFirstLastPara="1" wrap="square" lIns="91425" tIns="45700" rIns="91425" bIns="45700" anchor="t" anchorCtr="0">
            <a:normAutofit/>
          </a:bodyPr>
          <a:lstStyle/>
          <a:p>
            <a:pPr marL="0" indent="0" algn="l">
              <a:spcBef>
                <a:spcPts val="0"/>
              </a:spcBef>
              <a:buSzPts val="2800"/>
              <a:defRPr/>
            </a:pPr>
            <a:r>
              <a:rPr lang="en-US" sz="3200" b="1"/>
              <a:t>Project Objectives Vs Business Objectives</a:t>
            </a:r>
            <a:endParaRPr/>
          </a:p>
          <a:p>
            <a:pPr marL="914400" lvl="0" indent="-914400" algn="l" rtl="0">
              <a:lnSpc>
                <a:spcPct val="90000"/>
              </a:lnSpc>
              <a:spcBef>
                <a:spcPts val="1000"/>
              </a:spcBef>
              <a:spcAft>
                <a:spcPts val="0"/>
              </a:spcAft>
              <a:buClr>
                <a:schemeClr val="dk1"/>
              </a:buClr>
              <a:buSzPts val="3000"/>
              <a:buNone/>
              <a:defRPr/>
            </a:pPr>
            <a:r>
              <a:rPr lang="en-US" sz="3000" b="1"/>
              <a:t>Causes of Project Failures</a:t>
            </a:r>
            <a:endParaRPr b="1"/>
          </a:p>
          <a:p>
            <a:pPr marL="914400" lvl="0" indent="-914400" algn="l" rtl="0">
              <a:lnSpc>
                <a:spcPct val="90000"/>
              </a:lnSpc>
              <a:spcBef>
                <a:spcPts val="1000"/>
              </a:spcBef>
              <a:spcAft>
                <a:spcPts val="0"/>
              </a:spcAft>
              <a:buClr>
                <a:schemeClr val="dk1"/>
              </a:buClr>
              <a:buSzPts val="3000"/>
              <a:buNone/>
              <a:defRPr/>
            </a:pPr>
            <a:r>
              <a:rPr lang="en-US" sz="3000" b="1"/>
              <a:t>Critical Success Factor (CSF)</a:t>
            </a:r>
            <a:endParaRPr b="1"/>
          </a:p>
          <a:p>
            <a:pPr marL="914400" lvl="0" indent="-914400" algn="l" rtl="0">
              <a:lnSpc>
                <a:spcPct val="90000"/>
              </a:lnSpc>
              <a:spcBef>
                <a:spcPts val="1000"/>
              </a:spcBef>
              <a:spcAft>
                <a:spcPts val="0"/>
              </a:spcAft>
              <a:buClr>
                <a:schemeClr val="dk1"/>
              </a:buClr>
              <a:buSzPts val="3000"/>
              <a:buNone/>
              <a:defRPr/>
            </a:pPr>
            <a:endParaRPr sz="3000"/>
          </a:p>
        </p:txBody>
      </p:sp>
      <p:grpSp>
        <p:nvGrpSpPr>
          <p:cNvPr id="336408490" name="Google Shape;1898;p110"/>
          <p:cNvGrpSpPr/>
          <p:nvPr/>
        </p:nvGrpSpPr>
        <p:grpSpPr bwMode="auto">
          <a:xfrm>
            <a:off x="0" y="4572000"/>
            <a:ext cx="12183600" cy="2286000"/>
            <a:chOff x="0" y="4572000"/>
            <a:chExt cx="12183600" cy="2286000"/>
          </a:xfrm>
        </p:grpSpPr>
        <p:pic>
          <p:nvPicPr>
            <p:cNvPr id="1899" name="Google Shape;1899;p110"/>
            <p:cNvPicPr/>
            <p:nvPr/>
          </p:nvPicPr>
          <p:blipFill rotWithShape="1">
            <a:blip r:embed="rId3">
              <a:alphaModFix/>
            </a:blip>
            <a:stretch/>
          </p:blipFill>
          <p:spPr bwMode="auto">
            <a:xfrm>
              <a:off x="0" y="4572000"/>
              <a:ext cx="5715001" cy="2286000"/>
            </a:xfrm>
            <a:prstGeom prst="rect">
              <a:avLst/>
            </a:prstGeom>
            <a:noFill/>
            <a:ln>
              <a:noFill/>
            </a:ln>
          </p:spPr>
        </p:pic>
        <p:pic>
          <p:nvPicPr>
            <p:cNvPr id="1900" name="Google Shape;1900;p110"/>
            <p:cNvPicPr/>
            <p:nvPr/>
          </p:nvPicPr>
          <p:blipFill rotWithShape="1">
            <a:blip r:embed="rId4">
              <a:alphaModFix/>
            </a:blip>
            <a:srcRect l="9237" t="38371" r="11974" b="19882"/>
            <a:stretch/>
          </p:blipFill>
          <p:spPr bwMode="auto">
            <a:xfrm>
              <a:off x="5645640" y="4572000"/>
              <a:ext cx="6537959" cy="2286000"/>
            </a:xfrm>
            <a:prstGeom prst="rect">
              <a:avLst/>
            </a:prstGeom>
            <a:noFill/>
            <a:ln>
              <a:noFill/>
            </a:ln>
          </p:spPr>
        </p:pic>
      </p:grpSp>
      <p:cxnSp>
        <p:nvCxnSpPr>
          <p:cNvPr id="2024295109" name="Google Shape;1901;p110"/>
          <p:cNvCxnSpPr/>
          <p:nvPr/>
        </p:nvCxnSpPr>
        <p:spPr bwMode="auto">
          <a:xfrm rot="10800000">
            <a:off x="5151581" y="1676400"/>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781224750" name="Google Shape;1902;p110"/>
          <p:cNvSpPr txBox="1"/>
          <p:nvPr/>
        </p:nvSpPr>
        <p:spPr bwMode="auto">
          <a:xfrm>
            <a:off x="2895600" y="1024959"/>
            <a:ext cx="57912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defRPr/>
            </a:pPr>
            <a:r>
              <a:rPr lang="en-US" sz="3200">
                <a:solidFill>
                  <a:schemeClr val="dk1"/>
                </a:solidFill>
                <a:latin typeface="Times New Roman"/>
                <a:ea typeface="Times New Roman"/>
                <a:cs typeface="Times New Roman"/>
              </a:rPr>
              <a:t>1.5 Project Management Failure</a:t>
            </a:r>
            <a:endParaRPr sz="3200">
              <a:solidFill>
                <a:srgbClr val="3F3F3F"/>
              </a:solidFill>
              <a:latin typeface="Open Sans"/>
              <a:ea typeface="Open Sans"/>
              <a:cs typeface="Open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051621516">
                                            <p:txEl>
                                              <p:pRg st="0" end="0"/>
                                            </p:txEl>
                                          </p:spTgt>
                                        </p:tgtEl>
                                        <p:attrNameLst>
                                          <p:attrName>style.visibility</p:attrName>
                                        </p:attrNameLst>
                                      </p:cBhvr>
                                      <p:to>
                                        <p:strVal val="visible"/>
                                      </p:to>
                                    </p:set>
                                    <p:anim calcmode="lin" valueType="num">
                                      <p:cBhvr additive="base">
                                        <p:cTn id="7" dur="500" fill="hold"/>
                                        <p:tgtEl>
                                          <p:spTgt spid="10516215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51621516">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051621516">
                                            <p:txEl>
                                              <p:pRg st="1" end="1"/>
                                            </p:txEl>
                                          </p:spTgt>
                                        </p:tgtEl>
                                        <p:attrNameLst>
                                          <p:attrName>style.visibility</p:attrName>
                                        </p:attrNameLst>
                                      </p:cBhvr>
                                      <p:to>
                                        <p:strVal val="visible"/>
                                      </p:to>
                                    </p:set>
                                    <p:anim calcmode="lin" valueType="num">
                                      <p:cBhvr additive="base">
                                        <p:cTn id="11" dur="500" fill="hold"/>
                                        <p:tgtEl>
                                          <p:spTgt spid="10516215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51621516">
                                            <p:txEl>
                                              <p:pRg st="1" end="1"/>
                                            </p:txEl>
                                          </p:spTgt>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1051621516">
                                            <p:txEl>
                                              <p:pRg st="2" end="2"/>
                                            </p:txEl>
                                          </p:spTgt>
                                        </p:tgtEl>
                                        <p:attrNameLst>
                                          <p:attrName>style.visibility</p:attrName>
                                        </p:attrNameLst>
                                      </p:cBhvr>
                                      <p:to>
                                        <p:strVal val="visible"/>
                                      </p:to>
                                    </p:set>
                                    <p:anim calcmode="lin" valueType="num">
                                      <p:cBhvr additive="base">
                                        <p:cTn id="15" dur="500" fill="hold"/>
                                        <p:tgtEl>
                                          <p:spTgt spid="10516215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051621516">
                                            <p:txEl>
                                              <p:pRg st="2" end="2"/>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1621516" grpId="0" build="p"/>
    </p:bldLst>
  </p:timing>
</p:sld>
</file>

<file path=ppt/slides/slide1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556608289" name="Google Shape;1908;p111"/>
          <p:cNvGrpSpPr/>
          <p:nvPr/>
        </p:nvGrpSpPr>
        <p:grpSpPr bwMode="auto">
          <a:xfrm>
            <a:off x="0" y="4572000"/>
            <a:ext cx="12183600" cy="2286000"/>
            <a:chOff x="0" y="4572000"/>
            <a:chExt cx="12183600" cy="2286000"/>
          </a:xfrm>
        </p:grpSpPr>
        <p:pic>
          <p:nvPicPr>
            <p:cNvPr id="1909" name="Google Shape;1909;p111"/>
            <p:cNvPicPr/>
            <p:nvPr/>
          </p:nvPicPr>
          <p:blipFill rotWithShape="1">
            <a:blip r:embed="rId3">
              <a:alphaModFix/>
            </a:blip>
            <a:stretch/>
          </p:blipFill>
          <p:spPr bwMode="auto">
            <a:xfrm>
              <a:off x="0" y="4572000"/>
              <a:ext cx="5715001" cy="2286000"/>
            </a:xfrm>
            <a:prstGeom prst="rect">
              <a:avLst/>
            </a:prstGeom>
            <a:noFill/>
            <a:ln>
              <a:noFill/>
            </a:ln>
          </p:spPr>
        </p:pic>
        <p:pic>
          <p:nvPicPr>
            <p:cNvPr id="1910" name="Google Shape;1910;p111"/>
            <p:cNvPicPr/>
            <p:nvPr/>
          </p:nvPicPr>
          <p:blipFill rotWithShape="1">
            <a:blip r:embed="rId4">
              <a:alphaModFix/>
            </a:blip>
            <a:srcRect l="9237" t="38371" r="11974" b="19882"/>
            <a:stretch/>
          </p:blipFill>
          <p:spPr bwMode="auto">
            <a:xfrm>
              <a:off x="5645640" y="4572000"/>
              <a:ext cx="6537959" cy="2286000"/>
            </a:xfrm>
            <a:prstGeom prst="rect">
              <a:avLst/>
            </a:prstGeom>
            <a:noFill/>
            <a:ln>
              <a:noFill/>
            </a:ln>
          </p:spPr>
        </p:pic>
      </p:grpSp>
      <p:sp>
        <p:nvSpPr>
          <p:cNvPr id="1730685413" name="Google Shape;1911;p111"/>
          <p:cNvSpPr txBox="1">
            <a:spLocks noGrp="1"/>
          </p:cNvSpPr>
          <p:nvPr>
            <p:ph type="body" idx="1"/>
          </p:nvPr>
        </p:nvSpPr>
        <p:spPr bwMode="auto">
          <a:xfrm>
            <a:off x="3341297" y="1752065"/>
            <a:ext cx="2754703" cy="4350280"/>
          </a:xfrm>
          <a:prstGeom prst="rect">
            <a:avLst/>
          </a:prstGeom>
          <a:solidFill>
            <a:schemeClr val="bg1"/>
          </a:solid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defRPr/>
            </a:pPr>
            <a:r>
              <a:rPr lang="en-US" sz="2400" b="1">
                <a:solidFill>
                  <a:schemeClr val="tx1"/>
                </a:solidFill>
              </a:rPr>
              <a:t>Business Objectives</a:t>
            </a:r>
            <a:endParaRPr/>
          </a:p>
          <a:p>
            <a:pPr marL="0" lvl="0" indent="0" algn="l" rtl="0">
              <a:lnSpc>
                <a:spcPct val="90000"/>
              </a:lnSpc>
              <a:spcBef>
                <a:spcPts val="600"/>
              </a:spcBef>
              <a:spcAft>
                <a:spcPts val="0"/>
              </a:spcAft>
              <a:buClr>
                <a:schemeClr val="dk1"/>
              </a:buClr>
              <a:buSzPts val="2800"/>
              <a:buNone/>
              <a:defRPr/>
            </a:pPr>
            <a:r>
              <a:rPr lang="en-MY" sz="2000">
                <a:solidFill>
                  <a:schemeClr val="tx1"/>
                </a:solidFill>
              </a:rPr>
              <a:t>For all the resources &amp; efforts put in, </a:t>
            </a:r>
            <a:r>
              <a:rPr lang="en-MY" sz="2000">
                <a:solidFill>
                  <a:srgbClr val="FF0000"/>
                </a:solidFill>
              </a:rPr>
              <a:t>Return generated &gt; costs</a:t>
            </a:r>
            <a:endParaRPr/>
          </a:p>
          <a:p>
            <a:pPr marL="268288" indent="0">
              <a:spcBef>
                <a:spcPts val="0"/>
              </a:spcBef>
              <a:buSzPts val="2800"/>
              <a:buNone/>
              <a:defRPr/>
            </a:pPr>
            <a:endParaRPr>
              <a:solidFill>
                <a:schemeClr val="tx1"/>
              </a:solidFill>
            </a:endParaRPr>
          </a:p>
        </p:txBody>
      </p:sp>
      <p:sp>
        <p:nvSpPr>
          <p:cNvPr id="1519319295" name="Google Shape;1912;p11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125</a:t>
            </a:fld>
            <a:endParaRPr/>
          </a:p>
        </p:txBody>
      </p:sp>
      <p:sp>
        <p:nvSpPr>
          <p:cNvPr id="517093659" name="Google Shape;1913;p111"/>
          <p:cNvSpPr txBox="1"/>
          <p:nvPr/>
        </p:nvSpPr>
        <p:spPr bwMode="auto">
          <a:xfrm>
            <a:off x="3545682" y="1067916"/>
            <a:ext cx="4491037"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1.5 Project Management Failure</a:t>
            </a:r>
            <a:endParaRPr sz="1700">
              <a:solidFill>
                <a:schemeClr val="dk1"/>
              </a:solidFill>
              <a:latin typeface="Arimo"/>
              <a:ea typeface="Arimo"/>
              <a:cs typeface="Arimo"/>
            </a:endParaRPr>
          </a:p>
        </p:txBody>
      </p:sp>
      <p:cxnSp>
        <p:nvCxnSpPr>
          <p:cNvPr id="398504924" name="Google Shape;1914;p111"/>
          <p:cNvCxnSpPr/>
          <p:nvPr/>
        </p:nvCxnSpPr>
        <p:spPr bwMode="auto">
          <a:xfrm rot="10800000">
            <a:off x="5279289" y="1524000"/>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891125770" name="Google Shape;1915;p111"/>
          <p:cNvSpPr txBox="1"/>
          <p:nvPr/>
        </p:nvSpPr>
        <p:spPr bwMode="auto">
          <a:xfrm>
            <a:off x="2895600" y="533400"/>
            <a:ext cx="57912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defRPr/>
            </a:pPr>
            <a:r>
              <a:rPr lang="en-US" sz="3200" b="1">
                <a:solidFill>
                  <a:schemeClr val="dk1"/>
                </a:solidFill>
                <a:latin typeface="Times New Roman"/>
                <a:ea typeface="Times New Roman"/>
                <a:cs typeface="Times New Roman"/>
              </a:rPr>
              <a:t>Introduction</a:t>
            </a:r>
            <a:endParaRPr sz="3200" b="1">
              <a:solidFill>
                <a:srgbClr val="3F3F3F"/>
              </a:solidFill>
              <a:latin typeface="Open Sans"/>
              <a:ea typeface="Open Sans"/>
              <a:cs typeface="Open Sans"/>
            </a:endParaRPr>
          </a:p>
        </p:txBody>
      </p:sp>
      <p:sp>
        <p:nvSpPr>
          <p:cNvPr id="1387234924" name="Google Shape;1924;p112"/>
          <p:cNvSpPr txBox="1"/>
          <p:nvPr/>
        </p:nvSpPr>
        <p:spPr bwMode="auto">
          <a:xfrm>
            <a:off x="293429" y="1752065"/>
            <a:ext cx="2744412" cy="4350280"/>
          </a:xfrm>
          <a:prstGeom prst="rect">
            <a:avLst/>
          </a:prstGeom>
          <a:solidFill>
            <a:schemeClr val="bg1"/>
          </a:solid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marL="0" indent="0">
              <a:spcBef>
                <a:spcPts val="0"/>
              </a:spcBef>
              <a:buSzPts val="2800"/>
              <a:buNone/>
              <a:defRPr/>
            </a:pPr>
            <a:r>
              <a:rPr lang="en-US" sz="2400" b="1"/>
              <a:t>Project Objectives</a:t>
            </a:r>
            <a:endParaRPr/>
          </a:p>
          <a:p>
            <a:pPr marL="0" indent="-188912">
              <a:buSzPts val="2400"/>
              <a:buNone/>
              <a:defRPr/>
            </a:pPr>
            <a:r>
              <a:rPr lang="en-US" sz="2000">
                <a:solidFill>
                  <a:srgbClr val="FF0000"/>
                </a:solidFill>
              </a:rPr>
              <a:t>Is the </a:t>
            </a:r>
            <a:r>
              <a:rPr lang="en-US" sz="2000" b="1">
                <a:solidFill>
                  <a:srgbClr val="FF0000"/>
                </a:solidFill>
              </a:rPr>
              <a:t>targets</a:t>
            </a:r>
            <a:r>
              <a:rPr lang="en-US" sz="2000"/>
              <a:t> </a:t>
            </a:r>
            <a:r>
              <a:rPr lang="en-US" sz="2000" b="1"/>
              <a:t>that the </a:t>
            </a:r>
            <a:r>
              <a:rPr lang="en-US" sz="2000" b="1">
                <a:solidFill>
                  <a:srgbClr val="FF0000"/>
                </a:solidFill>
              </a:rPr>
              <a:t>project team </a:t>
            </a:r>
            <a:r>
              <a:rPr lang="en-US" sz="2000" b="1"/>
              <a:t>is expected to achieve such as delivering</a:t>
            </a:r>
            <a:r>
              <a:rPr lang="en-US" sz="2000"/>
              <a:t>:</a:t>
            </a:r>
            <a:endParaRPr/>
          </a:p>
          <a:p>
            <a:pPr marL="228600" indent="-228600">
              <a:buSzPts val="2400"/>
              <a:defRPr/>
            </a:pPr>
            <a:r>
              <a:rPr lang="en-US" sz="2000" b="1"/>
              <a:t>the agreed </a:t>
            </a:r>
            <a:r>
              <a:rPr lang="en-US" sz="2000" b="1" u="sng"/>
              <a:t>functionality</a:t>
            </a:r>
            <a:r>
              <a:rPr lang="en-US" sz="2000" b="1"/>
              <a:t>,</a:t>
            </a:r>
            <a:endParaRPr/>
          </a:p>
          <a:p>
            <a:pPr marL="228600" indent="-228600">
              <a:buSzPts val="2400"/>
              <a:defRPr/>
            </a:pPr>
            <a:r>
              <a:rPr lang="en-US" sz="2000" b="1"/>
              <a:t>to the required level of </a:t>
            </a:r>
            <a:r>
              <a:rPr lang="en-US" sz="2000" b="1" u="sng"/>
              <a:t>quality</a:t>
            </a:r>
            <a:r>
              <a:rPr lang="en-US" sz="2000" b="1"/>
              <a:t>, </a:t>
            </a:r>
            <a:endParaRPr/>
          </a:p>
          <a:p>
            <a:pPr marL="228600" indent="-228600">
              <a:buSzPts val="2400"/>
              <a:defRPr/>
            </a:pPr>
            <a:r>
              <a:rPr lang="en-US" sz="2000" b="1"/>
              <a:t>on </a:t>
            </a:r>
            <a:r>
              <a:rPr lang="en-US" sz="2000" b="1" u="sng"/>
              <a:t>time</a:t>
            </a:r>
            <a:r>
              <a:rPr lang="en-US" sz="2000" b="1"/>
              <a:t> and within </a:t>
            </a:r>
            <a:r>
              <a:rPr lang="en-US" sz="2000" b="1" u="sng"/>
              <a:t>budget</a:t>
            </a:r>
            <a:endParaRPr/>
          </a:p>
        </p:txBody>
      </p:sp>
      <p:sp>
        <p:nvSpPr>
          <p:cNvPr id="19761747" name="Google Shape;1924;p112"/>
          <p:cNvSpPr txBox="1"/>
          <p:nvPr/>
        </p:nvSpPr>
        <p:spPr bwMode="auto">
          <a:xfrm>
            <a:off x="6769318" y="1706344"/>
            <a:ext cx="4359965" cy="4350280"/>
          </a:xfrm>
          <a:prstGeom prst="rect">
            <a:avLst/>
          </a:prstGeom>
          <a:solidFill>
            <a:schemeClr val="bg1"/>
          </a:solidFill>
          <a:ln>
            <a:noFill/>
          </a:ln>
        </p:spPr>
        <p:txBody>
          <a:bodyPr spcFirstLastPara="1" wrap="square" lIns="91425" tIns="45700" rIns="91425" bIns="45700" anchor="t" anchorCtr="0">
            <a:normAutofit fontScale="92500" lnSpcReduction="1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marL="0" indent="0">
              <a:buSzPts val="2400"/>
              <a:buNone/>
              <a:defRPr/>
            </a:pPr>
            <a:r>
              <a:rPr lang="en-US" b="1">
                <a:solidFill>
                  <a:srgbClr val="FF0000"/>
                </a:solidFill>
              </a:rPr>
              <a:t>3 Scenarios</a:t>
            </a:r>
            <a:endParaRPr/>
          </a:p>
          <a:p>
            <a:pPr marL="514350" indent="-514350">
              <a:buSzPts val="2400"/>
              <a:buAutoNum type="arabicPeriod"/>
              <a:defRPr/>
            </a:pPr>
            <a:r>
              <a:rPr lang="en-US"/>
              <a:t>A project </a:t>
            </a:r>
            <a:r>
              <a:rPr lang="en-US">
                <a:solidFill>
                  <a:srgbClr val="FF0000"/>
                </a:solidFill>
              </a:rPr>
              <a:t>meet</a:t>
            </a:r>
            <a:r>
              <a:rPr lang="en-US"/>
              <a:t> the project objectives and </a:t>
            </a:r>
            <a:r>
              <a:rPr lang="en-US">
                <a:solidFill>
                  <a:srgbClr val="FF0000"/>
                </a:solidFill>
              </a:rPr>
              <a:t>meet</a:t>
            </a:r>
            <a:r>
              <a:rPr lang="en-US"/>
              <a:t> the business objectives</a:t>
            </a:r>
            <a:endParaRPr/>
          </a:p>
          <a:p>
            <a:pPr marL="514350" indent="-514350">
              <a:buSzPts val="2400"/>
              <a:buFont typeface="Arial"/>
              <a:buAutoNum type="arabicPeriod"/>
              <a:defRPr/>
            </a:pPr>
            <a:r>
              <a:rPr lang="en-US"/>
              <a:t>A project </a:t>
            </a:r>
            <a:r>
              <a:rPr lang="en-US">
                <a:solidFill>
                  <a:srgbClr val="FF0000"/>
                </a:solidFill>
              </a:rPr>
              <a:t>meet</a:t>
            </a:r>
            <a:r>
              <a:rPr lang="en-US"/>
              <a:t> the project objectives but </a:t>
            </a:r>
            <a:r>
              <a:rPr lang="en-US">
                <a:solidFill>
                  <a:srgbClr val="FF0000"/>
                </a:solidFill>
              </a:rPr>
              <a:t>fail to meet </a:t>
            </a:r>
            <a:r>
              <a:rPr lang="en-US"/>
              <a:t>the business objectives</a:t>
            </a:r>
            <a:endParaRPr/>
          </a:p>
          <a:p>
            <a:pPr marL="514350" indent="-514350">
              <a:buSzPts val="2400"/>
              <a:buFont typeface="Arial"/>
              <a:buAutoNum type="arabicPeriod"/>
              <a:defRPr/>
            </a:pPr>
            <a:r>
              <a:rPr lang="en-US"/>
              <a:t>A project </a:t>
            </a:r>
            <a:r>
              <a:rPr lang="en-US">
                <a:solidFill>
                  <a:srgbClr val="FF0000"/>
                </a:solidFill>
              </a:rPr>
              <a:t>fail to meet</a:t>
            </a:r>
            <a:r>
              <a:rPr lang="en-US"/>
              <a:t> the project objectives but successfully </a:t>
            </a:r>
            <a:r>
              <a:rPr lang="en-US">
                <a:solidFill>
                  <a:srgbClr val="FF0000"/>
                </a:solidFill>
              </a:rPr>
              <a:t>meet</a:t>
            </a:r>
            <a:r>
              <a:rPr lang="en-US"/>
              <a:t> the business objectives</a:t>
            </a:r>
            <a:endParaRPr/>
          </a:p>
          <a:p>
            <a:pPr marL="514350" indent="-514350">
              <a:buSzPts val="2400"/>
              <a:buFont typeface="Arial"/>
              <a:buAutoNum type="arabicPeriod"/>
              <a:defRPr/>
            </a:pPr>
            <a:endParaRPr lang="en-US"/>
          </a:p>
          <a:p>
            <a:pPr marL="514350" indent="-514350">
              <a:buSzPts val="2400"/>
              <a:buAutoNum type="arabicPeriod"/>
              <a:defRPr/>
            </a:pPr>
            <a:endParaRPr lang="en-US"/>
          </a:p>
          <a:p>
            <a:pPr marL="514350" indent="-514350">
              <a:buSzPts val="2400"/>
              <a:buAutoNum type="arabicPeriod"/>
              <a:defRPr/>
            </a:pPr>
            <a:endParaRPr lang="en-US"/>
          </a:p>
          <a:p>
            <a:pPr marL="685800" lvl="1" indent="-76200">
              <a:buSzPts val="2400"/>
              <a:buFont typeface="Arial"/>
              <a:buNone/>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387234924">
                                            <p:txEl>
                                              <p:pRg st="0" end="0"/>
                                            </p:txEl>
                                          </p:spTgt>
                                        </p:tgtEl>
                                        <p:attrNameLst>
                                          <p:attrName>style.visibility</p:attrName>
                                        </p:attrNameLst>
                                      </p:cBhvr>
                                      <p:to>
                                        <p:strVal val="visible"/>
                                      </p:to>
                                    </p:set>
                                    <p:animEffect transition="in" filter="wipe(left)">
                                      <p:cBhvr>
                                        <p:cTn id="7" dur="500"/>
                                        <p:tgtEl>
                                          <p:spTgt spid="13872349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730685413">
                                            <p:txEl>
                                              <p:pRg st="1" end="1"/>
                                            </p:txEl>
                                          </p:spTgt>
                                        </p:tgtEl>
                                        <p:attrNameLst>
                                          <p:attrName>style.visibility</p:attrName>
                                        </p:attrNameLst>
                                      </p:cBhvr>
                                      <p:to>
                                        <p:strVal val="visible"/>
                                      </p:to>
                                    </p:set>
                                    <p:anim calcmode="lin" valueType="num">
                                      <p:cBhvr additive="base">
                                        <p:cTn id="12" dur="500" fill="hold"/>
                                        <p:tgtEl>
                                          <p:spTgt spid="173068541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7306854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9761747">
                                            <p:txEl>
                                              <p:pRg st="0" end="0"/>
                                            </p:txEl>
                                          </p:spTgt>
                                        </p:tgtEl>
                                        <p:attrNameLst>
                                          <p:attrName>style.visibility</p:attrName>
                                        </p:attrNameLst>
                                      </p:cBhvr>
                                      <p:to>
                                        <p:strVal val="visible"/>
                                      </p:to>
                                    </p:set>
                                    <p:animEffect transition="in" filter="wipe(left)">
                                      <p:cBhvr>
                                        <p:cTn id="18" dur="500"/>
                                        <p:tgtEl>
                                          <p:spTgt spid="19761747">
                                            <p:txEl>
                                              <p:pRg st="0" end="0"/>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19761747">
                                            <p:txEl>
                                              <p:pRg st="1" end="1"/>
                                            </p:txEl>
                                          </p:spTgt>
                                        </p:tgtEl>
                                        <p:attrNameLst>
                                          <p:attrName>style.visibility</p:attrName>
                                        </p:attrNameLst>
                                      </p:cBhvr>
                                      <p:to>
                                        <p:strVal val="visible"/>
                                      </p:to>
                                    </p:set>
                                    <p:animEffect transition="in" filter="wipe(left)">
                                      <p:cBhvr>
                                        <p:cTn id="21" dur="500"/>
                                        <p:tgtEl>
                                          <p:spTgt spid="19761747">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9761747">
                                            <p:txEl>
                                              <p:pRg st="2" end="2"/>
                                            </p:txEl>
                                          </p:spTgt>
                                        </p:tgtEl>
                                        <p:attrNameLst>
                                          <p:attrName>style.visibility</p:attrName>
                                        </p:attrNameLst>
                                      </p:cBhvr>
                                      <p:to>
                                        <p:strVal val="visible"/>
                                      </p:to>
                                    </p:set>
                                    <p:animEffect transition="in" filter="wipe(left)">
                                      <p:cBhvr>
                                        <p:cTn id="26" dur="500"/>
                                        <p:tgtEl>
                                          <p:spTgt spid="19761747">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9761747">
                                            <p:txEl>
                                              <p:pRg st="3" end="3"/>
                                            </p:txEl>
                                          </p:spTgt>
                                        </p:tgtEl>
                                        <p:attrNameLst>
                                          <p:attrName>style.visibility</p:attrName>
                                        </p:attrNameLst>
                                      </p:cBhvr>
                                      <p:to>
                                        <p:strVal val="visible"/>
                                      </p:to>
                                    </p:set>
                                    <p:animEffect transition="in" filter="wipe(left)">
                                      <p:cBhvr>
                                        <p:cTn id="31" dur="500"/>
                                        <p:tgtEl>
                                          <p:spTgt spid="197617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936653718" name="Google Shape;1908;p111"/>
          <p:cNvGrpSpPr/>
          <p:nvPr/>
        </p:nvGrpSpPr>
        <p:grpSpPr bwMode="auto">
          <a:xfrm>
            <a:off x="0" y="4572000"/>
            <a:ext cx="12183600" cy="2286000"/>
            <a:chOff x="0" y="4572000"/>
            <a:chExt cx="12183600" cy="2286000"/>
          </a:xfrm>
        </p:grpSpPr>
        <p:pic>
          <p:nvPicPr>
            <p:cNvPr id="1909" name="Google Shape;1909;p111"/>
            <p:cNvPicPr/>
            <p:nvPr/>
          </p:nvPicPr>
          <p:blipFill rotWithShape="1">
            <a:blip r:embed="rId3">
              <a:alphaModFix/>
            </a:blip>
            <a:stretch/>
          </p:blipFill>
          <p:spPr bwMode="auto">
            <a:xfrm>
              <a:off x="0" y="4572000"/>
              <a:ext cx="5715001" cy="2286000"/>
            </a:xfrm>
            <a:prstGeom prst="rect">
              <a:avLst/>
            </a:prstGeom>
            <a:noFill/>
            <a:ln>
              <a:noFill/>
            </a:ln>
          </p:spPr>
        </p:pic>
        <p:pic>
          <p:nvPicPr>
            <p:cNvPr id="1910" name="Google Shape;1910;p111"/>
            <p:cNvPicPr/>
            <p:nvPr/>
          </p:nvPicPr>
          <p:blipFill rotWithShape="1">
            <a:blip r:embed="rId4">
              <a:alphaModFix/>
            </a:blip>
            <a:srcRect l="9237" t="38371" r="11974" b="19882"/>
            <a:stretch/>
          </p:blipFill>
          <p:spPr bwMode="auto">
            <a:xfrm>
              <a:off x="5645640" y="4572000"/>
              <a:ext cx="6537959" cy="2286000"/>
            </a:xfrm>
            <a:prstGeom prst="rect">
              <a:avLst/>
            </a:prstGeom>
            <a:noFill/>
            <a:ln>
              <a:noFill/>
            </a:ln>
          </p:spPr>
        </p:pic>
      </p:grpSp>
      <p:sp>
        <p:nvSpPr>
          <p:cNvPr id="1500845776" name="Google Shape;1911;p111"/>
          <p:cNvSpPr txBox="1">
            <a:spLocks noGrp="1"/>
          </p:cNvSpPr>
          <p:nvPr>
            <p:ph type="body" idx="1"/>
          </p:nvPr>
        </p:nvSpPr>
        <p:spPr bwMode="auto">
          <a:xfrm>
            <a:off x="2998390" y="1736824"/>
            <a:ext cx="2754703" cy="4350280"/>
          </a:xfrm>
          <a:prstGeom prst="rect">
            <a:avLst/>
          </a:prstGeom>
          <a:solidFill>
            <a:schemeClr val="bg1"/>
          </a:solid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defRPr/>
            </a:pPr>
            <a:r>
              <a:rPr lang="en-US" sz="1800" b="1">
                <a:solidFill>
                  <a:schemeClr val="tx1"/>
                </a:solidFill>
              </a:rPr>
              <a:t>Business Objectives</a:t>
            </a:r>
            <a:endParaRPr/>
          </a:p>
          <a:p>
            <a:pPr marL="0" lvl="0" indent="0" algn="l" rtl="0">
              <a:lnSpc>
                <a:spcPct val="90000"/>
              </a:lnSpc>
              <a:spcBef>
                <a:spcPts val="600"/>
              </a:spcBef>
              <a:spcAft>
                <a:spcPts val="0"/>
              </a:spcAft>
              <a:buClr>
                <a:schemeClr val="dk1"/>
              </a:buClr>
              <a:buSzPts val="2800"/>
              <a:buNone/>
              <a:defRPr/>
            </a:pPr>
            <a:r>
              <a:rPr lang="en-MY" sz="1800">
                <a:solidFill>
                  <a:schemeClr val="tx1"/>
                </a:solidFill>
              </a:rPr>
              <a:t>For all the resources &amp; efforts put in, </a:t>
            </a:r>
            <a:r>
              <a:rPr lang="en-MY" sz="1800">
                <a:solidFill>
                  <a:srgbClr val="FF0000"/>
                </a:solidFill>
              </a:rPr>
              <a:t>Return generated &gt; costs</a:t>
            </a:r>
            <a:endParaRPr/>
          </a:p>
          <a:p>
            <a:pPr marL="268288" indent="0">
              <a:spcBef>
                <a:spcPts val="0"/>
              </a:spcBef>
              <a:buSzPts val="2800"/>
              <a:buNone/>
              <a:defRPr/>
            </a:pPr>
            <a:endParaRPr sz="1800">
              <a:solidFill>
                <a:schemeClr val="tx1"/>
              </a:solidFill>
            </a:endParaRPr>
          </a:p>
        </p:txBody>
      </p:sp>
      <p:sp>
        <p:nvSpPr>
          <p:cNvPr id="453526976" name="Google Shape;1912;p11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126</a:t>
            </a:fld>
            <a:endParaRPr/>
          </a:p>
        </p:txBody>
      </p:sp>
      <p:sp>
        <p:nvSpPr>
          <p:cNvPr id="1398137394" name="Google Shape;1913;p111"/>
          <p:cNvSpPr txBox="1"/>
          <p:nvPr/>
        </p:nvSpPr>
        <p:spPr bwMode="auto">
          <a:xfrm>
            <a:off x="3545682" y="1067916"/>
            <a:ext cx="4491037"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1.5 Project Management Failure</a:t>
            </a:r>
            <a:endParaRPr sz="1700">
              <a:solidFill>
                <a:schemeClr val="dk1"/>
              </a:solidFill>
              <a:latin typeface="Arimo"/>
              <a:ea typeface="Arimo"/>
              <a:cs typeface="Arimo"/>
            </a:endParaRPr>
          </a:p>
        </p:txBody>
      </p:sp>
      <p:cxnSp>
        <p:nvCxnSpPr>
          <p:cNvPr id="1414218200" name="Google Shape;1914;p111"/>
          <p:cNvCxnSpPr/>
          <p:nvPr/>
        </p:nvCxnSpPr>
        <p:spPr bwMode="auto">
          <a:xfrm rot="10800000">
            <a:off x="5279289" y="1524000"/>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675350931" name="Google Shape;1915;p111"/>
          <p:cNvSpPr txBox="1"/>
          <p:nvPr/>
        </p:nvSpPr>
        <p:spPr bwMode="auto">
          <a:xfrm>
            <a:off x="2895600" y="533400"/>
            <a:ext cx="57912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defRPr/>
            </a:pPr>
            <a:r>
              <a:rPr lang="en-US" sz="3200" b="1">
                <a:solidFill>
                  <a:schemeClr val="dk1"/>
                </a:solidFill>
                <a:latin typeface="Times New Roman"/>
                <a:ea typeface="Times New Roman"/>
                <a:cs typeface="Times New Roman"/>
              </a:rPr>
              <a:t>Introduction</a:t>
            </a:r>
            <a:endParaRPr sz="3200" b="1">
              <a:solidFill>
                <a:srgbClr val="3F3F3F"/>
              </a:solidFill>
              <a:latin typeface="Open Sans"/>
              <a:ea typeface="Open Sans"/>
              <a:cs typeface="Open Sans"/>
            </a:endParaRPr>
          </a:p>
        </p:txBody>
      </p:sp>
      <p:sp>
        <p:nvSpPr>
          <p:cNvPr id="582041232" name="Google Shape;1924;p112"/>
          <p:cNvSpPr txBox="1"/>
          <p:nvPr/>
        </p:nvSpPr>
        <p:spPr bwMode="auto">
          <a:xfrm>
            <a:off x="156269" y="1752065"/>
            <a:ext cx="2744412" cy="4350280"/>
          </a:xfrm>
          <a:prstGeom prst="rect">
            <a:avLst/>
          </a:prstGeom>
          <a:solidFill>
            <a:schemeClr val="bg1"/>
          </a:solid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marL="0" indent="0">
              <a:spcBef>
                <a:spcPts val="0"/>
              </a:spcBef>
              <a:buSzPts val="2800"/>
              <a:buNone/>
              <a:defRPr/>
            </a:pPr>
            <a:r>
              <a:rPr lang="en-US" sz="1800" b="1"/>
              <a:t>Project Objectives</a:t>
            </a:r>
            <a:endParaRPr/>
          </a:p>
          <a:p>
            <a:pPr marL="0" indent="-188912">
              <a:buSzPts val="2400"/>
              <a:buNone/>
              <a:defRPr/>
            </a:pPr>
            <a:r>
              <a:rPr lang="en-US" sz="1800"/>
              <a:t>Is the </a:t>
            </a:r>
            <a:r>
              <a:rPr lang="en-US" sz="1800">
                <a:solidFill>
                  <a:schemeClr val="tx1"/>
                </a:solidFill>
              </a:rPr>
              <a:t>targets</a:t>
            </a:r>
            <a:r>
              <a:rPr lang="en-US" sz="1800"/>
              <a:t> that the </a:t>
            </a:r>
            <a:r>
              <a:rPr lang="en-US" sz="1800">
                <a:solidFill>
                  <a:srgbClr val="FF0000"/>
                </a:solidFill>
              </a:rPr>
              <a:t>project team </a:t>
            </a:r>
            <a:r>
              <a:rPr lang="en-US" sz="1800"/>
              <a:t>is expected to achieve such as delivering:</a:t>
            </a:r>
            <a:endParaRPr/>
          </a:p>
          <a:p>
            <a:pPr marL="228600" indent="-228600">
              <a:buSzPts val="2400"/>
              <a:defRPr/>
            </a:pPr>
            <a:r>
              <a:rPr lang="en-US" sz="1800" b="1"/>
              <a:t>the agreed functionality,</a:t>
            </a:r>
            <a:endParaRPr/>
          </a:p>
          <a:p>
            <a:pPr marL="228600" indent="-228600">
              <a:buSzPts val="2400"/>
              <a:defRPr/>
            </a:pPr>
            <a:r>
              <a:rPr lang="en-US" sz="1800" b="1"/>
              <a:t>to the required level of quality, </a:t>
            </a:r>
            <a:endParaRPr/>
          </a:p>
          <a:p>
            <a:pPr marL="228600" indent="-228600">
              <a:buSzPts val="2400"/>
              <a:defRPr/>
            </a:pPr>
            <a:r>
              <a:rPr lang="en-US" sz="1800" b="1"/>
              <a:t>on time and within budget</a:t>
            </a:r>
            <a:endParaRPr/>
          </a:p>
        </p:txBody>
      </p:sp>
      <p:sp>
        <p:nvSpPr>
          <p:cNvPr id="1270298904" name="Google Shape;1924;p112"/>
          <p:cNvSpPr txBox="1"/>
          <p:nvPr/>
        </p:nvSpPr>
        <p:spPr bwMode="auto">
          <a:xfrm>
            <a:off x="5279289" y="1616637"/>
            <a:ext cx="4359965" cy="4997521"/>
          </a:xfrm>
          <a:prstGeom prst="rect">
            <a:avLst/>
          </a:prstGeom>
          <a:solidFill>
            <a:schemeClr val="bg1"/>
          </a:solidFill>
          <a:ln>
            <a:noFill/>
          </a:ln>
        </p:spPr>
        <p:txBody>
          <a:bodyPr spcFirstLastPara="1" wrap="square" lIns="91425" tIns="45700" rIns="91425" bIns="45700" anchor="t" anchorCtr="0">
            <a:normAutofit fontScale="925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marL="0" indent="0">
              <a:buSzPts val="2400"/>
              <a:buNone/>
              <a:defRPr/>
            </a:pPr>
            <a:r>
              <a:rPr lang="en-US" b="1">
                <a:solidFill>
                  <a:srgbClr val="FF0000"/>
                </a:solidFill>
              </a:rPr>
              <a:t>3 Scenarios</a:t>
            </a:r>
            <a:endParaRPr/>
          </a:p>
          <a:p>
            <a:pPr marL="514350" indent="-514350">
              <a:buSzPts val="2400"/>
              <a:buAutoNum type="arabicPeriod"/>
              <a:defRPr/>
            </a:pPr>
            <a:r>
              <a:rPr lang="en-US"/>
              <a:t>A project </a:t>
            </a:r>
            <a:r>
              <a:rPr lang="en-US">
                <a:solidFill>
                  <a:srgbClr val="FF0000"/>
                </a:solidFill>
              </a:rPr>
              <a:t>meet</a:t>
            </a:r>
            <a:r>
              <a:rPr lang="en-US"/>
              <a:t> the project objectives and </a:t>
            </a:r>
            <a:r>
              <a:rPr lang="en-US">
                <a:solidFill>
                  <a:srgbClr val="FF0000"/>
                </a:solidFill>
              </a:rPr>
              <a:t>meet</a:t>
            </a:r>
            <a:r>
              <a:rPr lang="en-US"/>
              <a:t> the business objectives</a:t>
            </a:r>
            <a:endParaRPr/>
          </a:p>
          <a:p>
            <a:pPr marL="514350" indent="-514350">
              <a:buSzPts val="2400"/>
              <a:buFont typeface="Arial"/>
              <a:buAutoNum type="arabicPeriod"/>
              <a:defRPr/>
            </a:pPr>
            <a:r>
              <a:rPr lang="en-US"/>
              <a:t>A project </a:t>
            </a:r>
            <a:r>
              <a:rPr lang="en-US">
                <a:solidFill>
                  <a:srgbClr val="FF0000"/>
                </a:solidFill>
              </a:rPr>
              <a:t>meet</a:t>
            </a:r>
            <a:r>
              <a:rPr lang="en-US"/>
              <a:t> the project objectives but </a:t>
            </a:r>
            <a:r>
              <a:rPr lang="en-US">
                <a:solidFill>
                  <a:srgbClr val="FF0000"/>
                </a:solidFill>
              </a:rPr>
              <a:t>fail to meet </a:t>
            </a:r>
            <a:r>
              <a:rPr lang="en-US"/>
              <a:t>the business objectives</a:t>
            </a:r>
            <a:endParaRPr/>
          </a:p>
          <a:p>
            <a:pPr marL="514350" indent="-514350">
              <a:buSzPts val="2400"/>
              <a:buFont typeface="Arial"/>
              <a:buAutoNum type="arabicPeriod"/>
              <a:defRPr/>
            </a:pPr>
            <a:r>
              <a:rPr lang="en-US"/>
              <a:t>A project </a:t>
            </a:r>
            <a:r>
              <a:rPr lang="en-US">
                <a:solidFill>
                  <a:srgbClr val="FF0000"/>
                </a:solidFill>
              </a:rPr>
              <a:t>fail to meet </a:t>
            </a:r>
            <a:r>
              <a:rPr lang="en-US"/>
              <a:t>the project objectives but successfully </a:t>
            </a:r>
            <a:r>
              <a:rPr lang="en-US">
                <a:solidFill>
                  <a:srgbClr val="FF0000"/>
                </a:solidFill>
              </a:rPr>
              <a:t>meet</a:t>
            </a:r>
            <a:r>
              <a:rPr lang="en-US"/>
              <a:t> the business objectives</a:t>
            </a:r>
            <a:endParaRPr/>
          </a:p>
          <a:p>
            <a:pPr marL="514350" indent="-514350">
              <a:buSzPts val="2400"/>
              <a:buFont typeface="Arial"/>
              <a:buAutoNum type="arabicPeriod"/>
              <a:defRPr/>
            </a:pPr>
            <a:endParaRPr lang="en-US"/>
          </a:p>
          <a:p>
            <a:pPr marL="514350" indent="-514350">
              <a:buSzPts val="2400"/>
              <a:buAutoNum type="arabicPeriod"/>
              <a:defRPr/>
            </a:pPr>
            <a:endParaRPr lang="en-US"/>
          </a:p>
          <a:p>
            <a:pPr marL="514350" indent="-514350">
              <a:buSzPts val="2400"/>
              <a:buAutoNum type="arabicPeriod"/>
              <a:defRPr/>
            </a:pPr>
            <a:endParaRPr lang="en-US"/>
          </a:p>
          <a:p>
            <a:pPr marL="685800" lvl="1" indent="-76200">
              <a:buSzPts val="2400"/>
              <a:buFont typeface="Arial"/>
              <a:buNone/>
              <a:defRPr/>
            </a:pPr>
            <a:endParaRPr lang="en-US"/>
          </a:p>
        </p:txBody>
      </p:sp>
      <p:sp>
        <p:nvSpPr>
          <p:cNvPr id="328080555" name="Google Shape;1924;p112"/>
          <p:cNvSpPr txBox="1"/>
          <p:nvPr/>
        </p:nvSpPr>
        <p:spPr bwMode="auto">
          <a:xfrm>
            <a:off x="9494519" y="3408306"/>
            <a:ext cx="2602305" cy="1007314"/>
          </a:xfrm>
          <a:prstGeom prst="rect">
            <a:avLst/>
          </a:prstGeom>
          <a:solidFill>
            <a:schemeClr val="bg1"/>
          </a:solidFill>
          <a:ln>
            <a:noFill/>
          </a:ln>
        </p:spPr>
        <p:txBody>
          <a:bodyPr spcFirstLastPara="1" wrap="square" lIns="91425" tIns="45700" rIns="91425" bIns="45700"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marL="182563" lvl="2" indent="0">
              <a:buSzPts val="2000"/>
              <a:buNone/>
              <a:defRPr/>
            </a:pPr>
            <a:r>
              <a:rPr lang="en-US">
                <a:solidFill>
                  <a:srgbClr val="0000FF"/>
                </a:solidFill>
              </a:rPr>
              <a:t>E.g. a computer game is delivered on time and within budget but then </a:t>
            </a:r>
            <a:r>
              <a:rPr lang="en-US" b="1">
                <a:solidFill>
                  <a:srgbClr val="FF0000"/>
                </a:solidFill>
              </a:rPr>
              <a:t>not selling well.</a:t>
            </a:r>
            <a:endParaRPr/>
          </a:p>
          <a:p>
            <a:pPr marL="685800" lvl="1" indent="-76200">
              <a:buSzPts val="2400"/>
              <a:buFont typeface="Arial"/>
              <a:buNone/>
              <a:defRPr/>
            </a:pPr>
            <a:endParaRPr lang="en-US">
              <a:solidFill>
                <a:srgbClr val="0000FF"/>
              </a:solidFill>
            </a:endParaRPr>
          </a:p>
        </p:txBody>
      </p:sp>
      <p:sp>
        <p:nvSpPr>
          <p:cNvPr id="1826129656" name="Google Shape;1924;p112"/>
          <p:cNvSpPr txBox="1"/>
          <p:nvPr/>
        </p:nvSpPr>
        <p:spPr bwMode="auto">
          <a:xfrm>
            <a:off x="9306432" y="4660613"/>
            <a:ext cx="2754704" cy="1007314"/>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marL="182563" lvl="2" indent="0">
              <a:buSzPts val="2000"/>
              <a:buNone/>
              <a:defRPr/>
            </a:pPr>
            <a:r>
              <a:rPr lang="en-US" sz="1800">
                <a:solidFill>
                  <a:srgbClr val="0000FF"/>
                </a:solidFill>
              </a:rPr>
              <a:t>E.g. a computer game is completed few months late and over budget but somehow </a:t>
            </a:r>
            <a:r>
              <a:rPr lang="en-US" sz="1800" b="1">
                <a:solidFill>
                  <a:srgbClr val="0000FF"/>
                </a:solidFill>
              </a:rPr>
              <a:t>benefits gained &gt; the costs</a:t>
            </a:r>
            <a:endParaRPr/>
          </a:p>
          <a:p>
            <a:pPr marL="685800" lvl="1" indent="-76200">
              <a:buSzPts val="2400"/>
              <a:buFont typeface="Arial"/>
              <a:buNone/>
              <a:defRPr/>
            </a:pPr>
            <a:endParaRPr lang="en-US" sz="1800">
              <a:solidFill>
                <a:srgbClr val="0000FF"/>
              </a:solidFill>
            </a:endParaRPr>
          </a:p>
        </p:txBody>
      </p:sp>
      <p:sp>
        <p:nvSpPr>
          <p:cNvPr id="1177230482" name="TextBox 6"/>
          <p:cNvSpPr txBox="1"/>
          <p:nvPr/>
        </p:nvSpPr>
        <p:spPr bwMode="auto">
          <a:xfrm>
            <a:off x="4702632" y="6087104"/>
            <a:ext cx="7409302" cy="400110"/>
          </a:xfrm>
          <a:prstGeom prst="rect">
            <a:avLst/>
          </a:prstGeom>
          <a:solidFill>
            <a:schemeClr val="bg1"/>
          </a:solidFill>
        </p:spPr>
        <p:txBody>
          <a:bodyPr wrap="square" rtlCol="0">
            <a:spAutoFit/>
          </a:bodyPr>
          <a:lstStyle/>
          <a:p>
            <a:pPr>
              <a:defRPr/>
            </a:pPr>
            <a:r>
              <a:rPr lang="en-MY" sz="2000" b="1">
                <a:solidFill>
                  <a:srgbClr val="FF0000"/>
                </a:solidFill>
              </a:rPr>
              <a:t>Conclusion</a:t>
            </a:r>
            <a:r>
              <a:rPr lang="en-MY" sz="2000">
                <a:solidFill>
                  <a:srgbClr val="FF0000"/>
                </a:solidFill>
              </a:rPr>
              <a:t>: Which projects you will considered as successful?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270298904">
                                            <p:txEl>
                                              <p:pRg st="0" end="0"/>
                                            </p:txEl>
                                          </p:spTgt>
                                        </p:tgtEl>
                                        <p:attrNameLst>
                                          <p:attrName>style.visibility</p:attrName>
                                        </p:attrNameLst>
                                      </p:cBhvr>
                                      <p:to>
                                        <p:strVal val="visible"/>
                                      </p:to>
                                    </p:set>
                                    <p:animEffect transition="in" filter="wipe(left)">
                                      <p:cBhvr>
                                        <p:cTn id="7" dur="500"/>
                                        <p:tgtEl>
                                          <p:spTgt spid="127029890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70298904">
                                            <p:txEl>
                                              <p:pRg st="2" end="2"/>
                                            </p:txEl>
                                          </p:spTgt>
                                        </p:tgtEl>
                                        <p:attrNameLst>
                                          <p:attrName>style.visibility</p:attrName>
                                        </p:attrNameLst>
                                      </p:cBhvr>
                                      <p:to>
                                        <p:strVal val="visible"/>
                                      </p:to>
                                    </p:set>
                                    <p:animEffect transition="in" filter="wipe(left)">
                                      <p:cBhvr>
                                        <p:cTn id="12" dur="500"/>
                                        <p:tgtEl>
                                          <p:spTgt spid="127029890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8080555"/>
                                        </p:tgtEl>
                                        <p:attrNameLst>
                                          <p:attrName>style.visibility</p:attrName>
                                        </p:attrNameLst>
                                      </p:cBhvr>
                                      <p:to>
                                        <p:strVal val="visible"/>
                                      </p:to>
                                    </p:set>
                                    <p:animEffect transition="in" filter="wipe(left)">
                                      <p:cBhvr>
                                        <p:cTn id="17" dur="500"/>
                                        <p:tgtEl>
                                          <p:spTgt spid="32808055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70298904">
                                            <p:txEl>
                                              <p:pRg st="3" end="3"/>
                                            </p:txEl>
                                          </p:spTgt>
                                        </p:tgtEl>
                                        <p:attrNameLst>
                                          <p:attrName>style.visibility</p:attrName>
                                        </p:attrNameLst>
                                      </p:cBhvr>
                                      <p:to>
                                        <p:strVal val="visible"/>
                                      </p:to>
                                    </p:set>
                                    <p:animEffect transition="in" filter="wipe(left)">
                                      <p:cBhvr>
                                        <p:cTn id="22" dur="500"/>
                                        <p:tgtEl>
                                          <p:spTgt spid="127029890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26129656"/>
                                        </p:tgtEl>
                                        <p:attrNameLst>
                                          <p:attrName>style.visibility</p:attrName>
                                        </p:attrNameLst>
                                      </p:cBhvr>
                                      <p:to>
                                        <p:strVal val="visible"/>
                                      </p:to>
                                    </p:set>
                                    <p:animEffect transition="in" filter="wipe(left)">
                                      <p:cBhvr>
                                        <p:cTn id="27" dur="500"/>
                                        <p:tgtEl>
                                          <p:spTgt spid="1826129656"/>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177230482"/>
                                        </p:tgtEl>
                                        <p:attrNameLst>
                                          <p:attrName>style.visibility</p:attrName>
                                        </p:attrNameLst>
                                      </p:cBhvr>
                                      <p:to>
                                        <p:strVal val="visible"/>
                                      </p:to>
                                    </p:set>
                                    <p:anim calcmode="lin" valueType="num">
                                      <p:cBhvr additive="base">
                                        <p:cTn id="32" dur="500" fill="hold"/>
                                        <p:tgtEl>
                                          <p:spTgt spid="1177230482"/>
                                        </p:tgtEl>
                                        <p:attrNameLst>
                                          <p:attrName>ppt_x</p:attrName>
                                        </p:attrNameLst>
                                      </p:cBhvr>
                                      <p:tavLst>
                                        <p:tav tm="0">
                                          <p:val>
                                            <p:strVal val="#ppt_x"/>
                                          </p:val>
                                        </p:tav>
                                        <p:tav tm="100000">
                                          <p:val>
                                            <p:strVal val="#ppt_x"/>
                                          </p:val>
                                        </p:tav>
                                      </p:tavLst>
                                    </p:anim>
                                    <p:anim calcmode="lin" valueType="num">
                                      <p:cBhvr additive="base">
                                        <p:cTn id="33" dur="500" fill="hold"/>
                                        <p:tgtEl>
                                          <p:spTgt spid="11772304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080555" grpId="0" animBg="1"/>
      <p:bldP spid="1826129656" grpId="0" animBg="1"/>
      <p:bldP spid="1177230482" grpId="0" animBg="1"/>
    </p:bldLst>
  </p:timing>
</p:sld>
</file>

<file path=ppt/slides/slide1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50817207" name="Google Shape;1934;p113"/>
          <p:cNvSpPr txBox="1">
            <a:spLocks noGrp="1"/>
          </p:cNvSpPr>
          <p:nvPr>
            <p:ph type="body" idx="1"/>
          </p:nvPr>
        </p:nvSpPr>
        <p:spPr bwMode="auto">
          <a:xfrm>
            <a:off x="363583" y="1784350"/>
            <a:ext cx="10972800" cy="4209959"/>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ts val="2800"/>
              <a:buChar char="•"/>
              <a:defRPr/>
            </a:pPr>
            <a:r>
              <a:rPr lang="en-US" b="1"/>
              <a:t>A project is considered fail when:</a:t>
            </a:r>
            <a:endParaRPr b="1"/>
          </a:p>
          <a:p>
            <a:pPr marL="685800" lvl="1" indent="-228600">
              <a:buSzPts val="2400"/>
              <a:defRPr/>
            </a:pPr>
            <a:r>
              <a:rPr lang="en-US"/>
              <a:t>It does not satisfy the </a:t>
            </a:r>
            <a:r>
              <a:rPr lang="en-US">
                <a:solidFill>
                  <a:srgbClr val="C00000"/>
                </a:solidFill>
              </a:rPr>
              <a:t>stakeholders requirements</a:t>
            </a:r>
            <a:endParaRPr/>
          </a:p>
          <a:p>
            <a:pPr marL="685800" lvl="1" indent="-228600">
              <a:buSzPts val="2400"/>
              <a:defRPr/>
            </a:pPr>
            <a:r>
              <a:rPr lang="en-US"/>
              <a:t>It does not meet the </a:t>
            </a:r>
            <a:r>
              <a:rPr lang="en-US">
                <a:solidFill>
                  <a:srgbClr val="C00000"/>
                </a:solidFill>
              </a:rPr>
              <a:t>project objectives </a:t>
            </a:r>
            <a:r>
              <a:rPr lang="en-US"/>
              <a:t>– time, budget, quality</a:t>
            </a:r>
            <a:endParaRPr/>
          </a:p>
          <a:p>
            <a:pPr marL="685800" lvl="1" indent="-228600">
              <a:buSzPts val="2400"/>
              <a:defRPr/>
            </a:pPr>
            <a:endParaRPr lang="en-US"/>
          </a:p>
          <a:p>
            <a:pPr marL="228600" lvl="0" indent="-228600" algn="l" rtl="0">
              <a:lnSpc>
                <a:spcPct val="80000"/>
              </a:lnSpc>
              <a:spcBef>
                <a:spcPts val="1000"/>
              </a:spcBef>
              <a:spcAft>
                <a:spcPts val="0"/>
              </a:spcAft>
              <a:buClr>
                <a:schemeClr val="dk1"/>
              </a:buClr>
              <a:buSzPts val="2800"/>
              <a:buChar char="•"/>
              <a:defRPr/>
            </a:pPr>
            <a:r>
              <a:rPr lang="en-US"/>
              <a:t>A project can be successfully delivered but then be a </a:t>
            </a:r>
            <a:r>
              <a:rPr lang="en-US">
                <a:solidFill>
                  <a:srgbClr val="C00000"/>
                </a:solidFill>
              </a:rPr>
              <a:t>business failure</a:t>
            </a:r>
            <a:endParaRPr/>
          </a:p>
          <a:p>
            <a:pPr marL="228600" lvl="0" indent="-228600" algn="l" rtl="0">
              <a:lnSpc>
                <a:spcPct val="80000"/>
              </a:lnSpc>
              <a:spcBef>
                <a:spcPts val="1000"/>
              </a:spcBef>
              <a:spcAft>
                <a:spcPts val="0"/>
              </a:spcAft>
              <a:buClr>
                <a:schemeClr val="dk1"/>
              </a:buClr>
              <a:buSzPts val="2800"/>
              <a:buChar char="•"/>
              <a:defRPr/>
            </a:pPr>
            <a:endParaRPr/>
          </a:p>
          <a:p>
            <a:pPr marL="228600" lvl="0" indent="-228600" algn="l" rtl="0">
              <a:lnSpc>
                <a:spcPct val="80000"/>
              </a:lnSpc>
              <a:spcBef>
                <a:spcPts val="1000"/>
              </a:spcBef>
              <a:spcAft>
                <a:spcPts val="0"/>
              </a:spcAft>
              <a:buClr>
                <a:schemeClr val="dk1"/>
              </a:buClr>
              <a:buSzPts val="2800"/>
              <a:buChar char="•"/>
              <a:defRPr/>
            </a:pPr>
            <a:r>
              <a:rPr lang="en-US"/>
              <a:t>On the other hand, </a:t>
            </a:r>
            <a:r>
              <a:rPr lang="en-US" b="1"/>
              <a:t>a project could be late and over budget </a:t>
            </a:r>
            <a:r>
              <a:rPr lang="en-US"/>
              <a:t>(</a:t>
            </a:r>
            <a:r>
              <a:rPr lang="en-US">
                <a:solidFill>
                  <a:srgbClr val="C00000"/>
                </a:solidFill>
              </a:rPr>
              <a:t>fail to meet project objectives</a:t>
            </a:r>
            <a:r>
              <a:rPr lang="en-US"/>
              <a:t>) </a:t>
            </a:r>
            <a:r>
              <a:rPr lang="en-US" b="1"/>
              <a:t>but</a:t>
            </a:r>
            <a:r>
              <a:rPr lang="en-US"/>
              <a:t> it generates benefits that outweigh the costs (</a:t>
            </a:r>
            <a:r>
              <a:rPr lang="en-US">
                <a:solidFill>
                  <a:srgbClr val="C00000"/>
                </a:solidFill>
              </a:rPr>
              <a:t>successfully meet the business objectives</a:t>
            </a:r>
            <a:r>
              <a:rPr lang="en-US"/>
              <a:t>).</a:t>
            </a:r>
            <a:endParaRPr/>
          </a:p>
          <a:p>
            <a:pPr marL="228600" lvl="0" indent="-228600" algn="l" rtl="0">
              <a:lnSpc>
                <a:spcPct val="80000"/>
              </a:lnSpc>
              <a:spcBef>
                <a:spcPts val="1000"/>
              </a:spcBef>
              <a:spcAft>
                <a:spcPts val="0"/>
              </a:spcAft>
              <a:buClr>
                <a:schemeClr val="dk1"/>
              </a:buClr>
              <a:buSzPts val="2800"/>
              <a:buChar char="•"/>
              <a:defRPr/>
            </a:pPr>
            <a:endParaRPr/>
          </a:p>
          <a:p>
            <a:pPr marL="228600" indent="-228600">
              <a:lnSpc>
                <a:spcPct val="110000"/>
              </a:lnSpc>
              <a:buSzPts val="2800"/>
              <a:defRPr/>
            </a:pPr>
            <a:r>
              <a:rPr lang="en-US" b="1">
                <a:solidFill>
                  <a:schemeClr val="tx1"/>
                </a:solidFill>
              </a:rPr>
              <a:t>A computer game is delivered on time and within budget but then not selling well is a kind of biz risk.</a:t>
            </a:r>
            <a:endParaRPr/>
          </a:p>
          <a:p>
            <a:pPr marL="228600" indent="-228600">
              <a:lnSpc>
                <a:spcPct val="110000"/>
              </a:lnSpc>
              <a:buSzPts val="2800"/>
              <a:defRPr/>
            </a:pPr>
            <a:endParaRPr lang="en-US">
              <a:solidFill>
                <a:srgbClr val="FF0000"/>
              </a:solidFill>
            </a:endParaRPr>
          </a:p>
          <a:p>
            <a:pPr marL="228600" indent="-228600">
              <a:lnSpc>
                <a:spcPct val="110000"/>
              </a:lnSpc>
              <a:buSzPts val="2800"/>
              <a:defRPr/>
            </a:pPr>
            <a:endParaRPr lang="en-US">
              <a:solidFill>
                <a:srgbClr val="FF0000"/>
              </a:solidFill>
            </a:endParaRPr>
          </a:p>
        </p:txBody>
      </p:sp>
      <p:sp>
        <p:nvSpPr>
          <p:cNvPr id="1779340514" name="Google Shape;1935;p113"/>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127</a:t>
            </a:fld>
            <a:endParaRPr/>
          </a:p>
        </p:txBody>
      </p:sp>
      <p:sp>
        <p:nvSpPr>
          <p:cNvPr id="282584279" name="Google Shape;1936;p113"/>
          <p:cNvSpPr txBox="1"/>
          <p:nvPr/>
        </p:nvSpPr>
        <p:spPr bwMode="auto">
          <a:xfrm>
            <a:off x="3545682" y="1067916"/>
            <a:ext cx="4491037"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1.5 Project Management Failure</a:t>
            </a:r>
            <a:endParaRPr sz="1700">
              <a:solidFill>
                <a:schemeClr val="dk1"/>
              </a:solidFill>
              <a:latin typeface="Arimo"/>
              <a:ea typeface="Arimo"/>
              <a:cs typeface="Arimo"/>
            </a:endParaRPr>
          </a:p>
        </p:txBody>
      </p:sp>
      <p:cxnSp>
        <p:nvCxnSpPr>
          <p:cNvPr id="185900298" name="Google Shape;1937;p113"/>
          <p:cNvCxnSpPr/>
          <p:nvPr/>
        </p:nvCxnSpPr>
        <p:spPr bwMode="auto">
          <a:xfrm rot="10800000">
            <a:off x="5279289" y="1524000"/>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731242239" name="Google Shape;1938;p113"/>
          <p:cNvSpPr txBox="1"/>
          <p:nvPr/>
        </p:nvSpPr>
        <p:spPr bwMode="auto">
          <a:xfrm>
            <a:off x="2667000" y="533400"/>
            <a:ext cx="62484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defRPr/>
            </a:pPr>
            <a:r>
              <a:rPr lang="en-US" sz="3200" b="1">
                <a:solidFill>
                  <a:schemeClr val="dk1"/>
                </a:solidFill>
                <a:latin typeface="Calibri"/>
                <a:ea typeface="Calibri"/>
                <a:cs typeface="Calibri"/>
              </a:rPr>
              <a:t>Project Failure vs Business Failure</a:t>
            </a:r>
            <a:endParaRPr sz="3200" b="1">
              <a:solidFill>
                <a:srgbClr val="3F3F3F"/>
              </a:solidFill>
              <a:latin typeface="Open Sans"/>
              <a:ea typeface="Open Sans"/>
              <a:cs typeface="Open Sans"/>
            </a:endParaRPr>
          </a:p>
        </p:txBody>
      </p:sp>
      <p:sp>
        <p:nvSpPr>
          <p:cNvPr id="487265472" name="TextBox 1"/>
          <p:cNvSpPr txBox="1"/>
          <p:nvPr/>
        </p:nvSpPr>
        <p:spPr bwMode="auto">
          <a:xfrm>
            <a:off x="4589868" y="5662252"/>
            <a:ext cx="7438845" cy="1111073"/>
          </a:xfrm>
          <a:prstGeom prst="rect">
            <a:avLst/>
          </a:prstGeom>
          <a:noFill/>
        </p:spPr>
        <p:txBody>
          <a:bodyPr wrap="square" rtlCol="0">
            <a:spAutoFit/>
          </a:bodyPr>
          <a:lstStyle/>
          <a:p>
            <a:pPr marL="612775" indent="-342900">
              <a:lnSpc>
                <a:spcPct val="110000"/>
              </a:lnSpc>
              <a:spcBef>
                <a:spcPts val="500"/>
              </a:spcBef>
              <a:buClr>
                <a:schemeClr val="dk1"/>
              </a:buClr>
              <a:buSzPts val="2400"/>
              <a:buFont typeface="+mj-lt"/>
              <a:buAutoNum type="arabicPeriod"/>
              <a:defRPr/>
            </a:pPr>
            <a:r>
              <a:rPr lang="en-US" sz="1800"/>
              <a:t>Carry out market surveys before </a:t>
            </a:r>
            <a:r>
              <a:rPr lang="en-US" sz="1800">
                <a:solidFill>
                  <a:srgbClr val="FF0000"/>
                </a:solidFill>
              </a:rPr>
              <a:t>____</a:t>
            </a:r>
            <a:r>
              <a:rPr lang="en-US" sz="1800"/>
              <a:t> </a:t>
            </a:r>
            <a:endParaRPr/>
          </a:p>
          <a:p>
            <a:pPr marL="612775" indent="-342900">
              <a:lnSpc>
                <a:spcPct val="110000"/>
              </a:lnSpc>
              <a:spcBef>
                <a:spcPts val="500"/>
              </a:spcBef>
              <a:buClr>
                <a:schemeClr val="dk1"/>
              </a:buClr>
              <a:buSzPts val="2400"/>
              <a:buFont typeface="+mj-lt"/>
              <a:buAutoNum type="arabicPeriod"/>
              <a:defRPr/>
            </a:pPr>
            <a:r>
              <a:rPr lang="en-US" sz="1800"/>
              <a:t>Carry out competitor analysis</a:t>
            </a:r>
            <a:endParaRPr/>
          </a:p>
          <a:p>
            <a:pPr marL="612775" indent="-342900">
              <a:lnSpc>
                <a:spcPct val="110000"/>
              </a:lnSpc>
              <a:spcBef>
                <a:spcPts val="500"/>
              </a:spcBef>
              <a:buClr>
                <a:schemeClr val="dk1"/>
              </a:buClr>
              <a:buSzPts val="2400"/>
              <a:buFont typeface="+mj-lt"/>
              <a:buAutoNum type="arabicPeriod"/>
              <a:defRPr/>
            </a:pPr>
            <a:r>
              <a:rPr lang="en-US" sz="1800"/>
              <a:t>Develop prototype and let potential users test drive the prototype</a:t>
            </a:r>
            <a:endParaRPr/>
          </a:p>
        </p:txBody>
      </p:sp>
      <p:sp>
        <p:nvSpPr>
          <p:cNvPr id="1989216445" name="TextBox 2"/>
          <p:cNvSpPr txBox="1"/>
          <p:nvPr/>
        </p:nvSpPr>
        <p:spPr bwMode="auto">
          <a:xfrm>
            <a:off x="4866196" y="5358749"/>
            <a:ext cx="4049204" cy="400110"/>
          </a:xfrm>
          <a:prstGeom prst="rect">
            <a:avLst/>
          </a:prstGeom>
          <a:noFill/>
        </p:spPr>
        <p:txBody>
          <a:bodyPr wrap="square" rtlCol="0">
            <a:spAutoFit/>
          </a:bodyPr>
          <a:lstStyle/>
          <a:p>
            <a:pPr>
              <a:defRPr/>
            </a:pPr>
            <a:r>
              <a:rPr lang="en-MY" sz="2000" b="1" u="sng">
                <a:solidFill>
                  <a:srgbClr val="FF0000"/>
                </a:solidFill>
              </a:rPr>
              <a:t>How</a:t>
            </a:r>
            <a:r>
              <a:rPr lang="en-MY" sz="2000" b="1">
                <a:solidFill>
                  <a:srgbClr val="FF0000"/>
                </a:solidFill>
              </a:rPr>
              <a:t> to reduce business risks?</a:t>
            </a:r>
            <a:endParaRPr lang="en-MY"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950817207">
                                            <p:txEl>
                                              <p:pRg st="0" end="0"/>
                                            </p:txEl>
                                          </p:spTgt>
                                        </p:tgtEl>
                                        <p:attrNameLst>
                                          <p:attrName>style.visibility</p:attrName>
                                        </p:attrNameLst>
                                      </p:cBhvr>
                                      <p:to>
                                        <p:strVal val="visible"/>
                                      </p:to>
                                    </p:set>
                                    <p:animEffect transition="in" filter="wipe(left)">
                                      <p:cBhvr>
                                        <p:cTn id="7" dur="500"/>
                                        <p:tgtEl>
                                          <p:spTgt spid="9508172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50817207">
                                            <p:txEl>
                                              <p:pRg st="8" end="8"/>
                                            </p:txEl>
                                          </p:spTgt>
                                        </p:tgtEl>
                                        <p:attrNameLst>
                                          <p:attrName>style.visibility</p:attrName>
                                        </p:attrNameLst>
                                      </p:cBhvr>
                                      <p:to>
                                        <p:strVal val="visible"/>
                                      </p:to>
                                    </p:set>
                                    <p:anim calcmode="lin" valueType="num">
                                      <p:cBhvr additive="base">
                                        <p:cTn id="12" dur="500" fill="hold"/>
                                        <p:tgtEl>
                                          <p:spTgt spid="950817207">
                                            <p:txEl>
                                              <p:pRg st="8" end="8"/>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95081720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989216445"/>
                                        </p:tgtEl>
                                        <p:attrNameLst>
                                          <p:attrName>style.visibility</p:attrName>
                                        </p:attrNameLst>
                                      </p:cBhvr>
                                      <p:to>
                                        <p:strVal val="visible"/>
                                      </p:to>
                                    </p:set>
                                    <p:animEffect transition="in" filter="wipe(left)">
                                      <p:cBhvr>
                                        <p:cTn id="18" dur="500"/>
                                        <p:tgtEl>
                                          <p:spTgt spid="198921644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87265472">
                                            <p:txEl>
                                              <p:pRg st="0" end="0"/>
                                            </p:txEl>
                                          </p:spTgt>
                                        </p:tgtEl>
                                        <p:attrNameLst>
                                          <p:attrName>style.visibility</p:attrName>
                                        </p:attrNameLst>
                                      </p:cBhvr>
                                      <p:to>
                                        <p:strVal val="visible"/>
                                      </p:to>
                                    </p:set>
                                    <p:animEffect transition="in" filter="wipe(left)">
                                      <p:cBhvr>
                                        <p:cTn id="23" dur="500"/>
                                        <p:tgtEl>
                                          <p:spTgt spid="487265472">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87265472">
                                            <p:txEl>
                                              <p:pRg st="1" end="1"/>
                                            </p:txEl>
                                          </p:spTgt>
                                        </p:tgtEl>
                                        <p:attrNameLst>
                                          <p:attrName>style.visibility</p:attrName>
                                        </p:attrNameLst>
                                      </p:cBhvr>
                                      <p:to>
                                        <p:strVal val="visible"/>
                                      </p:to>
                                    </p:set>
                                    <p:animEffect transition="in" filter="wipe(left)">
                                      <p:cBhvr>
                                        <p:cTn id="28" dur="500"/>
                                        <p:tgtEl>
                                          <p:spTgt spid="487265472">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487265472">
                                            <p:txEl>
                                              <p:pRg st="2" end="2"/>
                                            </p:txEl>
                                          </p:spTgt>
                                        </p:tgtEl>
                                        <p:attrNameLst>
                                          <p:attrName>style.visibility</p:attrName>
                                        </p:attrNameLst>
                                      </p:cBhvr>
                                      <p:to>
                                        <p:strVal val="visible"/>
                                      </p:to>
                                    </p:set>
                                    <p:anim calcmode="lin" valueType="num">
                                      <p:cBhvr additive="base">
                                        <p:cTn id="33" dur="500" fill="hold"/>
                                        <p:tgtEl>
                                          <p:spTgt spid="487265472">
                                            <p:txEl>
                                              <p:pRg st="2" end="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8726547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9216445" grpId="0"/>
    </p:bldLst>
  </p:timing>
</p:sld>
</file>

<file path=ppt/slides/slide1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62020020" name="Google Shape;1944;p114"/>
          <p:cNvSpPr/>
          <p:nvPr/>
        </p:nvSpPr>
        <p:spPr bwMode="auto">
          <a:xfrm>
            <a:off x="3245353" y="1922114"/>
            <a:ext cx="2134793" cy="2134793"/>
          </a:xfrm>
          <a:prstGeom prst="ellipse">
            <a:avLst/>
          </a:prstGeom>
          <a:solidFill>
            <a:schemeClr val="accent2">
              <a:alpha val="4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938544674" name="Google Shape;1945;p114"/>
          <p:cNvSpPr/>
          <p:nvPr/>
        </p:nvSpPr>
        <p:spPr bwMode="auto">
          <a:xfrm>
            <a:off x="3346337" y="2011775"/>
            <a:ext cx="384262" cy="384262"/>
          </a:xfrm>
          <a:prstGeom prst="ellipse">
            <a:avLst/>
          </a:prstGeom>
          <a:solidFill>
            <a:schemeClr val="accent2">
              <a:alpha val="4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nvGrpSpPr>
          <p:cNvPr id="1608671094" name="Google Shape;1946;p114"/>
          <p:cNvGrpSpPr/>
          <p:nvPr/>
        </p:nvGrpSpPr>
        <p:grpSpPr bwMode="auto">
          <a:xfrm>
            <a:off x="3805238" y="2011364"/>
            <a:ext cx="2055812" cy="384175"/>
            <a:chOff x="2166863" y="91376"/>
            <a:chExt cx="2055390" cy="384262"/>
          </a:xfrm>
        </p:grpSpPr>
        <p:sp>
          <p:nvSpPr>
            <p:cNvPr id="1947" name="Google Shape;1947;p114"/>
            <p:cNvSpPr/>
            <p:nvPr/>
          </p:nvSpPr>
          <p:spPr bwMode="auto">
            <a:xfrm>
              <a:off x="2166863" y="91376"/>
              <a:ext cx="2055390" cy="384262"/>
            </a:xfrm>
            <a:prstGeom prst="rect">
              <a:avLst/>
            </a:prstGeom>
            <a:noFill/>
            <a:ln w="9525" cap="flat" cmpd="sng">
              <a:solidFill>
                <a:schemeClr val="dk1">
                  <a:alpha val="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948" name="Google Shape;1948;p114"/>
            <p:cNvSpPr/>
            <p:nvPr/>
          </p:nvSpPr>
          <p:spPr bwMode="auto">
            <a:xfrm>
              <a:off x="2166863" y="91376"/>
              <a:ext cx="2055390" cy="384262"/>
            </a:xfrm>
            <a:prstGeom prst="rect">
              <a:avLst/>
            </a:prstGeom>
            <a:noFill/>
            <a:ln>
              <a:noFill/>
            </a:ln>
          </p:spPr>
          <p:txBody>
            <a:bodyPr spcFirstLastPara="1" wrap="square" lIns="0" tIns="22850" rIns="0" bIns="22850" anchor="ctr" anchorCtr="0">
              <a:noAutofit/>
            </a:bodyPr>
            <a:lstStyle/>
            <a:p>
              <a:pPr marL="0" marR="0" lvl="0" indent="0" algn="l" rtl="0">
                <a:lnSpc>
                  <a:spcPct val="90000"/>
                </a:lnSpc>
                <a:spcBef>
                  <a:spcPts val="0"/>
                </a:spcBef>
                <a:spcAft>
                  <a:spcPts val="0"/>
                </a:spcAft>
                <a:buNone/>
                <a:defRPr/>
              </a:pPr>
              <a:r>
                <a:rPr lang="en-US" sz="1800" b="1">
                  <a:solidFill>
                    <a:schemeClr val="dk1"/>
                  </a:solidFill>
                  <a:latin typeface="Calibri"/>
                  <a:ea typeface="Calibri"/>
                  <a:cs typeface="Calibri"/>
                </a:rPr>
                <a:t>Project Objectives</a:t>
              </a:r>
              <a:endParaRPr/>
            </a:p>
          </p:txBody>
        </p:sp>
      </p:grpSp>
      <p:grpSp>
        <p:nvGrpSpPr>
          <p:cNvPr id="783801119" name="Google Shape;1949;p114"/>
          <p:cNvGrpSpPr/>
          <p:nvPr/>
        </p:nvGrpSpPr>
        <p:grpSpPr bwMode="auto">
          <a:xfrm>
            <a:off x="3886198" y="2701643"/>
            <a:ext cx="2055813" cy="230188"/>
            <a:chOff x="2514594" y="517349"/>
            <a:chExt cx="2055390" cy="231233"/>
          </a:xfrm>
        </p:grpSpPr>
        <p:sp>
          <p:nvSpPr>
            <p:cNvPr id="1950" name="Google Shape;1950;p114"/>
            <p:cNvSpPr/>
            <p:nvPr/>
          </p:nvSpPr>
          <p:spPr bwMode="auto">
            <a:xfrm>
              <a:off x="2514594" y="517349"/>
              <a:ext cx="2055390" cy="231233"/>
            </a:xfrm>
            <a:prstGeom prst="rect">
              <a:avLst/>
            </a:prstGeom>
            <a:noFill/>
            <a:ln w="9525" cap="flat" cmpd="sng">
              <a:solidFill>
                <a:schemeClr val="dk1">
                  <a:alpha val="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951" name="Google Shape;1951;p114"/>
            <p:cNvSpPr/>
            <p:nvPr/>
          </p:nvSpPr>
          <p:spPr bwMode="auto">
            <a:xfrm>
              <a:off x="2514594" y="517349"/>
              <a:ext cx="2055390" cy="231233"/>
            </a:xfrm>
            <a:prstGeom prst="rect">
              <a:avLst/>
            </a:prstGeom>
            <a:noFill/>
            <a:ln>
              <a:noFill/>
            </a:ln>
          </p:spPr>
          <p:txBody>
            <a:bodyPr spcFirstLastPara="1" wrap="square" lIns="0" tIns="17775" rIns="0" bIns="17775" anchor="ctr" anchorCtr="0">
              <a:noAutofit/>
            </a:bodyPr>
            <a:lstStyle/>
            <a:p>
              <a:pPr marL="0" marR="0" lvl="0" indent="0" algn="l" rtl="0">
                <a:lnSpc>
                  <a:spcPct val="90000"/>
                </a:lnSpc>
                <a:spcBef>
                  <a:spcPts val="0"/>
                </a:spcBef>
                <a:spcAft>
                  <a:spcPts val="0"/>
                </a:spcAft>
                <a:buNone/>
                <a:defRPr/>
              </a:pPr>
              <a:r>
                <a:rPr lang="en-US" sz="1400">
                  <a:solidFill>
                    <a:schemeClr val="dk1"/>
                  </a:solidFill>
                  <a:latin typeface="Calibri"/>
                  <a:ea typeface="Calibri"/>
                  <a:cs typeface="Calibri"/>
                </a:rPr>
                <a:t>Functionality (scope)</a:t>
              </a:r>
              <a:endParaRPr/>
            </a:p>
          </p:txBody>
        </p:sp>
      </p:grpSp>
      <p:sp>
        <p:nvSpPr>
          <p:cNvPr id="545937612" name="Google Shape;1952;p114"/>
          <p:cNvSpPr/>
          <p:nvPr/>
        </p:nvSpPr>
        <p:spPr bwMode="auto">
          <a:xfrm>
            <a:off x="3736218" y="2516584"/>
            <a:ext cx="73783" cy="73783"/>
          </a:xfrm>
          <a:prstGeom prst="ellipse">
            <a:avLst/>
          </a:prstGeom>
          <a:solidFill>
            <a:schemeClr val="accent2">
              <a:alpha val="4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nvGrpSpPr>
          <p:cNvPr id="10052871" name="Google Shape;1953;p114"/>
          <p:cNvGrpSpPr/>
          <p:nvPr/>
        </p:nvGrpSpPr>
        <p:grpSpPr bwMode="auto">
          <a:xfrm>
            <a:off x="3886198" y="2438398"/>
            <a:ext cx="2055816" cy="534989"/>
            <a:chOff x="2514591" y="516181"/>
            <a:chExt cx="2055393" cy="537418"/>
          </a:xfrm>
        </p:grpSpPr>
        <p:sp>
          <p:nvSpPr>
            <p:cNvPr id="1954" name="Google Shape;1954;p114"/>
            <p:cNvSpPr/>
            <p:nvPr/>
          </p:nvSpPr>
          <p:spPr bwMode="auto">
            <a:xfrm>
              <a:off x="2514594" y="822366"/>
              <a:ext cx="2055390" cy="231233"/>
            </a:xfrm>
            <a:prstGeom prst="rect">
              <a:avLst/>
            </a:prstGeom>
            <a:noFill/>
            <a:ln w="9525" cap="flat" cmpd="sng">
              <a:solidFill>
                <a:schemeClr val="dk1">
                  <a:alpha val="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955" name="Google Shape;1955;p114"/>
            <p:cNvSpPr/>
            <p:nvPr/>
          </p:nvSpPr>
          <p:spPr bwMode="auto">
            <a:xfrm>
              <a:off x="2514591" y="516181"/>
              <a:ext cx="2055390" cy="231233"/>
            </a:xfrm>
            <a:prstGeom prst="rect">
              <a:avLst/>
            </a:prstGeom>
            <a:noFill/>
            <a:ln>
              <a:noFill/>
            </a:ln>
          </p:spPr>
          <p:txBody>
            <a:bodyPr spcFirstLastPara="1" wrap="square" lIns="0" tIns="17775" rIns="0" bIns="17775" anchor="ctr" anchorCtr="0">
              <a:noAutofit/>
            </a:bodyPr>
            <a:lstStyle/>
            <a:p>
              <a:pPr marL="0" marR="0" lvl="0" indent="0" algn="l" rtl="0">
                <a:lnSpc>
                  <a:spcPct val="90000"/>
                </a:lnSpc>
                <a:spcBef>
                  <a:spcPts val="0"/>
                </a:spcBef>
                <a:spcAft>
                  <a:spcPts val="0"/>
                </a:spcAft>
                <a:buNone/>
                <a:defRPr/>
              </a:pPr>
              <a:r>
                <a:rPr lang="en-US" sz="1400" b="1">
                  <a:solidFill>
                    <a:schemeClr val="dk1"/>
                  </a:solidFill>
                  <a:latin typeface="Calibri"/>
                  <a:ea typeface="Calibri"/>
                  <a:cs typeface="Calibri"/>
                </a:rPr>
                <a:t>Time</a:t>
              </a:r>
              <a:endParaRPr b="1"/>
            </a:p>
          </p:txBody>
        </p:sp>
      </p:grpSp>
      <p:sp>
        <p:nvSpPr>
          <p:cNvPr id="463270667" name="Google Shape;1956;p114"/>
          <p:cNvSpPr/>
          <p:nvPr/>
        </p:nvSpPr>
        <p:spPr bwMode="auto">
          <a:xfrm>
            <a:off x="3736218" y="2821601"/>
            <a:ext cx="73783" cy="73783"/>
          </a:xfrm>
          <a:prstGeom prst="ellipse">
            <a:avLst/>
          </a:prstGeom>
          <a:solidFill>
            <a:schemeClr val="accent2">
              <a:alpha val="4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nvGrpSpPr>
          <p:cNvPr id="1054117745" name="Google Shape;1957;p114"/>
          <p:cNvGrpSpPr/>
          <p:nvPr/>
        </p:nvGrpSpPr>
        <p:grpSpPr bwMode="auto">
          <a:xfrm>
            <a:off x="3886201" y="3048001"/>
            <a:ext cx="2055813" cy="231775"/>
            <a:chOff x="2514594" y="1127384"/>
            <a:chExt cx="2055390" cy="231233"/>
          </a:xfrm>
        </p:grpSpPr>
        <p:sp>
          <p:nvSpPr>
            <p:cNvPr id="1958" name="Google Shape;1958;p114"/>
            <p:cNvSpPr/>
            <p:nvPr/>
          </p:nvSpPr>
          <p:spPr bwMode="auto">
            <a:xfrm>
              <a:off x="2514594" y="1127384"/>
              <a:ext cx="2055390" cy="231233"/>
            </a:xfrm>
            <a:prstGeom prst="rect">
              <a:avLst/>
            </a:prstGeom>
            <a:noFill/>
            <a:ln w="9525" cap="flat" cmpd="sng">
              <a:solidFill>
                <a:schemeClr val="dk1">
                  <a:alpha val="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959" name="Google Shape;1959;p114"/>
            <p:cNvSpPr/>
            <p:nvPr/>
          </p:nvSpPr>
          <p:spPr bwMode="auto">
            <a:xfrm>
              <a:off x="2514594" y="1127384"/>
              <a:ext cx="2055390" cy="231233"/>
            </a:xfrm>
            <a:prstGeom prst="rect">
              <a:avLst/>
            </a:prstGeom>
            <a:noFill/>
            <a:ln>
              <a:noFill/>
            </a:ln>
          </p:spPr>
          <p:txBody>
            <a:bodyPr spcFirstLastPara="1" wrap="square" lIns="0" tIns="17775" rIns="0" bIns="17775" anchor="ctr" anchorCtr="0">
              <a:noAutofit/>
            </a:bodyPr>
            <a:lstStyle/>
            <a:p>
              <a:pPr marL="0" marR="0" lvl="0" indent="0" algn="l" rtl="0">
                <a:lnSpc>
                  <a:spcPct val="90000"/>
                </a:lnSpc>
                <a:spcBef>
                  <a:spcPts val="0"/>
                </a:spcBef>
                <a:spcAft>
                  <a:spcPts val="0"/>
                </a:spcAft>
                <a:buNone/>
                <a:defRPr/>
              </a:pPr>
              <a:r>
                <a:rPr lang="en-US" sz="1400" b="1">
                  <a:solidFill>
                    <a:schemeClr val="dk1"/>
                  </a:solidFill>
                  <a:latin typeface="Calibri"/>
                  <a:ea typeface="Calibri"/>
                  <a:cs typeface="Calibri"/>
                </a:rPr>
                <a:t>Budget</a:t>
              </a:r>
              <a:endParaRPr b="1"/>
            </a:p>
          </p:txBody>
        </p:sp>
      </p:grpSp>
      <p:sp>
        <p:nvSpPr>
          <p:cNvPr id="1449580365" name="Google Shape;1960;p114"/>
          <p:cNvSpPr/>
          <p:nvPr/>
        </p:nvSpPr>
        <p:spPr bwMode="auto">
          <a:xfrm>
            <a:off x="3736218" y="3126618"/>
            <a:ext cx="73783" cy="73783"/>
          </a:xfrm>
          <a:prstGeom prst="ellipse">
            <a:avLst/>
          </a:prstGeom>
          <a:solidFill>
            <a:schemeClr val="accent2">
              <a:alpha val="4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nvGrpSpPr>
          <p:cNvPr id="1773382977" name="Google Shape;1961;p114"/>
          <p:cNvGrpSpPr/>
          <p:nvPr/>
        </p:nvGrpSpPr>
        <p:grpSpPr bwMode="auto">
          <a:xfrm>
            <a:off x="3886201" y="3352801"/>
            <a:ext cx="2055813" cy="231775"/>
            <a:chOff x="2514594" y="1432401"/>
            <a:chExt cx="2055390" cy="231233"/>
          </a:xfrm>
        </p:grpSpPr>
        <p:sp>
          <p:nvSpPr>
            <p:cNvPr id="1962" name="Google Shape;1962;p114"/>
            <p:cNvSpPr/>
            <p:nvPr/>
          </p:nvSpPr>
          <p:spPr bwMode="auto">
            <a:xfrm>
              <a:off x="2514594" y="1432401"/>
              <a:ext cx="2055390" cy="231233"/>
            </a:xfrm>
            <a:prstGeom prst="rect">
              <a:avLst/>
            </a:prstGeom>
            <a:noFill/>
            <a:ln w="9525" cap="flat" cmpd="sng">
              <a:solidFill>
                <a:schemeClr val="dk1">
                  <a:alpha val="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963" name="Google Shape;1963;p114"/>
            <p:cNvSpPr/>
            <p:nvPr/>
          </p:nvSpPr>
          <p:spPr bwMode="auto">
            <a:xfrm>
              <a:off x="2514594" y="1432401"/>
              <a:ext cx="2055390" cy="231233"/>
            </a:xfrm>
            <a:prstGeom prst="rect">
              <a:avLst/>
            </a:prstGeom>
            <a:noFill/>
            <a:ln>
              <a:noFill/>
            </a:ln>
          </p:spPr>
          <p:txBody>
            <a:bodyPr spcFirstLastPara="1" wrap="square" lIns="0" tIns="17775" rIns="0" bIns="17775" anchor="ctr" anchorCtr="0">
              <a:noAutofit/>
            </a:bodyPr>
            <a:lstStyle/>
            <a:p>
              <a:pPr marL="0" marR="0" lvl="0" indent="0" algn="l" rtl="0">
                <a:lnSpc>
                  <a:spcPct val="90000"/>
                </a:lnSpc>
                <a:spcBef>
                  <a:spcPts val="0"/>
                </a:spcBef>
                <a:spcAft>
                  <a:spcPts val="0"/>
                </a:spcAft>
                <a:buNone/>
                <a:defRPr/>
              </a:pPr>
              <a:r>
                <a:rPr lang="en-US" sz="1400" b="1">
                  <a:solidFill>
                    <a:schemeClr val="dk1"/>
                  </a:solidFill>
                  <a:latin typeface="Calibri"/>
                  <a:ea typeface="Calibri"/>
                  <a:cs typeface="Calibri"/>
                </a:rPr>
                <a:t>Quality</a:t>
              </a:r>
              <a:endParaRPr b="1"/>
            </a:p>
          </p:txBody>
        </p:sp>
      </p:grpSp>
      <p:sp>
        <p:nvSpPr>
          <p:cNvPr id="66655241" name="Google Shape;1964;p114"/>
          <p:cNvSpPr/>
          <p:nvPr/>
        </p:nvSpPr>
        <p:spPr bwMode="auto">
          <a:xfrm>
            <a:off x="3252279" y="3962401"/>
            <a:ext cx="2134793" cy="2134793"/>
          </a:xfrm>
          <a:prstGeom prst="ellipse">
            <a:avLst/>
          </a:prstGeom>
          <a:solidFill>
            <a:schemeClr val="accent2">
              <a:alpha val="4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18404730" name="Google Shape;1965;p114"/>
          <p:cNvSpPr/>
          <p:nvPr/>
        </p:nvSpPr>
        <p:spPr bwMode="auto">
          <a:xfrm>
            <a:off x="3353264" y="4187738"/>
            <a:ext cx="384262" cy="384262"/>
          </a:xfrm>
          <a:prstGeom prst="ellipse">
            <a:avLst/>
          </a:prstGeom>
          <a:solidFill>
            <a:schemeClr val="accent2">
              <a:alpha val="4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grpSp>
        <p:nvGrpSpPr>
          <p:cNvPr id="551783397" name="Google Shape;1966;p114"/>
          <p:cNvGrpSpPr/>
          <p:nvPr/>
        </p:nvGrpSpPr>
        <p:grpSpPr bwMode="auto">
          <a:xfrm>
            <a:off x="3811588" y="4187826"/>
            <a:ext cx="2055812" cy="384175"/>
            <a:chOff x="2166863" y="2017151"/>
            <a:chExt cx="2055390" cy="384262"/>
          </a:xfrm>
        </p:grpSpPr>
        <p:sp>
          <p:nvSpPr>
            <p:cNvPr id="1967" name="Google Shape;1967;p114"/>
            <p:cNvSpPr/>
            <p:nvPr/>
          </p:nvSpPr>
          <p:spPr bwMode="auto">
            <a:xfrm>
              <a:off x="2166863" y="2017151"/>
              <a:ext cx="2055390" cy="384262"/>
            </a:xfrm>
            <a:prstGeom prst="rect">
              <a:avLst/>
            </a:prstGeom>
            <a:noFill/>
            <a:ln w="9525" cap="flat" cmpd="sng">
              <a:solidFill>
                <a:schemeClr val="dk1">
                  <a:alpha val="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968" name="Google Shape;1968;p114"/>
            <p:cNvSpPr/>
            <p:nvPr/>
          </p:nvSpPr>
          <p:spPr bwMode="auto">
            <a:xfrm>
              <a:off x="2166863" y="2017151"/>
              <a:ext cx="2055390" cy="384262"/>
            </a:xfrm>
            <a:prstGeom prst="rect">
              <a:avLst/>
            </a:prstGeom>
            <a:noFill/>
            <a:ln>
              <a:noFill/>
            </a:ln>
          </p:spPr>
          <p:txBody>
            <a:bodyPr spcFirstLastPara="1" wrap="square" lIns="0" tIns="22850" rIns="0" bIns="22850" anchor="ctr" anchorCtr="0">
              <a:noAutofit/>
            </a:bodyPr>
            <a:lstStyle/>
            <a:p>
              <a:pPr marL="0" marR="0" lvl="0" indent="0" algn="l" rtl="0">
                <a:lnSpc>
                  <a:spcPct val="90000"/>
                </a:lnSpc>
                <a:spcBef>
                  <a:spcPts val="0"/>
                </a:spcBef>
                <a:spcAft>
                  <a:spcPts val="0"/>
                </a:spcAft>
                <a:buNone/>
                <a:defRPr/>
              </a:pPr>
              <a:r>
                <a:rPr lang="en-US" sz="1800" b="1">
                  <a:solidFill>
                    <a:schemeClr val="dk1"/>
                  </a:solidFill>
                  <a:latin typeface="Calibri"/>
                  <a:ea typeface="Calibri"/>
                  <a:cs typeface="Calibri"/>
                </a:rPr>
                <a:t>Business Objectives</a:t>
              </a:r>
              <a:endParaRPr/>
            </a:p>
          </p:txBody>
        </p:sp>
      </p:grpSp>
      <p:grpSp>
        <p:nvGrpSpPr>
          <p:cNvPr id="109667935" name="Google Shape;1969;p114"/>
          <p:cNvGrpSpPr/>
          <p:nvPr/>
        </p:nvGrpSpPr>
        <p:grpSpPr bwMode="auto">
          <a:xfrm>
            <a:off x="3538538" y="4929188"/>
            <a:ext cx="2055812" cy="220662"/>
            <a:chOff x="2166863" y="2401415"/>
            <a:chExt cx="2055390" cy="221130"/>
          </a:xfrm>
        </p:grpSpPr>
        <p:sp>
          <p:nvSpPr>
            <p:cNvPr id="1970" name="Google Shape;1970;p114"/>
            <p:cNvSpPr/>
            <p:nvPr/>
          </p:nvSpPr>
          <p:spPr bwMode="auto">
            <a:xfrm>
              <a:off x="2166863" y="2401415"/>
              <a:ext cx="2055390" cy="221130"/>
            </a:xfrm>
            <a:prstGeom prst="rect">
              <a:avLst/>
            </a:prstGeom>
            <a:noFill/>
            <a:ln w="9525" cap="flat" cmpd="sng">
              <a:solidFill>
                <a:schemeClr val="dk1">
                  <a:alpha val="0"/>
                </a:scheme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sp>
          <p:nvSpPr>
            <p:cNvPr id="1971" name="Google Shape;1971;p114"/>
            <p:cNvSpPr/>
            <p:nvPr/>
          </p:nvSpPr>
          <p:spPr bwMode="auto">
            <a:xfrm>
              <a:off x="2166863" y="2401415"/>
              <a:ext cx="2055390" cy="221130"/>
            </a:xfrm>
            <a:prstGeom prst="rect">
              <a:avLst/>
            </a:prstGeom>
            <a:noFill/>
            <a:ln>
              <a:noFill/>
            </a:ln>
          </p:spPr>
          <p:txBody>
            <a:bodyPr spcFirstLastPara="1" wrap="square" lIns="0" tIns="17775" rIns="0" bIns="17775" anchor="ctr" anchorCtr="0">
              <a:noAutofit/>
            </a:bodyPr>
            <a:lstStyle/>
            <a:p>
              <a:pPr marL="0" marR="0" lvl="0" indent="0" algn="l" rtl="0">
                <a:lnSpc>
                  <a:spcPct val="90000"/>
                </a:lnSpc>
                <a:spcBef>
                  <a:spcPts val="0"/>
                </a:spcBef>
                <a:spcAft>
                  <a:spcPts val="0"/>
                </a:spcAft>
                <a:buNone/>
                <a:defRPr/>
              </a:pPr>
              <a:r>
                <a:rPr lang="en-US" sz="1400" b="1">
                  <a:solidFill>
                    <a:schemeClr val="dk1"/>
                  </a:solidFill>
                  <a:latin typeface="Calibri"/>
                  <a:ea typeface="Calibri"/>
                  <a:cs typeface="Calibri"/>
                </a:rPr>
                <a:t>Benefits &gt; costs</a:t>
              </a:r>
              <a:endParaRPr b="1"/>
            </a:p>
          </p:txBody>
        </p:sp>
      </p:grpSp>
      <p:sp>
        <p:nvSpPr>
          <p:cNvPr id="1947261431" name="Google Shape;1972;p114"/>
          <p:cNvSpPr/>
          <p:nvPr/>
        </p:nvSpPr>
        <p:spPr bwMode="auto">
          <a:xfrm>
            <a:off x="3736218" y="3431418"/>
            <a:ext cx="73783" cy="73783"/>
          </a:xfrm>
          <a:prstGeom prst="ellipse">
            <a:avLst/>
          </a:prstGeom>
          <a:solidFill>
            <a:schemeClr val="accent2">
              <a:alpha val="49803"/>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defRPr/>
            </a:pPr>
            <a:endParaRPr/>
          </a:p>
        </p:txBody>
      </p:sp>
      <p:pic>
        <p:nvPicPr>
          <p:cNvPr id="209585366" name="Google Shape;1973;p114" descr="http://gtmediaproductions.com/zack/assets/images/graphics/File%20for%20offline%20printing/BONUS/extra%20bonus/curved_arrow-green.png"/>
          <p:cNvPicPr/>
          <p:nvPr/>
        </p:nvPicPr>
        <p:blipFill rotWithShape="1">
          <a:blip r:embed="rId3">
            <a:alphaModFix/>
          </a:blip>
          <a:stretch/>
        </p:blipFill>
        <p:spPr bwMode="auto">
          <a:xfrm>
            <a:off x="4107051" y="5097464"/>
            <a:ext cx="925325" cy="693737"/>
          </a:xfrm>
          <a:prstGeom prst="rect">
            <a:avLst/>
          </a:prstGeom>
          <a:noFill/>
          <a:ln>
            <a:noFill/>
          </a:ln>
        </p:spPr>
      </p:pic>
      <p:sp>
        <p:nvSpPr>
          <p:cNvPr id="378465726" name="Google Shape;1974;p114"/>
          <p:cNvSpPr txBox="1"/>
          <p:nvPr/>
        </p:nvSpPr>
        <p:spPr bwMode="auto">
          <a:xfrm>
            <a:off x="5032376" y="5334000"/>
            <a:ext cx="1825625" cy="369888"/>
          </a:xfrm>
          <a:prstGeom prst="rect">
            <a:avLst/>
          </a:prstGeom>
          <a:solidFill>
            <a:schemeClr val="dk1"/>
          </a:solidFill>
          <a:ln w="19050"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defRPr/>
            </a:pPr>
            <a:r>
              <a:rPr lang="en-US" sz="1800">
                <a:solidFill>
                  <a:schemeClr val="lt1"/>
                </a:solidFill>
                <a:latin typeface="Calibri"/>
                <a:ea typeface="Calibri"/>
                <a:cs typeface="Calibri"/>
              </a:rPr>
              <a:t>External Factors</a:t>
            </a:r>
            <a:endParaRPr/>
          </a:p>
        </p:txBody>
      </p:sp>
      <p:sp>
        <p:nvSpPr>
          <p:cNvPr id="1045154594" name="Google Shape;1975;p114"/>
          <p:cNvSpPr/>
          <p:nvPr/>
        </p:nvSpPr>
        <p:spPr bwMode="auto">
          <a:xfrm>
            <a:off x="6019800" y="2133600"/>
            <a:ext cx="457200" cy="1828800"/>
          </a:xfrm>
          <a:prstGeom prst="rightBrace">
            <a:avLst>
              <a:gd name="adj1" fmla="val 8333"/>
              <a:gd name="adj2" fmla="val 50000"/>
            </a:avLst>
          </a:prstGeom>
          <a:noFill/>
          <a:ln w="1905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a:solidFill>
                <a:schemeClr val="dk1"/>
              </a:solidFill>
              <a:latin typeface="Calibri"/>
              <a:ea typeface="Calibri"/>
              <a:cs typeface="Calibri"/>
            </a:endParaRPr>
          </a:p>
        </p:txBody>
      </p:sp>
      <p:sp>
        <p:nvSpPr>
          <p:cNvPr id="813124192" name="Google Shape;1976;p114"/>
          <p:cNvSpPr txBox="1"/>
          <p:nvPr/>
        </p:nvSpPr>
        <p:spPr bwMode="auto">
          <a:xfrm>
            <a:off x="6539945" y="2895384"/>
            <a:ext cx="1825625" cy="369888"/>
          </a:xfrm>
          <a:prstGeom prst="rect">
            <a:avLst/>
          </a:prstGeom>
          <a:solidFill>
            <a:schemeClr val="dk1"/>
          </a:solidFill>
          <a:ln w="19050" cap="flat" cmpd="sng">
            <a:solidFill>
              <a:schemeClr val="l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defRPr/>
            </a:pPr>
            <a:r>
              <a:rPr lang="en-US" sz="1800">
                <a:solidFill>
                  <a:schemeClr val="lt1"/>
                </a:solidFill>
                <a:latin typeface="Calibri"/>
                <a:ea typeface="Calibri"/>
                <a:cs typeface="Calibri"/>
              </a:rPr>
              <a:t>Internal Factors</a:t>
            </a:r>
            <a:endParaRPr/>
          </a:p>
        </p:txBody>
      </p:sp>
      <p:sp>
        <p:nvSpPr>
          <p:cNvPr id="259531457" name="Google Shape;1977;p114"/>
          <p:cNvSpPr txBox="1"/>
          <p:nvPr/>
        </p:nvSpPr>
        <p:spPr bwMode="auto">
          <a:xfrm>
            <a:off x="7603433" y="4629545"/>
            <a:ext cx="4333461" cy="461624"/>
          </a:xfrm>
          <a:prstGeom prst="rect">
            <a:avLst/>
          </a:prstGeom>
          <a:noFill/>
          <a:ln w="9525" cap="flat" cmpd="sng">
            <a:no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defRPr/>
            </a:pPr>
            <a:r>
              <a:rPr lang="en-US" sz="2400">
                <a:solidFill>
                  <a:srgbClr val="FF0000"/>
                </a:solidFill>
                <a:latin typeface="Calibri"/>
                <a:ea typeface="Calibri"/>
                <a:cs typeface="Calibri"/>
              </a:rPr>
              <a:t>How to reduce business risks?</a:t>
            </a:r>
            <a:endParaRPr lang="en-US" sz="2400">
              <a:solidFill>
                <a:srgbClr val="FF0000"/>
              </a:solidFill>
            </a:endParaRPr>
          </a:p>
        </p:txBody>
      </p:sp>
      <p:sp>
        <p:nvSpPr>
          <p:cNvPr id="1338523358" name="Google Shape;1979;p114"/>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128</a:t>
            </a:fld>
            <a:endParaRPr/>
          </a:p>
        </p:txBody>
      </p:sp>
      <p:sp>
        <p:nvSpPr>
          <p:cNvPr id="361376276" name="Google Shape;1980;p114"/>
          <p:cNvSpPr txBox="1"/>
          <p:nvPr/>
        </p:nvSpPr>
        <p:spPr bwMode="auto">
          <a:xfrm>
            <a:off x="3545682" y="1067916"/>
            <a:ext cx="4491037"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1.5 Project Management Failure</a:t>
            </a:r>
            <a:endParaRPr sz="1700">
              <a:solidFill>
                <a:schemeClr val="dk1"/>
              </a:solidFill>
              <a:latin typeface="Arimo"/>
              <a:ea typeface="Arimo"/>
              <a:cs typeface="Arimo"/>
            </a:endParaRPr>
          </a:p>
        </p:txBody>
      </p:sp>
      <p:cxnSp>
        <p:nvCxnSpPr>
          <p:cNvPr id="264829168" name="Google Shape;1981;p114"/>
          <p:cNvCxnSpPr/>
          <p:nvPr/>
        </p:nvCxnSpPr>
        <p:spPr bwMode="auto">
          <a:xfrm rot="10800000">
            <a:off x="5279289" y="1524000"/>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279005952" name="Google Shape;1982;p114"/>
          <p:cNvSpPr txBox="1"/>
          <p:nvPr/>
        </p:nvSpPr>
        <p:spPr bwMode="auto">
          <a:xfrm>
            <a:off x="2667000" y="533400"/>
            <a:ext cx="62484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defRPr/>
            </a:pPr>
            <a:r>
              <a:rPr lang="en-US" sz="3200" b="1">
                <a:solidFill>
                  <a:schemeClr val="dk1"/>
                </a:solidFill>
                <a:latin typeface="Calibri"/>
                <a:ea typeface="Calibri"/>
                <a:cs typeface="Calibri"/>
              </a:rPr>
              <a:t>Project Failure vs Business Failure</a:t>
            </a:r>
            <a:endParaRPr sz="3200" b="1">
              <a:solidFill>
                <a:srgbClr val="3F3F3F"/>
              </a:solidFill>
              <a:latin typeface="Open Sans"/>
              <a:ea typeface="Open Sans"/>
              <a:cs typeface="Open Sans"/>
            </a:endParaRPr>
          </a:p>
        </p:txBody>
      </p:sp>
      <p:sp>
        <p:nvSpPr>
          <p:cNvPr id="648847067" name="TextBox 2"/>
          <p:cNvSpPr txBox="1"/>
          <p:nvPr/>
        </p:nvSpPr>
        <p:spPr bwMode="auto">
          <a:xfrm>
            <a:off x="3401805" y="5754467"/>
            <a:ext cx="3967367" cy="982833"/>
          </a:xfrm>
          <a:prstGeom prst="rect">
            <a:avLst/>
          </a:prstGeom>
          <a:noFill/>
        </p:spPr>
        <p:txBody>
          <a:bodyPr wrap="square">
            <a:spAutoFit/>
          </a:bodyPr>
          <a:lstStyle/>
          <a:p>
            <a:pPr>
              <a:lnSpc>
                <a:spcPct val="110000"/>
              </a:lnSpc>
              <a:buSzPts val="2800"/>
              <a:defRPr/>
            </a:pPr>
            <a:r>
              <a:rPr lang="en-MY" sz="1800">
                <a:solidFill>
                  <a:srgbClr val="FF0000"/>
                </a:solidFill>
              </a:rPr>
              <a:t>(</a:t>
            </a:r>
            <a:r>
              <a:rPr lang="en-US" sz="1800">
                <a:solidFill>
                  <a:srgbClr val="FF0000"/>
                </a:solidFill>
              </a:rPr>
              <a:t>E.g. a computer game is delivered on time and within budget but then </a:t>
            </a:r>
            <a:r>
              <a:rPr lang="en-US" sz="1800" b="1">
                <a:solidFill>
                  <a:srgbClr val="FF0000"/>
                </a:solidFill>
              </a:rPr>
              <a:t>not selling well</a:t>
            </a:r>
            <a:r>
              <a:rPr lang="en-US" sz="1800">
                <a:solidFill>
                  <a:srgbClr val="FF0000"/>
                </a:solidFill>
              </a:rPr>
              <a:t>)</a:t>
            </a:r>
            <a:endParaRPr/>
          </a:p>
        </p:txBody>
      </p:sp>
      <p:sp>
        <p:nvSpPr>
          <p:cNvPr id="9531499" name="Google Shape;1977;p114"/>
          <p:cNvSpPr txBox="1"/>
          <p:nvPr/>
        </p:nvSpPr>
        <p:spPr bwMode="auto">
          <a:xfrm>
            <a:off x="7708246" y="5081905"/>
            <a:ext cx="3474416" cy="1200288"/>
          </a:xfrm>
          <a:prstGeom prst="rect">
            <a:avLst/>
          </a:prstGeom>
          <a:noFill/>
          <a:ln w="9525" cap="flat" cmpd="sng">
            <a:solidFill>
              <a:schemeClr val="accent3"/>
            </a:solidFill>
            <a:prstDash val="solid"/>
            <a:miter lim="800000"/>
            <a:headEnd type="none" w="sm" len="sm"/>
            <a:tailEnd type="none" w="sm" len="sm"/>
          </a:ln>
        </p:spPr>
        <p:txBody>
          <a:bodyPr spcFirstLastPara="1" wrap="square" lIns="91425" tIns="45700" rIns="91425" bIns="45700" anchor="t" anchorCtr="0">
            <a:spAutoFit/>
          </a:bodyPr>
          <a:lstStyle/>
          <a:p>
            <a:pPr marR="0" lvl="0" algn="l" rtl="0">
              <a:spcBef>
                <a:spcPts val="0"/>
              </a:spcBef>
              <a:spcAft>
                <a:spcPts val="0"/>
              </a:spcAft>
              <a:buClr>
                <a:schemeClr val="lt1"/>
              </a:buClr>
              <a:buSzPts val="1800"/>
              <a:defRPr/>
            </a:pPr>
            <a:r>
              <a:rPr lang="en-US" sz="1800">
                <a:solidFill>
                  <a:srgbClr val="FF0000"/>
                </a:solidFill>
                <a:latin typeface="Calibri"/>
                <a:ea typeface="Calibri"/>
                <a:cs typeface="Calibri"/>
              </a:rPr>
              <a:t>- Market Survey</a:t>
            </a:r>
            <a:endParaRPr sz="1800">
              <a:solidFill>
                <a:srgbClr val="FF0000"/>
              </a:solidFill>
            </a:endParaRPr>
          </a:p>
          <a:p>
            <a:pPr marR="0" lvl="0" algn="l" rtl="0">
              <a:spcBef>
                <a:spcPts val="0"/>
              </a:spcBef>
              <a:spcAft>
                <a:spcPts val="0"/>
              </a:spcAft>
              <a:buClr>
                <a:schemeClr val="lt1"/>
              </a:buClr>
              <a:buSzPts val="1800"/>
              <a:defRPr/>
            </a:pPr>
            <a:r>
              <a:rPr lang="en-US" sz="1800">
                <a:solidFill>
                  <a:srgbClr val="FF0000"/>
                </a:solidFill>
                <a:latin typeface="Calibri"/>
                <a:ea typeface="Calibri"/>
                <a:cs typeface="Calibri"/>
              </a:rPr>
              <a:t>- Competitor Analysis</a:t>
            </a:r>
            <a:endParaRPr sz="1800">
              <a:solidFill>
                <a:srgbClr val="FF0000"/>
              </a:solidFill>
            </a:endParaRPr>
          </a:p>
          <a:p>
            <a:pPr marR="0" lvl="0" algn="l" rtl="0">
              <a:spcBef>
                <a:spcPts val="0"/>
              </a:spcBef>
              <a:spcAft>
                <a:spcPts val="0"/>
              </a:spcAft>
              <a:buClr>
                <a:schemeClr val="lt1"/>
              </a:buClr>
              <a:buSzPts val="1800"/>
              <a:defRPr/>
            </a:pPr>
            <a:r>
              <a:rPr lang="en-US" sz="1800">
                <a:solidFill>
                  <a:srgbClr val="FF0000"/>
                </a:solidFill>
              </a:rPr>
              <a:t>- evaluation by potential users.</a:t>
            </a:r>
            <a:endParaRPr/>
          </a:p>
          <a:p>
            <a:pPr marR="0" lvl="0" algn="l" rtl="0">
              <a:spcBef>
                <a:spcPts val="0"/>
              </a:spcBef>
              <a:spcAft>
                <a:spcPts val="0"/>
              </a:spcAft>
              <a:buClr>
                <a:schemeClr val="lt1"/>
              </a:buClr>
              <a:buSzPts val="1800"/>
              <a:defRPr/>
            </a:pPr>
            <a:r>
              <a:rPr lang="en-US" sz="1800">
                <a:solidFill>
                  <a:srgbClr val="FF0000"/>
                </a:solidFill>
              </a:rPr>
              <a:t>- </a:t>
            </a:r>
            <a:r>
              <a:rPr lang="en-US" sz="1800">
                <a:solidFill>
                  <a:srgbClr val="FF0000"/>
                </a:solidFill>
                <a:latin typeface="Calibri"/>
                <a:ea typeface="Calibri"/>
                <a:cs typeface="Calibri"/>
              </a:rPr>
              <a:t>etc.</a:t>
            </a:r>
            <a:endParaRPr sz="1800">
              <a:solidFill>
                <a:srgbClr val="FF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279005952"/>
                                        </p:tgtEl>
                                        <p:attrNameLst>
                                          <p:attrName>style.visibility</p:attrName>
                                        </p:attrNameLst>
                                      </p:cBhvr>
                                      <p:to>
                                        <p:strVal val="visible"/>
                                      </p:to>
                                    </p:set>
                                    <p:anim calcmode="lin" valueType="num">
                                      <p:cBhvr additive="base">
                                        <p:cTn id="7" dur="500" fill="hold"/>
                                        <p:tgtEl>
                                          <p:spTgt spid="1279005952"/>
                                        </p:tgtEl>
                                        <p:attrNameLst>
                                          <p:attrName>ppt_x</p:attrName>
                                        </p:attrNameLst>
                                      </p:cBhvr>
                                      <p:tavLst>
                                        <p:tav tm="0">
                                          <p:val>
                                            <p:strVal val="#ppt_x"/>
                                          </p:val>
                                        </p:tav>
                                        <p:tav tm="100000">
                                          <p:val>
                                            <p:strVal val="#ppt_x"/>
                                          </p:val>
                                        </p:tav>
                                      </p:tavLst>
                                    </p:anim>
                                    <p:anim calcmode="lin" valueType="num">
                                      <p:cBhvr additive="base">
                                        <p:cTn id="8" dur="500" fill="hold"/>
                                        <p:tgtEl>
                                          <p:spTgt spid="1279005952"/>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608671094"/>
                                        </p:tgtEl>
                                        <p:attrNameLst>
                                          <p:attrName>style.visibility</p:attrName>
                                        </p:attrNameLst>
                                      </p:cBhvr>
                                      <p:to>
                                        <p:strVal val="visible"/>
                                      </p:to>
                                    </p:set>
                                    <p:animEffect transition="in" filter="wipe(left)">
                                      <p:cBhvr>
                                        <p:cTn id="13" dur="500"/>
                                        <p:tgtEl>
                                          <p:spTgt spid="160867109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813124192"/>
                                        </p:tgtEl>
                                        <p:attrNameLst>
                                          <p:attrName>style.visibility</p:attrName>
                                        </p:attrNameLst>
                                      </p:cBhvr>
                                      <p:to>
                                        <p:strVal val="visible"/>
                                      </p:to>
                                    </p:set>
                                    <p:animEffect transition="in" filter="wipe(left)">
                                      <p:cBhvr>
                                        <p:cTn id="18" dur="500"/>
                                        <p:tgtEl>
                                          <p:spTgt spid="813124192"/>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045154594"/>
                                        </p:tgtEl>
                                        <p:attrNameLst>
                                          <p:attrName>style.visibility</p:attrName>
                                        </p:attrNameLst>
                                      </p:cBhvr>
                                      <p:to>
                                        <p:strVal val="visible"/>
                                      </p:to>
                                    </p:set>
                                    <p:animEffect transition="in" filter="wipe(left)">
                                      <p:cBhvr>
                                        <p:cTn id="21" dur="500"/>
                                        <p:tgtEl>
                                          <p:spTgt spid="104515459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551783397"/>
                                        </p:tgtEl>
                                        <p:attrNameLst>
                                          <p:attrName>style.visibility</p:attrName>
                                        </p:attrNameLst>
                                      </p:cBhvr>
                                      <p:to>
                                        <p:strVal val="visible"/>
                                      </p:to>
                                    </p:set>
                                    <p:animEffect transition="in" filter="wipe(left)">
                                      <p:cBhvr>
                                        <p:cTn id="26" dur="500"/>
                                        <p:tgtEl>
                                          <p:spTgt spid="55178339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78465726"/>
                                        </p:tgtEl>
                                        <p:attrNameLst>
                                          <p:attrName>style.visibility</p:attrName>
                                        </p:attrNameLst>
                                      </p:cBhvr>
                                      <p:to>
                                        <p:strVal val="visible"/>
                                      </p:to>
                                    </p:set>
                                    <p:animEffect transition="in" filter="wipe(left)">
                                      <p:cBhvr>
                                        <p:cTn id="31" dur="500"/>
                                        <p:tgtEl>
                                          <p:spTgt spid="378465726"/>
                                        </p:tgtEl>
                                      </p:cBhvr>
                                    </p:animEffect>
                                  </p:childTnLst>
                                </p:cTn>
                              </p:par>
                              <p:par>
                                <p:cTn id="32" presetID="22" presetClass="entr" presetSubtype="8" fill="hold" nodeType="withEffect">
                                  <p:stCondLst>
                                    <p:cond delay="0"/>
                                  </p:stCondLst>
                                  <p:childTnLst>
                                    <p:set>
                                      <p:cBhvr>
                                        <p:cTn id="33" dur="1" fill="hold">
                                          <p:stCondLst>
                                            <p:cond delay="0"/>
                                          </p:stCondLst>
                                        </p:cTn>
                                        <p:tgtEl>
                                          <p:spTgt spid="209585366"/>
                                        </p:tgtEl>
                                        <p:attrNameLst>
                                          <p:attrName>style.visibility</p:attrName>
                                        </p:attrNameLst>
                                      </p:cBhvr>
                                      <p:to>
                                        <p:strVal val="visible"/>
                                      </p:to>
                                    </p:set>
                                    <p:animEffect transition="in" filter="wipe(left)">
                                      <p:cBhvr>
                                        <p:cTn id="34" dur="500"/>
                                        <p:tgtEl>
                                          <p:spTgt spid="20958536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48847067"/>
                                        </p:tgtEl>
                                        <p:attrNameLst>
                                          <p:attrName>style.visibility</p:attrName>
                                        </p:attrNameLst>
                                      </p:cBhvr>
                                      <p:to>
                                        <p:strVal val="visible"/>
                                      </p:to>
                                    </p:set>
                                    <p:animEffect transition="in" filter="wipe(left)">
                                      <p:cBhvr>
                                        <p:cTn id="39" dur="500"/>
                                        <p:tgtEl>
                                          <p:spTgt spid="64884706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59531457"/>
                                        </p:tgtEl>
                                        <p:attrNameLst>
                                          <p:attrName>style.visibility</p:attrName>
                                        </p:attrNameLst>
                                      </p:cBhvr>
                                      <p:to>
                                        <p:strVal val="visible"/>
                                      </p:to>
                                    </p:set>
                                    <p:animEffect transition="in" filter="wipe(left)">
                                      <p:cBhvr>
                                        <p:cTn id="44" dur="500"/>
                                        <p:tgtEl>
                                          <p:spTgt spid="259531457"/>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9531499"/>
                                        </p:tgtEl>
                                        <p:attrNameLst>
                                          <p:attrName>style.visibility</p:attrName>
                                        </p:attrNameLst>
                                      </p:cBhvr>
                                      <p:to>
                                        <p:strVal val="visible"/>
                                      </p:to>
                                    </p:set>
                                    <p:anim calcmode="lin" valueType="num">
                                      <p:cBhvr additive="base">
                                        <p:cTn id="49" dur="500" fill="hold"/>
                                        <p:tgtEl>
                                          <p:spTgt spid="9531499"/>
                                        </p:tgtEl>
                                        <p:attrNameLst>
                                          <p:attrName>ppt_x</p:attrName>
                                        </p:attrNameLst>
                                      </p:cBhvr>
                                      <p:tavLst>
                                        <p:tav tm="0">
                                          <p:val>
                                            <p:strVal val="#ppt_x"/>
                                          </p:val>
                                        </p:tav>
                                        <p:tav tm="100000">
                                          <p:val>
                                            <p:strVal val="#ppt_x"/>
                                          </p:val>
                                        </p:tav>
                                      </p:tavLst>
                                    </p:anim>
                                    <p:anim calcmode="lin" valueType="num">
                                      <p:cBhvr additive="base">
                                        <p:cTn id="50" dur="500" fill="hold"/>
                                        <p:tgtEl>
                                          <p:spTgt spid="95314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465726" grpId="0" animBg="1"/>
      <p:bldP spid="1045154594" grpId="0" animBg="1"/>
      <p:bldP spid="813124192" grpId="0" animBg="1"/>
      <p:bldP spid="259531457" grpId="0" animBg="1"/>
      <p:bldP spid="1279005952" grpId="0"/>
      <p:bldP spid="648847067" grpId="0"/>
      <p:bldP spid="9531499" grpId="0" animBg="1"/>
    </p:bldLst>
  </p:timing>
</p:sld>
</file>

<file path=ppt/slides/slide1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55696527" name="Google Shape;1987;p115"/>
          <p:cNvSpPr txBox="1">
            <a:spLocks noGrp="1"/>
          </p:cNvSpPr>
          <p:nvPr>
            <p:ph type="body" idx="1"/>
          </p:nvPr>
        </p:nvSpPr>
        <p:spPr bwMode="auto">
          <a:xfrm>
            <a:off x="533400" y="1956375"/>
            <a:ext cx="11049000" cy="422058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defRPr/>
            </a:pPr>
            <a:r>
              <a:rPr lang="en-US"/>
              <a:t>I</a:t>
            </a:r>
            <a:r>
              <a:rPr lang="en-US" sz="2800"/>
              <a:t>nadequacies or defects in </a:t>
            </a:r>
            <a:r>
              <a:rPr lang="en-US" sz="2800">
                <a:solidFill>
                  <a:schemeClr val="tx1"/>
                </a:solidFill>
              </a:rPr>
              <a:t>project management </a:t>
            </a:r>
            <a:r>
              <a:rPr lang="en-US" sz="2800"/>
              <a:t>will contribute to project failures.</a:t>
            </a:r>
            <a:endParaRPr/>
          </a:p>
          <a:p>
            <a:pPr marL="228600" lvl="0" indent="-228600" algn="l" rtl="0">
              <a:lnSpc>
                <a:spcPct val="90000"/>
              </a:lnSpc>
              <a:spcBef>
                <a:spcPts val="1000"/>
              </a:spcBef>
              <a:spcAft>
                <a:spcPts val="0"/>
              </a:spcAft>
              <a:buClr>
                <a:schemeClr val="dk1"/>
              </a:buClr>
              <a:buSzPts val="2800"/>
              <a:buChar char="•"/>
              <a:defRPr/>
            </a:pPr>
            <a:r>
              <a:rPr lang="en-US"/>
              <a:t>Failures in project management may be categorized according to 3 levels:</a:t>
            </a:r>
            <a:endParaRPr sz="2800"/>
          </a:p>
          <a:p>
            <a:pPr marL="914400" lvl="1" indent="-457200" algn="l" rtl="0">
              <a:lnSpc>
                <a:spcPct val="90000"/>
              </a:lnSpc>
              <a:spcBef>
                <a:spcPts val="500"/>
              </a:spcBef>
              <a:spcAft>
                <a:spcPts val="0"/>
              </a:spcAft>
              <a:buClr>
                <a:schemeClr val="dk1"/>
              </a:buClr>
              <a:buSzPts val="2400"/>
              <a:buFont typeface="Calibri"/>
              <a:buAutoNum type="alphaLcPeriod"/>
              <a:defRPr/>
            </a:pPr>
            <a:r>
              <a:rPr lang="en-US" sz="2400"/>
              <a:t>Level 1 - Failures in the Project Management Context</a:t>
            </a:r>
            <a:endParaRPr/>
          </a:p>
          <a:p>
            <a:pPr marL="914400" lvl="1" indent="-457200" algn="l" rtl="0">
              <a:lnSpc>
                <a:spcPct val="90000"/>
              </a:lnSpc>
              <a:spcBef>
                <a:spcPts val="500"/>
              </a:spcBef>
              <a:spcAft>
                <a:spcPts val="0"/>
              </a:spcAft>
              <a:buClr>
                <a:schemeClr val="dk1"/>
              </a:buClr>
              <a:buSzPts val="2400"/>
              <a:buFont typeface="Calibri"/>
              <a:buAutoNum type="alphaLcPeriod"/>
              <a:defRPr/>
            </a:pPr>
            <a:r>
              <a:rPr lang="en-US" sz="2400"/>
              <a:t>Level 2 - Failures in the Project Management System</a:t>
            </a:r>
            <a:endParaRPr/>
          </a:p>
          <a:p>
            <a:pPr marL="914400" lvl="1" indent="-457200" algn="l" rtl="0">
              <a:lnSpc>
                <a:spcPct val="90000"/>
              </a:lnSpc>
              <a:spcBef>
                <a:spcPts val="500"/>
              </a:spcBef>
              <a:spcAft>
                <a:spcPts val="0"/>
              </a:spcAft>
              <a:buClr>
                <a:schemeClr val="dk1"/>
              </a:buClr>
              <a:buSzPts val="2400"/>
              <a:buFont typeface="Calibri"/>
              <a:buAutoNum type="alphaLcPeriod"/>
              <a:defRPr/>
            </a:pPr>
            <a:r>
              <a:rPr lang="en-US" sz="2400"/>
              <a:t>Level 3 - Failures in Planning and Control Processes</a:t>
            </a:r>
            <a:endParaRPr/>
          </a:p>
        </p:txBody>
      </p:sp>
      <p:sp>
        <p:nvSpPr>
          <p:cNvPr id="663277435" name="Google Shape;1988;p115"/>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129</a:t>
            </a:fld>
            <a:endParaRPr/>
          </a:p>
        </p:txBody>
      </p:sp>
      <p:sp>
        <p:nvSpPr>
          <p:cNvPr id="978160961" name="Google Shape;1989;p115"/>
          <p:cNvSpPr txBox="1"/>
          <p:nvPr/>
        </p:nvSpPr>
        <p:spPr bwMode="auto">
          <a:xfrm>
            <a:off x="3545682" y="1067916"/>
            <a:ext cx="4491037"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1.5 Project Management Failure</a:t>
            </a:r>
            <a:endParaRPr sz="1700">
              <a:solidFill>
                <a:schemeClr val="dk1"/>
              </a:solidFill>
              <a:latin typeface="Arimo"/>
              <a:ea typeface="Arimo"/>
              <a:cs typeface="Arimo"/>
            </a:endParaRPr>
          </a:p>
        </p:txBody>
      </p:sp>
      <p:cxnSp>
        <p:nvCxnSpPr>
          <p:cNvPr id="1455976715" name="Google Shape;1990;p115"/>
          <p:cNvCxnSpPr/>
          <p:nvPr/>
        </p:nvCxnSpPr>
        <p:spPr bwMode="auto">
          <a:xfrm rot="10800000">
            <a:off x="5279289" y="1524000"/>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922060856" name="Google Shape;1991;p115"/>
          <p:cNvSpPr txBox="1"/>
          <p:nvPr/>
        </p:nvSpPr>
        <p:spPr bwMode="auto">
          <a:xfrm>
            <a:off x="2667000" y="533400"/>
            <a:ext cx="62484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defRPr/>
            </a:pPr>
            <a:r>
              <a:rPr lang="en-US" sz="3200" b="1">
                <a:solidFill>
                  <a:schemeClr val="dk1"/>
                </a:solidFill>
                <a:latin typeface="Calibri"/>
                <a:ea typeface="Calibri"/>
                <a:cs typeface="Calibri"/>
              </a:rPr>
              <a:t>Causes of Project Failure</a:t>
            </a:r>
            <a:endParaRPr sz="3200" b="1">
              <a:solidFill>
                <a:srgbClr val="3F3F3F"/>
              </a:solidFill>
              <a:latin typeface="Open Sans"/>
              <a:ea typeface="Open Sans"/>
              <a:cs typeface="Open Sans"/>
            </a:endParaRPr>
          </a:p>
        </p:txBody>
      </p:sp>
      <p:grpSp>
        <p:nvGrpSpPr>
          <p:cNvPr id="223566984" name="Google Shape;1992;p115"/>
          <p:cNvGrpSpPr/>
          <p:nvPr/>
        </p:nvGrpSpPr>
        <p:grpSpPr bwMode="auto">
          <a:xfrm>
            <a:off x="0" y="4572000"/>
            <a:ext cx="12183600" cy="2286000"/>
            <a:chOff x="0" y="4572000"/>
            <a:chExt cx="12183600" cy="2286000"/>
          </a:xfrm>
        </p:grpSpPr>
        <p:pic>
          <p:nvPicPr>
            <p:cNvPr id="1993" name="Google Shape;1993;p115"/>
            <p:cNvPicPr/>
            <p:nvPr/>
          </p:nvPicPr>
          <p:blipFill rotWithShape="1">
            <a:blip r:embed="rId3">
              <a:alphaModFix/>
            </a:blip>
            <a:stretch/>
          </p:blipFill>
          <p:spPr bwMode="auto">
            <a:xfrm>
              <a:off x="0" y="4572000"/>
              <a:ext cx="5715001" cy="2286000"/>
            </a:xfrm>
            <a:prstGeom prst="rect">
              <a:avLst/>
            </a:prstGeom>
            <a:noFill/>
            <a:ln>
              <a:noFill/>
            </a:ln>
          </p:spPr>
        </p:pic>
        <p:pic>
          <p:nvPicPr>
            <p:cNvPr id="1994" name="Google Shape;1994;p115"/>
            <p:cNvPicPr/>
            <p:nvPr/>
          </p:nvPicPr>
          <p:blipFill rotWithShape="1">
            <a:blip r:embed="rId4">
              <a:alphaModFix/>
            </a:blip>
            <a:srcRect l="9237" t="38371" r="11974" b="19882"/>
            <a:stretch/>
          </p:blipFill>
          <p:spPr bwMode="auto">
            <a:xfrm>
              <a:off x="5645640" y="4572000"/>
              <a:ext cx="6537959" cy="2286000"/>
            </a:xfrm>
            <a:prstGeom prst="rect">
              <a:avLst/>
            </a:prstGeom>
            <a:noFill/>
            <a:ln>
              <a:noFill/>
            </a:ln>
          </p:spPr>
        </p:pic>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1922060856"/>
                                        </p:tgtEl>
                                        <p:attrNameLst>
                                          <p:attrName>style.visibility</p:attrName>
                                        </p:attrNameLst>
                                      </p:cBhvr>
                                      <p:to>
                                        <p:strVal val="visible"/>
                                      </p:to>
                                    </p:set>
                                    <p:anim calcmode="lin" valueType="num">
                                      <p:cBhvr additive="base">
                                        <p:cTn id="7" dur="500" fill="hold"/>
                                        <p:tgtEl>
                                          <p:spTgt spid="1922060856"/>
                                        </p:tgtEl>
                                        <p:attrNameLst>
                                          <p:attrName>ppt_x</p:attrName>
                                        </p:attrNameLst>
                                      </p:cBhvr>
                                      <p:tavLst>
                                        <p:tav tm="0">
                                          <p:val>
                                            <p:strVal val="#ppt_x"/>
                                          </p:val>
                                        </p:tav>
                                        <p:tav tm="100000">
                                          <p:val>
                                            <p:strVal val="#ppt_x"/>
                                          </p:val>
                                        </p:tav>
                                      </p:tavLst>
                                    </p:anim>
                                    <p:anim calcmode="lin" valueType="num">
                                      <p:cBhvr additive="base">
                                        <p:cTn id="8" dur="500" fill="hold"/>
                                        <p:tgtEl>
                                          <p:spTgt spid="192206085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2060856" grpId="0"/>
    </p:bldLst>
  </p:timing>
</p:sld>
</file>

<file path=ppt/slides/slide1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9979542" name="Google Shape;1999;p116"/>
          <p:cNvSpPr txBox="1">
            <a:spLocks noGrp="1"/>
          </p:cNvSpPr>
          <p:nvPr>
            <p:ph type="body" idx="1"/>
          </p:nvPr>
        </p:nvSpPr>
        <p:spPr bwMode="auto">
          <a:xfrm>
            <a:off x="533400" y="1956373"/>
            <a:ext cx="11049000" cy="4901625"/>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500"/>
              <a:buChar char="•"/>
              <a:defRPr/>
            </a:pPr>
            <a:r>
              <a:rPr lang="en-US" sz="2500"/>
              <a:t>Inappropriate “fit” of project </a:t>
            </a:r>
            <a:r>
              <a:rPr lang="en-US" sz="2500"/>
              <a:t>organisation</a:t>
            </a:r>
            <a:r>
              <a:rPr lang="en-US" sz="2500"/>
              <a:t> to project objectives, project tasks, top management, and environment at large. For example, </a:t>
            </a:r>
            <a:endParaRPr/>
          </a:p>
          <a:p>
            <a:pPr marL="742950" lvl="2" indent="-342900" algn="l" rtl="0">
              <a:lnSpc>
                <a:spcPct val="90000"/>
              </a:lnSpc>
              <a:spcBef>
                <a:spcPts val="500"/>
              </a:spcBef>
              <a:spcAft>
                <a:spcPts val="0"/>
              </a:spcAft>
              <a:buClr>
                <a:schemeClr val="dk1"/>
              </a:buClr>
              <a:buSzPts val="2000"/>
              <a:buFont typeface="Courier New"/>
              <a:buChar char="o"/>
              <a:defRPr/>
            </a:pPr>
            <a:r>
              <a:rPr lang="en-US"/>
              <a:t>A game software needs project organizational structure which includes marketing personnel to promote it after accomplished. However, members of the team are assigned to the project without regards to proper skills and experience. Top management also does not yield adequate responsibility or authority to the project manager.</a:t>
            </a:r>
            <a:endParaRPr/>
          </a:p>
          <a:p>
            <a:pPr marL="228600" lvl="0" indent="-228600" algn="l" rtl="0">
              <a:lnSpc>
                <a:spcPct val="90000"/>
              </a:lnSpc>
              <a:spcBef>
                <a:spcPts val="1000"/>
              </a:spcBef>
              <a:spcAft>
                <a:spcPts val="0"/>
              </a:spcAft>
              <a:buClr>
                <a:schemeClr val="dk1"/>
              </a:buClr>
              <a:buSzPts val="2500"/>
              <a:buChar char="•"/>
              <a:defRPr/>
            </a:pPr>
            <a:r>
              <a:rPr lang="en-US" sz="2500">
                <a:solidFill>
                  <a:srgbClr val="FF0000"/>
                </a:solidFill>
              </a:rPr>
              <a:t>Not using appropriate project </a:t>
            </a:r>
            <a:r>
              <a:rPr lang="en-US" sz="2500" b="1">
                <a:solidFill>
                  <a:srgbClr val="FF0000"/>
                </a:solidFill>
              </a:rPr>
              <a:t>process model  </a:t>
            </a:r>
            <a:endParaRPr lang="en-US" b="1">
              <a:solidFill>
                <a:srgbClr val="FF0000"/>
              </a:solidFill>
            </a:endParaRPr>
          </a:p>
          <a:p>
            <a:pPr marL="742950" lvl="2" indent="-342900" algn="l" rtl="0">
              <a:lnSpc>
                <a:spcPct val="90000"/>
              </a:lnSpc>
              <a:spcBef>
                <a:spcPts val="500"/>
              </a:spcBef>
              <a:spcAft>
                <a:spcPts val="0"/>
              </a:spcAft>
              <a:buClr>
                <a:schemeClr val="dk1"/>
              </a:buClr>
              <a:buSzPts val="2000"/>
              <a:buFont typeface="Courier New"/>
              <a:buChar char="o"/>
              <a:defRPr/>
            </a:pPr>
            <a:r>
              <a:rPr lang="en-US" b="1"/>
              <a:t>E.g. </a:t>
            </a:r>
            <a:r>
              <a:rPr lang="en-US">
                <a:solidFill>
                  <a:srgbClr val="FF0000"/>
                </a:solidFill>
              </a:rPr>
              <a:t>Prototyping</a:t>
            </a:r>
            <a:r>
              <a:rPr lang="en-US"/>
              <a:t> </a:t>
            </a:r>
            <a:r>
              <a:rPr lang="en-US" b="1"/>
              <a:t>is used in a large and </a:t>
            </a:r>
            <a:endParaRPr/>
          </a:p>
          <a:p>
            <a:pPr marL="715963" lvl="2" indent="0" algn="l" rtl="0">
              <a:lnSpc>
                <a:spcPct val="90000"/>
              </a:lnSpc>
              <a:spcBef>
                <a:spcPts val="500"/>
              </a:spcBef>
              <a:spcAft>
                <a:spcPts val="0"/>
              </a:spcAft>
              <a:buClr>
                <a:schemeClr val="dk1"/>
              </a:buClr>
              <a:buSzPts val="2000"/>
              <a:buNone/>
              <a:defRPr/>
            </a:pPr>
            <a:r>
              <a:rPr lang="en-US" b="1" u="sng"/>
              <a:t>complex</a:t>
            </a:r>
            <a:r>
              <a:rPr lang="en-US" b="1"/>
              <a:t> system development </a:t>
            </a:r>
            <a:r>
              <a:rPr lang="en-US" u="sng"/>
              <a:t>which cannot</a:t>
            </a:r>
            <a:endParaRPr/>
          </a:p>
          <a:p>
            <a:pPr marL="715963" lvl="2" indent="0" algn="l" rtl="0">
              <a:lnSpc>
                <a:spcPct val="90000"/>
              </a:lnSpc>
              <a:spcBef>
                <a:spcPts val="500"/>
              </a:spcBef>
              <a:spcAft>
                <a:spcPts val="0"/>
              </a:spcAft>
              <a:buClr>
                <a:schemeClr val="dk1"/>
              </a:buClr>
              <a:buSzPts val="2000"/>
              <a:buNone/>
              <a:defRPr/>
            </a:pPr>
            <a:r>
              <a:rPr lang="en-US" u="sng"/>
              <a:t>capture the user requirements effectively.</a:t>
            </a:r>
            <a:endParaRPr/>
          </a:p>
          <a:p>
            <a:pPr marL="228600" lvl="0" indent="-228600" algn="l" rtl="0">
              <a:lnSpc>
                <a:spcPct val="90000"/>
              </a:lnSpc>
              <a:spcBef>
                <a:spcPts val="1000"/>
              </a:spcBef>
              <a:spcAft>
                <a:spcPts val="0"/>
              </a:spcAft>
              <a:buClr>
                <a:schemeClr val="dk1"/>
              </a:buClr>
              <a:buSzPts val="2500"/>
              <a:buChar char="•"/>
              <a:defRPr/>
            </a:pPr>
            <a:r>
              <a:rPr lang="en-US" sz="2500">
                <a:solidFill>
                  <a:srgbClr val="FF0000"/>
                </a:solidFill>
              </a:rPr>
              <a:t>Lack of </a:t>
            </a:r>
            <a:r>
              <a:rPr lang="en-US" sz="2500" b="1">
                <a:solidFill>
                  <a:srgbClr val="FF0000"/>
                </a:solidFill>
              </a:rPr>
              <a:t>top</a:t>
            </a:r>
            <a:r>
              <a:rPr lang="en-US" sz="2500">
                <a:solidFill>
                  <a:srgbClr val="FF0000"/>
                </a:solidFill>
              </a:rPr>
              <a:t> </a:t>
            </a:r>
            <a:r>
              <a:rPr lang="en-US" sz="2500" b="1">
                <a:solidFill>
                  <a:srgbClr val="FF0000"/>
                </a:solidFill>
              </a:rPr>
              <a:t>management </a:t>
            </a:r>
            <a:r>
              <a:rPr lang="en-US" sz="2500">
                <a:solidFill>
                  <a:srgbClr val="FF0000"/>
                </a:solidFill>
              </a:rPr>
              <a:t>support</a:t>
            </a:r>
            <a:r>
              <a:rPr lang="en-US" sz="2500" b="1">
                <a:solidFill>
                  <a:srgbClr val="FF0000"/>
                </a:solidFill>
              </a:rPr>
              <a:t> </a:t>
            </a:r>
            <a:endParaRPr b="1">
              <a:solidFill>
                <a:srgbClr val="FF0000"/>
              </a:solidFill>
            </a:endParaRPr>
          </a:p>
          <a:p>
            <a:pPr marL="742950" lvl="2" indent="-342900" algn="l" rtl="0">
              <a:lnSpc>
                <a:spcPct val="90000"/>
              </a:lnSpc>
              <a:spcBef>
                <a:spcPts val="500"/>
              </a:spcBef>
              <a:spcAft>
                <a:spcPts val="0"/>
              </a:spcAft>
              <a:buClr>
                <a:schemeClr val="dk1"/>
              </a:buClr>
              <a:buSzPts val="2000"/>
              <a:buFont typeface="Courier New"/>
              <a:buChar char="o"/>
              <a:defRPr/>
            </a:pPr>
            <a:r>
              <a:rPr lang="en-US" b="1"/>
              <a:t>E.g. </a:t>
            </a:r>
            <a:r>
              <a:rPr lang="en-US"/>
              <a:t>Lack of support from the financial department (</a:t>
            </a:r>
            <a:r>
              <a:rPr lang="en-US" b="1"/>
              <a:t>difficult to get funding from the organization).</a:t>
            </a:r>
            <a:endParaRPr b="1"/>
          </a:p>
          <a:p>
            <a:pPr marL="742950" lvl="2" indent="-342900" algn="l" rtl="0">
              <a:lnSpc>
                <a:spcPct val="90000"/>
              </a:lnSpc>
              <a:spcBef>
                <a:spcPts val="500"/>
              </a:spcBef>
              <a:spcAft>
                <a:spcPts val="0"/>
              </a:spcAft>
              <a:buClr>
                <a:schemeClr val="dk1"/>
              </a:buClr>
              <a:buSzPts val="2000"/>
              <a:buFont typeface="Courier New"/>
              <a:buChar char="o"/>
              <a:defRPr/>
            </a:pPr>
            <a:r>
              <a:rPr lang="en-US"/>
              <a:t>Lack of support from the </a:t>
            </a:r>
            <a:r>
              <a:rPr lang="en-US" u="sng"/>
              <a:t>sales and marketing department </a:t>
            </a:r>
            <a:r>
              <a:rPr lang="en-US" b="1"/>
              <a:t>(no personnels to promote the new games software)</a:t>
            </a:r>
            <a:endParaRPr b="1"/>
          </a:p>
        </p:txBody>
      </p:sp>
      <p:sp>
        <p:nvSpPr>
          <p:cNvPr id="628471260" name="Google Shape;2000;p116"/>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130</a:t>
            </a:fld>
            <a:endParaRPr/>
          </a:p>
        </p:txBody>
      </p:sp>
      <p:sp>
        <p:nvSpPr>
          <p:cNvPr id="653807091" name="Google Shape;2001;p116"/>
          <p:cNvSpPr txBox="1"/>
          <p:nvPr/>
        </p:nvSpPr>
        <p:spPr bwMode="auto">
          <a:xfrm>
            <a:off x="3545682" y="1067916"/>
            <a:ext cx="4491037"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1.5 Project Management Failure</a:t>
            </a:r>
            <a:endParaRPr sz="1700">
              <a:solidFill>
                <a:schemeClr val="dk1"/>
              </a:solidFill>
              <a:latin typeface="Arimo"/>
              <a:ea typeface="Arimo"/>
              <a:cs typeface="Arimo"/>
            </a:endParaRPr>
          </a:p>
        </p:txBody>
      </p:sp>
      <p:cxnSp>
        <p:nvCxnSpPr>
          <p:cNvPr id="543655000" name="Google Shape;2002;p116"/>
          <p:cNvCxnSpPr/>
          <p:nvPr/>
        </p:nvCxnSpPr>
        <p:spPr bwMode="auto">
          <a:xfrm rot="10800000">
            <a:off x="5279289" y="1524000"/>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259269643" name="Google Shape;2003;p116"/>
          <p:cNvSpPr txBox="1"/>
          <p:nvPr/>
        </p:nvSpPr>
        <p:spPr bwMode="auto">
          <a:xfrm>
            <a:off x="1143000" y="533400"/>
            <a:ext cx="96774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defRPr/>
            </a:pPr>
            <a:r>
              <a:rPr lang="en-US" sz="3200" b="1">
                <a:solidFill>
                  <a:schemeClr val="dk1"/>
                </a:solidFill>
                <a:latin typeface="Calibri"/>
                <a:ea typeface="Calibri"/>
                <a:cs typeface="Calibri"/>
              </a:rPr>
              <a:t>Level 1: Failures in the Project Management Context</a:t>
            </a:r>
            <a:endParaRPr sz="3200" b="1">
              <a:solidFill>
                <a:srgbClr val="3F3F3F"/>
              </a:solidFill>
              <a:latin typeface="Open Sans"/>
              <a:ea typeface="Open Sans"/>
              <a:cs typeface="Open Sans"/>
            </a:endParaRPr>
          </a:p>
        </p:txBody>
      </p:sp>
      <p:pic>
        <p:nvPicPr>
          <p:cNvPr id="1073455784" name="Picture 19"/>
          <p:cNvPicPr>
            <a:picLocks noChangeAspect="1"/>
          </p:cNvPicPr>
          <p:nvPr/>
        </p:nvPicPr>
        <p:blipFill rotWithShape="1">
          <a:blip r:embed="rId3"/>
          <a:srcRect l="1853" t="0" r="5441" b="5204"/>
          <a:stretch/>
        </p:blipFill>
        <p:spPr bwMode="auto">
          <a:xfrm>
            <a:off x="6768545" y="2013239"/>
            <a:ext cx="5387009" cy="3006022"/>
          </a:xfrm>
          <a:prstGeom prst="rect">
            <a:avLst/>
          </a:prstGeom>
          <a:ln>
            <a:solidFill>
              <a:schemeClr val="tx1">
                <a:lumMod val="65000"/>
                <a:lumOff val="35000"/>
              </a:schemeClr>
            </a:solidFill>
          </a:ln>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079979542">
                                            <p:txEl>
                                              <p:pRg st="2" end="2"/>
                                            </p:txEl>
                                          </p:spTgt>
                                        </p:tgtEl>
                                        <p:attrNameLst>
                                          <p:attrName>style.visibility</p:attrName>
                                        </p:attrNameLst>
                                      </p:cBhvr>
                                      <p:to>
                                        <p:strVal val="visible"/>
                                      </p:to>
                                    </p:set>
                                    <p:animEffect transition="in" filter="wipe(left)">
                                      <p:cBhvr>
                                        <p:cTn id="7" dur="500"/>
                                        <p:tgtEl>
                                          <p:spTgt spid="2079979542">
                                            <p:txEl>
                                              <p:pRg st="2" end="2"/>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2079979542">
                                            <p:txEl>
                                              <p:pRg st="3" end="3"/>
                                            </p:txEl>
                                          </p:spTgt>
                                        </p:tgtEl>
                                        <p:attrNameLst>
                                          <p:attrName>style.visibility</p:attrName>
                                        </p:attrNameLst>
                                      </p:cBhvr>
                                      <p:to>
                                        <p:strVal val="visible"/>
                                      </p:to>
                                    </p:set>
                                    <p:animEffect transition="in" filter="wipe(left)">
                                      <p:cBhvr>
                                        <p:cTn id="10" dur="500"/>
                                        <p:tgtEl>
                                          <p:spTgt spid="2079979542">
                                            <p:txEl>
                                              <p:pRg st="3" end="3"/>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2079979542">
                                            <p:txEl>
                                              <p:pRg st="4" end="4"/>
                                            </p:txEl>
                                          </p:spTgt>
                                        </p:tgtEl>
                                        <p:attrNameLst>
                                          <p:attrName>style.visibility</p:attrName>
                                        </p:attrNameLst>
                                      </p:cBhvr>
                                      <p:to>
                                        <p:strVal val="visible"/>
                                      </p:to>
                                    </p:set>
                                    <p:animEffect transition="in" filter="wipe(left)">
                                      <p:cBhvr>
                                        <p:cTn id="13" dur="500"/>
                                        <p:tgtEl>
                                          <p:spTgt spid="2079979542">
                                            <p:txEl>
                                              <p:pRg st="4" end="4"/>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2079979542">
                                            <p:txEl>
                                              <p:pRg st="5" end="5"/>
                                            </p:txEl>
                                          </p:spTgt>
                                        </p:tgtEl>
                                        <p:attrNameLst>
                                          <p:attrName>style.visibility</p:attrName>
                                        </p:attrNameLst>
                                      </p:cBhvr>
                                      <p:to>
                                        <p:strVal val="visible"/>
                                      </p:to>
                                    </p:set>
                                    <p:animEffect transition="in" filter="wipe(left)">
                                      <p:cBhvr>
                                        <p:cTn id="16" dur="500"/>
                                        <p:tgtEl>
                                          <p:spTgt spid="2079979542">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079979542">
                                            <p:txEl>
                                              <p:pRg st="6" end="6"/>
                                            </p:txEl>
                                          </p:spTgt>
                                        </p:tgtEl>
                                        <p:attrNameLst>
                                          <p:attrName>style.visibility</p:attrName>
                                        </p:attrNameLst>
                                      </p:cBhvr>
                                      <p:to>
                                        <p:strVal val="visible"/>
                                      </p:to>
                                    </p:set>
                                    <p:animEffect transition="in" filter="fade">
                                      <p:cBhvr>
                                        <p:cTn id="21" dur="1000"/>
                                        <p:tgtEl>
                                          <p:spTgt spid="2079979542">
                                            <p:txEl>
                                              <p:pRg st="6" end="6"/>
                                            </p:txEl>
                                          </p:spTgt>
                                        </p:tgtEl>
                                      </p:cBhvr>
                                    </p:animEffect>
                                    <p:anim calcmode="lin" valueType="num">
                                      <p:cBhvr>
                                        <p:cTn id="22" dur="1000" fill="hold"/>
                                        <p:tgtEl>
                                          <p:spTgt spid="2079979542">
                                            <p:txEl>
                                              <p:pRg st="6" end="6"/>
                                            </p:txEl>
                                          </p:spTgt>
                                        </p:tgtEl>
                                        <p:attrNameLst>
                                          <p:attrName>ppt_x</p:attrName>
                                        </p:attrNameLst>
                                      </p:cBhvr>
                                      <p:tavLst>
                                        <p:tav tm="0">
                                          <p:val>
                                            <p:strVal val="#ppt_x"/>
                                          </p:val>
                                        </p:tav>
                                        <p:tav tm="100000">
                                          <p:val>
                                            <p:strVal val="#ppt_x"/>
                                          </p:val>
                                        </p:tav>
                                      </p:tavLst>
                                    </p:anim>
                                    <p:anim calcmode="lin" valueType="num">
                                      <p:cBhvr>
                                        <p:cTn id="23" dur="1000" fill="hold"/>
                                        <p:tgtEl>
                                          <p:spTgt spid="2079979542">
                                            <p:txEl>
                                              <p:pRg st="6" end="6"/>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2079979542">
                                            <p:txEl>
                                              <p:pRg st="7" end="7"/>
                                            </p:txEl>
                                          </p:spTgt>
                                        </p:tgtEl>
                                        <p:attrNameLst>
                                          <p:attrName>style.visibility</p:attrName>
                                        </p:attrNameLst>
                                      </p:cBhvr>
                                      <p:to>
                                        <p:strVal val="visible"/>
                                      </p:to>
                                    </p:set>
                                    <p:animEffect transition="in" filter="fade">
                                      <p:cBhvr>
                                        <p:cTn id="26" dur="1000"/>
                                        <p:tgtEl>
                                          <p:spTgt spid="2079979542">
                                            <p:txEl>
                                              <p:pRg st="7" end="7"/>
                                            </p:txEl>
                                          </p:spTgt>
                                        </p:tgtEl>
                                      </p:cBhvr>
                                    </p:animEffect>
                                    <p:anim calcmode="lin" valueType="num">
                                      <p:cBhvr>
                                        <p:cTn id="27" dur="1000" fill="hold"/>
                                        <p:tgtEl>
                                          <p:spTgt spid="2079979542">
                                            <p:txEl>
                                              <p:pRg st="7" end="7"/>
                                            </p:txEl>
                                          </p:spTgt>
                                        </p:tgtEl>
                                        <p:attrNameLst>
                                          <p:attrName>ppt_x</p:attrName>
                                        </p:attrNameLst>
                                      </p:cBhvr>
                                      <p:tavLst>
                                        <p:tav tm="0">
                                          <p:val>
                                            <p:strVal val="#ppt_x"/>
                                          </p:val>
                                        </p:tav>
                                        <p:tav tm="100000">
                                          <p:val>
                                            <p:strVal val="#ppt_x"/>
                                          </p:val>
                                        </p:tav>
                                      </p:tavLst>
                                    </p:anim>
                                    <p:anim calcmode="lin" valueType="num">
                                      <p:cBhvr>
                                        <p:cTn id="28" dur="1000" fill="hold"/>
                                        <p:tgtEl>
                                          <p:spTgt spid="2079979542">
                                            <p:txEl>
                                              <p:pRg st="7" end="7"/>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2079979542">
                                            <p:txEl>
                                              <p:pRg st="8" end="8"/>
                                            </p:txEl>
                                          </p:spTgt>
                                        </p:tgtEl>
                                        <p:attrNameLst>
                                          <p:attrName>style.visibility</p:attrName>
                                        </p:attrNameLst>
                                      </p:cBhvr>
                                      <p:to>
                                        <p:strVal val="visible"/>
                                      </p:to>
                                    </p:set>
                                    <p:animEffect transition="in" filter="fade">
                                      <p:cBhvr>
                                        <p:cTn id="31" dur="1000"/>
                                        <p:tgtEl>
                                          <p:spTgt spid="2079979542">
                                            <p:txEl>
                                              <p:pRg st="8" end="8"/>
                                            </p:txEl>
                                          </p:spTgt>
                                        </p:tgtEl>
                                      </p:cBhvr>
                                    </p:animEffect>
                                    <p:anim calcmode="lin" valueType="num">
                                      <p:cBhvr>
                                        <p:cTn id="32" dur="1000" fill="hold"/>
                                        <p:tgtEl>
                                          <p:spTgt spid="2079979542">
                                            <p:txEl>
                                              <p:pRg st="8" end="8"/>
                                            </p:txEl>
                                          </p:spTgt>
                                        </p:tgtEl>
                                        <p:attrNameLst>
                                          <p:attrName>ppt_x</p:attrName>
                                        </p:attrNameLst>
                                      </p:cBhvr>
                                      <p:tavLst>
                                        <p:tav tm="0">
                                          <p:val>
                                            <p:strVal val="#ppt_x"/>
                                          </p:val>
                                        </p:tav>
                                        <p:tav tm="100000">
                                          <p:val>
                                            <p:strVal val="#ppt_x"/>
                                          </p:val>
                                        </p:tav>
                                      </p:tavLst>
                                    </p:anim>
                                    <p:anim calcmode="lin" valueType="num">
                                      <p:cBhvr>
                                        <p:cTn id="33" dur="1000" fill="hold"/>
                                        <p:tgtEl>
                                          <p:spTgt spid="207997954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9433725" name="Google Shape;2008;p117"/>
          <p:cNvSpPr txBox="1">
            <a:spLocks noGrp="1"/>
          </p:cNvSpPr>
          <p:nvPr>
            <p:ph type="body" idx="1"/>
          </p:nvPr>
        </p:nvSpPr>
        <p:spPr bwMode="auto">
          <a:xfrm>
            <a:off x="397543" y="1841532"/>
            <a:ext cx="4163514" cy="4775011"/>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ts val="2800"/>
              <a:buChar char="•"/>
              <a:defRPr/>
            </a:pPr>
            <a:r>
              <a:rPr lang="en-US"/>
              <a:t>Traceable to project leadership, philosophy and practice</a:t>
            </a:r>
            <a:endParaRPr/>
          </a:p>
          <a:p>
            <a:pPr marL="228600" lvl="0" indent="-228600" algn="l" rtl="0">
              <a:lnSpc>
                <a:spcPct val="90000"/>
              </a:lnSpc>
              <a:spcBef>
                <a:spcPts val="1000"/>
              </a:spcBef>
              <a:spcAft>
                <a:spcPts val="0"/>
              </a:spcAft>
              <a:buClr>
                <a:schemeClr val="dk1"/>
              </a:buClr>
              <a:buSzPts val="2800"/>
              <a:buChar char="•"/>
              <a:defRPr/>
            </a:pPr>
            <a:r>
              <a:rPr lang="en-US" b="1">
                <a:solidFill>
                  <a:srgbClr val="FF0000"/>
                </a:solidFill>
              </a:rPr>
              <a:t>Include wrong project manager</a:t>
            </a:r>
            <a:r>
              <a:rPr lang="en-US"/>
              <a:t>, neglect of systems approach in the project life cycle, and misuse of project management techniques</a:t>
            </a:r>
            <a:endParaRPr/>
          </a:p>
          <a:p>
            <a:pPr marL="228600" lvl="0" indent="-228600" algn="l" rtl="0">
              <a:lnSpc>
                <a:spcPct val="90000"/>
              </a:lnSpc>
              <a:spcBef>
                <a:spcPts val="1000"/>
              </a:spcBef>
              <a:spcAft>
                <a:spcPts val="0"/>
              </a:spcAft>
              <a:buClr>
                <a:schemeClr val="dk1"/>
              </a:buClr>
              <a:buSzPts val="2800"/>
              <a:buChar char="•"/>
              <a:defRPr/>
            </a:pPr>
            <a:r>
              <a:rPr lang="en-US" b="1"/>
              <a:t>Examples:</a:t>
            </a:r>
            <a:endParaRPr b="1"/>
          </a:p>
          <a:p>
            <a:pPr marL="742950" lvl="2" indent="-342900" algn="l" rtl="0">
              <a:lnSpc>
                <a:spcPct val="90000"/>
              </a:lnSpc>
              <a:spcBef>
                <a:spcPts val="500"/>
              </a:spcBef>
              <a:spcAft>
                <a:spcPts val="0"/>
              </a:spcAft>
              <a:buClr>
                <a:schemeClr val="dk1"/>
              </a:buClr>
              <a:buSzPts val="2400"/>
              <a:buFont typeface="Courier New"/>
              <a:buChar char="o"/>
              <a:defRPr/>
            </a:pPr>
            <a:r>
              <a:rPr lang="en-US" sz="2400"/>
              <a:t>the </a:t>
            </a:r>
            <a:r>
              <a:rPr lang="en-US" sz="2400" b="1">
                <a:solidFill>
                  <a:srgbClr val="FF0000"/>
                </a:solidFill>
              </a:rPr>
              <a:t>project manager is unable to control conflicts</a:t>
            </a:r>
            <a:endParaRPr sz="2400" b="1">
              <a:solidFill>
                <a:srgbClr val="FF0000"/>
              </a:solidFill>
            </a:endParaRPr>
          </a:p>
          <a:p>
            <a:pPr marL="742950" lvl="2" indent="-342900" algn="l" rtl="0">
              <a:lnSpc>
                <a:spcPct val="90000"/>
              </a:lnSpc>
              <a:spcBef>
                <a:spcPts val="500"/>
              </a:spcBef>
              <a:spcAft>
                <a:spcPts val="0"/>
              </a:spcAft>
              <a:buClr>
                <a:schemeClr val="dk1"/>
              </a:buClr>
              <a:buSzPts val="2400"/>
              <a:buFont typeface="Courier New"/>
              <a:buChar char="o"/>
              <a:defRPr/>
            </a:pPr>
            <a:r>
              <a:rPr lang="en-US" sz="2400"/>
              <a:t>Hardware, software, resources and facilities are viewed independently without relation to their overall  project objectives – </a:t>
            </a:r>
            <a:r>
              <a:rPr lang="en-US" sz="2400" b="1">
                <a:solidFill>
                  <a:srgbClr val="FF0000"/>
                </a:solidFill>
              </a:rPr>
              <a:t>poor resource planning during the _____</a:t>
            </a:r>
            <a:endParaRPr sz="2400" b="1">
              <a:solidFill>
                <a:srgbClr val="FF0000"/>
              </a:solidFill>
            </a:endParaRPr>
          </a:p>
        </p:txBody>
      </p:sp>
      <p:sp>
        <p:nvSpPr>
          <p:cNvPr id="1790090278" name="Google Shape;2009;p117"/>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131</a:t>
            </a:fld>
            <a:endParaRPr/>
          </a:p>
        </p:txBody>
      </p:sp>
      <p:sp>
        <p:nvSpPr>
          <p:cNvPr id="1793631492" name="Google Shape;2010;p117"/>
          <p:cNvSpPr txBox="1"/>
          <p:nvPr/>
        </p:nvSpPr>
        <p:spPr bwMode="auto">
          <a:xfrm>
            <a:off x="3545682" y="1067916"/>
            <a:ext cx="4491037"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1.5 Project Management Failure</a:t>
            </a:r>
            <a:endParaRPr sz="1700">
              <a:solidFill>
                <a:schemeClr val="dk1"/>
              </a:solidFill>
              <a:latin typeface="Arimo"/>
              <a:ea typeface="Arimo"/>
              <a:cs typeface="Arimo"/>
            </a:endParaRPr>
          </a:p>
        </p:txBody>
      </p:sp>
      <p:sp>
        <p:nvSpPr>
          <p:cNvPr id="2024741745" name="Google Shape;2012;p117"/>
          <p:cNvSpPr txBox="1"/>
          <p:nvPr/>
        </p:nvSpPr>
        <p:spPr bwMode="auto">
          <a:xfrm>
            <a:off x="1143000" y="533400"/>
            <a:ext cx="96774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defRPr/>
            </a:pPr>
            <a:r>
              <a:rPr lang="en-US" sz="3200" b="1">
                <a:solidFill>
                  <a:schemeClr val="dk1"/>
                </a:solidFill>
                <a:latin typeface="Calibri"/>
                <a:ea typeface="Calibri"/>
                <a:cs typeface="Calibri"/>
              </a:rPr>
              <a:t>Level 2: Failures in the Project Management System</a:t>
            </a:r>
            <a:endParaRPr sz="3200" b="1">
              <a:solidFill>
                <a:srgbClr val="3F3F3F"/>
              </a:solidFill>
              <a:latin typeface="Open Sans"/>
              <a:ea typeface="Open Sans"/>
              <a:cs typeface="Open Sans"/>
            </a:endParaRPr>
          </a:p>
        </p:txBody>
      </p:sp>
      <p:grpSp>
        <p:nvGrpSpPr>
          <p:cNvPr id="2047528889" name="Google Shape;236;p11"/>
          <p:cNvGrpSpPr/>
          <p:nvPr/>
        </p:nvGrpSpPr>
        <p:grpSpPr bwMode="auto">
          <a:xfrm>
            <a:off x="4718050" y="2668211"/>
            <a:ext cx="7785099" cy="4201983"/>
            <a:chOff x="328972" y="1973960"/>
            <a:chExt cx="7785099" cy="4201983"/>
          </a:xfrm>
        </p:grpSpPr>
        <p:cxnSp>
          <p:nvCxnSpPr>
            <p:cNvPr id="3" name="Google Shape;237;p11"/>
            <p:cNvCxnSpPr/>
            <p:nvPr/>
          </p:nvCxnSpPr>
          <p:spPr bwMode="auto">
            <a:xfrm>
              <a:off x="1103671" y="5413942"/>
              <a:ext cx="6629400" cy="0"/>
            </a:xfrm>
            <a:prstGeom prst="straightConnector1">
              <a:avLst/>
            </a:prstGeom>
            <a:noFill/>
            <a:ln w="9525" cap="flat" cmpd="sng">
              <a:solidFill>
                <a:schemeClr val="dk1"/>
              </a:solidFill>
              <a:prstDash val="solid"/>
              <a:round/>
              <a:headEnd type="none" w="med" len="med"/>
              <a:tailEnd type="triangle" w="med" len="med"/>
            </a:ln>
          </p:spPr>
        </p:cxnSp>
        <p:cxnSp>
          <p:nvCxnSpPr>
            <p:cNvPr id="4" name="Google Shape;238;p11"/>
            <p:cNvCxnSpPr/>
            <p:nvPr/>
          </p:nvCxnSpPr>
          <p:spPr bwMode="auto">
            <a:xfrm rot="10800000">
              <a:off x="1103671" y="1973960"/>
              <a:ext cx="0" cy="3420000"/>
            </a:xfrm>
            <a:prstGeom prst="straightConnector1">
              <a:avLst/>
            </a:prstGeom>
            <a:noFill/>
            <a:ln w="9525" cap="flat" cmpd="sng">
              <a:solidFill>
                <a:schemeClr val="dk1"/>
              </a:solidFill>
              <a:prstDash val="solid"/>
              <a:round/>
              <a:headEnd type="none" w="med" len="med"/>
              <a:tailEnd type="triangle" w="med" len="med"/>
            </a:ln>
          </p:spPr>
        </p:cxnSp>
        <p:sp>
          <p:nvSpPr>
            <p:cNvPr id="5" name="Google Shape;239;p11"/>
            <p:cNvSpPr txBox="1"/>
            <p:nvPr/>
          </p:nvSpPr>
          <p:spPr bwMode="auto">
            <a:xfrm>
              <a:off x="328972" y="2017527"/>
              <a:ext cx="17525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Times New Roman"/>
                <a:buNone/>
                <a:defRPr/>
              </a:pPr>
              <a:r>
                <a:rPr lang="en-US" sz="1800">
                  <a:solidFill>
                    <a:schemeClr val="dk1"/>
                  </a:solidFill>
                  <a:latin typeface="Times New Roman"/>
                  <a:ea typeface="Times New Roman"/>
                  <a:cs typeface="Times New Roman"/>
                </a:rPr>
                <a:t>Effort</a:t>
              </a:r>
              <a:endParaRPr sz="2400">
                <a:solidFill>
                  <a:schemeClr val="dk1"/>
                </a:solidFill>
                <a:latin typeface="Times New Roman"/>
                <a:ea typeface="Times New Roman"/>
                <a:cs typeface="Times New Roman"/>
              </a:endParaRPr>
            </a:p>
          </p:txBody>
        </p:sp>
        <p:sp>
          <p:nvSpPr>
            <p:cNvPr id="6" name="Google Shape;240;p11"/>
            <p:cNvSpPr txBox="1"/>
            <p:nvPr/>
          </p:nvSpPr>
          <p:spPr bwMode="auto">
            <a:xfrm>
              <a:off x="7123471" y="5437379"/>
              <a:ext cx="9906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Times New Roman"/>
                <a:buNone/>
                <a:defRPr/>
              </a:pPr>
              <a:r>
                <a:rPr lang="en-US" sz="1800">
                  <a:solidFill>
                    <a:schemeClr val="dk1"/>
                  </a:solidFill>
                  <a:latin typeface="Times New Roman"/>
                  <a:ea typeface="Times New Roman"/>
                  <a:cs typeface="Times New Roman"/>
                </a:rPr>
                <a:t>Time</a:t>
              </a:r>
              <a:endParaRPr sz="2400">
                <a:solidFill>
                  <a:schemeClr val="dk1"/>
                </a:solidFill>
                <a:latin typeface="Times New Roman"/>
                <a:ea typeface="Times New Roman"/>
                <a:cs typeface="Times New Roman"/>
              </a:endParaRPr>
            </a:p>
          </p:txBody>
        </p:sp>
        <p:cxnSp>
          <p:nvCxnSpPr>
            <p:cNvPr id="7" name="Google Shape;241;p11"/>
            <p:cNvCxnSpPr/>
            <p:nvPr/>
          </p:nvCxnSpPr>
          <p:spPr bwMode="auto">
            <a:xfrm>
              <a:off x="2094271" y="2289743"/>
              <a:ext cx="0" cy="3124200"/>
            </a:xfrm>
            <a:prstGeom prst="straightConnector1">
              <a:avLst/>
            </a:prstGeom>
            <a:noFill/>
            <a:ln w="9525" cap="flat" cmpd="sng">
              <a:solidFill>
                <a:schemeClr val="dk1"/>
              </a:solidFill>
              <a:prstDash val="solid"/>
              <a:round/>
              <a:headEnd type="none" w="med" len="med"/>
              <a:tailEnd type="none" w="med" len="med"/>
            </a:ln>
          </p:spPr>
        </p:cxnSp>
        <p:cxnSp>
          <p:nvCxnSpPr>
            <p:cNvPr id="8" name="Google Shape;242;p11"/>
            <p:cNvCxnSpPr/>
            <p:nvPr/>
          </p:nvCxnSpPr>
          <p:spPr bwMode="auto">
            <a:xfrm>
              <a:off x="3008671" y="2289743"/>
              <a:ext cx="0" cy="3124200"/>
            </a:xfrm>
            <a:prstGeom prst="straightConnector1">
              <a:avLst/>
            </a:prstGeom>
            <a:noFill/>
            <a:ln w="9525" cap="flat" cmpd="sng">
              <a:solidFill>
                <a:schemeClr val="dk1"/>
              </a:solidFill>
              <a:prstDash val="solid"/>
              <a:round/>
              <a:headEnd type="none" w="med" len="med"/>
              <a:tailEnd type="none" w="med" len="med"/>
            </a:ln>
          </p:spPr>
        </p:cxnSp>
        <p:cxnSp>
          <p:nvCxnSpPr>
            <p:cNvPr id="9" name="Google Shape;243;p11"/>
            <p:cNvCxnSpPr/>
            <p:nvPr/>
          </p:nvCxnSpPr>
          <p:spPr bwMode="auto">
            <a:xfrm>
              <a:off x="5828071" y="2289743"/>
              <a:ext cx="0" cy="3124200"/>
            </a:xfrm>
            <a:prstGeom prst="straightConnector1">
              <a:avLst/>
            </a:prstGeom>
            <a:noFill/>
            <a:ln w="9525" cap="flat" cmpd="sng">
              <a:solidFill>
                <a:schemeClr val="dk1"/>
              </a:solidFill>
              <a:prstDash val="solid"/>
              <a:round/>
              <a:headEnd type="none" w="med" len="med"/>
              <a:tailEnd type="none" w="med" len="med"/>
            </a:ln>
          </p:spPr>
        </p:cxnSp>
        <p:sp>
          <p:nvSpPr>
            <p:cNvPr id="10" name="Google Shape;244;p11"/>
            <p:cNvSpPr/>
            <p:nvPr/>
          </p:nvSpPr>
          <p:spPr bwMode="auto">
            <a:xfrm>
              <a:off x="1103671" y="2624706"/>
              <a:ext cx="6108700" cy="2779712"/>
            </a:xfrm>
            <a:custGeom>
              <a:avLst/>
              <a:gdLst/>
              <a:ahLst/>
              <a:cxnLst/>
              <a:rect l="l" t="t" r="r" b="b"/>
              <a:pathLst>
                <a:path w="3848" h="1751" fill="norm" stroke="1" extrusionOk="0">
                  <a:moveTo>
                    <a:pt x="0" y="1751"/>
                  </a:moveTo>
                  <a:cubicBezTo>
                    <a:pt x="23" y="1736"/>
                    <a:pt x="46" y="1720"/>
                    <a:pt x="69" y="1705"/>
                  </a:cubicBezTo>
                  <a:cubicBezTo>
                    <a:pt x="81" y="1697"/>
                    <a:pt x="104" y="1682"/>
                    <a:pt x="104" y="1682"/>
                  </a:cubicBezTo>
                  <a:cubicBezTo>
                    <a:pt x="158" y="1602"/>
                    <a:pt x="194" y="1553"/>
                    <a:pt x="276" y="1498"/>
                  </a:cubicBezTo>
                  <a:cubicBezTo>
                    <a:pt x="289" y="1489"/>
                    <a:pt x="346" y="1478"/>
                    <a:pt x="357" y="1475"/>
                  </a:cubicBezTo>
                  <a:cubicBezTo>
                    <a:pt x="380" y="1468"/>
                    <a:pt x="426" y="1452"/>
                    <a:pt x="426" y="1452"/>
                  </a:cubicBezTo>
                  <a:cubicBezTo>
                    <a:pt x="448" y="1438"/>
                    <a:pt x="475" y="1433"/>
                    <a:pt x="495" y="1417"/>
                  </a:cubicBezTo>
                  <a:cubicBezTo>
                    <a:pt x="506" y="1408"/>
                    <a:pt x="508" y="1392"/>
                    <a:pt x="518" y="1383"/>
                  </a:cubicBezTo>
                  <a:cubicBezTo>
                    <a:pt x="575" y="1334"/>
                    <a:pt x="656" y="1301"/>
                    <a:pt x="726" y="1279"/>
                  </a:cubicBezTo>
                  <a:cubicBezTo>
                    <a:pt x="767" y="1251"/>
                    <a:pt x="816" y="1225"/>
                    <a:pt x="864" y="1210"/>
                  </a:cubicBezTo>
                  <a:cubicBezTo>
                    <a:pt x="902" y="1185"/>
                    <a:pt x="930" y="1154"/>
                    <a:pt x="968" y="1129"/>
                  </a:cubicBezTo>
                  <a:cubicBezTo>
                    <a:pt x="976" y="1118"/>
                    <a:pt x="981" y="1104"/>
                    <a:pt x="991" y="1095"/>
                  </a:cubicBezTo>
                  <a:cubicBezTo>
                    <a:pt x="1012" y="1077"/>
                    <a:pt x="1060" y="1049"/>
                    <a:pt x="1060" y="1049"/>
                  </a:cubicBezTo>
                  <a:cubicBezTo>
                    <a:pt x="1068" y="1037"/>
                    <a:pt x="1073" y="1023"/>
                    <a:pt x="1083" y="1014"/>
                  </a:cubicBezTo>
                  <a:cubicBezTo>
                    <a:pt x="1104" y="996"/>
                    <a:pt x="1152" y="968"/>
                    <a:pt x="1152" y="968"/>
                  </a:cubicBezTo>
                  <a:cubicBezTo>
                    <a:pt x="1160" y="956"/>
                    <a:pt x="1165" y="943"/>
                    <a:pt x="1175" y="933"/>
                  </a:cubicBezTo>
                  <a:cubicBezTo>
                    <a:pt x="1185" y="923"/>
                    <a:pt x="1201" y="921"/>
                    <a:pt x="1210" y="910"/>
                  </a:cubicBezTo>
                  <a:cubicBezTo>
                    <a:pt x="1274" y="831"/>
                    <a:pt x="1154" y="920"/>
                    <a:pt x="1256" y="853"/>
                  </a:cubicBezTo>
                  <a:cubicBezTo>
                    <a:pt x="1283" y="767"/>
                    <a:pt x="1243" y="868"/>
                    <a:pt x="1302" y="795"/>
                  </a:cubicBezTo>
                  <a:cubicBezTo>
                    <a:pt x="1347" y="739"/>
                    <a:pt x="1270" y="776"/>
                    <a:pt x="1348" y="749"/>
                  </a:cubicBezTo>
                  <a:cubicBezTo>
                    <a:pt x="1375" y="663"/>
                    <a:pt x="1335" y="764"/>
                    <a:pt x="1394" y="691"/>
                  </a:cubicBezTo>
                  <a:cubicBezTo>
                    <a:pt x="1401" y="682"/>
                    <a:pt x="1400" y="668"/>
                    <a:pt x="1405" y="657"/>
                  </a:cubicBezTo>
                  <a:cubicBezTo>
                    <a:pt x="1411" y="644"/>
                    <a:pt x="1422" y="634"/>
                    <a:pt x="1428" y="622"/>
                  </a:cubicBezTo>
                  <a:cubicBezTo>
                    <a:pt x="1455" y="569"/>
                    <a:pt x="1463" y="527"/>
                    <a:pt x="1521" y="507"/>
                  </a:cubicBezTo>
                  <a:cubicBezTo>
                    <a:pt x="1550" y="416"/>
                    <a:pt x="1506" y="524"/>
                    <a:pt x="1567" y="461"/>
                  </a:cubicBezTo>
                  <a:cubicBezTo>
                    <a:pt x="1626" y="400"/>
                    <a:pt x="1522" y="444"/>
                    <a:pt x="1613" y="415"/>
                  </a:cubicBezTo>
                  <a:cubicBezTo>
                    <a:pt x="1680" y="313"/>
                    <a:pt x="1591" y="433"/>
                    <a:pt x="1670" y="369"/>
                  </a:cubicBezTo>
                  <a:cubicBezTo>
                    <a:pt x="1743" y="310"/>
                    <a:pt x="1642" y="350"/>
                    <a:pt x="1728" y="323"/>
                  </a:cubicBezTo>
                  <a:cubicBezTo>
                    <a:pt x="1761" y="290"/>
                    <a:pt x="1781" y="257"/>
                    <a:pt x="1820" y="231"/>
                  </a:cubicBezTo>
                  <a:cubicBezTo>
                    <a:pt x="1851" y="142"/>
                    <a:pt x="1806" y="248"/>
                    <a:pt x="1866" y="173"/>
                  </a:cubicBezTo>
                  <a:cubicBezTo>
                    <a:pt x="1910" y="118"/>
                    <a:pt x="1839" y="151"/>
                    <a:pt x="1912" y="127"/>
                  </a:cubicBezTo>
                  <a:cubicBezTo>
                    <a:pt x="1976" y="29"/>
                    <a:pt x="2173" y="16"/>
                    <a:pt x="2281" y="0"/>
                  </a:cubicBezTo>
                  <a:cubicBezTo>
                    <a:pt x="2493" y="16"/>
                    <a:pt x="2387" y="6"/>
                    <a:pt x="2511" y="46"/>
                  </a:cubicBezTo>
                  <a:cubicBezTo>
                    <a:pt x="2532" y="67"/>
                    <a:pt x="2561" y="81"/>
                    <a:pt x="2580" y="104"/>
                  </a:cubicBezTo>
                  <a:cubicBezTo>
                    <a:pt x="2642" y="181"/>
                    <a:pt x="2529" y="97"/>
                    <a:pt x="2627" y="161"/>
                  </a:cubicBezTo>
                  <a:cubicBezTo>
                    <a:pt x="2642" y="208"/>
                    <a:pt x="2655" y="227"/>
                    <a:pt x="2696" y="254"/>
                  </a:cubicBezTo>
                  <a:cubicBezTo>
                    <a:pt x="2717" y="319"/>
                    <a:pt x="2692" y="258"/>
                    <a:pt x="2742" y="323"/>
                  </a:cubicBezTo>
                  <a:cubicBezTo>
                    <a:pt x="2815" y="416"/>
                    <a:pt x="2756" y="370"/>
                    <a:pt x="2822" y="415"/>
                  </a:cubicBezTo>
                  <a:cubicBezTo>
                    <a:pt x="2839" y="462"/>
                    <a:pt x="2875" y="500"/>
                    <a:pt x="2903" y="542"/>
                  </a:cubicBezTo>
                  <a:cubicBezTo>
                    <a:pt x="2911" y="553"/>
                    <a:pt x="2926" y="576"/>
                    <a:pt x="2926" y="576"/>
                  </a:cubicBezTo>
                  <a:cubicBezTo>
                    <a:pt x="2935" y="611"/>
                    <a:pt x="2943" y="658"/>
                    <a:pt x="2961" y="691"/>
                  </a:cubicBezTo>
                  <a:cubicBezTo>
                    <a:pt x="2975" y="715"/>
                    <a:pt x="3007" y="761"/>
                    <a:pt x="3007" y="761"/>
                  </a:cubicBezTo>
                  <a:cubicBezTo>
                    <a:pt x="3011" y="772"/>
                    <a:pt x="3012" y="785"/>
                    <a:pt x="3018" y="795"/>
                  </a:cubicBezTo>
                  <a:cubicBezTo>
                    <a:pt x="3031" y="819"/>
                    <a:pt x="3055" y="838"/>
                    <a:pt x="3064" y="864"/>
                  </a:cubicBezTo>
                  <a:cubicBezTo>
                    <a:pt x="3119" y="1029"/>
                    <a:pt x="3058" y="865"/>
                    <a:pt x="3110" y="968"/>
                  </a:cubicBezTo>
                  <a:cubicBezTo>
                    <a:pt x="3128" y="1004"/>
                    <a:pt x="3125" y="1048"/>
                    <a:pt x="3145" y="1083"/>
                  </a:cubicBezTo>
                  <a:cubicBezTo>
                    <a:pt x="3182" y="1149"/>
                    <a:pt x="3230" y="1236"/>
                    <a:pt x="3295" y="1279"/>
                  </a:cubicBezTo>
                  <a:cubicBezTo>
                    <a:pt x="3326" y="1325"/>
                    <a:pt x="3317" y="1340"/>
                    <a:pt x="3364" y="1371"/>
                  </a:cubicBezTo>
                  <a:cubicBezTo>
                    <a:pt x="3388" y="1447"/>
                    <a:pt x="3354" y="1373"/>
                    <a:pt x="3410" y="1417"/>
                  </a:cubicBezTo>
                  <a:cubicBezTo>
                    <a:pt x="3421" y="1426"/>
                    <a:pt x="3422" y="1443"/>
                    <a:pt x="3433" y="1452"/>
                  </a:cubicBezTo>
                  <a:cubicBezTo>
                    <a:pt x="3452" y="1467"/>
                    <a:pt x="3479" y="1467"/>
                    <a:pt x="3502" y="1475"/>
                  </a:cubicBezTo>
                  <a:cubicBezTo>
                    <a:pt x="3537" y="1509"/>
                    <a:pt x="3566" y="1518"/>
                    <a:pt x="3606" y="1544"/>
                  </a:cubicBezTo>
                  <a:cubicBezTo>
                    <a:pt x="3633" y="1584"/>
                    <a:pt x="3651" y="1609"/>
                    <a:pt x="3698" y="1625"/>
                  </a:cubicBezTo>
                  <a:cubicBezTo>
                    <a:pt x="3749" y="1701"/>
                    <a:pt x="3689" y="1626"/>
                    <a:pt x="3756" y="1671"/>
                  </a:cubicBezTo>
                  <a:cubicBezTo>
                    <a:pt x="3778" y="1685"/>
                    <a:pt x="3828" y="1731"/>
                    <a:pt x="3848" y="1751"/>
                  </a:cubicBezTo>
                </a:path>
              </a:pathLst>
            </a:cu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defRPr/>
              </a:pPr>
              <a:endParaRPr sz="1800">
                <a:solidFill>
                  <a:schemeClr val="dk1"/>
                </a:solidFill>
                <a:latin typeface="Calibri"/>
                <a:ea typeface="Calibri"/>
                <a:cs typeface="Calibri"/>
              </a:endParaRPr>
            </a:p>
          </p:txBody>
        </p:sp>
        <p:sp>
          <p:nvSpPr>
            <p:cNvPr id="11" name="Google Shape;245;p11"/>
            <p:cNvSpPr txBox="1"/>
            <p:nvPr/>
          </p:nvSpPr>
          <p:spPr bwMode="auto">
            <a:xfrm>
              <a:off x="1205272" y="2877259"/>
              <a:ext cx="8382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400"/>
                <a:buFont typeface="Times New Roman"/>
                <a:buNone/>
                <a:defRPr/>
              </a:pPr>
              <a:r>
                <a:rPr lang="en-US" sz="1400">
                  <a:solidFill>
                    <a:schemeClr val="dk1"/>
                  </a:solidFill>
                  <a:latin typeface="Times New Roman"/>
                  <a:ea typeface="Times New Roman"/>
                  <a:cs typeface="Times New Roman"/>
                </a:rPr>
                <a:t>Identify a Need</a:t>
              </a:r>
              <a:endParaRPr/>
            </a:p>
          </p:txBody>
        </p:sp>
        <p:sp>
          <p:nvSpPr>
            <p:cNvPr id="12" name="Google Shape;246;p11"/>
            <p:cNvSpPr txBox="1"/>
            <p:nvPr/>
          </p:nvSpPr>
          <p:spPr bwMode="auto">
            <a:xfrm>
              <a:off x="2170471" y="2746943"/>
              <a:ext cx="838200"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400"/>
                <a:buFont typeface="Times New Roman"/>
                <a:buNone/>
                <a:defRPr/>
              </a:pPr>
              <a:r>
                <a:rPr lang="en-US" sz="1400">
                  <a:solidFill>
                    <a:schemeClr val="dk1"/>
                  </a:solidFill>
                  <a:latin typeface="Times New Roman"/>
                  <a:ea typeface="Times New Roman"/>
                  <a:cs typeface="Times New Roman"/>
                </a:rPr>
                <a:t>Develop proposed solution</a:t>
              </a:r>
              <a:endParaRPr/>
            </a:p>
          </p:txBody>
        </p:sp>
        <p:sp>
          <p:nvSpPr>
            <p:cNvPr id="13" name="Google Shape;247;p11"/>
            <p:cNvSpPr txBox="1"/>
            <p:nvPr/>
          </p:nvSpPr>
          <p:spPr bwMode="auto">
            <a:xfrm>
              <a:off x="3846871" y="3138870"/>
              <a:ext cx="1828800" cy="304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400"/>
                <a:buFont typeface="Times New Roman"/>
                <a:buNone/>
                <a:defRPr/>
              </a:pPr>
              <a:r>
                <a:rPr lang="en-US" sz="1400">
                  <a:solidFill>
                    <a:schemeClr val="dk1"/>
                  </a:solidFill>
                  <a:latin typeface="Times New Roman"/>
                  <a:ea typeface="Times New Roman"/>
                  <a:cs typeface="Times New Roman"/>
                </a:rPr>
                <a:t>Perform the project</a:t>
              </a:r>
              <a:endParaRPr/>
            </a:p>
          </p:txBody>
        </p:sp>
        <p:sp>
          <p:nvSpPr>
            <p:cNvPr id="14" name="Google Shape;248;p11"/>
            <p:cNvSpPr txBox="1"/>
            <p:nvPr/>
          </p:nvSpPr>
          <p:spPr bwMode="auto">
            <a:xfrm>
              <a:off x="6190020" y="2887063"/>
              <a:ext cx="11430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400"/>
                <a:buFont typeface="Times New Roman"/>
                <a:buNone/>
                <a:defRPr/>
              </a:pPr>
              <a:r>
                <a:rPr lang="en-US" sz="1400">
                  <a:solidFill>
                    <a:schemeClr val="dk1"/>
                  </a:solidFill>
                  <a:latin typeface="Times New Roman"/>
                  <a:ea typeface="Times New Roman"/>
                  <a:cs typeface="Times New Roman"/>
                </a:rPr>
                <a:t>Terminate the project</a:t>
              </a:r>
              <a:endParaRPr/>
            </a:p>
          </p:txBody>
        </p:sp>
        <p:sp>
          <p:nvSpPr>
            <p:cNvPr id="15" name="Google Shape;249;p11"/>
            <p:cNvSpPr txBox="1"/>
            <p:nvPr/>
          </p:nvSpPr>
          <p:spPr bwMode="auto">
            <a:xfrm>
              <a:off x="1234872" y="5391975"/>
              <a:ext cx="8509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imes New Roman"/>
                <a:buNone/>
                <a:defRPr/>
              </a:pPr>
              <a:r>
                <a:rPr lang="en-US" sz="2000" i="1">
                  <a:solidFill>
                    <a:schemeClr val="dk1"/>
                  </a:solidFill>
                  <a:latin typeface="Times New Roman"/>
                  <a:ea typeface="Times New Roman"/>
                  <a:cs typeface="Times New Roman"/>
                </a:rPr>
                <a:t>RFP</a:t>
              </a:r>
              <a:endParaRPr sz="2400" i="1">
                <a:solidFill>
                  <a:schemeClr val="dk1"/>
                </a:solidFill>
                <a:latin typeface="Times New Roman"/>
                <a:ea typeface="Times New Roman"/>
                <a:cs typeface="Times New Roman"/>
              </a:endParaRPr>
            </a:p>
          </p:txBody>
        </p:sp>
        <p:sp>
          <p:nvSpPr>
            <p:cNvPr id="16" name="Google Shape;250;p11"/>
            <p:cNvSpPr txBox="1"/>
            <p:nvPr/>
          </p:nvSpPr>
          <p:spPr bwMode="auto">
            <a:xfrm>
              <a:off x="2094271" y="5718743"/>
              <a:ext cx="9906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400"/>
                <a:buFont typeface="Times New Roman"/>
                <a:buNone/>
                <a:defRPr/>
              </a:pPr>
              <a:endParaRPr sz="2400">
                <a:solidFill>
                  <a:schemeClr val="dk1"/>
                </a:solidFill>
                <a:latin typeface="Times New Roman"/>
                <a:ea typeface="Times New Roman"/>
                <a:cs typeface="Times New Roman"/>
              </a:endParaRPr>
            </a:p>
          </p:txBody>
        </p:sp>
        <p:sp>
          <p:nvSpPr>
            <p:cNvPr id="17" name="Google Shape;251;p11"/>
            <p:cNvSpPr txBox="1"/>
            <p:nvPr/>
          </p:nvSpPr>
          <p:spPr bwMode="auto">
            <a:xfrm>
              <a:off x="2094271" y="5642543"/>
              <a:ext cx="7620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400"/>
                <a:buFont typeface="Times New Roman"/>
                <a:buNone/>
                <a:defRPr/>
              </a:pPr>
              <a:endParaRPr sz="2400">
                <a:solidFill>
                  <a:schemeClr val="dk1"/>
                </a:solidFill>
                <a:latin typeface="Times New Roman"/>
                <a:ea typeface="Times New Roman"/>
                <a:cs typeface="Times New Roman"/>
              </a:endParaRPr>
            </a:p>
          </p:txBody>
        </p:sp>
        <p:sp>
          <p:nvSpPr>
            <p:cNvPr id="18" name="Google Shape;252;p11"/>
            <p:cNvSpPr txBox="1"/>
            <p:nvPr/>
          </p:nvSpPr>
          <p:spPr bwMode="auto">
            <a:xfrm>
              <a:off x="1963705" y="5391975"/>
              <a:ext cx="14478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imes New Roman"/>
                <a:buNone/>
                <a:defRPr/>
              </a:pPr>
              <a:r>
                <a:rPr lang="en-US" sz="2000" i="1">
                  <a:solidFill>
                    <a:schemeClr val="dk1"/>
                  </a:solidFill>
                  <a:latin typeface="Times New Roman"/>
                  <a:ea typeface="Times New Roman"/>
                  <a:cs typeface="Times New Roman"/>
                </a:rPr>
                <a:t>Proposal</a:t>
              </a:r>
              <a:endParaRPr sz="2400" i="1">
                <a:solidFill>
                  <a:schemeClr val="dk1"/>
                </a:solidFill>
                <a:latin typeface="Times New Roman"/>
                <a:ea typeface="Times New Roman"/>
                <a:cs typeface="Times New Roman"/>
              </a:endParaRPr>
            </a:p>
          </p:txBody>
        </p:sp>
        <p:sp>
          <p:nvSpPr>
            <p:cNvPr id="19" name="Google Shape;253;p11"/>
            <p:cNvSpPr txBox="1"/>
            <p:nvPr/>
          </p:nvSpPr>
          <p:spPr bwMode="auto">
            <a:xfrm>
              <a:off x="3880705" y="5393960"/>
              <a:ext cx="20447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Times New Roman"/>
                <a:buNone/>
                <a:defRPr/>
              </a:pPr>
              <a:r>
                <a:rPr lang="en-US" sz="2000" b="1" i="1">
                  <a:solidFill>
                    <a:schemeClr val="dk1"/>
                  </a:solidFill>
                  <a:latin typeface="Times New Roman"/>
                  <a:ea typeface="Times New Roman"/>
                  <a:cs typeface="Times New Roman"/>
                </a:rPr>
                <a:t>SDLC</a:t>
              </a:r>
              <a:endParaRPr sz="2400" b="1" i="1">
                <a:solidFill>
                  <a:schemeClr val="dk1"/>
                </a:solidFill>
                <a:latin typeface="Times New Roman"/>
                <a:ea typeface="Times New Roman"/>
                <a:cs typeface="Times New Roman"/>
              </a:endParaRPr>
            </a:p>
          </p:txBody>
        </p:sp>
      </p:grpSp>
      <p:sp>
        <p:nvSpPr>
          <p:cNvPr id="1198034432" name="Rectangle: Rounded Corners 19"/>
          <p:cNvSpPr/>
          <p:nvPr/>
        </p:nvSpPr>
        <p:spPr bwMode="auto">
          <a:xfrm>
            <a:off x="8235949" y="3833121"/>
            <a:ext cx="1578366" cy="304800"/>
          </a:xfrm>
          <a:prstGeom prst="roundRect">
            <a:avLst>
              <a:gd name="adj" fmla="val 16667"/>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MY"/>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839433725">
                                            <p:txEl>
                                              <p:pRg st="0" end="0"/>
                                            </p:txEl>
                                          </p:spTgt>
                                        </p:tgtEl>
                                        <p:attrNameLst>
                                          <p:attrName>style.visibility</p:attrName>
                                        </p:attrNameLst>
                                      </p:cBhvr>
                                      <p:to>
                                        <p:strVal val="visible"/>
                                      </p:to>
                                    </p:set>
                                    <p:animEffect transition="in" filter="wipe(left)">
                                      <p:cBhvr>
                                        <p:cTn id="7" dur="500"/>
                                        <p:tgtEl>
                                          <p:spTgt spid="1839433725">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839433725">
                                            <p:txEl>
                                              <p:pRg st="1" end="1"/>
                                            </p:txEl>
                                          </p:spTgt>
                                        </p:tgtEl>
                                        <p:attrNameLst>
                                          <p:attrName>style.visibility</p:attrName>
                                        </p:attrNameLst>
                                      </p:cBhvr>
                                      <p:to>
                                        <p:strVal val="visible"/>
                                      </p:to>
                                    </p:set>
                                    <p:animEffect transition="in" filter="wipe(left)">
                                      <p:cBhvr>
                                        <p:cTn id="10" dur="500"/>
                                        <p:tgtEl>
                                          <p:spTgt spid="1839433725">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839433725">
                                            <p:txEl>
                                              <p:pRg st="2" end="2"/>
                                            </p:txEl>
                                          </p:spTgt>
                                        </p:tgtEl>
                                        <p:attrNameLst>
                                          <p:attrName>style.visibility</p:attrName>
                                        </p:attrNameLst>
                                      </p:cBhvr>
                                      <p:to>
                                        <p:strVal val="visible"/>
                                      </p:to>
                                    </p:set>
                                    <p:animEffect transition="in" filter="wipe(left)">
                                      <p:cBhvr>
                                        <p:cTn id="13" dur="500"/>
                                        <p:tgtEl>
                                          <p:spTgt spid="1839433725">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839433725">
                                            <p:txEl>
                                              <p:pRg st="3" end="3"/>
                                            </p:txEl>
                                          </p:spTgt>
                                        </p:tgtEl>
                                        <p:attrNameLst>
                                          <p:attrName>style.visibility</p:attrName>
                                        </p:attrNameLst>
                                      </p:cBhvr>
                                      <p:to>
                                        <p:strVal val="visible"/>
                                      </p:to>
                                    </p:set>
                                    <p:animEffect transition="in" filter="wipe(left)">
                                      <p:cBhvr>
                                        <p:cTn id="16" dur="500"/>
                                        <p:tgtEl>
                                          <p:spTgt spid="1839433725">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839433725">
                                            <p:txEl>
                                              <p:pRg st="4" end="4"/>
                                            </p:txEl>
                                          </p:spTgt>
                                        </p:tgtEl>
                                        <p:attrNameLst>
                                          <p:attrName>style.visibility</p:attrName>
                                        </p:attrNameLst>
                                      </p:cBhvr>
                                      <p:to>
                                        <p:strVal val="visible"/>
                                      </p:to>
                                    </p:set>
                                    <p:animEffect transition="in" filter="wipe(left)">
                                      <p:cBhvr>
                                        <p:cTn id="19" dur="500"/>
                                        <p:tgtEl>
                                          <p:spTgt spid="1839433725">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2047528889"/>
                                        </p:tgtEl>
                                        <p:attrNameLst>
                                          <p:attrName>style.visibility</p:attrName>
                                        </p:attrNameLst>
                                      </p:cBhvr>
                                      <p:to>
                                        <p:strVal val="visible"/>
                                      </p:to>
                                    </p:set>
                                    <p:animEffect transition="in" filter="wipe(left)">
                                      <p:cBhvr>
                                        <p:cTn id="24" dur="500"/>
                                        <p:tgtEl>
                                          <p:spTgt spid="204752888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198034432"/>
                                        </p:tgtEl>
                                        <p:attrNameLst>
                                          <p:attrName>style.visibility</p:attrName>
                                        </p:attrNameLst>
                                      </p:cBhvr>
                                      <p:to>
                                        <p:strVal val="visible"/>
                                      </p:to>
                                    </p:set>
                                    <p:animEffect transition="in" filter="wipe(down)">
                                      <p:cBhvr>
                                        <p:cTn id="29" dur="500"/>
                                        <p:tgtEl>
                                          <p:spTgt spid="1198034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9433725" grpId="0" uiExpand="1" build="p"/>
      <p:bldP spid="1198034432" grpId="0" animBg="1"/>
    </p:bldLst>
  </p:timing>
</p:sld>
</file>

<file path=ppt/slides/slide1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68101230" name="Google Shape;2017;p118"/>
          <p:cNvSpPr txBox="1">
            <a:spLocks noGrp="1"/>
          </p:cNvSpPr>
          <p:nvPr>
            <p:ph type="body" idx="1"/>
          </p:nvPr>
        </p:nvSpPr>
        <p:spPr bwMode="auto">
          <a:xfrm>
            <a:off x="533399" y="1956375"/>
            <a:ext cx="11074831" cy="422058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defRPr/>
            </a:pPr>
            <a:r>
              <a:rPr lang="en-US" sz="3200"/>
              <a:t>Include </a:t>
            </a:r>
            <a:r>
              <a:rPr lang="en-US" sz="3200" b="1" u="sng">
                <a:solidFill>
                  <a:srgbClr val="FF0000"/>
                </a:solidFill>
              </a:rPr>
              <a:t>inadequate</a:t>
            </a:r>
            <a:r>
              <a:rPr lang="en-US" sz="3200" b="1">
                <a:solidFill>
                  <a:srgbClr val="FF0000"/>
                </a:solidFill>
              </a:rPr>
              <a:t> communication and planning, poor estimation, poor scheduling and lack of user involvement</a:t>
            </a:r>
            <a:endParaRPr sz="3200" b="1">
              <a:solidFill>
                <a:srgbClr val="FF0000"/>
              </a:solidFill>
            </a:endParaRPr>
          </a:p>
          <a:p>
            <a:pPr marL="228600" lvl="0" indent="-228600" algn="l" rtl="0">
              <a:lnSpc>
                <a:spcPct val="90000"/>
              </a:lnSpc>
              <a:spcBef>
                <a:spcPts val="1000"/>
              </a:spcBef>
              <a:spcAft>
                <a:spcPts val="0"/>
              </a:spcAft>
              <a:buClr>
                <a:schemeClr val="dk1"/>
              </a:buClr>
              <a:buSzPts val="2800"/>
              <a:buChar char="•"/>
              <a:defRPr/>
            </a:pPr>
            <a:r>
              <a:rPr lang="en-US"/>
              <a:t>Examples:</a:t>
            </a:r>
            <a:endParaRPr/>
          </a:p>
          <a:p>
            <a:pPr marL="685800" lvl="1" indent="-420688" algn="l" rtl="0">
              <a:lnSpc>
                <a:spcPct val="90000"/>
              </a:lnSpc>
              <a:spcBef>
                <a:spcPts val="500"/>
              </a:spcBef>
              <a:spcAft>
                <a:spcPts val="0"/>
              </a:spcAft>
              <a:buClr>
                <a:schemeClr val="dk1"/>
              </a:buClr>
              <a:buSzPts val="2800"/>
              <a:buFont typeface="Courier New"/>
              <a:buChar char="o"/>
              <a:defRPr/>
            </a:pPr>
            <a:r>
              <a:rPr lang="en-US" sz="2800"/>
              <a:t>Information about scope, objectives, responsibility and acceptance criteria not documented early in the project</a:t>
            </a:r>
            <a:endParaRPr sz="2800"/>
          </a:p>
          <a:p>
            <a:pPr marL="685800" lvl="1" indent="-420688" algn="l" rtl="0">
              <a:lnSpc>
                <a:spcPct val="90000"/>
              </a:lnSpc>
              <a:spcBef>
                <a:spcPts val="500"/>
              </a:spcBef>
              <a:spcAft>
                <a:spcPts val="0"/>
              </a:spcAft>
              <a:buClr>
                <a:schemeClr val="dk1"/>
              </a:buClr>
              <a:buSzPts val="2800"/>
              <a:buFont typeface="Courier New"/>
              <a:buChar char="o"/>
              <a:defRPr/>
            </a:pPr>
            <a:r>
              <a:rPr lang="en-US" sz="2800"/>
              <a:t>The </a:t>
            </a:r>
            <a:r>
              <a:rPr lang="en-US" sz="2800"/>
              <a:t>behaviour</a:t>
            </a:r>
            <a:r>
              <a:rPr lang="en-US" sz="2800"/>
              <a:t> of the project team discourages user involvement</a:t>
            </a:r>
            <a:endParaRPr sz="2800"/>
          </a:p>
        </p:txBody>
      </p:sp>
      <p:sp>
        <p:nvSpPr>
          <p:cNvPr id="323715498" name="Google Shape;2018;p118"/>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132</a:t>
            </a:fld>
            <a:endParaRPr/>
          </a:p>
        </p:txBody>
      </p:sp>
      <p:sp>
        <p:nvSpPr>
          <p:cNvPr id="1343596855" name="Google Shape;2019;p118"/>
          <p:cNvSpPr txBox="1"/>
          <p:nvPr/>
        </p:nvSpPr>
        <p:spPr bwMode="auto">
          <a:xfrm>
            <a:off x="3545682" y="1067916"/>
            <a:ext cx="4491037"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1.5 Project Management Failure</a:t>
            </a:r>
            <a:endParaRPr sz="1700">
              <a:solidFill>
                <a:schemeClr val="dk1"/>
              </a:solidFill>
              <a:latin typeface="Arimo"/>
              <a:ea typeface="Arimo"/>
              <a:cs typeface="Arimo"/>
            </a:endParaRPr>
          </a:p>
        </p:txBody>
      </p:sp>
      <p:cxnSp>
        <p:nvCxnSpPr>
          <p:cNvPr id="725736164" name="Google Shape;2020;p118"/>
          <p:cNvCxnSpPr/>
          <p:nvPr/>
        </p:nvCxnSpPr>
        <p:spPr bwMode="auto">
          <a:xfrm rot="10800000">
            <a:off x="5279289" y="1524000"/>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061640986" name="Google Shape;2021;p118"/>
          <p:cNvSpPr txBox="1"/>
          <p:nvPr/>
        </p:nvSpPr>
        <p:spPr bwMode="auto">
          <a:xfrm>
            <a:off x="1143000" y="533400"/>
            <a:ext cx="96774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defRPr/>
            </a:pPr>
            <a:r>
              <a:rPr lang="en-US" sz="3200" b="1">
                <a:solidFill>
                  <a:schemeClr val="dk1"/>
                </a:solidFill>
                <a:latin typeface="Calibri"/>
                <a:ea typeface="Calibri"/>
                <a:cs typeface="Calibri"/>
              </a:rPr>
              <a:t>Level 3: Failures in Planning &amp; Control Processes</a:t>
            </a:r>
            <a:endParaRPr sz="3200" b="1">
              <a:solidFill>
                <a:srgbClr val="3F3F3F"/>
              </a:solidFill>
              <a:latin typeface="Open Sans"/>
              <a:ea typeface="Open Sans"/>
              <a:cs typeface="Open Sans"/>
            </a:endParaRPr>
          </a:p>
        </p:txBody>
      </p:sp>
      <p:sp>
        <p:nvSpPr>
          <p:cNvPr id="303127768" name="TextBox 1"/>
          <p:cNvSpPr txBox="1"/>
          <p:nvPr/>
        </p:nvSpPr>
        <p:spPr bwMode="auto">
          <a:xfrm>
            <a:off x="6303111" y="2752656"/>
            <a:ext cx="5695122" cy="369332"/>
          </a:xfrm>
          <a:prstGeom prst="rect">
            <a:avLst/>
          </a:prstGeom>
          <a:noFill/>
        </p:spPr>
        <p:txBody>
          <a:bodyPr wrap="square" rtlCol="0">
            <a:spAutoFit/>
          </a:bodyPr>
          <a:lstStyle/>
          <a:p>
            <a:pPr>
              <a:defRPr/>
            </a:pPr>
            <a:r>
              <a:rPr lang="en-MY" sz="1800"/>
              <a:t>(lack of user involvement will results in …</a:t>
            </a:r>
            <a:endParaRPr/>
          </a:p>
        </p:txBody>
      </p:sp>
      <p:sp>
        <p:nvSpPr>
          <p:cNvPr id="1179039970" name="TextBox 4"/>
          <p:cNvSpPr txBox="1"/>
          <p:nvPr/>
        </p:nvSpPr>
        <p:spPr bwMode="auto">
          <a:xfrm>
            <a:off x="6390199" y="2994359"/>
            <a:ext cx="3806687" cy="369332"/>
          </a:xfrm>
          <a:prstGeom prst="rect">
            <a:avLst/>
          </a:prstGeom>
          <a:noFill/>
        </p:spPr>
        <p:txBody>
          <a:bodyPr wrap="square" rtlCol="0">
            <a:spAutoFit/>
          </a:bodyPr>
          <a:lstStyle/>
          <a:p>
            <a:pPr>
              <a:defRPr/>
            </a:pPr>
            <a:r>
              <a:rPr lang="en-MY" sz="1800"/>
              <a:t>not meeting users needs)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568101230">
                                            <p:txEl>
                                              <p:pRg st="0" end="0"/>
                                            </p:txEl>
                                          </p:spTgt>
                                        </p:tgtEl>
                                        <p:attrNameLst>
                                          <p:attrName>style.visibility</p:attrName>
                                        </p:attrNameLst>
                                      </p:cBhvr>
                                      <p:to>
                                        <p:strVal val="visible"/>
                                      </p:to>
                                    </p:set>
                                    <p:animEffect transition="in" filter="wipe(left)">
                                      <p:cBhvr>
                                        <p:cTn id="7" dur="500"/>
                                        <p:tgtEl>
                                          <p:spTgt spid="15681012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3127768"/>
                                        </p:tgtEl>
                                        <p:attrNameLst>
                                          <p:attrName>style.visibility</p:attrName>
                                        </p:attrNameLst>
                                      </p:cBhvr>
                                      <p:to>
                                        <p:strVal val="visible"/>
                                      </p:to>
                                    </p:set>
                                    <p:animEffect transition="in" filter="wipe(left)">
                                      <p:cBhvr>
                                        <p:cTn id="12" dur="500"/>
                                        <p:tgtEl>
                                          <p:spTgt spid="30312776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79039970"/>
                                        </p:tgtEl>
                                        <p:attrNameLst>
                                          <p:attrName>style.visibility</p:attrName>
                                        </p:attrNameLst>
                                      </p:cBhvr>
                                      <p:to>
                                        <p:strVal val="visible"/>
                                      </p:to>
                                    </p:set>
                                    <p:animEffect transition="in" filter="wipe(down)">
                                      <p:cBhvr>
                                        <p:cTn id="17" dur="500"/>
                                        <p:tgtEl>
                                          <p:spTgt spid="1179039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27768" grpId="0"/>
      <p:bldP spid="1179039970" grpId="0"/>
    </p:bldLst>
  </p:timing>
</p:sld>
</file>

<file path=ppt/slides/slide1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44464100" name="Google Shape;2026;p119"/>
          <p:cNvSpPr txBox="1">
            <a:spLocks noGrp="1"/>
          </p:cNvSpPr>
          <p:nvPr>
            <p:ph type="body" idx="1"/>
          </p:nvPr>
        </p:nvSpPr>
        <p:spPr bwMode="auto">
          <a:xfrm>
            <a:off x="838200" y="1869444"/>
            <a:ext cx="10515600" cy="4663435"/>
          </a:xfrm>
          <a:prstGeom prst="rect">
            <a:avLst/>
          </a:prstGeom>
          <a:noFill/>
          <a:ln>
            <a:noFill/>
          </a:ln>
        </p:spPr>
        <p:txBody>
          <a:bodyPr spcFirstLastPara="1" wrap="square" lIns="91425" tIns="45700" rIns="91425" bIns="45700" anchor="t" anchorCtr="0">
            <a:normAutofit/>
          </a:bodyPr>
          <a:lstStyle/>
          <a:p>
            <a:pPr marL="228600" indent="-228600">
              <a:lnSpc>
                <a:spcPct val="110000"/>
              </a:lnSpc>
              <a:spcBef>
                <a:spcPts val="0"/>
              </a:spcBef>
              <a:buSzPts val="2800"/>
              <a:defRPr/>
            </a:pPr>
            <a:r>
              <a:rPr lang="en-US">
                <a:solidFill>
                  <a:srgbClr val="FF0000"/>
                </a:solidFill>
              </a:rPr>
              <a:t>PM too optimistic</a:t>
            </a:r>
            <a:endParaRPr/>
          </a:p>
          <a:p>
            <a:pPr marL="228600" lvl="0" indent="-228600" algn="l" rtl="0">
              <a:lnSpc>
                <a:spcPct val="110000"/>
              </a:lnSpc>
              <a:spcBef>
                <a:spcPts val="0"/>
              </a:spcBef>
              <a:spcAft>
                <a:spcPts val="0"/>
              </a:spcAft>
              <a:buClr>
                <a:schemeClr val="dk1"/>
              </a:buClr>
              <a:buSzPts val="2800"/>
              <a:buChar char="•"/>
              <a:defRPr/>
            </a:pPr>
            <a:r>
              <a:rPr lang="en-US">
                <a:solidFill>
                  <a:srgbClr val="FF0000"/>
                </a:solidFill>
              </a:rPr>
              <a:t>Poor team development</a:t>
            </a:r>
            <a:endParaRPr>
              <a:solidFill>
                <a:srgbClr val="FF0000"/>
              </a:solidFill>
            </a:endParaRPr>
          </a:p>
          <a:p>
            <a:pPr marL="228600" lvl="0" indent="-228600" algn="l" rtl="0">
              <a:lnSpc>
                <a:spcPct val="110000"/>
              </a:lnSpc>
              <a:spcBef>
                <a:spcPts val="1000"/>
              </a:spcBef>
              <a:spcAft>
                <a:spcPts val="0"/>
              </a:spcAft>
              <a:buClr>
                <a:schemeClr val="dk1"/>
              </a:buClr>
              <a:buSzPts val="2800"/>
              <a:buChar char="•"/>
              <a:defRPr/>
            </a:pPr>
            <a:r>
              <a:rPr lang="en-US">
                <a:solidFill>
                  <a:srgbClr val="FF0000"/>
                </a:solidFill>
              </a:rPr>
              <a:t>Under-allocation of resources</a:t>
            </a:r>
            <a:endParaRPr/>
          </a:p>
          <a:p>
            <a:pPr marL="263525" lvl="0" indent="0" algn="l" rtl="0">
              <a:lnSpc>
                <a:spcPct val="110000"/>
              </a:lnSpc>
              <a:spcBef>
                <a:spcPts val="0"/>
              </a:spcBef>
              <a:spcAft>
                <a:spcPts val="0"/>
              </a:spcAft>
              <a:buClr>
                <a:schemeClr val="dk1"/>
              </a:buClr>
              <a:buSzPts val="2800"/>
              <a:buNone/>
              <a:defRPr/>
            </a:pPr>
            <a:r>
              <a:rPr lang="en-US" sz="2000" i="1"/>
              <a:t>(situation where there are </a:t>
            </a:r>
            <a:r>
              <a:rPr lang="en-US" sz="2000" b="1" i="1"/>
              <a:t>insufficient resources (people, equipment or budget</a:t>
            </a:r>
            <a:r>
              <a:rPr lang="en-US" sz="2000" i="1"/>
              <a:t>) allocated to a project activity) – will impact on project schedule, quality, ___ .</a:t>
            </a:r>
            <a:endParaRPr/>
          </a:p>
          <a:p>
            <a:pPr marL="228600" lvl="0" indent="-228600" algn="l" rtl="0">
              <a:lnSpc>
                <a:spcPct val="110000"/>
              </a:lnSpc>
              <a:spcBef>
                <a:spcPts val="1000"/>
              </a:spcBef>
              <a:spcAft>
                <a:spcPts val="0"/>
              </a:spcAft>
              <a:buClr>
                <a:schemeClr val="dk1"/>
              </a:buClr>
              <a:buSzPts val="2800"/>
              <a:buChar char="•"/>
              <a:defRPr/>
            </a:pPr>
            <a:r>
              <a:rPr lang="en-US"/>
              <a:t>to achieve its objectives within the specified timeframe and quality</a:t>
            </a:r>
            <a:endParaRPr/>
          </a:p>
          <a:p>
            <a:pPr marL="228600" lvl="0" indent="-228600" algn="l" rtl="0">
              <a:lnSpc>
                <a:spcPct val="110000"/>
              </a:lnSpc>
              <a:spcBef>
                <a:spcPts val="1000"/>
              </a:spcBef>
              <a:spcAft>
                <a:spcPts val="0"/>
              </a:spcAft>
              <a:buClr>
                <a:schemeClr val="dk1"/>
              </a:buClr>
              <a:buSzPts val="2800"/>
              <a:buChar char="•"/>
              <a:defRPr/>
            </a:pPr>
            <a:r>
              <a:rPr lang="en-US"/>
              <a:t>Organization culture e.g. </a:t>
            </a:r>
            <a:r>
              <a:rPr lang="en-US">
                <a:solidFill>
                  <a:srgbClr val="FF0000"/>
                </a:solidFill>
              </a:rPr>
              <a:t>no team work, no sharing of information between employees</a:t>
            </a:r>
            <a:endParaRPr>
              <a:solidFill>
                <a:srgbClr val="FF0000"/>
              </a:solidFill>
            </a:endParaRPr>
          </a:p>
          <a:p>
            <a:pPr marL="228600" lvl="0" indent="-228600" algn="l" rtl="0">
              <a:lnSpc>
                <a:spcPct val="110000"/>
              </a:lnSpc>
              <a:spcBef>
                <a:spcPts val="1000"/>
              </a:spcBef>
              <a:spcAft>
                <a:spcPts val="0"/>
              </a:spcAft>
              <a:buClr>
                <a:schemeClr val="dk1"/>
              </a:buClr>
              <a:buSzPts val="2800"/>
              <a:buChar char="•"/>
              <a:defRPr/>
            </a:pPr>
            <a:r>
              <a:rPr lang="en-US"/>
              <a:t>External factors e.g. government enforce new laws</a:t>
            </a:r>
            <a:endParaRPr/>
          </a:p>
        </p:txBody>
      </p:sp>
      <p:sp>
        <p:nvSpPr>
          <p:cNvPr id="809868624" name="Google Shape;2027;p119"/>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133</a:t>
            </a:fld>
            <a:endParaRPr/>
          </a:p>
        </p:txBody>
      </p:sp>
      <p:sp>
        <p:nvSpPr>
          <p:cNvPr id="611685821" name="Google Shape;2028;p119"/>
          <p:cNvSpPr txBox="1"/>
          <p:nvPr/>
        </p:nvSpPr>
        <p:spPr bwMode="auto">
          <a:xfrm>
            <a:off x="3545682" y="1067916"/>
            <a:ext cx="4491037"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1.5 Project Management Failure</a:t>
            </a:r>
            <a:endParaRPr sz="1700">
              <a:solidFill>
                <a:schemeClr val="dk1"/>
              </a:solidFill>
              <a:latin typeface="Arimo"/>
              <a:ea typeface="Arimo"/>
              <a:cs typeface="Arimo"/>
            </a:endParaRPr>
          </a:p>
        </p:txBody>
      </p:sp>
      <p:cxnSp>
        <p:nvCxnSpPr>
          <p:cNvPr id="1052295127" name="Google Shape;2029;p119"/>
          <p:cNvCxnSpPr/>
          <p:nvPr/>
        </p:nvCxnSpPr>
        <p:spPr bwMode="auto">
          <a:xfrm rot="10800000">
            <a:off x="5279289" y="1524000"/>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681177670" name="Google Shape;2030;p119"/>
          <p:cNvSpPr txBox="1"/>
          <p:nvPr/>
        </p:nvSpPr>
        <p:spPr bwMode="auto">
          <a:xfrm>
            <a:off x="1143000" y="533400"/>
            <a:ext cx="96774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defRPr/>
            </a:pPr>
            <a:r>
              <a:rPr lang="en-US" sz="3200" b="1" u="sng">
                <a:solidFill>
                  <a:srgbClr val="FF0000"/>
                </a:solidFill>
                <a:latin typeface="Calibri"/>
                <a:ea typeface="Calibri"/>
                <a:cs typeface="Calibri"/>
              </a:rPr>
              <a:t>Other factors </a:t>
            </a:r>
            <a:r>
              <a:rPr lang="en-US" sz="3200">
                <a:solidFill>
                  <a:schemeClr val="dk1"/>
                </a:solidFill>
                <a:latin typeface="Calibri"/>
                <a:ea typeface="Calibri"/>
                <a:cs typeface="Calibri"/>
              </a:rPr>
              <a:t>that contribute to project failure</a:t>
            </a:r>
            <a:endParaRPr sz="3200">
              <a:solidFill>
                <a:srgbClr val="3F3F3F"/>
              </a:solidFill>
              <a:latin typeface="Open Sans"/>
              <a:ea typeface="Open Sans"/>
              <a:cs typeface="Open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681177670"/>
                                        </p:tgtEl>
                                        <p:attrNameLst>
                                          <p:attrName>style.visibility</p:attrName>
                                        </p:attrNameLst>
                                      </p:cBhvr>
                                      <p:to>
                                        <p:strVal val="visible"/>
                                      </p:to>
                                    </p:set>
                                    <p:anim calcmode="lin" valueType="num">
                                      <p:cBhvr additive="base">
                                        <p:cTn id="7" dur="500" fill="hold"/>
                                        <p:tgtEl>
                                          <p:spTgt spid="681177670"/>
                                        </p:tgtEl>
                                        <p:attrNameLst>
                                          <p:attrName>ppt_x</p:attrName>
                                        </p:attrNameLst>
                                      </p:cBhvr>
                                      <p:tavLst>
                                        <p:tav tm="0">
                                          <p:val>
                                            <p:strVal val="#ppt_x"/>
                                          </p:val>
                                        </p:tav>
                                        <p:tav tm="100000">
                                          <p:val>
                                            <p:strVal val="#ppt_x"/>
                                          </p:val>
                                        </p:tav>
                                      </p:tavLst>
                                    </p:anim>
                                    <p:anim calcmode="lin" valueType="num">
                                      <p:cBhvr additive="base">
                                        <p:cTn id="8" dur="500" fill="hold"/>
                                        <p:tgtEl>
                                          <p:spTgt spid="681177670"/>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1444464100">
                                            <p:txEl>
                                              <p:pRg st="1" end="1"/>
                                            </p:txEl>
                                          </p:spTgt>
                                        </p:tgtEl>
                                        <p:attrNameLst>
                                          <p:attrName>style.visibility</p:attrName>
                                        </p:attrNameLst>
                                      </p:cBhvr>
                                      <p:to>
                                        <p:strVal val="visible"/>
                                      </p:to>
                                    </p:set>
                                    <p:animEffect transition="in" filter="wipe(left)">
                                      <p:cBhvr>
                                        <p:cTn id="13" dur="500"/>
                                        <p:tgtEl>
                                          <p:spTgt spid="144446410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444464100">
                                            <p:txEl>
                                              <p:pRg st="2" end="2"/>
                                            </p:txEl>
                                          </p:spTgt>
                                        </p:tgtEl>
                                        <p:attrNameLst>
                                          <p:attrName>style.visibility</p:attrName>
                                        </p:attrNameLst>
                                      </p:cBhvr>
                                      <p:to>
                                        <p:strVal val="visible"/>
                                      </p:to>
                                    </p:set>
                                    <p:animEffect transition="in" filter="wipe(left)">
                                      <p:cBhvr>
                                        <p:cTn id="18" dur="500"/>
                                        <p:tgtEl>
                                          <p:spTgt spid="1444464100">
                                            <p:txEl>
                                              <p:pRg st="2" end="2"/>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1444464100">
                                            <p:txEl>
                                              <p:pRg st="3" end="3"/>
                                            </p:txEl>
                                          </p:spTgt>
                                        </p:tgtEl>
                                        <p:attrNameLst>
                                          <p:attrName>style.visibility</p:attrName>
                                        </p:attrNameLst>
                                      </p:cBhvr>
                                      <p:to>
                                        <p:strVal val="visible"/>
                                      </p:to>
                                    </p:set>
                                    <p:animEffect transition="in" filter="wipe(left)">
                                      <p:cBhvr>
                                        <p:cTn id="21" dur="500"/>
                                        <p:tgtEl>
                                          <p:spTgt spid="1444464100">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444464100">
                                            <p:txEl>
                                              <p:pRg st="4" end="4"/>
                                            </p:txEl>
                                          </p:spTgt>
                                        </p:tgtEl>
                                        <p:attrNameLst>
                                          <p:attrName>style.visibility</p:attrName>
                                        </p:attrNameLst>
                                      </p:cBhvr>
                                      <p:to>
                                        <p:strVal val="visible"/>
                                      </p:to>
                                    </p:set>
                                    <p:animEffect transition="in" filter="wipe(left)">
                                      <p:cBhvr>
                                        <p:cTn id="26" dur="500"/>
                                        <p:tgtEl>
                                          <p:spTgt spid="1444464100">
                                            <p:txEl>
                                              <p:pRg st="4" end="4"/>
                                            </p:txEl>
                                          </p:spTgt>
                                        </p:tgtEl>
                                      </p:cBhvr>
                                    </p:animEffect>
                                  </p:childTnLst>
                                </p:cTn>
                              </p:par>
                              <p:par>
                                <p:cTn id="27" presetID="22" presetClass="entr" presetSubtype="8" fill="hold" nodeType="withEffect">
                                  <p:stCondLst>
                                    <p:cond delay="0"/>
                                  </p:stCondLst>
                                  <p:childTnLst>
                                    <p:set>
                                      <p:cBhvr>
                                        <p:cTn id="28" dur="1" fill="hold">
                                          <p:stCondLst>
                                            <p:cond delay="0"/>
                                          </p:stCondLst>
                                        </p:cTn>
                                        <p:tgtEl>
                                          <p:spTgt spid="1444464100">
                                            <p:txEl>
                                              <p:pRg st="5" end="5"/>
                                            </p:txEl>
                                          </p:spTgt>
                                        </p:tgtEl>
                                        <p:attrNameLst>
                                          <p:attrName>style.visibility</p:attrName>
                                        </p:attrNameLst>
                                      </p:cBhvr>
                                      <p:to>
                                        <p:strVal val="visible"/>
                                      </p:to>
                                    </p:set>
                                    <p:animEffect transition="in" filter="wipe(left)">
                                      <p:cBhvr>
                                        <p:cTn id="29" dur="500"/>
                                        <p:tgtEl>
                                          <p:spTgt spid="1444464100">
                                            <p:txEl>
                                              <p:pRg st="5" end="5"/>
                                            </p:txEl>
                                          </p:spTgt>
                                        </p:tgtEl>
                                      </p:cBhvr>
                                    </p:animEffect>
                                  </p:childTnLst>
                                </p:cTn>
                              </p:par>
                              <p:par>
                                <p:cTn id="30" presetID="22" presetClass="entr" presetSubtype="8" fill="hold" nodeType="withEffect">
                                  <p:stCondLst>
                                    <p:cond delay="0"/>
                                  </p:stCondLst>
                                  <p:childTnLst>
                                    <p:set>
                                      <p:cBhvr>
                                        <p:cTn id="31" dur="1" fill="hold">
                                          <p:stCondLst>
                                            <p:cond delay="0"/>
                                          </p:stCondLst>
                                        </p:cTn>
                                        <p:tgtEl>
                                          <p:spTgt spid="1444464100">
                                            <p:txEl>
                                              <p:pRg st="6" end="6"/>
                                            </p:txEl>
                                          </p:spTgt>
                                        </p:tgtEl>
                                        <p:attrNameLst>
                                          <p:attrName>style.visibility</p:attrName>
                                        </p:attrNameLst>
                                      </p:cBhvr>
                                      <p:to>
                                        <p:strVal val="visible"/>
                                      </p:to>
                                    </p:set>
                                    <p:animEffect transition="in" filter="wipe(left)">
                                      <p:cBhvr>
                                        <p:cTn id="32" dur="500"/>
                                        <p:tgtEl>
                                          <p:spTgt spid="144446410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1177670" grpId="0"/>
    </p:bldLst>
  </p:timing>
</p:sld>
</file>

<file path=ppt/slides/slide1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22900826" name="Google Shape;2035;p120"/>
          <p:cNvSpPr txBox="1">
            <a:spLocks noGrp="1"/>
          </p:cNvSpPr>
          <p:nvPr>
            <p:ph type="body" idx="1"/>
          </p:nvPr>
        </p:nvSpPr>
        <p:spPr bwMode="auto">
          <a:xfrm>
            <a:off x="838200" y="2133599"/>
            <a:ext cx="5257800" cy="4043363"/>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00000"/>
              </a:lnSpc>
              <a:spcBef>
                <a:spcPts val="0"/>
              </a:spcBef>
              <a:spcAft>
                <a:spcPts val="0"/>
              </a:spcAft>
              <a:buClr>
                <a:schemeClr val="dk1"/>
              </a:buClr>
              <a:buSzPts val="2800"/>
              <a:buChar char="•"/>
              <a:defRPr/>
            </a:pPr>
            <a:r>
              <a:rPr lang="en-US">
                <a:solidFill>
                  <a:schemeClr val="tx1"/>
                </a:solidFill>
              </a:rPr>
              <a:t>A key area where satisfactory performance is required for the organization to achieve its goals</a:t>
            </a:r>
            <a:endParaRPr>
              <a:solidFill>
                <a:schemeClr val="tx1"/>
              </a:solidFill>
            </a:endParaRPr>
          </a:p>
          <a:p>
            <a:pPr marL="228600" lvl="0" indent="-228600" algn="l" rtl="0">
              <a:lnSpc>
                <a:spcPct val="100000"/>
              </a:lnSpc>
              <a:spcBef>
                <a:spcPts val="0"/>
              </a:spcBef>
              <a:spcAft>
                <a:spcPts val="0"/>
              </a:spcAft>
              <a:buClr>
                <a:schemeClr val="dk1"/>
              </a:buClr>
              <a:buSzPts val="2800"/>
              <a:buChar char="•"/>
              <a:defRPr/>
            </a:pPr>
            <a:r>
              <a:rPr lang="en-US">
                <a:solidFill>
                  <a:schemeClr val="tx1"/>
                </a:solidFill>
              </a:rPr>
              <a:t>A means of identifying the tasks and requirements needed for success</a:t>
            </a:r>
            <a:endParaRPr>
              <a:solidFill>
                <a:schemeClr val="tx1"/>
              </a:solidFill>
            </a:endParaRPr>
          </a:p>
          <a:p>
            <a:pPr marL="228600" lvl="0" indent="-228600" algn="l" rtl="0">
              <a:lnSpc>
                <a:spcPct val="100000"/>
              </a:lnSpc>
              <a:spcBef>
                <a:spcPts val="0"/>
              </a:spcBef>
              <a:spcAft>
                <a:spcPts val="0"/>
              </a:spcAft>
              <a:buClr>
                <a:schemeClr val="dk1"/>
              </a:buClr>
              <a:buSzPts val="2800"/>
              <a:buChar char="•"/>
              <a:defRPr/>
            </a:pPr>
            <a:r>
              <a:rPr lang="en-US">
                <a:solidFill>
                  <a:schemeClr val="tx1"/>
                </a:solidFill>
              </a:rPr>
              <a:t>At the lowest level, CSFs become concrete requirements </a:t>
            </a:r>
            <a:endParaRPr>
              <a:solidFill>
                <a:schemeClr val="tx1"/>
              </a:solidFill>
            </a:endParaRPr>
          </a:p>
          <a:p>
            <a:pPr marL="228600" lvl="0" indent="-228600" algn="l" rtl="0">
              <a:lnSpc>
                <a:spcPct val="100000"/>
              </a:lnSpc>
              <a:spcBef>
                <a:spcPts val="0"/>
              </a:spcBef>
              <a:spcAft>
                <a:spcPts val="0"/>
              </a:spcAft>
              <a:buClr>
                <a:schemeClr val="dk1"/>
              </a:buClr>
              <a:buSzPts val="2800"/>
              <a:buChar char="•"/>
              <a:defRPr/>
            </a:pPr>
            <a:r>
              <a:rPr lang="en-US">
                <a:solidFill>
                  <a:schemeClr val="tx1"/>
                </a:solidFill>
              </a:rPr>
              <a:t>A means to prioritize requirements</a:t>
            </a:r>
            <a:endParaRPr>
              <a:solidFill>
                <a:schemeClr val="tx1"/>
              </a:solidFill>
            </a:endParaRPr>
          </a:p>
        </p:txBody>
      </p:sp>
      <p:sp>
        <p:nvSpPr>
          <p:cNvPr id="248268152" name="Google Shape;2036;p120"/>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134</a:t>
            </a:fld>
            <a:endParaRPr/>
          </a:p>
        </p:txBody>
      </p:sp>
      <p:sp>
        <p:nvSpPr>
          <p:cNvPr id="1018850065" name="Google Shape;2037;p120"/>
          <p:cNvSpPr txBox="1"/>
          <p:nvPr/>
        </p:nvSpPr>
        <p:spPr bwMode="auto">
          <a:xfrm>
            <a:off x="3545682" y="1067916"/>
            <a:ext cx="4491037" cy="35394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1700"/>
              <a:buFont typeface="Arimo"/>
              <a:buNone/>
              <a:defRPr/>
            </a:pPr>
            <a:r>
              <a:rPr lang="en-US" sz="1700">
                <a:solidFill>
                  <a:schemeClr val="dk1"/>
                </a:solidFill>
                <a:latin typeface="Arimo"/>
                <a:ea typeface="Arimo"/>
                <a:cs typeface="Arimo"/>
              </a:rPr>
              <a:t>1.5 Project Management Failure</a:t>
            </a:r>
            <a:endParaRPr sz="1700">
              <a:solidFill>
                <a:schemeClr val="dk1"/>
              </a:solidFill>
              <a:latin typeface="Arimo"/>
              <a:ea typeface="Arimo"/>
              <a:cs typeface="Arimo"/>
            </a:endParaRPr>
          </a:p>
        </p:txBody>
      </p:sp>
      <p:cxnSp>
        <p:nvCxnSpPr>
          <p:cNvPr id="1882565519" name="Google Shape;2038;p120"/>
          <p:cNvCxnSpPr/>
          <p:nvPr/>
        </p:nvCxnSpPr>
        <p:spPr bwMode="auto">
          <a:xfrm rot="10800000">
            <a:off x="5279289" y="1524000"/>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1401003333" name="Google Shape;2039;p120"/>
          <p:cNvSpPr txBox="1"/>
          <p:nvPr/>
        </p:nvSpPr>
        <p:spPr bwMode="auto">
          <a:xfrm>
            <a:off x="1143000" y="533400"/>
            <a:ext cx="967740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defRPr/>
            </a:pPr>
            <a:r>
              <a:rPr lang="en-US" sz="3200" b="1">
                <a:solidFill>
                  <a:srgbClr val="0000FF"/>
                </a:solidFill>
                <a:latin typeface="Calibri"/>
                <a:ea typeface="Calibri"/>
                <a:cs typeface="Calibri"/>
              </a:rPr>
              <a:t>1.6 Critical Success Factors (CSFs)</a:t>
            </a:r>
            <a:endParaRPr sz="3200" b="1">
              <a:solidFill>
                <a:srgbClr val="0000FF"/>
              </a:solidFill>
              <a:latin typeface="Open Sans"/>
              <a:ea typeface="Open Sans"/>
              <a:cs typeface="Open Sans"/>
            </a:endParaRPr>
          </a:p>
        </p:txBody>
      </p:sp>
      <p:sp>
        <p:nvSpPr>
          <p:cNvPr id="217204079" name="TextBox 1"/>
          <p:cNvSpPr txBox="1"/>
          <p:nvPr/>
        </p:nvSpPr>
        <p:spPr bwMode="auto">
          <a:xfrm>
            <a:off x="6756401" y="2133599"/>
            <a:ext cx="5019040" cy="4031873"/>
          </a:xfrm>
          <a:prstGeom prst="rect">
            <a:avLst/>
          </a:prstGeom>
          <a:noFill/>
          <a:ln>
            <a:solidFill>
              <a:srgbClr val="0000FF"/>
            </a:solidFill>
          </a:ln>
        </p:spPr>
        <p:txBody>
          <a:bodyPr wrap="square" rtlCol="0">
            <a:spAutoFit/>
          </a:bodyPr>
          <a:lstStyle/>
          <a:p>
            <a:pPr marL="285750" indent="-285750">
              <a:buFont typeface="Arial"/>
              <a:buChar char="•"/>
              <a:defRPr/>
            </a:pPr>
            <a:r>
              <a:rPr lang="en-US" sz="2400" b="1">
                <a:solidFill>
                  <a:srgbClr val="0000FF"/>
                </a:solidFill>
              </a:rPr>
              <a:t>Make sure you have the support of </a:t>
            </a:r>
            <a:r>
              <a:rPr lang="en-US" sz="2400" b="1" u="sng">
                <a:solidFill>
                  <a:srgbClr val="0000FF"/>
                </a:solidFill>
              </a:rPr>
              <a:t>top management. </a:t>
            </a:r>
            <a:endParaRPr/>
          </a:p>
          <a:p>
            <a:pPr marL="285750" indent="-285750">
              <a:buFont typeface="Arial"/>
              <a:buChar char="•"/>
              <a:defRPr/>
            </a:pPr>
            <a:endParaRPr lang="en-US" sz="1600" b="1">
              <a:solidFill>
                <a:srgbClr val="0000FF"/>
              </a:solidFill>
            </a:endParaRPr>
          </a:p>
          <a:p>
            <a:pPr marL="285750" indent="-285750">
              <a:buFont typeface="Arial"/>
              <a:buChar char="•"/>
              <a:defRPr/>
            </a:pPr>
            <a:r>
              <a:rPr lang="en-US" sz="2400" b="1">
                <a:solidFill>
                  <a:srgbClr val="0000FF"/>
                </a:solidFill>
              </a:rPr>
              <a:t>Manage the </a:t>
            </a:r>
            <a:r>
              <a:rPr lang="en-US" sz="2400" b="1" u="sng">
                <a:solidFill>
                  <a:srgbClr val="0000FF"/>
                </a:solidFill>
              </a:rPr>
              <a:t>project scope </a:t>
            </a:r>
            <a:r>
              <a:rPr lang="en-US" sz="2400" b="1">
                <a:solidFill>
                  <a:srgbClr val="0000FF"/>
                </a:solidFill>
              </a:rPr>
              <a:t>effectively. </a:t>
            </a:r>
            <a:endParaRPr/>
          </a:p>
          <a:p>
            <a:pPr marL="285750" indent="-285750">
              <a:buFont typeface="Arial"/>
              <a:buChar char="•"/>
              <a:defRPr/>
            </a:pPr>
            <a:endParaRPr lang="en-US" sz="1600" b="1">
              <a:solidFill>
                <a:srgbClr val="0000FF"/>
              </a:solidFill>
            </a:endParaRPr>
          </a:p>
          <a:p>
            <a:pPr marL="285750" indent="-285750">
              <a:buFont typeface="Arial"/>
              <a:buChar char="•"/>
              <a:defRPr/>
            </a:pPr>
            <a:r>
              <a:rPr lang="en-US" sz="2400" b="1">
                <a:solidFill>
                  <a:srgbClr val="0000FF"/>
                </a:solidFill>
              </a:rPr>
              <a:t>Competent and </a:t>
            </a:r>
            <a:r>
              <a:rPr lang="en-US" sz="2400" b="1" u="sng">
                <a:solidFill>
                  <a:srgbClr val="0000FF"/>
                </a:solidFill>
              </a:rPr>
              <a:t>experienced project teams</a:t>
            </a:r>
            <a:endParaRPr/>
          </a:p>
          <a:p>
            <a:pPr marL="285750" indent="-285750">
              <a:buFont typeface="Arial"/>
              <a:buChar char="•"/>
              <a:defRPr/>
            </a:pPr>
            <a:endParaRPr lang="en-US" sz="1600" b="1">
              <a:solidFill>
                <a:srgbClr val="0000FF"/>
              </a:solidFill>
            </a:endParaRPr>
          </a:p>
          <a:p>
            <a:pPr marL="285750" indent="-285750">
              <a:buFont typeface="Arial"/>
              <a:buChar char="•"/>
              <a:defRPr/>
            </a:pPr>
            <a:r>
              <a:rPr lang="en-US" sz="2400" b="1">
                <a:solidFill>
                  <a:srgbClr val="FF0000"/>
                </a:solidFill>
              </a:rPr>
              <a:t>______</a:t>
            </a:r>
            <a:endParaRPr/>
          </a:p>
          <a:p>
            <a:pPr marL="285750" indent="-285750">
              <a:buFont typeface="Arial"/>
              <a:buChar char="•"/>
              <a:defRPr/>
            </a:pPr>
            <a:endParaRPr lang="en-US" sz="1600" b="1">
              <a:solidFill>
                <a:srgbClr val="0000FF"/>
              </a:solidFill>
            </a:endParaRPr>
          </a:p>
          <a:p>
            <a:pPr marL="285750" indent="-285750">
              <a:buFont typeface="Arial"/>
              <a:buChar char="•"/>
              <a:defRPr/>
            </a:pPr>
            <a:r>
              <a:rPr lang="en-US" sz="2400" b="1">
                <a:solidFill>
                  <a:srgbClr val="0000FF"/>
                </a:solidFill>
              </a:rPr>
              <a:t>Etc</a:t>
            </a:r>
            <a:endParaRPr lang="en-US" sz="2400" b="1">
              <a:solidFill>
                <a:srgbClr val="0000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med" p14:dur="750" advClick="1">
        <p:random/>
      </p:transition>
    </mc:Choice>
    <mc:Fallback>
      <p:transition spd="med" advClick="1">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401003333"/>
                                        </p:tgtEl>
                                        <p:attrNameLst>
                                          <p:attrName>style.visibility</p:attrName>
                                        </p:attrNameLst>
                                      </p:cBhvr>
                                      <p:to>
                                        <p:strVal val="visible"/>
                                      </p:to>
                                    </p:set>
                                    <p:animEffect transition="in" filter="wipe(left)">
                                      <p:cBhvr>
                                        <p:cTn id="7" dur="500"/>
                                        <p:tgtEl>
                                          <p:spTgt spid="14010033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7204079">
                                            <p:txEl>
                                              <p:pRg st="0" end="0"/>
                                            </p:txEl>
                                          </p:spTgt>
                                        </p:tgtEl>
                                        <p:attrNameLst>
                                          <p:attrName>style.visibility</p:attrName>
                                        </p:attrNameLst>
                                      </p:cBhvr>
                                      <p:to>
                                        <p:strVal val="visible"/>
                                      </p:to>
                                    </p:set>
                                    <p:animEffect transition="in" filter="wipe(left)">
                                      <p:cBhvr>
                                        <p:cTn id="12" dur="500"/>
                                        <p:tgtEl>
                                          <p:spTgt spid="21720407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17204079">
                                            <p:txEl>
                                              <p:pRg st="2" end="2"/>
                                            </p:txEl>
                                          </p:spTgt>
                                        </p:tgtEl>
                                        <p:attrNameLst>
                                          <p:attrName>style.visibility</p:attrName>
                                        </p:attrNameLst>
                                      </p:cBhvr>
                                      <p:to>
                                        <p:strVal val="visible"/>
                                      </p:to>
                                    </p:set>
                                    <p:animEffect transition="in" filter="wipe(left)">
                                      <p:cBhvr>
                                        <p:cTn id="17" dur="500"/>
                                        <p:tgtEl>
                                          <p:spTgt spid="2172040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7204079">
                                            <p:txEl>
                                              <p:pRg st="4" end="4"/>
                                            </p:txEl>
                                          </p:spTgt>
                                        </p:tgtEl>
                                        <p:attrNameLst>
                                          <p:attrName>style.visibility</p:attrName>
                                        </p:attrNameLst>
                                      </p:cBhvr>
                                      <p:to>
                                        <p:strVal val="visible"/>
                                      </p:to>
                                    </p:set>
                                    <p:animEffect transition="in" filter="wipe(left)">
                                      <p:cBhvr>
                                        <p:cTn id="22" dur="500"/>
                                        <p:tgtEl>
                                          <p:spTgt spid="21720407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17204079">
                                            <p:txEl>
                                              <p:pRg st="6" end="6"/>
                                            </p:txEl>
                                          </p:spTgt>
                                        </p:tgtEl>
                                        <p:attrNameLst>
                                          <p:attrName>style.visibility</p:attrName>
                                        </p:attrNameLst>
                                      </p:cBhvr>
                                      <p:to>
                                        <p:strVal val="visible"/>
                                      </p:to>
                                    </p:set>
                                    <p:anim calcmode="lin" valueType="num">
                                      <p:cBhvr additive="base">
                                        <p:cTn id="27" dur="500" fill="hold"/>
                                        <p:tgtEl>
                                          <p:spTgt spid="217204079">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17204079">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17204079">
                                            <p:txEl>
                                              <p:pRg st="8" end="8"/>
                                            </p:txEl>
                                          </p:spTgt>
                                        </p:tgtEl>
                                        <p:attrNameLst>
                                          <p:attrName>style.visibility</p:attrName>
                                        </p:attrNameLst>
                                      </p:cBhvr>
                                      <p:to>
                                        <p:strVal val="visible"/>
                                      </p:to>
                                    </p:set>
                                    <p:anim calcmode="lin" valueType="num">
                                      <p:cBhvr additive="base">
                                        <p:cTn id="31" dur="500" fill="hold"/>
                                        <p:tgtEl>
                                          <p:spTgt spid="217204079">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720407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003333" grpId="0"/>
    </p:bldLst>
  </p:timing>
</p:sld>
</file>

<file path=ppt/slides/slide1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80953557" name="Google Shape;2044;p121"/>
          <p:cNvSpPr txBox="1">
            <a:spLocks noGrp="1"/>
          </p:cNvSpPr>
          <p:nvPr>
            <p:ph type="title"/>
          </p:nvPr>
        </p:nvSpPr>
        <p:spPr bwMode="auto">
          <a:xfrm>
            <a:off x="533400" y="365125"/>
            <a:ext cx="5486400" cy="1325563"/>
          </a:xfrm>
          <a:prstGeom prst="rect">
            <a:avLst/>
          </a:prstGeom>
          <a:noFill/>
          <a:ln>
            <a:noFill/>
          </a:ln>
        </p:spPr>
        <p:txBody>
          <a:bodyPr spcFirstLastPara="1" wrap="square" lIns="91425" tIns="45700" rIns="91425" bIns="45700" anchor="ctr" anchorCtr="0">
            <a:normAutofit/>
          </a:bodyPr>
          <a:lstStyle/>
          <a:p>
            <a:pPr marL="0" lvl="0" indent="0" rtl="0">
              <a:lnSpc>
                <a:spcPct val="90000"/>
              </a:lnSpc>
              <a:spcBef>
                <a:spcPts val="0"/>
              </a:spcBef>
              <a:spcAft>
                <a:spcPts val="0"/>
              </a:spcAft>
              <a:buClr>
                <a:schemeClr val="dk1"/>
              </a:buClr>
              <a:buSzPts val="4400"/>
              <a:buFont typeface="Calibri"/>
              <a:buNone/>
              <a:defRPr/>
            </a:pPr>
            <a:r>
              <a:rPr lang="en-US" sz="4800" b="1"/>
              <a:t>Summary</a:t>
            </a:r>
            <a:endParaRPr sz="4800" b="1"/>
          </a:p>
        </p:txBody>
      </p:sp>
      <p:sp>
        <p:nvSpPr>
          <p:cNvPr id="3210164" name="Google Shape;2045;p121"/>
          <p:cNvSpPr txBox="1">
            <a:spLocks noGrp="1"/>
          </p:cNvSpPr>
          <p:nvPr>
            <p:ph type="body" idx="1"/>
          </p:nvPr>
        </p:nvSpPr>
        <p:spPr bwMode="auto">
          <a:xfrm>
            <a:off x="457200" y="1825625"/>
            <a:ext cx="4124960" cy="4351338"/>
          </a:xfrm>
          <a:prstGeom prst="rect">
            <a:avLst/>
          </a:prstGeom>
          <a:noFill/>
          <a:ln>
            <a:noFill/>
          </a:ln>
        </p:spPr>
        <p:txBody>
          <a:bodyPr spcFirstLastPara="1" wrap="square" lIns="91425" tIns="45700" rIns="91425" bIns="45700" anchor="t" anchorCtr="0">
            <a:normAutofit/>
          </a:bodyPr>
          <a:lstStyle/>
          <a:p>
            <a:pPr marL="538163" lvl="0" indent="-538163" algn="l" rtl="0">
              <a:lnSpc>
                <a:spcPct val="90000"/>
              </a:lnSpc>
              <a:spcBef>
                <a:spcPts val="0"/>
              </a:spcBef>
              <a:spcAft>
                <a:spcPts val="0"/>
              </a:spcAft>
              <a:buClr>
                <a:schemeClr val="dk1"/>
              </a:buClr>
              <a:buSzPts val="2800"/>
              <a:buNone/>
              <a:defRPr/>
            </a:pPr>
            <a:r>
              <a:rPr lang="en-US" sz="2800"/>
              <a:t>1.1 Introduction to </a:t>
            </a:r>
            <a:r>
              <a:rPr lang="en-US" sz="2800" b="1"/>
              <a:t>Project Management</a:t>
            </a:r>
            <a:endParaRPr b="1"/>
          </a:p>
          <a:p>
            <a:pPr marL="538163" lvl="0" indent="-538163" algn="l" rtl="0">
              <a:lnSpc>
                <a:spcPct val="90000"/>
              </a:lnSpc>
              <a:spcBef>
                <a:spcPts val="1000"/>
              </a:spcBef>
              <a:spcAft>
                <a:spcPts val="0"/>
              </a:spcAft>
              <a:buClr>
                <a:schemeClr val="dk1"/>
              </a:buClr>
              <a:buSzPts val="2800"/>
              <a:buNone/>
              <a:defRPr/>
            </a:pPr>
            <a:r>
              <a:rPr lang="en-US" sz="2800"/>
              <a:t>1.2 Project </a:t>
            </a:r>
            <a:r>
              <a:rPr lang="en-US" sz="2800" b="1"/>
              <a:t>Life Cycle</a:t>
            </a:r>
            <a:endParaRPr b="1"/>
          </a:p>
          <a:p>
            <a:pPr marL="538163" lvl="0" indent="-538163" algn="l" rtl="0">
              <a:lnSpc>
                <a:spcPct val="90000"/>
              </a:lnSpc>
              <a:spcBef>
                <a:spcPts val="1000"/>
              </a:spcBef>
              <a:spcAft>
                <a:spcPts val="0"/>
              </a:spcAft>
              <a:buClr>
                <a:schemeClr val="dk1"/>
              </a:buClr>
              <a:buSzPts val="2800"/>
              <a:buNone/>
              <a:defRPr/>
            </a:pPr>
            <a:r>
              <a:rPr lang="en-US" sz="2800"/>
              <a:t>1.3 Project </a:t>
            </a:r>
            <a:r>
              <a:rPr lang="en-US" sz="2800" b="1"/>
              <a:t>Appraisal</a:t>
            </a:r>
            <a:endParaRPr/>
          </a:p>
          <a:p>
            <a:pPr marL="538163" lvl="0" indent="-538163" algn="l" rtl="0">
              <a:lnSpc>
                <a:spcPct val="90000"/>
              </a:lnSpc>
              <a:spcBef>
                <a:spcPts val="1000"/>
              </a:spcBef>
              <a:spcAft>
                <a:spcPts val="0"/>
              </a:spcAft>
              <a:buClr>
                <a:schemeClr val="dk1"/>
              </a:buClr>
              <a:buSzPts val="2800"/>
              <a:buNone/>
              <a:defRPr/>
            </a:pPr>
            <a:r>
              <a:rPr lang="en-US" sz="2800"/>
              <a:t>1.4 </a:t>
            </a:r>
            <a:r>
              <a:rPr lang="en-US" sz="2800" b="1"/>
              <a:t>Knowledge</a:t>
            </a:r>
            <a:r>
              <a:rPr lang="en-US" sz="2800"/>
              <a:t> </a:t>
            </a:r>
            <a:r>
              <a:rPr lang="en-US" sz="2800" b="1"/>
              <a:t>and</a:t>
            </a:r>
            <a:r>
              <a:rPr lang="en-US" sz="2800"/>
              <a:t> </a:t>
            </a:r>
            <a:r>
              <a:rPr lang="en-US" sz="2800" b="1"/>
              <a:t>Attributes</a:t>
            </a:r>
            <a:r>
              <a:rPr lang="en-US" sz="2800"/>
              <a:t> of a Project Manager</a:t>
            </a:r>
            <a:endParaRPr/>
          </a:p>
          <a:p>
            <a:pPr marL="538163" lvl="0" indent="-538163" algn="l" rtl="0">
              <a:lnSpc>
                <a:spcPct val="90000"/>
              </a:lnSpc>
              <a:spcBef>
                <a:spcPts val="1000"/>
              </a:spcBef>
              <a:spcAft>
                <a:spcPts val="0"/>
              </a:spcAft>
              <a:buClr>
                <a:schemeClr val="dk1"/>
              </a:buClr>
              <a:buSzPts val="2800"/>
              <a:buNone/>
              <a:defRPr/>
            </a:pPr>
            <a:endParaRPr/>
          </a:p>
        </p:txBody>
      </p:sp>
      <p:sp>
        <p:nvSpPr>
          <p:cNvPr id="1751151050" name="Google Shape;2046;p121"/>
          <p:cNvSpPr txBox="1">
            <a:spLocks noGrp="1"/>
          </p:cNvSpPr>
          <p:nvPr>
            <p:ph type="sldNum" idx="12"/>
          </p:nvPr>
        </p:nvSpPr>
        <p:spPr bwMode="auto">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US"/>
              <a:t>135</a:t>
            </a:fld>
            <a:endParaRPr/>
          </a:p>
        </p:txBody>
      </p:sp>
      <p:pic>
        <p:nvPicPr>
          <p:cNvPr id="248592304" name="Google Shape;2047;p121"/>
          <p:cNvPicPr/>
          <p:nvPr/>
        </p:nvPicPr>
        <p:blipFill rotWithShape="1">
          <a:blip r:embed="rId3">
            <a:alphaModFix/>
          </a:blip>
          <a:stretch/>
        </p:blipFill>
        <p:spPr bwMode="auto">
          <a:xfrm>
            <a:off x="6553200" y="1"/>
            <a:ext cx="5638800" cy="6858000"/>
          </a:xfrm>
          <a:prstGeom prst="rect">
            <a:avLst/>
          </a:prstGeom>
          <a:noFill/>
          <a:ln>
            <a:noFill/>
          </a:ln>
        </p:spPr>
      </p:pic>
      <p:cxnSp>
        <p:nvCxnSpPr>
          <p:cNvPr id="191997475" name="Google Shape;2048;p121"/>
          <p:cNvCxnSpPr/>
          <p:nvPr/>
        </p:nvCxnSpPr>
        <p:spPr bwMode="auto">
          <a:xfrm rot="10800000">
            <a:off x="1143000" y="1433285"/>
            <a:ext cx="1023822" cy="0"/>
          </a:xfrm>
          <a:prstGeom prst="straightConnector1">
            <a:avLst/>
          </a:prstGeom>
          <a:noFill/>
          <a:ln w="28575" cap="flat" cmpd="sng">
            <a:solidFill>
              <a:srgbClr val="3F3F3F"/>
            </a:solidFill>
            <a:prstDash val="solid"/>
            <a:miter lim="800000"/>
            <a:headEnd type="none" w="sm" len="sm"/>
            <a:tailEnd type="none" w="sm" len="sm"/>
          </a:ln>
        </p:spPr>
      </p:cxnSp>
      <p:sp>
        <p:nvSpPr>
          <p:cNvPr id="556379885" name="Google Shape;2045;p121"/>
          <p:cNvSpPr txBox="1"/>
          <p:nvPr/>
        </p:nvSpPr>
        <p:spPr bwMode="auto">
          <a:xfrm>
            <a:off x="5115560" y="1690688"/>
            <a:ext cx="5730240" cy="3678146"/>
          </a:xfrm>
          <a:prstGeom prst="rect">
            <a:avLst/>
          </a:prstGeom>
          <a:solidFill>
            <a:schemeClr val="accent2">
              <a:lumMod val="40000"/>
              <a:lumOff val="60000"/>
            </a:schemeClr>
          </a:solid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defRPr>
            </a:lvl9pPr>
          </a:lstStyle>
          <a:p>
            <a:pPr marL="538163" indent="-538163">
              <a:buSzPts val="2800"/>
              <a:buFont typeface="Arial"/>
              <a:buNone/>
              <a:defRPr/>
            </a:pPr>
            <a:r>
              <a:rPr lang="en-US" b="1"/>
              <a:t>1.5 Project Management Failure</a:t>
            </a:r>
            <a:endParaRPr/>
          </a:p>
          <a:p>
            <a:pPr marL="995363" lvl="1" indent="-374650">
              <a:buSzPts val="2800"/>
              <a:buNone/>
              <a:defRPr/>
            </a:pPr>
            <a:r>
              <a:rPr lang="en-US" sz="2100">
                <a:solidFill>
                  <a:srgbClr val="0000FF"/>
                </a:solidFill>
              </a:rPr>
              <a:t>Project Objectives Vs Business Objectives</a:t>
            </a:r>
            <a:endParaRPr/>
          </a:p>
          <a:p>
            <a:pPr marL="538163" lvl="0" indent="82550">
              <a:buSzPts val="2800"/>
              <a:buNone/>
              <a:defRPr/>
            </a:pPr>
            <a:r>
              <a:rPr lang="en-US" sz="2100">
                <a:solidFill>
                  <a:srgbClr val="0000FF"/>
                </a:solidFill>
              </a:rPr>
              <a:t>Causes of project failures</a:t>
            </a:r>
            <a:endParaRPr/>
          </a:p>
          <a:p>
            <a:pPr marL="538163" indent="-538163">
              <a:buSzPts val="2800"/>
              <a:buFont typeface="Arial"/>
              <a:buNone/>
              <a:defRPr/>
            </a:pPr>
            <a:endParaRPr lang="en-US" b="1"/>
          </a:p>
          <a:p>
            <a:pPr marL="538163" indent="-538163">
              <a:buSzPts val="2800"/>
              <a:buFont typeface="Arial"/>
              <a:buNone/>
              <a:defRPr/>
            </a:pPr>
            <a:r>
              <a:rPr lang="en-US" b="1">
                <a:solidFill>
                  <a:schemeClr val="tx1"/>
                </a:solidFill>
              </a:rPr>
              <a:t>1.6 Critical Success Factors (CSFs)</a:t>
            </a:r>
            <a:endParaRPr/>
          </a:p>
          <a:p>
            <a:pPr marL="538163" indent="82550">
              <a:buSzPts val="2800"/>
              <a:buFont typeface="Arial"/>
              <a:buNone/>
              <a:defRPr/>
            </a:pPr>
            <a:r>
              <a:rPr lang="en-US" b="1">
                <a:solidFill>
                  <a:srgbClr val="0000FF"/>
                </a:solidFill>
              </a:rPr>
              <a:t>…</a:t>
            </a:r>
            <a:endParaRPr/>
          </a:p>
          <a:p>
            <a:pPr marL="538163" indent="82550">
              <a:buSzPts val="2800"/>
              <a:buFont typeface="Arial"/>
              <a:buNone/>
              <a:defRPr/>
            </a:pPr>
            <a:r>
              <a:rPr lang="en-US" b="1">
                <a:solidFill>
                  <a:srgbClr val="0000FF"/>
                </a:solidFill>
              </a:rPr>
              <a:t>…</a:t>
            </a:r>
            <a:endParaRPr/>
          </a:p>
        </p:txBody>
      </p:sp>
      <p:sp>
        <p:nvSpPr>
          <p:cNvPr id="1863871937" name="TextBox 2"/>
          <p:cNvSpPr txBox="1"/>
          <p:nvPr/>
        </p:nvSpPr>
        <p:spPr bwMode="auto">
          <a:xfrm>
            <a:off x="7041241" y="5511938"/>
            <a:ext cx="4198257" cy="707886"/>
          </a:xfrm>
          <a:prstGeom prst="rect">
            <a:avLst/>
          </a:prstGeom>
          <a:noFill/>
        </p:spPr>
        <p:txBody>
          <a:bodyPr wrap="square" rtlCol="0">
            <a:spAutoFit/>
          </a:bodyPr>
          <a:lstStyle/>
          <a:p>
            <a:pPr>
              <a:defRPr/>
            </a:pPr>
            <a:r>
              <a:rPr lang="en-US" sz="4000" i="1">
                <a:solidFill>
                  <a:srgbClr val="FFFF00"/>
                </a:solidFill>
              </a:rPr>
              <a:t>End of chapter 1</a:t>
            </a:r>
            <a:endParaRPr lang="en-GB" sz="4000" i="1">
              <a:solidFill>
                <a:srgbClr val="FFFF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l"/>
      </p:transition>
    </mc:Choice>
    <mc:Fallback>
      <p:transition spd="slow" advClick="1">
        <p:push dir="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480953557"/>
                                        </p:tgtEl>
                                        <p:attrNameLst>
                                          <p:attrName>style.visibility</p:attrName>
                                        </p:attrNameLst>
                                      </p:cBhvr>
                                      <p:to>
                                        <p:strVal val="visible"/>
                                      </p:to>
                                    </p:set>
                                    <p:anim calcmode="lin" valueType="num">
                                      <p:cBhvr additive="base">
                                        <p:cTn id="7" dur="500" fill="hold"/>
                                        <p:tgtEl>
                                          <p:spTgt spid="480953557"/>
                                        </p:tgtEl>
                                        <p:attrNameLst>
                                          <p:attrName>ppt_x</p:attrName>
                                        </p:attrNameLst>
                                      </p:cBhvr>
                                      <p:tavLst>
                                        <p:tav tm="0">
                                          <p:val>
                                            <p:strVal val="#ppt_x"/>
                                          </p:val>
                                        </p:tav>
                                        <p:tav tm="100000">
                                          <p:val>
                                            <p:strVal val="#ppt_x"/>
                                          </p:val>
                                        </p:tav>
                                      </p:tavLst>
                                    </p:anim>
                                    <p:anim calcmode="lin" valueType="num">
                                      <p:cBhvr additive="base">
                                        <p:cTn id="8" dur="500" fill="hold"/>
                                        <p:tgtEl>
                                          <p:spTgt spid="480953557"/>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56379885"/>
                                        </p:tgtEl>
                                        <p:attrNameLst>
                                          <p:attrName>style.visibility</p:attrName>
                                        </p:attrNameLst>
                                      </p:cBhvr>
                                      <p:to>
                                        <p:strVal val="visible"/>
                                      </p:to>
                                    </p:set>
                                    <p:animEffect transition="in" filter="wipe(left)">
                                      <p:cBhvr>
                                        <p:cTn id="13" dur="500"/>
                                        <p:tgtEl>
                                          <p:spTgt spid="556379885"/>
                                        </p:tgtEl>
                                      </p:cBhvr>
                                    </p:animEffect>
                                  </p:childTnLst>
                                </p:cTn>
                              </p:par>
                              <p:par>
                                <p:cTn id="14" presetID="22" presetClass="entr" presetSubtype="8" fill="hold" nodeType="withEffect">
                                  <p:stCondLst>
                                    <p:cond delay="0"/>
                                  </p:stCondLst>
                                  <p:childTnLst>
                                    <p:set>
                                      <p:cBhvr>
                                        <p:cTn id="15" dur="1" fill="hold">
                                          <p:stCondLst>
                                            <p:cond delay="0"/>
                                          </p:stCondLst>
                                        </p:cTn>
                                        <p:tgtEl>
                                          <p:spTgt spid="556379885">
                                            <p:txEl>
                                              <p:pRg st="0" end="0"/>
                                            </p:txEl>
                                          </p:spTgt>
                                        </p:tgtEl>
                                        <p:attrNameLst>
                                          <p:attrName>style.visibility</p:attrName>
                                        </p:attrNameLst>
                                      </p:cBhvr>
                                      <p:to>
                                        <p:strVal val="visible"/>
                                      </p:to>
                                    </p:set>
                                    <p:animEffect transition="in" filter="wipe(left)">
                                      <p:cBhvr>
                                        <p:cTn id="16" dur="500"/>
                                        <p:tgtEl>
                                          <p:spTgt spid="556379885">
                                            <p:txEl>
                                              <p:pRg st="0" end="0"/>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556379885">
                                            <p:txEl>
                                              <p:pRg st="1" end="1"/>
                                            </p:txEl>
                                          </p:spTgt>
                                        </p:tgtEl>
                                        <p:attrNameLst>
                                          <p:attrName>style.visibility</p:attrName>
                                        </p:attrNameLst>
                                      </p:cBhvr>
                                      <p:to>
                                        <p:strVal val="visible"/>
                                      </p:to>
                                    </p:set>
                                    <p:animEffect transition="in" filter="wipe(left)">
                                      <p:cBhvr>
                                        <p:cTn id="19" dur="500"/>
                                        <p:tgtEl>
                                          <p:spTgt spid="556379885">
                                            <p:txEl>
                                              <p:pRg st="1" end="1"/>
                                            </p:txEl>
                                          </p:spTgt>
                                        </p:tgtEl>
                                      </p:cBhvr>
                                    </p:animEffect>
                                  </p:childTnLst>
                                </p:cTn>
                              </p:par>
                              <p:par>
                                <p:cTn id="20" presetID="22" presetClass="entr" presetSubtype="8" fill="hold" nodeType="withEffect">
                                  <p:stCondLst>
                                    <p:cond delay="0"/>
                                  </p:stCondLst>
                                  <p:childTnLst>
                                    <p:set>
                                      <p:cBhvr>
                                        <p:cTn id="21" dur="1" fill="hold">
                                          <p:stCondLst>
                                            <p:cond delay="0"/>
                                          </p:stCondLst>
                                        </p:cTn>
                                        <p:tgtEl>
                                          <p:spTgt spid="556379885">
                                            <p:txEl>
                                              <p:pRg st="2" end="2"/>
                                            </p:txEl>
                                          </p:spTgt>
                                        </p:tgtEl>
                                        <p:attrNameLst>
                                          <p:attrName>style.visibility</p:attrName>
                                        </p:attrNameLst>
                                      </p:cBhvr>
                                      <p:to>
                                        <p:strVal val="visible"/>
                                      </p:to>
                                    </p:set>
                                    <p:animEffect transition="in" filter="wipe(left)">
                                      <p:cBhvr>
                                        <p:cTn id="22" dur="500"/>
                                        <p:tgtEl>
                                          <p:spTgt spid="55637988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56379885">
                                            <p:txEl>
                                              <p:pRg st="4" end="4"/>
                                            </p:txEl>
                                          </p:spTgt>
                                        </p:tgtEl>
                                        <p:attrNameLst>
                                          <p:attrName>style.visibility</p:attrName>
                                        </p:attrNameLst>
                                      </p:cBhvr>
                                      <p:to>
                                        <p:strVal val="visible"/>
                                      </p:to>
                                    </p:set>
                                    <p:animEffect transition="in" filter="wipe(left)">
                                      <p:cBhvr>
                                        <p:cTn id="27" dur="500"/>
                                        <p:tgtEl>
                                          <p:spTgt spid="556379885">
                                            <p:txEl>
                                              <p:pRg st="4" end="4"/>
                                            </p:txEl>
                                          </p:spTgt>
                                        </p:tgtEl>
                                      </p:cBhvr>
                                    </p:animEffect>
                                  </p:childTnLst>
                                </p:cTn>
                              </p:par>
                              <p:par>
                                <p:cTn id="28" presetID="22" presetClass="entr" presetSubtype="8" fill="hold" nodeType="withEffect">
                                  <p:stCondLst>
                                    <p:cond delay="0"/>
                                  </p:stCondLst>
                                  <p:childTnLst>
                                    <p:set>
                                      <p:cBhvr>
                                        <p:cTn id="29" dur="1" fill="hold">
                                          <p:stCondLst>
                                            <p:cond delay="0"/>
                                          </p:stCondLst>
                                        </p:cTn>
                                        <p:tgtEl>
                                          <p:spTgt spid="556379885">
                                            <p:txEl>
                                              <p:pRg st="5" end="5"/>
                                            </p:txEl>
                                          </p:spTgt>
                                        </p:tgtEl>
                                        <p:attrNameLst>
                                          <p:attrName>style.visibility</p:attrName>
                                        </p:attrNameLst>
                                      </p:cBhvr>
                                      <p:to>
                                        <p:strVal val="visible"/>
                                      </p:to>
                                    </p:set>
                                    <p:animEffect transition="in" filter="wipe(left)">
                                      <p:cBhvr>
                                        <p:cTn id="30" dur="500"/>
                                        <p:tgtEl>
                                          <p:spTgt spid="556379885">
                                            <p:txEl>
                                              <p:pRg st="5" end="5"/>
                                            </p:txEl>
                                          </p:spTgt>
                                        </p:tgtEl>
                                      </p:cBhvr>
                                    </p:animEffect>
                                  </p:childTnLst>
                                </p:cTn>
                              </p:par>
                              <p:par>
                                <p:cTn id="31" presetID="22" presetClass="entr" presetSubtype="8" fill="hold" nodeType="withEffect">
                                  <p:stCondLst>
                                    <p:cond delay="0"/>
                                  </p:stCondLst>
                                  <p:childTnLst>
                                    <p:set>
                                      <p:cBhvr>
                                        <p:cTn id="32" dur="1" fill="hold">
                                          <p:stCondLst>
                                            <p:cond delay="0"/>
                                          </p:stCondLst>
                                        </p:cTn>
                                        <p:tgtEl>
                                          <p:spTgt spid="556379885">
                                            <p:txEl>
                                              <p:pRg st="6" end="6"/>
                                            </p:txEl>
                                          </p:spTgt>
                                        </p:tgtEl>
                                        <p:attrNameLst>
                                          <p:attrName>style.visibility</p:attrName>
                                        </p:attrNameLst>
                                      </p:cBhvr>
                                      <p:to>
                                        <p:strVal val="visible"/>
                                      </p:to>
                                    </p:set>
                                    <p:animEffect transition="in" filter="wipe(left)">
                                      <p:cBhvr>
                                        <p:cTn id="33" dur="500"/>
                                        <p:tgtEl>
                                          <p:spTgt spid="556379885">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863871937"/>
                                        </p:tgtEl>
                                        <p:attrNameLst>
                                          <p:attrName>style.visibility</p:attrName>
                                        </p:attrNameLst>
                                      </p:cBhvr>
                                      <p:to>
                                        <p:strVal val="visible"/>
                                      </p:to>
                                    </p:set>
                                    <p:animEffect transition="in" filter="fade">
                                      <p:cBhvr>
                                        <p:cTn id="38" dur="1000"/>
                                        <p:tgtEl>
                                          <p:spTgt spid="1863871937"/>
                                        </p:tgtEl>
                                      </p:cBhvr>
                                    </p:animEffect>
                                    <p:anim calcmode="lin" valueType="num">
                                      <p:cBhvr>
                                        <p:cTn id="39" dur="1000" fill="hold"/>
                                        <p:tgtEl>
                                          <p:spTgt spid="1863871937"/>
                                        </p:tgtEl>
                                        <p:attrNameLst>
                                          <p:attrName>ppt_x</p:attrName>
                                        </p:attrNameLst>
                                      </p:cBhvr>
                                      <p:tavLst>
                                        <p:tav tm="0">
                                          <p:val>
                                            <p:strVal val="#ppt_x"/>
                                          </p:val>
                                        </p:tav>
                                        <p:tav tm="100000">
                                          <p:val>
                                            <p:strVal val="#ppt_x"/>
                                          </p:val>
                                        </p:tav>
                                      </p:tavLst>
                                    </p:anim>
                                    <p:anim calcmode="lin" valueType="num">
                                      <p:cBhvr>
                                        <p:cTn id="40" dur="1000" fill="hold"/>
                                        <p:tgtEl>
                                          <p:spTgt spid="18638719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953557" grpId="0"/>
      <p:bldP spid="556379885" grpId="0" animBg="1"/>
      <p:bldP spid="1863871937" grpId="0"/>
    </p:bldLst>
  </p:timing>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135</Slides>
  <Notes>135</Notes>
  <HiddenSlides>0</HiddenSlides>
  <MMClips>2</MMClips>
  <ScaleCrop>0</ScaleCrop>
  <HeadingPairs>
    <vt:vector size="4" baseType="variant">
      <vt:variant>
        <vt:lpstr>Theme</vt:lpstr>
      </vt:variant>
      <vt:variant>
        <vt:i4>1</vt:i4>
      </vt:variant>
      <vt:variant>
        <vt:lpstr>Slide Titles</vt:lpstr>
      </vt:variant>
      <vt:variant>
        <vt:i4>135</vt:i4>
      </vt:variant>
    </vt:vector>
  </HeadingPairs>
  <TitlesOfParts>
    <vt:vector size="136"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tarc</dc:creator>
  <cp:lastModifiedBy/>
  <cp:revision>717</cp:revision>
  <dcterms:created xsi:type="dcterms:W3CDTF">2005-05-31T03:12:56Z</dcterms:created>
  <dcterms:modified xsi:type="dcterms:W3CDTF">2026-07-07T07:49:34Z</dcterms:modified>
</cp:coreProperties>
</file>
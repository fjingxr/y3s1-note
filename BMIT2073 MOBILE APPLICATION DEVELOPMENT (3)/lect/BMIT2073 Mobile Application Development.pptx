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RIxaAFM0yOVsqypdawkMHYM6v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73ACF2-EEFB-4B6B-BADC-9B3D36727586}">
  <a:tblStyle styleId="{9673ACF2-EEFB-4B6B-BADC-9B3D3672758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E9EFF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9EFF7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23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2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2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25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99879d059_0_0:notes"/>
          <p:cNvSpPr txBox="1"/>
          <p:nvPr>
            <p:ph idx="1" type="body"/>
          </p:nvPr>
        </p:nvSpPr>
        <p:spPr>
          <a:xfrm>
            <a:off x="731520" y="456057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699879d059_0_0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200"/>
              <a:t>Students would gain an insight of mobile technologies for creating mobile applications. Topics covered include categories of mobile applications, mobile application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200"/>
              <a:t>models, operating platforms, user interface, data storage, and onboard instruments. Students will also be exposed to development tools for creating mobile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200"/>
              <a:t>applications.</a:t>
            </a:r>
            <a:endParaRPr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2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/>
          <p:nvPr>
            <p:ph idx="2" type="sldImg"/>
          </p:nvPr>
        </p:nvSpPr>
        <p:spPr>
          <a:xfrm>
            <a:off x="457200" y="720725"/>
            <a:ext cx="64008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96625" lIns="96625" spcFirstLastPara="1" rIns="96625" wrap="square" tIns="966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 txBox="1"/>
          <p:nvPr>
            <p:ph type="title"/>
          </p:nvPr>
        </p:nvSpPr>
        <p:spPr>
          <a:xfrm>
            <a:off x="415600" y="593366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31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1"/>
          <p:cNvSpPr txBox="1"/>
          <p:nvPr>
            <p:ph idx="12" type="sldNum"/>
          </p:nvPr>
        </p:nvSpPr>
        <p:spPr>
          <a:xfrm>
            <a:off x="11296609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2"/>
          <p:cNvSpPr txBox="1"/>
          <p:nvPr>
            <p:ph type="title"/>
          </p:nvPr>
        </p:nvSpPr>
        <p:spPr>
          <a:xfrm>
            <a:off x="415600" y="593366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32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32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2" type="sldNum"/>
          </p:nvPr>
        </p:nvSpPr>
        <p:spPr>
          <a:xfrm>
            <a:off x="11296609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3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3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3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3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ctrTitle"/>
          </p:nvPr>
        </p:nvSpPr>
        <p:spPr>
          <a:xfrm>
            <a:off x="1835708" y="992766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800"/>
              <a:t>BMIT2073 </a:t>
            </a:r>
            <a:endParaRPr sz="48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800"/>
              <a:t>Mobile Application Development</a:t>
            </a:r>
            <a:endParaRPr sz="4800"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1835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200"/>
              <a:t>Class Code: 67 65 41</a:t>
            </a:r>
            <a:endParaRPr sz="3200"/>
          </a:p>
        </p:txBody>
      </p:sp>
      <p:sp>
        <p:nvSpPr>
          <p:cNvPr id="95" name="Google Shape;95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1835700" y="593366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Team</a:t>
            </a:r>
            <a:endParaRPr/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9102" y="2364287"/>
            <a:ext cx="1457890" cy="189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2574" y="2362198"/>
            <a:ext cx="1457891" cy="1895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2438401" y="4384110"/>
            <a:ext cx="19916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See Kwee Teck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seekt@tarc.edu.my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4962525" y="4384110"/>
            <a:ext cx="2181225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Peh Guan Soon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pehgs@tarc.edu.my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1835700" y="593366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Team</a:t>
            </a:r>
            <a:endParaRPr/>
          </a:p>
        </p:txBody>
      </p:sp>
      <p:pic>
        <p:nvPicPr>
          <p:cNvPr id="111" name="Google Shape;11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9102" y="2364287"/>
            <a:ext cx="1457890" cy="189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6765" y="2364287"/>
            <a:ext cx="1457890" cy="189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2574" y="2362198"/>
            <a:ext cx="1457891" cy="18952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438401" y="4384110"/>
            <a:ext cx="19916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See Kwee Teck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seekt@tarc.edu.my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7676236" y="4384110"/>
            <a:ext cx="2829839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Ts. Liaw Chun Voon liawcv@tarc.edu.my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3"/>
          <p:cNvSpPr txBox="1"/>
          <p:nvPr/>
        </p:nvSpPr>
        <p:spPr>
          <a:xfrm>
            <a:off x="4962525" y="4384110"/>
            <a:ext cx="2181225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Peh Guan Soon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pehgs@tarc.edu.my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AW CHUN VOON" id="117" name="Google Shape;11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76765" y="2362198"/>
            <a:ext cx="1457890" cy="189525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1835700" y="593366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Team</a:t>
            </a:r>
            <a:endParaRPr/>
          </a:p>
        </p:txBody>
      </p:sp>
      <p:pic>
        <p:nvPicPr>
          <p:cNvPr id="124" name="Google Shape;1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9102" y="2364287"/>
            <a:ext cx="1457890" cy="189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6765" y="2364287"/>
            <a:ext cx="1457890" cy="189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2574" y="2362198"/>
            <a:ext cx="1457891" cy="189525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 txBox="1"/>
          <p:nvPr/>
        </p:nvSpPr>
        <p:spPr>
          <a:xfrm>
            <a:off x="2438401" y="4384110"/>
            <a:ext cx="19916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See Kwee Teck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seekt@tarc.edu.my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4"/>
          <p:cNvSpPr txBox="1"/>
          <p:nvPr/>
        </p:nvSpPr>
        <p:spPr>
          <a:xfrm>
            <a:off x="7676236" y="4384110"/>
            <a:ext cx="2229371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Ong Jia Hui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ongjh@tarc.edu.my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4962525" y="4384110"/>
            <a:ext cx="2181225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Peh Guan Soon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pehgs@tarc.edu.my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"/>
          <p:cNvSpPr txBox="1"/>
          <p:nvPr>
            <p:ph type="title"/>
          </p:nvPr>
        </p:nvSpPr>
        <p:spPr>
          <a:xfrm>
            <a:off x="1835700" y="593366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Team</a:t>
            </a:r>
            <a:endParaRPr/>
          </a:p>
        </p:txBody>
      </p:sp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9102" y="2364287"/>
            <a:ext cx="1457890" cy="189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3018" y="2364287"/>
            <a:ext cx="1457890" cy="1895257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"/>
          <p:cNvSpPr txBox="1"/>
          <p:nvPr/>
        </p:nvSpPr>
        <p:spPr>
          <a:xfrm>
            <a:off x="2286393" y="4384110"/>
            <a:ext cx="2143646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See Kwee Teck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seekt@tarc.edu.my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6732489" y="4384110"/>
            <a:ext cx="2229371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Ong Jia Hui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ongjh@tarc.edu.my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1835700" y="593366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Team</a:t>
            </a:r>
            <a:endParaRPr/>
          </a:p>
        </p:txBody>
      </p:sp>
      <p:grpSp>
        <p:nvGrpSpPr>
          <p:cNvPr id="146" name="Google Shape;146;p25"/>
          <p:cNvGrpSpPr/>
          <p:nvPr/>
        </p:nvGrpSpPr>
        <p:grpSpPr>
          <a:xfrm>
            <a:off x="839881" y="2326812"/>
            <a:ext cx="1991638" cy="2543043"/>
            <a:chOff x="2438401" y="2364287"/>
            <a:chExt cx="1991638" cy="2543043"/>
          </a:xfrm>
        </p:grpSpPr>
        <p:pic>
          <p:nvPicPr>
            <p:cNvPr id="147" name="Google Shape;147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9102" y="2364287"/>
              <a:ext cx="1457890" cy="18952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25"/>
            <p:cNvSpPr txBox="1"/>
            <p:nvPr/>
          </p:nvSpPr>
          <p:spPr>
            <a:xfrm>
              <a:off x="2438401" y="4384110"/>
              <a:ext cx="199163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Dr. See Kwee Teck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seekt@tarc.edu.my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25"/>
          <p:cNvGrpSpPr/>
          <p:nvPr/>
        </p:nvGrpSpPr>
        <p:grpSpPr>
          <a:xfrm>
            <a:off x="3562366" y="2267598"/>
            <a:ext cx="2181225" cy="2668202"/>
            <a:chOff x="4962525" y="2362198"/>
            <a:chExt cx="2181225" cy="2668202"/>
          </a:xfrm>
        </p:grpSpPr>
        <p:pic>
          <p:nvPicPr>
            <p:cNvPr id="150" name="Google Shape;150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92574" y="2362198"/>
              <a:ext cx="1457891" cy="18952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25"/>
            <p:cNvSpPr txBox="1"/>
            <p:nvPr/>
          </p:nvSpPr>
          <p:spPr>
            <a:xfrm>
              <a:off x="4962525" y="4384110"/>
              <a:ext cx="2181225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Mr. Peh Guan Soon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pehgs@tarc.edu.my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" name="Google Shape;152;p25"/>
          <p:cNvGrpSpPr/>
          <p:nvPr/>
        </p:nvGrpSpPr>
        <p:grpSpPr>
          <a:xfrm>
            <a:off x="9434655" y="2265509"/>
            <a:ext cx="2181226" cy="2668202"/>
            <a:chOff x="7676237" y="2362198"/>
            <a:chExt cx="2181226" cy="2668202"/>
          </a:xfrm>
        </p:grpSpPr>
        <p:sp>
          <p:nvSpPr>
            <p:cNvPr id="153" name="Google Shape;153;p25"/>
            <p:cNvSpPr txBox="1"/>
            <p:nvPr/>
          </p:nvSpPr>
          <p:spPr>
            <a:xfrm>
              <a:off x="7676237" y="4384110"/>
              <a:ext cx="2181226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Ts. Liaw Chun Voon liawcv@tarc.edu.my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IAW CHUN VOON" id="154" name="Google Shape;1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76765" y="2362198"/>
              <a:ext cx="1457890" cy="18952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25"/>
          <p:cNvGrpSpPr/>
          <p:nvPr/>
        </p:nvGrpSpPr>
        <p:grpSpPr>
          <a:xfrm>
            <a:off x="6474438" y="2267598"/>
            <a:ext cx="2229371" cy="2666113"/>
            <a:chOff x="10506075" y="2315569"/>
            <a:chExt cx="2229371" cy="2666113"/>
          </a:xfrm>
        </p:grpSpPr>
        <p:pic>
          <p:nvPicPr>
            <p:cNvPr id="156" name="Google Shape;156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806604" y="2315569"/>
              <a:ext cx="1457890" cy="18952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25"/>
            <p:cNvSpPr txBox="1"/>
            <p:nvPr/>
          </p:nvSpPr>
          <p:spPr>
            <a:xfrm>
              <a:off x="10506075" y="4335392"/>
              <a:ext cx="2229371" cy="646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Mr. Ong Jia Hui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ongjh@tarc.edu.my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99879d059_0_0"/>
          <p:cNvSpPr txBox="1"/>
          <p:nvPr>
            <p:ph type="title"/>
          </p:nvPr>
        </p:nvSpPr>
        <p:spPr>
          <a:xfrm>
            <a:off x="1835700" y="593366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Team</a:t>
            </a:r>
            <a:endParaRPr/>
          </a:p>
        </p:txBody>
      </p:sp>
      <p:grpSp>
        <p:nvGrpSpPr>
          <p:cNvPr id="164" name="Google Shape;164;g3699879d059_0_0"/>
          <p:cNvGrpSpPr/>
          <p:nvPr/>
        </p:nvGrpSpPr>
        <p:grpSpPr>
          <a:xfrm>
            <a:off x="839881" y="2326812"/>
            <a:ext cx="1991700" cy="2666323"/>
            <a:chOff x="2438401" y="2364287"/>
            <a:chExt cx="1991700" cy="2666323"/>
          </a:xfrm>
        </p:grpSpPr>
        <p:pic>
          <p:nvPicPr>
            <p:cNvPr id="165" name="Google Shape;165;g3699879d059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9102" y="2364287"/>
              <a:ext cx="1457890" cy="18952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g3699879d059_0_0"/>
            <p:cNvSpPr txBox="1"/>
            <p:nvPr/>
          </p:nvSpPr>
          <p:spPr>
            <a:xfrm>
              <a:off x="2438401" y="4384110"/>
              <a:ext cx="19917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Dr. See Kwee Teck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seekt@tarc.edu.my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g3699879d059_0_0"/>
          <p:cNvGrpSpPr/>
          <p:nvPr/>
        </p:nvGrpSpPr>
        <p:grpSpPr>
          <a:xfrm>
            <a:off x="3562366" y="2267598"/>
            <a:ext cx="2181300" cy="2668412"/>
            <a:chOff x="4962525" y="2362198"/>
            <a:chExt cx="2181300" cy="2668412"/>
          </a:xfrm>
        </p:grpSpPr>
        <p:pic>
          <p:nvPicPr>
            <p:cNvPr id="168" name="Google Shape;168;g3699879d059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92574" y="2362198"/>
              <a:ext cx="1457891" cy="18952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g3699879d059_0_0"/>
            <p:cNvSpPr txBox="1"/>
            <p:nvPr/>
          </p:nvSpPr>
          <p:spPr>
            <a:xfrm>
              <a:off x="4962525" y="4384110"/>
              <a:ext cx="2181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Mr. Peh Guan Soon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pehgs@tarc.edu.my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g3699879d059_0_0"/>
          <p:cNvSpPr txBox="1"/>
          <p:nvPr/>
        </p:nvSpPr>
        <p:spPr>
          <a:xfrm>
            <a:off x="9344930" y="4287421"/>
            <a:ext cx="2181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Mohammad Farizshah Bin Ismail Kamil p4740@tarc.edu.my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g3699879d059_0_0"/>
          <p:cNvGrpSpPr/>
          <p:nvPr/>
        </p:nvGrpSpPr>
        <p:grpSpPr>
          <a:xfrm>
            <a:off x="6474438" y="2267598"/>
            <a:ext cx="2229300" cy="2666323"/>
            <a:chOff x="10506075" y="2315569"/>
            <a:chExt cx="2229300" cy="2666323"/>
          </a:xfrm>
        </p:grpSpPr>
        <p:pic>
          <p:nvPicPr>
            <p:cNvPr id="172" name="Google Shape;172;g3699879d059_0_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806604" y="2315569"/>
              <a:ext cx="1457890" cy="18952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g3699879d059_0_0"/>
            <p:cNvSpPr txBox="1"/>
            <p:nvPr/>
          </p:nvSpPr>
          <p:spPr>
            <a:xfrm>
              <a:off x="10506075" y="4335392"/>
              <a:ext cx="2229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Mr. Ong Jia Hui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ongjh@tarc.edu.my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4" name="Google Shape;174;g3699879d059_0_0"/>
          <p:cNvPicPr preferRelativeResize="0"/>
          <p:nvPr/>
        </p:nvPicPr>
        <p:blipFill rotWithShape="1">
          <a:blip r:embed="rId6">
            <a:alphaModFix/>
          </a:blip>
          <a:srcRect b="0" l="8968" r="8373" t="0"/>
          <a:stretch/>
        </p:blipFill>
        <p:spPr>
          <a:xfrm>
            <a:off x="9629875" y="2267600"/>
            <a:ext cx="1611400" cy="19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699879d059_0_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"/>
          <p:cNvSpPr txBox="1"/>
          <p:nvPr>
            <p:ph type="title"/>
          </p:nvPr>
        </p:nvSpPr>
        <p:spPr>
          <a:xfrm>
            <a:off x="415600" y="593366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Synopsis</a:t>
            </a:r>
            <a:endParaRPr/>
          </a:p>
        </p:txBody>
      </p:sp>
      <p:sp>
        <p:nvSpPr>
          <p:cNvPr id="181" name="Google Shape;181;p4"/>
          <p:cNvSpPr txBox="1"/>
          <p:nvPr>
            <p:ph idx="1" type="body"/>
          </p:nvPr>
        </p:nvSpPr>
        <p:spPr>
          <a:xfrm>
            <a:off x="415600" y="1536633"/>
            <a:ext cx="11360800" cy="10378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chemeClr val="dk1"/>
                </a:solidFill>
              </a:rPr>
              <a:t>Students would gain an insight of mobile technologies for creating mobile applications</a:t>
            </a:r>
            <a:endParaRPr sz="2400">
              <a:solidFill>
                <a:schemeClr val="dk1"/>
              </a:solidFill>
            </a:endParaRPr>
          </a:p>
        </p:txBody>
      </p:sp>
      <p:grpSp>
        <p:nvGrpSpPr>
          <p:cNvPr id="182" name="Google Shape;182;p4"/>
          <p:cNvGrpSpPr/>
          <p:nvPr/>
        </p:nvGrpSpPr>
        <p:grpSpPr>
          <a:xfrm>
            <a:off x="2851248" y="3029548"/>
            <a:ext cx="1409700" cy="1189855"/>
            <a:chOff x="2941300" y="3029548"/>
            <a:chExt cx="1409700" cy="1189855"/>
          </a:xfrm>
        </p:grpSpPr>
        <p:grpSp>
          <p:nvGrpSpPr>
            <p:cNvPr id="183" name="Google Shape;183;p4"/>
            <p:cNvGrpSpPr/>
            <p:nvPr/>
          </p:nvGrpSpPr>
          <p:grpSpPr>
            <a:xfrm>
              <a:off x="3196268" y="3029548"/>
              <a:ext cx="676275" cy="628650"/>
              <a:chOff x="2209800" y="4168840"/>
              <a:chExt cx="819149" cy="822457"/>
            </a:xfrm>
          </p:grpSpPr>
          <p:sp>
            <p:nvSpPr>
              <p:cNvPr id="184" name="Google Shape;184;p4"/>
              <p:cNvSpPr/>
              <p:nvPr/>
            </p:nvSpPr>
            <p:spPr>
              <a:xfrm>
                <a:off x="2209800" y="4168842"/>
                <a:ext cx="238125" cy="238125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>
                <a:off x="2500312" y="4168841"/>
                <a:ext cx="238125" cy="238125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2790824" y="4168840"/>
                <a:ext cx="238125" cy="238125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4"/>
              <p:cNvSpPr/>
              <p:nvPr/>
            </p:nvSpPr>
            <p:spPr>
              <a:xfrm>
                <a:off x="2209800" y="4461007"/>
                <a:ext cx="238125" cy="238125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4"/>
              <p:cNvSpPr/>
              <p:nvPr/>
            </p:nvSpPr>
            <p:spPr>
              <a:xfrm>
                <a:off x="2500312" y="4461006"/>
                <a:ext cx="238125" cy="238125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4"/>
              <p:cNvSpPr/>
              <p:nvPr/>
            </p:nvSpPr>
            <p:spPr>
              <a:xfrm>
                <a:off x="2790824" y="4461005"/>
                <a:ext cx="238125" cy="238125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4"/>
              <p:cNvSpPr/>
              <p:nvPr/>
            </p:nvSpPr>
            <p:spPr>
              <a:xfrm>
                <a:off x="2209800" y="4753172"/>
                <a:ext cx="238125" cy="238125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2500312" y="4753171"/>
                <a:ext cx="238125" cy="238125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4"/>
              <p:cNvSpPr/>
              <p:nvPr/>
            </p:nvSpPr>
            <p:spPr>
              <a:xfrm>
                <a:off x="2790824" y="4753170"/>
                <a:ext cx="238125" cy="238125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" name="Google Shape;193;p4"/>
            <p:cNvSpPr txBox="1"/>
            <p:nvPr/>
          </p:nvSpPr>
          <p:spPr>
            <a:xfrm>
              <a:off x="2941300" y="3850103"/>
              <a:ext cx="140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4"/>
          <p:cNvGrpSpPr/>
          <p:nvPr/>
        </p:nvGrpSpPr>
        <p:grpSpPr>
          <a:xfrm>
            <a:off x="2887300" y="4796437"/>
            <a:ext cx="1169523" cy="1550301"/>
            <a:chOff x="3202180" y="4147195"/>
            <a:chExt cx="1169523" cy="1550301"/>
          </a:xfrm>
        </p:grpSpPr>
        <p:grpSp>
          <p:nvGrpSpPr>
            <p:cNvPr id="195" name="Google Shape;195;p4"/>
            <p:cNvGrpSpPr/>
            <p:nvPr/>
          </p:nvGrpSpPr>
          <p:grpSpPr>
            <a:xfrm>
              <a:off x="3438526" y="4147195"/>
              <a:ext cx="676275" cy="974658"/>
              <a:chOff x="3438526" y="4147195"/>
              <a:chExt cx="676275" cy="974658"/>
            </a:xfrm>
          </p:grpSpPr>
          <p:grpSp>
            <p:nvGrpSpPr>
              <p:cNvPr id="196" name="Google Shape;196;p4"/>
              <p:cNvGrpSpPr/>
              <p:nvPr/>
            </p:nvGrpSpPr>
            <p:grpSpPr>
              <a:xfrm>
                <a:off x="3438526" y="4147195"/>
                <a:ext cx="676275" cy="974658"/>
                <a:chOff x="1343025" y="4086225"/>
                <a:chExt cx="676275" cy="1152525"/>
              </a:xfrm>
            </p:grpSpPr>
            <p:sp>
              <p:nvSpPr>
                <p:cNvPr id="197" name="Google Shape;197;p4"/>
                <p:cNvSpPr/>
                <p:nvPr/>
              </p:nvSpPr>
              <p:spPr>
                <a:xfrm>
                  <a:off x="1343025" y="4086225"/>
                  <a:ext cx="676275" cy="1152525"/>
                </a:xfrm>
                <a:prstGeom prst="roundRect">
                  <a:avLst>
                    <a:gd fmla="val 16667" name="adj"/>
                  </a:avLst>
                </a:prstGeom>
                <a:solidFill>
                  <a:srgbClr val="7F7F7F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4"/>
                <p:cNvSpPr/>
                <p:nvPr/>
              </p:nvSpPr>
              <p:spPr>
                <a:xfrm>
                  <a:off x="1422237" y="4210049"/>
                  <a:ext cx="517850" cy="914401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9" name="Google Shape;199;p4"/>
              <p:cNvSpPr/>
              <p:nvPr/>
            </p:nvSpPr>
            <p:spPr>
              <a:xfrm rot="6690839">
                <a:off x="3644351" y="4563160"/>
                <a:ext cx="264624" cy="264624"/>
              </a:xfrm>
              <a:prstGeom prst="chord">
                <a:avLst>
                  <a:gd fmla="val 2700000" name="adj1"/>
                  <a:gd fmla="val 16200000" name="adj2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0" name="Google Shape;200;p4"/>
              <p:cNvCxnSpPr/>
              <p:nvPr/>
            </p:nvCxnSpPr>
            <p:spPr>
              <a:xfrm flipH="1" rot="10800000">
                <a:off x="3795557" y="4513964"/>
                <a:ext cx="104774" cy="132312"/>
              </a:xfrm>
              <a:prstGeom prst="straightConnector1">
                <a:avLst/>
              </a:prstGeom>
              <a:solidFill>
                <a:srgbClr val="7F7F7F"/>
              </a:solidFill>
              <a:ln cap="flat" cmpd="sng" w="2857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1" name="Google Shape;201;p4"/>
              <p:cNvCxnSpPr/>
              <p:nvPr/>
            </p:nvCxnSpPr>
            <p:spPr>
              <a:xfrm rot="10800000">
                <a:off x="3657610" y="4513963"/>
                <a:ext cx="75325" cy="103218"/>
              </a:xfrm>
              <a:prstGeom prst="straightConnector1">
                <a:avLst/>
              </a:prstGeom>
              <a:solidFill>
                <a:srgbClr val="7F7F7F"/>
              </a:solidFill>
              <a:ln cap="flat" cmpd="sng" w="2857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02" name="Google Shape;202;p4"/>
              <p:cNvSpPr/>
              <p:nvPr/>
            </p:nvSpPr>
            <p:spPr>
              <a:xfrm>
                <a:off x="3692118" y="4648774"/>
                <a:ext cx="51702" cy="51702"/>
              </a:xfrm>
              <a:prstGeom prst="flowChartConnector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4"/>
              <p:cNvSpPr/>
              <p:nvPr/>
            </p:nvSpPr>
            <p:spPr>
              <a:xfrm>
                <a:off x="3800274" y="4648774"/>
                <a:ext cx="51702" cy="51702"/>
              </a:xfrm>
              <a:prstGeom prst="flowChartConnector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4"/>
            <p:cNvSpPr txBox="1"/>
            <p:nvPr/>
          </p:nvSpPr>
          <p:spPr>
            <a:xfrm>
              <a:off x="3202180" y="5174276"/>
              <a:ext cx="116952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Operating System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" name="Google Shape;205;p4"/>
          <p:cNvGrpSpPr/>
          <p:nvPr/>
        </p:nvGrpSpPr>
        <p:grpSpPr>
          <a:xfrm>
            <a:off x="7334251" y="5038703"/>
            <a:ext cx="1409700" cy="1426310"/>
            <a:chOff x="7334251" y="5038703"/>
            <a:chExt cx="1409700" cy="1426310"/>
          </a:xfrm>
        </p:grpSpPr>
        <p:grpSp>
          <p:nvGrpSpPr>
            <p:cNvPr id="206" name="Google Shape;206;p4"/>
            <p:cNvGrpSpPr/>
            <p:nvPr/>
          </p:nvGrpSpPr>
          <p:grpSpPr>
            <a:xfrm>
              <a:off x="7717079" y="5038703"/>
              <a:ext cx="769400" cy="647183"/>
              <a:chOff x="5686426" y="4259383"/>
              <a:chExt cx="769400" cy="647183"/>
            </a:xfrm>
          </p:grpSpPr>
          <p:grpSp>
            <p:nvGrpSpPr>
              <p:cNvPr id="207" name="Google Shape;207;p4"/>
              <p:cNvGrpSpPr/>
              <p:nvPr/>
            </p:nvGrpSpPr>
            <p:grpSpPr>
              <a:xfrm>
                <a:off x="6252753" y="4405784"/>
                <a:ext cx="203073" cy="369434"/>
                <a:chOff x="6252753" y="4405784"/>
                <a:chExt cx="203073" cy="369434"/>
              </a:xfrm>
            </p:grpSpPr>
            <p:sp>
              <p:nvSpPr>
                <p:cNvPr id="208" name="Google Shape;208;p4"/>
                <p:cNvSpPr/>
                <p:nvPr/>
              </p:nvSpPr>
              <p:spPr>
                <a:xfrm>
                  <a:off x="6252753" y="4405784"/>
                  <a:ext cx="203073" cy="64634"/>
                </a:xfrm>
                <a:prstGeom prst="rect">
                  <a:avLst/>
                </a:prstGeom>
                <a:solidFill>
                  <a:srgbClr val="7F7F7F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4"/>
                <p:cNvSpPr/>
                <p:nvPr/>
              </p:nvSpPr>
              <p:spPr>
                <a:xfrm>
                  <a:off x="6252753" y="4558184"/>
                  <a:ext cx="203073" cy="64634"/>
                </a:xfrm>
                <a:prstGeom prst="rect">
                  <a:avLst/>
                </a:prstGeom>
                <a:solidFill>
                  <a:srgbClr val="7F7F7F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4"/>
                <p:cNvSpPr/>
                <p:nvPr/>
              </p:nvSpPr>
              <p:spPr>
                <a:xfrm>
                  <a:off x="6252753" y="4710584"/>
                  <a:ext cx="203073" cy="64634"/>
                </a:xfrm>
                <a:prstGeom prst="rect">
                  <a:avLst/>
                </a:prstGeom>
                <a:solidFill>
                  <a:srgbClr val="7F7F7F"/>
                </a:solidFill>
                <a:ln cap="flat" cmpd="sng" w="12700">
                  <a:solidFill>
                    <a:schemeClr val="l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1" name="Google Shape;211;p4"/>
              <p:cNvSpPr/>
              <p:nvPr/>
            </p:nvSpPr>
            <p:spPr>
              <a:xfrm>
                <a:off x="5686426" y="4259383"/>
                <a:ext cx="676275" cy="647183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5762625" y="4331901"/>
                <a:ext cx="523875" cy="501339"/>
              </a:xfrm>
              <a:prstGeom prst="roundRect">
                <a:avLst>
                  <a:gd fmla="val 6245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4"/>
              <p:cNvSpPr/>
              <p:nvPr/>
            </p:nvSpPr>
            <p:spPr>
              <a:xfrm>
                <a:off x="5809982" y="4370263"/>
                <a:ext cx="180708" cy="285453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4"/>
              <p:cNvSpPr/>
              <p:nvPr/>
            </p:nvSpPr>
            <p:spPr>
              <a:xfrm>
                <a:off x="5809981" y="4700476"/>
                <a:ext cx="187505" cy="88004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4"/>
              <p:cNvSpPr/>
              <p:nvPr/>
            </p:nvSpPr>
            <p:spPr>
              <a:xfrm flipH="1" rot="10800000">
                <a:off x="6055453" y="4491797"/>
                <a:ext cx="180708" cy="285453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4"/>
              <p:cNvSpPr/>
              <p:nvPr/>
            </p:nvSpPr>
            <p:spPr>
              <a:xfrm flipH="1" rot="10800000">
                <a:off x="6048656" y="4361325"/>
                <a:ext cx="187505" cy="88004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7" name="Google Shape;217;p4"/>
            <p:cNvSpPr txBox="1"/>
            <p:nvPr/>
          </p:nvSpPr>
          <p:spPr>
            <a:xfrm>
              <a:off x="7334251" y="5818682"/>
              <a:ext cx="14097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Onboard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Instructions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4"/>
          <p:cNvGrpSpPr/>
          <p:nvPr/>
        </p:nvGrpSpPr>
        <p:grpSpPr>
          <a:xfrm>
            <a:off x="5169622" y="2751801"/>
            <a:ext cx="1409700" cy="1712074"/>
            <a:chOff x="5169622" y="2751801"/>
            <a:chExt cx="1409700" cy="1712074"/>
          </a:xfrm>
        </p:grpSpPr>
        <p:grpSp>
          <p:nvGrpSpPr>
            <p:cNvPr id="219" name="Google Shape;219;p4"/>
            <p:cNvGrpSpPr/>
            <p:nvPr/>
          </p:nvGrpSpPr>
          <p:grpSpPr>
            <a:xfrm>
              <a:off x="5410742" y="2751801"/>
              <a:ext cx="676275" cy="974658"/>
              <a:chOff x="1343025" y="4086225"/>
              <a:chExt cx="676275" cy="1152525"/>
            </a:xfrm>
          </p:grpSpPr>
          <p:sp>
            <p:nvSpPr>
              <p:cNvPr id="220" name="Google Shape;220;p4"/>
              <p:cNvSpPr/>
              <p:nvPr/>
            </p:nvSpPr>
            <p:spPr>
              <a:xfrm>
                <a:off x="1343025" y="4086225"/>
                <a:ext cx="676275" cy="1152525"/>
              </a:xfrm>
              <a:prstGeom prst="roundRect">
                <a:avLst>
                  <a:gd fmla="val 16667" name="adj"/>
                </a:avLst>
              </a:prstGeom>
              <a:solidFill>
                <a:srgbClr val="7F7F7F"/>
              </a:solidFill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4"/>
              <p:cNvSpPr/>
              <p:nvPr/>
            </p:nvSpPr>
            <p:spPr>
              <a:xfrm>
                <a:off x="1422237" y="4210049"/>
                <a:ext cx="517850" cy="914401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2" name="Google Shape;222;p4"/>
            <p:cNvSpPr txBox="1"/>
            <p:nvPr/>
          </p:nvSpPr>
          <p:spPr>
            <a:xfrm>
              <a:off x="5169622" y="3817375"/>
              <a:ext cx="14097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Models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4"/>
          <p:cNvGrpSpPr/>
          <p:nvPr/>
        </p:nvGrpSpPr>
        <p:grpSpPr>
          <a:xfrm>
            <a:off x="7631053" y="2733914"/>
            <a:ext cx="1169400" cy="1722211"/>
            <a:chOff x="6791071" y="4125825"/>
            <a:chExt cx="1169400" cy="1722211"/>
          </a:xfrm>
        </p:grpSpPr>
        <p:sp>
          <p:nvSpPr>
            <p:cNvPr id="224" name="Google Shape;224;p4"/>
            <p:cNvSpPr/>
            <p:nvPr/>
          </p:nvSpPr>
          <p:spPr>
            <a:xfrm>
              <a:off x="6904605" y="4125825"/>
              <a:ext cx="676275" cy="974658"/>
            </a:xfrm>
            <a:prstGeom prst="roundRect">
              <a:avLst>
                <a:gd fmla="val 16667" name="adj"/>
              </a:avLst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6983817" y="4230539"/>
              <a:ext cx="517850" cy="77328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7062423" y="4437004"/>
              <a:ext cx="360638" cy="360638"/>
            </a:xfrm>
            <a:prstGeom prst="smileyFace">
              <a:avLst>
                <a:gd fmla="val 4653" name="adj"/>
              </a:avLst>
            </a:prstGeom>
            <a:solidFill>
              <a:srgbClr val="7F7F7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4"/>
            <p:cNvSpPr txBox="1"/>
            <p:nvPr/>
          </p:nvSpPr>
          <p:spPr>
            <a:xfrm>
              <a:off x="6791071" y="5201536"/>
              <a:ext cx="11694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4"/>
          <p:cNvGrpSpPr/>
          <p:nvPr/>
        </p:nvGrpSpPr>
        <p:grpSpPr>
          <a:xfrm>
            <a:off x="5306361" y="4901151"/>
            <a:ext cx="977529" cy="1465599"/>
            <a:chOff x="5306361" y="4901151"/>
            <a:chExt cx="977529" cy="1465599"/>
          </a:xfrm>
        </p:grpSpPr>
        <p:sp>
          <p:nvSpPr>
            <p:cNvPr id="229" name="Google Shape;229;p4"/>
            <p:cNvSpPr txBox="1"/>
            <p:nvPr/>
          </p:nvSpPr>
          <p:spPr>
            <a:xfrm>
              <a:off x="5306361" y="5843530"/>
              <a:ext cx="97752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Storage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4"/>
            <p:cNvSpPr/>
            <p:nvPr/>
          </p:nvSpPr>
          <p:spPr>
            <a:xfrm>
              <a:off x="5410742" y="4901151"/>
              <a:ext cx="751933" cy="917531"/>
            </a:xfrm>
            <a:prstGeom prst="can">
              <a:avLst>
                <a:gd fmla="val 25000" name="adj"/>
              </a:avLst>
            </a:prstGeom>
            <a:solidFill>
              <a:srgbClr val="7570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4"/>
          <p:cNvSpPr txBox="1"/>
          <p:nvPr>
            <p:ph idx="12" type="sldNum"/>
          </p:nvPr>
        </p:nvSpPr>
        <p:spPr>
          <a:xfrm>
            <a:off x="11296609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"/>
          <p:cNvSpPr txBox="1"/>
          <p:nvPr>
            <p:ph type="title"/>
          </p:nvPr>
        </p:nvSpPr>
        <p:spPr>
          <a:xfrm>
            <a:off x="415600" y="593366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Total Student Learning Time</a:t>
            </a:r>
            <a:endParaRPr/>
          </a:p>
        </p:txBody>
      </p:sp>
      <p:sp>
        <p:nvSpPr>
          <p:cNvPr id="237" name="Google Shape;237;p5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Short Semester (7-week)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Lecture : 4 hours/week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solidFill>
                  <a:schemeClr val="dk1"/>
                </a:solidFill>
              </a:rPr>
              <a:t>Lecture + Q &amp; 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 sz="2400">
                <a:solidFill>
                  <a:schemeClr val="dk1"/>
                </a:solidFill>
              </a:rPr>
              <a:t>Practical : 4 hours/week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solidFill>
                  <a:schemeClr val="dk1"/>
                </a:solidFill>
              </a:rPr>
              <a:t>Lab + Practical Exercises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8" name="Google Shape;238;p5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9" name="Google Shape;239;p5"/>
          <p:cNvSpPr txBox="1"/>
          <p:nvPr>
            <p:ph idx="12" type="sldNum"/>
          </p:nvPr>
        </p:nvSpPr>
        <p:spPr>
          <a:xfrm>
            <a:off x="11296609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Total Student Learning Time</a:t>
            </a:r>
            <a:endParaRPr/>
          </a:p>
        </p:txBody>
      </p:sp>
      <p:sp>
        <p:nvSpPr>
          <p:cNvPr id="245" name="Google Shape;245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</a:rPr>
              <a:t>Long Semester (14-week)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Lecture - Free user icons" id="246" name="Google Shape;24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518" y="2830981"/>
            <a:ext cx="2135981" cy="2135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utorial - Free education icons" id="247" name="Google Shape;24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8469" y="2843277"/>
            <a:ext cx="2135982" cy="213598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6"/>
          <p:cNvSpPr txBox="1"/>
          <p:nvPr/>
        </p:nvSpPr>
        <p:spPr>
          <a:xfrm>
            <a:off x="1719857" y="5146349"/>
            <a:ext cx="3445074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 : 2 hours/week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7041060" y="5152405"/>
            <a:ext cx="3530799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Practical :2 hours/week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Total Student Learning Time</a:t>
            </a:r>
            <a:endParaRPr/>
          </a:p>
        </p:txBody>
      </p:sp>
      <p:sp>
        <p:nvSpPr>
          <p:cNvPr id="256" name="Google Shape;256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</a:rPr>
              <a:t>Long Semester (</a:t>
            </a:r>
            <a:r>
              <a:rPr lang="en-US"/>
              <a:t>7</a:t>
            </a:r>
            <a:r>
              <a:rPr lang="en-US" sz="2800">
                <a:solidFill>
                  <a:schemeClr val="dk1"/>
                </a:solidFill>
              </a:rPr>
              <a:t>-week)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Lecture - Free user icons" id="257" name="Google Shape;2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518" y="2830981"/>
            <a:ext cx="2135981" cy="2135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utorial - Free education icons" id="258" name="Google Shape;25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8469" y="2843277"/>
            <a:ext cx="2135982" cy="213598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9"/>
          <p:cNvSpPr txBox="1"/>
          <p:nvPr/>
        </p:nvSpPr>
        <p:spPr>
          <a:xfrm>
            <a:off x="1719857" y="5146349"/>
            <a:ext cx="3445074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 : 4 hours/week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7041060" y="5152405"/>
            <a:ext cx="3530799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Practical : 4 hours/week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"/>
          <p:cNvSpPr txBox="1"/>
          <p:nvPr>
            <p:ph type="title"/>
          </p:nvPr>
        </p:nvSpPr>
        <p:spPr>
          <a:xfrm>
            <a:off x="415600" y="593366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Learning Outcomes</a:t>
            </a:r>
            <a:endParaRPr/>
          </a:p>
        </p:txBody>
      </p:sp>
      <p:sp>
        <p:nvSpPr>
          <p:cNvPr id="267" name="Google Shape;267;p6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Apply mobile technologies and development methods to solve a given problem. (C3, PLO2)													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Apply mobile development methods to develop a mobile application.            (P4, PLO3)													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Present a mobile application to be published in a team.                                 (A2, PLO4)													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68" name="Google Shape;268;p6"/>
          <p:cNvSpPr txBox="1"/>
          <p:nvPr>
            <p:ph idx="12" type="sldNum"/>
          </p:nvPr>
        </p:nvSpPr>
        <p:spPr>
          <a:xfrm>
            <a:off x="11296609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"/>
          <p:cNvSpPr txBox="1"/>
          <p:nvPr>
            <p:ph type="title"/>
          </p:nvPr>
        </p:nvSpPr>
        <p:spPr>
          <a:xfrm>
            <a:off x="415600" y="593366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274" name="Google Shape;274;p7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14350" lvl="0" marL="5651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5554A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Introduction to Mobile Application Development</a:t>
            </a:r>
            <a:endParaRPr/>
          </a:p>
          <a:p>
            <a:pPr indent="-514350" lvl="0" marL="56515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55554A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User Interfaces</a:t>
            </a:r>
            <a:endParaRPr/>
          </a:p>
          <a:p>
            <a:pPr indent="-514350" lvl="0" marL="56515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55554A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Mobile Application Models</a:t>
            </a:r>
            <a:endParaRPr sz="2800"/>
          </a:p>
          <a:p>
            <a:pPr indent="-514350" lvl="0" marL="56515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55554A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Resources and Data Storage</a:t>
            </a:r>
            <a:endParaRPr sz="2800">
              <a:solidFill>
                <a:schemeClr val="dk1"/>
              </a:solidFill>
            </a:endParaRPr>
          </a:p>
          <a:p>
            <a:pPr indent="-514350" lvl="0" marL="56515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55554A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Location-based Services</a:t>
            </a:r>
            <a:endParaRPr/>
          </a:p>
          <a:p>
            <a:pPr indent="-514350" lvl="0" marL="56515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55554A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Specialized Instruments and Devices</a:t>
            </a:r>
            <a:endParaRPr/>
          </a:p>
          <a:p>
            <a:pPr indent="-514350" lvl="0" marL="56515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55554A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</a:rPr>
              <a:t>Mobile Application Packaging and Publication</a:t>
            </a:r>
            <a:endParaRPr/>
          </a:p>
        </p:txBody>
      </p:sp>
      <p:sp>
        <p:nvSpPr>
          <p:cNvPr id="275" name="Google Shape;275;p7"/>
          <p:cNvSpPr txBox="1"/>
          <p:nvPr>
            <p:ph idx="12" type="sldNum"/>
          </p:nvPr>
        </p:nvSpPr>
        <p:spPr>
          <a:xfrm>
            <a:off x="11296609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"/>
          <p:cNvSpPr txBox="1"/>
          <p:nvPr>
            <p:ph type="title"/>
          </p:nvPr>
        </p:nvSpPr>
        <p:spPr>
          <a:xfrm>
            <a:off x="415600" y="593366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81" name="Google Shape;281;p8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533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55554A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Developer guides : Android Developers. 2025. [online] Available at: https://developer.android.com/guide </a:t>
            </a:r>
            <a:endParaRPr sz="24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457200" lvl="0" marL="533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55554A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Apple Inc. 2025. Bring your ideas to life, Apple Developer. [online ]Available at: https://developer.apple.com/develop/ </a:t>
            </a:r>
            <a:endParaRPr sz="2400">
              <a:solidFill>
                <a:schemeClr val="dk1"/>
              </a:solidFill>
            </a:endParaRPr>
          </a:p>
          <a:p>
            <a:pPr indent="-3683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457200" lvl="0" marL="533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55554A"/>
              </a:buClr>
              <a:buSzPts val="2400"/>
              <a:buFont typeface="Calibri"/>
              <a:buAutoNum type="arabicPeriod"/>
            </a:pPr>
            <a:r>
              <a:rPr lang="en-US" sz="2400">
                <a:solidFill>
                  <a:schemeClr val="dk1"/>
                </a:solidFill>
              </a:rPr>
              <a:t>Flutter Documentation. 2025. [online] Available at: https://docs.flutter.dev/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2" name="Google Shape;282;p8"/>
          <p:cNvSpPr txBox="1"/>
          <p:nvPr>
            <p:ph idx="12" type="sldNum"/>
          </p:nvPr>
        </p:nvSpPr>
        <p:spPr>
          <a:xfrm>
            <a:off x="11296609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Assessment</a:t>
            </a:r>
            <a:endParaRPr/>
          </a:p>
        </p:txBody>
      </p:sp>
      <p:sp>
        <p:nvSpPr>
          <p:cNvPr id="288" name="Google Shape;288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Exam (30%)</a:t>
            </a:r>
            <a:endParaRPr/>
          </a:p>
        </p:txBody>
      </p:sp>
      <p:graphicFrame>
        <p:nvGraphicFramePr>
          <p:cNvPr id="289" name="Google Shape;289;p27"/>
          <p:cNvGraphicFramePr/>
          <p:nvPr/>
        </p:nvGraphicFramePr>
        <p:xfrm>
          <a:off x="509029" y="25050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{9673ACF2-EEFB-4B6B-BADC-9B3D36727586}</a:tableStyleId>
              </a:tblPr>
              <a:tblGrid>
                <a:gridCol w="1337700"/>
                <a:gridCol w="1173575"/>
                <a:gridCol w="1608475"/>
                <a:gridCol w="1391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Assessment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%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Scope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14-Week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Written Test 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Chapter 1 – 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7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Practical Assessment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36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Chapter 1 - 3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9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Assignment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50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Chapter 1 – 6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0" name="Google Shape;290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Coursework (70%)</a:t>
            </a:r>
            <a:endParaRPr/>
          </a:p>
        </p:txBody>
      </p:sp>
      <p:graphicFrame>
        <p:nvGraphicFramePr>
          <p:cNvPr id="291" name="Google Shape;291;p27"/>
          <p:cNvGraphicFramePr/>
          <p:nvPr/>
        </p:nvGraphicFramePr>
        <p:xfrm>
          <a:off x="6172200" y="2505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{9673ACF2-EEFB-4B6B-BADC-9B3D36727586}</a:tableStyleId>
              </a:tblPr>
              <a:tblGrid>
                <a:gridCol w="1675350"/>
                <a:gridCol w="1742150"/>
                <a:gridCol w="1742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Question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%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Scope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25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Chapter 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25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Chapter 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25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Chapter 6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25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Chapter 7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2" name="Google Shape;29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Assessment</a:t>
            </a:r>
            <a:endParaRPr/>
          </a:p>
        </p:txBody>
      </p:sp>
      <p:sp>
        <p:nvSpPr>
          <p:cNvPr id="298" name="Google Shape;298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Exam (30%)</a:t>
            </a:r>
            <a:endParaRPr/>
          </a:p>
        </p:txBody>
      </p:sp>
      <p:graphicFrame>
        <p:nvGraphicFramePr>
          <p:cNvPr id="299" name="Google Shape;299;p11"/>
          <p:cNvGraphicFramePr/>
          <p:nvPr/>
        </p:nvGraphicFramePr>
        <p:xfrm>
          <a:off x="509029" y="25050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{9673ACF2-EEFB-4B6B-BADC-9B3D36727586}</a:tableStyleId>
              </a:tblPr>
              <a:tblGrid>
                <a:gridCol w="1337700"/>
                <a:gridCol w="1173575"/>
                <a:gridCol w="1608475"/>
                <a:gridCol w="1391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Assessment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%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Scope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7-Week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Written Test 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Chapter 1 – 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Practical Assessment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36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Chapter 1 - 3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Assignment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50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Chapter 1 – 6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6-7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0" name="Google Shape;300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Coursework (70%)</a:t>
            </a:r>
            <a:endParaRPr/>
          </a:p>
        </p:txBody>
      </p:sp>
      <p:graphicFrame>
        <p:nvGraphicFramePr>
          <p:cNvPr id="301" name="Google Shape;301;p11"/>
          <p:cNvGraphicFramePr/>
          <p:nvPr/>
        </p:nvGraphicFramePr>
        <p:xfrm>
          <a:off x="6172200" y="2505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{9673ACF2-EEFB-4B6B-BADC-9B3D36727586}</a:tableStyleId>
              </a:tblPr>
              <a:tblGrid>
                <a:gridCol w="1675350"/>
                <a:gridCol w="1742150"/>
                <a:gridCol w="1742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Question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%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Scope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25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Chapter 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25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Chapter 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25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Chapter 6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25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Chapter 7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2" name="Google Shape;30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
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63" r:id="rId6"/>
    <p:sldMasterId id="2147483677"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83" roundtripDataSignature="AMtx7mhzfsuCuqVnJ+THlh1/jacKW9VI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8BEAFB-7CEB-4D00-9483-BCFEC181FAC1}">
  <a:tblStyle styleId="{848BEAFB-7CEB-4D00-9483-BCFEC181FAC1}"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b="off" i="off"/>
      <a:tcStyle>
        <a:fill>
          <a:solidFill>
            <a:srgbClr val="CACED3"/>
          </a:solidFill>
        </a:fill>
      </a:tcStyle>
    </a:band1H>
    <a:band2H>
      <a:tcTxStyle b="off" i="off"/>
    </a:band2H>
    <a:band1V>
      <a:tcTxStyle b="off" i="off"/>
      <a:tcStyle>
        <a:fill>
          <a:solidFill>
            <a:srgbClr val="CACED3"/>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83" Type="http://customschemas.google.com/relationships/presentationmetadata" Target="metadata"/><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31" Type="http://schemas.openxmlformats.org/officeDocument/2006/relationships/slide" Target="slides/slide23.xml"/><Relationship Id="rId75" Type="http://schemas.openxmlformats.org/officeDocument/2006/relationships/slide" Target="slides/slide67.xml"/><Relationship Id="rId30" Type="http://schemas.openxmlformats.org/officeDocument/2006/relationships/slide" Target="slides/slide22.xml"/><Relationship Id="rId74" Type="http://schemas.openxmlformats.org/officeDocument/2006/relationships/slide" Target="slides/slide66.xml"/><Relationship Id="rId33" Type="http://schemas.openxmlformats.org/officeDocument/2006/relationships/slide" Target="slides/slide25.xml"/><Relationship Id="rId77" Type="http://schemas.openxmlformats.org/officeDocument/2006/relationships/slide" Target="slides/slide69.xml"/><Relationship Id="rId32" Type="http://schemas.openxmlformats.org/officeDocument/2006/relationships/slide" Target="slides/slide24.xml"/><Relationship Id="rId76" Type="http://schemas.openxmlformats.org/officeDocument/2006/relationships/slide" Target="slides/slide68.xml"/><Relationship Id="rId35" Type="http://schemas.openxmlformats.org/officeDocument/2006/relationships/slide" Target="slides/slide27.xml"/><Relationship Id="rId79" Type="http://schemas.openxmlformats.org/officeDocument/2006/relationships/slide" Target="slides/slide71.xml"/><Relationship Id="rId34" Type="http://schemas.openxmlformats.org/officeDocument/2006/relationships/slide" Target="slides/slide26.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slide" Target="slides/slide54.xml"/><Relationship Id="rId61" Type="http://schemas.openxmlformats.org/officeDocument/2006/relationships/slide" Target="slides/slide53.xml"/><Relationship Id="rId20" Type="http://schemas.openxmlformats.org/officeDocument/2006/relationships/slide" Target="slides/slide12.xml"/><Relationship Id="rId64" Type="http://schemas.openxmlformats.org/officeDocument/2006/relationships/slide" Target="slides/slide56.xml"/><Relationship Id="rId63" Type="http://schemas.openxmlformats.org/officeDocument/2006/relationships/slide" Target="slides/slide55.xml"/><Relationship Id="rId22" Type="http://schemas.openxmlformats.org/officeDocument/2006/relationships/slide" Target="slides/slide14.xml"/><Relationship Id="rId66" Type="http://schemas.openxmlformats.org/officeDocument/2006/relationships/slide" Target="slides/slide58.xml"/><Relationship Id="rId21" Type="http://schemas.openxmlformats.org/officeDocument/2006/relationships/slide" Target="slides/slide13.xml"/><Relationship Id="rId65" Type="http://schemas.openxmlformats.org/officeDocument/2006/relationships/slide" Target="slides/slide57.xml"/><Relationship Id="rId24" Type="http://schemas.openxmlformats.org/officeDocument/2006/relationships/slide" Target="slides/slide16.xml"/><Relationship Id="rId68" Type="http://schemas.openxmlformats.org/officeDocument/2006/relationships/slide" Target="slides/slide60.xml"/><Relationship Id="rId23" Type="http://schemas.openxmlformats.org/officeDocument/2006/relationships/slide" Target="slides/slide15.xml"/><Relationship Id="rId67" Type="http://schemas.openxmlformats.org/officeDocument/2006/relationships/slide" Target="slides/slide59.xml"/><Relationship Id="rId60" Type="http://schemas.openxmlformats.org/officeDocument/2006/relationships/slide" Target="slides/slide52.xml"/><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slide" Target="slides/slide61.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slide" Target="slides/slide51.xml"/><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rPr b="0" lang="en-US"/>
              <a:t>Cisco Networking Academy Program</a:t>
            </a:r>
            <a:endParaRPr/>
          </a:p>
          <a:p>
            <a:pPr indent="0" lvl="0" marL="0" rtl="0" algn="l">
              <a:lnSpc>
                <a:spcPct val="100000"/>
              </a:lnSpc>
              <a:spcBef>
                <a:spcPts val="0"/>
              </a:spcBef>
              <a:spcAft>
                <a:spcPts val="0"/>
              </a:spcAft>
              <a:buSzPts val="1400"/>
              <a:buNone/>
            </a:pPr>
            <a:r>
              <a:rPr lang="en-US">
                <a:solidFill>
                  <a:srgbClr val="B6DDE7"/>
                </a:solidFill>
              </a:rPr>
              <a:t>Enterprise Networking, Security, and Automationv7.0 (ENSA)</a:t>
            </a:r>
            <a:endParaRPr/>
          </a:p>
          <a:p>
            <a:pPr indent="0" lvl="0" marL="0" rtl="0" algn="l">
              <a:lnSpc>
                <a:spcPct val="100000"/>
              </a:lnSpc>
              <a:spcBef>
                <a:spcPts val="0"/>
              </a:spcBef>
              <a:spcAft>
                <a:spcPts val="0"/>
              </a:spcAft>
              <a:buSzPts val="1400"/>
              <a:buNone/>
            </a:pPr>
            <a:r>
              <a:rPr lang="en-US">
                <a:solidFill>
                  <a:srgbClr val="B6DDE7"/>
                </a:solidFill>
              </a:rPr>
              <a:t>Module 3: Network Security Concepts</a:t>
            </a:r>
            <a:endParaRPr/>
          </a:p>
          <a:p>
            <a:pPr indent="0" lvl="0" marL="0" rtl="0" algn="l">
              <a:lnSpc>
                <a:spcPct val="100000"/>
              </a:lnSpc>
              <a:spcBef>
                <a:spcPts val="0"/>
              </a:spcBef>
              <a:spcAft>
                <a:spcPts val="0"/>
              </a:spcAft>
              <a:buSzPts val="1400"/>
              <a:buNone/>
            </a:pPr>
            <a:r>
              <a:t/>
            </a:r>
            <a:endParaRPr/>
          </a:p>
        </p:txBody>
      </p:sp>
      <p:sp>
        <p:nvSpPr>
          <p:cNvPr id="676" name="Google Shape;67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US" sz="800" u="none" cap="none" strike="noStrike">
                <a:solidFill>
                  <a:srgbClr val="000000"/>
                </a:solidFill>
                <a:latin typeface="Arial"/>
                <a:ea typeface="Arial"/>
                <a:cs typeface="Arial"/>
                <a:sym typeface="Arial"/>
              </a:rPr>
              <a:t>‹#›</a:t>
            </a:fld>
            <a:endParaRPr b="0" i="0" sz="800" u="none" cap="none" strike="noStrike">
              <a:solidFill>
                <a:srgbClr val="000000"/>
              </a:solidFill>
              <a:latin typeface="Arial"/>
              <a:ea typeface="Arial"/>
              <a:cs typeface="Arial"/>
              <a:sym typeface="Arial"/>
            </a:endParaRPr>
          </a:p>
        </p:txBody>
      </p:sp>
      <p:sp>
        <p:nvSpPr>
          <p:cNvPr id="682" name="Google Shape;68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3.1 - Current State of Cybersecurity</a:t>
            </a:r>
            <a:endParaRPr/>
          </a:p>
        </p:txBody>
      </p:sp>
      <p:sp>
        <p:nvSpPr>
          <p:cNvPr id="691" name="Google Shape;69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3.1 - Current State of Cybersecurity</a:t>
            </a:r>
            <a:endParaRPr/>
          </a:p>
          <a:p>
            <a:pPr indent="0" lvl="0" marL="0" rtl="0" algn="l">
              <a:lnSpc>
                <a:spcPct val="100000"/>
              </a:lnSpc>
              <a:spcBef>
                <a:spcPts val="0"/>
              </a:spcBef>
              <a:spcAft>
                <a:spcPts val="0"/>
              </a:spcAft>
              <a:buSzPts val="1400"/>
              <a:buNone/>
            </a:pPr>
            <a:r>
              <a:rPr lang="en-US">
                <a:solidFill>
                  <a:srgbClr val="B6DDE7"/>
                </a:solidFill>
              </a:rPr>
              <a:t>3.1.1 – Current State of Affairs</a:t>
            </a:r>
            <a:endParaRPr/>
          </a:p>
        </p:txBody>
      </p:sp>
      <p:sp>
        <p:nvSpPr>
          <p:cNvPr id="697" name="Google Shape;69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4" name="Google Shape;70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3.1 - Current State of Cybersecurity</a:t>
            </a:r>
            <a:endParaRPr/>
          </a:p>
          <a:p>
            <a:pPr indent="0" lvl="0" marL="0" rtl="0" algn="l">
              <a:lnSpc>
                <a:spcPct val="100000"/>
              </a:lnSpc>
              <a:spcBef>
                <a:spcPts val="0"/>
              </a:spcBef>
              <a:spcAft>
                <a:spcPts val="0"/>
              </a:spcAft>
              <a:buSzPts val="1400"/>
              <a:buNone/>
            </a:pPr>
            <a:r>
              <a:rPr lang="en-US">
                <a:solidFill>
                  <a:srgbClr val="B6DDE7"/>
                </a:solidFill>
              </a:rPr>
              <a:t>3.1.2 – Vectors of Network Attacks</a:t>
            </a:r>
            <a:endParaRPr/>
          </a:p>
        </p:txBody>
      </p:sp>
      <p:sp>
        <p:nvSpPr>
          <p:cNvPr id="705" name="Google Shape;70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2" name="Google Shape;71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3.1 - Current State of Cybersecurity</a:t>
            </a:r>
            <a:endParaRPr/>
          </a:p>
          <a:p>
            <a:pPr indent="0" lvl="0" marL="0" rtl="0" algn="l">
              <a:lnSpc>
                <a:spcPct val="100000"/>
              </a:lnSpc>
              <a:spcBef>
                <a:spcPts val="0"/>
              </a:spcBef>
              <a:spcAft>
                <a:spcPts val="0"/>
              </a:spcAft>
              <a:buSzPts val="1400"/>
              <a:buNone/>
            </a:pPr>
            <a:r>
              <a:rPr lang="en-US">
                <a:solidFill>
                  <a:srgbClr val="B6DDE7"/>
                </a:solidFill>
              </a:rPr>
              <a:t>3.1.3 – Data Loss</a:t>
            </a:r>
            <a:endParaRPr/>
          </a:p>
        </p:txBody>
      </p:sp>
      <p:sp>
        <p:nvSpPr>
          <p:cNvPr id="713" name="Google Shape;71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9" name="Google Shape;71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3.1 - Current State of Cybersecurity</a:t>
            </a:r>
            <a:endParaRPr/>
          </a:p>
          <a:p>
            <a:pPr indent="0" lvl="0" marL="0" rtl="0" algn="l">
              <a:lnSpc>
                <a:spcPct val="100000"/>
              </a:lnSpc>
              <a:spcBef>
                <a:spcPts val="0"/>
              </a:spcBef>
              <a:spcAft>
                <a:spcPts val="0"/>
              </a:spcAft>
              <a:buSzPts val="1400"/>
              <a:buNone/>
            </a:pPr>
            <a:r>
              <a:rPr lang="en-US">
                <a:solidFill>
                  <a:srgbClr val="B6DDE7"/>
                </a:solidFill>
              </a:rPr>
              <a:t>3.1.3 – Data Loss (Cont.)</a:t>
            </a:r>
            <a:endParaRPr/>
          </a:p>
          <a:p>
            <a:pPr indent="0" lvl="0" marL="0" rtl="0" algn="l">
              <a:lnSpc>
                <a:spcPct val="100000"/>
              </a:lnSpc>
              <a:spcBef>
                <a:spcPts val="0"/>
              </a:spcBef>
              <a:spcAft>
                <a:spcPts val="0"/>
              </a:spcAft>
              <a:buSzPts val="1400"/>
              <a:buNone/>
            </a:pPr>
            <a:r>
              <a:rPr lang="en-US">
                <a:solidFill>
                  <a:srgbClr val="B6DDE7"/>
                </a:solidFill>
              </a:rPr>
              <a:t>3.1.4 – Check Your Understanding – Current State of Cybersecurity</a:t>
            </a:r>
            <a:endParaRPr/>
          </a:p>
        </p:txBody>
      </p:sp>
      <p:sp>
        <p:nvSpPr>
          <p:cNvPr id="720" name="Google Shape;72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3.2 - Threat Actors</a:t>
            </a:r>
            <a:endParaRPr/>
          </a:p>
        </p:txBody>
      </p:sp>
      <p:sp>
        <p:nvSpPr>
          <p:cNvPr id="727" name="Google Shape;72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3.2 - Threat Actors</a:t>
            </a:r>
            <a:endParaRPr/>
          </a:p>
          <a:p>
            <a:pPr indent="0" lvl="0" marL="0" rtl="0" algn="l">
              <a:lnSpc>
                <a:spcPct val="100000"/>
              </a:lnSpc>
              <a:spcBef>
                <a:spcPts val="0"/>
              </a:spcBef>
              <a:spcAft>
                <a:spcPts val="0"/>
              </a:spcAft>
              <a:buSzPts val="1400"/>
              <a:buNone/>
            </a:pPr>
            <a:r>
              <a:rPr lang="en-US">
                <a:solidFill>
                  <a:srgbClr val="B6DDE7"/>
                </a:solidFill>
              </a:rPr>
              <a:t>3.2.1 – The Hacker</a:t>
            </a:r>
            <a:endParaRPr/>
          </a:p>
        </p:txBody>
      </p:sp>
      <p:sp>
        <p:nvSpPr>
          <p:cNvPr id="733" name="Google Shape;73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0" name="Google Shape;74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3.2 - Threat Actors</a:t>
            </a:r>
            <a:endParaRPr/>
          </a:p>
          <a:p>
            <a:pPr indent="0" lvl="0" marL="0" rtl="0" algn="l">
              <a:lnSpc>
                <a:spcPct val="100000"/>
              </a:lnSpc>
              <a:spcBef>
                <a:spcPts val="0"/>
              </a:spcBef>
              <a:spcAft>
                <a:spcPts val="0"/>
              </a:spcAft>
              <a:buSzPts val="1400"/>
              <a:buNone/>
            </a:pPr>
            <a:r>
              <a:rPr lang="en-US">
                <a:solidFill>
                  <a:srgbClr val="B6DDE7"/>
                </a:solidFill>
              </a:rPr>
              <a:t>3.2.2 – </a:t>
            </a:r>
            <a:r>
              <a:rPr lang="en-US" sz="1200"/>
              <a:t>The Evolution of Hackers</a:t>
            </a:r>
            <a:endParaRPr>
              <a:solidFill>
                <a:srgbClr val="B6DDE7"/>
              </a:solidFill>
            </a:endParaRPr>
          </a:p>
        </p:txBody>
      </p:sp>
      <p:sp>
        <p:nvSpPr>
          <p:cNvPr id="741" name="Google Shape;741;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3.3 - Threat Actor Tools</a:t>
            </a:r>
            <a:endParaRPr/>
          </a:p>
        </p:txBody>
      </p:sp>
      <p:sp>
        <p:nvSpPr>
          <p:cNvPr id="749" name="Google Shape;749;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4" name="Google Shape;75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3.3 - Threat Actor Tools</a:t>
            </a:r>
            <a:endParaRPr/>
          </a:p>
          <a:p>
            <a:pPr indent="0" lvl="0" marL="0" rtl="0" algn="l">
              <a:lnSpc>
                <a:spcPct val="100000"/>
              </a:lnSpc>
              <a:spcBef>
                <a:spcPts val="0"/>
              </a:spcBef>
              <a:spcAft>
                <a:spcPts val="0"/>
              </a:spcAft>
              <a:buSzPts val="1400"/>
              <a:buNone/>
            </a:pPr>
            <a:r>
              <a:rPr lang="en-US">
                <a:solidFill>
                  <a:srgbClr val="B6DDE7"/>
                </a:solidFill>
              </a:rPr>
              <a:t>3.3.1 – Video – Threat Actor Tools</a:t>
            </a:r>
            <a:endParaRPr/>
          </a:p>
        </p:txBody>
      </p:sp>
      <p:sp>
        <p:nvSpPr>
          <p:cNvPr id="755" name="Google Shape;75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3.3 - Threat Actor Tools</a:t>
            </a:r>
            <a:endParaRPr/>
          </a:p>
          <a:p>
            <a:pPr indent="0" lvl="0" marL="0" rtl="0" algn="l">
              <a:lnSpc>
                <a:spcPct val="100000"/>
              </a:lnSpc>
              <a:spcBef>
                <a:spcPts val="0"/>
              </a:spcBef>
              <a:spcAft>
                <a:spcPts val="0"/>
              </a:spcAft>
              <a:buSzPts val="1400"/>
              <a:buNone/>
            </a:pPr>
            <a:r>
              <a:rPr lang="en-US">
                <a:solidFill>
                  <a:srgbClr val="B6DDE7"/>
                </a:solidFill>
              </a:rPr>
              <a:t>3.3.2 – Introduction to Attack Tools</a:t>
            </a:r>
            <a:endParaRPr/>
          </a:p>
        </p:txBody>
      </p:sp>
      <p:sp>
        <p:nvSpPr>
          <p:cNvPr id="762" name="Google Shape;762;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3.3 - Threat Actor Tools</a:t>
            </a:r>
            <a:endParaRPr/>
          </a:p>
          <a:p>
            <a:pPr indent="0" lvl="0" marL="0" rtl="0" algn="l">
              <a:lnSpc>
                <a:spcPct val="100000"/>
              </a:lnSpc>
              <a:spcBef>
                <a:spcPts val="0"/>
              </a:spcBef>
              <a:spcAft>
                <a:spcPts val="0"/>
              </a:spcAft>
              <a:buSzPts val="1400"/>
              <a:buNone/>
            </a:pPr>
            <a:r>
              <a:rPr lang="en-US">
                <a:solidFill>
                  <a:srgbClr val="B6DDE7"/>
                </a:solidFill>
              </a:rPr>
              <a:t>3.3.3 – </a:t>
            </a:r>
            <a:r>
              <a:rPr lang="en-US" sz="1200"/>
              <a:t>Evolution of Security Tools</a:t>
            </a:r>
            <a:endParaRPr/>
          </a:p>
        </p:txBody>
      </p:sp>
      <p:sp>
        <p:nvSpPr>
          <p:cNvPr id="769" name="Google Shape;769;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3.3 - Threat Actor Tools</a:t>
            </a:r>
            <a:endParaRPr/>
          </a:p>
          <a:p>
            <a:pPr indent="0" lvl="0" marL="0" rtl="0" algn="l">
              <a:lnSpc>
                <a:spcPct val="100000"/>
              </a:lnSpc>
              <a:spcBef>
                <a:spcPts val="0"/>
              </a:spcBef>
              <a:spcAft>
                <a:spcPts val="0"/>
              </a:spcAft>
              <a:buSzPts val="1400"/>
              <a:buNone/>
            </a:pPr>
            <a:r>
              <a:rPr lang="en-US">
                <a:solidFill>
                  <a:srgbClr val="B6DDE7"/>
                </a:solidFill>
              </a:rPr>
              <a:t>3.3.3 – </a:t>
            </a:r>
            <a:r>
              <a:rPr lang="en-US" sz="1200"/>
              <a:t>Evolution of Security Tools (Cont.)</a:t>
            </a:r>
            <a:endParaRPr/>
          </a:p>
        </p:txBody>
      </p:sp>
      <p:sp>
        <p:nvSpPr>
          <p:cNvPr id="777" name="Google Shape;77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3.3 - Threat Actor Tools</a:t>
            </a:r>
            <a:endParaRPr/>
          </a:p>
          <a:p>
            <a:pPr indent="0" lvl="0" marL="0" rtl="0" algn="l">
              <a:lnSpc>
                <a:spcPct val="100000"/>
              </a:lnSpc>
              <a:spcBef>
                <a:spcPts val="0"/>
              </a:spcBef>
              <a:spcAft>
                <a:spcPts val="0"/>
              </a:spcAft>
              <a:buSzPts val="1400"/>
              <a:buNone/>
            </a:pPr>
            <a:r>
              <a:rPr lang="en-US">
                <a:solidFill>
                  <a:srgbClr val="B6DDE7"/>
                </a:solidFill>
              </a:rPr>
              <a:t>3.3.4 – </a:t>
            </a:r>
            <a:r>
              <a:rPr lang="en-US" sz="1200"/>
              <a:t>Attack Types</a:t>
            </a:r>
            <a:endParaRPr/>
          </a:p>
          <a:p>
            <a:pPr indent="0" lvl="0" marL="0" rtl="0" algn="l">
              <a:lnSpc>
                <a:spcPct val="100000"/>
              </a:lnSpc>
              <a:spcBef>
                <a:spcPts val="0"/>
              </a:spcBef>
              <a:spcAft>
                <a:spcPts val="0"/>
              </a:spcAft>
              <a:buSzPts val="1400"/>
              <a:buNone/>
            </a:pPr>
            <a:r>
              <a:rPr lang="en-US" sz="1200"/>
              <a:t>3.3.5 – Check Your Understanding – Threat Actor Tools</a:t>
            </a:r>
            <a:endParaRPr/>
          </a:p>
        </p:txBody>
      </p:sp>
      <p:sp>
        <p:nvSpPr>
          <p:cNvPr id="784" name="Google Shape;784;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3.4  - Malware</a:t>
            </a:r>
            <a:endParaRPr/>
          </a:p>
        </p:txBody>
      </p:sp>
      <p:sp>
        <p:nvSpPr>
          <p:cNvPr id="791" name="Google Shape;791;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6" name="Google Shape;796;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3.4  - Malware</a:t>
            </a:r>
            <a:endParaRPr/>
          </a:p>
          <a:p>
            <a:pPr indent="0" lvl="0" marL="0" rtl="0" algn="l">
              <a:lnSpc>
                <a:spcPct val="100000"/>
              </a:lnSpc>
              <a:spcBef>
                <a:spcPts val="0"/>
              </a:spcBef>
              <a:spcAft>
                <a:spcPts val="0"/>
              </a:spcAft>
              <a:buSzPts val="1400"/>
              <a:buNone/>
            </a:pPr>
            <a:r>
              <a:rPr lang="en-US">
                <a:solidFill>
                  <a:srgbClr val="B6DDE7"/>
                </a:solidFill>
              </a:rPr>
              <a:t>3.4.1 – Overview of Malware</a:t>
            </a:r>
            <a:endParaRPr/>
          </a:p>
        </p:txBody>
      </p:sp>
      <p:sp>
        <p:nvSpPr>
          <p:cNvPr id="797" name="Google Shape;797;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3.4  - Malware</a:t>
            </a:r>
            <a:endParaRPr/>
          </a:p>
          <a:p>
            <a:pPr indent="0" lvl="0" marL="0" rtl="0" algn="l">
              <a:lnSpc>
                <a:spcPct val="100000"/>
              </a:lnSpc>
              <a:spcBef>
                <a:spcPts val="0"/>
              </a:spcBef>
              <a:spcAft>
                <a:spcPts val="0"/>
              </a:spcAft>
              <a:buSzPts val="1400"/>
              <a:buNone/>
            </a:pPr>
            <a:r>
              <a:rPr lang="en-US">
                <a:solidFill>
                  <a:srgbClr val="B6DDE7"/>
                </a:solidFill>
              </a:rPr>
              <a:t>3.4.2 – </a:t>
            </a:r>
            <a:r>
              <a:rPr lang="en-US" sz="1200"/>
              <a:t>Viruses and Trojan Horses</a:t>
            </a:r>
            <a:endParaRPr/>
          </a:p>
        </p:txBody>
      </p:sp>
      <p:sp>
        <p:nvSpPr>
          <p:cNvPr id="805" name="Google Shape;80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1" name="Google Shape;81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3.4  - Malware</a:t>
            </a:r>
            <a:endParaRPr/>
          </a:p>
          <a:p>
            <a:pPr indent="0" lvl="0" marL="0" rtl="0" algn="l">
              <a:lnSpc>
                <a:spcPct val="100000"/>
              </a:lnSpc>
              <a:spcBef>
                <a:spcPts val="0"/>
              </a:spcBef>
              <a:spcAft>
                <a:spcPts val="0"/>
              </a:spcAft>
              <a:buSzPts val="1400"/>
              <a:buNone/>
            </a:pPr>
            <a:r>
              <a:rPr lang="en-US">
                <a:solidFill>
                  <a:srgbClr val="B6DDE7"/>
                </a:solidFill>
              </a:rPr>
              <a:t>3.4.2 – </a:t>
            </a:r>
            <a:r>
              <a:rPr lang="en-US" sz="1200"/>
              <a:t>Viruses and Trojan Horses (Cont.)</a:t>
            </a:r>
            <a:endParaRPr/>
          </a:p>
        </p:txBody>
      </p:sp>
      <p:sp>
        <p:nvSpPr>
          <p:cNvPr id="812" name="Google Shape;812;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9" name="Google Shape;819;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3.4  - Malware</a:t>
            </a:r>
            <a:endParaRPr/>
          </a:p>
          <a:p>
            <a:pPr indent="0" lvl="0" marL="0" rtl="0" algn="l">
              <a:lnSpc>
                <a:spcPct val="100000"/>
              </a:lnSpc>
              <a:spcBef>
                <a:spcPts val="0"/>
              </a:spcBef>
              <a:spcAft>
                <a:spcPts val="0"/>
              </a:spcAft>
              <a:buSzPts val="1400"/>
              <a:buNone/>
            </a:pPr>
            <a:r>
              <a:rPr lang="en-US">
                <a:solidFill>
                  <a:srgbClr val="B6DDE7"/>
                </a:solidFill>
              </a:rPr>
              <a:t>3.4.2 – </a:t>
            </a:r>
            <a:r>
              <a:rPr lang="en-US" sz="1200"/>
              <a:t>Viruses and Trojan Horses (Cont.)</a:t>
            </a:r>
            <a:endParaRPr/>
          </a:p>
        </p:txBody>
      </p:sp>
      <p:sp>
        <p:nvSpPr>
          <p:cNvPr id="820" name="Google Shape;820;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7" name="Google Shape;827;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3.4  - Malware</a:t>
            </a:r>
            <a:endParaRPr/>
          </a:p>
          <a:p>
            <a:pPr indent="0" lvl="0" marL="0" rtl="0" algn="l">
              <a:lnSpc>
                <a:spcPct val="100000"/>
              </a:lnSpc>
              <a:spcBef>
                <a:spcPts val="0"/>
              </a:spcBef>
              <a:spcAft>
                <a:spcPts val="0"/>
              </a:spcAft>
              <a:buSzPts val="1400"/>
              <a:buNone/>
            </a:pPr>
            <a:r>
              <a:rPr lang="en-US">
                <a:solidFill>
                  <a:srgbClr val="B6DDE7"/>
                </a:solidFill>
              </a:rPr>
              <a:t>3.4.3 – </a:t>
            </a:r>
            <a:r>
              <a:rPr lang="en-US" sz="1200"/>
              <a:t>Other Types of Malware</a:t>
            </a:r>
            <a:endParaRPr/>
          </a:p>
          <a:p>
            <a:pPr indent="0" lvl="0" marL="0" rtl="0" algn="l">
              <a:lnSpc>
                <a:spcPct val="100000"/>
              </a:lnSpc>
              <a:spcBef>
                <a:spcPts val="0"/>
              </a:spcBef>
              <a:spcAft>
                <a:spcPts val="0"/>
              </a:spcAft>
              <a:buSzPts val="1400"/>
              <a:buNone/>
            </a:pPr>
            <a:r>
              <a:rPr lang="en-US" sz="1200"/>
              <a:t>3.4.4 – Check Your Understanding - Malware</a:t>
            </a:r>
            <a:endParaRPr/>
          </a:p>
        </p:txBody>
      </p:sp>
      <p:sp>
        <p:nvSpPr>
          <p:cNvPr id="828" name="Google Shape;828;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t/>
            </a:r>
            <a:endParaRPr/>
          </a:p>
        </p:txBody>
      </p:sp>
      <p:sp>
        <p:nvSpPr>
          <p:cNvPr id="835" name="Google Shape;83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0" name="Google Shape;840;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3.5.1 - Overview of Common Network Attacks</a:t>
            </a:r>
            <a:endParaRPr/>
          </a:p>
        </p:txBody>
      </p:sp>
      <p:sp>
        <p:nvSpPr>
          <p:cNvPr id="841" name="Google Shape;841;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7" name="Google Shape;84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3.5.2 -  </a:t>
            </a:r>
            <a:r>
              <a:rPr lang="en-US" sz="1200"/>
              <a:t>Video - Common Network Attacks</a:t>
            </a:r>
            <a:endParaRPr/>
          </a:p>
        </p:txBody>
      </p:sp>
      <p:sp>
        <p:nvSpPr>
          <p:cNvPr id="848" name="Google Shape;84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4" name="Google Shape;85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3.5.3 -  </a:t>
            </a:r>
            <a:r>
              <a:rPr lang="en-US" sz="1200"/>
              <a:t>Reconnaissance Attacks</a:t>
            </a:r>
            <a:endParaRPr/>
          </a:p>
        </p:txBody>
      </p:sp>
      <p:sp>
        <p:nvSpPr>
          <p:cNvPr id="855" name="Google Shape;85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3.5.3 -  </a:t>
            </a:r>
            <a:r>
              <a:rPr lang="en-US" sz="1200"/>
              <a:t>Reconnaissance Attacks (Cont.)</a:t>
            </a:r>
            <a:endParaRPr/>
          </a:p>
        </p:txBody>
      </p:sp>
      <p:sp>
        <p:nvSpPr>
          <p:cNvPr id="862" name="Google Shape;86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 name="Google Shape;86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3.5.4 -  </a:t>
            </a:r>
            <a:r>
              <a:rPr lang="en-US" sz="1200"/>
              <a:t>Video – Access and Social Engineering Attacks</a:t>
            </a:r>
            <a:endParaRPr/>
          </a:p>
        </p:txBody>
      </p:sp>
      <p:sp>
        <p:nvSpPr>
          <p:cNvPr id="870" name="Google Shape;87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3.5.5 - </a:t>
            </a:r>
            <a:r>
              <a:rPr lang="en-US" sz="1200"/>
              <a:t>Access Attacks</a:t>
            </a:r>
            <a:endParaRPr/>
          </a:p>
        </p:txBody>
      </p:sp>
      <p:sp>
        <p:nvSpPr>
          <p:cNvPr id="877" name="Google Shape;877;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3.5.6 - </a:t>
            </a:r>
            <a:r>
              <a:rPr lang="en-US" sz="1200"/>
              <a:t>Social Engineering Attacks</a:t>
            </a:r>
            <a:endParaRPr/>
          </a:p>
        </p:txBody>
      </p:sp>
      <p:sp>
        <p:nvSpPr>
          <p:cNvPr id="884" name="Google Shape;884;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0" name="Google Shape;89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3.5.6 - </a:t>
            </a:r>
            <a:r>
              <a:rPr lang="en-US" sz="1200"/>
              <a:t>Social Engineering Attacks (Cont.)</a:t>
            </a:r>
            <a:endParaRPr/>
          </a:p>
        </p:txBody>
      </p:sp>
      <p:sp>
        <p:nvSpPr>
          <p:cNvPr id="891" name="Google Shape;891;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3.5.6 - </a:t>
            </a:r>
            <a:r>
              <a:rPr lang="en-US" sz="1200"/>
              <a:t>Social Engineering Attacks (Cont.)</a:t>
            </a:r>
            <a:endParaRPr/>
          </a:p>
        </p:txBody>
      </p:sp>
      <p:sp>
        <p:nvSpPr>
          <p:cNvPr id="898" name="Google Shape;898;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3.5.7 - </a:t>
            </a:r>
            <a:r>
              <a:rPr lang="en-US" sz="1200"/>
              <a:t>Lab - Social Engineering</a:t>
            </a:r>
            <a:endParaRPr/>
          </a:p>
        </p:txBody>
      </p:sp>
      <p:sp>
        <p:nvSpPr>
          <p:cNvPr id="906" name="Google Shape;906;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2" name="Google Shape;91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3.5.8 – </a:t>
            </a:r>
            <a:r>
              <a:rPr lang="en-US" sz="1200"/>
              <a:t>Video – Denial of Service Attacks</a:t>
            </a:r>
            <a:endParaRPr/>
          </a:p>
        </p:txBody>
      </p:sp>
      <p:sp>
        <p:nvSpPr>
          <p:cNvPr id="913" name="Google Shape;91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solidFill>
                  <a:srgbClr val="B6DDE7"/>
                </a:solidFill>
              </a:rPr>
              <a:t>3.5 - Common Network Attacks</a:t>
            </a:r>
            <a:endParaRPr/>
          </a:p>
          <a:p>
            <a:pPr indent="0" lvl="0" marL="0" rtl="0" algn="l">
              <a:lnSpc>
                <a:spcPct val="100000"/>
              </a:lnSpc>
              <a:spcBef>
                <a:spcPts val="0"/>
              </a:spcBef>
              <a:spcAft>
                <a:spcPts val="0"/>
              </a:spcAft>
              <a:buSzPts val="1400"/>
              <a:buNone/>
            </a:pPr>
            <a:r>
              <a:rPr lang="en-US">
                <a:solidFill>
                  <a:srgbClr val="B6DDE7"/>
                </a:solidFill>
              </a:rPr>
              <a:t>3.5.9 - </a:t>
            </a:r>
            <a:r>
              <a:rPr lang="en-US" sz="1200"/>
              <a:t>DoS and DDoS Attacks</a:t>
            </a:r>
            <a:endParaRPr/>
          </a:p>
          <a:p>
            <a:pPr indent="0" lvl="0" marL="0" rtl="0" algn="l">
              <a:lnSpc>
                <a:spcPct val="100000"/>
              </a:lnSpc>
              <a:spcBef>
                <a:spcPts val="0"/>
              </a:spcBef>
              <a:spcAft>
                <a:spcPts val="0"/>
              </a:spcAft>
              <a:buSzPts val="1400"/>
              <a:buNone/>
            </a:pPr>
            <a:r>
              <a:rPr lang="en-US" sz="1200"/>
              <a:t>3.5.10 – Check Your Understanding – Common Network Attacks</a:t>
            </a:r>
            <a:endParaRPr/>
          </a:p>
        </p:txBody>
      </p:sp>
      <p:sp>
        <p:nvSpPr>
          <p:cNvPr id="920" name="Google Shape;920;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p:txBody>
      </p:sp>
      <p:sp>
        <p:nvSpPr>
          <p:cNvPr id="927" name="Google Shape;927;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2" name="Google Shape;93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3.6.1 - </a:t>
            </a:r>
            <a:r>
              <a:rPr lang="en-US" sz="1200"/>
              <a:t>Video – Common IP and ICMP Attacks</a:t>
            </a:r>
            <a:endParaRPr/>
          </a:p>
        </p:txBody>
      </p:sp>
      <p:sp>
        <p:nvSpPr>
          <p:cNvPr id="933" name="Google Shape;933;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3.6.2 - </a:t>
            </a:r>
            <a:r>
              <a:rPr lang="en-US" sz="1200"/>
              <a:t>IPv4 and IPv6</a:t>
            </a:r>
            <a:endParaRPr/>
          </a:p>
        </p:txBody>
      </p:sp>
      <p:sp>
        <p:nvSpPr>
          <p:cNvPr id="940" name="Google Shape;940;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3.6.3 - </a:t>
            </a:r>
            <a:r>
              <a:rPr lang="en-US" sz="1200"/>
              <a:t>ICMP Attacks</a:t>
            </a:r>
            <a:endParaRPr/>
          </a:p>
        </p:txBody>
      </p:sp>
      <p:sp>
        <p:nvSpPr>
          <p:cNvPr id="948" name="Google Shape;948;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4" name="Google Shape;954;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3.6.3 -</a:t>
            </a:r>
            <a:r>
              <a:rPr lang="en-US" sz="1200"/>
              <a:t>ICMP Attacks (Cont.)</a:t>
            </a:r>
            <a:endParaRPr/>
          </a:p>
        </p:txBody>
      </p:sp>
      <p:sp>
        <p:nvSpPr>
          <p:cNvPr id="955" name="Google Shape;955;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3.6.4 -</a:t>
            </a:r>
            <a:r>
              <a:rPr lang="en-US" sz="1200"/>
              <a:t>Video – Amplification, Reflection, and Spoofing Attacks</a:t>
            </a:r>
            <a:endParaRPr/>
          </a:p>
        </p:txBody>
      </p:sp>
      <p:sp>
        <p:nvSpPr>
          <p:cNvPr id="963" name="Google Shape;963;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9" name="Google Shape;969;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3.6.5 - </a:t>
            </a:r>
            <a:r>
              <a:rPr lang="en-US" sz="1200"/>
              <a:t>Amplification and Reflection Attacks</a:t>
            </a:r>
            <a:endParaRPr/>
          </a:p>
        </p:txBody>
      </p:sp>
      <p:sp>
        <p:nvSpPr>
          <p:cNvPr id="970" name="Google Shape;970;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3.6 - </a:t>
            </a:r>
            <a:r>
              <a:rPr lang="en-US">
                <a:solidFill>
                  <a:srgbClr val="B6DDE7"/>
                </a:solidFill>
              </a:rPr>
              <a:t>IP Vulnerabilities and Threats</a:t>
            </a:r>
            <a:endParaRPr/>
          </a:p>
          <a:p>
            <a:pPr indent="0" lvl="0" marL="0" rtl="0" algn="l">
              <a:lnSpc>
                <a:spcPct val="100000"/>
              </a:lnSpc>
              <a:spcBef>
                <a:spcPts val="0"/>
              </a:spcBef>
              <a:spcAft>
                <a:spcPts val="0"/>
              </a:spcAft>
              <a:buSzPts val="1400"/>
              <a:buNone/>
            </a:pPr>
            <a:r>
              <a:rPr lang="en-US">
                <a:solidFill>
                  <a:srgbClr val="B6DDE7"/>
                </a:solidFill>
              </a:rPr>
              <a:t>3.6.6 - </a:t>
            </a:r>
            <a:r>
              <a:rPr lang="en-US" sz="1200"/>
              <a:t>Address Spoofing Attacks</a:t>
            </a:r>
            <a:endParaRPr/>
          </a:p>
          <a:p>
            <a:pPr indent="0" lvl="0" marL="0" rtl="0" algn="l">
              <a:lnSpc>
                <a:spcPct val="100000"/>
              </a:lnSpc>
              <a:spcBef>
                <a:spcPts val="0"/>
              </a:spcBef>
              <a:spcAft>
                <a:spcPts val="0"/>
              </a:spcAft>
              <a:buSzPts val="1400"/>
              <a:buNone/>
            </a:pPr>
            <a:r>
              <a:rPr lang="en-US" sz="1200"/>
              <a:t>3.6.7 – Check Your Understanding – IP Vulnerabilities and Threats</a:t>
            </a:r>
            <a:endParaRPr/>
          </a:p>
        </p:txBody>
      </p:sp>
      <p:sp>
        <p:nvSpPr>
          <p:cNvPr id="978" name="Google Shape;978;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t/>
            </a:r>
            <a:endParaRPr/>
          </a:p>
        </p:txBody>
      </p:sp>
      <p:sp>
        <p:nvSpPr>
          <p:cNvPr id="985" name="Google Shape;98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0" name="Google Shape;990;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3.7.1 – TCP Segment Header</a:t>
            </a:r>
            <a:endParaRPr/>
          </a:p>
        </p:txBody>
      </p:sp>
      <p:sp>
        <p:nvSpPr>
          <p:cNvPr id="991" name="Google Shape;991;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8" name="Google Shape;998;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3.7.2 - </a:t>
            </a:r>
            <a:r>
              <a:rPr lang="en-US" sz="1200"/>
              <a:t>TCP Services</a:t>
            </a:r>
            <a:endParaRPr/>
          </a:p>
        </p:txBody>
      </p:sp>
      <p:sp>
        <p:nvSpPr>
          <p:cNvPr id="999" name="Google Shape;999;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3.7.2 - </a:t>
            </a:r>
            <a:r>
              <a:rPr lang="en-US" sz="1200"/>
              <a:t>TCP Services (Cont.)</a:t>
            </a:r>
            <a:endParaRPr/>
          </a:p>
        </p:txBody>
      </p:sp>
      <p:sp>
        <p:nvSpPr>
          <p:cNvPr id="1006" name="Google Shape;1006;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3" name="Google Shape;1013;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3.7.3 - </a:t>
            </a:r>
            <a:r>
              <a:rPr lang="en-US" sz="1200"/>
              <a:t>TCP Attacks</a:t>
            </a:r>
            <a:endParaRPr/>
          </a:p>
        </p:txBody>
      </p:sp>
      <p:sp>
        <p:nvSpPr>
          <p:cNvPr id="1014" name="Google Shape;1014;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1" name="Google Shape;1021;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3.7.3 - </a:t>
            </a:r>
            <a:r>
              <a:rPr lang="en-US" sz="1200"/>
              <a:t>TCP Attacks (Cont.)</a:t>
            </a:r>
            <a:endParaRPr/>
          </a:p>
        </p:txBody>
      </p:sp>
      <p:sp>
        <p:nvSpPr>
          <p:cNvPr id="1022" name="Google Shape;1022;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9" name="Google Shape;1029;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3.7.3 - </a:t>
            </a:r>
            <a:r>
              <a:rPr lang="en-US" sz="1200"/>
              <a:t>TCP Attacks (Cont.)</a:t>
            </a:r>
            <a:endParaRPr/>
          </a:p>
        </p:txBody>
      </p:sp>
      <p:sp>
        <p:nvSpPr>
          <p:cNvPr id="1030" name="Google Shape;1030;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3.7.4 - </a:t>
            </a:r>
            <a:r>
              <a:rPr lang="en-US" sz="1200"/>
              <a:t>UDP Segment Header and Operation</a:t>
            </a:r>
            <a:endParaRPr/>
          </a:p>
        </p:txBody>
      </p:sp>
      <p:sp>
        <p:nvSpPr>
          <p:cNvPr id="1037" name="Google Shape;1037;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4" name="Google Shape;1044;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3.7 – TCP and UDP Vulnerabilities</a:t>
            </a:r>
            <a:endParaRPr/>
          </a:p>
          <a:p>
            <a:pPr indent="0" lvl="0" marL="0" rtl="0" algn="l">
              <a:lnSpc>
                <a:spcPct val="100000"/>
              </a:lnSpc>
              <a:spcBef>
                <a:spcPts val="0"/>
              </a:spcBef>
              <a:spcAft>
                <a:spcPts val="0"/>
              </a:spcAft>
              <a:buSzPts val="1400"/>
              <a:buNone/>
            </a:pPr>
            <a:r>
              <a:rPr lang="en-US"/>
              <a:t>3.7.5 - </a:t>
            </a:r>
            <a:r>
              <a:rPr lang="en-US" sz="1200"/>
              <a:t>UDP Attacks</a:t>
            </a:r>
            <a:endParaRPr/>
          </a:p>
          <a:p>
            <a:pPr indent="0" lvl="0" marL="0" rtl="0" algn="l">
              <a:lnSpc>
                <a:spcPct val="100000"/>
              </a:lnSpc>
              <a:spcBef>
                <a:spcPts val="0"/>
              </a:spcBef>
              <a:spcAft>
                <a:spcPts val="0"/>
              </a:spcAft>
              <a:buSzPts val="1400"/>
              <a:buNone/>
            </a:pPr>
            <a:r>
              <a:rPr lang="en-US" sz="1200"/>
              <a:t>3.7.6 – Check Your Understanding – TCP and UDP Vulnerabilities</a:t>
            </a:r>
            <a:endParaRPr/>
          </a:p>
        </p:txBody>
      </p:sp>
      <p:sp>
        <p:nvSpPr>
          <p:cNvPr id="1045" name="Google Shape;1045;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1" name="Google Shape;1051;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t/>
            </a:r>
            <a:endParaRPr/>
          </a:p>
        </p:txBody>
      </p:sp>
      <p:sp>
        <p:nvSpPr>
          <p:cNvPr id="1052" name="Google Shape;1052;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3.8.1 – ARP Vulnerabilities</a:t>
            </a:r>
            <a:endParaRPr/>
          </a:p>
        </p:txBody>
      </p:sp>
      <p:sp>
        <p:nvSpPr>
          <p:cNvPr id="1058" name="Google Shape;1058;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3.8.2 – </a:t>
            </a:r>
            <a:r>
              <a:rPr lang="en-US" sz="1200"/>
              <a:t>ARP Cache Poisoning</a:t>
            </a:r>
            <a:endParaRPr/>
          </a:p>
        </p:txBody>
      </p:sp>
      <p:sp>
        <p:nvSpPr>
          <p:cNvPr id="1065" name="Google Shape;1065;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3.8.3 – </a:t>
            </a:r>
            <a:r>
              <a:rPr lang="en-US" sz="1200"/>
              <a:t>Video – ARP Spoofing</a:t>
            </a:r>
            <a:endParaRPr/>
          </a:p>
        </p:txBody>
      </p:sp>
      <p:sp>
        <p:nvSpPr>
          <p:cNvPr id="1079" name="Google Shape;1079;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3.8.4 – DNS Attacks</a:t>
            </a:r>
            <a:endParaRPr/>
          </a:p>
        </p:txBody>
      </p:sp>
      <p:sp>
        <p:nvSpPr>
          <p:cNvPr id="1086" name="Google Shape;1086;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2" name="Google Shape;1092;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3.8.4 – </a:t>
            </a:r>
            <a:r>
              <a:rPr lang="en-US" sz="1200"/>
              <a:t>DNS Attacks (Cont.)</a:t>
            </a:r>
            <a:endParaRPr/>
          </a:p>
        </p:txBody>
      </p:sp>
      <p:sp>
        <p:nvSpPr>
          <p:cNvPr id="1093" name="Google Shape;1093;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0" name="Google Shape;1100;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3.8.4 – </a:t>
            </a:r>
            <a:r>
              <a:rPr lang="en-US" sz="1200"/>
              <a:t>DNS Attacks (Cont.)</a:t>
            </a:r>
            <a:endParaRPr/>
          </a:p>
        </p:txBody>
      </p:sp>
      <p:sp>
        <p:nvSpPr>
          <p:cNvPr id="1101" name="Google Shape;1101;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8" name="Google Shape;1108;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3.8.4 – </a:t>
            </a:r>
            <a:r>
              <a:rPr lang="en-US" sz="1200"/>
              <a:t>DNS Attacks (Cont.)</a:t>
            </a:r>
            <a:endParaRPr/>
          </a:p>
        </p:txBody>
      </p:sp>
      <p:sp>
        <p:nvSpPr>
          <p:cNvPr id="1109" name="Google Shape;1109;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5" name="Google Shape;1115;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3.8.5 – </a:t>
            </a:r>
            <a:r>
              <a:rPr lang="en-US" sz="1200"/>
              <a:t>DNS Tunneling</a:t>
            </a:r>
            <a:endParaRPr/>
          </a:p>
        </p:txBody>
      </p:sp>
      <p:sp>
        <p:nvSpPr>
          <p:cNvPr id="1116" name="Google Shape;1116;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3.8.6 – </a:t>
            </a:r>
            <a:r>
              <a:rPr lang="en-US" sz="1200"/>
              <a:t>DHCP</a:t>
            </a:r>
            <a:endParaRPr/>
          </a:p>
        </p:txBody>
      </p:sp>
      <p:sp>
        <p:nvSpPr>
          <p:cNvPr id="1123" name="Google Shape;1123;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3.8.7 – </a:t>
            </a:r>
            <a:r>
              <a:rPr lang="en-US" sz="1200"/>
              <a:t>DHCP Attacks</a:t>
            </a:r>
            <a:endParaRPr/>
          </a:p>
        </p:txBody>
      </p:sp>
      <p:sp>
        <p:nvSpPr>
          <p:cNvPr id="1131" name="Google Shape;1131;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3.8.7 – </a:t>
            </a:r>
            <a:r>
              <a:rPr lang="en-US" sz="1200"/>
              <a:t>DHCP Attacks (Cont.)</a:t>
            </a:r>
            <a:endParaRPr/>
          </a:p>
        </p:txBody>
      </p:sp>
      <p:sp>
        <p:nvSpPr>
          <p:cNvPr id="1138" name="Google Shape;1138;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4" name="Google Shape;1144;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3.8 – IP Services</a:t>
            </a:r>
            <a:endParaRPr/>
          </a:p>
          <a:p>
            <a:pPr indent="0" lvl="0" marL="0" rtl="0" algn="l">
              <a:lnSpc>
                <a:spcPct val="100000"/>
              </a:lnSpc>
              <a:spcBef>
                <a:spcPts val="0"/>
              </a:spcBef>
              <a:spcAft>
                <a:spcPts val="0"/>
              </a:spcAft>
              <a:buSzPts val="1400"/>
              <a:buNone/>
            </a:pPr>
            <a:r>
              <a:rPr lang="en-US"/>
              <a:t>3.8.8 - </a:t>
            </a:r>
            <a:r>
              <a:rPr lang="en-US" sz="1200"/>
              <a:t>Lab – Explore DNS Traffic</a:t>
            </a:r>
            <a:endParaRPr/>
          </a:p>
        </p:txBody>
      </p:sp>
      <p:sp>
        <p:nvSpPr>
          <p:cNvPr id="1145" name="Google Shape;1145;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p:txBody>
      </p:sp>
      <p:sp>
        <p:nvSpPr>
          <p:cNvPr id="1152" name="Google Shape;1152;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7" name="Google Shape;1157;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a:p>
            <a:pPr indent="0" lvl="0" marL="0" rtl="0" algn="l">
              <a:lnSpc>
                <a:spcPct val="100000"/>
              </a:lnSpc>
              <a:spcBef>
                <a:spcPts val="0"/>
              </a:spcBef>
              <a:spcAft>
                <a:spcPts val="0"/>
              </a:spcAft>
              <a:buSzPts val="1400"/>
              <a:buNone/>
            </a:pPr>
            <a:r>
              <a:rPr lang="en-US"/>
              <a:t>3.9.1 - </a:t>
            </a:r>
            <a:r>
              <a:rPr lang="en-US" sz="1200"/>
              <a:t>Confidentiality, Availability, and Integrity</a:t>
            </a:r>
            <a:endParaRPr/>
          </a:p>
        </p:txBody>
      </p:sp>
      <p:sp>
        <p:nvSpPr>
          <p:cNvPr id="1158" name="Google Shape;1158;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4" name="Google Shape;1164;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a:p>
            <a:pPr indent="0" lvl="0" marL="0" rtl="0" algn="l">
              <a:lnSpc>
                <a:spcPct val="100000"/>
              </a:lnSpc>
              <a:spcBef>
                <a:spcPts val="0"/>
              </a:spcBef>
              <a:spcAft>
                <a:spcPts val="0"/>
              </a:spcAft>
              <a:buSzPts val="1400"/>
              <a:buNone/>
            </a:pPr>
            <a:r>
              <a:rPr lang="en-US"/>
              <a:t>3.9.2 – The Defense-in-Depth Approach</a:t>
            </a:r>
            <a:endParaRPr/>
          </a:p>
        </p:txBody>
      </p:sp>
      <p:sp>
        <p:nvSpPr>
          <p:cNvPr id="1165" name="Google Shape;1165;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a:p>
            <a:pPr indent="0" lvl="0" marL="0" rtl="0" algn="l">
              <a:lnSpc>
                <a:spcPct val="100000"/>
              </a:lnSpc>
              <a:spcBef>
                <a:spcPts val="0"/>
              </a:spcBef>
              <a:spcAft>
                <a:spcPts val="0"/>
              </a:spcAft>
              <a:buSzPts val="1400"/>
              <a:buNone/>
            </a:pPr>
            <a:r>
              <a:rPr lang="en-US"/>
              <a:t>3.9.3 - Firewalls</a:t>
            </a:r>
            <a:endParaRPr/>
          </a:p>
        </p:txBody>
      </p:sp>
      <p:sp>
        <p:nvSpPr>
          <p:cNvPr id="1172" name="Google Shape;1172;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9" name="Google Shape;1179;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a:p>
            <a:pPr indent="0" lvl="0" marL="0" rtl="0" algn="l">
              <a:lnSpc>
                <a:spcPct val="100000"/>
              </a:lnSpc>
              <a:spcBef>
                <a:spcPts val="0"/>
              </a:spcBef>
              <a:spcAft>
                <a:spcPts val="0"/>
              </a:spcAft>
              <a:buSzPts val="1400"/>
              <a:buNone/>
            </a:pPr>
            <a:r>
              <a:rPr lang="en-US"/>
              <a:t>3.9.4 - IPS</a:t>
            </a:r>
            <a:endParaRPr/>
          </a:p>
        </p:txBody>
      </p:sp>
      <p:sp>
        <p:nvSpPr>
          <p:cNvPr id="1180" name="Google Shape;1180;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6" name="Google Shape;1186;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a:p>
            <a:pPr indent="0" lvl="0" marL="0" rtl="0" algn="l">
              <a:lnSpc>
                <a:spcPct val="100000"/>
              </a:lnSpc>
              <a:spcBef>
                <a:spcPts val="0"/>
              </a:spcBef>
              <a:spcAft>
                <a:spcPts val="0"/>
              </a:spcAft>
              <a:buSzPts val="1400"/>
              <a:buNone/>
            </a:pPr>
            <a:r>
              <a:rPr lang="en-US"/>
              <a:t>3.9.4 – IPS (Cont.)</a:t>
            </a:r>
            <a:endParaRPr/>
          </a:p>
        </p:txBody>
      </p:sp>
      <p:sp>
        <p:nvSpPr>
          <p:cNvPr id="1187" name="Google Shape;1187;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 – Network Security Concepts</a:t>
            </a:r>
            <a:endParaRPr/>
          </a:p>
          <a:p>
            <a:pPr indent="0" lvl="0" marL="0" rtl="0" algn="l">
              <a:lnSpc>
                <a:spcPct val="100000"/>
              </a:lnSpc>
              <a:spcBef>
                <a:spcPts val="0"/>
              </a:spcBef>
              <a:spcAft>
                <a:spcPts val="0"/>
              </a:spcAft>
              <a:buSzPts val="1400"/>
              <a:buNone/>
            </a:pPr>
            <a:r>
              <a:rPr lang="en-US"/>
              <a:t>3.9 – Network Security Best Practices</a:t>
            </a:r>
            <a:endParaRPr/>
          </a:p>
          <a:p>
            <a:pPr indent="0" lvl="0" marL="0" rtl="0" algn="l">
              <a:lnSpc>
                <a:spcPct val="100000"/>
              </a:lnSpc>
              <a:spcBef>
                <a:spcPts val="0"/>
              </a:spcBef>
              <a:spcAft>
                <a:spcPts val="0"/>
              </a:spcAft>
              <a:buSzPts val="1400"/>
              <a:buNone/>
            </a:pPr>
            <a:r>
              <a:rPr lang="en-US"/>
              <a:t>3.9.5 – Content Security Devices</a:t>
            </a:r>
            <a:endParaRPr/>
          </a:p>
          <a:p>
            <a:pPr indent="0" lvl="0" marL="0" rtl="0" algn="l">
              <a:lnSpc>
                <a:spcPct val="100000"/>
              </a:lnSpc>
              <a:spcBef>
                <a:spcPts val="0"/>
              </a:spcBef>
              <a:spcAft>
                <a:spcPts val="0"/>
              </a:spcAft>
              <a:buSzPts val="1400"/>
              <a:buNone/>
            </a:pPr>
            <a:r>
              <a:rPr lang="en-US"/>
              <a:t>3.9.6 – Check Your Understanding – Network Security Best Practices</a:t>
            </a:r>
            <a:endParaRPr/>
          </a:p>
        </p:txBody>
      </p:sp>
      <p:sp>
        <p:nvSpPr>
          <p:cNvPr id="1195" name="Google Shape;1195;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2" name="Google Shape;1202;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7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7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7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7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7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7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75"/>
          <p:cNvGrpSpPr/>
          <p:nvPr/>
        </p:nvGrpSpPr>
        <p:grpSpPr>
          <a:xfrm>
            <a:off x="492125" y="395288"/>
            <a:ext cx="796924" cy="423863"/>
            <a:chOff x="310" y="249"/>
            <a:chExt cx="502" cy="267"/>
          </a:xfrm>
        </p:grpSpPr>
        <p:sp>
          <p:nvSpPr>
            <p:cNvPr id="36" name="Google Shape;36;p7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 name="Google Shape;37;p7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 name="Google Shape;38;p7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 name="Google Shape;39;p7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7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 name="Google Shape;41;p7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 name="Google Shape;42;p7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 name="Google Shape;43;p7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 name="Google Shape;44;p7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 name="Google Shape;45;p7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 name="Google Shape;46;p7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 name="Google Shape;47;p7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 name="Google Shape;48;p7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 name="Google Shape;49;p7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76"/>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25"/>
              <a:buFont typeface="Arial"/>
              <a:buNone/>
              <a:defRPr b="0" i="0" sz="525" u="none" cap="none" strike="noStrike">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76"/>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7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77"/>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6" name="Google Shape;56;p77"/>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77"/>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58" name="Google Shape;58;p77"/>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59" name="Google Shape;59;p77"/>
          <p:cNvGrpSpPr/>
          <p:nvPr/>
        </p:nvGrpSpPr>
        <p:grpSpPr>
          <a:xfrm>
            <a:off x="508039" y="4715197"/>
            <a:ext cx="340257" cy="180974"/>
            <a:chOff x="310" y="249"/>
            <a:chExt cx="502" cy="267"/>
          </a:xfrm>
        </p:grpSpPr>
        <p:sp>
          <p:nvSpPr>
            <p:cNvPr id="60" name="Google Shape;60;p77"/>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7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 name="Google Shape;62;p7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 name="Google Shape;63;p7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 name="Google Shape;64;p7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 name="Google Shape;65;p7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 name="Google Shape;66;p7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 name="Google Shape;67;p7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8" name="Google Shape;68;p7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9" name="Google Shape;69;p7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 name="Google Shape;70;p7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p7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2" name="Google Shape;72;p7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3" name="Google Shape;73;p7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78"/>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78"/>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79"/>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79"/>
          <p:cNvGrpSpPr/>
          <p:nvPr/>
        </p:nvGrpSpPr>
        <p:grpSpPr>
          <a:xfrm>
            <a:off x="3746294" y="2129856"/>
            <a:ext cx="1617944" cy="860542"/>
            <a:chOff x="310" y="249"/>
            <a:chExt cx="502" cy="267"/>
          </a:xfrm>
        </p:grpSpPr>
        <p:sp>
          <p:nvSpPr>
            <p:cNvPr id="80" name="Google Shape;80;p7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7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7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7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4" name="Google Shape;84;p7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 name="Google Shape;85;p7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6" name="Google Shape;86;p7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7" name="Google Shape;87;p7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8" name="Google Shape;88;p7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9" name="Google Shape;89;p7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0" name="Google Shape;90;p7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1" name="Google Shape;91;p7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 name="Google Shape;92;p7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3" name="Google Shape;93;p7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8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8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8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80"/>
          <p:cNvGrpSpPr/>
          <p:nvPr/>
        </p:nvGrpSpPr>
        <p:grpSpPr>
          <a:xfrm>
            <a:off x="492125" y="395288"/>
            <a:ext cx="796924" cy="423863"/>
            <a:chOff x="310" y="249"/>
            <a:chExt cx="502" cy="267"/>
          </a:xfrm>
        </p:grpSpPr>
        <p:sp>
          <p:nvSpPr>
            <p:cNvPr id="99" name="Google Shape;99;p80"/>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8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8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8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p8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8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5" name="Google Shape;105;p8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6" name="Google Shape;106;p8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 name="Google Shape;107;p8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8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8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8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8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2" name="Google Shape;112;p8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13" name="Google Shape;113;p8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8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81"/>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7" name="Google Shape;117;p81"/>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81"/>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81"/>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81"/>
          <p:cNvGrpSpPr/>
          <p:nvPr/>
        </p:nvGrpSpPr>
        <p:grpSpPr>
          <a:xfrm>
            <a:off x="492125" y="395288"/>
            <a:ext cx="796924" cy="423863"/>
            <a:chOff x="310" y="249"/>
            <a:chExt cx="502" cy="267"/>
          </a:xfrm>
        </p:grpSpPr>
        <p:sp>
          <p:nvSpPr>
            <p:cNvPr id="121" name="Google Shape;121;p8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8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8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8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8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6" name="Google Shape;126;p8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7" name="Google Shape;127;p8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8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8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8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8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8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3" name="Google Shape;133;p8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4" name="Google Shape;134;p8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35" name="Google Shape;135;p81"/>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81"/>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8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83"/>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141" name="Google Shape;141;p83"/>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a:ea typeface="Arial"/>
              <a:cs typeface="Arial"/>
              <a:sym typeface="Arial"/>
            </a:endParaRPr>
          </a:p>
        </p:txBody>
      </p:sp>
      <p:sp>
        <p:nvSpPr>
          <p:cNvPr id="142" name="Google Shape;142;p83"/>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49FD9"/>
              </a:solidFill>
              <a:latin typeface="Arial"/>
              <a:ea typeface="Arial"/>
              <a:cs typeface="Arial"/>
              <a:sym typeface="Arial"/>
            </a:endParaRPr>
          </a:p>
        </p:txBody>
      </p:sp>
      <p:sp>
        <p:nvSpPr>
          <p:cNvPr id="143" name="Google Shape;143;p83"/>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83"/>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83"/>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83"/>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83"/>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83"/>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8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84"/>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2" name="Google Shape;152;p84"/>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3" name="Google Shape;153;p84"/>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54" name="Google Shape;154;p84"/>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84"/>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84"/>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84"/>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84"/>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84"/>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84"/>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61" name="Google Shape;161;p84"/>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84"/>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84"/>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164" name="Google Shape;164;p84"/>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84"/>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85"/>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85"/>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69" name="Google Shape;169;p85"/>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70" name="Google Shape;170;p85"/>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71" name="Google Shape;171;p85"/>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85"/>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85"/>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85"/>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85"/>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85"/>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85"/>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78" name="Google Shape;178;p85"/>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85"/>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85"/>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1" name="Google Shape;181;p85"/>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85"/>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85"/>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4" name="Google Shape;184;p85"/>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5" name="Google Shape;185;p85"/>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86" name="Google Shape;186;p85"/>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85"/>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85"/>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85"/>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85"/>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85"/>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85"/>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93" name="Google Shape;193;p85"/>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85"/>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85"/>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196" name="Google Shape;196;p85"/>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85"/>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86"/>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200" name="Google Shape;200;p86"/>
          <p:cNvGrpSpPr/>
          <p:nvPr/>
        </p:nvGrpSpPr>
        <p:grpSpPr>
          <a:xfrm>
            <a:off x="3746294" y="2129856"/>
            <a:ext cx="1617944" cy="860542"/>
            <a:chOff x="310" y="249"/>
            <a:chExt cx="502" cy="267"/>
          </a:xfrm>
        </p:grpSpPr>
        <p:sp>
          <p:nvSpPr>
            <p:cNvPr id="201" name="Google Shape;201;p8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2" name="Google Shape;202;p8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p8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8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8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8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7" name="Google Shape;207;p8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8" name="Google Shape;208;p8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9" name="Google Shape;209;p8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0" name="Google Shape;210;p8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1" name="Google Shape;211;p8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2" name="Google Shape;212;p8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3" name="Google Shape;213;p8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4" name="Google Shape;214;p8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87"/>
          <p:cNvGrpSpPr/>
          <p:nvPr/>
        </p:nvGrpSpPr>
        <p:grpSpPr>
          <a:xfrm>
            <a:off x="3746294" y="2129856"/>
            <a:ext cx="1617944" cy="860542"/>
            <a:chOff x="310" y="249"/>
            <a:chExt cx="502" cy="267"/>
          </a:xfrm>
        </p:grpSpPr>
        <p:sp>
          <p:nvSpPr>
            <p:cNvPr id="217" name="Google Shape;217;p87"/>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8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8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8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1" name="Google Shape;221;p8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2" name="Google Shape;222;p8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3" name="Google Shape;223;p8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4" name="Google Shape;224;p8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5" name="Google Shape;225;p8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6" name="Google Shape;226;p8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7" name="Google Shape;227;p8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8" name="Google Shape;228;p8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9" name="Google Shape;229;p8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0" name="Google Shape;230;p8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8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52" name="Shape 252"/>
        <p:cNvGrpSpPr/>
        <p:nvPr/>
      </p:nvGrpSpPr>
      <p:grpSpPr>
        <a:xfrm>
          <a:off x="0" y="0"/>
          <a:ext cx="0" cy="0"/>
          <a:chOff x="0" y="0"/>
          <a:chExt cx="0" cy="0"/>
        </a:xfrm>
      </p:grpSpPr>
      <p:pic>
        <p:nvPicPr>
          <p:cNvPr id="253" name="Google Shape;253;p9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54" name="Google Shape;254;p9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255" name="Google Shape;255;p9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56" name="Google Shape;256;p9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57" name="Google Shape;257;p9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58" name="Google Shape;258;p9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259" name="Google Shape;259;p90"/>
          <p:cNvGrpSpPr/>
          <p:nvPr/>
        </p:nvGrpSpPr>
        <p:grpSpPr>
          <a:xfrm>
            <a:off x="492125" y="395288"/>
            <a:ext cx="796924" cy="423863"/>
            <a:chOff x="310" y="249"/>
            <a:chExt cx="502" cy="267"/>
          </a:xfrm>
        </p:grpSpPr>
        <p:sp>
          <p:nvSpPr>
            <p:cNvPr id="260" name="Google Shape;260;p9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1" name="Google Shape;261;p9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2" name="Google Shape;262;p9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3" name="Google Shape;263;p9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4" name="Google Shape;264;p9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5" name="Google Shape;265;p9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6" name="Google Shape;266;p9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7" name="Google Shape;267;p9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8" name="Google Shape;268;p9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9" name="Google Shape;269;p9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0" name="Google Shape;270;p9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1" name="Google Shape;271;p9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2" name="Google Shape;272;p9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3" name="Google Shape;273;p9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274" name="Shape 274"/>
        <p:cNvGrpSpPr/>
        <p:nvPr/>
      </p:nvGrpSpPr>
      <p:grpSpPr>
        <a:xfrm>
          <a:off x="0" y="0"/>
          <a:ext cx="0" cy="0"/>
          <a:chOff x="0" y="0"/>
          <a:chExt cx="0" cy="0"/>
        </a:xfrm>
      </p:grpSpPr>
      <p:sp>
        <p:nvSpPr>
          <p:cNvPr id="275" name="Google Shape;275;p91"/>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276" name="Google Shape;276;p91"/>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77" name="Google Shape;277;p91"/>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278" name="Google Shape;278;p91"/>
          <p:cNvGrpSpPr/>
          <p:nvPr/>
        </p:nvGrpSpPr>
        <p:grpSpPr>
          <a:xfrm>
            <a:off x="492125" y="395288"/>
            <a:ext cx="796924" cy="423863"/>
            <a:chOff x="310" y="249"/>
            <a:chExt cx="502" cy="267"/>
          </a:xfrm>
        </p:grpSpPr>
        <p:sp>
          <p:nvSpPr>
            <p:cNvPr id="279" name="Google Shape;279;p91"/>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0" name="Google Shape;280;p9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9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2" name="Google Shape;282;p9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3" name="Google Shape;283;p9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4" name="Google Shape;284;p9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5" name="Google Shape;285;p9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6" name="Google Shape;286;p9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7" name="Google Shape;287;p9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8" name="Google Shape;288;p9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9" name="Google Shape;289;p9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0" name="Google Shape;290;p9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1" name="Google Shape;291;p9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2" name="Google Shape;292;p9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93" name="Google Shape;293;p91"/>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94" name="Google Shape;294;p91"/>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295" name="Shape 295"/>
        <p:cNvGrpSpPr/>
        <p:nvPr/>
      </p:nvGrpSpPr>
      <p:grpSpPr>
        <a:xfrm>
          <a:off x="0" y="0"/>
          <a:ext cx="0" cy="0"/>
          <a:chOff x="0" y="0"/>
          <a:chExt cx="0" cy="0"/>
        </a:xfrm>
      </p:grpSpPr>
      <p:sp>
        <p:nvSpPr>
          <p:cNvPr id="296" name="Google Shape;296;p92"/>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97" name="Google Shape;297;p92"/>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298" name="Google Shape;298;p92"/>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99" name="Google Shape;299;p92"/>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300" name="Google Shape;300;p92"/>
          <p:cNvGrpSpPr/>
          <p:nvPr/>
        </p:nvGrpSpPr>
        <p:grpSpPr>
          <a:xfrm>
            <a:off x="492125" y="395288"/>
            <a:ext cx="796924" cy="423863"/>
            <a:chOff x="310" y="249"/>
            <a:chExt cx="502" cy="267"/>
          </a:xfrm>
        </p:grpSpPr>
        <p:sp>
          <p:nvSpPr>
            <p:cNvPr id="301" name="Google Shape;301;p92"/>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2" name="Google Shape;302;p9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3" name="Google Shape;303;p9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4" name="Google Shape;304;p9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5" name="Google Shape;305;p9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6" name="Google Shape;306;p9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7" name="Google Shape;307;p9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8" name="Google Shape;308;p9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9" name="Google Shape;309;p9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0" name="Google Shape;310;p9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1" name="Google Shape;311;p9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2" name="Google Shape;312;p9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3" name="Google Shape;313;p9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4" name="Google Shape;314;p9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15" name="Google Shape;315;p92"/>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16" name="Google Shape;316;p92"/>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317" name="Shape 317"/>
        <p:cNvGrpSpPr/>
        <p:nvPr/>
      </p:nvGrpSpPr>
      <p:grpSpPr>
        <a:xfrm>
          <a:off x="0" y="0"/>
          <a:ext cx="0" cy="0"/>
          <a:chOff x="0" y="0"/>
          <a:chExt cx="0" cy="0"/>
        </a:xfrm>
      </p:grpSpPr>
      <p:sp>
        <p:nvSpPr>
          <p:cNvPr id="318" name="Google Shape;318;p93"/>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19" name="Google Shape;319;p93"/>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320" name="Google Shape;320;p93"/>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321" name="Google Shape;321;p93"/>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322" name="Google Shape;322;p93"/>
          <p:cNvGrpSpPr/>
          <p:nvPr/>
        </p:nvGrpSpPr>
        <p:grpSpPr>
          <a:xfrm>
            <a:off x="508039" y="4715197"/>
            <a:ext cx="340257" cy="180974"/>
            <a:chOff x="310" y="249"/>
            <a:chExt cx="502" cy="267"/>
          </a:xfrm>
        </p:grpSpPr>
        <p:sp>
          <p:nvSpPr>
            <p:cNvPr id="323" name="Google Shape;323;p93"/>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4" name="Google Shape;324;p9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5" name="Google Shape;325;p9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6" name="Google Shape;326;p9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7" name="Google Shape;327;p9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8" name="Google Shape;328;p9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9" name="Google Shape;329;p9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0" name="Google Shape;330;p9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1" name="Google Shape;331;p9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2" name="Google Shape;332;p9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3" name="Google Shape;333;p9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4" name="Google Shape;334;p9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5" name="Google Shape;335;p9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6" name="Google Shape;336;p9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337" name="Shape 337"/>
        <p:cNvGrpSpPr/>
        <p:nvPr/>
      </p:nvGrpSpPr>
      <p:grpSpPr>
        <a:xfrm>
          <a:off x="0" y="0"/>
          <a:ext cx="0" cy="0"/>
          <a:chOff x="0" y="0"/>
          <a:chExt cx="0" cy="0"/>
        </a:xfrm>
      </p:grpSpPr>
      <p:sp>
        <p:nvSpPr>
          <p:cNvPr id="338" name="Google Shape;338;p94"/>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9" name="Google Shape;339;p94"/>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340" name="Shape 340"/>
        <p:cNvGrpSpPr/>
        <p:nvPr/>
      </p:nvGrpSpPr>
      <p:grpSpPr>
        <a:xfrm>
          <a:off x="0" y="0"/>
          <a:ext cx="0" cy="0"/>
          <a:chOff x="0" y="0"/>
          <a:chExt cx="0" cy="0"/>
        </a:xfrm>
      </p:grpSpPr>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341" name="Shape 341"/>
        <p:cNvGrpSpPr/>
        <p:nvPr/>
      </p:nvGrpSpPr>
      <p:grpSpPr>
        <a:xfrm>
          <a:off x="0" y="0"/>
          <a:ext cx="0" cy="0"/>
          <a:chOff x="0" y="0"/>
          <a:chExt cx="0" cy="0"/>
        </a:xfrm>
      </p:grpSpPr>
      <p:sp>
        <p:nvSpPr>
          <p:cNvPr id="342" name="Google Shape;342;p96"/>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343" name="Google Shape;343;p96"/>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344" name="Google Shape;344;p96"/>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a:ea typeface="Arial"/>
              <a:cs typeface="Arial"/>
              <a:sym typeface="Arial"/>
            </a:endParaRPr>
          </a:p>
        </p:txBody>
      </p:sp>
      <p:sp>
        <p:nvSpPr>
          <p:cNvPr id="345" name="Google Shape;345;p96"/>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49FD9"/>
              </a:solidFill>
              <a:latin typeface="Arial"/>
              <a:ea typeface="Arial"/>
              <a:cs typeface="Arial"/>
              <a:sym typeface="Arial"/>
            </a:endParaRPr>
          </a:p>
        </p:txBody>
      </p:sp>
      <p:sp>
        <p:nvSpPr>
          <p:cNvPr id="346" name="Google Shape;346;p96"/>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7" name="Google Shape;347;p96"/>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8" name="Google Shape;348;p96"/>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9" name="Google Shape;349;p96"/>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50" name="Google Shape;350;p96"/>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51" name="Google Shape;351;p96"/>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352" name="Shape 352"/>
        <p:cNvGrpSpPr/>
        <p:nvPr/>
      </p:nvGrpSpPr>
      <p:grpSpPr>
        <a:xfrm>
          <a:off x="0" y="0"/>
          <a:ext cx="0" cy="0"/>
          <a:chOff x="0" y="0"/>
          <a:chExt cx="0" cy="0"/>
        </a:xfrm>
      </p:grpSpPr>
      <p:sp>
        <p:nvSpPr>
          <p:cNvPr id="353" name="Google Shape;353;p9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354" name="Google Shape;354;p97"/>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355" name="Google Shape;355;p97"/>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356" name="Google Shape;356;p97"/>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357" name="Google Shape;357;p97"/>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58" name="Google Shape;358;p97"/>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59" name="Google Shape;359;p97"/>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0" name="Google Shape;360;p97"/>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1" name="Google Shape;361;p97"/>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2" name="Google Shape;362;p97"/>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3" name="Google Shape;363;p97"/>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364" name="Google Shape;364;p97"/>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5" name="Google Shape;365;p97"/>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6" name="Google Shape;366;p97"/>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367" name="Google Shape;367;p97"/>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68" name="Google Shape;368;p97"/>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369" name="Shape 369"/>
        <p:cNvGrpSpPr/>
        <p:nvPr/>
      </p:nvGrpSpPr>
      <p:grpSpPr>
        <a:xfrm>
          <a:off x="0" y="0"/>
          <a:ext cx="0" cy="0"/>
          <a:chOff x="0" y="0"/>
          <a:chExt cx="0" cy="0"/>
        </a:xfrm>
      </p:grpSpPr>
      <p:sp>
        <p:nvSpPr>
          <p:cNvPr id="370" name="Google Shape;370;p9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371" name="Google Shape;371;p98"/>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72" name="Google Shape;372;p98"/>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73" name="Google Shape;373;p98"/>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74" name="Google Shape;374;p98"/>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75" name="Google Shape;375;p98"/>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76" name="Google Shape;376;p98"/>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77" name="Google Shape;377;p98"/>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78" name="Google Shape;378;p98"/>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79" name="Google Shape;379;p98"/>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80" name="Google Shape;380;p98"/>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81" name="Google Shape;381;p98"/>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82" name="Google Shape;382;p98"/>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83" name="Google Shape;383;p98"/>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84" name="Google Shape;384;p98"/>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85" name="Google Shape;385;p98"/>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86" name="Google Shape;386;p98"/>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87" name="Google Shape;387;p98"/>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88" name="Google Shape;388;p98"/>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89" name="Google Shape;389;p98"/>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0" name="Google Shape;390;p98"/>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1" name="Google Shape;391;p98"/>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2" name="Google Shape;392;p98"/>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3" name="Google Shape;393;p98"/>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4" name="Google Shape;394;p98"/>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5" name="Google Shape;395;p98"/>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96" name="Google Shape;396;p98"/>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7" name="Google Shape;397;p98"/>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8" name="Google Shape;398;p98"/>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399" name="Google Shape;399;p98"/>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00" name="Google Shape;400;p98"/>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401" name="Shape 401"/>
        <p:cNvGrpSpPr/>
        <p:nvPr/>
      </p:nvGrpSpPr>
      <p:grpSpPr>
        <a:xfrm>
          <a:off x="0" y="0"/>
          <a:ext cx="0" cy="0"/>
          <a:chOff x="0" y="0"/>
          <a:chExt cx="0" cy="0"/>
        </a:xfrm>
      </p:grpSpPr>
      <p:pic>
        <p:nvPicPr>
          <p:cNvPr id="402" name="Google Shape;402;p99"/>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403" name="Google Shape;403;p99"/>
          <p:cNvGrpSpPr/>
          <p:nvPr/>
        </p:nvGrpSpPr>
        <p:grpSpPr>
          <a:xfrm>
            <a:off x="3746294" y="2129856"/>
            <a:ext cx="1617944" cy="860542"/>
            <a:chOff x="310" y="249"/>
            <a:chExt cx="502" cy="267"/>
          </a:xfrm>
        </p:grpSpPr>
        <p:sp>
          <p:nvSpPr>
            <p:cNvPr id="404" name="Google Shape;404;p9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5" name="Google Shape;405;p9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6" name="Google Shape;406;p9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7" name="Google Shape;407;p9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8" name="Google Shape;408;p9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9" name="Google Shape;409;p9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0" name="Google Shape;410;p9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1" name="Google Shape;411;p9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2" name="Google Shape;412;p9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3" name="Google Shape;413;p9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4" name="Google Shape;414;p9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5" name="Google Shape;415;p9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6" name="Google Shape;416;p9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7" name="Google Shape;417;p9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418" name="Shape 418"/>
        <p:cNvGrpSpPr/>
        <p:nvPr/>
      </p:nvGrpSpPr>
      <p:grpSpPr>
        <a:xfrm>
          <a:off x="0" y="0"/>
          <a:ext cx="0" cy="0"/>
          <a:chOff x="0" y="0"/>
          <a:chExt cx="0" cy="0"/>
        </a:xfrm>
      </p:grpSpPr>
      <p:sp>
        <p:nvSpPr>
          <p:cNvPr id="419" name="Google Shape;419;p100"/>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420" name="Google Shape;420;p100"/>
          <p:cNvGrpSpPr/>
          <p:nvPr/>
        </p:nvGrpSpPr>
        <p:grpSpPr>
          <a:xfrm>
            <a:off x="3746294" y="2129856"/>
            <a:ext cx="1617944" cy="860542"/>
            <a:chOff x="310" y="249"/>
            <a:chExt cx="502" cy="267"/>
          </a:xfrm>
        </p:grpSpPr>
        <p:sp>
          <p:nvSpPr>
            <p:cNvPr id="421" name="Google Shape;421;p10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2" name="Google Shape;422;p10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3" name="Google Shape;423;p10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4" name="Google Shape;424;p10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5" name="Google Shape;425;p10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6" name="Google Shape;426;p10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7" name="Google Shape;427;p10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8" name="Google Shape;428;p10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9" name="Google Shape;429;p10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0" name="Google Shape;430;p10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1" name="Google Shape;431;p10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2" name="Google Shape;432;p10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3" name="Google Shape;433;p10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4" name="Google Shape;434;p10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435" name="Shape 435"/>
        <p:cNvGrpSpPr/>
        <p:nvPr/>
      </p:nvGrpSpPr>
      <p:grpSpPr>
        <a:xfrm>
          <a:off x="0" y="0"/>
          <a:ext cx="0" cy="0"/>
          <a:chOff x="0" y="0"/>
          <a:chExt cx="0" cy="0"/>
        </a:xfrm>
      </p:grpSpPr>
      <p:grpSp>
        <p:nvGrpSpPr>
          <p:cNvPr id="436" name="Google Shape;436;p101"/>
          <p:cNvGrpSpPr/>
          <p:nvPr/>
        </p:nvGrpSpPr>
        <p:grpSpPr>
          <a:xfrm>
            <a:off x="3746294" y="2129856"/>
            <a:ext cx="1617944" cy="860542"/>
            <a:chOff x="310" y="249"/>
            <a:chExt cx="502" cy="267"/>
          </a:xfrm>
        </p:grpSpPr>
        <p:sp>
          <p:nvSpPr>
            <p:cNvPr id="437" name="Google Shape;437;p101"/>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8" name="Google Shape;438;p10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9" name="Google Shape;439;p10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0" name="Google Shape;440;p10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1" name="Google Shape;441;p10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2" name="Google Shape;442;p10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3" name="Google Shape;443;p10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4" name="Google Shape;444;p10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5" name="Google Shape;445;p10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6" name="Google Shape;446;p10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7" name="Google Shape;447;p10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8" name="Google Shape;448;p10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9" name="Google Shape;449;p10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0" name="Google Shape;450;p10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1" name="Shape 451"/>
        <p:cNvGrpSpPr/>
        <p:nvPr/>
      </p:nvGrpSpPr>
      <p:grpSpPr>
        <a:xfrm>
          <a:off x="0" y="0"/>
          <a:ext cx="0" cy="0"/>
          <a:chOff x="0" y="0"/>
          <a:chExt cx="0" cy="0"/>
        </a:xfrm>
      </p:grpSpPr>
      <p:sp>
        <p:nvSpPr>
          <p:cNvPr id="452" name="Google Shape;452;p10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472" name="Shape 472"/>
        <p:cNvGrpSpPr/>
        <p:nvPr/>
      </p:nvGrpSpPr>
      <p:grpSpPr>
        <a:xfrm>
          <a:off x="0" y="0"/>
          <a:ext cx="0" cy="0"/>
          <a:chOff x="0" y="0"/>
          <a:chExt cx="0" cy="0"/>
        </a:xfrm>
      </p:grpSpPr>
      <p:pic>
        <p:nvPicPr>
          <p:cNvPr id="473" name="Google Shape;473;p10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74" name="Google Shape;474;p10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475" name="Google Shape;475;p10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76" name="Google Shape;476;p10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77" name="Google Shape;477;p10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78" name="Google Shape;478;p10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479" name="Google Shape;479;p104"/>
          <p:cNvGrpSpPr/>
          <p:nvPr/>
        </p:nvGrpSpPr>
        <p:grpSpPr>
          <a:xfrm>
            <a:off x="492125" y="395288"/>
            <a:ext cx="796924" cy="423863"/>
            <a:chOff x="310" y="249"/>
            <a:chExt cx="502" cy="267"/>
          </a:xfrm>
        </p:grpSpPr>
        <p:sp>
          <p:nvSpPr>
            <p:cNvPr id="480" name="Google Shape;480;p10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1" name="Google Shape;481;p10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2" name="Google Shape;482;p10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3" name="Google Shape;483;p10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4" name="Google Shape;484;p10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5" name="Google Shape;485;p10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6" name="Google Shape;486;p10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7" name="Google Shape;487;p10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8" name="Google Shape;488;p10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9" name="Google Shape;489;p10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0" name="Google Shape;490;p10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1" name="Google Shape;491;p10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2" name="Google Shape;492;p10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3" name="Google Shape;493;p10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494" name="Shape 494"/>
        <p:cNvGrpSpPr/>
        <p:nvPr/>
      </p:nvGrpSpPr>
      <p:grpSpPr>
        <a:xfrm>
          <a:off x="0" y="0"/>
          <a:ext cx="0" cy="0"/>
          <a:chOff x="0" y="0"/>
          <a:chExt cx="0" cy="0"/>
        </a:xfrm>
      </p:grpSpPr>
      <p:sp>
        <p:nvSpPr>
          <p:cNvPr id="495" name="Google Shape;495;p10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496" name="Google Shape;496;p10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497" name="Google Shape;497;p10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498" name="Google Shape;498;p105"/>
          <p:cNvGrpSpPr/>
          <p:nvPr/>
        </p:nvGrpSpPr>
        <p:grpSpPr>
          <a:xfrm>
            <a:off x="492125" y="395288"/>
            <a:ext cx="796924" cy="423863"/>
            <a:chOff x="310" y="249"/>
            <a:chExt cx="502" cy="267"/>
          </a:xfrm>
        </p:grpSpPr>
        <p:sp>
          <p:nvSpPr>
            <p:cNvPr id="499" name="Google Shape;499;p105"/>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0" name="Google Shape;500;p10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1" name="Google Shape;501;p10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2" name="Google Shape;502;p10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3" name="Google Shape;503;p10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4" name="Google Shape;504;p10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5" name="Google Shape;505;p10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6" name="Google Shape;506;p10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10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8" name="Google Shape;508;p10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9" name="Google Shape;509;p10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0" name="Google Shape;510;p10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1" name="Google Shape;511;p10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2" name="Google Shape;512;p10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13" name="Google Shape;513;p10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14" name="Google Shape;514;p10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515" name="Shape 515"/>
        <p:cNvGrpSpPr/>
        <p:nvPr/>
      </p:nvGrpSpPr>
      <p:grpSpPr>
        <a:xfrm>
          <a:off x="0" y="0"/>
          <a:ext cx="0" cy="0"/>
          <a:chOff x="0" y="0"/>
          <a:chExt cx="0" cy="0"/>
        </a:xfrm>
      </p:grpSpPr>
      <p:sp>
        <p:nvSpPr>
          <p:cNvPr id="516" name="Google Shape;516;p106"/>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17" name="Google Shape;517;p106"/>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lnSpc>
                <a:spcPct val="100000"/>
              </a:lnSpc>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lnSpc>
                <a:spcPct val="100000"/>
              </a:lnSpc>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lnSpc>
                <a:spcPct val="100000"/>
              </a:lnSpc>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518" name="Google Shape;518;p106"/>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19" name="Google Shape;519;p106"/>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520" name="Google Shape;520;p106"/>
          <p:cNvGrpSpPr/>
          <p:nvPr/>
        </p:nvGrpSpPr>
        <p:grpSpPr>
          <a:xfrm>
            <a:off x="492125" y="395288"/>
            <a:ext cx="796924" cy="423863"/>
            <a:chOff x="310" y="249"/>
            <a:chExt cx="502" cy="267"/>
          </a:xfrm>
        </p:grpSpPr>
        <p:sp>
          <p:nvSpPr>
            <p:cNvPr id="521" name="Google Shape;521;p106"/>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 name="Google Shape;522;p10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3" name="Google Shape;523;p10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4" name="Google Shape;524;p10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5" name="Google Shape;525;p10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6" name="Google Shape;526;p10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7" name="Google Shape;527;p10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8" name="Google Shape;528;p10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9" name="Google Shape;529;p10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0" name="Google Shape;530;p10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1" name="Google Shape;531;p10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2" name="Google Shape;532;p10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3" name="Google Shape;533;p10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4" name="Google Shape;534;p10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35" name="Google Shape;535;p106"/>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6" name="Google Shape;536;p106"/>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37" name="Shape 537"/>
        <p:cNvGrpSpPr/>
        <p:nvPr/>
      </p:nvGrpSpPr>
      <p:grpSpPr>
        <a:xfrm>
          <a:off x="0" y="0"/>
          <a:ext cx="0" cy="0"/>
          <a:chOff x="0" y="0"/>
          <a:chExt cx="0" cy="0"/>
        </a:xfrm>
      </p:grpSpPr>
      <p:sp>
        <p:nvSpPr>
          <p:cNvPr id="538" name="Google Shape;538;p107"/>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39" name="Google Shape;539;p107"/>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40" name="Google Shape;540;p107"/>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076D8E"/>
                </a:solidFill>
                <a:latin typeface="Arial"/>
                <a:ea typeface="Arial"/>
                <a:cs typeface="Arial"/>
                <a:sym typeface="Arial"/>
              </a:rPr>
              <a:t>‹#›</a:t>
            </a:fld>
            <a:endParaRPr b="0" i="0" sz="600" u="none" cap="none" strike="noStrike">
              <a:solidFill>
                <a:srgbClr val="076D8E"/>
              </a:solidFill>
              <a:latin typeface="Arial"/>
              <a:ea typeface="Arial"/>
              <a:cs typeface="Arial"/>
              <a:sym typeface="Arial"/>
            </a:endParaRPr>
          </a:p>
        </p:txBody>
      </p:sp>
      <p:sp>
        <p:nvSpPr>
          <p:cNvPr id="541" name="Google Shape;541;p107"/>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076D8E"/>
                </a:solidFill>
                <a:latin typeface="Arial"/>
                <a:ea typeface="Arial"/>
                <a:cs typeface="Arial"/>
                <a:sym typeface="Arial"/>
              </a:rPr>
              <a:t>© 2016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542" name="Google Shape;542;p107"/>
          <p:cNvGrpSpPr/>
          <p:nvPr/>
        </p:nvGrpSpPr>
        <p:grpSpPr>
          <a:xfrm>
            <a:off x="508039" y="4715197"/>
            <a:ext cx="340257" cy="180974"/>
            <a:chOff x="310" y="249"/>
            <a:chExt cx="502" cy="267"/>
          </a:xfrm>
        </p:grpSpPr>
        <p:sp>
          <p:nvSpPr>
            <p:cNvPr id="543" name="Google Shape;543;p107"/>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4" name="Google Shape;544;p10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5" name="Google Shape;545;p10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6" name="Google Shape;546;p10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7" name="Google Shape;547;p10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8" name="Google Shape;548;p10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9" name="Google Shape;549;p10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0" name="Google Shape;550;p10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1" name="Google Shape;551;p10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2" name="Google Shape;552;p10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3" name="Google Shape;553;p10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4" name="Google Shape;554;p10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5" name="Google Shape;555;p10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6" name="Google Shape;556;p10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557" name="Shape 557"/>
        <p:cNvGrpSpPr/>
        <p:nvPr/>
      </p:nvGrpSpPr>
      <p:grpSpPr>
        <a:xfrm>
          <a:off x="0" y="0"/>
          <a:ext cx="0" cy="0"/>
          <a:chOff x="0" y="0"/>
          <a:chExt cx="0" cy="0"/>
        </a:xfrm>
      </p:grpSpPr>
      <p:sp>
        <p:nvSpPr>
          <p:cNvPr id="558" name="Google Shape;558;p108"/>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59" name="Google Shape;559;p108"/>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560" name="Shape 560"/>
        <p:cNvGrpSpPr/>
        <p:nvPr/>
      </p:nvGrpSpPr>
      <p:grpSpPr>
        <a:xfrm>
          <a:off x="0" y="0"/>
          <a:ext cx="0" cy="0"/>
          <a:chOff x="0" y="0"/>
          <a:chExt cx="0" cy="0"/>
        </a:xfrm>
      </p:grpSpPr>
    </p:spTree>
  </p:cSld>
  <p:clrMapOvr>
    <a:masterClrMapping/>
  </p:clrMapOvr>
  <p:transition spd="med">
    <p:fade/>
  </p:transition>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561" name="Shape 561"/>
        <p:cNvGrpSpPr/>
        <p:nvPr/>
      </p:nvGrpSpPr>
      <p:grpSpPr>
        <a:xfrm>
          <a:off x="0" y="0"/>
          <a:ext cx="0" cy="0"/>
          <a:chOff x="0" y="0"/>
          <a:chExt cx="0" cy="0"/>
        </a:xfrm>
      </p:grpSpPr>
      <p:sp>
        <p:nvSpPr>
          <p:cNvPr id="562" name="Google Shape;562;p11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63" name="Google Shape;563;p110"/>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FFFFFF"/>
              </a:solidFill>
              <a:latin typeface="Arial"/>
              <a:ea typeface="Arial"/>
              <a:cs typeface="Arial"/>
              <a:sym typeface="Arial"/>
            </a:endParaRPr>
          </a:p>
        </p:txBody>
      </p:sp>
      <p:sp>
        <p:nvSpPr>
          <p:cNvPr id="564" name="Google Shape;564;p110"/>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lt1"/>
              </a:solidFill>
              <a:latin typeface="Arial"/>
              <a:ea typeface="Arial"/>
              <a:cs typeface="Arial"/>
              <a:sym typeface="Arial"/>
            </a:endParaRPr>
          </a:p>
        </p:txBody>
      </p:sp>
      <p:sp>
        <p:nvSpPr>
          <p:cNvPr id="565" name="Google Shape;565;p110"/>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49FD9"/>
              </a:solidFill>
              <a:latin typeface="Arial"/>
              <a:ea typeface="Arial"/>
              <a:cs typeface="Arial"/>
              <a:sym typeface="Arial"/>
            </a:endParaRPr>
          </a:p>
        </p:txBody>
      </p:sp>
      <p:sp>
        <p:nvSpPr>
          <p:cNvPr id="566" name="Google Shape;566;p110"/>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67" name="Google Shape;567;p110"/>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68" name="Google Shape;568;p110"/>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69" name="Google Shape;569;p110"/>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70" name="Google Shape;570;p110"/>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71" name="Google Shape;571;p110"/>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572" name="Shape 572"/>
        <p:cNvGrpSpPr/>
        <p:nvPr/>
      </p:nvGrpSpPr>
      <p:grpSpPr>
        <a:xfrm>
          <a:off x="0" y="0"/>
          <a:ext cx="0" cy="0"/>
          <a:chOff x="0" y="0"/>
          <a:chExt cx="0" cy="0"/>
        </a:xfrm>
      </p:grpSpPr>
      <p:sp>
        <p:nvSpPr>
          <p:cNvPr id="573" name="Google Shape;573;p11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4" name="Google Shape;574;p111"/>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575" name="Google Shape;575;p111"/>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576" name="Google Shape;576;p111"/>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577" name="Google Shape;577;p111"/>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78" name="Google Shape;578;p111"/>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79" name="Google Shape;579;p111"/>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0" name="Google Shape;580;p111"/>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1" name="Google Shape;581;p111"/>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2" name="Google Shape;582;p111"/>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3" name="Google Shape;583;p111"/>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584" name="Google Shape;584;p111"/>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5" name="Google Shape;585;p111"/>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6" name="Google Shape;586;p111"/>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chemeClr val="accent5"/>
              </a:solidFill>
              <a:latin typeface="Arial"/>
              <a:ea typeface="Arial"/>
              <a:cs typeface="Arial"/>
              <a:sym typeface="Arial"/>
            </a:endParaRPr>
          </a:p>
        </p:txBody>
      </p:sp>
      <p:sp>
        <p:nvSpPr>
          <p:cNvPr id="587" name="Google Shape;587;p111"/>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88" name="Google Shape;588;p111"/>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589" name="Shape 589"/>
        <p:cNvGrpSpPr/>
        <p:nvPr/>
      </p:nvGrpSpPr>
      <p:grpSpPr>
        <a:xfrm>
          <a:off x="0" y="0"/>
          <a:ext cx="0" cy="0"/>
          <a:chOff x="0" y="0"/>
          <a:chExt cx="0" cy="0"/>
        </a:xfrm>
      </p:grpSpPr>
      <p:sp>
        <p:nvSpPr>
          <p:cNvPr id="590" name="Google Shape;590;p11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91" name="Google Shape;591;p112"/>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592" name="Google Shape;592;p112"/>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593" name="Google Shape;593;p112"/>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594" name="Google Shape;594;p112"/>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95" name="Google Shape;595;p112"/>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96" name="Google Shape;596;p112"/>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97" name="Google Shape;597;p112"/>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98" name="Google Shape;598;p112"/>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99" name="Google Shape;599;p112"/>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0" name="Google Shape;600;p112"/>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01" name="Google Shape;601;p112"/>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2" name="Google Shape;602;p112"/>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3" name="Google Shape;603;p112"/>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04" name="Google Shape;604;p112"/>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5" name="Google Shape;605;p112"/>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06" name="Google Shape;606;p112"/>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07" name="Google Shape;607;p112"/>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08" name="Google Shape;608;p112"/>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09" name="Google Shape;609;p112"/>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0" name="Google Shape;610;p112"/>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1" name="Google Shape;611;p112"/>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2" name="Google Shape;612;p112"/>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3" name="Google Shape;613;p112"/>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4" name="Google Shape;614;p112"/>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5" name="Google Shape;615;p112"/>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16" name="Google Shape;616;p112"/>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7" name="Google Shape;617;p112"/>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18" name="Google Shape;618;p112"/>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2"/>
              </a:solidFill>
              <a:latin typeface="Arial"/>
              <a:ea typeface="Arial"/>
              <a:cs typeface="Arial"/>
              <a:sym typeface="Arial"/>
            </a:endParaRPr>
          </a:p>
        </p:txBody>
      </p:sp>
      <p:sp>
        <p:nvSpPr>
          <p:cNvPr id="619" name="Google Shape;619;p112"/>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620" name="Google Shape;620;p112"/>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lnSpc>
                <a:spcPct val="100000"/>
              </a:lnSpc>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lnSpc>
                <a:spcPct val="100000"/>
              </a:lnSpc>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621" name="Shape 621"/>
        <p:cNvGrpSpPr/>
        <p:nvPr/>
      </p:nvGrpSpPr>
      <p:grpSpPr>
        <a:xfrm>
          <a:off x="0" y="0"/>
          <a:ext cx="0" cy="0"/>
          <a:chOff x="0" y="0"/>
          <a:chExt cx="0" cy="0"/>
        </a:xfrm>
      </p:grpSpPr>
      <p:pic>
        <p:nvPicPr>
          <p:cNvPr id="622" name="Google Shape;622;p113"/>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623" name="Google Shape;623;p113"/>
          <p:cNvGrpSpPr/>
          <p:nvPr/>
        </p:nvGrpSpPr>
        <p:grpSpPr>
          <a:xfrm>
            <a:off x="3746294" y="2129856"/>
            <a:ext cx="1617944" cy="860542"/>
            <a:chOff x="310" y="249"/>
            <a:chExt cx="502" cy="267"/>
          </a:xfrm>
        </p:grpSpPr>
        <p:sp>
          <p:nvSpPr>
            <p:cNvPr id="624" name="Google Shape;624;p11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5" name="Google Shape;625;p11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6" name="Google Shape;626;p11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7" name="Google Shape;627;p11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8" name="Google Shape;628;p11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9" name="Google Shape;629;p11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0" name="Google Shape;630;p11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1" name="Google Shape;631;p11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2" name="Google Shape;632;p11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3" name="Google Shape;633;p11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4" name="Google Shape;634;p11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5" name="Google Shape;635;p11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6" name="Google Shape;636;p11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37" name="Google Shape;637;p11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638" name="Shape 638"/>
        <p:cNvGrpSpPr/>
        <p:nvPr/>
      </p:nvGrpSpPr>
      <p:grpSpPr>
        <a:xfrm>
          <a:off x="0" y="0"/>
          <a:ext cx="0" cy="0"/>
          <a:chOff x="0" y="0"/>
          <a:chExt cx="0" cy="0"/>
        </a:xfrm>
      </p:grpSpPr>
      <p:sp>
        <p:nvSpPr>
          <p:cNvPr id="639" name="Google Shape;639;p114"/>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nvGrpSpPr>
          <p:cNvPr id="640" name="Google Shape;640;p114"/>
          <p:cNvGrpSpPr/>
          <p:nvPr/>
        </p:nvGrpSpPr>
        <p:grpSpPr>
          <a:xfrm>
            <a:off x="3746294" y="2129856"/>
            <a:ext cx="1617944" cy="860542"/>
            <a:chOff x="310" y="249"/>
            <a:chExt cx="502" cy="267"/>
          </a:xfrm>
        </p:grpSpPr>
        <p:sp>
          <p:nvSpPr>
            <p:cNvPr id="641" name="Google Shape;641;p11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2" name="Google Shape;642;p11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3" name="Google Shape;643;p11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4" name="Google Shape;644;p11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5" name="Google Shape;645;p11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6" name="Google Shape;646;p11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7" name="Google Shape;647;p11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8" name="Google Shape;648;p11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9" name="Google Shape;649;p11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0" name="Google Shape;650;p11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1" name="Google Shape;651;p11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2" name="Google Shape;652;p11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3" name="Google Shape;653;p11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4" name="Google Shape;654;p11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655" name="Shape 655"/>
        <p:cNvGrpSpPr/>
        <p:nvPr/>
      </p:nvGrpSpPr>
      <p:grpSpPr>
        <a:xfrm>
          <a:off x="0" y="0"/>
          <a:ext cx="0" cy="0"/>
          <a:chOff x="0" y="0"/>
          <a:chExt cx="0" cy="0"/>
        </a:xfrm>
      </p:grpSpPr>
      <p:grpSp>
        <p:nvGrpSpPr>
          <p:cNvPr id="656" name="Google Shape;656;p115"/>
          <p:cNvGrpSpPr/>
          <p:nvPr/>
        </p:nvGrpSpPr>
        <p:grpSpPr>
          <a:xfrm>
            <a:off x="3746294" y="2129856"/>
            <a:ext cx="1617944" cy="860542"/>
            <a:chOff x="310" y="249"/>
            <a:chExt cx="502" cy="267"/>
          </a:xfrm>
        </p:grpSpPr>
        <p:sp>
          <p:nvSpPr>
            <p:cNvPr id="657" name="Google Shape;657;p115"/>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8" name="Google Shape;658;p11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59" name="Google Shape;659;p11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0" name="Google Shape;660;p11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1" name="Google Shape;661;p11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2" name="Google Shape;662;p11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3" name="Google Shape;663;p11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4" name="Google Shape;664;p11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5" name="Google Shape;665;p11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6" name="Google Shape;666;p11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7" name="Google Shape;667;p11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8" name="Google Shape;668;p11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69" name="Google Shape;669;p11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70" name="Google Shape;670;p11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1" name="Shape 671"/>
        <p:cNvGrpSpPr/>
        <p:nvPr/>
      </p:nvGrpSpPr>
      <p:grpSpPr>
        <a:xfrm>
          <a:off x="0" y="0"/>
          <a:ext cx="0" cy="0"/>
          <a:chOff x="0" y="0"/>
          <a:chExt cx="0" cy="0"/>
        </a:xfrm>
      </p:grpSpPr>
      <p:sp>
        <p:nvSpPr>
          <p:cNvPr id="672" name="Google Shape;672;p116"/>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4.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2.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Clr>
                <a:srgbClr val="000000"/>
              </a:buClr>
              <a:buSzPts val="1400"/>
              <a:buFont typeface="Arial"/>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9pPr>
          </a:lstStyle>
          <a:p/>
        </p:txBody>
      </p:sp>
      <p:sp>
        <p:nvSpPr>
          <p:cNvPr id="11" name="Google Shape;11;p74"/>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74"/>
          <p:cNvSpPr/>
          <p:nvPr/>
        </p:nvSpPr>
        <p:spPr>
          <a:xfrm>
            <a:off x="5541342" y="4741653"/>
            <a:ext cx="2984184"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D8D8D8"/>
                </a:solidFill>
                <a:latin typeface="Arial"/>
                <a:ea typeface="Arial"/>
                <a:cs typeface="Arial"/>
                <a:sym typeface="Arial"/>
              </a:rPr>
              <a:t>© 2019, 2021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13" name="Google Shape;13;p74"/>
          <p:cNvGrpSpPr/>
          <p:nvPr/>
        </p:nvGrpSpPr>
        <p:grpSpPr>
          <a:xfrm>
            <a:off x="508039" y="4715197"/>
            <a:ext cx="340257" cy="180974"/>
            <a:chOff x="310" y="249"/>
            <a:chExt cx="502" cy="267"/>
          </a:xfrm>
        </p:grpSpPr>
        <p:sp>
          <p:nvSpPr>
            <p:cNvPr id="14" name="Google Shape;14;p7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7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 name="Google Shape;16;p7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 name="Google Shape;17;p7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 name="Google Shape;18;p7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 name="Google Shape;19;p7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7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 name="Google Shape;21;p7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 name="Google Shape;22;p7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 name="Google Shape;23;p7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 name="Google Shape;24;p7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 name="Google Shape;25;p7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 name="Google Shape;26;p7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7" name="Google Shape;27;p7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p8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Clr>
                <a:srgbClr val="000000"/>
              </a:buClr>
              <a:buSzPts val="1400"/>
              <a:buFont typeface="Arial"/>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9pPr>
          </a:lstStyle>
          <a:p/>
        </p:txBody>
      </p:sp>
      <p:sp>
        <p:nvSpPr>
          <p:cNvPr id="235" name="Google Shape;235;p89"/>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236" name="Google Shape;236;p89"/>
          <p:cNvSpPr/>
          <p:nvPr/>
        </p:nvSpPr>
        <p:spPr>
          <a:xfrm>
            <a:off x="5867508" y="4649320"/>
            <a:ext cx="2658018" cy="246851"/>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D8D8D8"/>
                </a:solidFill>
                <a:latin typeface="Arial"/>
                <a:ea typeface="Arial"/>
                <a:cs typeface="Arial"/>
                <a:sym typeface="Arial"/>
              </a:rPr>
              <a:t>© 2019, 2021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237" name="Google Shape;237;p89"/>
          <p:cNvGrpSpPr/>
          <p:nvPr/>
        </p:nvGrpSpPr>
        <p:grpSpPr>
          <a:xfrm>
            <a:off x="508039" y="4715197"/>
            <a:ext cx="340257" cy="180974"/>
            <a:chOff x="310" y="249"/>
            <a:chExt cx="502" cy="267"/>
          </a:xfrm>
        </p:grpSpPr>
        <p:sp>
          <p:nvSpPr>
            <p:cNvPr id="238" name="Google Shape;238;p8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9" name="Google Shape;239;p8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0" name="Google Shape;240;p8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1" name="Google Shape;241;p8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2" name="Google Shape;242;p8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3" name="Google Shape;243;p8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4" name="Google Shape;244;p8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5" name="Google Shape;245;p8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6" name="Google Shape;246;p8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7" name="Google Shape;247;p8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8" name="Google Shape;248;p8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9" name="Google Shape;249;p8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0" name="Google Shape;250;p8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1" name="Google Shape;251;p8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3" name="Shape 453"/>
        <p:cNvGrpSpPr/>
        <p:nvPr/>
      </p:nvGrpSpPr>
      <p:grpSpPr>
        <a:xfrm>
          <a:off x="0" y="0"/>
          <a:ext cx="0" cy="0"/>
          <a:chOff x="0" y="0"/>
          <a:chExt cx="0" cy="0"/>
        </a:xfrm>
      </p:grpSpPr>
      <p:sp>
        <p:nvSpPr>
          <p:cNvPr id="454" name="Google Shape;454;p10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Clr>
                <a:srgbClr val="000000"/>
              </a:buClr>
              <a:buSzPts val="1400"/>
              <a:buFont typeface="Arial"/>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Clr>
                <a:srgbClr val="000000"/>
              </a:buClr>
              <a:buSzPts val="1400"/>
              <a:buFont typeface="Arial"/>
              <a:buNone/>
              <a:defRPr b="0" i="0" sz="3200" u="none" cap="none" strike="noStrike">
                <a:solidFill>
                  <a:srgbClr val="676767"/>
                </a:solidFill>
                <a:latin typeface="Arial"/>
                <a:ea typeface="Arial"/>
                <a:cs typeface="Arial"/>
                <a:sym typeface="Arial"/>
              </a:defRPr>
            </a:lvl9pPr>
          </a:lstStyle>
          <a:p/>
        </p:txBody>
      </p:sp>
      <p:sp>
        <p:nvSpPr>
          <p:cNvPr id="455" name="Google Shape;455;p103"/>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456" name="Google Shape;456;p103"/>
          <p:cNvSpPr/>
          <p:nvPr/>
        </p:nvSpPr>
        <p:spPr>
          <a:xfrm>
            <a:off x="5642658" y="4741653"/>
            <a:ext cx="2882868" cy="154518"/>
          </a:xfrm>
          <a:prstGeom prst="rect">
            <a:avLst/>
          </a:prstGeom>
          <a:noFill/>
          <a:ln>
            <a:noFill/>
          </a:ln>
        </p:spPr>
        <p:txBody>
          <a:bodyPr anchorCtr="0" anchor="b" bIns="30775" lIns="61575" spcFirstLastPara="1" rIns="61575" wrap="square" tIns="30775">
            <a:spAutoFit/>
          </a:bodyPr>
          <a:lstStyle/>
          <a:p>
            <a:pPr indent="0" lvl="0" marL="0" marR="0" rtl="0" algn="l">
              <a:lnSpc>
                <a:spcPct val="100000"/>
              </a:lnSpc>
              <a:spcBef>
                <a:spcPts val="0"/>
              </a:spcBef>
              <a:spcAft>
                <a:spcPts val="0"/>
              </a:spcAft>
              <a:buClr>
                <a:srgbClr val="000000"/>
              </a:buClr>
              <a:buSzPts val="600"/>
              <a:buFont typeface="Arial"/>
              <a:buNone/>
            </a:pPr>
            <a:r>
              <a:rPr b="0" i="0" lang="en-US" sz="600" u="none" cap="none" strike="noStrike">
                <a:solidFill>
                  <a:srgbClr val="D8D8D8"/>
                </a:solidFill>
                <a:latin typeface="Arial"/>
                <a:ea typeface="Arial"/>
                <a:cs typeface="Arial"/>
                <a:sym typeface="Arial"/>
              </a:rPr>
              <a:t>© 2019, 2021  Cisco and/or its affiliates. All rights reserved.   Cisco Confidential</a:t>
            </a:r>
            <a:endParaRPr b="0" i="0" sz="1400" u="none" cap="none" strike="noStrike">
              <a:solidFill>
                <a:srgbClr val="000000"/>
              </a:solidFill>
              <a:latin typeface="Arial"/>
              <a:ea typeface="Arial"/>
              <a:cs typeface="Arial"/>
              <a:sym typeface="Arial"/>
            </a:endParaRPr>
          </a:p>
        </p:txBody>
      </p:sp>
      <p:grpSp>
        <p:nvGrpSpPr>
          <p:cNvPr id="457" name="Google Shape;457;p103"/>
          <p:cNvGrpSpPr/>
          <p:nvPr/>
        </p:nvGrpSpPr>
        <p:grpSpPr>
          <a:xfrm>
            <a:off x="508039" y="4715197"/>
            <a:ext cx="340257" cy="180974"/>
            <a:chOff x="310" y="249"/>
            <a:chExt cx="502" cy="267"/>
          </a:xfrm>
        </p:grpSpPr>
        <p:sp>
          <p:nvSpPr>
            <p:cNvPr id="458" name="Google Shape;458;p10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9" name="Google Shape;459;p10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0" name="Google Shape;460;p10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1" name="Google Shape;461;p10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2" name="Google Shape;462;p10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3" name="Google Shape;463;p10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4" name="Google Shape;464;p10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5" name="Google Shape;465;p10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6" name="Google Shape;466;p10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7" name="Google Shape;467;p10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8" name="Google Shape;468;p10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9" name="Google Shape;469;p10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0" name="Google Shape;470;p10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1" name="Google Shape;471;p10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 Id="rId3"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 Id="rId3"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 Id="rId3" Type="http://schemas.openxmlformats.org/officeDocument/2006/relationships/image" Target="../media/image1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 Id="rId3" Type="http://schemas.openxmlformats.org/officeDocument/2006/relationships/image" Target="../media/image1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3: Network Security Concepts</a:t>
            </a:r>
            <a:endParaRPr/>
          </a:p>
        </p:txBody>
      </p:sp>
      <p:sp>
        <p:nvSpPr>
          <p:cNvPr id="679" name="Google Shape;679;p1"/>
          <p:cNvSpPr txBox="1"/>
          <p:nvPr>
            <p:ph idx="1" type="subTitle"/>
          </p:nvPr>
        </p:nvSpPr>
        <p:spPr>
          <a:xfrm>
            <a:off x="469496" y="3809526"/>
            <a:ext cx="3804791"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a:t>
            </a:r>
            <a:endParaRPr/>
          </a:p>
          <a:p>
            <a:pPr indent="0" lvl="0" marL="0" rtl="0" algn="l">
              <a:lnSpc>
                <a:spcPct val="95000"/>
              </a:lnSpc>
              <a:spcBef>
                <a:spcPts val="0"/>
              </a:spcBef>
              <a:spcAft>
                <a:spcPts val="0"/>
              </a:spcAft>
              <a:buSzPts val="1080"/>
              <a:buNone/>
            </a:pPr>
            <a:r>
              <a:rPr lang="en-US">
                <a:solidFill>
                  <a:srgbClr val="AEE8FA"/>
                </a:solidFill>
              </a:rPr>
              <a:t>(ENSA)</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t>Module Objectives</a:t>
            </a:r>
            <a:endParaRPr/>
          </a:p>
        </p:txBody>
      </p:sp>
      <p:sp>
        <p:nvSpPr>
          <p:cNvPr id="686" name="Google Shape;686;p2"/>
          <p:cNvSpPr txBox="1"/>
          <p:nvPr>
            <p:ph idx="1" type="body"/>
          </p:nvPr>
        </p:nvSpPr>
        <p:spPr>
          <a:xfrm>
            <a:off x="144065" y="798944"/>
            <a:ext cx="8853286" cy="757551"/>
          </a:xfrm>
          <a:prstGeom prst="rect">
            <a:avLst/>
          </a:prstGeom>
          <a:noFill/>
          <a:ln>
            <a:noFill/>
          </a:ln>
        </p:spPr>
        <p:txBody>
          <a:bodyPr anchorCtr="0" anchor="t" bIns="45700" lIns="91425" spcFirstLastPara="1" rIns="182875" wrap="square" tIns="45700">
            <a:noAutofit/>
          </a:bodyPr>
          <a:lstStyle/>
          <a:p>
            <a:pPr indent="0" lvl="0" marL="0" rtl="0" algn="l">
              <a:lnSpc>
                <a:spcPct val="100000"/>
              </a:lnSpc>
              <a:spcBef>
                <a:spcPts val="0"/>
              </a:spcBef>
              <a:spcAft>
                <a:spcPts val="0"/>
              </a:spcAft>
              <a:buClr>
                <a:schemeClr val="dk1"/>
              </a:buClr>
              <a:buSzPts val="1400"/>
              <a:buNone/>
            </a:pPr>
            <a:r>
              <a:rPr b="1" lang="en-US" sz="1400">
                <a:solidFill>
                  <a:schemeClr val="dk1"/>
                </a:solidFill>
              </a:rPr>
              <a:t>Module Title: </a:t>
            </a:r>
            <a:r>
              <a:rPr lang="en-US" sz="1400">
                <a:solidFill>
                  <a:schemeClr val="dk1"/>
                </a:solidFill>
              </a:rPr>
              <a:t>Network Security Concepts</a:t>
            </a:r>
            <a:endParaRPr/>
          </a:p>
          <a:p>
            <a:pPr indent="0" lvl="0" marL="0" rtl="0" algn="l">
              <a:lnSpc>
                <a:spcPct val="100000"/>
              </a:lnSpc>
              <a:spcBef>
                <a:spcPts val="0"/>
              </a:spcBef>
              <a:spcAft>
                <a:spcPts val="0"/>
              </a:spcAft>
              <a:buClr>
                <a:srgbClr val="000000"/>
              </a:buClr>
              <a:buSzPts val="1400"/>
              <a:buNone/>
            </a:pPr>
            <a:r>
              <a:t/>
            </a:r>
            <a:endParaRPr sz="1400">
              <a:solidFill>
                <a:schemeClr val="dk1"/>
              </a:solidFill>
            </a:endParaRPr>
          </a:p>
          <a:p>
            <a:pPr indent="0" lvl="0" marL="0" rtl="0" algn="l">
              <a:lnSpc>
                <a:spcPct val="100000"/>
              </a:lnSpc>
              <a:spcBef>
                <a:spcPts val="0"/>
              </a:spcBef>
              <a:spcAft>
                <a:spcPts val="0"/>
              </a:spcAft>
              <a:buClr>
                <a:schemeClr val="dk1"/>
              </a:buClr>
              <a:buSzPts val="1400"/>
              <a:buNone/>
            </a:pPr>
            <a:r>
              <a:rPr b="1" lang="en-US" sz="1400">
                <a:solidFill>
                  <a:schemeClr val="dk1"/>
                </a:solidFill>
              </a:rPr>
              <a:t>Module Objective</a:t>
            </a:r>
            <a:r>
              <a:rPr lang="en-US" sz="1400">
                <a:solidFill>
                  <a:schemeClr val="dk1"/>
                </a:solidFill>
              </a:rPr>
              <a:t>: </a:t>
            </a:r>
            <a:r>
              <a:rPr lang="en-US"/>
              <a:t>Explain how vulnerabilities, threats, and exploits can be mitigated to enhance network security.</a:t>
            </a:r>
            <a:endParaRPr/>
          </a:p>
        </p:txBody>
      </p:sp>
      <p:graphicFrame>
        <p:nvGraphicFramePr>
          <p:cNvPr id="687" name="Google Shape;687;p2"/>
          <p:cNvGraphicFramePr/>
          <p:nvPr/>
        </p:nvGraphicFramePr>
        <p:xfrm>
          <a:off x="450866" y="1832941"/>
          <a:ext cx="3000000" cy="3000000"/>
        </p:xfrm>
        <a:graphic>
          <a:graphicData uri="http://schemas.openxmlformats.org/drawingml/2006/table">
            <a:tbl>
              <a:tblPr bandRow="1" firstRow="1">
                <a:noFill/>
                <a:tableStyleId>{848BEAFB-7CEB-4D00-9483-BCFEC181FAC1}</a:tableStyleId>
              </a:tblPr>
              <a:tblGrid>
                <a:gridCol w="2595425"/>
                <a:gridCol w="5301425"/>
              </a:tblGrid>
              <a:tr h="2728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Topic Title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Topic Objective</a:t>
                      </a:r>
                      <a:endParaRPr sz="14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Current State of Cybersecurity:</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Describe the current state of cybersecurity and vectors of data loss.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Threat Actors</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Describe tools used by threat actors to exploit networks.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Malware</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Describe malware types.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Common Network Attacks</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Describe common network attacks.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IP Vulnerabilities and Threats</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Explain how IP vulnerabilities are exploited by threat actors.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TCP and UDP Vulnerabilities</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Explain how TCP and UDP vulnerabilities are exploited by threat actors.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IP Services</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Explain how IP services are exploited by threat actors.</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Network Security Best Practices</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Describe best practices for protecting a network.</a:t>
                      </a:r>
                      <a:endParaRPr b="0" sz="1000" u="none" cap="none" strike="noStrike"/>
                    </a:p>
                  </a:txBody>
                  <a:tcPr marT="47625" marB="47625" marR="47625" marL="47625" anchor="ctr"/>
                </a:tc>
              </a:tr>
              <a:tr h="272850">
                <a:tc>
                  <a:txBody>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lt1"/>
                          </a:solidFill>
                          <a:latin typeface="Arial"/>
                          <a:ea typeface="Arial"/>
                          <a:cs typeface="Arial"/>
                          <a:sym typeface="Arial"/>
                        </a:rPr>
                        <a:t>Cryptography</a:t>
                      </a:r>
                      <a:endParaRPr b="0" sz="1000" u="none" cap="none" strike="noStrike">
                        <a:solidFill>
                          <a:schemeClr val="lt1"/>
                        </a:solidFill>
                      </a:endParaRPr>
                    </a:p>
                  </a:txBody>
                  <a:tcPr marT="47625" marB="47625" marR="47625" marL="47625" anchor="ctr">
                    <a:solidFill>
                      <a:schemeClr val="accent1"/>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Arial"/>
                          <a:ea typeface="Arial"/>
                          <a:cs typeface="Arial"/>
                          <a:sym typeface="Arial"/>
                        </a:rPr>
                        <a:t>Describe common cryptographic processes used to protect data in transit.</a:t>
                      </a:r>
                      <a:endParaRPr b="0" sz="1000" u="none" cap="none" strike="noStrike"/>
                    </a:p>
                  </a:txBody>
                  <a:tcPr marT="47625" marB="47625" marR="47625" marL="47625" anchor="ctr"/>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3.1 Current State of Cybersecurity</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Current State of Cybersecurity</a:t>
            </a:r>
            <a:br>
              <a:rPr lang="en-US"/>
            </a:br>
            <a:r>
              <a:rPr lang="en-US" sz="2400"/>
              <a:t>Current State of Affairs</a:t>
            </a:r>
            <a:endParaRPr/>
          </a:p>
        </p:txBody>
      </p:sp>
      <p:sp>
        <p:nvSpPr>
          <p:cNvPr id="700" name="Google Shape;700;p4"/>
          <p:cNvSpPr txBox="1"/>
          <p:nvPr>
            <p:ph idx="1" type="body"/>
          </p:nvPr>
        </p:nvSpPr>
        <p:spPr>
          <a:xfrm>
            <a:off x="474662" y="731836"/>
            <a:ext cx="8280057" cy="1043801"/>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Cyber criminals now have the expertise and tools necessary to take down critical infrastructure and systems. Their tools and techniques continue to evolve.</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Maintaining a secure network ensures the safety of network users and protects commercial interests. All users should be aware of security terms in the table.</a:t>
            </a:r>
            <a:endParaRPr/>
          </a:p>
        </p:txBody>
      </p:sp>
      <p:graphicFrame>
        <p:nvGraphicFramePr>
          <p:cNvPr id="701" name="Google Shape;701;p4"/>
          <p:cNvGraphicFramePr/>
          <p:nvPr/>
        </p:nvGraphicFramePr>
        <p:xfrm>
          <a:off x="636104" y="1876565"/>
          <a:ext cx="3000000" cy="3000000"/>
        </p:xfrm>
        <a:graphic>
          <a:graphicData uri="http://schemas.openxmlformats.org/drawingml/2006/table">
            <a:tbl>
              <a:tblPr bandRow="1" firstRow="1">
                <a:noFill/>
                <a:tableStyleId>{848BEAFB-7CEB-4D00-9483-BCFEC181FAC1}</a:tableStyleId>
              </a:tblPr>
              <a:tblGrid>
                <a:gridCol w="1478950"/>
                <a:gridCol w="6230450"/>
              </a:tblGrid>
              <a:tr h="248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Security Terms</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sz="1200" u="none" cap="none" strike="noStrike"/>
                    </a:p>
                  </a:txBody>
                  <a:tcPr marT="47625" marB="47625" marR="47625" marL="47625" anchor="ctr"/>
                </a:tc>
              </a:tr>
              <a:tr h="4125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Assets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An asset is anything of value to the organization. It includes people, equipment, resources, and data.</a:t>
                      </a:r>
                      <a:endParaRPr sz="1400" u="none" cap="none" strike="noStrike"/>
                    </a:p>
                  </a:txBody>
                  <a:tcPr marT="47625" marB="47625" marR="47625" marL="47625" anchor="ctr"/>
                </a:tc>
              </a:tr>
              <a:tr h="248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Vulnerability</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A vulnerability is a weakness in a system, or its design, that could be exploited by a threat.</a:t>
                      </a:r>
                      <a:endParaRPr sz="1400" u="none" cap="none" strike="noStrike"/>
                    </a:p>
                  </a:txBody>
                  <a:tcPr marT="47625" marB="47625" marR="47625" marL="47625" anchor="ctr"/>
                </a:tc>
              </a:tr>
              <a:tr h="248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Threat</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A threat is a potential danger to a company’s assets, data, or network functionality.</a:t>
                      </a:r>
                      <a:endParaRPr sz="1400" u="none" cap="none" strike="noStrike"/>
                    </a:p>
                  </a:txBody>
                  <a:tcPr marT="47625" marB="47625" marR="47625" marL="47625" anchor="ctr"/>
                </a:tc>
              </a:tr>
              <a:tr h="2488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Exploit</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An exploit is a mechanism that takes advantage of a vulnerability.</a:t>
                      </a:r>
                      <a:endParaRPr sz="1400" u="none" cap="none" strike="noStrike"/>
                    </a:p>
                  </a:txBody>
                  <a:tcPr marT="47625" marB="47625" marR="47625" marL="47625" anchor="ctr"/>
                </a:tc>
              </a:tr>
              <a:tr h="4125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Mitigation</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Mitigation is the counter-measure that reduces the likelihood or severity of a potential threat or risk. Network security involves multiple mitigation techniques.</a:t>
                      </a:r>
                      <a:endParaRPr sz="1400" u="none" cap="none" strike="noStrike"/>
                    </a:p>
                  </a:txBody>
                  <a:tcPr marT="47625" marB="47625" marR="47625" marL="47625" anchor="ctr"/>
                </a:tc>
              </a:tr>
              <a:tr h="5761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Risk</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Risk is the likelihood of a threat to exploit the vulnerability of an asset, with the aim of negatively affecting an organization. Risk is measured using the probability of the occurrence of an event and its consequences.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Current State of Cybersecurity</a:t>
            </a:r>
            <a:br>
              <a:rPr lang="en-US"/>
            </a:br>
            <a:r>
              <a:rPr lang="en-US" sz="2400"/>
              <a:t>Vectors of Network Attacks</a:t>
            </a:r>
            <a:endParaRPr/>
          </a:p>
        </p:txBody>
      </p:sp>
      <p:sp>
        <p:nvSpPr>
          <p:cNvPr id="708" name="Google Shape;708;p5"/>
          <p:cNvSpPr txBox="1"/>
          <p:nvPr>
            <p:ph idx="1" type="body"/>
          </p:nvPr>
        </p:nvSpPr>
        <p:spPr>
          <a:xfrm>
            <a:off x="474662" y="731838"/>
            <a:ext cx="8280057" cy="1033168"/>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An attack vector is a path by which a threat actor can gain access to a server, host, or network. Attack vectors originate from inside or outside the corporate network, as shown in the figure.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Internal threats have the potential to cause greater damage than external threats because internal users have direct access to the building and its infrastructure devices. </a:t>
            </a:r>
            <a:endParaRPr/>
          </a:p>
        </p:txBody>
      </p:sp>
      <p:pic>
        <p:nvPicPr>
          <p:cNvPr id="709" name="Google Shape;709;p5"/>
          <p:cNvPicPr preferRelativeResize="0"/>
          <p:nvPr/>
        </p:nvPicPr>
        <p:blipFill rotWithShape="1">
          <a:blip r:embed="rId3">
            <a:alphaModFix/>
          </a:blip>
          <a:srcRect b="0" l="0" r="0" t="0"/>
          <a:stretch/>
        </p:blipFill>
        <p:spPr>
          <a:xfrm>
            <a:off x="2224342" y="1859852"/>
            <a:ext cx="4695315" cy="27924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Current State of Cybersecurity</a:t>
            </a:r>
            <a:br>
              <a:rPr lang="en-US"/>
            </a:br>
            <a:r>
              <a:rPr lang="en-US" sz="2400"/>
              <a:t>Data Loss</a:t>
            </a:r>
            <a:endParaRPr/>
          </a:p>
        </p:txBody>
      </p:sp>
      <p:sp>
        <p:nvSpPr>
          <p:cNvPr id="716" name="Google Shape;716;p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Data loss or data exfiltration is when data is intentionally or unintentionally lost, stolen, or leaked to the outside world. The data loss can result in: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Brand damage and loss of reputation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Loss of competitive advantage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Loss of customers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Loss of revenue</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Litigation/legal action resulting in fines and civil penalties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Significant cost and effort to notify affected parties and recover from the breach</a:t>
            </a:r>
            <a:endParaRPr/>
          </a:p>
          <a:p>
            <a:pPr indent="0" lvl="0" marL="0" rtl="0" algn="l">
              <a:lnSpc>
                <a:spcPct val="100000"/>
              </a:lnSpc>
              <a:spcBef>
                <a:spcPts val="320"/>
              </a:spcBef>
              <a:spcAft>
                <a:spcPts val="0"/>
              </a:spcAft>
              <a:buSzPts val="1600"/>
              <a:buNone/>
            </a:pPr>
            <a:r>
              <a:rPr lang="en-US" sz="1600">
                <a:solidFill>
                  <a:srgbClr val="000000"/>
                </a:solidFill>
              </a:rPr>
              <a:t>Network security professionals must protect the organization’s data. Various Data Loss Prevention (DLP) controls must be implemented which combine strategic, operational and tactical measures.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Current State of Cybersecurity</a:t>
            </a:r>
            <a:br>
              <a:rPr lang="en-US"/>
            </a:br>
            <a:r>
              <a:rPr lang="en-US" sz="2400"/>
              <a:t>Data Loss (Cont.)</a:t>
            </a:r>
            <a:endParaRPr/>
          </a:p>
        </p:txBody>
      </p:sp>
      <p:graphicFrame>
        <p:nvGraphicFramePr>
          <p:cNvPr id="723" name="Google Shape;723;p7"/>
          <p:cNvGraphicFramePr/>
          <p:nvPr/>
        </p:nvGraphicFramePr>
        <p:xfrm>
          <a:off x="413135" y="1141095"/>
          <a:ext cx="3000000" cy="3000000"/>
        </p:xfrm>
        <a:graphic>
          <a:graphicData uri="http://schemas.openxmlformats.org/drawingml/2006/table">
            <a:tbl>
              <a:tblPr bandRow="1" firstRow="1">
                <a:noFill/>
                <a:tableStyleId>{848BEAFB-7CEB-4D00-9483-BCFEC181FAC1}</a:tableStyleId>
              </a:tblPr>
              <a:tblGrid>
                <a:gridCol w="1686325"/>
                <a:gridCol w="6395825"/>
              </a:tblGrid>
              <a:tr h="1844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Data Loss Vectors</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sz="1200" u="none" cap="none" strike="noStrike"/>
                    </a:p>
                  </a:txBody>
                  <a:tcPr marT="47625" marB="47625" marR="47625" marL="47625" anchor="ctr"/>
                </a:tc>
              </a:tr>
              <a:tr h="305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Email/Social Networking</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Intercepted email or IM messages could be captured and reveal confidential information.</a:t>
                      </a:r>
                      <a:endParaRPr sz="1400" u="none" cap="none" strike="noStrike"/>
                    </a:p>
                  </a:txBody>
                  <a:tcPr marT="47625" marB="47625" marR="47625" marL="47625" anchor="ctr"/>
                </a:tc>
              </a:tr>
              <a:tr h="305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Unencrypted Devices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If the data is not stored using an encryption algorithm, then the thief can retrieve valuable confidential data.</a:t>
                      </a:r>
                      <a:endParaRPr sz="1400" u="none" cap="none" strike="noStrike"/>
                    </a:p>
                  </a:txBody>
                  <a:tcPr marT="47625" marB="47625" marR="47625" marL="47625" anchor="ctr"/>
                </a:tc>
              </a:tr>
              <a:tr h="305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Cloud Storage Devices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Sensitive data can be lost if access to the cloud is compromised due to weak security settings.</a:t>
                      </a:r>
                      <a:endParaRPr sz="1400" u="none" cap="none" strike="noStrike"/>
                    </a:p>
                  </a:txBody>
                  <a:tcPr marT="47625" marB="47625" marR="47625" marL="47625" anchor="ctr"/>
                </a:tc>
              </a:tr>
              <a:tr h="305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Removable Media</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One risk is that an employee could perform an unauthorized transfer of data to a USB drive. Another risk is that a USB drive containing valuable corporate data could be lost.</a:t>
                      </a:r>
                      <a:endParaRPr sz="1400" u="none" cap="none" strike="noStrike"/>
                    </a:p>
                  </a:txBody>
                  <a:tcPr marT="47625" marB="47625" marR="47625" marL="47625" anchor="ctr"/>
                </a:tc>
              </a:tr>
              <a:tr h="1844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Hard Copy</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Confidential data should be shredded when no longer required.</a:t>
                      </a:r>
                      <a:endParaRPr sz="1400" u="none" cap="none" strike="noStrike"/>
                    </a:p>
                  </a:txBody>
                  <a:tcPr marT="47625" marB="47625" marR="47625" marL="47625" anchor="ctr"/>
                </a:tc>
              </a:tr>
              <a:tr h="3057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Improper Access Control</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Passwords or weak passwords which have been compromised can provide a threat actor with easy access to corporate data.</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8"/>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3.2 Threat Actors</a:t>
            </a:r>
            <a:endParaRPr/>
          </a:p>
        </p:txBody>
      </p:sp>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Actors</a:t>
            </a:r>
            <a:br>
              <a:rPr lang="en-US"/>
            </a:br>
            <a:r>
              <a:rPr lang="en-US" sz="2400"/>
              <a:t>The Hacker</a:t>
            </a:r>
            <a:endParaRPr/>
          </a:p>
        </p:txBody>
      </p:sp>
      <p:sp>
        <p:nvSpPr>
          <p:cNvPr id="736" name="Google Shape;736;p9"/>
          <p:cNvSpPr txBox="1"/>
          <p:nvPr>
            <p:ph idx="1" type="body"/>
          </p:nvPr>
        </p:nvSpPr>
        <p:spPr>
          <a:xfrm>
            <a:off x="474662" y="731836"/>
            <a:ext cx="8280057" cy="36331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Hacker is a common term used to describe a threat actor</a:t>
            </a:r>
            <a:endParaRPr/>
          </a:p>
        </p:txBody>
      </p:sp>
      <p:graphicFrame>
        <p:nvGraphicFramePr>
          <p:cNvPr id="737" name="Google Shape;737;p9"/>
          <p:cNvGraphicFramePr/>
          <p:nvPr/>
        </p:nvGraphicFramePr>
        <p:xfrm>
          <a:off x="587551" y="1198530"/>
          <a:ext cx="3000000" cy="3000000"/>
        </p:xfrm>
        <a:graphic>
          <a:graphicData uri="http://schemas.openxmlformats.org/drawingml/2006/table">
            <a:tbl>
              <a:tblPr bandRow="1" firstRow="1">
                <a:noFill/>
                <a:tableStyleId>{848BEAFB-7CEB-4D00-9483-BCFEC181FAC1}</a:tableStyleId>
              </a:tblPr>
              <a:tblGrid>
                <a:gridCol w="1879150"/>
                <a:gridCol w="5780600"/>
              </a:tblGrid>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Hacker Type</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sz="12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White Hat Hackers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ethical hackers who use their programming skills for good, ethical, and legal purposes. Security vulnerabilities are reported to developers for them to fix before the vulnerabilities can be exploited.</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Gray Hat Hackers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individuals who commit crimes and do arguably unethical things, but not for personal gain or to cause damage. Gray hat hackers may disclose a vulnerability to the affected organization after having compromised their network.</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Black Hat Hackers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unethical criminals who compromise computer and network security for personal gain, or for malicious reasons, such as attacking networks.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Actors</a:t>
            </a:r>
            <a:br>
              <a:rPr lang="en-US"/>
            </a:br>
            <a:r>
              <a:rPr lang="en-US" sz="2400"/>
              <a:t>The Evolution of Hackers</a:t>
            </a:r>
            <a:endParaRPr/>
          </a:p>
        </p:txBody>
      </p:sp>
      <p:sp>
        <p:nvSpPr>
          <p:cNvPr id="744" name="Google Shape;744;p10"/>
          <p:cNvSpPr txBox="1"/>
          <p:nvPr>
            <p:ph idx="1" type="body"/>
          </p:nvPr>
        </p:nvSpPr>
        <p:spPr>
          <a:xfrm>
            <a:off x="474662" y="731837"/>
            <a:ext cx="8280057" cy="41647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table displays modern hacking terms and a brief description of each.</a:t>
            </a:r>
            <a:endParaRPr/>
          </a:p>
        </p:txBody>
      </p:sp>
      <p:graphicFrame>
        <p:nvGraphicFramePr>
          <p:cNvPr id="745" name="Google Shape;745;p10"/>
          <p:cNvGraphicFramePr/>
          <p:nvPr/>
        </p:nvGraphicFramePr>
        <p:xfrm>
          <a:off x="474662" y="1287172"/>
          <a:ext cx="3000000" cy="3000000"/>
        </p:xfrm>
        <a:graphic>
          <a:graphicData uri="http://schemas.openxmlformats.org/drawingml/2006/table">
            <a:tbl>
              <a:tblPr bandRow="1" firstRow="1">
                <a:noFill/>
                <a:tableStyleId>{848BEAFB-7CEB-4D00-9483-BCFEC181FAC1}</a:tableStyleId>
              </a:tblPr>
              <a:tblGrid>
                <a:gridCol w="1409800"/>
                <a:gridCol w="6461025"/>
              </a:tblGrid>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Hacking Term</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sz="12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Script Kiddies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teenagers or inexperienced hackers running existing scripts, tools, and exploits, to cause harm, but typically not for profit.</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Vulnerability Broker</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usually gray hat hackers who attempt to discover exploits and report them to vendors, sometimes for prizes or rewards.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Hacktivists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gray hat hackers who publicly protest organizations or governments by posting articles, videos, leaking sensitive information, and performing network attacks.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Cyber criminals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black hat hackers who are either self-employed or working for large cybercrime organizations.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State-Sponsored</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These are either white hat or black hat hackers who steal government secrets, gather intelligence, and sabotage networks. Their targets are foreign governments, terrorist groups, and corporations. Most countries in the world participate to some degree in state-sponsored hacking</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1"/>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3.3 Threat Actor Tools</a:t>
            </a:r>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 Tools</a:t>
            </a:r>
            <a:br>
              <a:rPr lang="en-US"/>
            </a:br>
            <a:r>
              <a:rPr lang="en-US" sz="2400"/>
              <a:t>Video – Threat Actor Tools</a:t>
            </a:r>
            <a:endParaRPr/>
          </a:p>
        </p:txBody>
      </p:sp>
      <p:sp>
        <p:nvSpPr>
          <p:cNvPr id="758" name="Google Shape;758;p1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This video will cover the following:</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Explain the penetration testing tools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Explain attack types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 Tools</a:t>
            </a:r>
            <a:br>
              <a:rPr lang="en-US"/>
            </a:br>
            <a:r>
              <a:rPr lang="en-US" sz="2400"/>
              <a:t>Introduction to Attack Tools</a:t>
            </a:r>
            <a:endParaRPr/>
          </a:p>
        </p:txBody>
      </p:sp>
      <p:sp>
        <p:nvSpPr>
          <p:cNvPr id="765" name="Google Shape;765;p1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To exploit a vulnerability, a threat actor must have a technique or tool. Over the years, attack tools have become more sophisticated, and highly automated. These new tools require less technical knowledge to implement.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 Tools</a:t>
            </a:r>
            <a:br>
              <a:rPr lang="en-US"/>
            </a:br>
            <a:r>
              <a:rPr lang="en-US" sz="2400"/>
              <a:t>Evolution of Security Tools</a:t>
            </a:r>
            <a:endParaRPr/>
          </a:p>
        </p:txBody>
      </p:sp>
      <p:sp>
        <p:nvSpPr>
          <p:cNvPr id="772" name="Google Shape;772;p14"/>
          <p:cNvSpPr txBox="1"/>
          <p:nvPr>
            <p:ph idx="1" type="body"/>
          </p:nvPr>
        </p:nvSpPr>
        <p:spPr>
          <a:xfrm>
            <a:off x="474662" y="731837"/>
            <a:ext cx="8280057" cy="60786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The table highlights categories of common penetration testing tools. Notice how some tools are used by white hats and black hats. Keep in mind that the list is not exhaustive as new tools are always being developed.</a:t>
            </a:r>
            <a:endParaRPr/>
          </a:p>
        </p:txBody>
      </p:sp>
      <p:graphicFrame>
        <p:nvGraphicFramePr>
          <p:cNvPr id="773" name="Google Shape;773;p14"/>
          <p:cNvGraphicFramePr/>
          <p:nvPr/>
        </p:nvGraphicFramePr>
        <p:xfrm>
          <a:off x="636587" y="1463675"/>
          <a:ext cx="3000000" cy="3000000"/>
        </p:xfrm>
        <a:graphic>
          <a:graphicData uri="http://schemas.openxmlformats.org/drawingml/2006/table">
            <a:tbl>
              <a:tblPr bandRow="1" firstRow="1">
                <a:noFill/>
                <a:tableStyleId>{848BEAFB-7CEB-4D00-9483-BCFEC181FAC1}</a:tableStyleId>
              </a:tblPr>
              <a:tblGrid>
                <a:gridCol w="1330275"/>
                <a:gridCol w="6540550"/>
              </a:tblGrid>
              <a:tr h="4006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Penetration Testing Tool</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Description</a:t>
                      </a:r>
                      <a:endParaRPr sz="1400" u="none" cap="none" strike="noStrike"/>
                    </a:p>
                  </a:txBody>
                  <a:tcPr marT="47625" marB="47625" marR="47625" marL="47625" anchor="ctr"/>
                </a:tc>
              </a:tr>
              <a:tr h="71852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Password Crackers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Password cracking tools are often referred to as password recovery tools and can be used to crack or recover a password. Password crackers repeatedly make guesses in order to crack the password. Examples of password cracking tools include John the Ripper, Ophcrack, L0phtCrack, THC Hydra, Rainbow Crack, and Medusa.</a:t>
                      </a:r>
                      <a:endParaRPr sz="1400" u="none" cap="none" strike="noStrike"/>
                    </a:p>
                  </a:txBody>
                  <a:tcPr marT="47625" marB="47625" marR="47625" marL="47625" anchor="ctr"/>
                </a:tc>
              </a:tr>
              <a:tr h="559600">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Wireless Hacking Tools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Wireless hacking tools are used to intentionally hack into a wireless network to detect security vulnerabilities. Examples of wireless hacking tools include Aircrack-ng, Kismet, InSSIDer, KisMAC, Firesheep, and ViStumbler.</a:t>
                      </a:r>
                      <a:endParaRPr sz="1400" u="none" cap="none" strike="noStrike"/>
                    </a:p>
                  </a:txBody>
                  <a:tcPr marT="47625" marB="47625" marR="47625" marL="47625" anchor="ctr"/>
                </a:tc>
              </a:tr>
              <a:tr h="559600">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Network Scanning and Hacking Tools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Network scanning tools are used to probe network devices, servers, and hosts for open TCP or UDP ports. Examples of scanning tools include Nmap, SuperScan, Angry IP Scanner, and NetScanTools.</a:t>
                      </a:r>
                      <a:endParaRPr sz="1400" u="none" cap="none" strike="noStrike"/>
                    </a:p>
                  </a:txBody>
                  <a:tcPr marT="47625" marB="47625" marR="47625" marL="47625" anchor="ctr"/>
                </a:tc>
              </a:tr>
              <a:tr h="400650">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Packet Crafting Tools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These tools are used to probe and test a firewall’s robustness using specially crafted forged packets. Examples include Hping, Scapy, Socat, Yersinia, Netcat, Nping, and Nemesis.</a:t>
                      </a:r>
                      <a:endParaRPr sz="1400" u="none" cap="none" strike="noStrike"/>
                    </a:p>
                  </a:txBody>
                  <a:tcPr marT="47625" marB="47625" marR="47625" marL="47625" anchor="ctr"/>
                </a:tc>
              </a:tr>
              <a:tr h="559600">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Packet Sniffers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These tools are used to capture and analyze packets within traditional Ethernet LANs or WLANs. Tools include Wireshark, Tcpdump, Ettercap, Dsniff, EtherApe, Paros, Fiddler, Ratproxy, and SSLstrip.</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 Tools</a:t>
            </a:r>
            <a:br>
              <a:rPr lang="en-US"/>
            </a:br>
            <a:r>
              <a:rPr lang="en-US" sz="2400"/>
              <a:t>Evolution of Security Tools (Cont.)</a:t>
            </a:r>
            <a:endParaRPr/>
          </a:p>
        </p:txBody>
      </p:sp>
      <p:graphicFrame>
        <p:nvGraphicFramePr>
          <p:cNvPr id="780" name="Google Shape;780;p15"/>
          <p:cNvGraphicFramePr/>
          <p:nvPr/>
        </p:nvGraphicFramePr>
        <p:xfrm>
          <a:off x="474662" y="628470"/>
          <a:ext cx="3000000" cy="3000000"/>
        </p:xfrm>
        <a:graphic>
          <a:graphicData uri="http://schemas.openxmlformats.org/drawingml/2006/table">
            <a:tbl>
              <a:tblPr bandRow="1" firstRow="1">
                <a:noFill/>
                <a:tableStyleId>{848BEAFB-7CEB-4D00-9483-BCFEC181FAC1}</a:tableStyleId>
              </a:tblPr>
              <a:tblGrid>
                <a:gridCol w="1330275"/>
                <a:gridCol w="6540550"/>
              </a:tblGrid>
              <a:tr h="2792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Penetration Testing Tool</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Description</a:t>
                      </a:r>
                      <a:endParaRPr sz="1400" u="none" cap="none" strike="noStrike"/>
                    </a:p>
                  </a:txBody>
                  <a:tcPr marT="47625" marB="47625" marR="47625" marL="47625" anchor="ctr"/>
                </a:tc>
              </a:tr>
              <a:tr h="3015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Rootkit Detectors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is a directory and file integrity checker used by white hats to detect installed root kits. Example tools include AIDE, Netfilter, and PF: OpenBSD Packet Filter.</a:t>
                      </a:r>
                      <a:endParaRPr sz="1400" u="none" cap="none" strike="noStrike"/>
                    </a:p>
                  </a:txBody>
                  <a:tcPr marT="47625" marB="47625" marR="47625" marL="47625" anchor="ctr"/>
                </a:tc>
              </a:tr>
              <a:tr h="3015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Fuzzers to Search Vulnerabilities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Fuzzers are tools used by threat actors to discover a computer’s security vulnerabilities. Examples of fuzzers include Skipfish, Wapiti, and W3af.</a:t>
                      </a:r>
                      <a:endParaRPr sz="1400" u="none" cap="none" strike="noStrike"/>
                    </a:p>
                  </a:txBody>
                  <a:tcPr marT="47625" marB="47625" marR="47625" marL="47625" anchor="ctr"/>
                </a:tc>
              </a:tr>
              <a:tr h="3015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Forensic Tools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These tools are used by white hat hackers to sniff out any trace of evidence existing in a computer. Example of tools include Sleuth Kit, Helix, Maltego, and Encase.</a:t>
                      </a:r>
                      <a:endParaRPr sz="1400" u="none" cap="none" strike="noStrike"/>
                    </a:p>
                  </a:txBody>
                  <a:tcPr marT="47625" marB="47625" marR="47625" marL="47625" anchor="ctr"/>
                </a:tc>
              </a:tr>
              <a:tr h="4122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Debuggers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These tools are used by black hats to reverse engineer binary files when writing exploits. They are also used by white hats when analyzing malware. Debugging tools include GDB, WinDbg, IDA Pro, and Immunity Debugger.</a:t>
                      </a:r>
                      <a:endParaRPr sz="1400" u="none" cap="none" strike="noStrike"/>
                    </a:p>
                  </a:txBody>
                  <a:tcPr marT="47625" marB="47625" marR="47625" marL="47625" anchor="ctr"/>
                </a:tc>
              </a:tr>
              <a:tr h="4122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Hacking Operating Systems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These are specially designed operating systems preloaded with tools optimized for hacking. Examples of specially designed hacking operating systems include Kali Linux, BackBox Linux.</a:t>
                      </a:r>
                      <a:endParaRPr sz="1400" u="none" cap="none" strike="noStrike"/>
                    </a:p>
                  </a:txBody>
                  <a:tcPr marT="47625" marB="47625" marR="47625" marL="47625" anchor="ctr"/>
                </a:tc>
              </a:tr>
              <a:tr h="4122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Encryption Tools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Encryption tools use algorithm schemes to encode the data to prevent unauthorized access to the encrypted data. Examples of these tools include VeraCrypt, CipherShed, OpenSSH, OpenSSL, Tor, OpenVPN, and Stunnel.</a:t>
                      </a:r>
                      <a:endParaRPr sz="1400" u="none" cap="none" strike="noStrike"/>
                    </a:p>
                  </a:txBody>
                  <a:tcPr marT="47625" marB="47625" marR="47625" marL="47625" anchor="ctr"/>
                </a:tc>
              </a:tr>
              <a:tr h="4122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Vulnerability Exploitation Tools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These tools identify whether a remote host is vulnerable to a security attack. Examples of vulnerability exploitation tools include Metasploit, Core Impact, Sqlmap, Social Engineer Toolkit, and Netsparker.</a:t>
                      </a:r>
                      <a:endParaRPr sz="1400" u="none" cap="none" strike="noStrike"/>
                    </a:p>
                  </a:txBody>
                  <a:tcPr marT="47625" marB="47625" marR="47625" marL="47625" anchor="ctr"/>
                </a:tc>
              </a:tr>
              <a:tr h="4676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Vulnerability Scanners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These tools scan a network or system to identify open ports. They can also be used to scan for known vulnerabilities and scan VMs, BYOD devices, and client databases. Examples of tools include Nipper, Core Impact, Nessus, SAINT, and OpenVAS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Threat Actor Tools</a:t>
            </a:r>
            <a:br>
              <a:rPr lang="en-US"/>
            </a:br>
            <a:r>
              <a:rPr lang="en-US" sz="2400"/>
              <a:t>Attack Types</a:t>
            </a:r>
            <a:endParaRPr/>
          </a:p>
        </p:txBody>
      </p:sp>
      <p:graphicFrame>
        <p:nvGraphicFramePr>
          <p:cNvPr id="787" name="Google Shape;787;p16"/>
          <p:cNvGraphicFramePr/>
          <p:nvPr/>
        </p:nvGraphicFramePr>
        <p:xfrm>
          <a:off x="389614" y="794191"/>
          <a:ext cx="3000000" cy="3000000"/>
        </p:xfrm>
        <a:graphic>
          <a:graphicData uri="http://schemas.openxmlformats.org/drawingml/2006/table">
            <a:tbl>
              <a:tblPr bandRow="1" firstRow="1">
                <a:noFill/>
                <a:tableStyleId>{848BEAFB-7CEB-4D00-9483-BCFEC181FAC1}</a:tableStyleId>
              </a:tblPr>
              <a:tblGrid>
                <a:gridCol w="1733375"/>
                <a:gridCol w="6337200"/>
              </a:tblGrid>
              <a:tr h="291450">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Attack Type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Description</a:t>
                      </a:r>
                      <a:endParaRPr sz="1400" u="none" cap="none" strike="noStrike"/>
                    </a:p>
                  </a:txBody>
                  <a:tcPr marT="47625" marB="47625" marR="47625" marL="47625" anchor="ctr"/>
                </a:tc>
              </a:tr>
              <a:tr h="3144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Eavesdropping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is when a threat actor captures and “listens” to network traffic. This attack is also referred to as sniffing or snooping.</a:t>
                      </a:r>
                      <a:endParaRPr sz="1400" u="none" cap="none" strike="noStrike"/>
                    </a:p>
                  </a:txBody>
                  <a:tcPr marT="47625" marB="47625" marR="47625" marL="47625" anchor="ctr"/>
                </a:tc>
              </a:tr>
              <a:tr h="3144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Data Modification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If threat actors have captured enterprise traffic, they can alter the data in the packet without the knowledge of the sender or receiver.</a:t>
                      </a:r>
                      <a:endParaRPr sz="1400" u="none" cap="none" strike="noStrike"/>
                    </a:p>
                  </a:txBody>
                  <a:tcPr marT="47625" marB="47625" marR="47625" marL="47625" anchor="ctr"/>
                </a:tc>
              </a:tr>
              <a:tr h="3144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IP Address Spoofing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threat actor constructs an IP packet that appears to originate from a valid address inside the corporate intranet.</a:t>
                      </a:r>
                      <a:endParaRPr sz="1400" u="none" cap="none" strike="noStrike"/>
                    </a:p>
                  </a:txBody>
                  <a:tcPr marT="47625" marB="47625" marR="47625" marL="47625" anchor="ctr"/>
                </a:tc>
              </a:tr>
              <a:tr h="4341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Password-Based Attacks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If threat actors discover a valid user account, the threat actors have the same rights as the real user. Threat actors could use that valid account to obtain lists of other users, network information, change server and network configurations, and modify, reroute, or delete data.</a:t>
                      </a:r>
                      <a:endParaRPr sz="1400" u="none" cap="none" strike="noStrike"/>
                    </a:p>
                  </a:txBody>
                  <a:tcPr marT="47625" marB="47625" marR="47625" marL="47625" anchor="ctr"/>
                </a:tc>
              </a:tr>
              <a:tr h="4341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Denial of Service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DoS attack prevents normal use of a computer or network by valid users. A DoS attack can flood a computer or the entire network with traffic until a shutdown occurs because of the overload. A DoS attack can also block traffic, which results in a loss of access to network resources by authorized users.</a:t>
                      </a:r>
                      <a:endParaRPr sz="1400" u="none" cap="none" strike="noStrike"/>
                    </a:p>
                  </a:txBody>
                  <a:tcPr marT="47625" marB="47625" marR="47625" marL="47625" anchor="ctr"/>
                </a:tc>
              </a:tr>
              <a:tr h="3144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Man-in-the-Middle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attack occurs when threat actors have positioned themselves between a source and destination. They can now actively monitor, capture, and control the communication transparently.</a:t>
                      </a:r>
                      <a:endParaRPr sz="1400" u="none" cap="none" strike="noStrike"/>
                    </a:p>
                  </a:txBody>
                  <a:tcPr marT="47625" marB="47625" marR="47625" marL="47625" anchor="ctr"/>
                </a:tc>
              </a:tr>
              <a:tr h="3144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Compromised-Key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If a threat actor obtains a secret key, that key is referred to as a compromised key. A compromised key can be used to gain access to a secured communication without the sender or receiver being aware of the attack.</a:t>
                      </a:r>
                      <a:endParaRPr sz="1400" u="none" cap="none" strike="noStrike"/>
                    </a:p>
                  </a:txBody>
                  <a:tcPr marT="47625" marB="47625" marR="47625" marL="47625" anchor="ctr"/>
                </a:tc>
              </a:tr>
              <a:tr h="31440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Sniffer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sniffer is an application or device that can read, monitor, and capture network data exchanges and read network packets. If the packets are not encrypted, a sniffer provides a full view of the data inside the packet</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17"/>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3.4 Malware</a:t>
            </a:r>
            <a:endParaRPr/>
          </a:p>
        </p:txBody>
      </p: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Malware</a:t>
            </a:r>
            <a:br>
              <a:rPr lang="en-US"/>
            </a:br>
            <a:r>
              <a:rPr lang="en-US" sz="2400"/>
              <a:t>Overview of Malware</a:t>
            </a:r>
            <a:endParaRPr/>
          </a:p>
        </p:txBody>
      </p:sp>
      <p:sp>
        <p:nvSpPr>
          <p:cNvPr id="800" name="Google Shape;800;p18"/>
          <p:cNvSpPr txBox="1"/>
          <p:nvPr>
            <p:ph idx="1" type="body"/>
          </p:nvPr>
        </p:nvSpPr>
        <p:spPr>
          <a:xfrm>
            <a:off x="474662" y="731838"/>
            <a:ext cx="8280057" cy="1374776"/>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Now that you know about the tools that hacker use, this topic introduces you to different types of malware that hackers use to gain access to end devices.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End devices are particularly prone to malware attacks. It is important to know about malware because threat actors rely on users to install malware to help exploit the security gaps.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pic>
        <p:nvPicPr>
          <p:cNvPr id="801" name="Google Shape;801;p18"/>
          <p:cNvPicPr preferRelativeResize="0"/>
          <p:nvPr/>
        </p:nvPicPr>
        <p:blipFill rotWithShape="1">
          <a:blip r:embed="rId3">
            <a:alphaModFix/>
          </a:blip>
          <a:srcRect b="0" l="0" r="0" t="0"/>
          <a:stretch/>
        </p:blipFill>
        <p:spPr>
          <a:xfrm>
            <a:off x="664803" y="2106613"/>
            <a:ext cx="7400925" cy="2305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Malware</a:t>
            </a:r>
            <a:br>
              <a:rPr lang="en-US"/>
            </a:br>
            <a:r>
              <a:rPr lang="en-US" sz="2400"/>
              <a:t>Viruses and Trojan Horses</a:t>
            </a:r>
            <a:endParaRPr/>
          </a:p>
        </p:txBody>
      </p:sp>
      <p:sp>
        <p:nvSpPr>
          <p:cNvPr id="808" name="Google Shape;808;p19"/>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The first and most common type of computer malware is a virus. Viruses require human action to propagate and infect other computers.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virus hides by attaching itself to computer code, software, or documents on the computer. When opened, the virus executes and infects the computer.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Viruses can:</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  Alter, corrupt, delete files, or erase entire drives.</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 Cause computer booting issues, and corrupt applications.</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 Capture and send sensitive information to threat actors.</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 Access and use email accounts to spread.</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 Lay dormant until summoned by the threat actor.</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Malware</a:t>
            </a:r>
            <a:br>
              <a:rPr lang="en-US"/>
            </a:br>
            <a:r>
              <a:rPr lang="en-US" sz="2400"/>
              <a:t>Viruses and Trojan Horses (Cont.)</a:t>
            </a:r>
            <a:endParaRPr/>
          </a:p>
        </p:txBody>
      </p:sp>
      <p:sp>
        <p:nvSpPr>
          <p:cNvPr id="815" name="Google Shape;815;p20"/>
          <p:cNvSpPr txBox="1"/>
          <p:nvPr>
            <p:ph idx="1" type="body"/>
          </p:nvPr>
        </p:nvSpPr>
        <p:spPr>
          <a:xfrm>
            <a:off x="474662" y="731838"/>
            <a:ext cx="8280057" cy="34065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Modern viruses are developed for specific intent such as those listed in the table.</a:t>
            </a:r>
            <a:endParaRPr/>
          </a:p>
        </p:txBody>
      </p:sp>
      <p:graphicFrame>
        <p:nvGraphicFramePr>
          <p:cNvPr id="816" name="Google Shape;816;p20"/>
          <p:cNvGraphicFramePr/>
          <p:nvPr/>
        </p:nvGraphicFramePr>
        <p:xfrm>
          <a:off x="545988" y="1263873"/>
          <a:ext cx="3000000" cy="3000000"/>
        </p:xfrm>
        <a:graphic>
          <a:graphicData uri="http://schemas.openxmlformats.org/drawingml/2006/table">
            <a:tbl>
              <a:tblPr bandRow="1" firstRow="1">
                <a:noFill/>
                <a:tableStyleId>{848BEAFB-7CEB-4D00-9483-BCFEC181FAC1}</a:tableStyleId>
              </a:tblPr>
              <a:tblGrid>
                <a:gridCol w="1553150"/>
                <a:gridCol w="624635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Types of Viruses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Description</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Boot sector virus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Virus attacks the boot sector, file partition table, or file system.</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Firmware viruses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Virus attacks the device firmware.</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Macro virus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Virus uses the MS Office macro feature maliciously.</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Program viruses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Virus inserts itself in another executable program.</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Script viruses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Virus attacks the OS interpreter which is used to execute scripts.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Malware</a:t>
            </a:r>
            <a:br>
              <a:rPr lang="en-US"/>
            </a:br>
            <a:r>
              <a:rPr lang="en-US" sz="2400"/>
              <a:t>Viruses and Trojan Horses (Cont.)</a:t>
            </a:r>
            <a:endParaRPr/>
          </a:p>
        </p:txBody>
      </p:sp>
      <p:sp>
        <p:nvSpPr>
          <p:cNvPr id="823" name="Google Shape;823;p21"/>
          <p:cNvSpPr txBox="1"/>
          <p:nvPr>
            <p:ph idx="1" type="body"/>
          </p:nvPr>
        </p:nvSpPr>
        <p:spPr>
          <a:xfrm>
            <a:off x="474662" y="731838"/>
            <a:ext cx="8280057" cy="77798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Threat actors use Trojan horses to compromise hosts. A Trojan horse is a program that looks useful but also carries malicious code. Trojan horses are often provided with free online programs such as computer games. There are several types of Trojan horses as described in the table.</a:t>
            </a:r>
            <a:endParaRPr/>
          </a:p>
        </p:txBody>
      </p:sp>
      <p:graphicFrame>
        <p:nvGraphicFramePr>
          <p:cNvPr id="824" name="Google Shape;824;p21"/>
          <p:cNvGraphicFramePr/>
          <p:nvPr/>
        </p:nvGraphicFramePr>
        <p:xfrm>
          <a:off x="474662" y="1676786"/>
          <a:ext cx="3000000" cy="3000000"/>
        </p:xfrm>
        <a:graphic>
          <a:graphicData uri="http://schemas.openxmlformats.org/drawingml/2006/table">
            <a:tbl>
              <a:tblPr bandRow="1" firstRow="1">
                <a:noFill/>
                <a:tableStyleId>{848BEAFB-7CEB-4D00-9483-BCFEC181FAC1}</a:tableStyleId>
              </a:tblPr>
              <a:tblGrid>
                <a:gridCol w="1751700"/>
                <a:gridCol w="6329250"/>
              </a:tblGrid>
              <a:tr h="2960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Type of Trojan Horse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t>Description</a:t>
                      </a:r>
                      <a:endParaRPr sz="1400" u="none" cap="none" strike="noStrike"/>
                    </a:p>
                  </a:txBody>
                  <a:tcPr marT="47625" marB="47625" marR="47625" marL="47625" anchor="ctr"/>
                </a:tc>
              </a:tr>
              <a:tr h="29607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Remote-access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enables unauthorized remote access.</a:t>
                      </a:r>
                      <a:endParaRPr sz="1400" u="none" cap="none" strike="noStrike"/>
                    </a:p>
                  </a:txBody>
                  <a:tcPr marT="47625" marB="47625" marR="47625" marL="47625" anchor="ctr"/>
                </a:tc>
              </a:tr>
              <a:tr h="29607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Data-sending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provides the threat actor with sensitive data, such as passwords.</a:t>
                      </a:r>
                      <a:endParaRPr sz="1400" u="none" cap="none" strike="noStrike"/>
                    </a:p>
                  </a:txBody>
                  <a:tcPr marT="47625" marB="47625" marR="47625" marL="47625" anchor="ctr"/>
                </a:tc>
              </a:tr>
              <a:tr h="29607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Destructive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corrupts or deletes files.</a:t>
                      </a:r>
                      <a:endParaRPr sz="1400" u="none" cap="none" strike="noStrike"/>
                    </a:p>
                  </a:txBody>
                  <a:tcPr marT="47625" marB="47625" marR="47625" marL="47625" anchor="ctr"/>
                </a:tc>
              </a:tr>
              <a:tr h="343750">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Proxy</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will use the victim's computer as the source device to launch attacks and perform other illegal activities.</a:t>
                      </a:r>
                      <a:endParaRPr sz="1400" u="none" cap="none" strike="noStrike"/>
                    </a:p>
                  </a:txBody>
                  <a:tcPr marT="47625" marB="47625" marR="47625" marL="47625" anchor="ctr"/>
                </a:tc>
              </a:tr>
              <a:tr h="29607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FTP</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enables unauthorized file transfer services on end devices.</a:t>
                      </a:r>
                      <a:endParaRPr sz="1400" u="none" cap="none" strike="noStrike"/>
                    </a:p>
                  </a:txBody>
                  <a:tcPr marT="47625" marB="47625" marR="47625" marL="47625" anchor="ctr"/>
                </a:tc>
              </a:tr>
              <a:tr h="29607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Security software disabler</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stops antivirus programs or firewalls from functioning.</a:t>
                      </a:r>
                      <a:endParaRPr sz="1400" u="none" cap="none" strike="noStrike"/>
                    </a:p>
                  </a:txBody>
                  <a:tcPr marT="47625" marB="47625" marR="47625" marL="47625" anchor="ctr"/>
                </a:tc>
              </a:tr>
              <a:tr h="296075">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Denial of Service (DoS)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slows or halts network activity.</a:t>
                      </a:r>
                      <a:endParaRPr sz="1400" u="none" cap="none" strike="noStrike"/>
                    </a:p>
                  </a:txBody>
                  <a:tcPr marT="47625" marB="47625" marR="47625" marL="47625" anchor="ctr"/>
                </a:tc>
              </a:tr>
              <a:tr h="343750">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Keylogger</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100"/>
                        <a:buFont typeface="Arial"/>
                        <a:buNone/>
                      </a:pPr>
                      <a:r>
                        <a:rPr b="0" lang="en-US" sz="1100" u="none" cap="none" strike="noStrike"/>
                        <a:t>Trojan horse actively attempts to steal confidential information, such as credit card numbers, by recording key strokes entered into a web form.</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Malware</a:t>
            </a:r>
            <a:br>
              <a:rPr lang="en-US"/>
            </a:br>
            <a:r>
              <a:rPr lang="en-US" sz="2400"/>
              <a:t>Other Types of Malware</a:t>
            </a:r>
            <a:endParaRPr/>
          </a:p>
        </p:txBody>
      </p:sp>
      <p:graphicFrame>
        <p:nvGraphicFramePr>
          <p:cNvPr id="831" name="Google Shape;831;p22"/>
          <p:cNvGraphicFramePr/>
          <p:nvPr/>
        </p:nvGraphicFramePr>
        <p:xfrm>
          <a:off x="431800" y="731837"/>
          <a:ext cx="3000000" cy="3000000"/>
        </p:xfrm>
        <a:graphic>
          <a:graphicData uri="http://schemas.openxmlformats.org/drawingml/2006/table">
            <a:tbl>
              <a:tblPr bandRow="1" firstRow="1">
                <a:noFill/>
                <a:tableStyleId>{848BEAFB-7CEB-4D00-9483-BCFEC181FAC1}</a:tableStyleId>
              </a:tblPr>
              <a:tblGrid>
                <a:gridCol w="927875"/>
                <a:gridCol w="7352525"/>
              </a:tblGrid>
              <a:tr h="26722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Malware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Description</a:t>
                      </a:r>
                      <a:endParaRPr sz="1400" u="none" cap="none" strike="noStrike"/>
                    </a:p>
                  </a:txBody>
                  <a:tcPr marT="47625" marB="47625" marR="47625" marL="47625" anchor="ctr"/>
                </a:tc>
              </a:tr>
              <a:tr h="7275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Adware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Adware is usually distributed by downloading online software.</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Adware can display unsolicited advertising using pop-up web browser windows, new toolbars, or unexpectedly redirect a webpage to a different website.</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Pop-up windows may be difficult to control as new windows can pop-up faster than the user can close them.</a:t>
                      </a:r>
                      <a:endParaRPr sz="1400" u="none" cap="none" strike="noStrike"/>
                    </a:p>
                  </a:txBody>
                  <a:tcPr marT="47625" marB="47625" marR="47625" marL="47625" anchor="ctr"/>
                </a:tc>
              </a:tr>
              <a:tr h="5957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Ransomware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Ransomware typically denies a user access to their files by encrypting the files and then displaying a message demanding a ransom for the decryption key.</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Users without up-to-date backups must pay the ransom to decrypt their files.</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Payment is usually made using wire transfer or crypto currencies such as Bitcoin.</a:t>
                      </a:r>
                      <a:endParaRPr sz="1400" u="none" cap="none" strike="noStrike"/>
                    </a:p>
                  </a:txBody>
                  <a:tcPr marT="47625" marB="47625" marR="47625" marL="47625" anchor="ctr"/>
                </a:tc>
              </a:tr>
              <a:tr h="8593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Rootkit</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Rootkits are used by threat actors to gain administrator account-level access to a computer.</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They are very difficult to detect because they can alter firewall, antivirus protection, system files, and even OS commands to conceal their presence.</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They can provide a backdoor to threat actors giving them access to the PC, and allowing them to upload files, and install new software to be used in a DDoS attack.</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Special rootkit removal tools must be used to remove them, or a complete OS re-install may be required.</a:t>
                      </a:r>
                      <a:endParaRPr sz="1400" u="none" cap="none" strike="noStrike"/>
                    </a:p>
                  </a:txBody>
                  <a:tcPr marT="47625" marB="47625" marR="47625" marL="47625" anchor="ctr"/>
                </a:tc>
              </a:tr>
              <a:tr h="5957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Spyware</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Like adware but, used to gather information about the user and send to threat actors without the user’s consent.</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Spyware can be a low threat, gathering browsing data, or it can be a high threat capturing personal and financial information.</a:t>
                      </a:r>
                      <a:endParaRPr sz="1400" u="none" cap="none" strike="noStrike"/>
                    </a:p>
                  </a:txBody>
                  <a:tcPr marT="47625" marB="47625" marR="47625" marL="47625" anchor="ctr"/>
                </a:tc>
              </a:tr>
              <a:tr h="595750">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Worm</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A worm is a self-replicating program that propagates automatically without user actions by exploiting vulnerabilities in legitimate software.</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It uses the network to search for other victims with the same vulnerability.</a:t>
                      </a:r>
                      <a:endParaRPr sz="1400" u="none" cap="none" strike="noStrike"/>
                    </a:p>
                    <a:p>
                      <a:pPr indent="0" lvl="0" marL="0" marR="0" rtl="0" algn="l">
                        <a:lnSpc>
                          <a:spcPct val="100000"/>
                        </a:lnSpc>
                        <a:spcBef>
                          <a:spcPts val="0"/>
                        </a:spcBef>
                        <a:spcAft>
                          <a:spcPts val="0"/>
                        </a:spcAft>
                        <a:buClr>
                          <a:schemeClr val="dk1"/>
                        </a:buClr>
                        <a:buSzPts val="1000"/>
                        <a:buFont typeface="Arial"/>
                        <a:buChar char="•"/>
                      </a:pPr>
                      <a:r>
                        <a:rPr b="0" lang="en-US" sz="1000" u="none" cap="none" strike="noStrike"/>
                        <a:t>The intent of a worm is usually to slow or disrupt network operations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23"/>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3.5 Common Network Attacks</a:t>
            </a:r>
            <a:endParaRPr/>
          </a:p>
        </p:txBody>
      </p:sp>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Overview of Common Network Attacks</a:t>
            </a:r>
            <a:endParaRPr/>
          </a:p>
        </p:txBody>
      </p:sp>
      <p:sp>
        <p:nvSpPr>
          <p:cNvPr id="844" name="Google Shape;844;p2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When malware is delivered and installed, the payload can be used to cause a variety of network related attacks.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To mitigate attacks, it is useful to understand the types of attacks. By categorizing network attacks, it is possible to address types of attacks rather than individual attacks.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Networks are susceptible to the following types of attacks:</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 Reconnaissance Attacks</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 Access Attacks</a:t>
            </a:r>
            <a:endParaRPr/>
          </a:p>
          <a:p>
            <a:pPr indent="-342899" lvl="1" marL="415984" rtl="0" algn="l">
              <a:lnSpc>
                <a:spcPct val="95000"/>
              </a:lnSpc>
              <a:spcBef>
                <a:spcPts val="600"/>
              </a:spcBef>
              <a:spcAft>
                <a:spcPts val="0"/>
              </a:spcAft>
              <a:buSzPts val="1600"/>
              <a:buFont typeface="Arial"/>
              <a:buChar char="•"/>
            </a:pPr>
            <a:r>
              <a:rPr lang="en-US" sz="1600">
                <a:solidFill>
                  <a:srgbClr val="000000"/>
                </a:solidFill>
              </a:rPr>
              <a:t> DoS Attacks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Video - Common Network Attacks</a:t>
            </a:r>
            <a:endParaRPr/>
          </a:p>
        </p:txBody>
      </p:sp>
      <p:sp>
        <p:nvSpPr>
          <p:cNvPr id="851" name="Google Shape;851;p2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video will explain the following techniques used in a reconnaissance attack:</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Perform an information query on a target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Initiate a ping sweep of the target network</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Initiate a port scan of active ip addresses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Run vulnerability scanners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Run exploitation tools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Reconnaissance Attacks</a:t>
            </a:r>
            <a:endParaRPr/>
          </a:p>
        </p:txBody>
      </p:sp>
      <p:sp>
        <p:nvSpPr>
          <p:cNvPr id="858" name="Google Shape;858;p2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Reconnaissance is information gathering.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Threat actors use reconnaissance (or recon) attacks to do unauthorized discovery and mapping of systems, services, or vulnerabilities. Recon attacks precede access attacks or DoS attacks.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Reconnaissance Attacks (Cont.)</a:t>
            </a:r>
            <a:endParaRPr/>
          </a:p>
        </p:txBody>
      </p:sp>
      <p:sp>
        <p:nvSpPr>
          <p:cNvPr id="865" name="Google Shape;865;p27"/>
          <p:cNvSpPr txBox="1"/>
          <p:nvPr>
            <p:ph idx="1" type="body"/>
          </p:nvPr>
        </p:nvSpPr>
        <p:spPr>
          <a:xfrm>
            <a:off x="474662" y="731838"/>
            <a:ext cx="8280057" cy="51217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Some of the techniques used by malicious threat actors to conduct reconnaissance attacks are described in the table.</a:t>
            </a:r>
            <a:endParaRPr/>
          </a:p>
        </p:txBody>
      </p:sp>
      <p:graphicFrame>
        <p:nvGraphicFramePr>
          <p:cNvPr id="866" name="Google Shape;866;p27"/>
          <p:cNvGraphicFramePr/>
          <p:nvPr/>
        </p:nvGraphicFramePr>
        <p:xfrm>
          <a:off x="474662" y="1358735"/>
          <a:ext cx="3000000" cy="3000000"/>
        </p:xfrm>
        <a:graphic>
          <a:graphicData uri="http://schemas.openxmlformats.org/drawingml/2006/table">
            <a:tbl>
              <a:tblPr bandRow="1" firstRow="1">
                <a:noFill/>
                <a:tableStyleId>{848BEAFB-7CEB-4D00-9483-BCFEC181FAC1}</a:tableStyleId>
              </a:tblPr>
              <a:tblGrid>
                <a:gridCol w="1735800"/>
                <a:gridCol w="6043000"/>
              </a:tblGrid>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Technique</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Description</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Perform an information query of a target</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 threat actor is looking for initial information about a target. Various tools can be used, including the Google search, organizations website, whois, and more.</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Initiate a ping sweep of the target network</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 information query usually reveals the target’s network address. The threat actor can now initiate a ping sweep to determine which IP addresses are active.</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Initiate a port scan of active IP addresses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used to determine which ports or services are available. Examples of port scanners include Nmap, SuperScan, Angry IP Scanner, and NetScanTools.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Run vulnerability scanners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to query the identified ports to determine the type and version of the application and operating system that is running on the host. Examples of tools include Nipper, Core Impact, Nessus, SAINT, and Open VAS.</a:t>
                      </a:r>
                      <a:endParaRPr sz="1400" u="none" cap="none" strike="noStrike"/>
                    </a:p>
                  </a:txBody>
                  <a:tcPr marT="47625" marB="47625" marR="47625" marL="47625" anchor="ctr"/>
                </a:tc>
              </a:tr>
              <a:tr h="1524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Run exploitation tools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The threat actor now attempts to discover vulnerable services that can be exploited. A variety of vulnerability exploitation tools exist including Metasploit, Core Impact, Sqlmap, Social Engineer Toolkit, and Netsparker.</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28"/>
          <p:cNvSpPr txBox="1"/>
          <p:nvPr>
            <p:ph type="title"/>
          </p:nvPr>
        </p:nvSpPr>
        <p:spPr>
          <a:xfrm>
            <a:off x="0" y="76200"/>
            <a:ext cx="8345400" cy="731700"/>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Video – Access and Social Engineering Attacks</a:t>
            </a:r>
            <a:endParaRPr/>
          </a:p>
        </p:txBody>
      </p:sp>
      <p:sp>
        <p:nvSpPr>
          <p:cNvPr id="873" name="Google Shape;873;p28"/>
          <p:cNvSpPr txBox="1"/>
          <p:nvPr>
            <p:ph idx="1" type="body"/>
          </p:nvPr>
        </p:nvSpPr>
        <p:spPr>
          <a:xfrm>
            <a:off x="474662" y="808037"/>
            <a:ext cx="8280000" cy="369000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video will cover the following:</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Techniques used in </a:t>
            </a:r>
            <a:r>
              <a:rPr lang="en-US" sz="1600">
                <a:solidFill>
                  <a:srgbClr val="FF0000"/>
                </a:solidFill>
              </a:rPr>
              <a:t>access attacks </a:t>
            </a:r>
            <a:r>
              <a:rPr lang="en-US" sz="1600">
                <a:solidFill>
                  <a:srgbClr val="000000"/>
                </a:solidFill>
              </a:rPr>
              <a:t>(password attacks, spoofing attacks, trust exploitations, port redirections, man-in-the-middle attacks, buffer overflow attacks)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Techniques used in </a:t>
            </a:r>
            <a:r>
              <a:rPr lang="en-US" sz="1600">
                <a:solidFill>
                  <a:srgbClr val="FF0000"/>
                </a:solidFill>
              </a:rPr>
              <a:t>social engineering attacks </a:t>
            </a:r>
            <a:r>
              <a:rPr lang="en-US" sz="1600">
                <a:solidFill>
                  <a:srgbClr val="000000"/>
                </a:solidFill>
              </a:rPr>
              <a:t>(pretesting, phishing, spear phishing, spam, something for something, baiting, impersonation, tailgating, shoulder surfing, dumpster diving)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Access Attacks</a:t>
            </a:r>
            <a:endParaRPr/>
          </a:p>
        </p:txBody>
      </p:sp>
      <p:sp>
        <p:nvSpPr>
          <p:cNvPr id="880" name="Google Shape;880;p29"/>
          <p:cNvSpPr txBox="1"/>
          <p:nvPr>
            <p:ph idx="1" type="body"/>
          </p:nvPr>
        </p:nvSpPr>
        <p:spPr>
          <a:xfrm>
            <a:off x="474662" y="731837"/>
            <a:ext cx="8280057" cy="404742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Access attacks exploit known vulnerabilities in authentication services, FTP services, and web services. The purpose of these types of attacks is to gain entry to web accounts, confidential databases, and other sensitive information.</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Threat actors use access attacks on network devices and computers to retrieve data, gain access, or to escalate access privileges to administrator status.</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Password Attacks: </a:t>
            </a:r>
            <a:r>
              <a:rPr lang="en-US" sz="1400">
                <a:solidFill>
                  <a:srgbClr val="000000"/>
                </a:solidFill>
              </a:rPr>
              <a:t>In a password attack, the threat actor attempts to discover critical system passwords using various methods. Password attacks are very common and can be launched using a variety of password cracking tools.</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Spoofing Attacks: </a:t>
            </a:r>
            <a:r>
              <a:rPr lang="en-US" sz="1400">
                <a:solidFill>
                  <a:srgbClr val="000000"/>
                </a:solidFill>
              </a:rPr>
              <a:t>In spoofing attacks, the threat actor device attempts to pose as another device by falsifying data. Common spoofing attacks include IP spoofing, MAC spoofing, and DHCP spoofing. These spoofing attacks will be discussed in more detail later in this module</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Other Access attacks include:</a:t>
            </a:r>
            <a:endParaRPr/>
          </a:p>
          <a:p>
            <a:pPr indent="-285750" lvl="1" marL="358835" rtl="0" algn="l">
              <a:lnSpc>
                <a:spcPct val="95000"/>
              </a:lnSpc>
              <a:spcBef>
                <a:spcPts val="600"/>
              </a:spcBef>
              <a:spcAft>
                <a:spcPts val="0"/>
              </a:spcAft>
              <a:buSzPts val="1200"/>
              <a:buFont typeface="Arial"/>
              <a:buChar char="•"/>
            </a:pPr>
            <a:r>
              <a:rPr lang="en-US" sz="1200">
                <a:solidFill>
                  <a:srgbClr val="000000"/>
                </a:solidFill>
              </a:rPr>
              <a:t>Trust exploitations</a:t>
            </a:r>
            <a:endParaRPr/>
          </a:p>
          <a:p>
            <a:pPr indent="-285750" lvl="1" marL="358835" rtl="0" algn="l">
              <a:lnSpc>
                <a:spcPct val="95000"/>
              </a:lnSpc>
              <a:spcBef>
                <a:spcPts val="600"/>
              </a:spcBef>
              <a:spcAft>
                <a:spcPts val="0"/>
              </a:spcAft>
              <a:buSzPts val="1200"/>
              <a:buFont typeface="Arial"/>
              <a:buChar char="•"/>
            </a:pPr>
            <a:r>
              <a:rPr lang="en-US" sz="1200">
                <a:solidFill>
                  <a:srgbClr val="000000"/>
                </a:solidFill>
              </a:rPr>
              <a:t>Port redirections</a:t>
            </a:r>
            <a:endParaRPr/>
          </a:p>
          <a:p>
            <a:pPr indent="-285750" lvl="1" marL="358835" rtl="0" algn="l">
              <a:lnSpc>
                <a:spcPct val="95000"/>
              </a:lnSpc>
              <a:spcBef>
                <a:spcPts val="600"/>
              </a:spcBef>
              <a:spcAft>
                <a:spcPts val="0"/>
              </a:spcAft>
              <a:buSzPts val="1200"/>
              <a:buFont typeface="Arial"/>
              <a:buChar char="•"/>
            </a:pPr>
            <a:r>
              <a:rPr lang="en-US" sz="1200">
                <a:solidFill>
                  <a:srgbClr val="000000"/>
                </a:solidFill>
              </a:rPr>
              <a:t>Man-in-the-middle attacks</a:t>
            </a:r>
            <a:endParaRPr/>
          </a:p>
          <a:p>
            <a:pPr indent="-285750" lvl="1" marL="358835" rtl="0" algn="l">
              <a:lnSpc>
                <a:spcPct val="95000"/>
              </a:lnSpc>
              <a:spcBef>
                <a:spcPts val="600"/>
              </a:spcBef>
              <a:spcAft>
                <a:spcPts val="0"/>
              </a:spcAft>
              <a:buSzPts val="1200"/>
              <a:buFont typeface="Arial"/>
              <a:buChar char="•"/>
            </a:pPr>
            <a:r>
              <a:rPr lang="en-US" sz="1200">
                <a:solidFill>
                  <a:srgbClr val="000000"/>
                </a:solidFill>
              </a:rPr>
              <a:t>Buffer overflow attacks</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Social Engineering Attacks</a:t>
            </a:r>
            <a:endParaRPr/>
          </a:p>
        </p:txBody>
      </p:sp>
      <p:sp>
        <p:nvSpPr>
          <p:cNvPr id="887" name="Google Shape;887;p3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Social engineering is an access attack that attempts to manipulate individuals into performing actions or divulging confidential information. Some social engineering techniques are performed in-person while others may use the telephone or internet.</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Social engineers often rely on people’s willingness to be helpful. They also prey on people’s weaknesses. </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Social Engineering Attacks (Cont.)</a:t>
            </a:r>
            <a:endParaRPr/>
          </a:p>
        </p:txBody>
      </p:sp>
      <p:graphicFrame>
        <p:nvGraphicFramePr>
          <p:cNvPr id="894" name="Google Shape;894;p31"/>
          <p:cNvGraphicFramePr/>
          <p:nvPr/>
        </p:nvGraphicFramePr>
        <p:xfrm>
          <a:off x="431800" y="731837"/>
          <a:ext cx="3000000" cy="3000000"/>
        </p:xfrm>
        <a:graphic>
          <a:graphicData uri="http://schemas.openxmlformats.org/drawingml/2006/table">
            <a:tbl>
              <a:tblPr bandRow="1" firstRow="1">
                <a:noFill/>
                <a:tableStyleId>{848BEAFB-7CEB-4D00-9483-BCFEC181FAC1}</a:tableStyleId>
              </a:tblPr>
              <a:tblGrid>
                <a:gridCol w="1839175"/>
                <a:gridCol w="6441225"/>
              </a:tblGrid>
              <a:tr h="309075">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Social Engineering Attack</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lang="en-US" sz="1000" u="none" cap="none" strike="noStrike"/>
                        <a:t>Description</a:t>
                      </a:r>
                      <a:endParaRPr sz="1400" u="none" cap="none" strike="noStrike"/>
                    </a:p>
                  </a:txBody>
                  <a:tcPr marT="47625" marB="47625" marR="47625" marL="47625" anchor="ctr"/>
                </a:tc>
              </a:tr>
              <a:tr h="3090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Pretexting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threat actor pretends to need personal or financial data to confirm the identity of the recipient.</a:t>
                      </a:r>
                      <a:endParaRPr sz="1400" u="none" cap="none" strike="noStrike"/>
                    </a:p>
                  </a:txBody>
                  <a:tcPr marT="47625" marB="47625" marR="47625" marL="47625" anchor="ctr"/>
                </a:tc>
              </a:tr>
              <a:tr h="3334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Phishing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threat actor sends fraudulent email which is disguised as being from a legitimate, trusted source to trick the recipient into installing malware on their device, or to share personal or financial information.</a:t>
                      </a:r>
                      <a:endParaRPr sz="1400" u="none" cap="none" strike="noStrike"/>
                    </a:p>
                  </a:txBody>
                  <a:tcPr marT="47625" marB="47625" marR="47625" marL="47625" anchor="ctr"/>
                </a:tc>
              </a:tr>
              <a:tr h="3090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Spear phishing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threat actor creates a targeted phishing attack tailored for a specific individual or organization.</a:t>
                      </a:r>
                      <a:endParaRPr sz="1400" u="none" cap="none" strike="noStrike"/>
                    </a:p>
                  </a:txBody>
                  <a:tcPr marT="47625" marB="47625" marR="47625" marL="47625" anchor="ctr"/>
                </a:tc>
              </a:tr>
              <a:tr h="3334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Spam</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Also known as junk mail, this is unsolicited email which often contains harmful links, malware, or deceptive content.</a:t>
                      </a:r>
                      <a:endParaRPr sz="1400" u="none" cap="none" strike="noStrike"/>
                    </a:p>
                  </a:txBody>
                  <a:tcPr marT="47625" marB="47625" marR="47625" marL="47625" anchor="ctr"/>
                </a:tc>
              </a:tr>
              <a:tr h="3334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Something for Something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Sometimes called “Quid pro quo”, this is when a threat actor requests personal information from a party in exchange for something such as a gift.</a:t>
                      </a:r>
                      <a:endParaRPr sz="1400" u="none" cap="none" strike="noStrike"/>
                    </a:p>
                  </a:txBody>
                  <a:tcPr marT="47625" marB="47625" marR="47625" marL="47625" anchor="ctr"/>
                </a:tc>
              </a:tr>
              <a:tr h="3334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Baiting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A threat actor leaves a malware infected flash drive in a public location. A victim finds the drive and unsuspectingly inserts it into their laptop, unintentionally installing malware.</a:t>
                      </a:r>
                      <a:endParaRPr sz="1400" u="none" cap="none" strike="noStrike"/>
                    </a:p>
                  </a:txBody>
                  <a:tcPr marT="47625" marB="47625" marR="47625" marL="47625" anchor="ctr"/>
                </a:tc>
              </a:tr>
              <a:tr h="3090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Impersonation</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type of attack is where a threat actor pretends to be someone they are not to gain the trust of a victim.</a:t>
                      </a:r>
                      <a:endParaRPr sz="1400" u="none" cap="none" strike="noStrike"/>
                    </a:p>
                  </a:txBody>
                  <a:tcPr marT="47625" marB="47625" marR="47625" marL="47625" anchor="ctr"/>
                </a:tc>
              </a:tr>
              <a:tr h="3334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Tailgating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is where a threat actor quickly follows an authorized person into a secure location to gain access to a secure area.</a:t>
                      </a:r>
                      <a:endParaRPr sz="1400" u="none" cap="none" strike="noStrike"/>
                    </a:p>
                  </a:txBody>
                  <a:tcPr marT="47625" marB="47625" marR="47625" marL="47625" anchor="ctr"/>
                </a:tc>
              </a:tr>
              <a:tr h="33342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Shoulder surfing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is where a threat actor inconspicuously looks over someone’s shoulder to steal their passwords or other information.</a:t>
                      </a:r>
                      <a:endParaRPr sz="1400" u="none" cap="none" strike="noStrike"/>
                    </a:p>
                  </a:txBody>
                  <a:tcPr marT="47625" marB="47625" marR="47625" marL="47625" anchor="ctr"/>
                </a:tc>
              </a:tr>
              <a:tr h="309075">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Dumpster diving</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00"/>
                        <a:buFont typeface="Arial"/>
                        <a:buNone/>
                      </a:pPr>
                      <a:r>
                        <a:rPr b="0" lang="en-US" sz="1000" u="none" cap="none" strike="noStrike"/>
                        <a:t>This is where a threat actor rummages through trash bins to discover confidential documents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Social Engineering Attacks (Cont.)</a:t>
            </a:r>
            <a:endParaRPr/>
          </a:p>
        </p:txBody>
      </p:sp>
      <p:sp>
        <p:nvSpPr>
          <p:cNvPr id="901" name="Google Shape;901;p32"/>
          <p:cNvSpPr txBox="1"/>
          <p:nvPr>
            <p:ph idx="1" type="body"/>
          </p:nvPr>
        </p:nvSpPr>
        <p:spPr>
          <a:xfrm>
            <a:off x="474662" y="954157"/>
            <a:ext cx="4033728" cy="346757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The Social Engineering Toolkit (SET) was designed to help white hat hackers and other network security professionals create social engineering attacks to test their own networks.</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Enterprises must educate their users about the risks of social engineering, and develop strategies to validate identities over the phone, via email, or in person.</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The figure shows recommended practices that should be followed by all users.</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902" name="Google Shape;902;p32"/>
          <p:cNvPicPr preferRelativeResize="0"/>
          <p:nvPr/>
        </p:nvPicPr>
        <p:blipFill rotWithShape="1">
          <a:blip r:embed="rId3">
            <a:alphaModFix/>
          </a:blip>
          <a:srcRect b="0" l="0" r="0" t="0"/>
          <a:stretch/>
        </p:blipFill>
        <p:spPr>
          <a:xfrm>
            <a:off x="4572000" y="848854"/>
            <a:ext cx="3937368" cy="37947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Lab - Social Engineering</a:t>
            </a:r>
            <a:endParaRPr/>
          </a:p>
        </p:txBody>
      </p:sp>
      <p:sp>
        <p:nvSpPr>
          <p:cNvPr id="909" name="Google Shape;909;p3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In this lab, you will research examples of social engineering and identify ways to recognize and prevent it.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3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Video – Denial of Service Attacks</a:t>
            </a:r>
            <a:endParaRPr/>
          </a:p>
        </p:txBody>
      </p:sp>
      <p:sp>
        <p:nvSpPr>
          <p:cNvPr id="916" name="Google Shape;916;p3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This video will cover the following:</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Techniques used in Denial-of-Service attacks (overwhelming quantity of traffic, maliciously formatted packets)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Techniques used in Distributed Denial of Service attacks (zombies)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Common Network Attacks</a:t>
            </a:r>
            <a:br>
              <a:rPr lang="en-US"/>
            </a:br>
            <a:r>
              <a:rPr lang="en-US" sz="2400"/>
              <a:t>DoS and DDoS Attacks</a:t>
            </a:r>
            <a:endParaRPr/>
          </a:p>
        </p:txBody>
      </p:sp>
      <p:sp>
        <p:nvSpPr>
          <p:cNvPr id="923" name="Google Shape;923;p3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A Denial of Service (DoS) attack creates some sort of interruption of network services to users, devices, or applications. There are two major types of DoS attacks:</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Overwhelming Quantity of Traffic</a:t>
            </a:r>
            <a:r>
              <a:rPr lang="en-US" sz="1600">
                <a:solidFill>
                  <a:srgbClr val="000000"/>
                </a:solidFill>
              </a:rPr>
              <a:t> - The threat actor sends an enormous quantity of data at a rate that the network, host, or application cannot handle. This causes transmission and response times to slow down. It can also crash a device or service.</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Maliciously Formatted Packets</a:t>
            </a:r>
            <a:r>
              <a:rPr lang="en-US" sz="1600">
                <a:solidFill>
                  <a:srgbClr val="000000"/>
                </a:solidFill>
              </a:rPr>
              <a:t> - The threat actor sends a maliciously formatted packet to a host or application and the receiver is unable to handle it. This causes the receiving device to run very slowly or crash.</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DoS attacks are a major risk because they interrupt communication and cause significant loss of time and money. These attacks are relatively simple to conduct, even by an unskilled threat actor.</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 Distributed DoS Attack (DDoS) is similar to a DoS attack, but it originates from multiple, coordinated sources.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36"/>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3.6 IP Vulnerabilities and Threats</a:t>
            </a:r>
            <a:endParaRPr/>
          </a:p>
        </p:txBody>
      </p:sp>
    </p:spTree>
  </p:cSld>
  <p:clrMapOvr>
    <a:masterClrMapping/>
  </p:clrMapOvr>
  <p:transition spd="slow">
    <p:wipe dir="l"/>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Video – Common IP and ICMP Attacks</a:t>
            </a:r>
            <a:endParaRPr/>
          </a:p>
        </p:txBody>
      </p:sp>
      <p:sp>
        <p:nvSpPr>
          <p:cNvPr id="936" name="Google Shape;936;p3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video will cover the following:</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Techniques used in IP attacks (ICMP attacks, amplification and reflection attacks, address spoofing attacks, man-in-the-middle attacks, session hijacking)</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Techniques used in ICMP attacks (ICMP echo request and echo reply, ICMP unreachable, ICMP mask reply, ICMP redirects, ICMP router discovery)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IPv4 and IPv6</a:t>
            </a:r>
            <a:endParaRPr/>
          </a:p>
        </p:txBody>
      </p:sp>
      <p:sp>
        <p:nvSpPr>
          <p:cNvPr id="943" name="Google Shape;943;p38"/>
          <p:cNvSpPr txBox="1"/>
          <p:nvPr>
            <p:ph idx="1" type="body"/>
          </p:nvPr>
        </p:nvSpPr>
        <p:spPr>
          <a:xfrm>
            <a:off x="474662" y="731837"/>
            <a:ext cx="8280057" cy="99063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IP does not validate whether the source IP address contained in a packet actually came from that source. For this reason, threat actors can send packets using a spoofed source IP address. Security analysts must understand the different fields in both the IPv4 and IPv6 headers.</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Some of the more common IP related attacks are shown in the table</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graphicFrame>
        <p:nvGraphicFramePr>
          <p:cNvPr id="944" name="Google Shape;944;p38"/>
          <p:cNvGraphicFramePr/>
          <p:nvPr/>
        </p:nvGraphicFramePr>
        <p:xfrm>
          <a:off x="630569" y="1801559"/>
          <a:ext cx="3000000" cy="3000000"/>
        </p:xfrm>
        <a:graphic>
          <a:graphicData uri="http://schemas.openxmlformats.org/drawingml/2006/table">
            <a:tbl>
              <a:tblPr bandRow="1" firstRow="1">
                <a:noFill/>
                <a:tableStyleId>{848BEAFB-7CEB-4D00-9483-BCFEC181FAC1}</a:tableStyleId>
              </a:tblPr>
              <a:tblGrid>
                <a:gridCol w="1876175"/>
                <a:gridCol w="6162600"/>
              </a:tblGrid>
              <a:tr h="305150">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IP Attack Techniques</a:t>
                      </a:r>
                      <a:endParaRPr sz="105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Description</a:t>
                      </a:r>
                      <a:endParaRPr sz="1050" u="none" cap="none" strike="noStrike"/>
                    </a:p>
                  </a:txBody>
                  <a:tcPr marT="47625" marB="47625" marR="47625" marL="47625" anchor="ctr"/>
                </a:tc>
              </a:tr>
              <a:tr h="529825">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ICMP attacks</a:t>
                      </a:r>
                      <a:endParaRPr b="0" sz="105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t>Threat actors use Internet Control Message Protocol (ICMP) echo packets (pings) to discover subnets and hosts on a protected network, to generate DoS flood attacks, and to alter host routing tables.</a:t>
                      </a:r>
                      <a:endParaRPr sz="1400" u="none" cap="none" strike="noStrike"/>
                    </a:p>
                  </a:txBody>
                  <a:tcPr marT="47625" marB="47625" marR="47625" marL="47625" anchor="ctr"/>
                </a:tc>
              </a:tr>
              <a:tr h="379325">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Amplification and</a:t>
                      </a:r>
                      <a:endParaRPr b="0" sz="1050" u="none" cap="none" strike="noStrike"/>
                    </a:p>
                    <a:p>
                      <a:pPr indent="0" lvl="0" marL="0" marR="0" rtl="0" algn="l">
                        <a:lnSpc>
                          <a:spcPct val="100000"/>
                        </a:lnSpc>
                        <a:spcBef>
                          <a:spcPts val="0"/>
                        </a:spcBef>
                        <a:spcAft>
                          <a:spcPts val="0"/>
                        </a:spcAft>
                        <a:buClr>
                          <a:srgbClr val="000000"/>
                        </a:buClr>
                        <a:buSzPts val="1050"/>
                        <a:buFont typeface="Arial"/>
                        <a:buNone/>
                      </a:pPr>
                      <a:r>
                        <a:rPr b="1" lang="en-US" sz="1050" u="none" cap="none" strike="noStrike"/>
                        <a:t>reflection attacks</a:t>
                      </a:r>
                      <a:endParaRPr b="0" sz="105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t>Threat actors attempt to prevent legitimate users from accessing information or services using DoS and DDoS attacks.</a:t>
                      </a:r>
                      <a:endParaRPr sz="1400" u="none" cap="none" strike="noStrike"/>
                    </a:p>
                  </a:txBody>
                  <a:tcPr marT="47625" marB="47625" marR="47625" marL="47625" anchor="ctr"/>
                </a:tc>
              </a:tr>
              <a:tr h="379325">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Address spoofing attacks</a:t>
                      </a:r>
                      <a:endParaRPr b="0" sz="105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t>Threat actors spoof the source IP address in an IP packet to perform blind spoofing or non-blind spoofing.</a:t>
                      </a:r>
                      <a:endParaRPr sz="1400" u="none" cap="none" strike="noStrike"/>
                    </a:p>
                  </a:txBody>
                  <a:tcPr marT="47625" marB="47625" marR="47625" marL="47625" anchor="ctr"/>
                </a:tc>
              </a:tr>
              <a:tr h="529825">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Man-in-the-middle attack (MITM)</a:t>
                      </a:r>
                      <a:endParaRPr b="0" sz="105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t>Threat actors position themselves between a source and destination to transparently monitor, capture, and control the communication. They could eavesdrop by inspecting captured packets, or alter packets and forward them to their original destination.</a:t>
                      </a:r>
                      <a:endParaRPr sz="1400" u="none" cap="none" strike="noStrike"/>
                    </a:p>
                  </a:txBody>
                  <a:tcPr marT="47625" marB="47625" marR="47625" marL="47625" anchor="ctr"/>
                </a:tc>
              </a:tr>
              <a:tr h="379325">
                <a:tc>
                  <a:txBody>
                    <a:bodyPr/>
                    <a:lstStyle/>
                    <a:p>
                      <a:pPr indent="0" lvl="0" marL="0" marR="0" rtl="0" algn="l">
                        <a:lnSpc>
                          <a:spcPct val="100000"/>
                        </a:lnSpc>
                        <a:spcBef>
                          <a:spcPts val="0"/>
                        </a:spcBef>
                        <a:spcAft>
                          <a:spcPts val="0"/>
                        </a:spcAft>
                        <a:buClr>
                          <a:srgbClr val="000000"/>
                        </a:buClr>
                        <a:buSzPts val="1050"/>
                        <a:buFont typeface="Arial"/>
                        <a:buNone/>
                      </a:pPr>
                      <a:r>
                        <a:rPr b="1" lang="en-US" sz="1050" u="none" cap="none" strike="noStrike"/>
                        <a:t>Session hijacking</a:t>
                      </a:r>
                      <a:endParaRPr b="0" sz="105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050"/>
                        <a:buFont typeface="Arial"/>
                        <a:buNone/>
                      </a:pPr>
                      <a:r>
                        <a:rPr b="0" lang="en-US" sz="1050" u="none" cap="none" strike="noStrike"/>
                        <a:t>Threat actors gain access to the physical network, and then use an MITM attack to hijack a session</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ICMP Attacks</a:t>
            </a:r>
            <a:endParaRPr/>
          </a:p>
        </p:txBody>
      </p:sp>
      <p:sp>
        <p:nvSpPr>
          <p:cNvPr id="951" name="Google Shape;951;p39"/>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Threat actors use ICMP for reconnaissance and scanning attacks. They can launch information-gathering attacks to map out a network topology, discover which hosts are active (reachable), identify the host operating system (OS fingerprinting), and determine the state of a firewall. Threat actors also use </a:t>
            </a:r>
            <a:r>
              <a:rPr lang="en-US" sz="1600">
                <a:solidFill>
                  <a:srgbClr val="FF0000"/>
                </a:solidFill>
              </a:rPr>
              <a:t>ICMP for DoS attacks</a:t>
            </a:r>
            <a:r>
              <a:rPr lang="en-US" sz="1600">
                <a:solidFill>
                  <a:srgbClr val="000000"/>
                </a:solidFill>
              </a:rPr>
              <a:t>.</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Note</a:t>
            </a:r>
            <a:r>
              <a:rPr lang="en-US" sz="1600">
                <a:solidFill>
                  <a:srgbClr val="000000"/>
                </a:solidFill>
              </a:rPr>
              <a:t>: ICMP for IPv4 (ICMPv4) and ICMP for IPv6 (ICMPv6) are susceptible to similar types of attacks.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Networks should have strict ICMP access control list (ACL) filtering on the network edge to avoid ICMP probing from the internet. In the case of large networks, security devices such as firewalls and intrusion detection systems (IDS) detect such attacks and generate alerts to the security analysts.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ICMP Attacks (Cont.)</a:t>
            </a:r>
            <a:endParaRPr/>
          </a:p>
        </p:txBody>
      </p:sp>
      <p:sp>
        <p:nvSpPr>
          <p:cNvPr id="958" name="Google Shape;958;p40"/>
          <p:cNvSpPr/>
          <p:nvPr/>
        </p:nvSpPr>
        <p:spPr>
          <a:xfrm>
            <a:off x="388937" y="978456"/>
            <a:ext cx="774698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Common ICMP messages of interest to threat actors are listed in the table.</a:t>
            </a:r>
            <a:endParaRPr b="0" i="0" sz="1600" u="none" cap="none" strike="noStrike">
              <a:solidFill>
                <a:srgbClr val="000000"/>
              </a:solidFill>
              <a:latin typeface="Arial"/>
              <a:ea typeface="Arial"/>
              <a:cs typeface="Arial"/>
              <a:sym typeface="Arial"/>
            </a:endParaRPr>
          </a:p>
        </p:txBody>
      </p:sp>
      <p:graphicFrame>
        <p:nvGraphicFramePr>
          <p:cNvPr id="959" name="Google Shape;959;p40"/>
          <p:cNvGraphicFramePr/>
          <p:nvPr/>
        </p:nvGraphicFramePr>
        <p:xfrm>
          <a:off x="474663" y="1347788"/>
          <a:ext cx="3000000" cy="3000000"/>
        </p:xfrm>
        <a:graphic>
          <a:graphicData uri="http://schemas.openxmlformats.org/drawingml/2006/table">
            <a:tbl>
              <a:tblPr bandRow="1" firstRow="1">
                <a:noFill/>
                <a:tableStyleId>{848BEAFB-7CEB-4D00-9483-BCFEC181FAC1}</a:tableStyleId>
              </a:tblPr>
              <a:tblGrid>
                <a:gridCol w="3182925"/>
                <a:gridCol w="5097475"/>
              </a:tblGrid>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ICMP Messages used by Hackers</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sz="12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ICMP echo request and echo reply</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used to perform host verification and DoS attacks.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ICMP unreachable</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used to perform network reconnaissance and scanning attacks.</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ICMP mask reply</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used to map an internal IP network.</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ICMP redirects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used to lure a target host into sending all traffic through a compromised device and create a MITM attack.</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ICMP router discovery</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This is used to inject bogus route entries into the routing table of a target host.</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Video – Amplification, Reflection, and Spoofing Attacks</a:t>
            </a:r>
            <a:endParaRPr/>
          </a:p>
        </p:txBody>
      </p:sp>
      <p:sp>
        <p:nvSpPr>
          <p:cNvPr id="966" name="Google Shape;966;p41"/>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video will explain the amplification, reflection, and spoofing attack.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Amplification and Reflection Attacks</a:t>
            </a:r>
            <a:endParaRPr/>
          </a:p>
        </p:txBody>
      </p:sp>
      <p:sp>
        <p:nvSpPr>
          <p:cNvPr id="973" name="Google Shape;973;p42"/>
          <p:cNvSpPr txBox="1"/>
          <p:nvPr>
            <p:ph idx="1" type="body"/>
          </p:nvPr>
        </p:nvSpPr>
        <p:spPr>
          <a:xfrm>
            <a:off x="474662" y="993422"/>
            <a:ext cx="3540747" cy="3428312"/>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Threat actors often use amplification and reflection techniques to create DoS attacks. The example in the figure illustrates a </a:t>
            </a:r>
            <a:r>
              <a:rPr lang="en-US" sz="1400">
                <a:solidFill>
                  <a:srgbClr val="FF0000"/>
                </a:solidFill>
              </a:rPr>
              <a:t>Smurf attack </a:t>
            </a:r>
            <a:r>
              <a:rPr lang="en-US" sz="1400">
                <a:solidFill>
                  <a:srgbClr val="000000"/>
                </a:solidFill>
              </a:rPr>
              <a:t>is used to overwhelm a target host.</a:t>
            </a:r>
            <a:endParaRPr/>
          </a:p>
          <a:p>
            <a:pPr indent="-285750" lvl="1" marL="358835" rtl="0" algn="l">
              <a:lnSpc>
                <a:spcPct val="95000"/>
              </a:lnSpc>
              <a:spcBef>
                <a:spcPts val="600"/>
              </a:spcBef>
              <a:spcAft>
                <a:spcPts val="0"/>
              </a:spcAft>
              <a:buSzPts val="1200"/>
              <a:buFont typeface="Arial"/>
              <a:buChar char="•"/>
            </a:pPr>
            <a:r>
              <a:rPr b="1" lang="en-US" sz="1200">
                <a:solidFill>
                  <a:srgbClr val="000000"/>
                </a:solidFill>
              </a:rPr>
              <a:t>Note</a:t>
            </a:r>
            <a:r>
              <a:rPr lang="en-US" sz="1200">
                <a:solidFill>
                  <a:srgbClr val="000000"/>
                </a:solidFill>
              </a:rPr>
              <a:t>: Newer forms of amplification and reflection attacks such as DNS-based reflection and amplification attacks and Network Time Protocol (NTP) amplification attacks are now being used.</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Threat actors also use resource exhaustion attacks to either to crash a target host or to consume the resources of a network.</a:t>
            </a:r>
            <a:br>
              <a:rPr lang="en-US" sz="1400">
                <a:solidFill>
                  <a:srgbClr val="000000"/>
                </a:solidFill>
              </a:rPr>
            </a:br>
            <a:endParaRPr sz="1400">
              <a:solidFill>
                <a:srgbClr val="000000"/>
              </a:solidFill>
            </a:endParaRPr>
          </a:p>
        </p:txBody>
      </p:sp>
      <p:pic>
        <p:nvPicPr>
          <p:cNvPr id="974" name="Google Shape;974;p42"/>
          <p:cNvPicPr preferRelativeResize="0"/>
          <p:nvPr/>
        </p:nvPicPr>
        <p:blipFill rotWithShape="1">
          <a:blip r:embed="rId3">
            <a:alphaModFix/>
          </a:blip>
          <a:srcRect b="0" l="0" r="0" t="0"/>
          <a:stretch/>
        </p:blipFill>
        <p:spPr>
          <a:xfrm>
            <a:off x="4384507" y="857502"/>
            <a:ext cx="4341056" cy="368989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Vulnerabilities and Threats</a:t>
            </a:r>
            <a:br>
              <a:rPr lang="en-US"/>
            </a:br>
            <a:r>
              <a:rPr lang="en-US" sz="2400"/>
              <a:t>Address Spoofing Attacks</a:t>
            </a:r>
            <a:endParaRPr/>
          </a:p>
        </p:txBody>
      </p:sp>
      <p:sp>
        <p:nvSpPr>
          <p:cNvPr id="981" name="Google Shape;981;p4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IP address spoofing attacks occur when a threat actor creates packets with false source IP address information to either hide the identity of the sender, or to pose as another legitimate user. Spoofing is usually incorporated into another attack such as a Smurf attack.</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Spoofing attacks can be non-blind or blind:</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Non-blind spoofing</a:t>
            </a:r>
            <a:r>
              <a:rPr lang="en-US">
                <a:solidFill>
                  <a:srgbClr val="000000"/>
                </a:solidFill>
              </a:rPr>
              <a:t> - The threat actor can see the traffic that is being sent between the host and the target. Non-blind spoofing determines the state of a firewall and sequence-number prediction. It can also hijack an authorized session.</a:t>
            </a:r>
            <a:endParaRPr/>
          </a:p>
          <a:p>
            <a:pPr indent="-342899" lvl="1" marL="415984" rtl="0" algn="l">
              <a:lnSpc>
                <a:spcPct val="95000"/>
              </a:lnSpc>
              <a:spcBef>
                <a:spcPts val="600"/>
              </a:spcBef>
              <a:spcAft>
                <a:spcPts val="0"/>
              </a:spcAft>
              <a:buSzPts val="1400"/>
              <a:buFont typeface="Arial"/>
              <a:buChar char="•"/>
            </a:pPr>
            <a:r>
              <a:rPr b="1" lang="en-US">
                <a:solidFill>
                  <a:srgbClr val="000000"/>
                </a:solidFill>
              </a:rPr>
              <a:t>Blind spoofing</a:t>
            </a:r>
            <a:r>
              <a:rPr lang="en-US">
                <a:solidFill>
                  <a:srgbClr val="000000"/>
                </a:solidFill>
              </a:rPr>
              <a:t> - The threat actor cannot see the traffic that is being sent between the host and the target. Blind spoofing is used in DoS attacks.</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MAC address spoofing attacks are used when threat actors have access to the internal network. Threat actors alter the MAC address of their host to match another known MAC address of a target host.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44"/>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3.7 TCP and UDP Vulnerabilities</a:t>
            </a:r>
            <a:endParaRPr/>
          </a:p>
        </p:txBody>
      </p:sp>
    </p:spTree>
  </p:cSld>
  <p:clrMapOvr>
    <a:masterClrMapping/>
  </p:clrMapOvr>
  <p:transition spd="slow">
    <p:wipe dir="l"/>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TCP Segment Header</a:t>
            </a:r>
            <a:endParaRPr/>
          </a:p>
        </p:txBody>
      </p:sp>
      <p:sp>
        <p:nvSpPr>
          <p:cNvPr id="994" name="Google Shape;994;p45"/>
          <p:cNvSpPr txBox="1"/>
          <p:nvPr>
            <p:ph idx="1" type="body"/>
          </p:nvPr>
        </p:nvSpPr>
        <p:spPr>
          <a:xfrm>
            <a:off x="219476" y="914400"/>
            <a:ext cx="4176851" cy="3507334"/>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TCP segment information appears immediately after the IP header. The fields of the TCP segment and the flags for the Control Bits field are displayed in the figure.</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The following are the six control bits of the TCP segment:</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URG</a:t>
            </a:r>
            <a:r>
              <a:rPr lang="en-US" sz="1200">
                <a:solidFill>
                  <a:srgbClr val="000000"/>
                </a:solidFill>
              </a:rPr>
              <a:t> - Urgent pointer field significant</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ACK</a:t>
            </a:r>
            <a:r>
              <a:rPr lang="en-US" sz="1200">
                <a:solidFill>
                  <a:srgbClr val="000000"/>
                </a:solidFill>
              </a:rPr>
              <a:t> - Acknowledgment field significant</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PSH</a:t>
            </a:r>
            <a:r>
              <a:rPr lang="en-US" sz="1200">
                <a:solidFill>
                  <a:srgbClr val="000000"/>
                </a:solidFill>
              </a:rPr>
              <a:t> - Push function</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RST</a:t>
            </a:r>
            <a:r>
              <a:rPr lang="en-US" sz="1200">
                <a:solidFill>
                  <a:srgbClr val="000000"/>
                </a:solidFill>
              </a:rPr>
              <a:t>- Reset the connection</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SYN</a:t>
            </a:r>
            <a:r>
              <a:rPr lang="en-US" sz="1200">
                <a:solidFill>
                  <a:srgbClr val="000000"/>
                </a:solidFill>
              </a:rPr>
              <a:t> - Synchronize sequence numbers</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FIN</a:t>
            </a:r>
            <a:r>
              <a:rPr lang="en-US" sz="1200">
                <a:solidFill>
                  <a:srgbClr val="000000"/>
                </a:solidFill>
              </a:rPr>
              <a:t> - No more data from sender</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pic>
        <p:nvPicPr>
          <p:cNvPr id="995" name="Google Shape;995;p45"/>
          <p:cNvPicPr preferRelativeResize="0"/>
          <p:nvPr/>
        </p:nvPicPr>
        <p:blipFill rotWithShape="1">
          <a:blip r:embed="rId3">
            <a:alphaModFix/>
          </a:blip>
          <a:srcRect b="0" l="0" r="0" t="0"/>
          <a:stretch/>
        </p:blipFill>
        <p:spPr>
          <a:xfrm>
            <a:off x="4498838" y="1310661"/>
            <a:ext cx="4645162" cy="252217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TCP Services</a:t>
            </a:r>
            <a:endParaRPr/>
          </a:p>
        </p:txBody>
      </p:sp>
      <p:sp>
        <p:nvSpPr>
          <p:cNvPr id="1002" name="Google Shape;1002;p4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TCP provides these services: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Reliable delivery</a:t>
            </a:r>
            <a:r>
              <a:rPr lang="en-US" sz="1600">
                <a:solidFill>
                  <a:srgbClr val="000000"/>
                </a:solidFill>
              </a:rPr>
              <a:t> - TCP incorporates acknowledgments to guarantee delivery. If a timely acknowledgment is not received, the sender retransmits the data. Requiring acknowledgments of received data can cause substantial delays. Examples of application layer protocols that make use of TCP reliability include HTTP, SSL/TLS, FTP, DNS zone transfers, and others.</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Flow control</a:t>
            </a:r>
            <a:r>
              <a:rPr lang="en-US" sz="1600">
                <a:solidFill>
                  <a:srgbClr val="000000"/>
                </a:solidFill>
              </a:rPr>
              <a:t> - TCP implements flow control to address this issue. Rather than acknowledge one segment at a time, multiple segments can be acknowledged with a single acknowledgment segment.</a:t>
            </a:r>
            <a:endParaRPr/>
          </a:p>
          <a:p>
            <a:pPr indent="-342900" lvl="0" marL="342900" rtl="0" algn="l">
              <a:lnSpc>
                <a:spcPct val="100000"/>
              </a:lnSpc>
              <a:spcBef>
                <a:spcPts val="320"/>
              </a:spcBef>
              <a:spcAft>
                <a:spcPts val="0"/>
              </a:spcAft>
              <a:buSzPts val="1600"/>
              <a:buFont typeface="Arial"/>
              <a:buChar char="•"/>
            </a:pPr>
            <a:r>
              <a:rPr b="1" lang="en-US" sz="1600">
                <a:solidFill>
                  <a:srgbClr val="000000"/>
                </a:solidFill>
              </a:rPr>
              <a:t>Stateful communication</a:t>
            </a:r>
            <a:r>
              <a:rPr lang="en-US" sz="1600">
                <a:solidFill>
                  <a:srgbClr val="000000"/>
                </a:solidFill>
              </a:rPr>
              <a:t> - TCP stateful communication between two parties occurs during the TCP three-way handshake. </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TCP Services (Cont.)</a:t>
            </a:r>
            <a:endParaRPr/>
          </a:p>
        </p:txBody>
      </p:sp>
      <p:sp>
        <p:nvSpPr>
          <p:cNvPr id="1009" name="Google Shape;1009;p47"/>
          <p:cNvSpPr txBox="1"/>
          <p:nvPr>
            <p:ph idx="1" type="body"/>
          </p:nvPr>
        </p:nvSpPr>
        <p:spPr>
          <a:xfrm>
            <a:off x="474662" y="731837"/>
            <a:ext cx="8280057" cy="13183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A TCP connection is established in three steps:</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initiating client requests a client-to-server communication session with the server.</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server acknowledges the client-to-server communication session and requests a server-to-client communication session.</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initiating client acknowledges the server-to-client communication session.</a:t>
            </a:r>
            <a:endParaRPr/>
          </a:p>
        </p:txBody>
      </p:sp>
      <p:pic>
        <p:nvPicPr>
          <p:cNvPr id="1010" name="Google Shape;1010;p47"/>
          <p:cNvPicPr preferRelativeResize="0"/>
          <p:nvPr/>
        </p:nvPicPr>
        <p:blipFill rotWithShape="1">
          <a:blip r:embed="rId3">
            <a:alphaModFix/>
          </a:blip>
          <a:srcRect b="0" l="0" r="0" t="0"/>
          <a:stretch/>
        </p:blipFill>
        <p:spPr>
          <a:xfrm>
            <a:off x="1584905" y="2050146"/>
            <a:ext cx="5175678" cy="25997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TCP Attacks</a:t>
            </a:r>
            <a:endParaRPr/>
          </a:p>
        </p:txBody>
      </p:sp>
      <p:sp>
        <p:nvSpPr>
          <p:cNvPr id="1017" name="Google Shape;1017;p48"/>
          <p:cNvSpPr txBox="1"/>
          <p:nvPr>
            <p:ph idx="1" type="body"/>
          </p:nvPr>
        </p:nvSpPr>
        <p:spPr>
          <a:xfrm>
            <a:off x="474662" y="731836"/>
            <a:ext cx="3015961"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TCP SYN Flood Attack</a:t>
            </a:r>
            <a:endParaRPr/>
          </a:p>
          <a:p>
            <a:pPr indent="-457200" lvl="0" marL="457200" rtl="0" algn="l">
              <a:lnSpc>
                <a:spcPct val="100000"/>
              </a:lnSpc>
              <a:spcBef>
                <a:spcPts val="280"/>
              </a:spcBef>
              <a:spcAft>
                <a:spcPts val="0"/>
              </a:spcAft>
              <a:buSzPts val="1400"/>
              <a:buFont typeface="Arial"/>
              <a:buAutoNum type="arabicPeriod"/>
            </a:pPr>
            <a:r>
              <a:rPr lang="en-US" sz="1400">
                <a:solidFill>
                  <a:srgbClr val="000000"/>
                </a:solidFill>
              </a:rPr>
              <a:t>The threat actor sends multiple SYN requests to a webserver.</a:t>
            </a:r>
            <a:endParaRPr/>
          </a:p>
          <a:p>
            <a:pPr indent="-457200" lvl="0" marL="457200" rtl="0" algn="l">
              <a:lnSpc>
                <a:spcPct val="100000"/>
              </a:lnSpc>
              <a:spcBef>
                <a:spcPts val="280"/>
              </a:spcBef>
              <a:spcAft>
                <a:spcPts val="0"/>
              </a:spcAft>
              <a:buSzPts val="1400"/>
              <a:buFont typeface="Arial"/>
              <a:buAutoNum type="arabicPeriod"/>
            </a:pPr>
            <a:r>
              <a:rPr lang="en-US" sz="1400">
                <a:solidFill>
                  <a:srgbClr val="000000"/>
                </a:solidFill>
              </a:rPr>
              <a:t>The web server replies with SYN-ACKs for each SYN request and waits to complete the three-way handshake. The threat actor does not respond to the SYN-ACKs.</a:t>
            </a:r>
            <a:endParaRPr/>
          </a:p>
          <a:p>
            <a:pPr indent="-457200" lvl="0" marL="457200" rtl="0" algn="l">
              <a:lnSpc>
                <a:spcPct val="100000"/>
              </a:lnSpc>
              <a:spcBef>
                <a:spcPts val="280"/>
              </a:spcBef>
              <a:spcAft>
                <a:spcPts val="0"/>
              </a:spcAft>
              <a:buSzPts val="1400"/>
              <a:buFont typeface="Arial"/>
              <a:buAutoNum type="arabicPeriod"/>
            </a:pPr>
            <a:r>
              <a:rPr lang="en-US" sz="1400">
                <a:solidFill>
                  <a:srgbClr val="000000"/>
                </a:solidFill>
              </a:rPr>
              <a:t>A valid user cannot access the web server because the web server has too many half-opened TCP connections.</a:t>
            </a:r>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1018" name="Google Shape;1018;p48"/>
          <p:cNvPicPr preferRelativeResize="0"/>
          <p:nvPr/>
        </p:nvPicPr>
        <p:blipFill rotWithShape="1">
          <a:blip r:embed="rId3">
            <a:alphaModFix/>
          </a:blip>
          <a:srcRect b="0" l="0" r="0" t="0"/>
          <a:stretch/>
        </p:blipFill>
        <p:spPr>
          <a:xfrm>
            <a:off x="3654519" y="882595"/>
            <a:ext cx="5073338" cy="32441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4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TCP Attacks (Cont.)</a:t>
            </a:r>
            <a:endParaRPr/>
          </a:p>
        </p:txBody>
      </p:sp>
      <p:sp>
        <p:nvSpPr>
          <p:cNvPr id="1025" name="Google Shape;1025;p49"/>
          <p:cNvSpPr txBox="1"/>
          <p:nvPr>
            <p:ph idx="1" type="body"/>
          </p:nvPr>
        </p:nvSpPr>
        <p:spPr>
          <a:xfrm>
            <a:off x="474663" y="731837"/>
            <a:ext cx="4097338"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Terminating a TCP session uses the following four-way exchange process:</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When the client has no more data to send in the stream, it sends a segment with the FIN flag set.</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server sends an ACK to acknowledge the receipt of the FIN to terminate the session from client to server.</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server sends a FIN to the client to terminate the server-to-client session.</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client responds with an ACK to acknowledge the FIN from the server.</a:t>
            </a:r>
            <a:endParaRPr/>
          </a:p>
          <a:p>
            <a:pPr indent="0" lvl="0" marL="0" rtl="0" algn="l">
              <a:lnSpc>
                <a:spcPct val="100000"/>
              </a:lnSpc>
              <a:spcBef>
                <a:spcPts val="280"/>
              </a:spcBef>
              <a:spcAft>
                <a:spcPts val="0"/>
              </a:spcAft>
              <a:buSzPts val="1400"/>
              <a:buNone/>
            </a:pPr>
            <a:r>
              <a:rPr lang="en-US" sz="1400">
                <a:solidFill>
                  <a:srgbClr val="000000"/>
                </a:solidFill>
              </a:rPr>
              <a:t>A threat actor could do a TCP reset attack and send a spoofed packet containing a TCP RST to one or both endpoints.</a:t>
            </a:r>
            <a:endParaRPr/>
          </a:p>
        </p:txBody>
      </p:sp>
      <p:pic>
        <p:nvPicPr>
          <p:cNvPr id="1026" name="Google Shape;1026;p49"/>
          <p:cNvPicPr preferRelativeResize="0"/>
          <p:nvPr/>
        </p:nvPicPr>
        <p:blipFill rotWithShape="1">
          <a:blip r:embed="rId3">
            <a:alphaModFix/>
          </a:blip>
          <a:srcRect b="0" l="0" r="0" t="0"/>
          <a:stretch/>
        </p:blipFill>
        <p:spPr>
          <a:xfrm>
            <a:off x="4926370" y="731837"/>
            <a:ext cx="3419118" cy="37810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TCP Attacks (Cont.)</a:t>
            </a:r>
            <a:endParaRPr/>
          </a:p>
        </p:txBody>
      </p:sp>
      <p:sp>
        <p:nvSpPr>
          <p:cNvPr id="1033" name="Google Shape;1033;p5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TCP session hijacking is another TCP vulnerability. Although difficult to conduct, a threat actor takes over an already-authenticated host as it communicates with the target. The threat actor must spoof the IP address of one host, predict the next sequence number, and send an ACK to the other host. If successful, the threat actor could send, but not receive, data from the target device.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5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UDP Segment Header and Operation</a:t>
            </a:r>
            <a:endParaRPr/>
          </a:p>
        </p:txBody>
      </p:sp>
      <p:sp>
        <p:nvSpPr>
          <p:cNvPr id="1040" name="Google Shape;1040;p51"/>
          <p:cNvSpPr txBox="1"/>
          <p:nvPr>
            <p:ph idx="1" type="body"/>
          </p:nvPr>
        </p:nvSpPr>
        <p:spPr>
          <a:xfrm>
            <a:off x="474662" y="731837"/>
            <a:ext cx="8280057" cy="1936935"/>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UDP is commonly used by DNS, TFTP, NFS, and SNMP. It is also used with real-time applications such as media streaming or VoIP. UDP is a connectionless transport layer protocol. It has much lower overhead than TCP because it is not connection-oriented and does not offer the sophisticated retransmission, sequencing, and flow control mechanisms that provide reliability. </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These reliability functions are not provided by the transport layer protocol and must be implemented elsewhere if required.</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The low overhead of UDP makes it very desirable for protocols that make simple request and reply transactions. </a:t>
            </a:r>
            <a:endParaRPr/>
          </a:p>
        </p:txBody>
      </p:sp>
      <p:pic>
        <p:nvPicPr>
          <p:cNvPr id="1041" name="Google Shape;1041;p51"/>
          <p:cNvPicPr preferRelativeResize="0"/>
          <p:nvPr/>
        </p:nvPicPr>
        <p:blipFill rotWithShape="1">
          <a:blip r:embed="rId3">
            <a:alphaModFix/>
          </a:blip>
          <a:srcRect b="0" l="0" r="0" t="0"/>
          <a:stretch/>
        </p:blipFill>
        <p:spPr>
          <a:xfrm>
            <a:off x="2297927" y="2928399"/>
            <a:ext cx="4902890" cy="163863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5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TCP and UDP Vulnerabilities</a:t>
            </a:r>
            <a:br>
              <a:rPr lang="en-US"/>
            </a:br>
            <a:r>
              <a:rPr lang="en-US" sz="2400"/>
              <a:t>UDP Attacks</a:t>
            </a:r>
            <a:endParaRPr/>
          </a:p>
        </p:txBody>
      </p:sp>
      <p:sp>
        <p:nvSpPr>
          <p:cNvPr id="1048" name="Google Shape;1048;p52"/>
          <p:cNvSpPr txBox="1"/>
          <p:nvPr>
            <p:ph idx="1" type="body"/>
          </p:nvPr>
        </p:nvSpPr>
        <p:spPr>
          <a:xfrm>
            <a:off x="474662" y="731836"/>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UDP is not protected by any encryption. You can add encryption to UDP, but it is not available by default. The lack of encryption means that anyone can see the traffic, change it, and send it on to its destination.</a:t>
            </a:r>
            <a:endParaRPr/>
          </a:p>
          <a:p>
            <a:pPr indent="-342900" lvl="0" marL="342900" rtl="0" algn="l">
              <a:lnSpc>
                <a:spcPct val="100000"/>
              </a:lnSpc>
              <a:spcBef>
                <a:spcPts val="280"/>
              </a:spcBef>
              <a:spcAft>
                <a:spcPts val="0"/>
              </a:spcAft>
              <a:buSzPts val="1400"/>
              <a:buFont typeface="Arial"/>
              <a:buChar char="•"/>
            </a:pPr>
            <a:r>
              <a:rPr b="1" lang="en-US" sz="1400">
                <a:solidFill>
                  <a:srgbClr val="000000"/>
                </a:solidFill>
              </a:rPr>
              <a:t>UDP Flood Attacks: </a:t>
            </a:r>
            <a:r>
              <a:rPr lang="en-US" sz="1400">
                <a:solidFill>
                  <a:srgbClr val="000000"/>
                </a:solidFill>
              </a:rPr>
              <a:t>The threat actor uses a tool like UDP Unicorn or Low Orbit Ion Cannon. These tools send a flood of UDP packets, often from a spoofed host, to a server on the subnet. The program will sweep through all the known ports trying to find closed ports. This will cause the server to reply with an ICMP port unreachable message. Because there are many closed ports on the server, this creates a lot of traffic on the segment, which uses up most of the bandwidth. The result is very similar to a DoS attack.</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53"/>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3.8 IP Services</a:t>
            </a:r>
            <a:endParaRPr/>
          </a:p>
        </p:txBody>
      </p:sp>
    </p:spTree>
  </p:cSld>
  <p:clrMapOvr>
    <a:masterClrMapping/>
  </p:clrMapOvr>
  <p:transition spd="slow">
    <p:wipe dir="l"/>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5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ARP Vulnerabilities</a:t>
            </a:r>
            <a:endParaRPr/>
          </a:p>
        </p:txBody>
      </p:sp>
      <p:sp>
        <p:nvSpPr>
          <p:cNvPr id="1061" name="Google Shape;1061;p5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Hosts broadcast an ARP Request to other hosts on the segment to determine the MAC address of a host with a particular IP address. The host with the matching IP address in the ARP Request sends an ARP Reply.</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Any client can send an unsolicited ARP Reply called a “gratuitous ARP.” When a host sends a gratuitous ARP, other hosts on the subnet store the MAC address and IP address contained in the gratuitous ARP in their ARP tables.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This feature of ARP also means that any host can claim to be the owner of any IP or MAC. A threat actor can poison the ARP cache of devices on the local network, creating an MITM attack to redirect traffic.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5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ARP Cache Poisoning</a:t>
            </a:r>
            <a:endParaRPr/>
          </a:p>
        </p:txBody>
      </p:sp>
      <p:sp>
        <p:nvSpPr>
          <p:cNvPr id="1068" name="Google Shape;1068;p5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ARP cache poisoning can be used to launch various man-in-the-middle attacks.</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PC-A requires the MAC address of its default gateway (R1); therefore, it sends an ARP Request for the MAC address of 192.168.10.1.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R1 updates its ARP cache with the IP and MAC addresses of PC-A. R1 sends an ARP Reply to PC-A, which then updates its ARP cache with the IP and MAC addresses of R1.</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threat actor sends two spoofed gratuitous ARP Replies using its own MAC address for the indicated destination IP addresses. PC-A updates its ARP cache with its default gateway which is now pointing to the threat actor’s host MAC address. R1 also updates its ARP cache with the IP address of PC-A pointing to the threat actor’s MAC address.</a:t>
            </a:r>
            <a:endParaRPr/>
          </a:p>
          <a:p>
            <a:pPr indent="0" lvl="0" marL="0" rtl="0" algn="l">
              <a:lnSpc>
                <a:spcPct val="100000"/>
              </a:lnSpc>
              <a:spcBef>
                <a:spcPts val="320"/>
              </a:spcBef>
              <a:spcAft>
                <a:spcPts val="0"/>
              </a:spcAft>
              <a:buSzPts val="1600"/>
              <a:buNone/>
            </a:pPr>
            <a:r>
              <a:rPr lang="en-US" sz="1600">
                <a:solidFill>
                  <a:srgbClr val="000000"/>
                </a:solidFill>
              </a:rPr>
              <a:t>The ARP poisoning attack can be passive or active. Passive ARP poisoning is where threat actors steal confidential information. Active ARP poisoning is where threat actors modify data in transit or inject malicious data.</a:t>
            </a:r>
            <a:endParaRPr/>
          </a:p>
          <a:p>
            <a:pPr indent="-285690" lvl="0" marL="285690" rtl="0" algn="l">
              <a:lnSpc>
                <a:spcPct val="100000"/>
              </a:lnSpc>
              <a:spcBef>
                <a:spcPts val="320"/>
              </a:spcBef>
              <a:spcAft>
                <a:spcPts val="0"/>
              </a:spcAft>
              <a:buSzPts val="1600"/>
              <a:buNone/>
            </a:pPr>
            <a:r>
              <a:t/>
            </a:r>
            <a:endParaRPr sz="1600">
              <a:solidFill>
                <a:srgbClr val="000000"/>
              </a:solidFill>
            </a:endParaRPr>
          </a:p>
        </p:txBody>
      </p:sp>
      <p:sp>
        <p:nvSpPr>
          <p:cNvPr id="1069" name="Google Shape;1069;p55"/>
          <p:cNvSpPr/>
          <p:nvPr/>
        </p:nvSpPr>
        <p:spPr>
          <a:xfrm>
            <a:off x="3485407" y="182278"/>
            <a:ext cx="526931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Arial"/>
                <a:ea typeface="Arial"/>
                <a:cs typeface="Arial"/>
                <a:sym typeface="Arial"/>
              </a:rPr>
              <a:t>https://contenthub.netacad.com/ensa-dl/3.8.1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17"/>
          <p:cNvSpPr txBox="1"/>
          <p:nvPr>
            <p:ph type="title"/>
          </p:nvPr>
        </p:nvSpPr>
        <p:spPr>
          <a:xfrm>
            <a:off x="437766" y="341313"/>
            <a:ext cx="8345400" cy="731700"/>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2000"/>
              <a:t>IP Services</a:t>
            </a:r>
            <a:br>
              <a:rPr lang="en-US"/>
            </a:br>
            <a:r>
              <a:rPr lang="en-US"/>
              <a:t>ARP Cache Poisoning</a:t>
            </a:r>
            <a:endParaRPr/>
          </a:p>
        </p:txBody>
      </p:sp>
      <p:pic>
        <p:nvPicPr>
          <p:cNvPr id="1075" name="Google Shape;1075;p117"/>
          <p:cNvPicPr preferRelativeResize="0"/>
          <p:nvPr/>
        </p:nvPicPr>
        <p:blipFill rotWithShape="1">
          <a:blip r:embed="rId3">
            <a:alphaModFix/>
          </a:blip>
          <a:srcRect b="0" l="0" r="0" t="0"/>
          <a:stretch/>
        </p:blipFill>
        <p:spPr>
          <a:xfrm>
            <a:off x="1512278" y="1200432"/>
            <a:ext cx="5662262" cy="37276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5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Video – ARP Spoofing</a:t>
            </a:r>
            <a:endParaRPr/>
          </a:p>
        </p:txBody>
      </p:sp>
      <p:sp>
        <p:nvSpPr>
          <p:cNvPr id="1082" name="Google Shape;1082;p56"/>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2000"/>
              <a:buNone/>
            </a:pPr>
            <a:r>
              <a:rPr lang="en-US">
                <a:solidFill>
                  <a:srgbClr val="000000"/>
                </a:solidFill>
              </a:rPr>
              <a:t>This video will explain an ARP spoofing attack.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5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DNS Attacks</a:t>
            </a:r>
            <a:endParaRPr/>
          </a:p>
        </p:txBody>
      </p:sp>
      <p:sp>
        <p:nvSpPr>
          <p:cNvPr id="1089" name="Google Shape;1089;p5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The Domain Name Service (DNS) protocol defines an automated service that matches resource names, such as www.cisco.com, with the required numeric network address, such as the IPv4 or IPv6 address. It includes the format for queries, responses, and data and uses resource records (RR) to identify the type of DNS response.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Securing DNS is often overlooked. However, it is crucial to the operation of a network and should be secured accordingly.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DNS attacks include the following:</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DNS open resolver attacks</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DNS stealth attacks</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DNS domain shadowing attacks</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DNS tunneling attacks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5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DNS Attacks (Cont.)</a:t>
            </a:r>
            <a:endParaRPr/>
          </a:p>
        </p:txBody>
      </p:sp>
      <p:sp>
        <p:nvSpPr>
          <p:cNvPr id="1096" name="Google Shape;1096;p58"/>
          <p:cNvSpPr txBox="1"/>
          <p:nvPr>
            <p:ph idx="1" type="body"/>
          </p:nvPr>
        </p:nvSpPr>
        <p:spPr>
          <a:xfrm>
            <a:off x="474662" y="731838"/>
            <a:ext cx="8280057" cy="83996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DNS Open Resolver Attacks: A DNS open resolver answers queries from clients outside of its administrative domain. DNS open resolvers are vulnerable to multiple malicious activities described in the table.</a:t>
            </a:r>
            <a:endParaRPr/>
          </a:p>
        </p:txBody>
      </p:sp>
      <p:graphicFrame>
        <p:nvGraphicFramePr>
          <p:cNvPr id="1097" name="Google Shape;1097;p58"/>
          <p:cNvGraphicFramePr/>
          <p:nvPr/>
        </p:nvGraphicFramePr>
        <p:xfrm>
          <a:off x="636587" y="1571799"/>
          <a:ext cx="3000000" cy="3000000"/>
        </p:xfrm>
        <a:graphic>
          <a:graphicData uri="http://schemas.openxmlformats.org/drawingml/2006/table">
            <a:tbl>
              <a:tblPr bandRow="1" firstRow="1">
                <a:noFill/>
                <a:tableStyleId>{848BEAFB-7CEB-4D00-9483-BCFEC181FAC1}</a:tableStyleId>
              </a:tblPr>
              <a:tblGrid>
                <a:gridCol w="2246850"/>
                <a:gridCol w="5623975"/>
              </a:tblGrid>
              <a:tr h="2665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DNS Resolver Vulnerabilities</a:t>
                      </a:r>
                      <a:endParaRPr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Description</a:t>
                      </a:r>
                      <a:endParaRPr sz="1200" u="none" cap="none" strike="noStrike"/>
                    </a:p>
                  </a:txBody>
                  <a:tcPr marT="47625" marB="47625" marR="47625" marL="47625" anchor="ctr"/>
                </a:tc>
              </a:tr>
              <a:tr h="5943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DNS cache poisoning attacks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Threat actors send spoofed, falsified record resource (RR) information to a DNS resolver to redirect users from legitimate sites to malicious sites. DNS cache poisoning attacks can all be used to inform the DNS resolver to use a malicious name server that is providing RR information for malicious activities.</a:t>
                      </a:r>
                      <a:endParaRPr sz="1400" u="none" cap="none" strike="noStrike"/>
                    </a:p>
                  </a:txBody>
                  <a:tcPr marT="47625" marB="47625" marR="47625" marL="47625" anchor="ctr"/>
                </a:tc>
              </a:tr>
              <a:tr h="72575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DNS amplification and reflection attacks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Threat actors use DoS or DDoS attacks on DNS open resolvers to increase the volume of attacks and to hide the true source of an attack. Threat actors send DNS messages to the open resolvers using the IP address of a target host. These attacks are possible because the open resolver will respond to queries from anyone asking a question.</a:t>
                      </a:r>
                      <a:endParaRPr sz="1400" u="none" cap="none" strike="noStrike"/>
                    </a:p>
                  </a:txBody>
                  <a:tcPr marT="47625" marB="47625" marR="47625" marL="47625" anchor="ctr"/>
                </a:tc>
              </a:tr>
              <a:tr h="594300">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DNS resource utilization attacks</a:t>
                      </a:r>
                      <a:endParaRPr b="0" sz="12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t>A DoS attack that consumes the resources of the DNS open resolvers. This DoS attack consumes all the available resources to negatively affect the operations of the DNS open resolver. The impact of this DoS attack may require the DNS open resolver to be rebooted or services to be stopped and restarted.</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5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DNS Attacks (Cont.)</a:t>
            </a:r>
            <a:endParaRPr/>
          </a:p>
        </p:txBody>
      </p:sp>
      <p:sp>
        <p:nvSpPr>
          <p:cNvPr id="1104" name="Google Shape;1104;p59"/>
          <p:cNvSpPr txBox="1"/>
          <p:nvPr>
            <p:ph idx="1" type="body"/>
          </p:nvPr>
        </p:nvSpPr>
        <p:spPr>
          <a:xfrm>
            <a:off x="474662" y="731838"/>
            <a:ext cx="8280057" cy="61849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DNS Stealth Attacks: To hide their identity, threat actors also use the DNS stealth techniques described in the table to carry out their attacks.</a:t>
            </a:r>
            <a:endParaRPr/>
          </a:p>
        </p:txBody>
      </p:sp>
      <p:graphicFrame>
        <p:nvGraphicFramePr>
          <p:cNvPr id="1105" name="Google Shape;1105;p59"/>
          <p:cNvGraphicFramePr/>
          <p:nvPr/>
        </p:nvGraphicFramePr>
        <p:xfrm>
          <a:off x="636587" y="1463674"/>
          <a:ext cx="3000000" cy="3000000"/>
        </p:xfrm>
        <a:graphic>
          <a:graphicData uri="http://schemas.openxmlformats.org/drawingml/2006/table">
            <a:tbl>
              <a:tblPr bandRow="1" firstRow="1">
                <a:noFill/>
                <a:tableStyleId>{848BEAFB-7CEB-4D00-9483-BCFEC181FAC1}</a:tableStyleId>
              </a:tblPr>
              <a:tblGrid>
                <a:gridCol w="1513625"/>
                <a:gridCol w="6357200"/>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DNS Stealth Techniques</a:t>
                      </a:r>
                      <a:endParaRPr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Description</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Fast Flux</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Threat actors use this technique to hide their phishing and malware delivery sites behind a quickly-changing network of compromised DNS hosts. The DNS IP addresses are continuously changed within minutes. Botnets often employ Fast Flux techniques to effectively hide malicious servers from being detected.</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Double IP Flux</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Threat actors use this technique to rapidly change the hostname to IP address mappings and to also change the authoritative name server. This increases the difficulty of identifying the source of the attack.</a:t>
                      </a:r>
                      <a:endParaRPr sz="1400" u="none" cap="none" strike="noStrike"/>
                    </a:p>
                  </a:txBody>
                  <a:tcPr marT="47625" marB="47625" marR="47625" marL="47625" anchor="ctr"/>
                </a:tc>
              </a:tr>
              <a:tr h="37085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t>Domain Generation Algorithms</a:t>
                      </a:r>
                      <a:endParaRPr b="0" sz="1400" u="none" cap="none" strike="noStrike"/>
                    </a:p>
                  </a:txBody>
                  <a:tcPr marT="47625" marB="47625" marR="47625" marL="47625" anchor="ctr"/>
                </a:tc>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t>Threat actors use this technique in malware to randomly generate domain names that can then be used as rendezvous points to their command and control (C&amp;C) servers.</a:t>
                      </a:r>
                      <a:endParaRPr sz="1400" u="none" cap="none" strike="noStrike"/>
                    </a:p>
                  </a:txBody>
                  <a:tcPr marT="47625" marB="47625" marR="47625" marL="47625" anchor="ct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6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DNS Attacks (Cont.)</a:t>
            </a:r>
            <a:endParaRPr/>
          </a:p>
        </p:txBody>
      </p:sp>
      <p:sp>
        <p:nvSpPr>
          <p:cNvPr id="1112" name="Google Shape;1112;p6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DNS Domain Shadowing Attacks: Domain shadowing involves the threat actor gathering domain account credentials in order to silently create multiple sub-domains to be used during the attacks. These subdomains typically point to malicious servers without alerting the actual owner of the parent domain.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6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DNS Tunneling</a:t>
            </a:r>
            <a:endParaRPr/>
          </a:p>
        </p:txBody>
      </p:sp>
      <p:sp>
        <p:nvSpPr>
          <p:cNvPr id="1119" name="Google Shape;1119;p61"/>
          <p:cNvSpPr txBox="1"/>
          <p:nvPr>
            <p:ph idx="1" type="body"/>
          </p:nvPr>
        </p:nvSpPr>
        <p:spPr>
          <a:xfrm>
            <a:off x="431971"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400"/>
              <a:buFont typeface="Arial"/>
              <a:buChar char="•"/>
            </a:pPr>
            <a:r>
              <a:rPr lang="en-US" sz="1400">
                <a:solidFill>
                  <a:srgbClr val="000000"/>
                </a:solidFill>
              </a:rPr>
              <a:t>Threat actors who use DNS tunneling place non-DNS traffic within DNS traffic. This method often circumvents security solutions when a threat actor wishes to communicate with bots inside a protected network, or exfiltrate data from the organization. This is how DNS tunneling works for CnC commands sent to a botnet:</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The command data is split into multiple encoded chunks.</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Each chunk is placed into a lower level domain name label of the DNS query.</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Because there is no response from the local or networked DNS for the query, the request is sent to the ISP’s recursive DNS servers.</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The recursive DNS service will forward the query to the threat actor’s authoritative name server.</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The process is repeated until all the queries containing the chunks of are sent.</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When the threat actor’s authoritative name server receives the DNS queries from the infected devices, it sends responses for each DNS query, which contain the encapsulated, encoded CnC commands.</a:t>
            </a:r>
            <a:endParaRPr/>
          </a:p>
          <a:p>
            <a:pPr indent="-342899" lvl="2" marL="489009" rtl="0" algn="l">
              <a:lnSpc>
                <a:spcPct val="95000"/>
              </a:lnSpc>
              <a:spcBef>
                <a:spcPts val="625"/>
              </a:spcBef>
              <a:spcAft>
                <a:spcPts val="0"/>
              </a:spcAft>
              <a:buClr>
                <a:srgbClr val="000000"/>
              </a:buClr>
              <a:buSzPts val="1200"/>
              <a:buFont typeface="Arial"/>
              <a:buAutoNum type="arabicPeriod"/>
            </a:pPr>
            <a:r>
              <a:rPr lang="en-US">
                <a:solidFill>
                  <a:srgbClr val="000000"/>
                </a:solidFill>
              </a:rPr>
              <a:t>The malware on the compromised host recombines the chunks and executes the commands hidden within the DNS record.</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To stop DNS tunneling, the network administrator must use a filter that inspects DNS traffic. Pay close attention to DNS queries that are longer than average, or those that have a suspicious domain name..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6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DHCP </a:t>
            </a:r>
            <a:r>
              <a:rPr lang="en-US" sz="2400">
                <a:solidFill>
                  <a:schemeClr val="dk1"/>
                </a:solidFill>
              </a:rPr>
              <a:t>(</a:t>
            </a:r>
            <a:r>
              <a:rPr lang="en-US" sz="2400">
                <a:solidFill>
                  <a:srgbClr val="000000"/>
                </a:solidFill>
              </a:rPr>
              <a:t>Dynamic Host Configuration Protocol )</a:t>
            </a:r>
            <a:endParaRPr sz="2400"/>
          </a:p>
        </p:txBody>
      </p:sp>
      <p:sp>
        <p:nvSpPr>
          <p:cNvPr id="1126" name="Google Shape;1126;p62"/>
          <p:cNvSpPr txBox="1"/>
          <p:nvPr>
            <p:ph idx="1" type="body"/>
          </p:nvPr>
        </p:nvSpPr>
        <p:spPr>
          <a:xfrm>
            <a:off x="474662" y="731837"/>
            <a:ext cx="4013201"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DHCP servers dynamically provide IP configuration information to clients. </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In the figure, a client broadcasts a DHCP discover message. The DHCP responds with a unicast offer that includes addressing information the client can use. The client broadcasts a DHCP request to tell the server that the client accepts the offer. The server responds with a unicast acknowledgment accepting the request.</a:t>
            </a:r>
            <a:endParaRPr/>
          </a:p>
        </p:txBody>
      </p:sp>
      <p:pic>
        <p:nvPicPr>
          <p:cNvPr id="1127" name="Google Shape;1127;p62"/>
          <p:cNvPicPr preferRelativeResize="0"/>
          <p:nvPr/>
        </p:nvPicPr>
        <p:blipFill rotWithShape="1">
          <a:blip r:embed="rId3">
            <a:alphaModFix/>
          </a:blip>
          <a:srcRect b="0" l="0" r="0" t="0"/>
          <a:stretch/>
        </p:blipFill>
        <p:spPr>
          <a:xfrm>
            <a:off x="4645392" y="1198834"/>
            <a:ext cx="4184357" cy="287343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6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DHCP Attacks</a:t>
            </a:r>
            <a:endParaRPr/>
          </a:p>
        </p:txBody>
      </p:sp>
      <p:sp>
        <p:nvSpPr>
          <p:cNvPr id="1134" name="Google Shape;1134;p63"/>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A </a:t>
            </a:r>
            <a:r>
              <a:rPr b="1" lang="en-US" sz="1600">
                <a:solidFill>
                  <a:srgbClr val="FF0000"/>
                </a:solidFill>
              </a:rPr>
              <a:t>DHCP spoofing attack </a:t>
            </a:r>
            <a:r>
              <a:rPr lang="en-US" sz="1600">
                <a:solidFill>
                  <a:srgbClr val="000000"/>
                </a:solidFill>
              </a:rPr>
              <a:t>occurs when a rogue DHCP server is connected to the network and provides false IP configuration parameters to legitimate clients. </a:t>
            </a:r>
            <a:endParaRPr/>
          </a:p>
          <a:p>
            <a:pPr indent="-241300" lvl="0" marL="342900" rtl="0" algn="l">
              <a:lnSpc>
                <a:spcPct val="100000"/>
              </a:lnSpc>
              <a:spcBef>
                <a:spcPts val="0"/>
              </a:spcBef>
              <a:spcAft>
                <a:spcPts val="0"/>
              </a:spcAft>
              <a:buSzPts val="1600"/>
              <a:buFont typeface="Arial"/>
              <a:buNone/>
            </a:pPr>
            <a:r>
              <a:t/>
            </a:r>
            <a:endParaRPr sz="1600">
              <a:solidFill>
                <a:srgbClr val="000000"/>
              </a:solidFill>
            </a:endParaRPr>
          </a:p>
          <a:p>
            <a:pPr indent="-342900" lvl="0" marL="342900" rtl="0" algn="l">
              <a:lnSpc>
                <a:spcPct val="100000"/>
              </a:lnSpc>
              <a:spcBef>
                <a:spcPts val="0"/>
              </a:spcBef>
              <a:spcAft>
                <a:spcPts val="0"/>
              </a:spcAft>
              <a:buSzPts val="1600"/>
              <a:buFont typeface="Arial"/>
              <a:buChar char="•"/>
            </a:pPr>
            <a:r>
              <a:rPr lang="en-US" sz="1600">
                <a:solidFill>
                  <a:srgbClr val="000000"/>
                </a:solidFill>
              </a:rPr>
              <a:t>A </a:t>
            </a:r>
            <a:r>
              <a:rPr lang="en-US" sz="1600">
                <a:solidFill>
                  <a:srgbClr val="FF0000"/>
                </a:solidFill>
              </a:rPr>
              <a:t>rogue server </a:t>
            </a:r>
            <a:r>
              <a:rPr lang="en-US" sz="1600">
                <a:solidFill>
                  <a:srgbClr val="000000"/>
                </a:solidFill>
              </a:rPr>
              <a:t>can provide a variety of misleading information:</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Wrong default gateway</a:t>
            </a:r>
            <a:r>
              <a:rPr lang="en-US" sz="1600">
                <a:solidFill>
                  <a:srgbClr val="000000"/>
                </a:solidFill>
              </a:rPr>
              <a:t> - Threat actor provides an invalid gateway, or the IP address of its host to create a MITM attack. This may go entirely undetected as the intruder intercepts the data flow through the network.</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Wrong DNS server</a:t>
            </a:r>
            <a:r>
              <a:rPr lang="en-US" sz="1600">
                <a:solidFill>
                  <a:srgbClr val="000000"/>
                </a:solidFill>
              </a:rPr>
              <a:t> - Threat actor provides an incorrect DNS server address pointing the user to a malicious website.</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Wrong IP address</a:t>
            </a:r>
            <a:r>
              <a:rPr lang="en-US" sz="1600">
                <a:solidFill>
                  <a:srgbClr val="000000"/>
                </a:solidFill>
              </a:rPr>
              <a:t> - Threat actor provides an invalid IP address, invalid default gateway IP address, or both. The threat actor then creates a DoS attack on the DHCP client.</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9" name="Shape 1139"/>
        <p:cNvGrpSpPr/>
        <p:nvPr/>
      </p:nvGrpSpPr>
      <p:grpSpPr>
        <a:xfrm>
          <a:off x="0" y="0"/>
          <a:ext cx="0" cy="0"/>
          <a:chOff x="0" y="0"/>
          <a:chExt cx="0" cy="0"/>
        </a:xfrm>
      </p:grpSpPr>
      <p:sp>
        <p:nvSpPr>
          <p:cNvPr id="1140" name="Google Shape;1140;p6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DHCP Attacks (Cont.)</a:t>
            </a:r>
            <a:endParaRPr/>
          </a:p>
        </p:txBody>
      </p:sp>
      <p:sp>
        <p:nvSpPr>
          <p:cNvPr id="1141" name="Google Shape;1141;p64"/>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Assume a threat actor has successfully connected a </a:t>
            </a:r>
            <a:r>
              <a:rPr lang="en-US" sz="1600">
                <a:solidFill>
                  <a:srgbClr val="FF0000"/>
                </a:solidFill>
              </a:rPr>
              <a:t>rogue DHCP server</a:t>
            </a:r>
            <a:r>
              <a:rPr lang="en-US" sz="1600">
                <a:solidFill>
                  <a:srgbClr val="000000"/>
                </a:solidFill>
              </a:rPr>
              <a:t> to a switch port on the same subnet as the target clients. The goal of the rogue server is to provide clients with </a:t>
            </a:r>
            <a:r>
              <a:rPr lang="en-US" sz="1600">
                <a:solidFill>
                  <a:srgbClr val="FF0000"/>
                </a:solidFill>
              </a:rPr>
              <a:t>false IP configuration information</a:t>
            </a:r>
            <a:r>
              <a:rPr lang="en-US" sz="1600">
                <a:solidFill>
                  <a:srgbClr val="000000"/>
                </a:solidFill>
              </a:rPr>
              <a:t>.</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client broadcasts a DHCP Discover request looking for a response from a DHCP server. Both servers receive the message.</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legitimate and rogue DHCP servers each respond with valid IP configuration parameters. The client replies to the first offer received</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The client received the rogue offer first. It broadcasts a DHCP request accepting the parameters from the rogue server. The legitimate and rogue server each receive the request.</a:t>
            </a:r>
            <a:endParaRPr/>
          </a:p>
          <a:p>
            <a:pPr indent="-342900" lvl="0" marL="342900" rtl="0" algn="l">
              <a:lnSpc>
                <a:spcPct val="100000"/>
              </a:lnSpc>
              <a:spcBef>
                <a:spcPts val="320"/>
              </a:spcBef>
              <a:spcAft>
                <a:spcPts val="0"/>
              </a:spcAft>
              <a:buSzPts val="1600"/>
              <a:buFont typeface="Arial"/>
              <a:buAutoNum type="arabicPeriod"/>
            </a:pPr>
            <a:r>
              <a:rPr lang="en-US" sz="1600">
                <a:solidFill>
                  <a:srgbClr val="000000"/>
                </a:solidFill>
              </a:rPr>
              <a:t>Only the rogue server unicasts a reply to the client to acknowledge its request. The legitimate server stops communicating with the client because the request has already been acknowledged.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6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IP Services</a:t>
            </a:r>
            <a:br>
              <a:rPr lang="en-US"/>
            </a:br>
            <a:r>
              <a:rPr lang="en-US" sz="2400"/>
              <a:t>Lab – Explore DNS Traffic</a:t>
            </a:r>
            <a:endParaRPr/>
          </a:p>
        </p:txBody>
      </p:sp>
      <p:sp>
        <p:nvSpPr>
          <p:cNvPr id="1148" name="Google Shape;1148;p65"/>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2000"/>
              <a:buNone/>
            </a:pPr>
            <a:r>
              <a:rPr lang="en-US">
                <a:solidFill>
                  <a:srgbClr val="000000"/>
                </a:solidFill>
              </a:rPr>
              <a:t>In this lab, you will complete the following objectives:</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Capture DNS Traffic</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Explore DNS Query Traffic</a:t>
            </a:r>
            <a:endParaRPr/>
          </a:p>
          <a:p>
            <a:pPr indent="-342900" lvl="0" marL="342900" rtl="0" algn="l">
              <a:lnSpc>
                <a:spcPct val="100000"/>
              </a:lnSpc>
              <a:spcBef>
                <a:spcPts val="400"/>
              </a:spcBef>
              <a:spcAft>
                <a:spcPts val="0"/>
              </a:spcAft>
              <a:buSzPts val="2000"/>
              <a:buFont typeface="Arial"/>
              <a:buChar char="•"/>
            </a:pPr>
            <a:r>
              <a:rPr lang="en-US">
                <a:solidFill>
                  <a:srgbClr val="000000"/>
                </a:solidFill>
              </a:rPr>
              <a:t>Explore DNS Response Traffic</a:t>
            </a:r>
            <a:endParaRPr/>
          </a:p>
          <a:p>
            <a:pPr indent="-215900" lvl="0" marL="342900" rtl="0" algn="l">
              <a:lnSpc>
                <a:spcPct val="100000"/>
              </a:lnSpc>
              <a:spcBef>
                <a:spcPts val="400"/>
              </a:spcBef>
              <a:spcAft>
                <a:spcPts val="0"/>
              </a:spcAft>
              <a:buSzPts val="2000"/>
              <a:buFont typeface="Arial"/>
              <a:buNone/>
            </a:pPr>
            <a:r>
              <a:t/>
            </a:r>
            <a:endParaRPr>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66"/>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3.9 Network Security Best Practices</a:t>
            </a:r>
            <a:endParaRPr/>
          </a:p>
        </p:txBody>
      </p:sp>
    </p:spTree>
  </p:cSld>
  <p:clrMapOvr>
    <a:masterClrMapping/>
  </p:clrMapOvr>
  <p:transition spd="slow">
    <p:wipe dir="l"/>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6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Network Security Best Practices</a:t>
            </a:r>
            <a:br>
              <a:rPr lang="en-US"/>
            </a:br>
            <a:r>
              <a:rPr lang="en-US" sz="2400"/>
              <a:t>Confidentiality, Availability, and Integrity</a:t>
            </a:r>
            <a:endParaRPr/>
          </a:p>
        </p:txBody>
      </p:sp>
      <p:sp>
        <p:nvSpPr>
          <p:cNvPr id="1161" name="Google Shape;1161;p67"/>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Network security consists of protecting information and information systems from unauthorized access, use, disclosure, disruption, modification, or destruction.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Most organizations follow the CIA information security triad:</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Confidentiality</a:t>
            </a:r>
            <a:r>
              <a:rPr lang="en-US" sz="1600">
                <a:solidFill>
                  <a:srgbClr val="000000"/>
                </a:solidFill>
              </a:rPr>
              <a:t> - Only authorized individuals, entities, or processes can access sensitive information. It may require using cryptographic encryption algorithms such as AES to encrypt and decrypt data.</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Integrity</a:t>
            </a:r>
            <a:r>
              <a:rPr lang="en-US" sz="1600">
                <a:solidFill>
                  <a:srgbClr val="000000"/>
                </a:solidFill>
              </a:rPr>
              <a:t> - Refers to protecting data from unauthorized alteration. It requires the use of cryptographic hashing algorithms such as SHA.</a:t>
            </a:r>
            <a:endParaRPr/>
          </a:p>
          <a:p>
            <a:pPr indent="-342899" lvl="1" marL="415984" rtl="0" algn="l">
              <a:lnSpc>
                <a:spcPct val="95000"/>
              </a:lnSpc>
              <a:spcBef>
                <a:spcPts val="600"/>
              </a:spcBef>
              <a:spcAft>
                <a:spcPts val="0"/>
              </a:spcAft>
              <a:buSzPts val="1600"/>
              <a:buFont typeface="Arial"/>
              <a:buChar char="•"/>
            </a:pPr>
            <a:r>
              <a:rPr b="1" lang="en-US" sz="1600">
                <a:solidFill>
                  <a:srgbClr val="000000"/>
                </a:solidFill>
              </a:rPr>
              <a:t>Availability</a:t>
            </a:r>
            <a:r>
              <a:rPr lang="en-US" sz="1600">
                <a:solidFill>
                  <a:srgbClr val="000000"/>
                </a:solidFill>
              </a:rPr>
              <a:t> - Authorized users must have uninterrupted access to important resources and data. It requires implementing redundant services, gateways, and links.</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6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Network Security Best Practices</a:t>
            </a:r>
            <a:br>
              <a:rPr lang="en-US"/>
            </a:br>
            <a:r>
              <a:rPr lang="en-US" sz="2400"/>
              <a:t>The Defense-in-Depth Approach</a:t>
            </a:r>
            <a:endParaRPr/>
          </a:p>
        </p:txBody>
      </p:sp>
      <p:sp>
        <p:nvSpPr>
          <p:cNvPr id="1168" name="Google Shape;1168;p68"/>
          <p:cNvSpPr txBox="1"/>
          <p:nvPr>
            <p:ph idx="1" type="body"/>
          </p:nvPr>
        </p:nvSpPr>
        <p:spPr>
          <a:xfrm>
            <a:off x="243840" y="731837"/>
            <a:ext cx="8717280" cy="4411663"/>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To ensure secure communications across both public and private networks, you must secure devices including routers, switches, servers, and hosts. Most organizations employ a defense-in-depth approach to security. It requires a combination of networking devices and services working together.</a:t>
            </a:r>
            <a:endParaRPr/>
          </a:p>
          <a:p>
            <a:pPr indent="0" lvl="0" marL="0" rtl="0" algn="l">
              <a:lnSpc>
                <a:spcPct val="100000"/>
              </a:lnSpc>
              <a:spcBef>
                <a:spcPts val="320"/>
              </a:spcBef>
              <a:spcAft>
                <a:spcPts val="0"/>
              </a:spcAft>
              <a:buSzPts val="1600"/>
              <a:buNone/>
            </a:pPr>
            <a:r>
              <a:rPr lang="en-US" sz="1600">
                <a:solidFill>
                  <a:srgbClr val="000000"/>
                </a:solidFill>
              </a:rPr>
              <a:t>1. Several security devices and services are implemented.</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VPN</a:t>
            </a:r>
            <a:r>
              <a:rPr lang="en-US" sz="1200">
                <a:solidFill>
                  <a:srgbClr val="000000"/>
                </a:solidFill>
              </a:rPr>
              <a:t>  </a:t>
            </a:r>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ASA Firewall</a:t>
            </a:r>
            <a:endParaRPr sz="1200">
              <a:solidFill>
                <a:srgbClr val="000000"/>
              </a:solidFill>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IPS</a:t>
            </a:r>
            <a:endParaRPr sz="1200">
              <a:solidFill>
                <a:srgbClr val="000000"/>
              </a:solidFill>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ESA/WSA</a:t>
            </a:r>
            <a:endParaRPr sz="1200">
              <a:solidFill>
                <a:srgbClr val="000000"/>
              </a:solidFill>
            </a:endParaRPr>
          </a:p>
          <a:p>
            <a:pPr indent="-342899" lvl="1" marL="415984" rtl="0" algn="l">
              <a:lnSpc>
                <a:spcPct val="95000"/>
              </a:lnSpc>
              <a:spcBef>
                <a:spcPts val="600"/>
              </a:spcBef>
              <a:spcAft>
                <a:spcPts val="0"/>
              </a:spcAft>
              <a:buSzPts val="1200"/>
              <a:buFont typeface="Arial"/>
              <a:buChar char="•"/>
            </a:pPr>
            <a:r>
              <a:rPr b="1" lang="en-US" sz="1200">
                <a:solidFill>
                  <a:srgbClr val="000000"/>
                </a:solidFill>
              </a:rPr>
              <a:t>AAA Server</a:t>
            </a:r>
            <a:endParaRPr sz="1200">
              <a:solidFill>
                <a:srgbClr val="000000"/>
              </a:solidFill>
            </a:endParaRPr>
          </a:p>
          <a:p>
            <a:pPr indent="0" lvl="0" marL="0" rtl="0" algn="l">
              <a:lnSpc>
                <a:spcPct val="100000"/>
              </a:lnSpc>
              <a:spcBef>
                <a:spcPts val="360"/>
              </a:spcBef>
              <a:spcAft>
                <a:spcPts val="0"/>
              </a:spcAft>
              <a:buSzPts val="1600"/>
              <a:buNone/>
            </a:pPr>
            <a:r>
              <a:rPr lang="en-US" sz="1600">
                <a:solidFill>
                  <a:srgbClr val="000000"/>
                </a:solidFill>
              </a:rPr>
              <a:t>2. All network devices including the router and switches are hardened, </a:t>
            </a:r>
            <a:r>
              <a:rPr lang="en-US" sz="1800">
                <a:solidFill>
                  <a:srgbClr val="000000"/>
                </a:solidFill>
                <a:latin typeface="Times New Roman"/>
                <a:ea typeface="Times New Roman"/>
                <a:cs typeface="Times New Roman"/>
                <a:sym typeface="Times New Roman"/>
              </a:rPr>
              <a:t>which means that they have been secured to prevent threat actors from gaining access and tampering with the devices.</a:t>
            </a:r>
            <a:endParaRPr sz="1600">
              <a:solidFill>
                <a:srgbClr val="000000"/>
              </a:solidFill>
            </a:endParaRPr>
          </a:p>
          <a:p>
            <a:pPr indent="0" lvl="0" marL="0" rtl="0" algn="l">
              <a:lnSpc>
                <a:spcPct val="100000"/>
              </a:lnSpc>
              <a:spcBef>
                <a:spcPts val="360"/>
              </a:spcBef>
              <a:spcAft>
                <a:spcPts val="0"/>
              </a:spcAft>
              <a:buSzPts val="1600"/>
              <a:buNone/>
            </a:pPr>
            <a:r>
              <a:rPr lang="en-US" sz="1600">
                <a:solidFill>
                  <a:srgbClr val="000000"/>
                </a:solidFill>
              </a:rPr>
              <a:t>3. You must also secure data as it travels across various links. </a:t>
            </a:r>
            <a:r>
              <a:rPr lang="en-US" sz="1800">
                <a:solidFill>
                  <a:srgbClr val="000000"/>
                </a:solidFill>
                <a:latin typeface="Times New Roman"/>
                <a:ea typeface="Times New Roman"/>
                <a:cs typeface="Times New Roman"/>
                <a:sym typeface="Times New Roman"/>
              </a:rPr>
              <a:t>This may include internal traffic, but it is more important to protect the data that travels outside of the organization to branch sites, telecommuter sites, and partner sites.</a:t>
            </a:r>
            <a:endParaRPr sz="1800">
              <a:latin typeface="Times New Roman"/>
              <a:ea typeface="Times New Roman"/>
              <a:cs typeface="Times New Roman"/>
              <a:sym typeface="Times New Roman"/>
            </a:endParaRPr>
          </a:p>
          <a:p>
            <a:pPr indent="0" lvl="0" marL="0" rtl="0" algn="l">
              <a:lnSpc>
                <a:spcPct val="100000"/>
              </a:lnSpc>
              <a:spcBef>
                <a:spcPts val="320"/>
              </a:spcBef>
              <a:spcAft>
                <a:spcPts val="0"/>
              </a:spcAft>
              <a:buSzPts val="1600"/>
              <a:buNone/>
            </a:pPr>
            <a:r>
              <a:t/>
            </a:r>
            <a:endParaRPr sz="1600">
              <a:solidFill>
                <a:srgbClr val="000000"/>
              </a:solidFill>
            </a:endParaRPr>
          </a:p>
          <a:p>
            <a:pPr indent="-95250" lvl="1" marL="244535" rtl="0" algn="l">
              <a:lnSpc>
                <a:spcPct val="95000"/>
              </a:lnSpc>
              <a:spcBef>
                <a:spcPts val="600"/>
              </a:spcBef>
              <a:spcAft>
                <a:spcPts val="0"/>
              </a:spcAft>
              <a:buSzPts val="1200"/>
              <a:buNone/>
            </a:pPr>
            <a:r>
              <a:t/>
            </a:r>
            <a:endParaRPr sz="1200">
              <a:solidFill>
                <a:srgbClr val="000000"/>
              </a:solidFill>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6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Network Security Best Practices</a:t>
            </a:r>
            <a:br>
              <a:rPr lang="en-US"/>
            </a:br>
            <a:r>
              <a:rPr lang="en-US" sz="2400"/>
              <a:t>Firewalls</a:t>
            </a:r>
            <a:endParaRPr/>
          </a:p>
        </p:txBody>
      </p:sp>
      <p:sp>
        <p:nvSpPr>
          <p:cNvPr id="1175" name="Google Shape;1175;p69"/>
          <p:cNvSpPr txBox="1"/>
          <p:nvPr>
            <p:ph idx="1" type="body"/>
          </p:nvPr>
        </p:nvSpPr>
        <p:spPr>
          <a:xfrm>
            <a:off x="474662" y="731838"/>
            <a:ext cx="8280057" cy="64898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firewall is a system, or group of systems, that enforces an access control policy between networks.</a:t>
            </a:r>
            <a:endParaRPr/>
          </a:p>
        </p:txBody>
      </p:sp>
      <p:pic>
        <p:nvPicPr>
          <p:cNvPr id="1176" name="Google Shape;1176;p69"/>
          <p:cNvPicPr preferRelativeResize="0"/>
          <p:nvPr/>
        </p:nvPicPr>
        <p:blipFill rotWithShape="1">
          <a:blip r:embed="rId3">
            <a:alphaModFix/>
          </a:blip>
          <a:srcRect b="0" l="0" r="0" t="0"/>
          <a:stretch/>
        </p:blipFill>
        <p:spPr>
          <a:xfrm>
            <a:off x="1753094" y="1433988"/>
            <a:ext cx="4839299" cy="30409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7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Network Security Best Practices</a:t>
            </a:r>
            <a:br>
              <a:rPr lang="en-US"/>
            </a:br>
            <a:r>
              <a:rPr lang="en-US" sz="2400"/>
              <a:t>IPS</a:t>
            </a:r>
            <a:endParaRPr/>
          </a:p>
        </p:txBody>
      </p:sp>
      <p:sp>
        <p:nvSpPr>
          <p:cNvPr id="1183" name="Google Shape;1183;p70"/>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To defend against fast-moving and evolving attacks, you may need cost-effective detection and prevention systems integrated into the entry and exit points of the network.</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IDS and IPS technologies share several characteristics. IDS and IPS technologies are both deployed as sensors. An IDS or IPS sensor can be in the form of several different devices:</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A router configured with Cisco IOS IPS software</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A device specifically designed to provide dedicated IDS or IPS services</a:t>
            </a:r>
            <a:endParaRPr/>
          </a:p>
          <a:p>
            <a:pPr indent="-342899" lvl="1" marL="415984" rtl="0" algn="l">
              <a:lnSpc>
                <a:spcPct val="95000"/>
              </a:lnSpc>
              <a:spcBef>
                <a:spcPts val="600"/>
              </a:spcBef>
              <a:spcAft>
                <a:spcPts val="0"/>
              </a:spcAft>
              <a:buSzPts val="1400"/>
              <a:buFont typeface="Arial"/>
              <a:buChar char="•"/>
            </a:pPr>
            <a:r>
              <a:rPr lang="en-US">
                <a:solidFill>
                  <a:srgbClr val="000000"/>
                </a:solidFill>
              </a:rPr>
              <a:t>A network module installed in an adaptive security appliance (ASA), switch, or router</a:t>
            </a:r>
            <a:endParaRPr/>
          </a:p>
          <a:p>
            <a:pPr indent="-285750" lvl="1" marL="358835" rtl="0" algn="l">
              <a:lnSpc>
                <a:spcPct val="95000"/>
              </a:lnSpc>
              <a:spcBef>
                <a:spcPts val="600"/>
              </a:spcBef>
              <a:spcAft>
                <a:spcPts val="0"/>
              </a:spcAft>
              <a:buSzPts val="1400"/>
              <a:buChar char="•"/>
            </a:pPr>
            <a:r>
              <a:rPr lang="en-US">
                <a:solidFill>
                  <a:srgbClr val="000000"/>
                </a:solidFill>
              </a:rPr>
              <a:t>IDS and IPS technologies detect patterns in network traffic using signatures, which is a set of rules that used to detect malicious activity. IDS and IPS technologies can detect atomic signature patterns (single-packet) or composite signature patterns (multi-packet).</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7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Network Security Best Practices</a:t>
            </a:r>
            <a:br>
              <a:rPr lang="en-US"/>
            </a:br>
            <a:r>
              <a:rPr lang="en-US" sz="2400"/>
              <a:t>IPS (Cont.)</a:t>
            </a:r>
            <a:endParaRPr/>
          </a:p>
        </p:txBody>
      </p:sp>
      <p:sp>
        <p:nvSpPr>
          <p:cNvPr id="1190" name="Google Shape;1190;p71"/>
          <p:cNvSpPr txBox="1"/>
          <p:nvPr>
            <p:ph idx="1" type="body"/>
          </p:nvPr>
        </p:nvSpPr>
        <p:spPr>
          <a:xfrm>
            <a:off x="474662" y="877887"/>
            <a:ext cx="4274288" cy="35438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The figure shows how an IPS handles denied traffic.</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threat actor sends a packet destined for the target laptop.</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IPS intercepts the traffic and evaluates it against known threats and the configured policies.</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IPS sends a log message to the management console.</a:t>
            </a:r>
            <a:endParaRPr/>
          </a:p>
          <a:p>
            <a:pPr indent="-342900" lvl="0" marL="342900" rtl="0" algn="l">
              <a:lnSpc>
                <a:spcPct val="100000"/>
              </a:lnSpc>
              <a:spcBef>
                <a:spcPts val="280"/>
              </a:spcBef>
              <a:spcAft>
                <a:spcPts val="0"/>
              </a:spcAft>
              <a:buSzPts val="1400"/>
              <a:buFont typeface="Arial"/>
              <a:buAutoNum type="arabicPeriod"/>
            </a:pPr>
            <a:r>
              <a:rPr lang="en-US" sz="1400">
                <a:solidFill>
                  <a:srgbClr val="000000"/>
                </a:solidFill>
              </a:rPr>
              <a:t>The IPS drops the packet.</a:t>
            </a:r>
            <a:endParaRPr/>
          </a:p>
          <a:p>
            <a:pPr indent="-254000" lvl="0" marL="342900" rtl="0" algn="l">
              <a:lnSpc>
                <a:spcPct val="100000"/>
              </a:lnSpc>
              <a:spcBef>
                <a:spcPts val="280"/>
              </a:spcBef>
              <a:spcAft>
                <a:spcPts val="0"/>
              </a:spcAft>
              <a:buSzPts val="1400"/>
              <a:buFont typeface="Arial"/>
              <a:buNone/>
            </a:pPr>
            <a:r>
              <a:t/>
            </a:r>
            <a:endParaRPr sz="1400">
              <a:solidFill>
                <a:srgbClr val="000000"/>
              </a:solidFill>
            </a:endParaRPr>
          </a:p>
        </p:txBody>
      </p:sp>
      <p:pic>
        <p:nvPicPr>
          <p:cNvPr id="1191" name="Google Shape;1191;p71"/>
          <p:cNvPicPr preferRelativeResize="0"/>
          <p:nvPr/>
        </p:nvPicPr>
        <p:blipFill rotWithShape="1">
          <a:blip r:embed="rId3">
            <a:alphaModFix/>
          </a:blip>
          <a:srcRect b="0" l="0" r="0" t="0"/>
          <a:stretch/>
        </p:blipFill>
        <p:spPr>
          <a:xfrm>
            <a:off x="4748950" y="877887"/>
            <a:ext cx="3583172" cy="33877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7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SzPts val="1400"/>
              <a:buNone/>
            </a:pPr>
            <a:r>
              <a:rPr lang="en-US" sz="1600"/>
              <a:t>Network Security Best Practices</a:t>
            </a:r>
            <a:br>
              <a:rPr lang="en-US"/>
            </a:br>
            <a:r>
              <a:rPr lang="en-US" sz="2400"/>
              <a:t>Content Security Devices</a:t>
            </a:r>
            <a:endParaRPr/>
          </a:p>
        </p:txBody>
      </p:sp>
      <p:sp>
        <p:nvSpPr>
          <p:cNvPr id="1198" name="Google Shape;1198;p72"/>
          <p:cNvSpPr txBox="1"/>
          <p:nvPr>
            <p:ph idx="1" type="body"/>
          </p:nvPr>
        </p:nvSpPr>
        <p:spPr>
          <a:xfrm>
            <a:off x="474662" y="731837"/>
            <a:ext cx="8280057" cy="3689897"/>
          </a:xfrm>
          <a:prstGeom prst="rect">
            <a:avLst/>
          </a:prstGeom>
          <a:noFill/>
          <a:ln>
            <a:noFill/>
          </a:ln>
        </p:spPr>
        <p:txBody>
          <a:bodyPr anchorCtr="0" anchor="t" bIns="45700" lIns="91400" spcFirstLastPara="1" rIns="91400" wrap="square" tIns="45700">
            <a:noAutofit/>
          </a:bodyPr>
          <a:lstStyle/>
          <a:p>
            <a:pPr indent="-342900" lvl="0" marL="342900" rtl="0" algn="l">
              <a:lnSpc>
                <a:spcPct val="100000"/>
              </a:lnSpc>
              <a:spcBef>
                <a:spcPts val="0"/>
              </a:spcBef>
              <a:spcAft>
                <a:spcPts val="0"/>
              </a:spcAft>
              <a:buSzPts val="1600"/>
              <a:buFont typeface="Arial"/>
              <a:buChar char="•"/>
            </a:pPr>
            <a:r>
              <a:rPr lang="en-US" sz="1600">
                <a:solidFill>
                  <a:srgbClr val="000000"/>
                </a:solidFill>
              </a:rPr>
              <a:t>The </a:t>
            </a:r>
            <a:r>
              <a:rPr lang="en-US" sz="1600">
                <a:solidFill>
                  <a:srgbClr val="FF0000"/>
                </a:solidFill>
              </a:rPr>
              <a:t>Cisco Email Security Appliance (ESA) </a:t>
            </a:r>
            <a:r>
              <a:rPr lang="en-US" sz="1600">
                <a:solidFill>
                  <a:srgbClr val="000000"/>
                </a:solidFill>
              </a:rPr>
              <a:t>is a special device designed to monitor Simple Mail Transfer Protocol (SMTP). The Cisco ESA is constantly updated by real-time feeds from the Cisco Talos. This threat intelligence data is pulled by the Cisco ESA every three to five minutes.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The </a:t>
            </a:r>
            <a:r>
              <a:rPr lang="en-US" sz="1600">
                <a:solidFill>
                  <a:srgbClr val="FF0000"/>
                </a:solidFill>
              </a:rPr>
              <a:t>Cisco Web Security Appliance (WSA) </a:t>
            </a:r>
            <a:r>
              <a:rPr lang="en-US" sz="1600">
                <a:solidFill>
                  <a:srgbClr val="000000"/>
                </a:solidFill>
              </a:rPr>
              <a:t>is a mitigation technology for web-based threats. The Cisco WSA combines advanced malware protection, application visibility and control, acceptable use policy controls, and reporting.</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Cisco WSA provides complete control over how users access the internet. The WSA can perform blacklisting of URLs, URL-filtering, malware scanning, URL categorization, web application filtering, and encryption and decryption of web traffic.</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